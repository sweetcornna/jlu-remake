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os_ch8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os_ch8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cecc057328f7c18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afc5f2311272e061.png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59523ce01dbdb1c.png"/>
</Relationships>
</file>

<file path=ppt/slides/_rels/slide5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26" t="0" r="27" b="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3662934" cy="3437763"/>
            <a:chOff x="666750" y="1619250"/>
            <a:chExt cx="3662934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898332" cy="3429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4866" y="1718310"/>
              <a:ext cx="16611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操作系统原理 · 第八章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2997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文件系统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文件怎样存放、查找、共享和保护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8019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物理结构与 Hash 文件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目录、共享与权限保护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打开文件表与成组连接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7179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UNIX 系统调用的实现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413752" cy="205359"/>
            <a:chOff x="680466" y="6192202"/>
            <a:chExt cx="4413752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4137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自学复习版｜据吉林大学《操作系统原理》第八章课件整理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文件系统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文件与物理结构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53396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访问方式与逻辑组织；顺序、链接、索引、Hash 结构；UNIX 混合索引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文件目录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45139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FCB 与目录项；单级、两级、多级目录；FCB 分主部与次部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共享、保护与安全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42432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link 共享；存取控制矩阵与 i_mode；口令、加密与转储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文件系统的实现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45534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打开文件表；u_ofile、file、inode；成组连接；空闲 inode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文件系统的界面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53115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creat、open、read、write、link、pipe、mount 等调用的执行步骤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新型文件系统与效率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54451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日志结构文件系统、内存映射文件、Linux VFS 与 Ext2fs、缓冲与预读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比较顺序、链接、索引结构，算出读某一块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要访问几次磁盘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739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由文件偏移算出 UNIX 混合索引用到哪个地址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4728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画出 u_ofile、file、inode 的关系，说明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open、close 怎样修改它们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手工模拟成组连接的分配与释放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37197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309110"/>
              <a:ext cx="3596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 link、unlink 对目录项和 i_nlink 的影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响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第8章 文件系统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882896" cy="3351847"/>
            <a:chOff x="667512" y="1835468"/>
            <a:chExt cx="4882896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文件与文件的物理结构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6813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从用户看到的记录或字节，到磁盘上的一个个块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225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8.1 文件与文件系统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225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8.2 文件的访问方式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263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8.3 逻辑组织与物理组织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4847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Hash 结构与 UNIX 混合索引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第8章 文件系统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文件系统 · 文件与文件的物理结构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文件是有名字的信息项序列，文件系统管理它们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626418" cy="1297305"/>
            <a:chOff x="533400" y="1524000"/>
            <a:chExt cx="5626418" cy="12973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297305"/>
            </a:xfrm>
            <a:prstGeom prst="roundRect">
              <a:avLst>
                <a:gd name="adj" fmla="val 102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3060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749618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2559" y="1756410"/>
              <a:ext cx="5827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8.1 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51758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：具有符号名、在逻辑上具有完整意义的信息项的序列。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381" y="2400776"/>
              <a:ext cx="36465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文件系统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：文件与管理文件的程序的集合。</a:t>
              </a:r>
            </a:p>
          </p:txBody>
        </p:sp>
      </p:grpSp>
      <p:grpSp>
        <p:nvGrpSpPr>
          <p:cNvPr id="29" name="c1-cells-2"/>
          <p:cNvGrpSpPr/>
          <p:nvPr/>
        </p:nvGrpSpPr>
        <p:grpSpPr>
          <a:xfrm>
            <a:off x="527685" y="3001328"/>
            <a:ext cx="4470083" cy="721042"/>
            <a:chOff x="527685" y="3001328"/>
            <a:chExt cx="4470083" cy="721042"/>
          </a:xfrm>
        </p:grpSpPr>
        <p:sp>
          <p:nvSpPr>
            <p:cNvPr id="14" name="TextBox 14"/>
            <p:cNvSpPr txBox="1"/>
            <p:nvPr/>
          </p:nvSpPr>
          <p:spPr>
            <a:xfrm>
              <a:off x="527685" y="312848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文件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951548" y="3001328"/>
              <a:ext cx="67437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56856" y="312848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信息项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625918" y="3001328"/>
              <a:ext cx="67437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731226" y="312848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信息项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300288" y="3001328"/>
              <a:ext cx="67437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588221" y="31284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974658" y="3001328"/>
              <a:ext cx="674370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079966" y="312848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信息项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649028" y="3001328"/>
              <a:ext cx="67437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936961" y="31284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323398" y="3001328"/>
              <a:ext cx="67437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428706" y="312848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信息项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3273742" y="341471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943606" y="3546158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读（写）指针</a:t>
              </a:r>
            </a:p>
          </p:txBody>
        </p:sp>
      </p:grpSp>
      <p:grpSp>
        <p:nvGrpSpPr>
          <p:cNvPr id="36" name="c1-callout-3"/>
          <p:cNvGrpSpPr/>
          <p:nvPr/>
        </p:nvGrpSpPr>
        <p:grpSpPr>
          <a:xfrm>
            <a:off x="533400" y="3842385"/>
            <a:ext cx="5626418" cy="756285"/>
            <a:chOff x="533400" y="3842385"/>
            <a:chExt cx="5626418" cy="756285"/>
          </a:xfrm>
        </p:grpSpPr>
        <p:sp>
          <p:nvSpPr>
            <p:cNvPr id="30" name="Rectangle 30"/>
            <p:cNvSpPr/>
            <p:nvPr/>
          </p:nvSpPr>
          <p:spPr>
            <a:xfrm>
              <a:off x="533400" y="3842385"/>
              <a:ext cx="5626418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38188" y="4120515"/>
              <a:ext cx="200026" cy="200025"/>
              <a:chOff x="738188" y="4120515"/>
              <a:chExt cx="200026" cy="200025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38188" y="412051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77926" y="416496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12642" y="427609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040511" y="3989546"/>
              <a:ext cx="470331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读写指针指出下一次从哪个信息项开始读写，每读写一项，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指针向后移一项。</a:t>
              </a:r>
            </a:p>
          </p:txBody>
        </p:sp>
      </p:grpSp>
      <p:grpSp>
        <p:nvGrpSpPr>
          <p:cNvPr id="45" name="c1-card-4"/>
          <p:cNvGrpSpPr/>
          <p:nvPr/>
        </p:nvGrpSpPr>
        <p:grpSpPr>
          <a:xfrm>
            <a:off x="533400" y="4778692"/>
            <a:ext cx="5626418" cy="1297305"/>
            <a:chOff x="533400" y="4778692"/>
            <a:chExt cx="5626418" cy="1297305"/>
          </a:xfrm>
        </p:grpSpPr>
        <p:sp>
          <p:nvSpPr>
            <p:cNvPr id="37" name="Rectangle 37"/>
            <p:cNvSpPr/>
            <p:nvPr/>
          </p:nvSpPr>
          <p:spPr>
            <a:xfrm>
              <a:off x="533400" y="4778692"/>
              <a:ext cx="5626418" cy="1297305"/>
            </a:xfrm>
            <a:prstGeom prst="roundRect">
              <a:avLst>
                <a:gd name="adj" fmla="val 102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542925" y="4912042"/>
              <a:ext cx="47625" cy="10306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769620" y="4976812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65060" y="501110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77240" y="5397817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33831" y="5337334"/>
              <a:ext cx="361749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源程序文件 a.c：信息项是字符（字节）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77240" y="571500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33831" y="5655469"/>
              <a:ext cx="49846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学生成绩文件：信息项是一条条记录（学号、姓名、成绩）</a:t>
              </a:r>
            </a:p>
          </p:txBody>
        </p:sp>
      </p:grpSp>
      <p:grpSp>
        <p:nvGrpSpPr>
          <p:cNvPr id="65" name="c2-table-1"/>
          <p:cNvGrpSpPr/>
          <p:nvPr/>
        </p:nvGrpSpPr>
        <p:grpSpPr>
          <a:xfrm>
            <a:off x="6464618" y="1524000"/>
            <a:ext cx="5193982" cy="1910715"/>
            <a:chOff x="6464618" y="1524000"/>
            <a:chExt cx="5193982" cy="1910715"/>
          </a:xfrm>
        </p:grpSpPr>
        <p:sp>
          <p:nvSpPr>
            <p:cNvPr id="46" name="Rectangle 46"/>
            <p:cNvSpPr/>
            <p:nvPr/>
          </p:nvSpPr>
          <p:spPr>
            <a:xfrm>
              <a:off x="6464618" y="1524000"/>
              <a:ext cx="5193982" cy="4248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609131" y="1652588"/>
              <a:ext cx="10616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UNIX 文件分类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634412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内容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394061" y="16525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保存位置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567106" y="20764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普通文件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917752" y="207645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程序、数据、图象等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891331" y="207645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磁盘块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464618" y="236791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464618" y="2372678"/>
              <a:ext cx="519398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567106" y="250126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目录文件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917752" y="2501265"/>
              <a:ext cx="16680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(文件名, 文件号) 序列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891331" y="250126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磁盘块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464618" y="279273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567106" y="30327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特殊文件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917752" y="30327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设备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891331" y="2926080"/>
              <a:ext cx="150571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无数据块，inode 中记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设备号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464618" y="1524000"/>
              <a:ext cx="5193982" cy="19107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7810500" y="1524000"/>
              <a:ext cx="9525" cy="19107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9784080" y="1524000"/>
              <a:ext cx="9525" cy="19107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3" name="c2-card-2"/>
          <p:cNvGrpSpPr/>
          <p:nvPr/>
        </p:nvGrpSpPr>
        <p:grpSpPr>
          <a:xfrm>
            <a:off x="6464618" y="3615690"/>
            <a:ext cx="5193982" cy="2460308"/>
            <a:chOff x="6464618" y="3615690"/>
            <a:chExt cx="5193982" cy="2460308"/>
          </a:xfrm>
        </p:grpSpPr>
        <p:sp>
          <p:nvSpPr>
            <p:cNvPr id="66" name="Rectangle 66"/>
            <p:cNvSpPr/>
            <p:nvPr/>
          </p:nvSpPr>
          <p:spPr>
            <a:xfrm>
              <a:off x="6464618" y="3615690"/>
              <a:ext cx="5193982" cy="2460308"/>
            </a:xfrm>
            <a:prstGeom prst="roundRect">
              <a:avLst>
                <a:gd name="adj" fmla="val 542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6662738" y="3813810"/>
              <a:ext cx="1676400" cy="247650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718173" y="3848100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设备作为文件管理的好处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6670358" y="4233862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826948" y="4174331"/>
              <a:ext cx="403606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界面统一：申请设备用 open，释放用 close，读用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read，写用 write，与使用文件的命令相同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6670358" y="4823460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826948" y="4762976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可以利用文件保护功能来保护设备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第8章 文件系统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文件系统 · 文件与文件的物理结构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访问方式与逻辑组织：用户眼中的文件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table-1"/>
          <p:cNvGrpSpPr/>
          <p:nvPr/>
        </p:nvGrpSpPr>
        <p:grpSpPr>
          <a:xfrm>
            <a:off x="533400" y="1524000"/>
            <a:ext cx="4760595" cy="1800225"/>
            <a:chOff x="533400" y="1524000"/>
            <a:chExt cx="4760595" cy="18002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20265" y="1659731"/>
              <a:ext cx="10550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8.2 访问方式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276968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具体形式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1223" y="222170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顺序访问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69973" y="2108359"/>
              <a:ext cx="29390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从文件起始位置开始，或从文件中间某处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开始，依次向后访问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64318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647950"/>
              <a:ext cx="476059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1223" y="289702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随机访问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069973" y="2783681"/>
              <a:ext cx="24513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按记录编号直接定位，或按关键字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（key）定位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1524000"/>
              <a:ext cx="4760595" cy="18002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1957388" y="1524000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28" name="c1-card-2"/>
          <p:cNvGrpSpPr/>
          <p:nvPr/>
        </p:nvGrpSpPr>
        <p:grpSpPr>
          <a:xfrm>
            <a:off x="533400" y="3514725"/>
            <a:ext cx="4760595" cy="1911668"/>
            <a:chOff x="533400" y="3514725"/>
            <a:chExt cx="4760595" cy="1911668"/>
          </a:xfrm>
        </p:grpSpPr>
        <p:sp>
          <p:nvSpPr>
            <p:cNvPr id="19" name="Rectangle 19"/>
            <p:cNvSpPr/>
            <p:nvPr/>
          </p:nvSpPr>
          <p:spPr>
            <a:xfrm>
              <a:off x="533400" y="3514725"/>
              <a:ext cx="4760595" cy="1911668"/>
            </a:xfrm>
            <a:prstGeom prst="roundRect">
              <a:avLst>
                <a:gd name="adj" fmla="val 69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3648075"/>
              <a:ext cx="47625" cy="1644968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81050" y="3724275"/>
              <a:ext cx="106965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54736" y="3759994"/>
              <a:ext cx="9232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8.3 两种组织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86765" y="416433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44880" y="410146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逻辑组织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：用户看到的文件组织形式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86765" y="449961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44880" y="443674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物理组织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：逻辑组织到磁盘块的映射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4573" y="4767739"/>
              <a:ext cx="38331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文件是记录（字节）的序列，磁盘是块（block）的序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列，物理组织就是两者之间的变换关系。</a:t>
              </a:r>
            </a:p>
          </p:txBody>
        </p:sp>
      </p:grpSp>
      <p:grpSp>
        <p:nvGrpSpPr>
          <p:cNvPr id="53" name="c2-table-1"/>
          <p:cNvGrpSpPr/>
          <p:nvPr/>
        </p:nvGrpSpPr>
        <p:grpSpPr>
          <a:xfrm>
            <a:off x="5598795" y="1524000"/>
            <a:ext cx="6059805" cy="2702242"/>
            <a:chOff x="5598795" y="1524000"/>
            <a:chExt cx="6059805" cy="2702242"/>
          </a:xfrm>
        </p:grpSpPr>
        <p:sp>
          <p:nvSpPr>
            <p:cNvPr id="29" name="Rectangle 29"/>
            <p:cNvSpPr/>
            <p:nvPr/>
          </p:nvSpPr>
          <p:spPr>
            <a:xfrm>
              <a:off x="5598795" y="1524000"/>
              <a:ext cx="6059805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88396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逻辑组织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1074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组成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11665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优点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69209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706618" y="222170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等长记录式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979158" y="222170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等长记录的序列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615553" y="2108359"/>
              <a:ext cx="11508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处理方便，速度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190988" y="222170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空间浪费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598795" y="264318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598795" y="2647950"/>
              <a:ext cx="605980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706618" y="289702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不等长记录式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979158" y="289702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不等长记录的序列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615553" y="289702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节省空间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190988" y="2783681"/>
              <a:ext cx="11508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处理不便，速度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慢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598795" y="331946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706618" y="368569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流式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979158" y="3459004"/>
              <a:ext cx="1037082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字节的序列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（UNIX、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Windows 等）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615553" y="3572351"/>
              <a:ext cx="11508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文件系统不必考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虑记录格式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190988" y="3572351"/>
              <a:ext cx="11508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记录结构要由应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用程序自己解释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598795" y="1524000"/>
              <a:ext cx="6059805" cy="270224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866572" y="1524000"/>
              <a:ext cx="9525" cy="27022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8502968" y="1524000"/>
              <a:ext cx="9525" cy="27022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10078402" y="1524000"/>
              <a:ext cx="9525" cy="27022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6" name="c2-cells-2"/>
          <p:cNvGrpSpPr/>
          <p:nvPr/>
        </p:nvGrpSpPr>
        <p:grpSpPr>
          <a:xfrm>
            <a:off x="5593080" y="4416742"/>
            <a:ext cx="4004310" cy="1009650"/>
            <a:chOff x="5593080" y="4416742"/>
            <a:chExt cx="4004310" cy="1009650"/>
          </a:xfrm>
        </p:grpSpPr>
        <p:sp>
          <p:nvSpPr>
            <p:cNvPr id="54" name="TextBox 54"/>
            <p:cNvSpPr txBox="1"/>
            <p:nvPr/>
          </p:nvSpPr>
          <p:spPr>
            <a:xfrm>
              <a:off x="5593080" y="455628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逻辑文件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301740" y="4416742"/>
              <a:ext cx="65913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407533" y="4556284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记录 0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960870" y="4416742"/>
              <a:ext cx="65913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066663" y="4556284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记录 1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620000" y="4416742"/>
              <a:ext cx="65913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725793" y="4556284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记录 2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8279130" y="4416742"/>
              <a:ext cx="65913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384923" y="4556284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记录 3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8938260" y="4416742"/>
              <a:ext cx="65913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217621" y="45562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5593080" y="51468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磁盘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301740" y="5007292"/>
              <a:ext cx="59912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408904" y="5146834"/>
              <a:ext cx="3838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 18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900862" y="5007292"/>
              <a:ext cx="59912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008026" y="5146834"/>
              <a:ext cx="3838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 19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7499032" y="5007292"/>
              <a:ext cx="5991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749819" y="51468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8098155" y="5007292"/>
              <a:ext cx="59912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8206271" y="5146834"/>
              <a:ext cx="3838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 80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8697278" y="5007292"/>
              <a:ext cx="59912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8805394" y="5146834"/>
              <a:ext cx="3838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 92</a:t>
              </a:r>
            </a:p>
          </p:txBody>
        </p:sp>
      </p:grpSp>
      <p:grpSp>
        <p:nvGrpSpPr>
          <p:cNvPr id="83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77" name="Rectangle 77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1" name="Group 81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2" name="TextBox 82"/>
            <p:cNvSpPr txBox="1"/>
            <p:nvPr/>
          </p:nvSpPr>
          <p:spPr>
            <a:xfrm>
              <a:off x="1040130" y="5991225"/>
              <a:ext cx="95867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例：等长记录每条 100 字节，第 i 条（从 0 编号）从第 100·i 个字节开始，按编号随机访问只需一次乘法。</a:t>
              </a:r>
            </a:p>
          </p:txBody>
        </p:sp>
      </p:grpSp>
      <p:grpSp>
        <p:nvGrpSpPr>
          <p:cNvPr id="8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4" name="TextBox 84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第8章 文件系统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文件系统 · 文件与文件的物理结构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物理组织的三种基本结构：顺序、链接、索引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3505200" cy="1701165"/>
            <a:chOff x="533400" y="1524000"/>
            <a:chExt cx="3505200" cy="17011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1701165"/>
            </a:xfrm>
            <a:prstGeom prst="roundRect">
              <a:avLst>
                <a:gd name="adj" fmla="val 78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3446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顺序结构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一个文件占有若干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连续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的磁盘块。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5088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44602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优点：速度快，节省空间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284416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278130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缺点：长度变化困难</a:t>
              </a:r>
            </a:p>
          </p:txBody>
        </p:sp>
      </p:grpSp>
      <p:grpSp>
        <p:nvGrpSpPr>
          <p:cNvPr id="34" name="c1-cells-2"/>
          <p:cNvGrpSpPr/>
          <p:nvPr/>
        </p:nvGrpSpPr>
        <p:grpSpPr>
          <a:xfrm>
            <a:off x="527685" y="3461385"/>
            <a:ext cx="3357563" cy="668655"/>
            <a:chOff x="527685" y="3461385"/>
            <a:chExt cx="3357563" cy="668655"/>
          </a:xfrm>
        </p:grpSpPr>
        <p:sp>
          <p:nvSpPr>
            <p:cNvPr id="17" name="TextBox 17"/>
            <p:cNvSpPr txBox="1"/>
            <p:nvPr/>
          </p:nvSpPr>
          <p:spPr>
            <a:xfrm>
              <a:off x="527685" y="385048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磁盘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951548" y="371094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68310" y="385048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370648" y="3710940"/>
              <a:ext cx="41910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487410" y="385048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789748" y="3710940"/>
              <a:ext cx="41910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906510" y="385048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2208848" y="3710940"/>
              <a:ext cx="41910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325610" y="385048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627948" y="3710940"/>
              <a:ext cx="41910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744710" y="385048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047048" y="3710940"/>
              <a:ext cx="41910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163810" y="385048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466148" y="371094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582910" y="385048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54277" y="346138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首块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1542098" y="361569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41" name="c1-callout-3"/>
          <p:cNvGrpSpPr/>
          <p:nvPr/>
        </p:nvGrpSpPr>
        <p:grpSpPr>
          <a:xfrm>
            <a:off x="533400" y="4320540"/>
            <a:ext cx="3505200" cy="1059180"/>
            <a:chOff x="533400" y="4320540"/>
            <a:chExt cx="3505200" cy="1059180"/>
          </a:xfrm>
        </p:grpSpPr>
        <p:sp>
          <p:nvSpPr>
            <p:cNvPr id="35" name="Rectangle 35"/>
            <p:cNvSpPr/>
            <p:nvPr/>
          </p:nvSpPr>
          <p:spPr>
            <a:xfrm>
              <a:off x="533400" y="4320540"/>
              <a:ext cx="3505200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38188" y="4750118"/>
              <a:ext cx="200026" cy="200026"/>
              <a:chOff x="738188" y="4750118"/>
              <a:chExt cx="200026" cy="200026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738188" y="475011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38200" y="48167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27088" y="485013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040130" y="4469130"/>
              <a:ext cx="26346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FCB：首块 = 18，块数 = 5。逻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辑块 i 在物理块 18 + i，例如逻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辑块 3 在块 21。</a:t>
              </a:r>
            </a:p>
          </p:txBody>
        </p:sp>
      </p:grpSp>
      <p:grpSp>
        <p:nvGrpSpPr>
          <p:cNvPr id="51" name="c2-card-1"/>
          <p:cNvGrpSpPr/>
          <p:nvPr/>
        </p:nvGrpSpPr>
        <p:grpSpPr>
          <a:xfrm>
            <a:off x="4343400" y="1524000"/>
            <a:ext cx="3505200" cy="1986915"/>
            <a:chOff x="4343400" y="1524000"/>
            <a:chExt cx="3505200" cy="1986915"/>
          </a:xfrm>
        </p:grpSpPr>
        <p:sp>
          <p:nvSpPr>
            <p:cNvPr id="42" name="Rectangle 42"/>
            <p:cNvSpPr/>
            <p:nvPr/>
          </p:nvSpPr>
          <p:spPr>
            <a:xfrm>
              <a:off x="4343400" y="1524000"/>
              <a:ext cx="3505200" cy="1986915"/>
            </a:xfrm>
            <a:prstGeom prst="roundRect">
              <a:avLst>
                <a:gd name="adj" fmla="val 67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4352925" y="1657350"/>
              <a:ext cx="47625" cy="172021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459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67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链接结构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583430" y="2110740"/>
              <a:ext cx="2872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一个文件可存于不连续的块中，块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间以指针相连。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4596765" y="27946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754880" y="273177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优点：节省空间，长度变化容易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4596765" y="312991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754880" y="306705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缺点：随机访问速度慢</a:t>
              </a:r>
            </a:p>
          </p:txBody>
        </p:sp>
      </p:grpSp>
      <p:grpSp>
        <p:nvGrpSpPr>
          <p:cNvPr id="69" name="c2-graph-2"/>
          <p:cNvGrpSpPr/>
          <p:nvPr/>
        </p:nvGrpSpPr>
        <p:grpSpPr>
          <a:xfrm>
            <a:off x="4964430" y="3747135"/>
            <a:ext cx="1656398" cy="1865472"/>
            <a:chOff x="4964430" y="3747135"/>
            <a:chExt cx="1656398" cy="1865472"/>
          </a:xfrm>
        </p:grpSpPr>
        <p:sp>
          <p:nvSpPr>
            <p:cNvPr id="52" name="Freeform 52"/>
            <p:cNvSpPr/>
            <p:nvPr/>
          </p:nvSpPr>
          <p:spPr>
            <a:xfrm>
              <a:off x="5533072" y="4047172"/>
              <a:ext cx="360997" cy="268605"/>
            </a:xfrm>
            <a:custGeom>
              <a:avLst/>
              <a:gdLst/>
              <a:ahLst/>
              <a:cxnLst/>
              <a:rect l="l" t="t" r="r" b="b"/>
              <a:pathLst>
                <a:path w="360997" h="268605">
                  <a:moveTo>
                    <a:pt x="360997" y="0"/>
                  </a:moveTo>
                  <a:lnTo>
                    <a:pt x="0" y="26860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5455920" y="4277678"/>
              <a:ext cx="105728" cy="95250"/>
            </a:xfrm>
            <a:custGeom>
              <a:avLst/>
              <a:gdLst/>
              <a:ahLst/>
              <a:cxnLst/>
              <a:rect l="l" t="t" r="r" b="b"/>
              <a:pathLst>
                <a:path w="105728" h="95250">
                  <a:moveTo>
                    <a:pt x="0" y="95250"/>
                  </a:moveTo>
                  <a:lnTo>
                    <a:pt x="48578" y="0"/>
                  </a:lnTo>
                  <a:lnTo>
                    <a:pt x="105728" y="7715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5254942" y="4672965"/>
              <a:ext cx="9525" cy="74295"/>
            </a:xfrm>
            <a:custGeom>
              <a:avLst/>
              <a:gdLst/>
              <a:ahLst/>
              <a:cxnLst/>
              <a:rect l="l" t="t" r="r" b="b"/>
              <a:pathLst>
                <a:path w="9525" h="74295">
                  <a:moveTo>
                    <a:pt x="0" y="0"/>
                  </a:moveTo>
                  <a:lnTo>
                    <a:pt x="0" y="7429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5207318" y="474726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6" name="Freeform 56"/>
            <p:cNvSpPr/>
            <p:nvPr/>
          </p:nvSpPr>
          <p:spPr>
            <a:xfrm>
              <a:off x="5254942" y="5142548"/>
              <a:ext cx="9525" cy="74295"/>
            </a:xfrm>
            <a:custGeom>
              <a:avLst/>
              <a:gdLst/>
              <a:ahLst/>
              <a:cxnLst/>
              <a:rect l="l" t="t" r="r" b="b"/>
              <a:pathLst>
                <a:path w="9525" h="74295">
                  <a:moveTo>
                    <a:pt x="0" y="0"/>
                  </a:moveTo>
                  <a:lnTo>
                    <a:pt x="0" y="7429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5207318" y="521684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5570220" y="3747135"/>
              <a:ext cx="1050608" cy="300038"/>
            </a:xfrm>
            <a:prstGeom prst="roundRect">
              <a:avLst>
                <a:gd name="adj" fmla="val 31746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4964430" y="4372928"/>
              <a:ext cx="580072" cy="300038"/>
            </a:xfrm>
            <a:prstGeom prst="roundRect">
              <a:avLst>
                <a:gd name="adj" fmla="val 3174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4964430" y="4842510"/>
              <a:ext cx="580072" cy="300038"/>
            </a:xfrm>
            <a:prstGeom prst="roundRect">
              <a:avLst>
                <a:gd name="adj" fmla="val 3174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4964430" y="5312092"/>
              <a:ext cx="580072" cy="300038"/>
            </a:xfrm>
            <a:prstGeom prst="roundRect">
              <a:avLst>
                <a:gd name="adj" fmla="val 3174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645810" y="3826669"/>
              <a:ext cx="9003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FCB 首块=18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063021" y="4453414"/>
              <a:ext cx="3838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 18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596890" y="4467225"/>
              <a:ext cx="52444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指针 → 80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5063021" y="4922996"/>
              <a:ext cx="3838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 80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596890" y="4936808"/>
              <a:ext cx="52444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指针 → 92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063021" y="5392579"/>
              <a:ext cx="3838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 92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596890" y="5406390"/>
              <a:ext cx="8576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指针为空，结束</a:t>
              </a:r>
            </a:p>
          </p:txBody>
        </p:sp>
      </p:grpSp>
      <p:grpSp>
        <p:nvGrpSpPr>
          <p:cNvPr id="79" name="c3-card-1"/>
          <p:cNvGrpSpPr/>
          <p:nvPr/>
        </p:nvGrpSpPr>
        <p:grpSpPr>
          <a:xfrm>
            <a:off x="8153400" y="1524000"/>
            <a:ext cx="3505200" cy="1986915"/>
            <a:chOff x="8153400" y="1524000"/>
            <a:chExt cx="3505200" cy="1986915"/>
          </a:xfrm>
        </p:grpSpPr>
        <p:sp>
          <p:nvSpPr>
            <p:cNvPr id="70" name="Rectangle 70"/>
            <p:cNvSpPr/>
            <p:nvPr/>
          </p:nvSpPr>
          <p:spPr>
            <a:xfrm>
              <a:off x="8153400" y="1524000"/>
              <a:ext cx="3505200" cy="1986915"/>
            </a:xfrm>
            <a:prstGeom prst="roundRect">
              <a:avLst>
                <a:gd name="adj" fmla="val 67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8162925" y="1657350"/>
              <a:ext cx="47625" cy="172021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840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848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索引结构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393430" y="2110740"/>
              <a:ext cx="2872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一个文件可存于不连续的块中，块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号记在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索引块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中。</a:t>
              </a:r>
            </a:p>
          </p:txBody>
        </p:sp>
        <p:sp>
          <p:nvSpPr>
            <p:cNvPr id="75" name="Ellipse 75"/>
            <p:cNvSpPr/>
            <p:nvPr/>
          </p:nvSpPr>
          <p:spPr>
            <a:xfrm>
              <a:off x="8406765" y="27946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8564880" y="2731770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优点：速度快，长度变化容易</a:t>
              </a:r>
            </a:p>
          </p:txBody>
        </p:sp>
        <p:sp>
          <p:nvSpPr>
            <p:cNvPr id="77" name="Ellipse 77"/>
            <p:cNvSpPr/>
            <p:nvPr/>
          </p:nvSpPr>
          <p:spPr>
            <a:xfrm>
              <a:off x="8406765" y="312991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8564880" y="306705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缺点：索引块占空间</a:t>
              </a:r>
            </a:p>
          </p:txBody>
        </p:sp>
      </p:grpSp>
      <p:grpSp>
        <p:nvGrpSpPr>
          <p:cNvPr id="102" name="c3-graph-2"/>
          <p:cNvGrpSpPr/>
          <p:nvPr/>
        </p:nvGrpSpPr>
        <p:grpSpPr>
          <a:xfrm>
            <a:off x="8608695" y="3786188"/>
            <a:ext cx="2639377" cy="1904524"/>
            <a:chOff x="8608695" y="3786188"/>
            <a:chExt cx="2639377" cy="1904524"/>
          </a:xfrm>
        </p:grpSpPr>
        <p:sp>
          <p:nvSpPr>
            <p:cNvPr id="80" name="Freeform 80"/>
            <p:cNvSpPr/>
            <p:nvPr/>
          </p:nvSpPr>
          <p:spPr>
            <a:xfrm>
              <a:off x="9204960" y="4086225"/>
              <a:ext cx="9525" cy="504825"/>
            </a:xfrm>
            <a:custGeom>
              <a:avLst/>
              <a:gdLst/>
              <a:ahLst/>
              <a:cxnLst/>
              <a:rect l="l" t="t" r="r" b="b"/>
              <a:pathLst>
                <a:path w="9525" h="504825">
                  <a:moveTo>
                    <a:pt x="0" y="0"/>
                  </a:moveTo>
                  <a:lnTo>
                    <a:pt x="0" y="5048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1" name="Freeform 81"/>
            <p:cNvSpPr/>
            <p:nvPr/>
          </p:nvSpPr>
          <p:spPr>
            <a:xfrm>
              <a:off x="9157335" y="45910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82" name="Freeform 82"/>
            <p:cNvSpPr/>
            <p:nvPr/>
          </p:nvSpPr>
          <p:spPr>
            <a:xfrm>
              <a:off x="9541192" y="4221480"/>
              <a:ext cx="1039177" cy="464820"/>
            </a:xfrm>
            <a:custGeom>
              <a:avLst/>
              <a:gdLst/>
              <a:ahLst/>
              <a:cxnLst/>
              <a:rect l="l" t="t" r="r" b="b"/>
              <a:pathLst>
                <a:path w="1039177" h="464820">
                  <a:moveTo>
                    <a:pt x="0" y="464820"/>
                  </a:moveTo>
                  <a:lnTo>
                    <a:pt x="103917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3" name="Freeform 83"/>
            <p:cNvSpPr/>
            <p:nvPr/>
          </p:nvSpPr>
          <p:spPr>
            <a:xfrm>
              <a:off x="10561320" y="4178618"/>
              <a:ext cx="106680" cy="86678"/>
            </a:xfrm>
            <a:custGeom>
              <a:avLst/>
              <a:gdLst/>
              <a:ahLst/>
              <a:cxnLst/>
              <a:rect l="l" t="t" r="r" b="b"/>
              <a:pathLst>
                <a:path w="106680" h="86678">
                  <a:moveTo>
                    <a:pt x="106680" y="4762"/>
                  </a:moveTo>
                  <a:lnTo>
                    <a:pt x="39053" y="866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84" name="Freeform 84"/>
            <p:cNvSpPr/>
            <p:nvPr/>
          </p:nvSpPr>
          <p:spPr>
            <a:xfrm>
              <a:off x="9637395" y="4622482"/>
              <a:ext cx="936307" cy="145733"/>
            </a:xfrm>
            <a:custGeom>
              <a:avLst/>
              <a:gdLst/>
              <a:ahLst/>
              <a:cxnLst/>
              <a:rect l="l" t="t" r="r" b="b"/>
              <a:pathLst>
                <a:path w="936307" h="145733">
                  <a:moveTo>
                    <a:pt x="0" y="145733"/>
                  </a:moveTo>
                  <a:lnTo>
                    <a:pt x="93630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5" name="Freeform 85"/>
            <p:cNvSpPr/>
            <p:nvPr/>
          </p:nvSpPr>
          <p:spPr>
            <a:xfrm>
              <a:off x="10566082" y="4574858"/>
              <a:ext cx="101918" cy="94297"/>
            </a:xfrm>
            <a:custGeom>
              <a:avLst/>
              <a:gdLst/>
              <a:ahLst/>
              <a:cxnLst/>
              <a:rect l="l" t="t" r="r" b="b"/>
              <a:pathLst>
                <a:path w="101918" h="94297">
                  <a:moveTo>
                    <a:pt x="101918" y="32385"/>
                  </a:moveTo>
                  <a:lnTo>
                    <a:pt x="14288" y="942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86" name="Freeform 86"/>
            <p:cNvSpPr/>
            <p:nvPr/>
          </p:nvSpPr>
          <p:spPr>
            <a:xfrm>
              <a:off x="9637395" y="4893945"/>
              <a:ext cx="935355" cy="125730"/>
            </a:xfrm>
            <a:custGeom>
              <a:avLst/>
              <a:gdLst/>
              <a:ahLst/>
              <a:cxnLst/>
              <a:rect l="l" t="t" r="r" b="b"/>
              <a:pathLst>
                <a:path w="935355" h="125730">
                  <a:moveTo>
                    <a:pt x="0" y="0"/>
                  </a:moveTo>
                  <a:lnTo>
                    <a:pt x="935355" y="12573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7" name="Freeform 87"/>
            <p:cNvSpPr/>
            <p:nvPr/>
          </p:nvSpPr>
          <p:spPr>
            <a:xfrm>
              <a:off x="10567035" y="4972050"/>
              <a:ext cx="100965" cy="94297"/>
            </a:xfrm>
            <a:custGeom>
              <a:avLst/>
              <a:gdLst/>
              <a:ahLst/>
              <a:cxnLst/>
              <a:rect l="l" t="t" r="r" b="b"/>
              <a:pathLst>
                <a:path w="100965" h="94297">
                  <a:moveTo>
                    <a:pt x="100965" y="60007"/>
                  </a:moveTo>
                  <a:lnTo>
                    <a:pt x="0" y="94297"/>
                  </a:lnTo>
                  <a:lnTo>
                    <a:pt x="1238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88" name="Freeform 88"/>
            <p:cNvSpPr/>
            <p:nvPr/>
          </p:nvSpPr>
          <p:spPr>
            <a:xfrm>
              <a:off x="9578340" y="4986338"/>
              <a:ext cx="1001078" cy="401955"/>
            </a:xfrm>
            <a:custGeom>
              <a:avLst/>
              <a:gdLst/>
              <a:ahLst/>
              <a:cxnLst/>
              <a:rect l="l" t="t" r="r" b="b"/>
              <a:pathLst>
                <a:path w="1001078" h="401955">
                  <a:moveTo>
                    <a:pt x="0" y="0"/>
                  </a:moveTo>
                  <a:lnTo>
                    <a:pt x="1001078" y="40195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9" name="Freeform 89"/>
            <p:cNvSpPr/>
            <p:nvPr/>
          </p:nvSpPr>
          <p:spPr>
            <a:xfrm>
              <a:off x="10561320" y="5344478"/>
              <a:ext cx="106680" cy="88582"/>
            </a:xfrm>
            <a:custGeom>
              <a:avLst/>
              <a:gdLst/>
              <a:ahLst/>
              <a:cxnLst/>
              <a:rect l="l" t="t" r="r" b="b"/>
              <a:pathLst>
                <a:path w="106680" h="88582">
                  <a:moveTo>
                    <a:pt x="106680" y="79057"/>
                  </a:moveTo>
                  <a:lnTo>
                    <a:pt x="0" y="88582"/>
                  </a:lnTo>
                  <a:lnTo>
                    <a:pt x="35243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8608695" y="3786188"/>
              <a:ext cx="1192530" cy="300038"/>
            </a:xfrm>
            <a:prstGeom prst="roundRect">
              <a:avLst>
                <a:gd name="adj" fmla="val 31746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91" name="Rectangle 91"/>
            <p:cNvSpPr/>
            <p:nvPr/>
          </p:nvSpPr>
          <p:spPr>
            <a:xfrm>
              <a:off x="8772525" y="4686300"/>
              <a:ext cx="864870" cy="300038"/>
            </a:xfrm>
            <a:prstGeom prst="roundRect">
              <a:avLst>
                <a:gd name="adj" fmla="val 31746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92" name="Rectangle 92"/>
            <p:cNvSpPr/>
            <p:nvPr/>
          </p:nvSpPr>
          <p:spPr>
            <a:xfrm>
              <a:off x="10668000" y="3903345"/>
              <a:ext cx="580072" cy="300038"/>
            </a:xfrm>
            <a:prstGeom prst="roundRect">
              <a:avLst>
                <a:gd name="adj" fmla="val 3174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93" name="Rectangle 93"/>
            <p:cNvSpPr/>
            <p:nvPr/>
          </p:nvSpPr>
          <p:spPr>
            <a:xfrm>
              <a:off x="10668000" y="4411980"/>
              <a:ext cx="580072" cy="300038"/>
            </a:xfrm>
            <a:prstGeom prst="roundRect">
              <a:avLst>
                <a:gd name="adj" fmla="val 3174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94" name="Rectangle 94"/>
            <p:cNvSpPr/>
            <p:nvPr/>
          </p:nvSpPr>
          <p:spPr>
            <a:xfrm>
              <a:off x="10668000" y="4920615"/>
              <a:ext cx="580072" cy="300038"/>
            </a:xfrm>
            <a:prstGeom prst="roundRect">
              <a:avLst>
                <a:gd name="adj" fmla="val 3174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95" name="Rectangle 95"/>
            <p:cNvSpPr/>
            <p:nvPr/>
          </p:nvSpPr>
          <p:spPr>
            <a:xfrm>
              <a:off x="10668000" y="5390198"/>
              <a:ext cx="580072" cy="300038"/>
            </a:xfrm>
            <a:prstGeom prst="roundRect">
              <a:avLst>
                <a:gd name="adj" fmla="val 3174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8679383" y="3865721"/>
              <a:ext cx="10511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FCB 索引块=29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8862264" y="4765834"/>
              <a:ext cx="6853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索引块 29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0765639" y="3983831"/>
              <a:ext cx="3838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 18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0765639" y="4492466"/>
              <a:ext cx="3838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 19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0765639" y="5001101"/>
              <a:ext cx="3838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 26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0765639" y="5470684"/>
              <a:ext cx="3838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 30</a:t>
              </a:r>
            </a:p>
          </p:txBody>
        </p:sp>
      </p:grpSp>
      <p:grpSp>
        <p:nvGrpSpPr>
          <p:cNvPr id="109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103" name="Rectangle 103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07" name="Group 107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104" name="Freeform 104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05" name="Freeform 105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06" name="Freeform 106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08" name="TextBox 108"/>
            <p:cNvSpPr txBox="1"/>
            <p:nvPr/>
          </p:nvSpPr>
          <p:spPr>
            <a:xfrm>
              <a:off x="1040130" y="5991225"/>
              <a:ext cx="89325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FCB 中的“文件地址”随结构不同：顺序结构记首块和块数，链接结构记首块，索引结构记索引块号。</a:t>
              </a:r>
            </a:p>
          </p:txBody>
        </p:sp>
      </p:grpSp>
      <p:grpSp>
        <p:nvGrpSpPr>
          <p:cNvPr id="11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0" name="TextBox 110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第8章 文件系统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76197" cy="909257"/>
            <a:chOff x="520446" y="342900"/>
            <a:chExt cx="627619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文件系统 · 文件与文件的物理结构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7619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三种结构对比：读第 k 块要访问几次磁盘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650982" cy="597598"/>
            <a:chOff x="525399" y="1550194"/>
            <a:chExt cx="10650982" cy="597598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650982" cy="597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80"/>
                </a:lnSpc>
              </a:pPr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选择物理结构时考虑四个因素：记录格式（等长或不等长，流式不必考虑）、空间开销（文件内容以外的存储）、访问速</a:t>
              </a:r>
              <a:br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度（特别是随机访问）、长度变化（能否动态增长）。</a:t>
              </a:r>
            </a:p>
          </p:txBody>
        </p:sp>
      </p:grpSp>
      <p:grpSp>
        <p:nvGrpSpPr>
          <p:cNvPr id="36" name="c1-table-1"/>
          <p:cNvGrpSpPr/>
          <p:nvPr/>
        </p:nvGrpSpPr>
        <p:grpSpPr>
          <a:xfrm>
            <a:off x="533400" y="2257425"/>
            <a:ext cx="6492240" cy="2702242"/>
            <a:chOff x="533400" y="2257425"/>
            <a:chExt cx="6492240" cy="2702242"/>
          </a:xfrm>
        </p:grpSpPr>
        <p:sp>
          <p:nvSpPr>
            <p:cNvPr id="9" name="Rectangle 9"/>
            <p:cNvSpPr/>
            <p:nvPr/>
          </p:nvSpPr>
          <p:spPr>
            <a:xfrm>
              <a:off x="533400" y="2257425"/>
              <a:ext cx="6492240" cy="675322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08952" y="250650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15122" y="2393156"/>
              <a:ext cx="179136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读逻辑块 k（FCB 已在内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存）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337101" y="250650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文件增长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60161" y="250650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额外空间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1223" y="318182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451610" y="2942272"/>
              <a:ext cx="2318385" cy="656272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549908" y="3181826"/>
              <a:ext cx="16843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次：块号 = 首块 + k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887343" y="3068479"/>
              <a:ext cx="14759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困难：后面的块可能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已被别的文件占用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704713" y="318182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60426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609022"/>
              <a:ext cx="649224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1223" y="385714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链接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451610" y="3618548"/>
              <a:ext cx="2318385" cy="656272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549908" y="3743801"/>
              <a:ext cx="189052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+ 1 次：从首块起沿指针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逐块读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887343" y="3743801"/>
              <a:ext cx="14759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容易：取任一空闲块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挂到链尾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704713" y="385714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每块一个指针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27958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1223" y="453247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索引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451610" y="4293870"/>
              <a:ext cx="2318385" cy="656272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549908" y="4419124"/>
              <a:ext cx="193929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次：先读索引块，再读数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据块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887343" y="4419124"/>
              <a:ext cx="14759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容易：索引块中添一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个块号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704713" y="453247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索引块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2257425"/>
              <a:ext cx="6492240" cy="270224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1437322" y="2257425"/>
              <a:ext cx="9525" cy="27022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3774758" y="2257425"/>
              <a:ext cx="9525" cy="27022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592128" y="2257425"/>
              <a:ext cx="9525" cy="27022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3" name="c1-callout-2"/>
          <p:cNvGrpSpPr/>
          <p:nvPr/>
        </p:nvGrpSpPr>
        <p:grpSpPr>
          <a:xfrm>
            <a:off x="533400" y="5150168"/>
            <a:ext cx="6492240" cy="782955"/>
            <a:chOff x="533400" y="5150168"/>
            <a:chExt cx="6492240" cy="782955"/>
          </a:xfrm>
        </p:grpSpPr>
        <p:sp>
          <p:nvSpPr>
            <p:cNvPr id="37" name="Rectangle 37"/>
            <p:cNvSpPr/>
            <p:nvPr/>
          </p:nvSpPr>
          <p:spPr>
            <a:xfrm>
              <a:off x="533400" y="5150168"/>
              <a:ext cx="6492240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26129" y="5437941"/>
              <a:ext cx="224134" cy="192560"/>
              <a:chOff x="726129" y="5437941"/>
              <a:chExt cx="224134" cy="19256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838200" y="550830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26129" y="543794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38200" y="558609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0130" y="5298758"/>
              <a:ext cx="54349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易错：链接结构读第 k 块（从 0 编号）要依次读出前面 k 块才拿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到它的块号，共 k + 1 次，不是 1 次。</a:t>
              </a:r>
            </a:p>
          </p:txBody>
        </p:sp>
      </p:grpSp>
      <p:grpSp>
        <p:nvGrpSpPr>
          <p:cNvPr id="56" name="c2-card-1"/>
          <p:cNvGrpSpPr/>
          <p:nvPr/>
        </p:nvGrpSpPr>
        <p:grpSpPr>
          <a:xfrm>
            <a:off x="7330440" y="2257425"/>
            <a:ext cx="4328160" cy="3675698"/>
            <a:chOff x="7330440" y="2257425"/>
            <a:chExt cx="4328160" cy="3675698"/>
          </a:xfrm>
        </p:grpSpPr>
        <p:sp>
          <p:nvSpPr>
            <p:cNvPr id="44" name="Rectangle 44"/>
            <p:cNvSpPr/>
            <p:nvPr/>
          </p:nvSpPr>
          <p:spPr>
            <a:xfrm>
              <a:off x="7330440" y="2257425"/>
              <a:ext cx="4328160" cy="3675698"/>
            </a:xfrm>
            <a:prstGeom prst="roundRect">
              <a:avLst>
                <a:gd name="adj" fmla="val 362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7339965" y="2390775"/>
              <a:ext cx="47625" cy="340899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7578090" y="2466975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673200" y="250269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036242" y="2502218"/>
              <a:ext cx="30103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文件共 100 块，随机读逻辑块 50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7583805" y="292608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741920" y="2863215"/>
              <a:ext cx="33571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顺序结构：块号 = 首块 + 50，读 1 次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7583805" y="326136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741920" y="3198495"/>
              <a:ext cx="35994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链接结构：读块 0、1、…、50，共 51 次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7583805" y="359664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741920" y="3533775"/>
              <a:ext cx="3444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索引结构：读索引块 1 次，再读数据块 1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次，共 2 次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571613" y="4151471"/>
              <a:ext cx="3613658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链接结构适合顺序访问；索引结构兼顾随机访问和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增长，代价是索引块占空间（本页左图 4 块数据实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际用了 5 块）。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第8章 文件系统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088987" cy="909257"/>
            <a:chOff x="520446" y="342900"/>
            <a:chExt cx="608898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文件系统 · 文件与文件的物理结构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0889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Hash 结构：由关键字直接算出存放位置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4977765" cy="2429828"/>
            <a:chOff x="533400" y="1524000"/>
            <a:chExt cx="4977765" cy="242982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429828"/>
            </a:xfrm>
            <a:prstGeom prst="roundRect">
              <a:avLst>
                <a:gd name="adj" fmla="val 548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163128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826770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8171" y="1756410"/>
              <a:ext cx="6696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Hash 结构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430657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计算地址：hash(key) = addr，addr 是记录在磁盘或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文件中的存放位置。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77240" y="273177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3831" y="2672239"/>
              <a:ext cx="402704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冲突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（conflict）：key1 ≠ key2，但 hash(key1)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hash(key2)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77240" y="3321368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3831" y="3260884"/>
              <a:ext cx="41622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顺序探查法：发生冲突时，从冲突位置开始顺序找第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一个空闲位置存放</a:t>
              </a:r>
            </a:p>
          </p:txBody>
        </p:sp>
      </p:grpSp>
      <p:grpSp>
        <p:nvGrpSpPr>
          <p:cNvPr id="24" name="c1-cells-2"/>
          <p:cNvGrpSpPr/>
          <p:nvPr/>
        </p:nvGrpSpPr>
        <p:grpSpPr>
          <a:xfrm>
            <a:off x="528066" y="4133850"/>
            <a:ext cx="3015234" cy="394335"/>
            <a:chOff x="528066" y="4133850"/>
            <a:chExt cx="3015234" cy="394335"/>
          </a:xfrm>
        </p:grpSpPr>
        <p:sp>
          <p:nvSpPr>
            <p:cNvPr id="17" name="TextBox 17"/>
            <p:cNvSpPr txBox="1"/>
            <p:nvPr/>
          </p:nvSpPr>
          <p:spPr>
            <a:xfrm>
              <a:off x="528066" y="42652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每个位置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200150" y="4133850"/>
              <a:ext cx="781050" cy="394335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302639" y="42652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空闲标志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981200" y="4133850"/>
              <a:ext cx="781050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083689" y="42652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冲突记数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762250" y="4133850"/>
              <a:ext cx="78105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864739" y="42652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记录内容</a:t>
              </a:r>
            </a:p>
          </p:txBody>
        </p:sp>
      </p:grpSp>
      <p:grpSp>
        <p:nvGrpSpPr>
          <p:cNvPr id="30" name="c1-kv-3"/>
          <p:cNvGrpSpPr/>
          <p:nvPr/>
        </p:nvGrpSpPr>
        <p:grpSpPr>
          <a:xfrm>
            <a:off x="526161" y="4731544"/>
            <a:ext cx="4985004" cy="962596"/>
            <a:chOff x="526161" y="4731544"/>
            <a:chExt cx="4985004" cy="962596"/>
          </a:xfrm>
        </p:grpSpPr>
        <p:sp>
          <p:nvSpPr>
            <p:cNvPr id="25" name="TextBox 25"/>
            <p:cNvSpPr txBox="1"/>
            <p:nvPr/>
          </p:nvSpPr>
          <p:spPr>
            <a:xfrm>
              <a:off x="526161" y="473154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空闲标志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525334" y="4731544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该位置是否已存放记录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503491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6161" y="514778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冲突记数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525334" y="5147786"/>
              <a:ext cx="371144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hash 值等于本位置的记录共有几个；查找时用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它判断何时停止</a:t>
              </a:r>
            </a:p>
          </p:txBody>
        </p:sp>
      </p:grpSp>
      <p:grpSp>
        <p:nvGrpSpPr>
          <p:cNvPr id="55" name="c2-flow-1"/>
          <p:cNvGrpSpPr/>
          <p:nvPr/>
        </p:nvGrpSpPr>
        <p:grpSpPr>
          <a:xfrm>
            <a:off x="6019800" y="1770698"/>
            <a:ext cx="5434965" cy="3126104"/>
            <a:chOff x="6019800" y="1770698"/>
            <a:chExt cx="5434965" cy="3126104"/>
          </a:xfrm>
        </p:grpSpPr>
        <p:sp>
          <p:nvSpPr>
            <p:cNvPr id="31" name="Freeform 31"/>
            <p:cNvSpPr/>
            <p:nvPr/>
          </p:nvSpPr>
          <p:spPr>
            <a:xfrm>
              <a:off x="7276148" y="2182178"/>
              <a:ext cx="9525" cy="388620"/>
            </a:xfrm>
            <a:custGeom>
              <a:avLst/>
              <a:gdLst/>
              <a:ahLst/>
              <a:cxnLst/>
              <a:rect l="l" t="t" r="r" b="b"/>
              <a:pathLst>
                <a:path w="9525" h="388620">
                  <a:moveTo>
                    <a:pt x="0" y="0"/>
                  </a:moveTo>
                  <a:lnTo>
                    <a:pt x="0" y="38862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7223760" y="257079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7276148" y="3087052"/>
              <a:ext cx="9525" cy="300038"/>
            </a:xfrm>
            <a:custGeom>
              <a:avLst/>
              <a:gdLst/>
              <a:ahLst/>
              <a:cxnLst/>
              <a:rect l="l" t="t" r="r" b="b"/>
              <a:pathLst>
                <a:path w="9525" h="300038">
                  <a:moveTo>
                    <a:pt x="0" y="0"/>
                  </a:moveTo>
                  <a:lnTo>
                    <a:pt x="0" y="30003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7223760" y="338709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7276148" y="4080510"/>
              <a:ext cx="9525" cy="300038"/>
            </a:xfrm>
            <a:custGeom>
              <a:avLst/>
              <a:gdLst/>
              <a:ahLst/>
              <a:cxnLst/>
              <a:rect l="l" t="t" r="r" b="b"/>
              <a:pathLst>
                <a:path w="9525" h="300038">
                  <a:moveTo>
                    <a:pt x="0" y="0"/>
                  </a:moveTo>
                  <a:lnTo>
                    <a:pt x="0" y="30003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7223760" y="438054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8532495" y="3786188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8837295" y="37338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7276148" y="3274695"/>
              <a:ext cx="2921317" cy="209550"/>
            </a:xfrm>
            <a:custGeom>
              <a:avLst/>
              <a:gdLst/>
              <a:ahLst/>
              <a:cxnLst/>
              <a:rect l="l" t="t" r="r" b="b"/>
              <a:pathLst>
                <a:path w="2921317" h="209550">
                  <a:moveTo>
                    <a:pt x="2921317" y="209550"/>
                  </a:moveTo>
                  <a:lnTo>
                    <a:pt x="2921317" y="0"/>
                  </a:lnTo>
                  <a:lnTo>
                    <a:pt x="2921317" y="7620"/>
                  </a:lnTo>
                  <a:lnTo>
                    <a:pt x="0" y="7620"/>
                  </a:lnTo>
                  <a:lnTo>
                    <a:pt x="0" y="11239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7223760" y="338709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019800" y="1770698"/>
              <a:ext cx="2512695" cy="41148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019800" y="2675572"/>
              <a:ext cx="2512695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6019800" y="3491865"/>
              <a:ext cx="2512695" cy="588645"/>
            </a:xfrm>
            <a:custGeom>
              <a:avLst/>
              <a:gdLst/>
              <a:ahLst/>
              <a:cxnLst/>
              <a:rect l="l" t="t" r="r" b="b"/>
              <a:pathLst>
                <a:path w="2512695" h="588645">
                  <a:moveTo>
                    <a:pt x="1256347" y="0"/>
                  </a:moveTo>
                  <a:lnTo>
                    <a:pt x="2512695" y="294322"/>
                  </a:lnTo>
                  <a:lnTo>
                    <a:pt x="1256347" y="588645"/>
                  </a:lnTo>
                  <a:lnTo>
                    <a:pt x="0" y="294322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019800" y="4485322"/>
              <a:ext cx="2512695" cy="41148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8942070" y="3484245"/>
              <a:ext cx="2512695" cy="603885"/>
            </a:xfrm>
            <a:prstGeom prst="roundRect">
              <a:avLst>
                <a:gd name="adj" fmla="val 15773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79136" y="1892618"/>
              <a:ext cx="17940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 addr = hash(key)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34061" y="2797492"/>
              <a:ext cx="16841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addr 处的冲突记数加 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704648" y="3702368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当前位置空闲？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381560" y="4607242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标记为占用，填记录内容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124569" y="3599498"/>
              <a:ext cx="21457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顺取下一个位置（到末尾回到开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头）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304722" y="4197668"/>
              <a:ext cx="22002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328344" y="422195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8626792" y="3580448"/>
              <a:ext cx="22002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666366" y="360473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</p:grpSp>
      <p:grpSp>
        <p:nvGrpSpPr>
          <p:cNvPr id="62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56" name="Rectangle 56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38188" y="6011228"/>
              <a:ext cx="200026" cy="200025"/>
              <a:chOff x="738188" y="6011228"/>
              <a:chExt cx="200026" cy="200025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738188" y="60112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77926" y="60556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12642" y="61668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040511" y="6011704"/>
              <a:ext cx="872183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保存记录（右图）：冲突记数加在 hash(key) 算出的位置上，记录本身可能被放到后面某个空闲位置。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第8章 文件系统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068390" cy="909257"/>
            <a:chOff x="520446" y="342900"/>
            <a:chExt cx="60683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文件系统 · 文件与文件的物理结构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0683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Hash 查找：同 hash 的记录都查过就停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746697" cy="308039"/>
            <a:chOff x="525399" y="1550194"/>
            <a:chExt cx="10746697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74669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先取出 addr 处的冲突记数 count；每遇到一个 hash 值等于 addr 的记录就减 1，减到 0 仍未找到，说明不存在。</a:t>
              </a:r>
            </a:p>
          </p:txBody>
        </p:sp>
      </p:grpSp>
      <p:grpSp>
        <p:nvGrpSpPr>
          <p:cNvPr id="65" name="c1-flow-1"/>
          <p:cNvGrpSpPr/>
          <p:nvPr/>
        </p:nvGrpSpPr>
        <p:grpSpPr>
          <a:xfrm>
            <a:off x="793432" y="2000250"/>
            <a:ext cx="10605136" cy="3525203"/>
            <a:chOff x="793432" y="2000250"/>
            <a:chExt cx="10605136" cy="3525203"/>
          </a:xfrm>
        </p:grpSpPr>
        <p:sp>
          <p:nvSpPr>
            <p:cNvPr id="9" name="Freeform 9"/>
            <p:cNvSpPr/>
            <p:nvPr/>
          </p:nvSpPr>
          <p:spPr>
            <a:xfrm>
              <a:off x="6096000" y="2605088"/>
              <a:ext cx="9525" cy="24765"/>
            </a:xfrm>
            <a:custGeom>
              <a:avLst/>
              <a:gdLst/>
              <a:ahLst/>
              <a:cxnLst/>
              <a:rect l="l" t="t" r="r" b="b"/>
              <a:pathLst>
                <a:path w="9525" h="24765">
                  <a:moveTo>
                    <a:pt x="0" y="2476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6043612" y="26050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4087178" y="3010852"/>
              <a:ext cx="414338" cy="9525"/>
            </a:xfrm>
            <a:custGeom>
              <a:avLst/>
              <a:gdLst/>
              <a:ahLst/>
              <a:cxnLst/>
              <a:rect l="l" t="t" r="r" b="b"/>
              <a:pathLst>
                <a:path w="414338" h="9525">
                  <a:moveTo>
                    <a:pt x="414338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982402" y="295846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6096000" y="3300412"/>
              <a:ext cx="9525" cy="10478"/>
            </a:xfrm>
            <a:custGeom>
              <a:avLst/>
              <a:gdLst/>
              <a:ahLst/>
              <a:cxnLst/>
              <a:rect l="l" t="t" r="r" b="b"/>
              <a:pathLst>
                <a:path w="9525" h="10478">
                  <a:moveTo>
                    <a:pt x="0" y="10478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6043612" y="33004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7690485" y="3706178"/>
              <a:ext cx="414338" cy="9525"/>
            </a:xfrm>
            <a:custGeom>
              <a:avLst/>
              <a:gdLst/>
              <a:ahLst/>
              <a:cxnLst/>
              <a:rect l="l" t="t" r="r" b="b"/>
              <a:pathLst>
                <a:path w="414338" h="9525">
                  <a:moveTo>
                    <a:pt x="0" y="0"/>
                  </a:moveTo>
                  <a:lnTo>
                    <a:pt x="41433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8104822" y="365379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6096000" y="3995738"/>
              <a:ext cx="9525" cy="10478"/>
            </a:xfrm>
            <a:custGeom>
              <a:avLst/>
              <a:gdLst/>
              <a:ahLst/>
              <a:cxnLst/>
              <a:rect l="l" t="t" r="r" b="b"/>
              <a:pathLst>
                <a:path w="9525" h="10478">
                  <a:moveTo>
                    <a:pt x="0" y="10478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6043612" y="39957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4087178" y="4401502"/>
              <a:ext cx="414338" cy="9525"/>
            </a:xfrm>
            <a:custGeom>
              <a:avLst/>
              <a:gdLst/>
              <a:ahLst/>
              <a:cxnLst/>
              <a:rect l="l" t="t" r="r" b="b"/>
              <a:pathLst>
                <a:path w="414338" h="9525">
                  <a:moveTo>
                    <a:pt x="414338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3982402" y="434911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6096000" y="4691062"/>
              <a:ext cx="9525" cy="10478"/>
            </a:xfrm>
            <a:custGeom>
              <a:avLst/>
              <a:gdLst/>
              <a:ahLst/>
              <a:cxnLst/>
              <a:rect l="l" t="t" r="r" b="b"/>
              <a:pathLst>
                <a:path w="9525" h="10478">
                  <a:moveTo>
                    <a:pt x="0" y="10478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6043612" y="469106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4087178" y="5096828"/>
              <a:ext cx="414338" cy="9525"/>
            </a:xfrm>
            <a:custGeom>
              <a:avLst/>
              <a:gdLst/>
              <a:ahLst/>
              <a:cxnLst/>
              <a:rect l="l" t="t" r="r" b="b"/>
              <a:pathLst>
                <a:path w="414338" h="9525">
                  <a:moveTo>
                    <a:pt x="414338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3982402" y="504444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7690485" y="4030028"/>
              <a:ext cx="2113598" cy="1066800"/>
            </a:xfrm>
            <a:custGeom>
              <a:avLst/>
              <a:gdLst/>
              <a:ahLst/>
              <a:cxnLst/>
              <a:rect l="l" t="t" r="r" b="b"/>
              <a:pathLst>
                <a:path w="2113598" h="1066800">
                  <a:moveTo>
                    <a:pt x="0" y="1066800"/>
                  </a:moveTo>
                  <a:lnTo>
                    <a:pt x="209550" y="1066800"/>
                  </a:lnTo>
                  <a:lnTo>
                    <a:pt x="2113598" y="1066800"/>
                  </a:lnTo>
                  <a:lnTo>
                    <a:pt x="2113598" y="104775"/>
                  </a:lnTo>
                  <a:lnTo>
                    <a:pt x="211359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9751695" y="392525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2387918" y="4030028"/>
              <a:ext cx="7416165" cy="1495425"/>
            </a:xfrm>
            <a:custGeom>
              <a:avLst/>
              <a:gdLst/>
              <a:ahLst/>
              <a:cxnLst/>
              <a:rect l="l" t="t" r="r" b="b"/>
              <a:pathLst>
                <a:path w="7416165" h="1495425">
                  <a:moveTo>
                    <a:pt x="0" y="1285875"/>
                  </a:moveTo>
                  <a:lnTo>
                    <a:pt x="0" y="1495425"/>
                  </a:lnTo>
                  <a:lnTo>
                    <a:pt x="3810" y="1396365"/>
                  </a:lnTo>
                  <a:lnTo>
                    <a:pt x="7412355" y="1396365"/>
                  </a:lnTo>
                  <a:lnTo>
                    <a:pt x="7416165" y="104775"/>
                  </a:lnTo>
                  <a:lnTo>
                    <a:pt x="741616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9751695" y="392525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7795260" y="3010852"/>
              <a:ext cx="2008822" cy="476250"/>
            </a:xfrm>
            <a:custGeom>
              <a:avLst/>
              <a:gdLst/>
              <a:ahLst/>
              <a:cxnLst/>
              <a:rect l="l" t="t" r="r" b="b"/>
              <a:pathLst>
                <a:path w="2008822" h="476250">
                  <a:moveTo>
                    <a:pt x="2008822" y="476250"/>
                  </a:moveTo>
                  <a:lnTo>
                    <a:pt x="2008822" y="266700"/>
                  </a:lnTo>
                  <a:lnTo>
                    <a:pt x="2008822" y="0"/>
                  </a:lnTo>
                  <a:lnTo>
                    <a:pt x="104775" y="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7690485" y="295846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501515" y="2000250"/>
              <a:ext cx="3188970" cy="629602"/>
            </a:xfrm>
            <a:prstGeom prst="roundRect">
              <a:avLst>
                <a:gd name="adj" fmla="val 49924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4501515" y="2709862"/>
              <a:ext cx="3188970" cy="601028"/>
            </a:xfrm>
            <a:custGeom>
              <a:avLst/>
              <a:gdLst/>
              <a:ahLst/>
              <a:cxnLst/>
              <a:rect l="l" t="t" r="r" b="b"/>
              <a:pathLst>
                <a:path w="3188970" h="601028">
                  <a:moveTo>
                    <a:pt x="1594485" y="0"/>
                  </a:moveTo>
                  <a:lnTo>
                    <a:pt x="3188970" y="300990"/>
                  </a:lnTo>
                  <a:lnTo>
                    <a:pt x="1594485" y="601028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793432" y="2791778"/>
              <a:ext cx="3188970" cy="43815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4501515" y="3405188"/>
              <a:ext cx="3188970" cy="601028"/>
            </a:xfrm>
            <a:custGeom>
              <a:avLst/>
              <a:gdLst/>
              <a:ahLst/>
              <a:cxnLst/>
              <a:rect l="l" t="t" r="r" b="b"/>
              <a:pathLst>
                <a:path w="3188970" h="601028">
                  <a:moveTo>
                    <a:pt x="1594485" y="0"/>
                  </a:moveTo>
                  <a:lnTo>
                    <a:pt x="3188970" y="300990"/>
                  </a:lnTo>
                  <a:lnTo>
                    <a:pt x="1594485" y="601028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8209598" y="3487102"/>
              <a:ext cx="318897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4501515" y="4100512"/>
              <a:ext cx="3188970" cy="601028"/>
            </a:xfrm>
            <a:custGeom>
              <a:avLst/>
              <a:gdLst/>
              <a:ahLst/>
              <a:cxnLst/>
              <a:rect l="l" t="t" r="r" b="b"/>
              <a:pathLst>
                <a:path w="3188970" h="601028">
                  <a:moveTo>
                    <a:pt x="1594485" y="0"/>
                  </a:moveTo>
                  <a:lnTo>
                    <a:pt x="3188970" y="300990"/>
                  </a:lnTo>
                  <a:lnTo>
                    <a:pt x="1594485" y="601028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793432" y="4182428"/>
              <a:ext cx="3188970" cy="43815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4501515" y="4795838"/>
              <a:ext cx="3188970" cy="601028"/>
            </a:xfrm>
            <a:custGeom>
              <a:avLst/>
              <a:gdLst/>
              <a:ahLst/>
              <a:cxnLst/>
              <a:rect l="l" t="t" r="r" b="b"/>
              <a:pathLst>
                <a:path w="3188970" h="601028">
                  <a:moveTo>
                    <a:pt x="1594485" y="0"/>
                  </a:moveTo>
                  <a:lnTo>
                    <a:pt x="3188970" y="300990"/>
                  </a:lnTo>
                  <a:lnTo>
                    <a:pt x="1594485" y="601028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793432" y="4877752"/>
              <a:ext cx="3188970" cy="438150"/>
            </a:xfrm>
            <a:prstGeom prst="roundRect">
              <a:avLst>
                <a:gd name="adj" fmla="val 2173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676267" y="2116931"/>
              <a:ext cx="2839466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addr = hash(key)；count := 该处冲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突记数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619968" y="2921794"/>
              <a:ext cx="9520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count = 0？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036813" y="292179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无此记录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572582" y="361711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本记录空闲？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280665" y="361711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顺取下一记录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663047" y="4312444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key 相等？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209127" y="43124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找到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042718" y="5007769"/>
              <a:ext cx="21065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该记录的 hash 值 = addr？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614645" y="5007769"/>
              <a:ext cx="15465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count := count − 1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127182" y="2794635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165473" y="282130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124575" y="3266122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147816" y="3292793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836218" y="3489960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874508" y="351663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124575" y="3961448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147816" y="398811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4127182" y="4185285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4165473" y="421195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124575" y="4656772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147816" y="468344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4127182" y="4880610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4165473" y="490728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7976235" y="4880610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014526" y="490728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</p:grpSp>
      <p:grpSp>
        <p:nvGrpSpPr>
          <p:cNvPr id="72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66" name="Rectangle 66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1040130" y="5991225"/>
              <a:ext cx="80520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遇到空闲位置不能停止查找：删除记录会在中间留下空位，同 hash 的记录可能还在后面。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第8章 文件系统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396110" cy="909257"/>
            <a:chOff x="520446" y="342900"/>
            <a:chExt cx="539611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文件系统 · 文件与文件的物理结构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39611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Hash 删除，以及 Hash 结构的特点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9" name="c1-flow-1"/>
          <p:cNvGrpSpPr/>
          <p:nvPr/>
        </p:nvGrpSpPr>
        <p:grpSpPr>
          <a:xfrm>
            <a:off x="692468" y="1699260"/>
            <a:ext cx="4227194" cy="2793683"/>
            <a:chOff x="692468" y="1699260"/>
            <a:chExt cx="4227194" cy="2793683"/>
          </a:xfrm>
        </p:grpSpPr>
        <p:sp>
          <p:nvSpPr>
            <p:cNvPr id="7" name="Freeform 7"/>
            <p:cNvSpPr/>
            <p:nvPr/>
          </p:nvSpPr>
          <p:spPr>
            <a:xfrm>
              <a:off x="1669732" y="2110740"/>
              <a:ext cx="9525" cy="157162"/>
            </a:xfrm>
            <a:custGeom>
              <a:avLst/>
              <a:gdLst/>
              <a:ahLst/>
              <a:cxnLst/>
              <a:rect l="l" t="t" r="r" b="b"/>
              <a:pathLst>
                <a:path w="9525" h="157162">
                  <a:moveTo>
                    <a:pt x="0" y="0"/>
                  </a:moveTo>
                  <a:lnTo>
                    <a:pt x="0" y="15716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617345" y="226790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646998" y="2667000"/>
              <a:ext cx="213360" cy="9525"/>
            </a:xfrm>
            <a:custGeom>
              <a:avLst/>
              <a:gdLst/>
              <a:ahLst/>
              <a:cxnLst/>
              <a:rect l="l" t="t" r="r" b="b"/>
              <a:pathLst>
                <a:path w="213360" h="9525">
                  <a:moveTo>
                    <a:pt x="0" y="0"/>
                  </a:moveTo>
                  <a:lnTo>
                    <a:pt x="21336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860358" y="26146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669732" y="2961322"/>
              <a:ext cx="9525" cy="157162"/>
            </a:xfrm>
            <a:custGeom>
              <a:avLst/>
              <a:gdLst/>
              <a:ahLst/>
              <a:cxnLst/>
              <a:rect l="l" t="t" r="r" b="b"/>
              <a:pathLst>
                <a:path w="9525" h="157162">
                  <a:moveTo>
                    <a:pt x="0" y="0"/>
                  </a:moveTo>
                  <a:lnTo>
                    <a:pt x="0" y="15716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617345" y="311848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669732" y="3634740"/>
              <a:ext cx="9525" cy="149542"/>
            </a:xfrm>
            <a:custGeom>
              <a:avLst/>
              <a:gdLst/>
              <a:ahLst/>
              <a:cxnLst/>
              <a:rect l="l" t="t" r="r" b="b"/>
              <a:pathLst>
                <a:path w="9525" h="149542">
                  <a:moveTo>
                    <a:pt x="0" y="0"/>
                  </a:moveTo>
                  <a:lnTo>
                    <a:pt x="0" y="14954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617345" y="378428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92468" y="1699260"/>
              <a:ext cx="1954530" cy="41148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692468" y="2372678"/>
              <a:ext cx="1954530" cy="588645"/>
            </a:xfrm>
            <a:custGeom>
              <a:avLst/>
              <a:gdLst/>
              <a:ahLst/>
              <a:cxnLst/>
              <a:rect l="l" t="t" r="r" b="b"/>
              <a:pathLst>
                <a:path w="1954530" h="588645">
                  <a:moveTo>
                    <a:pt x="977265" y="0"/>
                  </a:moveTo>
                  <a:lnTo>
                    <a:pt x="1954530" y="294323"/>
                  </a:lnTo>
                  <a:lnTo>
                    <a:pt x="977265" y="588645"/>
                  </a:lnTo>
                  <a:lnTo>
                    <a:pt x="0" y="294323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2965132" y="2461260"/>
              <a:ext cx="1954530" cy="411480"/>
            </a:xfrm>
            <a:prstGeom prst="roundRect">
              <a:avLst>
                <a:gd name="adj" fmla="val 23148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92468" y="3223260"/>
              <a:ext cx="1954530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92468" y="3889058"/>
              <a:ext cx="1954530" cy="60388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45775" y="1821180"/>
              <a:ext cx="1447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调用查找过程(key)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21321" y="258318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找到？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12261" y="258318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错误返回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59777" y="334518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置空闲标志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62584" y="4004310"/>
              <a:ext cx="1614297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hash(key) 处的冲突记</a:t>
              </a:r>
              <a:br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数减 1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2695575" y="2461260"/>
              <a:ext cx="22002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735148" y="248554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698308" y="3007042"/>
              <a:ext cx="22002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721930" y="3031331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</p:grpSp>
      <p:grpSp>
        <p:nvGrpSpPr>
          <p:cNvPr id="36" name="c1-callout-2"/>
          <p:cNvGrpSpPr/>
          <p:nvPr/>
        </p:nvGrpSpPr>
        <p:grpSpPr>
          <a:xfrm>
            <a:off x="533400" y="4752022"/>
            <a:ext cx="4544378" cy="1018222"/>
            <a:chOff x="533400" y="4752022"/>
            <a:chExt cx="4544378" cy="1018222"/>
          </a:xfrm>
        </p:grpSpPr>
        <p:sp>
          <p:nvSpPr>
            <p:cNvPr id="30" name="Rectangle 30"/>
            <p:cNvSpPr/>
            <p:nvPr/>
          </p:nvSpPr>
          <p:spPr>
            <a:xfrm>
              <a:off x="533400" y="4752022"/>
              <a:ext cx="4544378" cy="1018222"/>
            </a:xfrm>
            <a:prstGeom prst="roundRect">
              <a:avLst>
                <a:gd name="adj" fmla="val 1122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38188" y="5161598"/>
              <a:ext cx="200026" cy="200026"/>
              <a:chOff x="738188" y="5161598"/>
              <a:chExt cx="200026" cy="200026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38188" y="516159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38200" y="52282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27088" y="526161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040511" y="4899184"/>
              <a:ext cx="362127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减的是 hash(key) 处的记数，不是记录实际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所在位置的记数。两者只在没有发生冲突时相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同。</a:t>
              </a:r>
            </a:p>
          </p:txBody>
        </p:sp>
      </p:grpSp>
      <p:grpSp>
        <p:nvGrpSpPr>
          <p:cNvPr id="51" name="c2-table-1"/>
          <p:cNvGrpSpPr/>
          <p:nvPr/>
        </p:nvGrpSpPr>
        <p:grpSpPr>
          <a:xfrm>
            <a:off x="5382578" y="1524000"/>
            <a:ext cx="6276022" cy="1697355"/>
            <a:chOff x="5382578" y="1524000"/>
            <a:chExt cx="6276022" cy="1697355"/>
          </a:xfrm>
        </p:grpSpPr>
        <p:sp>
          <p:nvSpPr>
            <p:cNvPr id="37" name="Rectangle 37"/>
            <p:cNvSpPr/>
            <p:nvPr/>
          </p:nvSpPr>
          <p:spPr>
            <a:xfrm>
              <a:off x="5382578" y="1524000"/>
              <a:ext cx="6276022" cy="4248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905500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558403" y="1652588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对冲突记数的影响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485066" y="207645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保存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66192" y="2076450"/>
              <a:ext cx="34207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hash(key) 处加 1；文件满、保存失败时应减回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82578" y="236791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382578" y="2372678"/>
              <a:ext cx="627602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485066" y="250126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查找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866192" y="2501265"/>
              <a:ext cx="26534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不修改，只在局部变量 count 上递减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82578" y="279273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485066" y="292608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866192" y="2926080"/>
              <a:ext cx="30976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hash(key) 处减 1，并把记录位置置为空闲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82578" y="1524000"/>
              <a:ext cx="6276022" cy="1697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758940" y="152400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1" name="c2-card-2"/>
          <p:cNvGrpSpPr/>
          <p:nvPr/>
        </p:nvGrpSpPr>
        <p:grpSpPr>
          <a:xfrm>
            <a:off x="5382578" y="3402330"/>
            <a:ext cx="6276022" cy="1615440"/>
            <a:chOff x="5382578" y="3402330"/>
            <a:chExt cx="6276022" cy="1615440"/>
          </a:xfrm>
        </p:grpSpPr>
        <p:sp>
          <p:nvSpPr>
            <p:cNvPr id="52" name="Rectangle 52"/>
            <p:cNvSpPr/>
            <p:nvPr/>
          </p:nvSpPr>
          <p:spPr>
            <a:xfrm>
              <a:off x="5382578" y="3402330"/>
              <a:ext cx="6276022" cy="1615440"/>
            </a:xfrm>
            <a:prstGeom prst="roundRect">
              <a:avLst>
                <a:gd name="adj" fmla="val 8255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580698" y="3600450"/>
              <a:ext cx="1226820" cy="247650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647247" y="3634740"/>
              <a:ext cx="10937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Hash 结构的特点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5588317" y="4020502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744908" y="3960971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特点：按关键字检索的速度非常快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5588317" y="4338638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744908" y="4278154"/>
              <a:ext cx="38376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用途：常用于目录检索（按文件名找目录项）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5588317" y="4656772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744908" y="4596289"/>
              <a:ext cx="55581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注意：文件可循环使用，探查到末尾回到开头；文件满时保存失败</a:t>
              </a:r>
            </a:p>
          </p:txBody>
        </p:sp>
      </p:grpSp>
      <p:grpSp>
        <p:nvGrpSpPr>
          <p:cNvPr id="68" name="c2-callout-3"/>
          <p:cNvGrpSpPr/>
          <p:nvPr/>
        </p:nvGrpSpPr>
        <p:grpSpPr>
          <a:xfrm>
            <a:off x="5382578" y="5196840"/>
            <a:ext cx="6276022" cy="756285"/>
            <a:chOff x="5382578" y="5196840"/>
            <a:chExt cx="6276022" cy="756285"/>
          </a:xfrm>
        </p:grpSpPr>
        <p:sp>
          <p:nvSpPr>
            <p:cNvPr id="62" name="Rectangle 62"/>
            <p:cNvSpPr/>
            <p:nvPr/>
          </p:nvSpPr>
          <p:spPr>
            <a:xfrm>
              <a:off x="5382578" y="5196840"/>
              <a:ext cx="6276022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5587365" y="5474970"/>
              <a:ext cx="200026" cy="200025"/>
              <a:chOff x="5587365" y="5474970"/>
              <a:chExt cx="200026" cy="200025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5587365" y="547497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5627104" y="551942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5661819" y="563054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5889688" y="5344954"/>
              <a:ext cx="524433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冲突越多，探查和查找要比较的位置就越多。文件留有足够的空闲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位置时，Hash 结构才能保持高速。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第8章 文件系统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745706" cy="909257"/>
            <a:chOff x="520446" y="342900"/>
            <a:chExt cx="574570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文件系统 · 文件与文件的物理结构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74570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Hash 例题：保存、查找、删除全过程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9627603" cy="264033"/>
            <a:chOff x="526542" y="1545907"/>
            <a:chExt cx="9627603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96276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文件共 8 个位置（0–7），hash(key) = key mod 8。依次保存 9、17、10、25；再查找 25 和 33；删除 17 后再查 25。</a:t>
              </a:r>
            </a:p>
          </p:txBody>
        </p:sp>
      </p:grpSp>
      <p:grpSp>
        <p:nvGrpSpPr>
          <p:cNvPr id="39" name="c1-table-1"/>
          <p:cNvGrpSpPr/>
          <p:nvPr/>
        </p:nvGrpSpPr>
        <p:grpSpPr>
          <a:xfrm>
            <a:off x="533400" y="1928812"/>
            <a:ext cx="4869180" cy="2000250"/>
            <a:chOff x="533400" y="1928812"/>
            <a:chExt cx="4869180" cy="200025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4869180" cy="40005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91261" y="20502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保存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19451" y="2050256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hash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196984" y="20502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探查位置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31741" y="20502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存入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98499" y="24503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052132" y="24503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457070" y="24503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841052" y="24503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724150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728912"/>
              <a:ext cx="486918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4963" y="285035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52132" y="28503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328911" y="2850356"/>
              <a:ext cx="350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→ 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841052" y="28503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124200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54963" y="325040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052132" y="32504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328911" y="3250406"/>
              <a:ext cx="350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→ 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841052" y="32504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524250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3529012"/>
              <a:ext cx="486918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54963" y="365045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052132" y="36504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072595" y="3650456"/>
              <a:ext cx="8633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→ 2 → 3 → 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841052" y="36504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1928812"/>
              <a:ext cx="4869180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1557338" y="1928812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2630805" y="1928812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4369118" y="1928812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07" name="c1-cells-2"/>
          <p:cNvGrpSpPr/>
          <p:nvPr/>
        </p:nvGrpSpPr>
        <p:grpSpPr>
          <a:xfrm>
            <a:off x="528447" y="4098608"/>
            <a:ext cx="3989261" cy="2108835"/>
            <a:chOff x="528447" y="4098608"/>
            <a:chExt cx="3989261" cy="2108835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422290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记录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164908" y="4098608"/>
              <a:ext cx="419100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0E7C8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1584008" y="4098608"/>
              <a:ext cx="419100" cy="368618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750510" y="422290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2003108" y="4098608"/>
              <a:ext cx="419100" cy="368618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2131516" y="422290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2422208" y="4098608"/>
              <a:ext cx="419100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2550616" y="422290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2841308" y="4098608"/>
              <a:ext cx="419100" cy="368618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2969716" y="422290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3260408" y="4098608"/>
              <a:ext cx="419100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0E7C86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3679508" y="4098608"/>
              <a:ext cx="419100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0E7C86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4098608" y="4098608"/>
              <a:ext cx="419100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0E7C86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339338" y="45210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758438" y="45210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177538" y="45210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2596638" y="45210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015738" y="45210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434838" y="45210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853938" y="45210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273038" y="45210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28447" y="492299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冲突记数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1164908" y="4799648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331410" y="492299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1584008" y="4799648"/>
              <a:ext cx="419100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750510" y="492299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2003108" y="4799648"/>
              <a:ext cx="419100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2169610" y="492299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2422208" y="4799648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2588710" y="492299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2841308" y="4799648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3007810" y="492299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3260408" y="4799648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3426910" y="492299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3679508" y="4799648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3846010" y="492299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4098608" y="4799648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4265110" y="492299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528447" y="5443061"/>
              <a:ext cx="5092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删 17 后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1164908" y="5318760"/>
              <a:ext cx="419100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0E7C86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1584008" y="5318760"/>
              <a:ext cx="419100" cy="368618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1750510" y="544306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2003108" y="5318760"/>
              <a:ext cx="419100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0E7C86"/>
              </a:solidFill>
            </a:ln>
          </p:spPr>
        </p:sp>
        <p:sp>
          <p:nvSpPr>
            <p:cNvPr id="83" name="Rectangle 83"/>
            <p:cNvSpPr/>
            <p:nvPr/>
          </p:nvSpPr>
          <p:spPr>
            <a:xfrm>
              <a:off x="2422208" y="5318760"/>
              <a:ext cx="419100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2550616" y="544306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2841308" y="5318760"/>
              <a:ext cx="419100" cy="368618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2969716" y="544306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3260408" y="5318760"/>
              <a:ext cx="419100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0E7C86"/>
              </a:solidFill>
            </a:ln>
          </p:spPr>
        </p:sp>
        <p:sp>
          <p:nvSpPr>
            <p:cNvPr id="88" name="Rectangle 88"/>
            <p:cNvSpPr/>
            <p:nvPr/>
          </p:nvSpPr>
          <p:spPr>
            <a:xfrm>
              <a:off x="3679508" y="5318760"/>
              <a:ext cx="419100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0E7C86"/>
              </a:solidFill>
            </a:ln>
          </p:spPr>
        </p:sp>
        <p:sp>
          <p:nvSpPr>
            <p:cNvPr id="89" name="Rectangle 89"/>
            <p:cNvSpPr/>
            <p:nvPr/>
          </p:nvSpPr>
          <p:spPr>
            <a:xfrm>
              <a:off x="4098608" y="5318760"/>
              <a:ext cx="419100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0E7C86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528447" y="596217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冲突记数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1164908" y="5838825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1331410" y="596217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1584008" y="5838825"/>
              <a:ext cx="419100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1750510" y="596217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2003108" y="5838825"/>
              <a:ext cx="419100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2169610" y="596217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2422208" y="5838825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2588710" y="596217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2841308" y="5838825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3007810" y="596217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3260408" y="5838825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3426910" y="596217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3679508" y="5838825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3846010" y="596217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4098608" y="5838825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4265110" y="596217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</p:grpSp>
      <p:grpSp>
        <p:nvGrpSpPr>
          <p:cNvPr id="127" name="c2-table-1"/>
          <p:cNvGrpSpPr/>
          <p:nvPr/>
        </p:nvGrpSpPr>
        <p:grpSpPr>
          <a:xfrm>
            <a:off x="5707380" y="1928812"/>
            <a:ext cx="5951220" cy="2400300"/>
            <a:chOff x="5707380" y="1928812"/>
            <a:chExt cx="5951220" cy="2400300"/>
          </a:xfrm>
        </p:grpSpPr>
        <p:sp>
          <p:nvSpPr>
            <p:cNvPr id="108" name="Rectangle 108"/>
            <p:cNvSpPr/>
            <p:nvPr/>
          </p:nvSpPr>
          <p:spPr>
            <a:xfrm>
              <a:off x="5707380" y="1928812"/>
              <a:ext cx="5951220" cy="40005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6205258" y="20502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7944258" y="2050256"/>
              <a:ext cx="13593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 addr 起逐个检查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10787736" y="20502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5804535" y="2550319"/>
              <a:ext cx="915721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 25，count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3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7114222" y="2450306"/>
              <a:ext cx="2806446" cy="6200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[1] 9 同 hash，count = 2；[2] 17 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hash，count = 1；[3] 10 的 hash 为 2，跳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过；[4] key 相等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10327005" y="2650331"/>
              <a:ext cx="796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位置 4 找到</a:t>
              </a:r>
            </a:p>
          </p:txBody>
        </p:sp>
        <p:sp>
          <p:nvSpPr>
            <p:cNvPr id="115" name="Rectangle 115"/>
            <p:cNvSpPr/>
            <p:nvPr/>
          </p:nvSpPr>
          <p:spPr>
            <a:xfrm>
              <a:off x="5707380" y="312420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6" name="Rectangle 116"/>
            <p:cNvSpPr/>
            <p:nvPr/>
          </p:nvSpPr>
          <p:spPr>
            <a:xfrm>
              <a:off x="5707380" y="3128962"/>
              <a:ext cx="5951220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5804535" y="3250406"/>
              <a:ext cx="915721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 33，count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3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7114222" y="3250406"/>
              <a:ext cx="266420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[1] 9，count = 2；[2] 17，count = 1；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[3] 10 跳过；[4] 25 同 hash，count = 0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10327005" y="335041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无此记录</a:t>
              </a:r>
            </a:p>
          </p:txBody>
        </p:sp>
        <p:sp>
          <p:nvSpPr>
            <p:cNvPr id="120" name="Rectangle 120"/>
            <p:cNvSpPr/>
            <p:nvPr/>
          </p:nvSpPr>
          <p:spPr>
            <a:xfrm>
              <a:off x="5707380" y="372427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1" name="TextBox 121"/>
            <p:cNvSpPr txBox="1"/>
            <p:nvPr/>
          </p:nvSpPr>
          <p:spPr>
            <a:xfrm>
              <a:off x="5804535" y="3850481"/>
              <a:ext cx="1043381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 17 后查 25，</a:t>
              </a:r>
              <a:br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count = 2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7114222" y="3850481"/>
              <a:ext cx="284911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[1] 9，count = 1；[2] 空闲，跳过；[3] 10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跳过；[4] key 相等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10327005" y="3950494"/>
              <a:ext cx="796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位置 4 找到</a:t>
              </a:r>
            </a:p>
          </p:txBody>
        </p:sp>
        <p:sp>
          <p:nvSpPr>
            <p:cNvPr id="124" name="Rectangle 124"/>
            <p:cNvSpPr/>
            <p:nvPr/>
          </p:nvSpPr>
          <p:spPr>
            <a:xfrm>
              <a:off x="5707380" y="1928812"/>
              <a:ext cx="5951220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25" name="Rectangle 125"/>
            <p:cNvSpPr/>
            <p:nvPr/>
          </p:nvSpPr>
          <p:spPr>
            <a:xfrm>
              <a:off x="7012305" y="1928812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6" name="Rectangle 126"/>
            <p:cNvSpPr/>
            <p:nvPr/>
          </p:nvSpPr>
          <p:spPr>
            <a:xfrm>
              <a:off x="10225088" y="1928812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34" name="c2-callout-2"/>
          <p:cNvGrpSpPr/>
          <p:nvPr/>
        </p:nvGrpSpPr>
        <p:grpSpPr>
          <a:xfrm>
            <a:off x="5707380" y="4498658"/>
            <a:ext cx="5951220" cy="729615"/>
            <a:chOff x="5707380" y="4498658"/>
            <a:chExt cx="5951220" cy="729615"/>
          </a:xfrm>
        </p:grpSpPr>
        <p:sp>
          <p:nvSpPr>
            <p:cNvPr id="128" name="Rectangle 128"/>
            <p:cNvSpPr/>
            <p:nvPr/>
          </p:nvSpPr>
          <p:spPr>
            <a:xfrm>
              <a:off x="5707380" y="4498658"/>
              <a:ext cx="5951220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32" name="Group 132"/>
            <p:cNvGrpSpPr/>
            <p:nvPr/>
          </p:nvGrpSpPr>
          <p:grpSpPr>
            <a:xfrm>
              <a:off x="5900109" y="4759761"/>
              <a:ext cx="224134" cy="192560"/>
              <a:chOff x="5900109" y="4759761"/>
              <a:chExt cx="224134" cy="192560"/>
            </a:xfrm>
          </p:grpSpPr>
          <p:sp>
            <p:nvSpPr>
              <p:cNvPr id="129" name="Freeform 129"/>
              <p:cNvSpPr/>
              <p:nvPr/>
            </p:nvSpPr>
            <p:spPr>
              <a:xfrm>
                <a:off x="6012180" y="483012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30" name="Freeform 130"/>
              <p:cNvSpPr/>
              <p:nvPr/>
            </p:nvSpPr>
            <p:spPr>
              <a:xfrm>
                <a:off x="5900109" y="475976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31" name="Freeform 131"/>
              <p:cNvSpPr/>
              <p:nvPr/>
            </p:nvSpPr>
            <p:spPr>
              <a:xfrm>
                <a:off x="6012180" y="490791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33" name="TextBox 133"/>
            <p:cNvSpPr txBox="1"/>
            <p:nvPr/>
          </p:nvSpPr>
          <p:spPr>
            <a:xfrm>
              <a:off x="6214872" y="4645342"/>
              <a:ext cx="5028629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删除 17 后位置 2 空出。如果查找遇到空闲就停，25 就查不到了；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靠冲突记数才能正确地继续向后找。</a:t>
              </a:r>
            </a:p>
          </p:txBody>
        </p:sp>
      </p:grpSp>
      <p:grpSp>
        <p:nvGrpSpPr>
          <p:cNvPr id="141" name="c2-callout-3"/>
          <p:cNvGrpSpPr/>
          <p:nvPr/>
        </p:nvGrpSpPr>
        <p:grpSpPr>
          <a:xfrm>
            <a:off x="5707380" y="5397818"/>
            <a:ext cx="5951220" cy="729615"/>
            <a:chOff x="5707380" y="5397818"/>
            <a:chExt cx="5951220" cy="729615"/>
          </a:xfrm>
        </p:grpSpPr>
        <p:sp>
          <p:nvSpPr>
            <p:cNvPr id="135" name="Rectangle 135"/>
            <p:cNvSpPr/>
            <p:nvPr/>
          </p:nvSpPr>
          <p:spPr>
            <a:xfrm>
              <a:off x="5707380" y="5397818"/>
              <a:ext cx="595122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39" name="Group 139"/>
            <p:cNvGrpSpPr/>
            <p:nvPr/>
          </p:nvGrpSpPr>
          <p:grpSpPr>
            <a:xfrm>
              <a:off x="5912168" y="5662613"/>
              <a:ext cx="200026" cy="200025"/>
              <a:chOff x="5912168" y="5662613"/>
              <a:chExt cx="200026" cy="200025"/>
            </a:xfrm>
          </p:grpSpPr>
          <p:sp>
            <p:nvSpPr>
              <p:cNvPr id="136" name="Freeform 136"/>
              <p:cNvSpPr/>
              <p:nvPr/>
            </p:nvSpPr>
            <p:spPr>
              <a:xfrm>
                <a:off x="5912168" y="566261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37" name="Freeform 137"/>
              <p:cNvSpPr/>
              <p:nvPr/>
            </p:nvSpPr>
            <p:spPr>
              <a:xfrm>
                <a:off x="5951906" y="570706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38" name="Freeform 138"/>
              <p:cNvSpPr/>
              <p:nvPr/>
            </p:nvSpPr>
            <p:spPr>
              <a:xfrm>
                <a:off x="5986622" y="581818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40" name="TextBox 140"/>
            <p:cNvSpPr txBox="1"/>
            <p:nvPr/>
          </p:nvSpPr>
          <p:spPr>
            <a:xfrm>
              <a:off x="6214872" y="5544502"/>
              <a:ext cx="499433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接着练：删 17 后再保存 1（hash 为 1），位置 1 的冲突记数变为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3，从位置 1 探查，存入空出的位置 2。</a:t>
              </a:r>
            </a:p>
          </p:txBody>
        </p:sp>
      </p:grpSp>
      <p:grpSp>
        <p:nvGrpSpPr>
          <p:cNvPr id="1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42" name="TextBox 142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第8章 文件系统</a:t>
              </a:r>
            </a:p>
          </p:txBody>
        </p:sp>
        <p:sp>
          <p:nvSpPr>
            <p:cNvPr id="143" name="TextBox 1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18592" cy="909257"/>
            <a:chOff x="520446" y="342900"/>
            <a:chExt cx="671859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文件系统 · 文件与文件的物理结构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1859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UNIX 文件物理结构：索引加链接的混合索引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2" name="c1-graph-1"/>
          <p:cNvGrpSpPr/>
          <p:nvPr/>
        </p:nvGrpSpPr>
        <p:grpSpPr>
          <a:xfrm>
            <a:off x="705802" y="1726882"/>
            <a:ext cx="5557838" cy="3880485"/>
            <a:chOff x="705802" y="1726882"/>
            <a:chExt cx="5557838" cy="3880485"/>
          </a:xfrm>
        </p:grpSpPr>
        <p:sp>
          <p:nvSpPr>
            <p:cNvPr id="7" name="Freeform 7"/>
            <p:cNvSpPr/>
            <p:nvPr/>
          </p:nvSpPr>
          <p:spPr>
            <a:xfrm>
              <a:off x="1631632" y="1866900"/>
              <a:ext cx="872490" cy="9525"/>
            </a:xfrm>
            <a:custGeom>
              <a:avLst/>
              <a:gdLst/>
              <a:ahLst/>
              <a:cxnLst/>
              <a:rect l="l" t="t" r="r" b="b"/>
              <a:pathLst>
                <a:path w="872490" h="9525">
                  <a:moveTo>
                    <a:pt x="0" y="0"/>
                  </a:moveTo>
                  <a:lnTo>
                    <a:pt x="87249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504122" y="18192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631632" y="2895600"/>
              <a:ext cx="872490" cy="9525"/>
            </a:xfrm>
            <a:custGeom>
              <a:avLst/>
              <a:gdLst/>
              <a:ahLst/>
              <a:cxnLst/>
              <a:rect l="l" t="t" r="r" b="b"/>
              <a:pathLst>
                <a:path w="872490" h="9525">
                  <a:moveTo>
                    <a:pt x="0" y="0"/>
                  </a:moveTo>
                  <a:lnTo>
                    <a:pt x="87249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504122" y="28479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669732" y="3752850"/>
              <a:ext cx="834390" cy="9525"/>
            </a:xfrm>
            <a:custGeom>
              <a:avLst/>
              <a:gdLst/>
              <a:ahLst/>
              <a:cxnLst/>
              <a:rect l="l" t="t" r="r" b="b"/>
              <a:pathLst>
                <a:path w="834390" h="9525">
                  <a:moveTo>
                    <a:pt x="0" y="0"/>
                  </a:moveTo>
                  <a:lnTo>
                    <a:pt x="83439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504122" y="37052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228022" y="3752850"/>
              <a:ext cx="287655" cy="9525"/>
            </a:xfrm>
            <a:custGeom>
              <a:avLst/>
              <a:gdLst/>
              <a:ahLst/>
              <a:cxnLst/>
              <a:rect l="l" t="t" r="r" b="b"/>
              <a:pathLst>
                <a:path w="287655" h="9525">
                  <a:moveTo>
                    <a:pt x="0" y="0"/>
                  </a:moveTo>
                  <a:lnTo>
                    <a:pt x="28765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515678" y="37052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669732" y="4610100"/>
              <a:ext cx="834390" cy="9525"/>
            </a:xfrm>
            <a:custGeom>
              <a:avLst/>
              <a:gdLst/>
              <a:ahLst/>
              <a:cxnLst/>
              <a:rect l="l" t="t" r="r" b="b"/>
              <a:pathLst>
                <a:path w="834390" h="9525">
                  <a:moveTo>
                    <a:pt x="0" y="0"/>
                  </a:moveTo>
                  <a:lnTo>
                    <a:pt x="83439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504122" y="45624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3228022" y="4610100"/>
              <a:ext cx="287655" cy="9525"/>
            </a:xfrm>
            <a:custGeom>
              <a:avLst/>
              <a:gdLst/>
              <a:ahLst/>
              <a:cxnLst/>
              <a:rect l="l" t="t" r="r" b="b"/>
              <a:pathLst>
                <a:path w="287655" h="9525">
                  <a:moveTo>
                    <a:pt x="0" y="0"/>
                  </a:moveTo>
                  <a:lnTo>
                    <a:pt x="28765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515678" y="45624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4239578" y="4610100"/>
              <a:ext cx="288607" cy="9525"/>
            </a:xfrm>
            <a:custGeom>
              <a:avLst/>
              <a:gdLst/>
              <a:ahLst/>
              <a:cxnLst/>
              <a:rect l="l" t="t" r="r" b="b"/>
              <a:pathLst>
                <a:path w="288607" h="9525">
                  <a:moveTo>
                    <a:pt x="0" y="0"/>
                  </a:moveTo>
                  <a:lnTo>
                    <a:pt x="28860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528185" y="45624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1669732" y="5467350"/>
              <a:ext cx="834390" cy="9525"/>
            </a:xfrm>
            <a:custGeom>
              <a:avLst/>
              <a:gdLst/>
              <a:ahLst/>
              <a:cxnLst/>
              <a:rect l="l" t="t" r="r" b="b"/>
              <a:pathLst>
                <a:path w="834390" h="9525">
                  <a:moveTo>
                    <a:pt x="0" y="0"/>
                  </a:moveTo>
                  <a:lnTo>
                    <a:pt x="83439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2504122" y="54197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3228022" y="5467350"/>
              <a:ext cx="287655" cy="9525"/>
            </a:xfrm>
            <a:custGeom>
              <a:avLst/>
              <a:gdLst/>
              <a:ahLst/>
              <a:cxnLst/>
              <a:rect l="l" t="t" r="r" b="b"/>
              <a:pathLst>
                <a:path w="287655" h="9525">
                  <a:moveTo>
                    <a:pt x="0" y="0"/>
                  </a:moveTo>
                  <a:lnTo>
                    <a:pt x="28765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3515678" y="54197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4239578" y="5467350"/>
              <a:ext cx="288607" cy="9525"/>
            </a:xfrm>
            <a:custGeom>
              <a:avLst/>
              <a:gdLst/>
              <a:ahLst/>
              <a:cxnLst/>
              <a:rect l="l" t="t" r="r" b="b"/>
              <a:pathLst>
                <a:path w="288607" h="9525">
                  <a:moveTo>
                    <a:pt x="0" y="0"/>
                  </a:moveTo>
                  <a:lnTo>
                    <a:pt x="28860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4528185" y="54197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5252085" y="5467350"/>
              <a:ext cx="287655" cy="9525"/>
            </a:xfrm>
            <a:custGeom>
              <a:avLst/>
              <a:gdLst/>
              <a:ahLst/>
              <a:cxnLst/>
              <a:rect l="l" t="t" r="r" b="b"/>
              <a:pathLst>
                <a:path w="287655" h="9525">
                  <a:moveTo>
                    <a:pt x="0" y="0"/>
                  </a:moveTo>
                  <a:lnTo>
                    <a:pt x="28765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5539740" y="54197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44855" y="1726882"/>
              <a:ext cx="886778" cy="280035"/>
            </a:xfrm>
            <a:prstGeom prst="roundRect">
              <a:avLst>
                <a:gd name="adj" fmla="val 34014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744855" y="2755582"/>
              <a:ext cx="886778" cy="280035"/>
            </a:xfrm>
            <a:prstGeom prst="roundRect">
              <a:avLst>
                <a:gd name="adj" fmla="val 34014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705802" y="3612832"/>
              <a:ext cx="963930" cy="280035"/>
            </a:xfrm>
            <a:prstGeom prst="roundRect">
              <a:avLst>
                <a:gd name="adj" fmla="val 34014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05802" y="4470082"/>
              <a:ext cx="963930" cy="280035"/>
            </a:xfrm>
            <a:prstGeom prst="roundRect">
              <a:avLst>
                <a:gd name="adj" fmla="val 34014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705802" y="5327332"/>
              <a:ext cx="963930" cy="280035"/>
            </a:xfrm>
            <a:prstGeom prst="roundRect">
              <a:avLst>
                <a:gd name="adj" fmla="val 34014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599372" y="1726882"/>
              <a:ext cx="628650" cy="280035"/>
            </a:xfrm>
            <a:prstGeom prst="roundRect">
              <a:avLst>
                <a:gd name="adj" fmla="val 34014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2599372" y="2755582"/>
              <a:ext cx="628650" cy="280035"/>
            </a:xfrm>
            <a:prstGeom prst="roundRect">
              <a:avLst>
                <a:gd name="adj" fmla="val 34014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2599372" y="3612832"/>
              <a:ext cx="628650" cy="280035"/>
            </a:xfrm>
            <a:prstGeom prst="roundRect">
              <a:avLst>
                <a:gd name="adj" fmla="val 34014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3610928" y="3612832"/>
              <a:ext cx="628650" cy="280035"/>
            </a:xfrm>
            <a:prstGeom prst="roundRect">
              <a:avLst>
                <a:gd name="adj" fmla="val 34014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2599372" y="4470082"/>
              <a:ext cx="628650" cy="280035"/>
            </a:xfrm>
            <a:prstGeom prst="roundRect">
              <a:avLst>
                <a:gd name="adj" fmla="val 34014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3610928" y="4470082"/>
              <a:ext cx="628650" cy="280035"/>
            </a:xfrm>
            <a:prstGeom prst="roundRect">
              <a:avLst>
                <a:gd name="adj" fmla="val 34014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4623435" y="4470082"/>
              <a:ext cx="628650" cy="280035"/>
            </a:xfrm>
            <a:prstGeom prst="roundRect">
              <a:avLst>
                <a:gd name="adj" fmla="val 34014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2599372" y="5327332"/>
              <a:ext cx="628650" cy="280035"/>
            </a:xfrm>
            <a:prstGeom prst="roundRect">
              <a:avLst>
                <a:gd name="adj" fmla="val 34014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3610928" y="5327332"/>
              <a:ext cx="628650" cy="280035"/>
            </a:xfrm>
            <a:prstGeom prst="roundRect">
              <a:avLst>
                <a:gd name="adj" fmla="val 34014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4623435" y="5327332"/>
              <a:ext cx="628650" cy="280035"/>
            </a:xfrm>
            <a:prstGeom prst="roundRect">
              <a:avLst>
                <a:gd name="adj" fmla="val 34014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5634990" y="5327332"/>
              <a:ext cx="628650" cy="280035"/>
            </a:xfrm>
            <a:prstGeom prst="roundRect">
              <a:avLst>
                <a:gd name="adj" fmla="val 34014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33650" y="1801178"/>
              <a:ext cx="7082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i_addr[0]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41618" y="23155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33650" y="2829878"/>
              <a:ext cx="7082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i_addr[9]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92835" y="3687128"/>
              <a:ext cx="7898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i_addr[10]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92835" y="4544378"/>
              <a:ext cx="7898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i_addr[11]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92835" y="5401628"/>
              <a:ext cx="7898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i_addr[12]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696337" y="180117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数据块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696337" y="282987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数据块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696337" y="368712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索引块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707892" y="368712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数据块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696337" y="454437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索引块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707892" y="454437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索引块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720400" y="454437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数据块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696337" y="540162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索引块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707892" y="540162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索引块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720400" y="540162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索引块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731955" y="540162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数据块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1973580" y="1788795"/>
              <a:ext cx="28479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2000352" y="1817846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直接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1973580" y="2817495"/>
              <a:ext cx="28479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2000352" y="2846546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直接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1888808" y="3674745"/>
              <a:ext cx="49244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909013" y="3703796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一次间接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1888808" y="4531995"/>
              <a:ext cx="49244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909013" y="4561046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二次间接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1888808" y="5389245"/>
              <a:ext cx="49244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909013" y="5418296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三次间接</a:t>
              </a:r>
            </a:p>
          </p:txBody>
        </p:sp>
      </p:grpSp>
      <p:grpSp>
        <p:nvGrpSpPr>
          <p:cNvPr id="98" name="c2-table-1"/>
          <p:cNvGrpSpPr/>
          <p:nvPr/>
        </p:nvGrpSpPr>
        <p:grpSpPr>
          <a:xfrm>
            <a:off x="6783705" y="1524000"/>
            <a:ext cx="4874895" cy="2539842"/>
            <a:chOff x="6783705" y="1524000"/>
            <a:chExt cx="4874895" cy="2539842"/>
          </a:xfrm>
        </p:grpSpPr>
        <p:sp>
          <p:nvSpPr>
            <p:cNvPr id="73" name="Rectangle 73"/>
            <p:cNvSpPr/>
            <p:nvPr/>
          </p:nvSpPr>
          <p:spPr>
            <a:xfrm>
              <a:off x="6789420" y="1524000"/>
              <a:ext cx="486918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382675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地址项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92139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方式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239312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可寻址块数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897243" y="2108359"/>
              <a:ext cx="12613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i_addr[0]–[9]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921394" y="210835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348278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6789420" y="241649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6789420" y="2421255"/>
              <a:ext cx="486918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897243" y="2556986"/>
              <a:ext cx="9628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i_addr[10]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749081" y="255698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一次间接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253506" y="2556986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256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6789420" y="286607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6897243" y="3005614"/>
              <a:ext cx="9628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i_addr[11]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8749081" y="3005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二次间接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0435016" y="3005614"/>
              <a:ext cx="11157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256² = 65 536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6789420" y="3314700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6789420" y="3319462"/>
              <a:ext cx="486918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6897243" y="3454241"/>
              <a:ext cx="9628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i_addr[12]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8749081" y="345424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三次间接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0099004" y="3454241"/>
              <a:ext cx="14517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256³ = 16 777 216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6789420" y="1524000"/>
              <a:ext cx="4869180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5" name="Rectangle 95"/>
            <p:cNvSpPr/>
            <p:nvPr/>
          </p:nvSpPr>
          <p:spPr>
            <a:xfrm>
              <a:off x="8501062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6" name="Rectangle 96"/>
            <p:cNvSpPr/>
            <p:nvPr/>
          </p:nvSpPr>
          <p:spPr>
            <a:xfrm>
              <a:off x="9689782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6783705" y="3843814"/>
              <a:ext cx="40513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每个索引块存 256 个块号（例如 1 KB 的块、4 字节的块号）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9" name="formula2"/>
              <p:cNvSpPr txBox="1">
                <a:spLocks noGrp="1"/>
              </p:cNvSpPr>
              <p:nvPr/>
            </p:nvSpPr>
            <p:spPr>
              <a:xfrm>
                <a:off x="6789420" y="4210050"/>
                <a:ext cx="486918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  <m:sub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max</m:t>
                              </m:r>
                            </m:fName>
                            <m:e/>
                          </m:func>
                        </m:sub>
                      </m:sSub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10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256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25</m:t>
                      </m:r>
                      <m:sSup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6</m:t>
                          </m:r>
                        </m:e>
                        <m:sup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25</m:t>
                      </m:r>
                      <m:sSup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6</m:t>
                          </m:r>
                        </m:e>
                        <m:sup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16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843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018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106" name="c2-callout-3"/>
          <p:cNvGrpSpPr/>
          <p:nvPr/>
        </p:nvGrpSpPr>
        <p:grpSpPr>
          <a:xfrm>
            <a:off x="6789420" y="4819650"/>
            <a:ext cx="4869180" cy="1059180"/>
            <a:chOff x="6789420" y="4819650"/>
            <a:chExt cx="4869180" cy="1059180"/>
          </a:xfrm>
        </p:grpSpPr>
        <p:sp>
          <p:nvSpPr>
            <p:cNvPr id="100" name="Rectangle 100"/>
            <p:cNvSpPr/>
            <p:nvPr/>
          </p:nvSpPr>
          <p:spPr>
            <a:xfrm>
              <a:off x="6789420" y="4819650"/>
              <a:ext cx="4869180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04" name="Group 104"/>
            <p:cNvGrpSpPr/>
            <p:nvPr/>
          </p:nvGrpSpPr>
          <p:grpSpPr>
            <a:xfrm>
              <a:off x="6994208" y="5249228"/>
              <a:ext cx="200026" cy="200025"/>
              <a:chOff x="6994208" y="5249228"/>
              <a:chExt cx="200026" cy="200025"/>
            </a:xfrm>
          </p:grpSpPr>
          <p:sp>
            <p:nvSpPr>
              <p:cNvPr id="101" name="Freeform 101"/>
              <p:cNvSpPr/>
              <p:nvPr/>
            </p:nvSpPr>
            <p:spPr>
              <a:xfrm>
                <a:off x="6994208" y="52492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02" name="Freeform 102"/>
              <p:cNvSpPr/>
              <p:nvPr/>
            </p:nvSpPr>
            <p:spPr>
              <a:xfrm>
                <a:off x="7033946" y="52936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03" name="Freeform 103"/>
              <p:cNvSpPr/>
              <p:nvPr/>
            </p:nvSpPr>
            <p:spPr>
              <a:xfrm>
                <a:off x="7068662" y="54048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05" name="TextBox 105"/>
            <p:cNvSpPr txBox="1"/>
            <p:nvPr/>
          </p:nvSpPr>
          <p:spPr>
            <a:xfrm>
              <a:off x="7296150" y="4968240"/>
              <a:ext cx="38919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按 1 KB 的块算，最大文件约 16 GB。小文件只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用直接地址，读一块只访问一次磁盘；文件大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了才用到间接块。</a:t>
              </a:r>
            </a:p>
          </p:txBody>
        </p:sp>
      </p:grpSp>
      <p:grpSp>
        <p:nvGrpSpPr>
          <p:cNvPr id="10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7" name="TextBox 107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第8章 文件系统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文件系统 · 文件与文件的物理结构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例题：由字节偏移找到地址项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0635044" cy="512636"/>
            <a:chOff x="526542" y="1545907"/>
            <a:chExt cx="10635044" cy="512636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063504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设块长 1 KB（1024 字节），每个索引块存 256 个块号，inode 已在内存。读字节偏移 5 000、200 000、8 000 000 处的数据，各用到哪个地</a:t>
              </a:r>
              <a:br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址项，访问几次磁盘？</a:t>
              </a:r>
            </a:p>
          </p:txBody>
        </p:sp>
      </p:grpSp>
      <p:grpSp>
        <p:nvGrpSpPr>
          <p:cNvPr id="22" name="c1-steps-1"/>
          <p:cNvGrpSpPr/>
          <p:nvPr/>
        </p:nvGrpSpPr>
        <p:grpSpPr>
          <a:xfrm>
            <a:off x="533400" y="2186940"/>
            <a:ext cx="4684192" cy="1685449"/>
            <a:chOff x="533400" y="2186940"/>
            <a:chExt cx="4684192" cy="1685449"/>
          </a:xfrm>
        </p:grpSpPr>
        <p:sp>
          <p:nvSpPr>
            <p:cNvPr id="9" name="Rectangle 9"/>
            <p:cNvSpPr/>
            <p:nvPr/>
          </p:nvSpPr>
          <p:spPr>
            <a:xfrm>
              <a:off x="666750" y="2329815"/>
              <a:ext cx="19050" cy="11658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218694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607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76987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84368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35280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4266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642" y="221837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算逻辑块号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785" y="2486501"/>
              <a:ext cx="36903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逻辑块号 = ⌊偏移 / 1024⌋，块内偏移 = 偏移 mod 1024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280130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判断区间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3069431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按下表判断落在直接、一次、二次还是三次间接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642" y="338423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算各级下标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3652361"/>
              <a:ext cx="42708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减去前面各区间的块数，再按 256 进制拆成各级索引块中的下标</a:t>
              </a:r>
            </a:p>
          </p:txBody>
        </p:sp>
      </p:grpSp>
      <p:grpSp>
        <p:nvGrpSpPr>
          <p:cNvPr id="47" name="c1-table-2"/>
          <p:cNvGrpSpPr/>
          <p:nvPr/>
        </p:nvGrpSpPr>
        <p:grpSpPr>
          <a:xfrm>
            <a:off x="533400" y="4035742"/>
            <a:ext cx="4760595" cy="2000250"/>
            <a:chOff x="533400" y="4035742"/>
            <a:chExt cx="4760595" cy="2000250"/>
          </a:xfrm>
        </p:grpSpPr>
        <p:sp>
          <p:nvSpPr>
            <p:cNvPr id="23" name="Rectangle 23"/>
            <p:cNvSpPr/>
            <p:nvPr/>
          </p:nvSpPr>
          <p:spPr>
            <a:xfrm>
              <a:off x="533400" y="4035742"/>
              <a:ext cx="4760595" cy="40005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57669" y="415718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逻辑块号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834221" y="415718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地址项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307599" y="415718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访盘次数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81115" y="4557236"/>
              <a:ext cx="3676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– 9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581674" y="4557236"/>
              <a:ext cx="9688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i_addr[0..9]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67685" y="455723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83108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33400" y="4835842"/>
              <a:ext cx="476059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50507" y="4957286"/>
              <a:ext cx="628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– 265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664600" y="4957286"/>
              <a:ext cx="802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i_addr[10]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67685" y="495728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523113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96152" y="5357336"/>
              <a:ext cx="9375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266 – 65 801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664600" y="5357336"/>
              <a:ext cx="802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i_addr[11]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567685" y="535733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563118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33400" y="5635942"/>
              <a:ext cx="476059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18656" y="5757386"/>
              <a:ext cx="6925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65 802 起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664600" y="5757386"/>
              <a:ext cx="802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i_addr[12]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567685" y="575738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4035742"/>
              <a:ext cx="4760595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2192655" y="4035742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3930968" y="4035742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2" name="c2-table-1"/>
          <p:cNvGrpSpPr/>
          <p:nvPr/>
        </p:nvGrpSpPr>
        <p:grpSpPr>
          <a:xfrm>
            <a:off x="5598795" y="2177415"/>
            <a:ext cx="6059805" cy="2200275"/>
            <a:chOff x="5598795" y="2177415"/>
            <a:chExt cx="6059805" cy="2200275"/>
          </a:xfrm>
        </p:grpSpPr>
        <p:sp>
          <p:nvSpPr>
            <p:cNvPr id="48" name="Rectangle 48"/>
            <p:cNvSpPr/>
            <p:nvPr/>
          </p:nvSpPr>
          <p:spPr>
            <a:xfrm>
              <a:off x="5598795" y="2177415"/>
              <a:ext cx="6059805" cy="60007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927128" y="239887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偏移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731635" y="2298859"/>
              <a:ext cx="10071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逻辑块（块内偏</a:t>
              </a:r>
              <a:br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移）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958377" y="239887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地址项与下标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138256" y="239887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访盘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880011" y="2898934"/>
              <a:ext cx="4072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5 000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912849" y="2898934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4（904）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999095" y="2898934"/>
              <a:ext cx="11723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直接：i_addr[4]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247567" y="289893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598795" y="317277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5598795" y="3177540"/>
              <a:ext cx="6059805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792939" y="3398996"/>
              <a:ext cx="5813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200 000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829923" y="3398996"/>
              <a:ext cx="8105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195（320）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999095" y="3298984"/>
              <a:ext cx="266420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一次间接：195 − 10 = 185，索引块第 185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247567" y="33989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5598795" y="377285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725656" y="3999071"/>
              <a:ext cx="7159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8 000 000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765844" y="3999071"/>
              <a:ext cx="9386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7 812（512）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999095" y="3899059"/>
              <a:ext cx="243662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二次间接：7 812 − 266 = 7 546 = 29 ×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256 + 122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247567" y="399907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5598795" y="2177415"/>
              <a:ext cx="6059805" cy="22002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6563678" y="2177415"/>
              <a:ext cx="9525" cy="2200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7897178" y="2177415"/>
              <a:ext cx="9525" cy="2200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10927080" y="2177415"/>
              <a:ext cx="9525" cy="2200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7" name="c2-card-2"/>
          <p:cNvGrpSpPr/>
          <p:nvPr/>
        </p:nvGrpSpPr>
        <p:grpSpPr>
          <a:xfrm>
            <a:off x="5598795" y="4547235"/>
            <a:ext cx="6059805" cy="1790700"/>
            <a:chOff x="5598795" y="4547235"/>
            <a:chExt cx="6059805" cy="1790700"/>
          </a:xfrm>
        </p:grpSpPr>
        <p:sp>
          <p:nvSpPr>
            <p:cNvPr id="73" name="Rectangle 73"/>
            <p:cNvSpPr/>
            <p:nvPr/>
          </p:nvSpPr>
          <p:spPr>
            <a:xfrm>
              <a:off x="5598795" y="4547235"/>
              <a:ext cx="6059805" cy="1790700"/>
            </a:xfrm>
            <a:prstGeom prst="roundRect">
              <a:avLst>
                <a:gd name="adj" fmla="val 74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5608320" y="4680585"/>
              <a:ext cx="47625" cy="15240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5823585" y="4733925"/>
              <a:ext cx="145256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5886576" y="4766786"/>
              <a:ext cx="13275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8 000 000 的访盘过程</a:t>
              </a:r>
            </a:p>
          </p:txBody>
        </p:sp>
        <p:sp>
          <p:nvSpPr>
            <p:cNvPr id="77" name="Ellipse 77"/>
            <p:cNvSpPr/>
            <p:nvPr/>
          </p:nvSpPr>
          <p:spPr>
            <a:xfrm>
              <a:off x="5823585" y="5066348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5879263" y="510473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104382" y="5078730"/>
              <a:ext cx="37484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 i_addr[11] 指向的一级索引块，取第 29 项</a:t>
              </a:r>
            </a:p>
          </p:txBody>
        </p:sp>
        <p:sp>
          <p:nvSpPr>
            <p:cNvPr id="80" name="Ellipse 80"/>
            <p:cNvSpPr/>
            <p:nvPr/>
          </p:nvSpPr>
          <p:spPr>
            <a:xfrm>
              <a:off x="5823585" y="5366385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5879263" y="540477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104382" y="5378768"/>
              <a:ext cx="31486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读该项指向的二级索引块，取第 122 项</a:t>
              </a:r>
            </a:p>
          </p:txBody>
        </p:sp>
        <p:sp>
          <p:nvSpPr>
            <p:cNvPr id="83" name="Ellipse 83"/>
            <p:cNvSpPr/>
            <p:nvPr/>
          </p:nvSpPr>
          <p:spPr>
            <a:xfrm>
              <a:off x="5823585" y="5666422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5879263" y="570480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104382" y="5678805"/>
              <a:ext cx="33304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读数据块，从块内第 512 字节开始取数据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5817870" y="5975509"/>
              <a:ext cx="27630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验算：7 812 × 1024 + 512 = 8 000 000。</a:t>
              </a:r>
            </a:p>
          </p:txBody>
        </p:sp>
      </p:grpSp>
      <p:grpSp>
        <p:nvGrpSpPr>
          <p:cNvPr id="9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8" name="TextBox 88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第8章 文件系统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20" name="section-title"/>
          <p:cNvGrpSpPr/>
          <p:nvPr/>
        </p:nvGrpSpPr>
        <p:grpSpPr>
          <a:xfrm>
            <a:off x="667512" y="1835468"/>
            <a:ext cx="4788484" cy="3706177"/>
            <a:chOff x="667512" y="1835468"/>
            <a:chExt cx="4788484" cy="370617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文件目录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7785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按名字找到文件：FCB、目录结构和 UNIX 的改进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263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8.4 文件控制块与目录项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单级、两级、多级目录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目录查找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8448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FCB 分为主部和次部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23900" y="530542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6780" y="5248275"/>
              <a:ext cx="17068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UNIX 文件卷的布局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1" name="TextBox 21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第8章 文件系统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46991" cy="909257"/>
            <a:chOff x="520446" y="342900"/>
            <a:chExt cx="734699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文件系统 · 文件目录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4699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FCB 是文件存在的标志，目录项里放的就是 FCB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842635" cy="1185862"/>
            <a:chOff x="533400" y="1524000"/>
            <a:chExt cx="5842635" cy="11858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2178368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93175" y="1743551"/>
              <a:ext cx="21093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文件控制块（File Control Block）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514864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FCB 是文件存在的标志，其中保存系统管理文件需要的全部信息。建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立文件时创建 FCB，删除文件时撤消 FCB。</a:t>
              </a:r>
            </a:p>
          </p:txBody>
        </p:sp>
      </p:grpSp>
      <p:grpSp>
        <p:nvGrpSpPr>
          <p:cNvPr id="21" name="c1-kv-2"/>
          <p:cNvGrpSpPr/>
          <p:nvPr/>
        </p:nvGrpSpPr>
        <p:grpSpPr>
          <a:xfrm>
            <a:off x="526542" y="2902268"/>
            <a:ext cx="5849493" cy="1048892"/>
            <a:chOff x="526542" y="2902268"/>
            <a:chExt cx="5849493" cy="1048892"/>
          </a:xfrm>
        </p:grpSpPr>
        <p:sp>
          <p:nvSpPr>
            <p:cNvPr id="13" name="TextBox 13"/>
            <p:cNvSpPr txBox="1"/>
            <p:nvPr/>
          </p:nvSpPr>
          <p:spPr>
            <a:xfrm>
              <a:off x="526542" y="29022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目录项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88567" y="2902268"/>
              <a:ext cx="25690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目录文件中的一项，内容为 FCB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318801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6542" y="329469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文件目录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88567" y="329469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用于检索文件的目录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58044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6542" y="3687127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目录文件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88567" y="3687127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内容为目录项的文件</a:t>
              </a:r>
            </a:p>
          </p:txBody>
        </p:sp>
      </p:grpSp>
      <p:grpSp>
        <p:nvGrpSpPr>
          <p:cNvPr id="41" name="c1-table-3"/>
          <p:cNvGrpSpPr/>
          <p:nvPr/>
        </p:nvGrpSpPr>
        <p:grpSpPr>
          <a:xfrm>
            <a:off x="528447" y="4067175"/>
            <a:ext cx="5847588" cy="2264759"/>
            <a:chOff x="528447" y="4067175"/>
            <a:chExt cx="5847588" cy="2264759"/>
          </a:xfrm>
        </p:grpSpPr>
        <p:sp>
          <p:nvSpPr>
            <p:cNvPr id="22" name="Rectangle 22"/>
            <p:cNvSpPr/>
            <p:nvPr/>
          </p:nvSpPr>
          <p:spPr>
            <a:xfrm>
              <a:off x="533400" y="4067175"/>
              <a:ext cx="5842635" cy="40005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2186" y="4188619"/>
              <a:ext cx="9407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FCB 中的信息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058323" y="418861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字段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0555" y="45886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标识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149792" y="4588669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文件名、文件号、文件主、文件类型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486251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4867275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0555" y="498871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保护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149792" y="4988719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文件属性、共享说明、口令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526256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0555" y="53887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位置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149792" y="5388769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文件长度、文件地址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566261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5667375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0555" y="578881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149792" y="5788819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建立日期、最后修改日期、最后访问日期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067175"/>
              <a:ext cx="5842635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2047875" y="4067175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28447" y="6141244"/>
              <a:ext cx="9465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另有“其它”字段</a:t>
              </a:r>
            </a:p>
          </p:txBody>
        </p:sp>
      </p:grpSp>
      <p:grpSp>
        <p:nvGrpSpPr>
          <p:cNvPr id="44" name="c2-image-1"/>
          <p:cNvGrpSpPr/>
          <p:nvPr/>
        </p:nvGrpSpPr>
        <p:grpSpPr>
          <a:xfrm>
            <a:off x="6680835" y="1524000"/>
            <a:ext cx="4977765" cy="3958304"/>
            <a:chOff x="6680835" y="1524000"/>
            <a:chExt cx="4977765" cy="3958304"/>
          </a:xfrm>
        </p:grpSpPr>
        <p:pic>
          <p:nvPicPr>
            <p:cNvPr id="42" name="Image 42"/>
            <p:cNvPicPr>
              <a:picLocks noChangeAspect="1"/>
            </p:cNvPicPr>
            <p:nvPr/>
          </p:nvPicPr>
          <p:blipFill>
            <a:blip r:embed="rId2"/>
            <a:srcRect l="0" t="772" r="0" b="772"/>
            <a:stretch>
              <a:fillRect/>
            </a:stretch>
          </p:blipFill>
          <p:spPr>
            <a:xfrm>
              <a:off x="6680835" y="1524000"/>
              <a:ext cx="4977765" cy="3675698"/>
            </a:xfrm>
            <a:prstGeom prst="roundRect">
              <a:avLst>
                <a:gd name="adj" fmla="val 3627"/>
              </a:avLst>
            </a:prstGeom>
          </p:spPr>
        </p:pic>
        <p:sp>
          <p:nvSpPr>
            <p:cNvPr id="43" name="TextBox 43"/>
            <p:cNvSpPr txBox="1"/>
            <p:nvPr/>
          </p:nvSpPr>
          <p:spPr>
            <a:xfrm>
              <a:off x="7317778" y="5291614"/>
              <a:ext cx="37038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目录像图书馆的卡片柜：按书名找到卡片，卡片上写着书在哪里</a:t>
              </a:r>
            </a:p>
          </p:txBody>
        </p:sp>
      </p:grpSp>
      <p:grpSp>
        <p:nvGrpSpPr>
          <p:cNvPr id="51" name="c2-callout-2"/>
          <p:cNvGrpSpPr/>
          <p:nvPr/>
        </p:nvGrpSpPr>
        <p:grpSpPr>
          <a:xfrm>
            <a:off x="6680835" y="5633085"/>
            <a:ext cx="4977765" cy="729615"/>
            <a:chOff x="6680835" y="5633085"/>
            <a:chExt cx="4977765" cy="729615"/>
          </a:xfrm>
        </p:grpSpPr>
        <p:sp>
          <p:nvSpPr>
            <p:cNvPr id="45" name="Rectangle 45"/>
            <p:cNvSpPr/>
            <p:nvPr/>
          </p:nvSpPr>
          <p:spPr>
            <a:xfrm>
              <a:off x="6680835" y="5633085"/>
              <a:ext cx="4977765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6885623" y="5897880"/>
              <a:ext cx="200026" cy="200025"/>
              <a:chOff x="6885623" y="5897880"/>
              <a:chExt cx="200026" cy="200025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6885623" y="589788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925361" y="594233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960077" y="605345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7188327" y="5779770"/>
              <a:ext cx="383705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按名存取：文件名 → 目录中的目录项（FCB）→ FCB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中的文件地址 → 数据块。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第8章 文件系统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115437" cy="909257"/>
            <a:chOff x="520446" y="342900"/>
            <a:chExt cx="31154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文件系统 · 文件目录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单级目录与两级目录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2" name="c1-graph-1"/>
          <p:cNvGrpSpPr/>
          <p:nvPr/>
        </p:nvGrpSpPr>
        <p:grpSpPr>
          <a:xfrm>
            <a:off x="591502" y="1665922"/>
            <a:ext cx="5298907" cy="977266"/>
            <a:chOff x="591502" y="1665922"/>
            <a:chExt cx="5298907" cy="977266"/>
          </a:xfrm>
        </p:grpSpPr>
        <p:sp>
          <p:nvSpPr>
            <p:cNvPr id="7" name="Freeform 7"/>
            <p:cNvSpPr/>
            <p:nvPr/>
          </p:nvSpPr>
          <p:spPr>
            <a:xfrm>
              <a:off x="858202" y="1925955"/>
              <a:ext cx="9525" cy="479108"/>
            </a:xfrm>
            <a:custGeom>
              <a:avLst/>
              <a:gdLst/>
              <a:ahLst/>
              <a:cxnLst/>
              <a:rect l="l" t="t" r="r" b="b"/>
              <a:pathLst>
                <a:path w="9525" h="479108">
                  <a:moveTo>
                    <a:pt x="0" y="0"/>
                  </a:moveTo>
                  <a:lnTo>
                    <a:pt x="0" y="47910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810578" y="240506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453515" y="1925955"/>
              <a:ext cx="9525" cy="479108"/>
            </a:xfrm>
            <a:custGeom>
              <a:avLst/>
              <a:gdLst/>
              <a:ahLst/>
              <a:cxnLst/>
              <a:rect l="l" t="t" r="r" b="b"/>
              <a:pathLst>
                <a:path w="9525" h="479108">
                  <a:moveTo>
                    <a:pt x="0" y="0"/>
                  </a:moveTo>
                  <a:lnTo>
                    <a:pt x="0" y="47910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405890" y="240506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047875" y="1925955"/>
              <a:ext cx="9525" cy="479108"/>
            </a:xfrm>
            <a:custGeom>
              <a:avLst/>
              <a:gdLst/>
              <a:ahLst/>
              <a:cxnLst/>
              <a:rect l="l" t="t" r="r" b="b"/>
              <a:pathLst>
                <a:path w="9525" h="479108">
                  <a:moveTo>
                    <a:pt x="0" y="0"/>
                  </a:moveTo>
                  <a:lnTo>
                    <a:pt x="0" y="47910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000250" y="240506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643188" y="1925955"/>
              <a:ext cx="9525" cy="479108"/>
            </a:xfrm>
            <a:custGeom>
              <a:avLst/>
              <a:gdLst/>
              <a:ahLst/>
              <a:cxnLst/>
              <a:rect l="l" t="t" r="r" b="b"/>
              <a:pathLst>
                <a:path w="9525" h="479108">
                  <a:moveTo>
                    <a:pt x="0" y="0"/>
                  </a:moveTo>
                  <a:lnTo>
                    <a:pt x="0" y="47910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595562" y="240506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238500" y="1925955"/>
              <a:ext cx="9525" cy="479108"/>
            </a:xfrm>
            <a:custGeom>
              <a:avLst/>
              <a:gdLst/>
              <a:ahLst/>
              <a:cxnLst/>
              <a:rect l="l" t="t" r="r" b="b"/>
              <a:pathLst>
                <a:path w="9525" h="479108">
                  <a:moveTo>
                    <a:pt x="0" y="0"/>
                  </a:moveTo>
                  <a:lnTo>
                    <a:pt x="0" y="47910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190875" y="240506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3833812" y="1925955"/>
              <a:ext cx="9525" cy="479108"/>
            </a:xfrm>
            <a:custGeom>
              <a:avLst/>
              <a:gdLst/>
              <a:ahLst/>
              <a:cxnLst/>
              <a:rect l="l" t="t" r="r" b="b"/>
              <a:pathLst>
                <a:path w="9525" h="479108">
                  <a:moveTo>
                    <a:pt x="0" y="0"/>
                  </a:moveTo>
                  <a:lnTo>
                    <a:pt x="0" y="47910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786188" y="240506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4429125" y="1925955"/>
              <a:ext cx="9525" cy="479108"/>
            </a:xfrm>
            <a:custGeom>
              <a:avLst/>
              <a:gdLst/>
              <a:ahLst/>
              <a:cxnLst/>
              <a:rect l="l" t="t" r="r" b="b"/>
              <a:pathLst>
                <a:path w="9525" h="479108">
                  <a:moveTo>
                    <a:pt x="0" y="0"/>
                  </a:moveTo>
                  <a:lnTo>
                    <a:pt x="0" y="47910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381500" y="240506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5023485" y="1925955"/>
              <a:ext cx="9525" cy="479108"/>
            </a:xfrm>
            <a:custGeom>
              <a:avLst/>
              <a:gdLst/>
              <a:ahLst/>
              <a:cxnLst/>
              <a:rect l="l" t="t" r="r" b="b"/>
              <a:pathLst>
                <a:path w="9525" h="479108">
                  <a:moveTo>
                    <a:pt x="0" y="0"/>
                  </a:moveTo>
                  <a:lnTo>
                    <a:pt x="0" y="47910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4975860" y="240506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5618798" y="1925955"/>
              <a:ext cx="9525" cy="479108"/>
            </a:xfrm>
            <a:custGeom>
              <a:avLst/>
              <a:gdLst/>
              <a:ahLst/>
              <a:cxnLst/>
              <a:rect l="l" t="t" r="r" b="b"/>
              <a:pathLst>
                <a:path w="9525" h="479108">
                  <a:moveTo>
                    <a:pt x="0" y="0"/>
                  </a:moveTo>
                  <a:lnTo>
                    <a:pt x="0" y="47910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5571172" y="240506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91502" y="1665922"/>
              <a:ext cx="533400" cy="260032"/>
            </a:xfrm>
            <a:prstGeom prst="roundRect">
              <a:avLst>
                <a:gd name="adj" fmla="val 36630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186815" y="1665922"/>
              <a:ext cx="533400" cy="260032"/>
            </a:xfrm>
            <a:prstGeom prst="roundRect">
              <a:avLst>
                <a:gd name="adj" fmla="val 36630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781175" y="1665922"/>
              <a:ext cx="533400" cy="260032"/>
            </a:xfrm>
            <a:prstGeom prst="roundRect">
              <a:avLst>
                <a:gd name="adj" fmla="val 36630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2376488" y="1665922"/>
              <a:ext cx="533400" cy="260032"/>
            </a:xfrm>
            <a:prstGeom prst="roundRect">
              <a:avLst>
                <a:gd name="adj" fmla="val 36630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2971800" y="1665922"/>
              <a:ext cx="533400" cy="260032"/>
            </a:xfrm>
            <a:prstGeom prst="roundRect">
              <a:avLst>
                <a:gd name="adj" fmla="val 36630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3567112" y="1665922"/>
              <a:ext cx="533400" cy="260032"/>
            </a:xfrm>
            <a:prstGeom prst="roundRect">
              <a:avLst>
                <a:gd name="adj" fmla="val 36630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4162425" y="1665922"/>
              <a:ext cx="533400" cy="260032"/>
            </a:xfrm>
            <a:prstGeom prst="roundRect">
              <a:avLst>
                <a:gd name="adj" fmla="val 36630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4756785" y="1665922"/>
              <a:ext cx="533400" cy="260032"/>
            </a:xfrm>
            <a:prstGeom prst="roundRect">
              <a:avLst>
                <a:gd name="adj" fmla="val 36630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52098" y="1665922"/>
              <a:ext cx="533400" cy="260032"/>
            </a:xfrm>
            <a:prstGeom prst="roundRect">
              <a:avLst>
                <a:gd name="adj" fmla="val 36630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791528" y="2509838"/>
              <a:ext cx="133350" cy="1333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1386840" y="2509838"/>
              <a:ext cx="133350" cy="1333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1981200" y="2509838"/>
              <a:ext cx="133350" cy="1333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2576512" y="2509838"/>
              <a:ext cx="133350" cy="1333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3171825" y="2509838"/>
              <a:ext cx="133350" cy="1333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3767138" y="2509838"/>
              <a:ext cx="133350" cy="1333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4362450" y="2509838"/>
              <a:ext cx="133350" cy="1333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4956810" y="2509838"/>
              <a:ext cx="133350" cy="1333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5552122" y="2509838"/>
              <a:ext cx="133350" cy="1333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38967" y="1735931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cat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372374" y="173593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bo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004828" y="173593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485858" y="1735931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test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081171" y="1735931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data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697262" y="1735931"/>
              <a:ext cx="2731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mail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271796" y="1735931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cont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904250" y="1735931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hex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347186" y="1735931"/>
              <a:ext cx="5432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records</a:t>
              </a:r>
            </a:p>
          </p:txBody>
        </p:sp>
      </p:grpSp>
      <p:grpSp>
        <p:nvGrpSpPr>
          <p:cNvPr id="54" name="c1-text-2"/>
          <p:cNvGrpSpPr/>
          <p:nvPr/>
        </p:nvGrpSpPr>
        <p:grpSpPr>
          <a:xfrm>
            <a:off x="526923" y="2974181"/>
            <a:ext cx="4572762" cy="500824"/>
            <a:chOff x="526923" y="2974181"/>
            <a:chExt cx="4572762" cy="500824"/>
          </a:xfrm>
        </p:grpSpPr>
        <p:sp>
          <p:nvSpPr>
            <p:cNvPr id="53" name="TextBox 53"/>
            <p:cNvSpPr txBox="1"/>
            <p:nvPr/>
          </p:nvSpPr>
          <p:spPr>
            <a:xfrm>
              <a:off x="526923" y="2974181"/>
              <a:ext cx="4572762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单级目录：所有用户共用一个目录（A single directory for all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users），每个目录项（方框）指向一个文件（圆点）。</a:t>
              </a:r>
            </a:p>
          </p:txBody>
        </p:sp>
      </p:grpSp>
      <p:grpSp>
        <p:nvGrpSpPr>
          <p:cNvPr id="68" name="c1-card-3"/>
          <p:cNvGrpSpPr/>
          <p:nvPr/>
        </p:nvGrpSpPr>
        <p:grpSpPr>
          <a:xfrm>
            <a:off x="533400" y="3614738"/>
            <a:ext cx="5410200" cy="2607945"/>
            <a:chOff x="533400" y="3614738"/>
            <a:chExt cx="5410200" cy="2607945"/>
          </a:xfrm>
        </p:grpSpPr>
        <p:sp>
          <p:nvSpPr>
            <p:cNvPr id="55" name="Rectangle 55"/>
            <p:cNvSpPr/>
            <p:nvPr/>
          </p:nvSpPr>
          <p:spPr>
            <a:xfrm>
              <a:off x="533400" y="3614738"/>
              <a:ext cx="5410200" cy="2607945"/>
            </a:xfrm>
            <a:prstGeom prst="roundRect">
              <a:avLst>
                <a:gd name="adj" fmla="val 511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542925" y="3748088"/>
              <a:ext cx="47625" cy="234124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781050" y="3824288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50557" y="386000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单级目录的缺点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781050" y="4188142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42899" y="4230434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82040" y="4201478"/>
              <a:ext cx="42538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命名问题（Naming）：所有文件在同一个名字空间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里，不能重名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781050" y="4809172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42899" y="4851464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82040" y="4822508"/>
              <a:ext cx="46958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分组问题（Grouping）：无法把相关的文件归成一组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781050" y="5144452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42899" y="5186744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82040" y="5157788"/>
              <a:ext cx="4444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保护问题（Protection）：难以按用户区分文件和权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限</a:t>
              </a:r>
            </a:p>
          </p:txBody>
        </p:sp>
      </p:grpSp>
      <p:grpSp>
        <p:nvGrpSpPr>
          <p:cNvPr id="115" name="c2-graph-1"/>
          <p:cNvGrpSpPr/>
          <p:nvPr/>
        </p:nvGrpSpPr>
        <p:grpSpPr>
          <a:xfrm>
            <a:off x="6389370" y="1601152"/>
            <a:ext cx="4953000" cy="1608773"/>
            <a:chOff x="6389370" y="1601152"/>
            <a:chExt cx="4953000" cy="1608773"/>
          </a:xfrm>
        </p:grpSpPr>
        <p:sp>
          <p:nvSpPr>
            <p:cNvPr id="69" name="Freeform 69"/>
            <p:cNvSpPr/>
            <p:nvPr/>
          </p:nvSpPr>
          <p:spPr>
            <a:xfrm>
              <a:off x="6951345" y="1881188"/>
              <a:ext cx="9525" cy="312420"/>
            </a:xfrm>
            <a:custGeom>
              <a:avLst/>
              <a:gdLst/>
              <a:ahLst/>
              <a:cxnLst/>
              <a:rect l="l" t="t" r="r" b="b"/>
              <a:pathLst>
                <a:path w="9525" h="312420">
                  <a:moveTo>
                    <a:pt x="0" y="0"/>
                  </a:moveTo>
                  <a:lnTo>
                    <a:pt x="0" y="31242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0" name="Freeform 70"/>
            <p:cNvSpPr/>
            <p:nvPr/>
          </p:nvSpPr>
          <p:spPr>
            <a:xfrm>
              <a:off x="6903720" y="219360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1" name="Freeform 71"/>
            <p:cNvSpPr/>
            <p:nvPr/>
          </p:nvSpPr>
          <p:spPr>
            <a:xfrm>
              <a:off x="8303895" y="1881188"/>
              <a:ext cx="9525" cy="312420"/>
            </a:xfrm>
            <a:custGeom>
              <a:avLst/>
              <a:gdLst/>
              <a:ahLst/>
              <a:cxnLst/>
              <a:rect l="l" t="t" r="r" b="b"/>
              <a:pathLst>
                <a:path w="9525" h="312420">
                  <a:moveTo>
                    <a:pt x="0" y="0"/>
                  </a:moveTo>
                  <a:lnTo>
                    <a:pt x="0" y="31242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2" name="Freeform 72"/>
            <p:cNvSpPr/>
            <p:nvPr/>
          </p:nvSpPr>
          <p:spPr>
            <a:xfrm>
              <a:off x="8256270" y="219360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3" name="Freeform 73"/>
            <p:cNvSpPr/>
            <p:nvPr/>
          </p:nvSpPr>
          <p:spPr>
            <a:xfrm>
              <a:off x="9603105" y="1881188"/>
              <a:ext cx="9525" cy="312420"/>
            </a:xfrm>
            <a:custGeom>
              <a:avLst/>
              <a:gdLst/>
              <a:ahLst/>
              <a:cxnLst/>
              <a:rect l="l" t="t" r="r" b="b"/>
              <a:pathLst>
                <a:path w="9525" h="312420">
                  <a:moveTo>
                    <a:pt x="0" y="0"/>
                  </a:moveTo>
                  <a:lnTo>
                    <a:pt x="0" y="31242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4" name="Freeform 74"/>
            <p:cNvSpPr/>
            <p:nvPr/>
          </p:nvSpPr>
          <p:spPr>
            <a:xfrm>
              <a:off x="9555480" y="219360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5" name="Freeform 75"/>
            <p:cNvSpPr/>
            <p:nvPr/>
          </p:nvSpPr>
          <p:spPr>
            <a:xfrm>
              <a:off x="10955655" y="1881188"/>
              <a:ext cx="9525" cy="312420"/>
            </a:xfrm>
            <a:custGeom>
              <a:avLst/>
              <a:gdLst/>
              <a:ahLst/>
              <a:cxnLst/>
              <a:rect l="l" t="t" r="r" b="b"/>
              <a:pathLst>
                <a:path w="9525" h="312420">
                  <a:moveTo>
                    <a:pt x="0" y="0"/>
                  </a:moveTo>
                  <a:lnTo>
                    <a:pt x="0" y="31242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6" name="Freeform 76"/>
            <p:cNvSpPr/>
            <p:nvPr/>
          </p:nvSpPr>
          <p:spPr>
            <a:xfrm>
              <a:off x="10908030" y="219360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7" name="Freeform 77"/>
            <p:cNvSpPr/>
            <p:nvPr/>
          </p:nvSpPr>
          <p:spPr>
            <a:xfrm>
              <a:off x="6553200" y="2568892"/>
              <a:ext cx="315278" cy="526733"/>
            </a:xfrm>
            <a:custGeom>
              <a:avLst/>
              <a:gdLst/>
              <a:ahLst/>
              <a:cxnLst/>
              <a:rect l="l" t="t" r="r" b="b"/>
              <a:pathLst>
                <a:path w="315278" h="526733">
                  <a:moveTo>
                    <a:pt x="315278" y="0"/>
                  </a:moveTo>
                  <a:lnTo>
                    <a:pt x="0" y="52673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8" name="Freeform 78"/>
            <p:cNvSpPr/>
            <p:nvPr/>
          </p:nvSpPr>
          <p:spPr>
            <a:xfrm>
              <a:off x="6828472" y="2568892"/>
              <a:ext cx="97155" cy="518160"/>
            </a:xfrm>
            <a:custGeom>
              <a:avLst/>
              <a:gdLst/>
              <a:ahLst/>
              <a:cxnLst/>
              <a:rect l="l" t="t" r="r" b="b"/>
              <a:pathLst>
                <a:path w="97155" h="518160">
                  <a:moveTo>
                    <a:pt x="97155" y="0"/>
                  </a:moveTo>
                  <a:lnTo>
                    <a:pt x="0" y="51816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9" name="Freeform 79"/>
            <p:cNvSpPr/>
            <p:nvPr/>
          </p:nvSpPr>
          <p:spPr>
            <a:xfrm>
              <a:off x="6982778" y="2568892"/>
              <a:ext cx="116205" cy="519112"/>
            </a:xfrm>
            <a:custGeom>
              <a:avLst/>
              <a:gdLst/>
              <a:ahLst/>
              <a:cxnLst/>
              <a:rect l="l" t="t" r="r" b="b"/>
              <a:pathLst>
                <a:path w="116205" h="519112">
                  <a:moveTo>
                    <a:pt x="0" y="0"/>
                  </a:moveTo>
                  <a:lnTo>
                    <a:pt x="116205" y="51911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0" name="Freeform 80"/>
            <p:cNvSpPr/>
            <p:nvPr/>
          </p:nvSpPr>
          <p:spPr>
            <a:xfrm>
              <a:off x="7040880" y="2568892"/>
              <a:ext cx="335280" cy="527685"/>
            </a:xfrm>
            <a:custGeom>
              <a:avLst/>
              <a:gdLst/>
              <a:ahLst/>
              <a:cxnLst/>
              <a:rect l="l" t="t" r="r" b="b"/>
              <a:pathLst>
                <a:path w="335280" h="527685">
                  <a:moveTo>
                    <a:pt x="0" y="0"/>
                  </a:moveTo>
                  <a:lnTo>
                    <a:pt x="335280" y="52768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1" name="Freeform 81"/>
            <p:cNvSpPr/>
            <p:nvPr/>
          </p:nvSpPr>
          <p:spPr>
            <a:xfrm>
              <a:off x="8156258" y="2568892"/>
              <a:ext cx="116205" cy="519112"/>
            </a:xfrm>
            <a:custGeom>
              <a:avLst/>
              <a:gdLst/>
              <a:ahLst/>
              <a:cxnLst/>
              <a:rect l="l" t="t" r="r" b="b"/>
              <a:pathLst>
                <a:path w="116205" h="519112">
                  <a:moveTo>
                    <a:pt x="116205" y="0"/>
                  </a:moveTo>
                  <a:lnTo>
                    <a:pt x="0" y="51911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2" name="Freeform 82"/>
            <p:cNvSpPr/>
            <p:nvPr/>
          </p:nvSpPr>
          <p:spPr>
            <a:xfrm>
              <a:off x="8335328" y="2568892"/>
              <a:ext cx="116205" cy="519112"/>
            </a:xfrm>
            <a:custGeom>
              <a:avLst/>
              <a:gdLst/>
              <a:ahLst/>
              <a:cxnLst/>
              <a:rect l="l" t="t" r="r" b="b"/>
              <a:pathLst>
                <a:path w="116205" h="519112">
                  <a:moveTo>
                    <a:pt x="0" y="0"/>
                  </a:moveTo>
                  <a:lnTo>
                    <a:pt x="116205" y="51911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3" name="Freeform 83"/>
            <p:cNvSpPr/>
            <p:nvPr/>
          </p:nvSpPr>
          <p:spPr>
            <a:xfrm>
              <a:off x="9455468" y="2568892"/>
              <a:ext cx="116205" cy="519112"/>
            </a:xfrm>
            <a:custGeom>
              <a:avLst/>
              <a:gdLst/>
              <a:ahLst/>
              <a:cxnLst/>
              <a:rect l="l" t="t" r="r" b="b"/>
              <a:pathLst>
                <a:path w="116205" h="519112">
                  <a:moveTo>
                    <a:pt x="116205" y="0"/>
                  </a:moveTo>
                  <a:lnTo>
                    <a:pt x="0" y="51911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4" name="Freeform 84"/>
            <p:cNvSpPr/>
            <p:nvPr/>
          </p:nvSpPr>
          <p:spPr>
            <a:xfrm>
              <a:off x="9634538" y="2568892"/>
              <a:ext cx="116205" cy="519112"/>
            </a:xfrm>
            <a:custGeom>
              <a:avLst/>
              <a:gdLst/>
              <a:ahLst/>
              <a:cxnLst/>
              <a:rect l="l" t="t" r="r" b="b"/>
              <a:pathLst>
                <a:path w="116205" h="519112">
                  <a:moveTo>
                    <a:pt x="0" y="0"/>
                  </a:moveTo>
                  <a:lnTo>
                    <a:pt x="116205" y="51911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5" name="Freeform 85"/>
            <p:cNvSpPr/>
            <p:nvPr/>
          </p:nvSpPr>
          <p:spPr>
            <a:xfrm>
              <a:off x="10708005" y="2568892"/>
              <a:ext cx="195262" cy="521017"/>
            </a:xfrm>
            <a:custGeom>
              <a:avLst/>
              <a:gdLst/>
              <a:ahLst/>
              <a:cxnLst/>
              <a:rect l="l" t="t" r="r" b="b"/>
              <a:pathLst>
                <a:path w="195262" h="521017">
                  <a:moveTo>
                    <a:pt x="195262" y="0"/>
                  </a:moveTo>
                  <a:lnTo>
                    <a:pt x="0" y="52101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6" name="Freeform 86"/>
            <p:cNvSpPr/>
            <p:nvPr/>
          </p:nvSpPr>
          <p:spPr>
            <a:xfrm>
              <a:off x="10955655" y="2568892"/>
              <a:ext cx="9525" cy="517208"/>
            </a:xfrm>
            <a:custGeom>
              <a:avLst/>
              <a:gdLst/>
              <a:ahLst/>
              <a:cxnLst/>
              <a:rect l="l" t="t" r="r" b="b"/>
              <a:pathLst>
                <a:path w="9525" h="517208">
                  <a:moveTo>
                    <a:pt x="0" y="0"/>
                  </a:moveTo>
                  <a:lnTo>
                    <a:pt x="0" y="51720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7" name="Freeform 87"/>
            <p:cNvSpPr/>
            <p:nvPr/>
          </p:nvSpPr>
          <p:spPr>
            <a:xfrm>
              <a:off x="11008042" y="2568892"/>
              <a:ext cx="194310" cy="521017"/>
            </a:xfrm>
            <a:custGeom>
              <a:avLst/>
              <a:gdLst/>
              <a:ahLst/>
              <a:cxnLst/>
              <a:rect l="l" t="t" r="r" b="b"/>
              <a:pathLst>
                <a:path w="194310" h="521017">
                  <a:moveTo>
                    <a:pt x="0" y="0"/>
                  </a:moveTo>
                  <a:lnTo>
                    <a:pt x="194310" y="52101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8" name="Rectangle 88"/>
            <p:cNvSpPr/>
            <p:nvPr/>
          </p:nvSpPr>
          <p:spPr>
            <a:xfrm>
              <a:off x="6644640" y="1601152"/>
              <a:ext cx="613410" cy="280035"/>
            </a:xfrm>
            <a:prstGeom prst="roundRect">
              <a:avLst>
                <a:gd name="adj" fmla="val 34014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89" name="Rectangle 89"/>
            <p:cNvSpPr/>
            <p:nvPr/>
          </p:nvSpPr>
          <p:spPr>
            <a:xfrm>
              <a:off x="7997190" y="1601152"/>
              <a:ext cx="613410" cy="280035"/>
            </a:xfrm>
            <a:prstGeom prst="roundRect">
              <a:avLst>
                <a:gd name="adj" fmla="val 34014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90" name="Rectangle 90"/>
            <p:cNvSpPr/>
            <p:nvPr/>
          </p:nvSpPr>
          <p:spPr>
            <a:xfrm>
              <a:off x="9295448" y="1601152"/>
              <a:ext cx="613410" cy="280035"/>
            </a:xfrm>
            <a:prstGeom prst="roundRect">
              <a:avLst>
                <a:gd name="adj" fmla="val 34014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91" name="Rectangle 91"/>
            <p:cNvSpPr/>
            <p:nvPr/>
          </p:nvSpPr>
          <p:spPr>
            <a:xfrm>
              <a:off x="10647998" y="1601152"/>
              <a:ext cx="613410" cy="280035"/>
            </a:xfrm>
            <a:prstGeom prst="roundRect">
              <a:avLst>
                <a:gd name="adj" fmla="val 34014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92" name="Rectangle 92"/>
            <p:cNvSpPr/>
            <p:nvPr/>
          </p:nvSpPr>
          <p:spPr>
            <a:xfrm>
              <a:off x="6389370" y="2288858"/>
              <a:ext cx="1124902" cy="280035"/>
            </a:xfrm>
            <a:prstGeom prst="roundRect">
              <a:avLst>
                <a:gd name="adj" fmla="val 34014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93" name="Rectangle 93"/>
            <p:cNvSpPr/>
            <p:nvPr/>
          </p:nvSpPr>
          <p:spPr>
            <a:xfrm>
              <a:off x="7976235" y="2288858"/>
              <a:ext cx="655320" cy="280035"/>
            </a:xfrm>
            <a:prstGeom prst="roundRect">
              <a:avLst>
                <a:gd name="adj" fmla="val 34014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94" name="Rectangle 94"/>
            <p:cNvSpPr/>
            <p:nvPr/>
          </p:nvSpPr>
          <p:spPr>
            <a:xfrm>
              <a:off x="9274492" y="2288858"/>
              <a:ext cx="655320" cy="280035"/>
            </a:xfrm>
            <a:prstGeom prst="roundRect">
              <a:avLst>
                <a:gd name="adj" fmla="val 34014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95" name="Rectangle 95"/>
            <p:cNvSpPr/>
            <p:nvPr/>
          </p:nvSpPr>
          <p:spPr>
            <a:xfrm>
              <a:off x="10567988" y="2288858"/>
              <a:ext cx="774382" cy="280035"/>
            </a:xfrm>
            <a:prstGeom prst="roundRect">
              <a:avLst>
                <a:gd name="adj" fmla="val 34014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96" name="Ellipse 96"/>
            <p:cNvSpPr/>
            <p:nvPr/>
          </p:nvSpPr>
          <p:spPr>
            <a:xfrm>
              <a:off x="6461760" y="3095625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7" name="Ellipse 97"/>
            <p:cNvSpPr/>
            <p:nvPr/>
          </p:nvSpPr>
          <p:spPr>
            <a:xfrm>
              <a:off x="6758940" y="3095625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8" name="Ellipse 98"/>
            <p:cNvSpPr/>
            <p:nvPr/>
          </p:nvSpPr>
          <p:spPr>
            <a:xfrm>
              <a:off x="7057072" y="3095625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9" name="Ellipse 99"/>
            <p:cNvSpPr/>
            <p:nvPr/>
          </p:nvSpPr>
          <p:spPr>
            <a:xfrm>
              <a:off x="7354252" y="3095625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0" name="Ellipse 100"/>
            <p:cNvSpPr/>
            <p:nvPr/>
          </p:nvSpPr>
          <p:spPr>
            <a:xfrm>
              <a:off x="8084820" y="3095625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1" name="Ellipse 101"/>
            <p:cNvSpPr/>
            <p:nvPr/>
          </p:nvSpPr>
          <p:spPr>
            <a:xfrm>
              <a:off x="8409622" y="3095625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2" name="Ellipse 102"/>
            <p:cNvSpPr/>
            <p:nvPr/>
          </p:nvSpPr>
          <p:spPr>
            <a:xfrm>
              <a:off x="9383078" y="3095625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3" name="Ellipse 103"/>
            <p:cNvSpPr/>
            <p:nvPr/>
          </p:nvSpPr>
          <p:spPr>
            <a:xfrm>
              <a:off x="9707880" y="3095625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4" name="Ellipse 104"/>
            <p:cNvSpPr/>
            <p:nvPr/>
          </p:nvSpPr>
          <p:spPr>
            <a:xfrm>
              <a:off x="10627995" y="3095625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5" name="Ellipse 105"/>
            <p:cNvSpPr/>
            <p:nvPr/>
          </p:nvSpPr>
          <p:spPr>
            <a:xfrm>
              <a:off x="10898505" y="3095625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6" name="Ellipse 106"/>
            <p:cNvSpPr/>
            <p:nvPr/>
          </p:nvSpPr>
          <p:spPr>
            <a:xfrm>
              <a:off x="11169015" y="3095625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6741935" y="1675448"/>
              <a:ext cx="4188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user1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8094485" y="1675448"/>
              <a:ext cx="4188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user2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9393695" y="1675448"/>
              <a:ext cx="4188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user3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10746245" y="1675448"/>
              <a:ext cx="4188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user4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6471072" y="2363152"/>
              <a:ext cx="9605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cat bo a test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8072223" y="2363152"/>
              <a:ext cx="463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a data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9371433" y="2363152"/>
              <a:ext cx="463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a test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10660905" y="2363152"/>
              <a:ext cx="5895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x data a</a:t>
              </a:r>
            </a:p>
          </p:txBody>
        </p:sp>
      </p:grpSp>
      <p:grpSp>
        <p:nvGrpSpPr>
          <p:cNvPr id="117" name="c2-text-2"/>
          <p:cNvGrpSpPr/>
          <p:nvPr/>
        </p:nvGrpSpPr>
        <p:grpSpPr>
          <a:xfrm>
            <a:off x="6241923" y="3545681"/>
            <a:ext cx="5190490" cy="500824"/>
            <a:chOff x="6241923" y="3545681"/>
            <a:chExt cx="5190490" cy="500824"/>
          </a:xfrm>
        </p:grpSpPr>
        <p:sp>
          <p:nvSpPr>
            <p:cNvPr id="116" name="TextBox 116"/>
            <p:cNvSpPr txBox="1"/>
            <p:nvPr/>
          </p:nvSpPr>
          <p:spPr>
            <a:xfrm>
              <a:off x="6241923" y="3545681"/>
              <a:ext cx="5190490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两级目录：上层是主文件目录（MFD），每个用户一项；下层是各用户的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文件目录（UFD）。</a:t>
              </a:r>
            </a:p>
          </p:txBody>
        </p:sp>
      </p:grpSp>
      <p:grpSp>
        <p:nvGrpSpPr>
          <p:cNvPr id="134" name="c2-card-3"/>
          <p:cNvGrpSpPr/>
          <p:nvPr/>
        </p:nvGrpSpPr>
        <p:grpSpPr>
          <a:xfrm>
            <a:off x="6248400" y="4186238"/>
            <a:ext cx="5410200" cy="2036445"/>
            <a:chOff x="6248400" y="4186238"/>
            <a:chExt cx="5410200" cy="2036445"/>
          </a:xfrm>
        </p:grpSpPr>
        <p:sp>
          <p:nvSpPr>
            <p:cNvPr id="118" name="Rectangle 118"/>
            <p:cNvSpPr/>
            <p:nvPr/>
          </p:nvSpPr>
          <p:spPr>
            <a:xfrm>
              <a:off x="6248400" y="4186238"/>
              <a:ext cx="5410200" cy="2036445"/>
            </a:xfrm>
            <a:prstGeom prst="roundRect">
              <a:avLst>
                <a:gd name="adj" fmla="val 65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19" name="Rectangle 119"/>
            <p:cNvSpPr/>
            <p:nvPr/>
          </p:nvSpPr>
          <p:spPr>
            <a:xfrm>
              <a:off x="6257925" y="4319588"/>
              <a:ext cx="47625" cy="176974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0" name="Rectangle 120"/>
            <p:cNvSpPr/>
            <p:nvPr/>
          </p:nvSpPr>
          <p:spPr>
            <a:xfrm>
              <a:off x="6496050" y="4395788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21" name="TextBox 121"/>
            <p:cNvSpPr txBox="1"/>
            <p:nvPr/>
          </p:nvSpPr>
          <p:spPr>
            <a:xfrm>
              <a:off x="6565557" y="443150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两级目录的特点</a:t>
              </a:r>
            </a:p>
          </p:txBody>
        </p:sp>
        <p:sp>
          <p:nvSpPr>
            <p:cNvPr id="122" name="Ellipse 122"/>
            <p:cNvSpPr/>
            <p:nvPr/>
          </p:nvSpPr>
          <p:spPr>
            <a:xfrm>
              <a:off x="6496050" y="4759642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3" name="TextBox 123"/>
            <p:cNvSpPr txBox="1"/>
            <p:nvPr/>
          </p:nvSpPr>
          <p:spPr>
            <a:xfrm>
              <a:off x="6557899" y="4801934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6797040" y="4772978"/>
              <a:ext cx="34783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用路径名（用户名 / 文件名）定位文件</a:t>
              </a:r>
            </a:p>
          </p:txBody>
        </p:sp>
        <p:sp>
          <p:nvSpPr>
            <p:cNvPr id="125" name="Ellipse 125"/>
            <p:cNvSpPr/>
            <p:nvPr/>
          </p:nvSpPr>
          <p:spPr>
            <a:xfrm>
              <a:off x="6496050" y="5094922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6" name="TextBox 126"/>
            <p:cNvSpPr txBox="1"/>
            <p:nvPr/>
          </p:nvSpPr>
          <p:spPr>
            <a:xfrm>
              <a:off x="6557899" y="5137214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6797040" y="5108258"/>
              <a:ext cx="44274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不同用户的文件可以同名，如四个用户都有文件 a</a:t>
              </a:r>
            </a:p>
          </p:txBody>
        </p:sp>
        <p:sp>
          <p:nvSpPr>
            <p:cNvPr id="128" name="Ellipse 128"/>
            <p:cNvSpPr/>
            <p:nvPr/>
          </p:nvSpPr>
          <p:spPr>
            <a:xfrm>
              <a:off x="6496050" y="5430202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9" name="TextBox 129"/>
            <p:cNvSpPr txBox="1"/>
            <p:nvPr/>
          </p:nvSpPr>
          <p:spPr>
            <a:xfrm>
              <a:off x="6557899" y="5472494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6797040" y="5443538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查找效率高：只查本用户的目录</a:t>
              </a:r>
            </a:p>
          </p:txBody>
        </p:sp>
        <p:sp>
          <p:nvSpPr>
            <p:cNvPr id="131" name="Ellipse 131"/>
            <p:cNvSpPr/>
            <p:nvPr/>
          </p:nvSpPr>
          <p:spPr>
            <a:xfrm>
              <a:off x="6496050" y="5765482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2" name="TextBox 132"/>
            <p:cNvSpPr txBox="1"/>
            <p:nvPr/>
          </p:nvSpPr>
          <p:spPr>
            <a:xfrm>
              <a:off x="6557899" y="5807774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6797040" y="5778818"/>
              <a:ext cx="39791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仍没有分组能力（No grouping capability）</a:t>
              </a:r>
            </a:p>
          </p:txBody>
        </p:sp>
      </p:grpSp>
      <p:grpSp>
        <p:nvGrpSpPr>
          <p:cNvPr id="1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35" name="TextBox 135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第8章 文件系统</a:t>
              </a:r>
            </a:p>
          </p:txBody>
        </p:sp>
        <p:sp>
          <p:nvSpPr>
            <p:cNvPr id="136" name="TextBox 13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002187" cy="909257"/>
            <a:chOff x="520446" y="342900"/>
            <a:chExt cx="500218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文件系统 · 文件目录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0021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多级（树形）目录：UNIX 的做法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8" name="c1-graph-1"/>
          <p:cNvGrpSpPr/>
          <p:nvPr/>
        </p:nvGrpSpPr>
        <p:grpSpPr>
          <a:xfrm>
            <a:off x="828675" y="1542098"/>
            <a:ext cx="6286500" cy="4184332"/>
            <a:chOff x="828675" y="1542098"/>
            <a:chExt cx="6286500" cy="4184332"/>
          </a:xfrm>
        </p:grpSpPr>
        <p:sp>
          <p:nvSpPr>
            <p:cNvPr id="7" name="Freeform 7"/>
            <p:cNvSpPr/>
            <p:nvPr/>
          </p:nvSpPr>
          <p:spPr>
            <a:xfrm>
              <a:off x="1311592" y="1853565"/>
              <a:ext cx="2338388" cy="711518"/>
            </a:xfrm>
            <a:custGeom>
              <a:avLst/>
              <a:gdLst/>
              <a:ahLst/>
              <a:cxnLst/>
              <a:rect l="l" t="t" r="r" b="b"/>
              <a:pathLst>
                <a:path w="2338388" h="711518">
                  <a:moveTo>
                    <a:pt x="2338388" y="0"/>
                  </a:moveTo>
                  <a:lnTo>
                    <a:pt x="0" y="71151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319338" y="1890712"/>
              <a:ext cx="1344930" cy="661035"/>
            </a:xfrm>
            <a:custGeom>
              <a:avLst/>
              <a:gdLst/>
              <a:ahLst/>
              <a:cxnLst/>
              <a:rect l="l" t="t" r="r" b="b"/>
              <a:pathLst>
                <a:path w="1344930" h="661035">
                  <a:moveTo>
                    <a:pt x="1344930" y="0"/>
                  </a:moveTo>
                  <a:lnTo>
                    <a:pt x="0" y="66103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464242" y="1991678"/>
              <a:ext cx="291465" cy="466725"/>
            </a:xfrm>
            <a:custGeom>
              <a:avLst/>
              <a:gdLst/>
              <a:ahLst/>
              <a:cxnLst/>
              <a:rect l="l" t="t" r="r" b="b"/>
              <a:pathLst>
                <a:path w="291465" h="466725">
                  <a:moveTo>
                    <a:pt x="291465" y="0"/>
                  </a:moveTo>
                  <a:lnTo>
                    <a:pt x="0" y="4667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019550" y="1991678"/>
              <a:ext cx="309562" cy="494348"/>
            </a:xfrm>
            <a:custGeom>
              <a:avLst/>
              <a:gdLst/>
              <a:ahLst/>
              <a:cxnLst/>
              <a:rect l="l" t="t" r="r" b="b"/>
              <a:pathLst>
                <a:path w="309562" h="494348">
                  <a:moveTo>
                    <a:pt x="0" y="0"/>
                  </a:moveTo>
                  <a:lnTo>
                    <a:pt x="309562" y="49434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4105275" y="1902142"/>
              <a:ext cx="1139190" cy="633412"/>
            </a:xfrm>
            <a:custGeom>
              <a:avLst/>
              <a:gdLst/>
              <a:ahLst/>
              <a:cxnLst/>
              <a:rect l="l" t="t" r="r" b="b"/>
              <a:pathLst>
                <a:path w="1139190" h="633412">
                  <a:moveTo>
                    <a:pt x="0" y="0"/>
                  </a:moveTo>
                  <a:lnTo>
                    <a:pt x="1139190" y="63341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124325" y="1856422"/>
              <a:ext cx="2244090" cy="717232"/>
            </a:xfrm>
            <a:custGeom>
              <a:avLst/>
              <a:gdLst/>
              <a:ahLst/>
              <a:cxnLst/>
              <a:rect l="l" t="t" r="r" b="b"/>
              <a:pathLst>
                <a:path w="2244090" h="717232">
                  <a:moveTo>
                    <a:pt x="0" y="0"/>
                  </a:moveTo>
                  <a:lnTo>
                    <a:pt x="2244090" y="71723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802130" y="2816542"/>
              <a:ext cx="258128" cy="549592"/>
            </a:xfrm>
            <a:custGeom>
              <a:avLst/>
              <a:gdLst/>
              <a:ahLst/>
              <a:cxnLst/>
              <a:rect l="l" t="t" r="r" b="b"/>
              <a:pathLst>
                <a:path w="258128" h="549592">
                  <a:moveTo>
                    <a:pt x="258128" y="0"/>
                  </a:moveTo>
                  <a:lnTo>
                    <a:pt x="0" y="54959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226945" y="2816542"/>
              <a:ext cx="258127" cy="549592"/>
            </a:xfrm>
            <a:custGeom>
              <a:avLst/>
              <a:gdLst/>
              <a:ahLst/>
              <a:cxnLst/>
              <a:rect l="l" t="t" r="r" b="b"/>
              <a:pathLst>
                <a:path w="258127" h="549592">
                  <a:moveTo>
                    <a:pt x="0" y="0"/>
                  </a:moveTo>
                  <a:lnTo>
                    <a:pt x="258127" y="54959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350895" y="2850832"/>
              <a:ext cx="9525" cy="317183"/>
            </a:xfrm>
            <a:custGeom>
              <a:avLst/>
              <a:gdLst/>
              <a:ahLst/>
              <a:cxnLst/>
              <a:rect l="l" t="t" r="r" b="b"/>
              <a:pathLst>
                <a:path w="9525" h="317183">
                  <a:moveTo>
                    <a:pt x="0" y="0"/>
                  </a:moveTo>
                  <a:lnTo>
                    <a:pt x="0" y="31718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170998" y="2805112"/>
              <a:ext cx="184785" cy="447675"/>
            </a:xfrm>
            <a:custGeom>
              <a:avLst/>
              <a:gdLst/>
              <a:ahLst/>
              <a:cxnLst/>
              <a:rect l="l" t="t" r="r" b="b"/>
              <a:pathLst>
                <a:path w="184785" h="447675">
                  <a:moveTo>
                    <a:pt x="184785" y="0"/>
                  </a:moveTo>
                  <a:lnTo>
                    <a:pt x="0" y="4476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4492942" y="2805112"/>
              <a:ext cx="184785" cy="447675"/>
            </a:xfrm>
            <a:custGeom>
              <a:avLst/>
              <a:gdLst/>
              <a:ahLst/>
              <a:cxnLst/>
              <a:rect l="l" t="t" r="r" b="b"/>
              <a:pathLst>
                <a:path w="184785" h="447675">
                  <a:moveTo>
                    <a:pt x="0" y="0"/>
                  </a:moveTo>
                  <a:lnTo>
                    <a:pt x="184785" y="4476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5246370" y="2848928"/>
              <a:ext cx="157162" cy="1245870"/>
            </a:xfrm>
            <a:custGeom>
              <a:avLst/>
              <a:gdLst/>
              <a:ahLst/>
              <a:cxnLst/>
              <a:rect l="l" t="t" r="r" b="b"/>
              <a:pathLst>
                <a:path w="157162" h="1245870">
                  <a:moveTo>
                    <a:pt x="157162" y="0"/>
                  </a:moveTo>
                  <a:lnTo>
                    <a:pt x="0" y="12458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5533072" y="2825115"/>
              <a:ext cx="296228" cy="541020"/>
            </a:xfrm>
            <a:custGeom>
              <a:avLst/>
              <a:gdLst/>
              <a:ahLst/>
              <a:cxnLst/>
              <a:rect l="l" t="t" r="r" b="b"/>
              <a:pathLst>
                <a:path w="296228" h="541020">
                  <a:moveTo>
                    <a:pt x="0" y="0"/>
                  </a:moveTo>
                  <a:lnTo>
                    <a:pt x="296228" y="54102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6467475" y="2848928"/>
              <a:ext cx="70485" cy="452438"/>
            </a:xfrm>
            <a:custGeom>
              <a:avLst/>
              <a:gdLst/>
              <a:ahLst/>
              <a:cxnLst/>
              <a:rect l="l" t="t" r="r" b="b"/>
              <a:pathLst>
                <a:path w="70485" h="452438">
                  <a:moveTo>
                    <a:pt x="70485" y="0"/>
                  </a:moveTo>
                  <a:lnTo>
                    <a:pt x="0" y="45243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6597968" y="2848928"/>
              <a:ext cx="158115" cy="1245870"/>
            </a:xfrm>
            <a:custGeom>
              <a:avLst/>
              <a:gdLst/>
              <a:ahLst/>
              <a:cxnLst/>
              <a:rect l="l" t="t" r="r" b="b"/>
              <a:pathLst>
                <a:path w="158115" h="1245870">
                  <a:moveTo>
                    <a:pt x="0" y="0"/>
                  </a:moveTo>
                  <a:lnTo>
                    <a:pt x="158115" y="12458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6131242" y="3687128"/>
              <a:ext cx="261938" cy="1136332"/>
            </a:xfrm>
            <a:custGeom>
              <a:avLst/>
              <a:gdLst/>
              <a:ahLst/>
              <a:cxnLst/>
              <a:rect l="l" t="t" r="r" b="b"/>
              <a:pathLst>
                <a:path w="261938" h="1136332">
                  <a:moveTo>
                    <a:pt x="261938" y="0"/>
                  </a:moveTo>
                  <a:lnTo>
                    <a:pt x="0" y="113633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2847022" y="3676650"/>
              <a:ext cx="328612" cy="420053"/>
            </a:xfrm>
            <a:custGeom>
              <a:avLst/>
              <a:gdLst/>
              <a:ahLst/>
              <a:cxnLst/>
              <a:rect l="l" t="t" r="r" b="b"/>
              <a:pathLst>
                <a:path w="328612" h="420053">
                  <a:moveTo>
                    <a:pt x="328612" y="0"/>
                  </a:moveTo>
                  <a:lnTo>
                    <a:pt x="0" y="42005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3526155" y="3676650"/>
              <a:ext cx="267653" cy="341947"/>
            </a:xfrm>
            <a:custGeom>
              <a:avLst/>
              <a:gdLst/>
              <a:ahLst/>
              <a:cxnLst/>
              <a:rect l="l" t="t" r="r" b="b"/>
              <a:pathLst>
                <a:path w="267653" h="341947">
                  <a:moveTo>
                    <a:pt x="0" y="0"/>
                  </a:moveTo>
                  <a:lnTo>
                    <a:pt x="267653" y="34194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2365058" y="4360545"/>
              <a:ext cx="294322" cy="456247"/>
            </a:xfrm>
            <a:custGeom>
              <a:avLst/>
              <a:gdLst/>
              <a:ahLst/>
              <a:cxnLst/>
              <a:rect l="l" t="t" r="r" b="b"/>
              <a:pathLst>
                <a:path w="294322" h="456247">
                  <a:moveTo>
                    <a:pt x="294322" y="0"/>
                  </a:moveTo>
                  <a:lnTo>
                    <a:pt x="0" y="45624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3692842" y="4461510"/>
              <a:ext cx="152400" cy="331470"/>
            </a:xfrm>
            <a:custGeom>
              <a:avLst/>
              <a:gdLst/>
              <a:ahLst/>
              <a:cxnLst/>
              <a:rect l="l" t="t" r="r" b="b"/>
              <a:pathLst>
                <a:path w="152400" h="331470">
                  <a:moveTo>
                    <a:pt x="152400" y="0"/>
                  </a:moveTo>
                  <a:lnTo>
                    <a:pt x="0" y="3314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4096702" y="4444365"/>
              <a:ext cx="232410" cy="360045"/>
            </a:xfrm>
            <a:custGeom>
              <a:avLst/>
              <a:gdLst/>
              <a:ahLst/>
              <a:cxnLst/>
              <a:rect l="l" t="t" r="r" b="b"/>
              <a:pathLst>
                <a:path w="232410" h="360045">
                  <a:moveTo>
                    <a:pt x="0" y="0"/>
                  </a:moveTo>
                  <a:lnTo>
                    <a:pt x="232410" y="36004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3190875" y="5088255"/>
              <a:ext cx="315278" cy="378142"/>
            </a:xfrm>
            <a:custGeom>
              <a:avLst/>
              <a:gdLst/>
              <a:ahLst/>
              <a:cxnLst/>
              <a:rect l="l" t="t" r="r" b="b"/>
              <a:pathLst>
                <a:path w="315278" h="378142">
                  <a:moveTo>
                    <a:pt x="315278" y="0"/>
                  </a:moveTo>
                  <a:lnTo>
                    <a:pt x="0" y="37814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2404110" y="5053965"/>
              <a:ext cx="516255" cy="412432"/>
            </a:xfrm>
            <a:custGeom>
              <a:avLst/>
              <a:gdLst/>
              <a:ahLst/>
              <a:cxnLst/>
              <a:rect l="l" t="t" r="r" b="b"/>
              <a:pathLst>
                <a:path w="516255" h="412432">
                  <a:moveTo>
                    <a:pt x="0" y="0"/>
                  </a:moveTo>
                  <a:lnTo>
                    <a:pt x="516255" y="412432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30" name="Ellipse 30"/>
            <p:cNvSpPr/>
            <p:nvPr/>
          </p:nvSpPr>
          <p:spPr>
            <a:xfrm>
              <a:off x="3649027" y="1542098"/>
              <a:ext cx="478155" cy="478155"/>
            </a:xfrm>
            <a:prstGeom prst="ellipse">
              <a:avLst/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828675" y="2508885"/>
              <a:ext cx="483870" cy="260032"/>
            </a:xfrm>
            <a:prstGeom prst="roundRect">
              <a:avLst>
                <a:gd name="adj" fmla="val 3663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1956435" y="2451735"/>
              <a:ext cx="373380" cy="373380"/>
            </a:xfrm>
            <a:prstGeom prst="ellipse">
              <a:avLst/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3148012" y="2435542"/>
              <a:ext cx="405765" cy="405765"/>
            </a:xfrm>
            <a:prstGeom prst="ellipse">
              <a:avLst/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4253865" y="2467928"/>
              <a:ext cx="340995" cy="340995"/>
            </a:xfrm>
            <a:prstGeom prst="ellipse">
              <a:avLst/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5228273" y="2435542"/>
              <a:ext cx="405765" cy="405765"/>
            </a:xfrm>
            <a:prstGeom prst="ellipse">
              <a:avLst/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6368415" y="2435542"/>
              <a:ext cx="405765" cy="405765"/>
            </a:xfrm>
            <a:prstGeom prst="ellipse">
              <a:avLst/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1550670" y="3366135"/>
              <a:ext cx="381000" cy="260032"/>
            </a:xfrm>
            <a:prstGeom prst="roundRect">
              <a:avLst>
                <a:gd name="adj" fmla="val 3663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2355532" y="3366135"/>
              <a:ext cx="381000" cy="260032"/>
            </a:xfrm>
            <a:prstGeom prst="roundRect">
              <a:avLst>
                <a:gd name="adj" fmla="val 3663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3075623" y="3177540"/>
              <a:ext cx="550545" cy="550545"/>
            </a:xfrm>
            <a:prstGeom prst="ellipse">
              <a:avLst/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3882390" y="3246120"/>
              <a:ext cx="413385" cy="413385"/>
            </a:xfrm>
            <a:prstGeom prst="ellipse">
              <a:avLst/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4552950" y="3246120"/>
              <a:ext cx="413385" cy="413385"/>
            </a:xfrm>
            <a:prstGeom prst="ellipse">
              <a:avLst/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4879658" y="4094798"/>
              <a:ext cx="699135" cy="260032"/>
            </a:xfrm>
            <a:prstGeom prst="roundRect">
              <a:avLst>
                <a:gd name="adj" fmla="val 3663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5710238" y="3366135"/>
              <a:ext cx="381000" cy="260032"/>
            </a:xfrm>
            <a:prstGeom prst="roundRect">
              <a:avLst>
                <a:gd name="adj" fmla="val 3663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6250305" y="3308985"/>
              <a:ext cx="373380" cy="373380"/>
            </a:xfrm>
            <a:prstGeom prst="ellipse">
              <a:avLst/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429375" y="4094798"/>
              <a:ext cx="685800" cy="260032"/>
            </a:xfrm>
            <a:prstGeom prst="roundRect">
              <a:avLst>
                <a:gd name="adj" fmla="val 3663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5843588" y="4823460"/>
              <a:ext cx="516255" cy="260032"/>
            </a:xfrm>
            <a:prstGeom prst="roundRect">
              <a:avLst>
                <a:gd name="adj" fmla="val 3663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2594610" y="4071938"/>
              <a:ext cx="304800" cy="304800"/>
            </a:xfrm>
            <a:prstGeom prst="ellipse">
              <a:avLst/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3702368" y="3971925"/>
              <a:ext cx="504825" cy="504825"/>
            </a:xfrm>
            <a:prstGeom prst="ellipse">
              <a:avLst/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2125028" y="4800600"/>
              <a:ext cx="304800" cy="304800"/>
            </a:xfrm>
            <a:prstGeom prst="ellipse">
              <a:avLst/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3452812" y="4786312"/>
              <a:ext cx="333375" cy="333375"/>
            </a:xfrm>
            <a:prstGeom prst="ellipse">
              <a:avLst/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4257675" y="4786312"/>
              <a:ext cx="333375" cy="333375"/>
            </a:xfrm>
            <a:prstGeom prst="ellipse">
              <a:avLst/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2891790" y="5466398"/>
              <a:ext cx="381000" cy="260032"/>
            </a:xfrm>
            <a:prstGeom prst="roundRect">
              <a:avLst>
                <a:gd name="adj" fmla="val 3663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3730776" y="1720691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root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29644" y="2577941"/>
              <a:ext cx="2800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unix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041205" y="2577941"/>
              <a:ext cx="2038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bin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231660" y="2577941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usr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339758" y="2577941"/>
              <a:ext cx="1692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lib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311920" y="2577941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dev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452062" y="2577941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etc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660029" y="343519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cc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2482207" y="3435191"/>
              <a:ext cx="1276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vi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3155472" y="3392329"/>
              <a:ext cx="3908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users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3966384" y="3392329"/>
              <a:ext cx="2453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clib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4636944" y="3392329"/>
              <a:ext cx="2453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flib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4974929" y="4163854"/>
              <a:ext cx="5085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console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836912" y="3435191"/>
              <a:ext cx="1276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lp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335075" y="3435191"/>
              <a:ext cx="2038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bin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524905" y="4163854"/>
              <a:ext cx="4947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passwd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944386" y="4892516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yacc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2681518" y="4163854"/>
              <a:ext cx="1309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Li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3781246" y="4163854"/>
              <a:ext cx="3470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Wang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2234380" y="489251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3538359" y="489251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d1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4343221" y="489251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d2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3001149" y="553545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f1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3325178" y="5544979"/>
              <a:ext cx="73256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在 s 中名为 f2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99007" y="5490686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圆：目录　方框：文件</a:t>
              </a:r>
            </a:p>
          </p:txBody>
        </p:sp>
      </p:grpSp>
      <p:grpSp>
        <p:nvGrpSpPr>
          <p:cNvPr id="88" name="c2-card-1"/>
          <p:cNvGrpSpPr/>
          <p:nvPr/>
        </p:nvGrpSpPr>
        <p:grpSpPr>
          <a:xfrm>
            <a:off x="7546658" y="1524000"/>
            <a:ext cx="4111942" cy="2340292"/>
            <a:chOff x="7546658" y="1524000"/>
            <a:chExt cx="4111942" cy="2340292"/>
          </a:xfrm>
        </p:grpSpPr>
        <p:sp>
          <p:nvSpPr>
            <p:cNvPr id="79" name="Rectangle 79"/>
            <p:cNvSpPr/>
            <p:nvPr/>
          </p:nvSpPr>
          <p:spPr>
            <a:xfrm>
              <a:off x="7546658" y="1524000"/>
              <a:ext cx="4111942" cy="2340292"/>
            </a:xfrm>
            <a:prstGeom prst="roundRect">
              <a:avLst>
                <a:gd name="adj" fmla="val 569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7556182" y="1657350"/>
              <a:ext cx="47625" cy="2073592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7782878" y="172212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7866317" y="17564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多级目录</a:t>
              </a:r>
            </a:p>
          </p:txBody>
        </p:sp>
        <p:sp>
          <p:nvSpPr>
            <p:cNvPr id="83" name="Ellipse 83"/>
            <p:cNvSpPr/>
            <p:nvPr/>
          </p:nvSpPr>
          <p:spPr>
            <a:xfrm>
              <a:off x="7790498" y="214312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7947088" y="2082641"/>
              <a:ext cx="32605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目录文件中既可以登记普通文件，也可以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登记下一级目录，全部目录构成一棵树</a:t>
              </a:r>
            </a:p>
          </p:txBody>
        </p:sp>
        <p:sp>
          <p:nvSpPr>
            <p:cNvPr id="85" name="Ellipse 85"/>
            <p:cNvSpPr/>
            <p:nvPr/>
          </p:nvSpPr>
          <p:spPr>
            <a:xfrm>
              <a:off x="7790498" y="273177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7947088" y="2672239"/>
              <a:ext cx="32605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路径名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：从根沿树枝走到文件经过的名字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序列，如 /usr/users/Wang/d1/f1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776782" y="3257550"/>
              <a:ext cx="33802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虚线：Li 的目录 s 中的 f2 与 Wang 的 d1 中的 f1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是同一个文件（链接，见第三部分）。</a:t>
              </a:r>
            </a:p>
          </p:txBody>
        </p:sp>
      </p:grpSp>
      <p:grpSp>
        <p:nvGrpSpPr>
          <p:cNvPr id="103" name="c2-compare-2"/>
          <p:cNvGrpSpPr/>
          <p:nvPr/>
        </p:nvGrpSpPr>
        <p:grpSpPr>
          <a:xfrm>
            <a:off x="7546658" y="4044315"/>
            <a:ext cx="4111942" cy="1838325"/>
            <a:chOff x="7546658" y="4044315"/>
            <a:chExt cx="4111942" cy="1838325"/>
          </a:xfrm>
        </p:grpSpPr>
        <p:sp>
          <p:nvSpPr>
            <p:cNvPr id="89" name="Rectangle 89"/>
            <p:cNvSpPr/>
            <p:nvPr/>
          </p:nvSpPr>
          <p:spPr>
            <a:xfrm>
              <a:off x="7546658" y="4044315"/>
              <a:ext cx="1884045" cy="1838325"/>
            </a:xfrm>
            <a:prstGeom prst="roundRect">
              <a:avLst>
                <a:gd name="adj" fmla="val 725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0" name="Rectangle 90"/>
            <p:cNvSpPr/>
            <p:nvPr/>
          </p:nvSpPr>
          <p:spPr>
            <a:xfrm>
              <a:off x="7556182" y="4177665"/>
              <a:ext cx="47625" cy="157162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7775638" y="426577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解决了</a:t>
              </a:r>
            </a:p>
          </p:txBody>
        </p:sp>
        <p:sp>
          <p:nvSpPr>
            <p:cNvPr id="92" name="Ellipse 92"/>
            <p:cNvSpPr/>
            <p:nvPr/>
          </p:nvSpPr>
          <p:spPr>
            <a:xfrm>
              <a:off x="7790498" y="466153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7947088" y="4602004"/>
              <a:ext cx="10965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不同目录下可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以重名</a:t>
              </a:r>
            </a:p>
          </p:txBody>
        </p:sp>
        <p:sp>
          <p:nvSpPr>
            <p:cNvPr id="94" name="Ellipse 94"/>
            <p:cNvSpPr/>
            <p:nvPr/>
          </p:nvSpPr>
          <p:spPr>
            <a:xfrm>
              <a:off x="7790498" y="525113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7947088" y="5190649"/>
              <a:ext cx="10965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可以按用户、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按用途分组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9774555" y="4044315"/>
              <a:ext cx="1884045" cy="1838325"/>
            </a:xfrm>
            <a:prstGeom prst="roundRect">
              <a:avLst>
                <a:gd name="adj" fmla="val 725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7" name="Rectangle 97"/>
            <p:cNvSpPr/>
            <p:nvPr/>
          </p:nvSpPr>
          <p:spPr>
            <a:xfrm>
              <a:off x="9784080" y="4177665"/>
              <a:ext cx="47625" cy="157162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10003536" y="426577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99" name="Ellipse 99"/>
            <p:cNvSpPr/>
            <p:nvPr/>
          </p:nvSpPr>
          <p:spPr>
            <a:xfrm>
              <a:off x="10018395" y="466153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10174986" y="4602004"/>
              <a:ext cx="10965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路径越深，查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找时读的目录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越多</a:t>
              </a:r>
            </a:p>
          </p:txBody>
        </p:sp>
        <p:sp>
          <p:nvSpPr>
            <p:cNvPr id="101" name="Ellipse 101"/>
            <p:cNvSpPr/>
            <p:nvPr/>
          </p:nvSpPr>
          <p:spPr>
            <a:xfrm>
              <a:off x="9441180" y="4801552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9511520" y="489775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10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4" name="TextBox 104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第8章 文件系统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文件系统 · 文件目录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目录查找：沿路径逐级查目录文件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table-1"/>
          <p:cNvGrpSpPr/>
          <p:nvPr/>
        </p:nvGrpSpPr>
        <p:grpSpPr>
          <a:xfrm>
            <a:off x="533400" y="1524000"/>
            <a:ext cx="4977765" cy="1800225"/>
            <a:chOff x="533400" y="1524000"/>
            <a:chExt cx="4977765" cy="18002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29056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查找路径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59025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1223" y="222170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由根目录开始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134743" y="2108359"/>
              <a:ext cx="19230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路径名以 / 开头，如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/usr/users/Wang/d1/f1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64318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647950"/>
              <a:ext cx="497776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1223" y="289702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由当前目录开始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134743" y="2783681"/>
              <a:ext cx="311785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相对路径，如当前目录为 /usr/users 时写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Wang/d1/f1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1524000"/>
              <a:ext cx="4977765" cy="18002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2022158" y="1524000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3" name="c1-table-2"/>
          <p:cNvGrpSpPr/>
          <p:nvPr/>
        </p:nvGrpSpPr>
        <p:grpSpPr>
          <a:xfrm>
            <a:off x="533400" y="3514725"/>
            <a:ext cx="4977765" cy="2475548"/>
            <a:chOff x="533400" y="3514725"/>
            <a:chExt cx="4977765" cy="2475548"/>
          </a:xfrm>
        </p:grpSpPr>
        <p:sp>
          <p:nvSpPr>
            <p:cNvPr id="19" name="Rectangle 19"/>
            <p:cNvSpPr/>
            <p:nvPr/>
          </p:nvSpPr>
          <p:spPr>
            <a:xfrm>
              <a:off x="533400" y="3514725"/>
              <a:ext cx="4977765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29056" y="364950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查找算法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90252" y="364950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1223" y="4098131"/>
              <a:ext cx="67091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顺序查找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（UNIX）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134743" y="4211479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逐项比较文件名，实现简单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463391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4638675"/>
              <a:ext cx="497776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1223" y="4887754"/>
              <a:ext cx="8099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hash 查找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34743" y="4774406"/>
              <a:ext cx="27764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由文件名算出位置，速度快（即前面的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Hash 结构）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530923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556307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对分查找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134743" y="5449729"/>
              <a:ext cx="31015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要求目录项按文件名排序，增删目录项时要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维护顺序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514725"/>
              <a:ext cx="4977765" cy="24755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2022158" y="3514725"/>
              <a:ext cx="9525" cy="2475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7" name="c2-steps-1"/>
          <p:cNvGrpSpPr/>
          <p:nvPr/>
        </p:nvGrpSpPr>
        <p:grpSpPr>
          <a:xfrm>
            <a:off x="5815965" y="1533525"/>
            <a:ext cx="5663910" cy="2112931"/>
            <a:chOff x="5815965" y="1533525"/>
            <a:chExt cx="5663910" cy="2112931"/>
          </a:xfrm>
        </p:grpSpPr>
        <p:sp>
          <p:nvSpPr>
            <p:cNvPr id="34" name="Rectangle 34"/>
            <p:cNvSpPr/>
            <p:nvPr/>
          </p:nvSpPr>
          <p:spPr>
            <a:xfrm>
              <a:off x="5949315" y="1676400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5815965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90958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5815965" y="218408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909589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5815965" y="283464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909589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227445" y="156781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从根目录开始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228588" y="1861661"/>
              <a:ext cx="52512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读根目录的 inode 和目录文件，顺序查找 usr，得到 usr 的 inode 号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227445" y="221837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逐级向下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228588" y="2512219"/>
              <a:ext cx="48787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 usr 的 inode 和目录文件，查找 users；再依次查 Wang、d1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227445" y="286893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找到文件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228588" y="3162776"/>
              <a:ext cx="515797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d1 中找到目录项 (f1, 15)，读入 15 号 inode，由其中的地址访问数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</a:t>
              </a:r>
            </a:p>
          </p:txBody>
        </p:sp>
      </p:grpSp>
      <p:grpSp>
        <p:nvGrpSpPr>
          <p:cNvPr id="67" name="c2-cells-2"/>
          <p:cNvGrpSpPr/>
          <p:nvPr/>
        </p:nvGrpSpPr>
        <p:grpSpPr>
          <a:xfrm>
            <a:off x="5810250" y="3870960"/>
            <a:ext cx="4657726" cy="995362"/>
            <a:chOff x="5810250" y="3870960"/>
            <a:chExt cx="4657726" cy="995362"/>
          </a:xfrm>
        </p:grpSpPr>
        <p:sp>
          <p:nvSpPr>
            <p:cNvPr id="48" name="TextBox 48"/>
            <p:cNvSpPr txBox="1"/>
            <p:nvPr/>
          </p:nvSpPr>
          <p:spPr>
            <a:xfrm>
              <a:off x="5810250" y="42600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路径分量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517958" y="4120515"/>
              <a:ext cx="658178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798271" y="42600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/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176135" y="4120515"/>
              <a:ext cx="65817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369377" y="4260056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usr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834312" y="4120515"/>
              <a:ext cx="65817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940482" y="4260056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users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8493442" y="4120515"/>
              <a:ext cx="65817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623676" y="4260056"/>
              <a:ext cx="3967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Wang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9151620" y="4120515"/>
              <a:ext cx="65817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387445" y="426005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d1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9809798" y="4120515"/>
              <a:ext cx="658178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0046575" y="426005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f1</a:t>
              </a:r>
            </a:p>
          </p:txBody>
        </p:sp>
        <p:sp>
          <p:nvSpPr>
            <p:cNvPr id="61" name="Freeform 61"/>
            <p:cNvSpPr/>
            <p:nvPr/>
          </p:nvSpPr>
          <p:spPr>
            <a:xfrm>
              <a:off x="6809422" y="455866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479286" y="4690110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绝对路径起点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916799" y="387096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当前目录</a:t>
              </a:r>
            </a:p>
          </p:txBody>
        </p:sp>
        <p:sp>
          <p:nvSpPr>
            <p:cNvPr id="64" name="Freeform 64"/>
            <p:cNvSpPr/>
            <p:nvPr/>
          </p:nvSpPr>
          <p:spPr>
            <a:xfrm>
              <a:off x="8125778" y="402526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65" name="Freeform 65"/>
            <p:cNvSpPr/>
            <p:nvPr/>
          </p:nvSpPr>
          <p:spPr>
            <a:xfrm>
              <a:off x="10101262" y="455866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892284" y="469011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目标文件</a:t>
              </a:r>
            </a:p>
          </p:txBody>
        </p:sp>
      </p:grpSp>
      <p:grpSp>
        <p:nvGrpSpPr>
          <p:cNvPr id="74" name="c2-callout-3"/>
          <p:cNvGrpSpPr/>
          <p:nvPr/>
        </p:nvGrpSpPr>
        <p:grpSpPr>
          <a:xfrm>
            <a:off x="5815965" y="4996815"/>
            <a:ext cx="5842635" cy="1059180"/>
            <a:chOff x="5815965" y="4996815"/>
            <a:chExt cx="5842635" cy="1059180"/>
          </a:xfrm>
        </p:grpSpPr>
        <p:sp>
          <p:nvSpPr>
            <p:cNvPr id="68" name="Rectangle 68"/>
            <p:cNvSpPr/>
            <p:nvPr/>
          </p:nvSpPr>
          <p:spPr>
            <a:xfrm>
              <a:off x="5815965" y="4996815"/>
              <a:ext cx="5842635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6020753" y="5426393"/>
              <a:ext cx="200026" cy="200025"/>
              <a:chOff x="6020753" y="5426393"/>
              <a:chExt cx="200026" cy="200025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6020753" y="542639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6060491" y="547084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6095207" y="558196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6322695" y="5145405"/>
              <a:ext cx="47967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路径每多一级，就要多读一个 inode 和至少一块目录文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件。当前目录为 /usr/users 时写 Wang/d1/f1，省去查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根目录和 usr 两级。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第8章 文件系统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47619" cy="909257"/>
            <a:chOff x="520446" y="342900"/>
            <a:chExt cx="694761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文件系统 · 文件目录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4761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FCB 分成次部和主部：目录项只留名字和编号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cells-1"/>
          <p:cNvGrpSpPr/>
          <p:nvPr/>
        </p:nvGrpSpPr>
        <p:grpSpPr>
          <a:xfrm>
            <a:off x="528066" y="1524000"/>
            <a:ext cx="4704969" cy="949643"/>
            <a:chOff x="528066" y="1524000"/>
            <a:chExt cx="4704969" cy="949643"/>
          </a:xfrm>
        </p:grpSpPr>
        <p:sp>
          <p:nvSpPr>
            <p:cNvPr id="7" name="TextBox 7"/>
            <p:cNvSpPr txBox="1"/>
            <p:nvPr/>
          </p:nvSpPr>
          <p:spPr>
            <a:xfrm>
              <a:off x="528066" y="165544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次部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33450" y="1524000"/>
              <a:ext cx="1377315" cy="394335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18152" y="1655445"/>
              <a:ext cx="12079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文件名（14 字节）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310765" y="1524000"/>
              <a:ext cx="1377315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436282" y="1655445"/>
              <a:ext cx="11262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文件号（2 字节）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28066" y="22107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主部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33450" y="2079308"/>
              <a:ext cx="71628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45076" y="2210752"/>
              <a:ext cx="4930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i_mode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649730" y="2079308"/>
              <a:ext cx="716280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773440" y="2210752"/>
              <a:ext cx="4707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i_nlink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2366962" y="2079308"/>
              <a:ext cx="71628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471167" y="2210752"/>
              <a:ext cx="5078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uid/gid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083242" y="2079308"/>
              <a:ext cx="71628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295650" y="22107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长度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800475" y="2079308"/>
              <a:ext cx="71628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926943" y="2210752"/>
              <a:ext cx="463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i_addr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516755" y="2079308"/>
              <a:ext cx="71628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728210" y="22107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</a:t>
              </a:r>
            </a:p>
          </p:txBody>
        </p:sp>
      </p:grpSp>
      <p:grpSp>
        <p:nvGrpSpPr>
          <p:cNvPr id="45" name="c1-table-2"/>
          <p:cNvGrpSpPr/>
          <p:nvPr/>
        </p:nvGrpSpPr>
        <p:grpSpPr>
          <a:xfrm>
            <a:off x="533400" y="2653665"/>
            <a:ext cx="5193982" cy="1486852"/>
            <a:chOff x="533400" y="2653665"/>
            <a:chExt cx="5193982" cy="1486852"/>
          </a:xfrm>
        </p:grpSpPr>
        <p:sp>
          <p:nvSpPr>
            <p:cNvPr id="26" name="Rectangle 26"/>
            <p:cNvSpPr/>
            <p:nvPr/>
          </p:nvSpPr>
          <p:spPr>
            <a:xfrm>
              <a:off x="533400" y="2653665"/>
              <a:ext cx="5193982" cy="4248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29615" y="278130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部分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871662" y="278130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内容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916860" y="2781300"/>
              <a:ext cx="7385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UNIX 大小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411408" y="278130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存放位置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5889" y="320611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次部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362646" y="3206115"/>
              <a:ext cx="12964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(文件名, 文件号)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920937" y="3206115"/>
              <a:ext cx="5614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 字节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856292" y="320611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目录文件中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49758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3502342"/>
              <a:ext cx="5193982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5889" y="37376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362646" y="3630930"/>
              <a:ext cx="12313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其它信息、链接计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920937" y="3737610"/>
              <a:ext cx="5614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 字节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856292" y="3630930"/>
              <a:ext cx="155143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外存 inode 区，打开时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读入内存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2653665"/>
              <a:ext cx="5193982" cy="14868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1255395" y="2653665"/>
              <a:ext cx="9525" cy="1486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2813685" y="2653665"/>
              <a:ext cx="9525" cy="1486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3749040" y="2653665"/>
              <a:ext cx="9525" cy="1486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5" name="c1-card-3"/>
          <p:cNvGrpSpPr/>
          <p:nvPr/>
        </p:nvGrpSpPr>
        <p:grpSpPr>
          <a:xfrm>
            <a:off x="533400" y="4320540"/>
            <a:ext cx="5193982" cy="1568768"/>
            <a:chOff x="533400" y="4320540"/>
            <a:chExt cx="5193982" cy="1568768"/>
          </a:xfrm>
        </p:grpSpPr>
        <p:sp>
          <p:nvSpPr>
            <p:cNvPr id="46" name="Rectangle 46"/>
            <p:cNvSpPr/>
            <p:nvPr/>
          </p:nvSpPr>
          <p:spPr>
            <a:xfrm>
              <a:off x="533400" y="4320540"/>
              <a:ext cx="5193982" cy="1568768"/>
            </a:xfrm>
            <a:prstGeom prst="roundRect">
              <a:avLst>
                <a:gd name="adj" fmla="val 85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731520" y="4518660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10958" y="455295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改进的好处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731520" y="4866322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89865" y="490666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22413" y="4879181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提高查找速度（顺序查找时读盘少）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731520" y="5184458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89865" y="522479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22413" y="5196364"/>
              <a:ext cx="428853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可以实现文件链接（link）：多个目录项指向同一个主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部，主部中记链接计数</a:t>
              </a:r>
            </a:p>
          </p:txBody>
        </p:sp>
      </p:grpSp>
      <p:grpSp>
        <p:nvGrpSpPr>
          <p:cNvPr id="82" name="c2-card-1"/>
          <p:cNvGrpSpPr/>
          <p:nvPr/>
        </p:nvGrpSpPr>
        <p:grpSpPr>
          <a:xfrm>
            <a:off x="6032182" y="1524000"/>
            <a:ext cx="5626418" cy="4365308"/>
            <a:chOff x="6032182" y="1524000"/>
            <a:chExt cx="5626418" cy="4365308"/>
          </a:xfrm>
        </p:grpSpPr>
        <p:sp>
          <p:nvSpPr>
            <p:cNvPr id="56" name="Rectangle 56"/>
            <p:cNvSpPr/>
            <p:nvPr/>
          </p:nvSpPr>
          <p:spPr>
            <a:xfrm>
              <a:off x="6032182" y="1524000"/>
              <a:ext cx="5626418" cy="4365308"/>
            </a:xfrm>
            <a:prstGeom prst="roundRect">
              <a:avLst>
                <a:gd name="adj" fmla="val 30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6041708" y="1657350"/>
              <a:ext cx="47625" cy="409860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268402" y="1722120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363843" y="175641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718364" y="175688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为什么查找变快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261164" y="2100739"/>
              <a:ext cx="450674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设块长 512 字节，目录中有 320 个文件，顺序查找。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268402" y="2394585"/>
              <a:ext cx="5192078" cy="4248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859524" y="252317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目录项内容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422386" y="252317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每块项数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379839" y="252317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目录占块数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493311" y="252317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平均读块数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370892" y="2947988"/>
              <a:ext cx="17808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完整 FCB（按 48 字节）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656625" y="294798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694850" y="294798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808322" y="294798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268402" y="3239452"/>
              <a:ext cx="51920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6268402" y="3244215"/>
              <a:ext cx="5192078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370892" y="3371850"/>
              <a:ext cx="15420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只存次部（16 字节）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656625" y="337185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694850" y="337185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852747" y="33718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6268402" y="2394585"/>
              <a:ext cx="5192078" cy="127349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8265795" y="2394585"/>
              <a:ext cx="9525" cy="12734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9227820" y="2394585"/>
              <a:ext cx="9525" cy="12734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10342245" y="2394585"/>
              <a:ext cx="9525" cy="12734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262306" y="3777615"/>
              <a:ext cx="47213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平均要比较一半目录项（160 项）；找到后再读 1 次 inode。目录项越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小，一块装得越多，读盘越少。</a:t>
              </a:r>
            </a:p>
          </p:txBody>
        </p:sp>
      </p:grpSp>
      <p:grpSp>
        <p:nvGrpSpPr>
          <p:cNvPr id="8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3" name="TextBox 83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第8章 文件系统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6789" cy="909257"/>
            <a:chOff x="520446" y="342900"/>
            <a:chExt cx="826678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文件系统 · 文件目录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678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UNIX 文件卷的布局：由 inode 号直接算出 inode 位置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ells-1"/>
          <p:cNvGrpSpPr/>
          <p:nvPr/>
        </p:nvGrpSpPr>
        <p:grpSpPr>
          <a:xfrm>
            <a:off x="527685" y="1524000"/>
            <a:ext cx="4072890" cy="419100"/>
            <a:chOff x="527685" y="1524000"/>
            <a:chExt cx="4072890" cy="419100"/>
          </a:xfrm>
        </p:grpSpPr>
        <p:sp>
          <p:nvSpPr>
            <p:cNvPr id="7" name="TextBox 7"/>
            <p:cNvSpPr txBox="1"/>
            <p:nvPr/>
          </p:nvSpPr>
          <p:spPr>
            <a:xfrm>
              <a:off x="527685" y="166354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块号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51548" y="1524000"/>
              <a:ext cx="912495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358544" y="16635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863090" y="1524000"/>
              <a:ext cx="912495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270086" y="16635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775585" y="1524000"/>
              <a:ext cx="912495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048015" y="1663541"/>
              <a:ext cx="3676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2 … k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688080" y="1524000"/>
              <a:ext cx="91249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786366" y="1663541"/>
              <a:ext cx="7159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k+1 … n−1</a:t>
              </a:r>
            </a:p>
          </p:txBody>
        </p:sp>
      </p:grpSp>
      <p:grpSp>
        <p:nvGrpSpPr>
          <p:cNvPr id="41" name="c1-table-2"/>
          <p:cNvGrpSpPr/>
          <p:nvPr/>
        </p:nvGrpSpPr>
        <p:grpSpPr>
          <a:xfrm>
            <a:off x="533400" y="2133600"/>
            <a:ext cx="5951220" cy="2470786"/>
            <a:chOff x="533400" y="2133600"/>
            <a:chExt cx="5951220" cy="2470786"/>
          </a:xfrm>
        </p:grpSpPr>
        <p:sp>
          <p:nvSpPr>
            <p:cNvPr id="17" name="Rectangle 17"/>
            <p:cNvSpPr/>
            <p:nvPr/>
          </p:nvSpPr>
          <p:spPr>
            <a:xfrm>
              <a:off x="533400" y="2133600"/>
              <a:ext cx="595122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9922" y="22693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块号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318664" y="22693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区域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98962" y="22693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1223" y="27179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831848" y="271795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导引块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378708" y="271795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引导程序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02609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3030855"/>
              <a:ext cx="595122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1223" y="327993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831848" y="327993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超级块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378708" y="3166586"/>
              <a:ext cx="279273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卷的管理信息：空闲块、空闲 inode 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（原课件有一页称为特殊块）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70236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1223" y="3841909"/>
              <a:ext cx="4200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– k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831848" y="3841909"/>
              <a:ext cx="6677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inode 区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378708" y="3841909"/>
              <a:ext cx="27096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每块 16 个 inode，从 0 起依次编号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15099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4155758"/>
              <a:ext cx="595122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1223" y="4290536"/>
              <a:ext cx="8180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k+1 – n−1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831848" y="429053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文件存储区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378708" y="4290536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普通文件、目录文件的数据块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2133600"/>
              <a:ext cx="5951220" cy="24707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1719262" y="2133600"/>
              <a:ext cx="9525" cy="2470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3266122" y="2133600"/>
              <a:ext cx="9525" cy="2470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8" name="c1-callout-3"/>
          <p:cNvGrpSpPr/>
          <p:nvPr/>
        </p:nvGrpSpPr>
        <p:grpSpPr>
          <a:xfrm>
            <a:off x="533400" y="4794885"/>
            <a:ext cx="5951220" cy="782955"/>
            <a:chOff x="533400" y="4794885"/>
            <a:chExt cx="5951220" cy="782955"/>
          </a:xfrm>
        </p:grpSpPr>
        <p:sp>
          <p:nvSpPr>
            <p:cNvPr id="42" name="Rectangle 42"/>
            <p:cNvSpPr/>
            <p:nvPr/>
          </p:nvSpPr>
          <p:spPr>
            <a:xfrm>
              <a:off x="533400" y="4794885"/>
              <a:ext cx="595122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5086350"/>
              <a:ext cx="200026" cy="200026"/>
              <a:chOff x="738188" y="5086350"/>
              <a:chExt cx="200026" cy="200026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738188" y="508635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38200" y="51530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27088" y="518636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130" y="4943475"/>
              <a:ext cx="49587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超级块在文件卷安装（mount）后读入内存；已占用的块不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必登记，它们记在各文件的 inode 中。</a:t>
              </a:r>
            </a:p>
          </p:txBody>
        </p:sp>
      </p:grpSp>
      <p:grpSp>
        <p:nvGrpSpPr>
          <p:cNvPr id="62" name="c2-card-1"/>
          <p:cNvGrpSpPr/>
          <p:nvPr/>
        </p:nvGrpSpPr>
        <p:grpSpPr>
          <a:xfrm>
            <a:off x="6789420" y="1524000"/>
            <a:ext cx="4869180" cy="2872740"/>
            <a:chOff x="6789420" y="1524000"/>
            <a:chExt cx="4869180" cy="2872740"/>
          </a:xfrm>
        </p:grpSpPr>
        <p:sp>
          <p:nvSpPr>
            <p:cNvPr id="49" name="Rectangle 49"/>
            <p:cNvSpPr/>
            <p:nvPr/>
          </p:nvSpPr>
          <p:spPr>
            <a:xfrm>
              <a:off x="6789420" y="1524000"/>
              <a:ext cx="4869180" cy="2872740"/>
            </a:xfrm>
            <a:prstGeom prst="roundRect">
              <a:avLst>
                <a:gd name="adj" fmla="val 464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798945" y="1657350"/>
              <a:ext cx="47625" cy="260604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7037070" y="173355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132180" y="176926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495223" y="1768792"/>
              <a:ext cx="17770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37 号 inode 在哪里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029450" y="2129790"/>
              <a:ext cx="41776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每块 16 个 inode，每个 32 字节，inode 区从块 2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开始：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7042785" y="28136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200900" y="2750820"/>
              <a:ext cx="29230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块号 = 2 + ⌊37 / 16⌋ = 2 + 2 = 4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7042785" y="314896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200900" y="3086100"/>
              <a:ext cx="23374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块内序号 = 37 mod 16 = 5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7042785" y="348424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200900" y="3421380"/>
              <a:ext cx="26504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块内偏移 = 5 × 32 = 160 字节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030593" y="3753326"/>
              <a:ext cx="406069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同理，0 号在块 2 开头，15 号在块 2 的第 480 字节，16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号在块 3 开头。</a:t>
              </a:r>
            </a:p>
          </p:txBody>
        </p:sp>
      </p:grpSp>
      <p:grpSp>
        <p:nvGrpSpPr>
          <p:cNvPr id="68" name="c2-callout-2"/>
          <p:cNvGrpSpPr/>
          <p:nvPr/>
        </p:nvGrpSpPr>
        <p:grpSpPr>
          <a:xfrm>
            <a:off x="6789420" y="4587240"/>
            <a:ext cx="4869180" cy="782955"/>
            <a:chOff x="6789420" y="4587240"/>
            <a:chExt cx="4869180" cy="782955"/>
          </a:xfrm>
        </p:grpSpPr>
        <p:sp>
          <p:nvSpPr>
            <p:cNvPr id="63" name="Rectangle 63"/>
            <p:cNvSpPr/>
            <p:nvPr/>
          </p:nvSpPr>
          <p:spPr>
            <a:xfrm>
              <a:off x="6789420" y="4587240"/>
              <a:ext cx="4869180" cy="782955"/>
            </a:xfrm>
            <a:prstGeom prst="roundRect">
              <a:avLst>
                <a:gd name="adj" fmla="val 1459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6994208" y="4878707"/>
              <a:ext cx="200023" cy="200023"/>
              <a:chOff x="6994208" y="4878707"/>
              <a:chExt cx="200023" cy="200023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6994208" y="487870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127558" y="494538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7296150" y="4735830"/>
              <a:ext cx="39776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inode 的位置由编号直接算出，所以目录项只需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要记 2 字节的 inode 号。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第8章 文件系统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801868" cy="3351847"/>
            <a:chOff x="667512" y="1835468"/>
            <a:chExt cx="5801868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3675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共享、保护、保密与安全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791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让多个用户用同一个文件，同时防止越权访问、泄密和损坏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186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8.5 文件的共享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3672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8.6.1 保护：存取控制矩阵与 i_mode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465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8.6.2 保密：口令与加密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650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8.6.3 安全：转储与磁盘整理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第8章 文件系统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文件系统 · 共享、保护、保密与安全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文件共享：多个目录项指向同一个文件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table-1"/>
          <p:cNvGrpSpPr/>
          <p:nvPr/>
        </p:nvGrpSpPr>
        <p:grpSpPr>
          <a:xfrm>
            <a:off x="533400" y="1524000"/>
            <a:ext cx="4869180" cy="2000250"/>
            <a:chOff x="533400" y="1524000"/>
            <a:chExt cx="4869180" cy="20002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869180" cy="40005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98855" y="1645444"/>
              <a:ext cx="621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8.5 共享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68780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0555" y="2045494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目的：节省存储空间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383155" y="2045494"/>
              <a:ext cx="20393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cc、vi、yacc 等程序只存一份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31933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324100"/>
              <a:ext cx="486918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0555" y="2445544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目的：进程相互通讯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383155" y="2445544"/>
              <a:ext cx="10257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UNIX 的 pipe()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71938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0555" y="284559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模式：不同时使用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383155" y="284559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根据共享说明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11943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124200"/>
              <a:ext cx="486918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0555" y="324564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模式：同时使用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383155" y="3245644"/>
              <a:ext cx="2514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根据共享说明和（relaxed）读写规则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4869180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281238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4" name="c1-kv-2"/>
          <p:cNvGrpSpPr/>
          <p:nvPr/>
        </p:nvGrpSpPr>
        <p:grpSpPr>
          <a:xfrm>
            <a:off x="526542" y="3716655"/>
            <a:ext cx="4876038" cy="1048893"/>
            <a:chOff x="526542" y="3716655"/>
            <a:chExt cx="4876038" cy="1048893"/>
          </a:xfrm>
        </p:grpSpPr>
        <p:sp>
          <p:nvSpPr>
            <p:cNvPr id="26" name="TextBox 26"/>
            <p:cNvSpPr txBox="1"/>
            <p:nvPr/>
          </p:nvSpPr>
          <p:spPr>
            <a:xfrm>
              <a:off x="526542" y="371665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公共目录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506664" y="3716655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把共享文件放在大家都能访问的目录中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00240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26542" y="410908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共享说明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506664" y="4109085"/>
              <a:ext cx="2205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FCB 中记录谁可以怎样使用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439483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26542" y="4501515"/>
              <a:ext cx="7588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连接 link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506664" y="4501515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在自己的目录中建一个目录项指向同一文件</a:t>
              </a:r>
            </a:p>
          </p:txBody>
        </p:sp>
      </p:grpSp>
      <p:grpSp>
        <p:nvGrpSpPr>
          <p:cNvPr id="64" name="c2-graph-1"/>
          <p:cNvGrpSpPr/>
          <p:nvPr/>
        </p:nvGrpSpPr>
        <p:grpSpPr>
          <a:xfrm>
            <a:off x="6336596" y="1484948"/>
            <a:ext cx="4707075" cy="2827019"/>
            <a:chOff x="6336596" y="1484948"/>
            <a:chExt cx="4707075" cy="2827019"/>
          </a:xfrm>
        </p:grpSpPr>
        <p:sp>
          <p:nvSpPr>
            <p:cNvPr id="35" name="Freeform 35"/>
            <p:cNvSpPr/>
            <p:nvPr/>
          </p:nvSpPr>
          <p:spPr>
            <a:xfrm>
              <a:off x="8682990" y="1972628"/>
              <a:ext cx="9525" cy="110490"/>
            </a:xfrm>
            <a:custGeom>
              <a:avLst/>
              <a:gdLst/>
              <a:ahLst/>
              <a:cxnLst/>
              <a:rect l="l" t="t" r="r" b="b"/>
              <a:pathLst>
                <a:path w="9525" h="110490">
                  <a:moveTo>
                    <a:pt x="0" y="0"/>
                  </a:moveTo>
                  <a:lnTo>
                    <a:pt x="0" y="11049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8682990" y="2507932"/>
              <a:ext cx="9525" cy="74295"/>
            </a:xfrm>
            <a:custGeom>
              <a:avLst/>
              <a:gdLst/>
              <a:ahLst/>
              <a:cxnLst/>
              <a:rect l="l" t="t" r="r" b="b"/>
              <a:pathLst>
                <a:path w="9525" h="74295">
                  <a:moveTo>
                    <a:pt x="0" y="0"/>
                  </a:moveTo>
                  <a:lnTo>
                    <a:pt x="0" y="7429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7522845" y="2975610"/>
              <a:ext cx="897255" cy="372428"/>
            </a:xfrm>
            <a:custGeom>
              <a:avLst/>
              <a:gdLst/>
              <a:ahLst/>
              <a:cxnLst/>
              <a:rect l="l" t="t" r="r" b="b"/>
              <a:pathLst>
                <a:path w="897255" h="372428">
                  <a:moveTo>
                    <a:pt x="897255" y="0"/>
                  </a:moveTo>
                  <a:lnTo>
                    <a:pt x="0" y="37242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8949690" y="2966085"/>
              <a:ext cx="797242" cy="295275"/>
            </a:xfrm>
            <a:custGeom>
              <a:avLst/>
              <a:gdLst/>
              <a:ahLst/>
              <a:cxnLst/>
              <a:rect l="l" t="t" r="r" b="b"/>
              <a:pathLst>
                <a:path w="797242" h="295275">
                  <a:moveTo>
                    <a:pt x="0" y="0"/>
                  </a:moveTo>
                  <a:lnTo>
                    <a:pt x="797242" y="2952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9992678" y="3614738"/>
              <a:ext cx="9525" cy="76200"/>
            </a:xfrm>
            <a:custGeom>
              <a:avLst/>
              <a:gdLst/>
              <a:ahLst/>
              <a:cxnLst/>
              <a:rect l="l" t="t" r="r" b="b"/>
              <a:pathLst>
                <a:path w="9525"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9317355" y="3908108"/>
              <a:ext cx="502920" cy="120967"/>
            </a:xfrm>
            <a:custGeom>
              <a:avLst/>
              <a:gdLst/>
              <a:ahLst/>
              <a:cxnLst/>
              <a:rect l="l" t="t" r="r" b="b"/>
              <a:pathLst>
                <a:path w="502920" h="120967">
                  <a:moveTo>
                    <a:pt x="502920" y="0"/>
                  </a:moveTo>
                  <a:lnTo>
                    <a:pt x="0" y="12096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9224962" y="3983355"/>
              <a:ext cx="102870" cy="92392"/>
            </a:xfrm>
            <a:custGeom>
              <a:avLst/>
              <a:gdLst/>
              <a:ahLst/>
              <a:cxnLst/>
              <a:rect l="l" t="t" r="r" b="b"/>
              <a:pathLst>
                <a:path w="102870" h="92392">
                  <a:moveTo>
                    <a:pt x="0" y="68580"/>
                  </a:moveTo>
                  <a:lnTo>
                    <a:pt x="80962" y="0"/>
                  </a:lnTo>
                  <a:lnTo>
                    <a:pt x="102870" y="9239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7513320" y="3491865"/>
              <a:ext cx="866775" cy="511492"/>
            </a:xfrm>
            <a:custGeom>
              <a:avLst/>
              <a:gdLst/>
              <a:ahLst/>
              <a:cxnLst/>
              <a:rect l="l" t="t" r="r" b="b"/>
              <a:pathLst>
                <a:path w="866775" h="511492">
                  <a:moveTo>
                    <a:pt x="0" y="0"/>
                  </a:moveTo>
                  <a:lnTo>
                    <a:pt x="866775" y="511492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43" name="Freeform 43"/>
            <p:cNvSpPr/>
            <p:nvPr/>
          </p:nvSpPr>
          <p:spPr>
            <a:xfrm>
              <a:off x="8356282" y="3962400"/>
              <a:ext cx="105728" cy="89535"/>
            </a:xfrm>
            <a:custGeom>
              <a:avLst/>
              <a:gdLst/>
              <a:ahLst/>
              <a:cxnLst/>
              <a:rect l="l" t="t" r="r" b="b"/>
              <a:pathLst>
                <a:path w="105728" h="89535">
                  <a:moveTo>
                    <a:pt x="105728" y="89535"/>
                  </a:moveTo>
                  <a:lnTo>
                    <a:pt x="0" y="81915"/>
                  </a:lnTo>
                  <a:lnTo>
                    <a:pt x="4857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443912" y="1484948"/>
              <a:ext cx="478155" cy="478155"/>
            </a:xfrm>
            <a:prstGeom prst="ellipse">
              <a:avLst/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8480108" y="2092642"/>
              <a:ext cx="405765" cy="405765"/>
            </a:xfrm>
            <a:prstGeom prst="ellipse">
              <a:avLst/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8407718" y="2591752"/>
              <a:ext cx="550545" cy="550545"/>
            </a:xfrm>
            <a:prstGeom prst="ellipse">
              <a:avLst/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7220902" y="3257550"/>
              <a:ext cx="304800" cy="304800"/>
            </a:xfrm>
            <a:prstGeom prst="ellipse">
              <a:avLst/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9740265" y="3100388"/>
              <a:ext cx="504825" cy="504825"/>
            </a:xfrm>
            <a:prstGeom prst="ellipse">
              <a:avLst/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9825990" y="3700462"/>
              <a:ext cx="333375" cy="333375"/>
            </a:xfrm>
            <a:prstGeom prst="ellipse">
              <a:avLst/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8137208" y="4051935"/>
              <a:ext cx="1091565" cy="260032"/>
            </a:xfrm>
            <a:prstGeom prst="roundRect">
              <a:avLst>
                <a:gd name="adj" fmla="val 3663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525661" y="1663541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root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563755" y="2235041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usr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487567" y="2806541"/>
              <a:ext cx="3908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users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326792" y="3349466"/>
              <a:ext cx="930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li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336596" y="3358991"/>
              <a:ext cx="83191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目录项 (f2, 15)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821496" y="3292316"/>
              <a:ext cx="3423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wang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911536" y="380666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d1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211752" y="3816191"/>
              <a:ext cx="83191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目录项 (f1, 15)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220908" y="4120991"/>
              <a:ext cx="9241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i_number = 15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9426892" y="3901440"/>
              <a:ext cx="19050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456666" y="393049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f1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7892415" y="3692842"/>
              <a:ext cx="19050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922189" y="372284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f2</a:t>
              </a:r>
            </a:p>
          </p:txBody>
        </p:sp>
      </p:grpSp>
      <p:grpSp>
        <p:nvGrpSpPr>
          <p:cNvPr id="68" name="c2-code-2"/>
          <p:cNvGrpSpPr/>
          <p:nvPr/>
        </p:nvGrpSpPr>
        <p:grpSpPr>
          <a:xfrm>
            <a:off x="5707380" y="4551045"/>
            <a:ext cx="5951220" cy="858202"/>
            <a:chOff x="5707380" y="4551045"/>
            <a:chExt cx="5951220" cy="858202"/>
          </a:xfrm>
        </p:grpSpPr>
        <p:sp>
          <p:nvSpPr>
            <p:cNvPr id="65" name="Rectangle 65"/>
            <p:cNvSpPr/>
            <p:nvPr/>
          </p:nvSpPr>
          <p:spPr>
            <a:xfrm>
              <a:off x="5707380" y="4551045"/>
              <a:ext cx="5951220" cy="858202"/>
            </a:xfrm>
            <a:prstGeom prst="roundRect">
              <a:avLst>
                <a:gd name="adj" fmla="val 1109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835777" y="470296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835777" y="4963954"/>
              <a:ext cx="3432556" cy="3669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link(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"/usr/users/wang/d1/f1"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"/usr/users/li/f2"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unlink(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"/usr/users/wang/d1/f1"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</a:p>
          </p:txBody>
        </p:sp>
      </p:grpSp>
      <p:grpSp>
        <p:nvGrpSpPr>
          <p:cNvPr id="75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69" name="Rectangle 69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1040892" y="6028373"/>
              <a:ext cx="101455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link 后两个路径名地位相同，i_nlink = 2。再 unlink 掉 wang 的 f1，i_nlink 变为 1，文件仍可通过 /usr/users/li/f2 访问。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第8章 文件系统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文件系统 · 共享、保护、保密与安全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保护、保密、安全各防什么；存取控制矩阵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table-1"/>
          <p:cNvGrpSpPr/>
          <p:nvPr/>
        </p:nvGrpSpPr>
        <p:grpSpPr>
          <a:xfrm>
            <a:off x="533400" y="1524000"/>
            <a:ext cx="4544378" cy="1795462"/>
            <a:chOff x="533400" y="1524000"/>
            <a:chExt cx="4544378" cy="17954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039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17210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防止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1223" y="210835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保护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31836" y="2108359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用户对文件进行非授权的访问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41649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421255"/>
              <a:ext cx="454437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1223" y="255698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保密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31836" y="255698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文件内容泄露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6607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1223" y="30056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安全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31836" y="3005614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文件被破坏（自然因素、人为因素）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1524000"/>
              <a:ext cx="4544378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619250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28" name="c1-card-2"/>
          <p:cNvGrpSpPr/>
          <p:nvPr/>
        </p:nvGrpSpPr>
        <p:grpSpPr>
          <a:xfrm>
            <a:off x="533400" y="3509962"/>
            <a:ext cx="4544378" cy="2368868"/>
            <a:chOff x="533400" y="3509962"/>
            <a:chExt cx="4544378" cy="2368868"/>
          </a:xfrm>
        </p:grpSpPr>
        <p:sp>
          <p:nvSpPr>
            <p:cNvPr id="22" name="Rectangle 22"/>
            <p:cNvSpPr/>
            <p:nvPr/>
          </p:nvSpPr>
          <p:spPr>
            <a:xfrm>
              <a:off x="533400" y="3509962"/>
              <a:ext cx="4544378" cy="2368868"/>
            </a:xfrm>
            <a:prstGeom prst="roundRect">
              <a:avLst>
                <a:gd name="adj" fmla="val 56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42925" y="3643312"/>
              <a:ext cx="47625" cy="2102168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81050" y="3719512"/>
              <a:ext cx="201834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23132" y="3755231"/>
              <a:ext cx="19332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8.6.1 保护（Protection）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73430" y="4096702"/>
              <a:ext cx="37109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文件主（创建者）应能控制：做什么（what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can be done）、由谁做（by whom）。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3430" y="4717732"/>
              <a:ext cx="37871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访问类型：读 Read、写 Write、执行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Execute、追加 Append、删除 Delete、列目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录 List。</a:t>
              </a:r>
            </a:p>
          </p:txBody>
        </p:sp>
      </p:grpSp>
      <p:grpSp>
        <p:nvGrpSpPr>
          <p:cNvPr id="73" name="c2-table-1"/>
          <p:cNvGrpSpPr/>
          <p:nvPr/>
        </p:nvGrpSpPr>
        <p:grpSpPr>
          <a:xfrm>
            <a:off x="5376862" y="1524000"/>
            <a:ext cx="6281738" cy="2539842"/>
            <a:chOff x="5376862" y="1524000"/>
            <a:chExt cx="6281738" cy="2539842"/>
          </a:xfrm>
        </p:grpSpPr>
        <p:sp>
          <p:nvSpPr>
            <p:cNvPr id="29" name="Rectangle 29"/>
            <p:cNvSpPr/>
            <p:nvPr/>
          </p:nvSpPr>
          <p:spPr>
            <a:xfrm>
              <a:off x="5382578" y="1524000"/>
              <a:ext cx="6276022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715889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用户＼文件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339704" y="165973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22910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208266" y="1659731"/>
              <a:ext cx="1667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fj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146947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030642" y="165973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fn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047162" y="2108359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297057" y="210835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a11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25279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164541" y="2108359"/>
              <a:ext cx="2541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a1j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149317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987994" y="210835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a1n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82578" y="241649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382578" y="2421255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096917" y="25569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91829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325279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237774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149317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082767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82578" y="286607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069778" y="3005614"/>
              <a:ext cx="1667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ui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318596" y="3005614"/>
              <a:ext cx="2541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ai1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325279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8800148" y="2880360"/>
              <a:ext cx="982028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186080" y="3005614"/>
              <a:ext cx="2111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aij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149317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009533" y="3005614"/>
              <a:ext cx="2541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ain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382578" y="331470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5382578" y="3319462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029069" y="3454241"/>
              <a:ext cx="2481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um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279825" y="3454241"/>
              <a:ext cx="331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am1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325279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147310" y="3454241"/>
              <a:ext cx="2886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amj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149317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970763" y="3454241"/>
              <a:ext cx="331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amn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382578" y="1524000"/>
              <a:ext cx="6276022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918960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7963852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8785860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9786938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10609898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5376862" y="3843814"/>
              <a:ext cx="43612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1. 存取控制矩阵：第 i 行第 j 列的 aij 是用户 ui 对文件 fj 的权限</a:t>
              </a:r>
            </a:p>
          </p:txBody>
        </p:sp>
      </p:grpSp>
      <p:grpSp>
        <p:nvGrpSpPr>
          <p:cNvPr id="87" name="c2-cells-2"/>
          <p:cNvGrpSpPr/>
          <p:nvPr/>
        </p:nvGrpSpPr>
        <p:grpSpPr>
          <a:xfrm>
            <a:off x="5376482" y="4210050"/>
            <a:ext cx="2837878" cy="419100"/>
            <a:chOff x="5376482" y="4210050"/>
            <a:chExt cx="2837878" cy="419100"/>
          </a:xfrm>
        </p:grpSpPr>
        <p:sp>
          <p:nvSpPr>
            <p:cNvPr id="74" name="TextBox 74"/>
            <p:cNvSpPr txBox="1"/>
            <p:nvPr/>
          </p:nvSpPr>
          <p:spPr>
            <a:xfrm>
              <a:off x="5376482" y="4345305"/>
              <a:ext cx="2072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aij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5699760" y="4210050"/>
              <a:ext cx="41910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5853928" y="434530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6118860" y="4210050"/>
              <a:ext cx="41910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255106" y="4345305"/>
              <a:ext cx="1466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W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6537960" y="4210050"/>
              <a:ext cx="41910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692128" y="434530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6957060" y="4210050"/>
              <a:ext cx="41910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7111228" y="434530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7376160" y="4210050"/>
              <a:ext cx="41910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7512406" y="4345305"/>
              <a:ext cx="1466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7795260" y="4210050"/>
              <a:ext cx="41910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7949428" y="434530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</p:grpSp>
      <p:grpSp>
        <p:nvGrpSpPr>
          <p:cNvPr id="94" name="c2-callout-3"/>
          <p:cNvGrpSpPr/>
          <p:nvPr/>
        </p:nvGrpSpPr>
        <p:grpSpPr>
          <a:xfrm>
            <a:off x="5382578" y="4819650"/>
            <a:ext cx="6276022" cy="1059180"/>
            <a:chOff x="5382578" y="4819650"/>
            <a:chExt cx="6276022" cy="1059180"/>
          </a:xfrm>
        </p:grpSpPr>
        <p:sp>
          <p:nvSpPr>
            <p:cNvPr id="88" name="Rectangle 88"/>
            <p:cNvSpPr/>
            <p:nvPr/>
          </p:nvSpPr>
          <p:spPr>
            <a:xfrm>
              <a:off x="5382578" y="4819650"/>
              <a:ext cx="6276022" cy="1059180"/>
            </a:xfrm>
            <a:prstGeom prst="roundRect">
              <a:avLst>
                <a:gd name="adj" fmla="val 1079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92" name="Group 92"/>
            <p:cNvGrpSpPr/>
            <p:nvPr/>
          </p:nvGrpSpPr>
          <p:grpSpPr>
            <a:xfrm>
              <a:off x="5575307" y="5245536"/>
              <a:ext cx="224134" cy="192560"/>
              <a:chOff x="5575307" y="5245536"/>
              <a:chExt cx="224134" cy="192560"/>
            </a:xfrm>
          </p:grpSpPr>
          <p:sp>
            <p:nvSpPr>
              <p:cNvPr id="89" name="Freeform 89"/>
              <p:cNvSpPr/>
              <p:nvPr/>
            </p:nvSpPr>
            <p:spPr>
              <a:xfrm>
                <a:off x="5687378" y="531590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5575307" y="524553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91" name="Freeform 91"/>
              <p:cNvSpPr/>
              <p:nvPr/>
            </p:nvSpPr>
            <p:spPr>
              <a:xfrm>
                <a:off x="5687378" y="539369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93" name="TextBox 93"/>
            <p:cNvSpPr txBox="1"/>
            <p:nvPr/>
          </p:nvSpPr>
          <p:spPr>
            <a:xfrm>
              <a:off x="5889308" y="4968240"/>
              <a:ext cx="51682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特点：权限规定得细，但过于繁琐，占较多存储空间。m 个用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户、n 个文件就有 m × n 项，1000 个用户、10 万个文件就是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 亿项。</a:t>
              </a:r>
            </a:p>
          </p:txBody>
        </p:sp>
      </p:grpSp>
      <p:grpSp>
        <p:nvGrpSpPr>
          <p:cNvPr id="9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5" name="TextBox 95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第8章 文件系统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117850" cy="909257"/>
            <a:chOff x="520446" y="342900"/>
            <a:chExt cx="611785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文件系统 · 共享、保护、保密与安全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11785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UNIX 用 i_mode 中的 9 位说明访问权限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cells-1"/>
          <p:cNvGrpSpPr/>
          <p:nvPr/>
        </p:nvGrpSpPr>
        <p:grpSpPr>
          <a:xfrm>
            <a:off x="527685" y="1524000"/>
            <a:ext cx="4396740" cy="695324"/>
            <a:chOff x="527685" y="1524000"/>
            <a:chExt cx="4396740" cy="695324"/>
          </a:xfrm>
        </p:grpSpPr>
        <p:sp>
          <p:nvSpPr>
            <p:cNvPr id="7" name="TextBox 7"/>
            <p:cNvSpPr txBox="1"/>
            <p:nvPr/>
          </p:nvSpPr>
          <p:spPr>
            <a:xfrm>
              <a:off x="527685" y="1638776"/>
              <a:ext cx="525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i_mode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152525" y="1524000"/>
              <a:ext cx="419100" cy="368618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310360" y="163877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571625" y="1524000"/>
              <a:ext cx="419100" cy="368618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712732" y="1638776"/>
              <a:ext cx="1368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W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990725" y="1524000"/>
              <a:ext cx="419100" cy="368618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148560" y="163877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409825" y="1524000"/>
              <a:ext cx="419100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567660" y="163877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28925" y="1524000"/>
              <a:ext cx="419100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70032" y="1638776"/>
              <a:ext cx="1368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248025" y="1524000"/>
              <a:ext cx="419100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405860" y="163877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667125" y="1524000"/>
              <a:ext cx="419100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824960" y="163877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086225" y="1524000"/>
              <a:ext cx="419100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227332" y="1638776"/>
              <a:ext cx="1368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W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505325" y="1524000"/>
              <a:ext cx="419100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663160" y="163877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1743075" y="191166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594675" y="2043112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文件主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3000375" y="191166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791396" y="2043112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同组用户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4257675" y="191166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048696" y="2043112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其他用户</a:t>
              </a:r>
            </a:p>
          </p:txBody>
        </p:sp>
      </p:grpSp>
      <p:grpSp>
        <p:nvGrpSpPr>
          <p:cNvPr id="41" name="c1-kv-2"/>
          <p:cNvGrpSpPr/>
          <p:nvPr/>
        </p:nvGrpSpPr>
        <p:grpSpPr>
          <a:xfrm>
            <a:off x="526542" y="2351722"/>
            <a:ext cx="5417058" cy="1302258"/>
            <a:chOff x="526542" y="2351722"/>
            <a:chExt cx="5417058" cy="1302258"/>
          </a:xfrm>
        </p:grpSpPr>
        <p:sp>
          <p:nvSpPr>
            <p:cNvPr id="33" name="TextBox 33"/>
            <p:cNvSpPr txBox="1"/>
            <p:nvPr/>
          </p:nvSpPr>
          <p:spPr>
            <a:xfrm>
              <a:off x="526542" y="235172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文件主判别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845754" y="2351722"/>
              <a:ext cx="21491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访问进程的 u_uid == i_uid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263842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26542" y="274415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同组用户判别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845754" y="2744152"/>
              <a:ext cx="21491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访问进程的 u_gid == i_gid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303085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26542" y="313658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怎样设置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845754" y="3136582"/>
              <a:ext cx="381990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创建文件时给出：creat(filename, mode)；之后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文件主可以修改：chmod(filename, new_mode)</a:t>
              </a:r>
            </a:p>
          </p:txBody>
        </p:sp>
      </p:grpSp>
      <p:grpSp>
        <p:nvGrpSpPr>
          <p:cNvPr id="53" name="c1-card-3"/>
          <p:cNvGrpSpPr/>
          <p:nvPr/>
        </p:nvGrpSpPr>
        <p:grpSpPr>
          <a:xfrm>
            <a:off x="533400" y="3770948"/>
            <a:ext cx="5410200" cy="2085975"/>
            <a:chOff x="533400" y="3770948"/>
            <a:chExt cx="5410200" cy="2085975"/>
          </a:xfrm>
        </p:grpSpPr>
        <p:sp>
          <p:nvSpPr>
            <p:cNvPr id="42" name="Rectangle 42"/>
            <p:cNvSpPr/>
            <p:nvPr/>
          </p:nvSpPr>
          <p:spPr>
            <a:xfrm>
              <a:off x="533400" y="3770948"/>
              <a:ext cx="5410200" cy="2085975"/>
            </a:xfrm>
            <a:prstGeom prst="roundRect">
              <a:avLst>
                <a:gd name="adj" fmla="val 63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542925" y="3904298"/>
              <a:ext cx="47625" cy="18192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758190" y="3957638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53961" y="399049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51332" y="4302442"/>
              <a:ext cx="453999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文件的 i_uid 为 Li，i_gid 为 os，权限 rw-r-----（八进制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640）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66762" y="4915852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22782" y="4859655"/>
              <a:ext cx="24367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 写：看文件主位 rw-，</a:t>
              </a: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允许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766762" y="521589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22782" y="5159692"/>
              <a:ext cx="40105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同组的 Wang 写：看同组位 r--，</a:t>
              </a:r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拒绝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；读则允许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766762" y="551592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22782" y="5459730"/>
              <a:ext cx="27306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其他用户读：看其他位 ---，</a:t>
              </a:r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拒绝</a:t>
              </a:r>
            </a:p>
          </p:txBody>
        </p:sp>
      </p:grpSp>
      <p:grpSp>
        <p:nvGrpSpPr>
          <p:cNvPr id="84" name="c2-flow-1"/>
          <p:cNvGrpSpPr/>
          <p:nvPr/>
        </p:nvGrpSpPr>
        <p:grpSpPr>
          <a:xfrm>
            <a:off x="6437948" y="1736408"/>
            <a:ext cx="5031105" cy="2814636"/>
            <a:chOff x="6437948" y="1736408"/>
            <a:chExt cx="5031105" cy="2814636"/>
          </a:xfrm>
        </p:grpSpPr>
        <p:sp>
          <p:nvSpPr>
            <p:cNvPr id="54" name="Freeform 54"/>
            <p:cNvSpPr/>
            <p:nvPr/>
          </p:nvSpPr>
          <p:spPr>
            <a:xfrm>
              <a:off x="7600950" y="2121218"/>
              <a:ext cx="9525" cy="224790"/>
            </a:xfrm>
            <a:custGeom>
              <a:avLst/>
              <a:gdLst/>
              <a:ahLst/>
              <a:cxnLst/>
              <a:rect l="l" t="t" r="r" b="b"/>
              <a:pathLst>
                <a:path w="9525" h="224790">
                  <a:moveTo>
                    <a:pt x="0" y="0"/>
                  </a:moveTo>
                  <a:lnTo>
                    <a:pt x="0" y="22479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7548562" y="234600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6" name="Freeform 56"/>
            <p:cNvSpPr/>
            <p:nvPr/>
          </p:nvSpPr>
          <p:spPr>
            <a:xfrm>
              <a:off x="8763952" y="2738438"/>
              <a:ext cx="274320" cy="9525"/>
            </a:xfrm>
            <a:custGeom>
              <a:avLst/>
              <a:gdLst/>
              <a:ahLst/>
              <a:cxnLst/>
              <a:rect l="l" t="t" r="r" b="b"/>
              <a:pathLst>
                <a:path w="274320" h="9525">
                  <a:moveTo>
                    <a:pt x="0" y="0"/>
                  </a:moveTo>
                  <a:lnTo>
                    <a:pt x="27432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9038272" y="26860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8" name="Freeform 58"/>
            <p:cNvSpPr/>
            <p:nvPr/>
          </p:nvSpPr>
          <p:spPr>
            <a:xfrm>
              <a:off x="7600950" y="3026092"/>
              <a:ext cx="9525" cy="129540"/>
            </a:xfrm>
            <a:custGeom>
              <a:avLst/>
              <a:gdLst/>
              <a:ahLst/>
              <a:cxnLst/>
              <a:rect l="l" t="t" r="r" b="b"/>
              <a:pathLst>
                <a:path w="9525" h="129540">
                  <a:moveTo>
                    <a:pt x="0" y="0"/>
                  </a:moveTo>
                  <a:lnTo>
                    <a:pt x="0" y="12954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7548562" y="315563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60" name="Freeform 60"/>
            <p:cNvSpPr/>
            <p:nvPr/>
          </p:nvSpPr>
          <p:spPr>
            <a:xfrm>
              <a:off x="8763952" y="3548062"/>
              <a:ext cx="274320" cy="9525"/>
            </a:xfrm>
            <a:custGeom>
              <a:avLst/>
              <a:gdLst/>
              <a:ahLst/>
              <a:cxnLst/>
              <a:rect l="l" t="t" r="r" b="b"/>
              <a:pathLst>
                <a:path w="274320" h="9525">
                  <a:moveTo>
                    <a:pt x="0" y="0"/>
                  </a:moveTo>
                  <a:lnTo>
                    <a:pt x="27432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9038272" y="34956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62" name="Freeform 62"/>
            <p:cNvSpPr/>
            <p:nvPr/>
          </p:nvSpPr>
          <p:spPr>
            <a:xfrm>
              <a:off x="7600950" y="3835718"/>
              <a:ext cx="9525" cy="224790"/>
            </a:xfrm>
            <a:custGeom>
              <a:avLst/>
              <a:gdLst/>
              <a:ahLst/>
              <a:cxnLst/>
              <a:rect l="l" t="t" r="r" b="b"/>
              <a:pathLst>
                <a:path w="9525" h="224790">
                  <a:moveTo>
                    <a:pt x="0" y="0"/>
                  </a:moveTo>
                  <a:lnTo>
                    <a:pt x="0" y="22479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3" name="Freeform 63"/>
            <p:cNvSpPr/>
            <p:nvPr/>
          </p:nvSpPr>
          <p:spPr>
            <a:xfrm>
              <a:off x="7548562" y="406050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437948" y="1736408"/>
              <a:ext cx="2326005" cy="385762"/>
            </a:xfrm>
            <a:prstGeom prst="roundRect">
              <a:avLst>
                <a:gd name="adj" fmla="val 49877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5" name="Freeform 65"/>
            <p:cNvSpPr/>
            <p:nvPr/>
          </p:nvSpPr>
          <p:spPr>
            <a:xfrm>
              <a:off x="6437948" y="2450782"/>
              <a:ext cx="2326005" cy="575310"/>
            </a:xfrm>
            <a:custGeom>
              <a:avLst/>
              <a:gdLst/>
              <a:ahLst/>
              <a:cxnLst/>
              <a:rect l="l" t="t" r="r" b="b"/>
              <a:pathLst>
                <a:path w="2326005" h="575310">
                  <a:moveTo>
                    <a:pt x="1163003" y="0"/>
                  </a:moveTo>
                  <a:lnTo>
                    <a:pt x="2326005" y="287655"/>
                  </a:lnTo>
                  <a:lnTo>
                    <a:pt x="1163003" y="575310"/>
                  </a:lnTo>
                  <a:lnTo>
                    <a:pt x="0" y="287655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9143048" y="2546032"/>
              <a:ext cx="2326005" cy="385762"/>
            </a:xfrm>
            <a:prstGeom prst="roundRect">
              <a:avLst>
                <a:gd name="adj" fmla="val 24691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67" name="Freeform 67"/>
            <p:cNvSpPr/>
            <p:nvPr/>
          </p:nvSpPr>
          <p:spPr>
            <a:xfrm>
              <a:off x="6437948" y="3260408"/>
              <a:ext cx="2326005" cy="575310"/>
            </a:xfrm>
            <a:custGeom>
              <a:avLst/>
              <a:gdLst/>
              <a:ahLst/>
              <a:cxnLst/>
              <a:rect l="l" t="t" r="r" b="b"/>
              <a:pathLst>
                <a:path w="2326005" h="575310">
                  <a:moveTo>
                    <a:pt x="1163003" y="0"/>
                  </a:moveTo>
                  <a:lnTo>
                    <a:pt x="2326005" y="287655"/>
                  </a:lnTo>
                  <a:lnTo>
                    <a:pt x="1163003" y="575310"/>
                  </a:lnTo>
                  <a:lnTo>
                    <a:pt x="0" y="287655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9143048" y="3355658"/>
              <a:ext cx="2326005" cy="385762"/>
            </a:xfrm>
            <a:prstGeom prst="roundRect">
              <a:avLst>
                <a:gd name="adj" fmla="val 24691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6437948" y="4165282"/>
              <a:ext cx="2326005" cy="385762"/>
            </a:xfrm>
            <a:prstGeom prst="roundRect">
              <a:avLst>
                <a:gd name="adj" fmla="val 24691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142912" y="185023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进程访问文件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075063" y="2659856"/>
              <a:ext cx="10517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u_uid = i_uid？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610542" y="2659856"/>
              <a:ext cx="1391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按文件主的 3 位检查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075063" y="3469481"/>
              <a:ext cx="10517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u_gid = i_gid？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535155" y="3469481"/>
              <a:ext cx="1541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按同组用户的 3 位检查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830055" y="4279106"/>
              <a:ext cx="1541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按其他用户的 3 位检查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8848725" y="2542222"/>
              <a:ext cx="20955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8888158" y="2565082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7629525" y="3064192"/>
              <a:ext cx="20955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7653338" y="3087052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8848725" y="3351848"/>
              <a:ext cx="20955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8888158" y="3374708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7629525" y="3921442"/>
              <a:ext cx="20955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7653338" y="3944302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</p:grpSp>
      <p:grpSp>
        <p:nvGrpSpPr>
          <p:cNvPr id="91" name="c2-callout-2"/>
          <p:cNvGrpSpPr/>
          <p:nvPr/>
        </p:nvGrpSpPr>
        <p:grpSpPr>
          <a:xfrm>
            <a:off x="6248400" y="4932045"/>
            <a:ext cx="5410200" cy="729615"/>
            <a:chOff x="6248400" y="4932045"/>
            <a:chExt cx="5410200" cy="729615"/>
          </a:xfrm>
        </p:grpSpPr>
        <p:sp>
          <p:nvSpPr>
            <p:cNvPr id="85" name="Rectangle 85"/>
            <p:cNvSpPr/>
            <p:nvPr/>
          </p:nvSpPr>
          <p:spPr>
            <a:xfrm>
              <a:off x="6248400" y="4932045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9" name="Group 89"/>
            <p:cNvGrpSpPr/>
            <p:nvPr/>
          </p:nvGrpSpPr>
          <p:grpSpPr>
            <a:xfrm>
              <a:off x="6453188" y="5196840"/>
              <a:ext cx="200026" cy="200025"/>
              <a:chOff x="6453188" y="5196840"/>
              <a:chExt cx="200026" cy="200025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6453188" y="519684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6492926" y="524129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6527642" y="535241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90" name="TextBox 90"/>
            <p:cNvSpPr txBox="1"/>
            <p:nvPr/>
          </p:nvSpPr>
          <p:spPr>
            <a:xfrm>
              <a:off x="6755892" y="5078730"/>
              <a:ext cx="446284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只检查一组：文件主即使对自己的文件只有 r--，也不会再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去看同组位或其他位。</a:t>
              </a:r>
            </a:p>
          </p:txBody>
        </p:sp>
      </p:grpSp>
      <p:grpSp>
        <p:nvGrpSpPr>
          <p:cNvPr id="9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2" name="TextBox 92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第8章 文件系统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文件系统 · 共享、保护、保密与安全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文件保密：口令简单，加密可靠但慢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table-1"/>
          <p:cNvGrpSpPr/>
          <p:nvPr/>
        </p:nvGrpSpPr>
        <p:grpSpPr>
          <a:xfrm>
            <a:off x="533400" y="1524000"/>
            <a:ext cx="4977765" cy="2000250"/>
            <a:chOff x="533400" y="1524000"/>
            <a:chExt cx="4977765" cy="20002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60007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478" y="1645444"/>
              <a:ext cx="60919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8.6.2 方</a:t>
              </a:r>
              <a:br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17166" y="17454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458373" y="17454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0555" y="24455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口令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26858" y="2245519"/>
              <a:ext cx="2002790" cy="6200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创建文件时规定口令，系统记在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FCB 中；访问时要求给出口令，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 FCB 中的比较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815715" y="2345531"/>
              <a:ext cx="14338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简单；保密性不强，例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如对系统操作员不保密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91941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924175"/>
              <a:ext cx="4977765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0555" y="314563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密码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26858" y="3045619"/>
              <a:ext cx="18961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保存时用 key 加密，读取时用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key 解密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15715" y="3045619"/>
              <a:ext cx="14338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对文件内容加密，速度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慢，效果好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1524000"/>
              <a:ext cx="4977765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424940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3713798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26" name="c1-code-2"/>
          <p:cNvGrpSpPr/>
          <p:nvPr/>
        </p:nvGrpSpPr>
        <p:grpSpPr>
          <a:xfrm>
            <a:off x="533400" y="3693795"/>
            <a:ext cx="4977765" cy="1209675"/>
            <a:chOff x="533400" y="3693795"/>
            <a:chExt cx="4977765" cy="1209675"/>
          </a:xfrm>
        </p:grpSpPr>
        <p:sp>
          <p:nvSpPr>
            <p:cNvPr id="23" name="Rectangle 23"/>
            <p:cNvSpPr/>
            <p:nvPr/>
          </p:nvSpPr>
          <p:spPr>
            <a:xfrm>
              <a:off x="533400" y="3693795"/>
              <a:ext cx="4977765" cy="1209675"/>
            </a:xfrm>
            <a:prstGeom prst="roundRect">
              <a:avLst>
                <a:gd name="adj" fmla="val 787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61797" y="3845719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线性同余法产生伪随机数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1797" y="4106704"/>
              <a:ext cx="2405761" cy="7193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random(Var key: integer);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Begin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key := (key * C1 + C2) MOD C3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End;</a:t>
              </a:r>
            </a:p>
          </p:txBody>
        </p:sp>
      </p:grpSp>
      <p:grpSp>
        <p:nvGrpSpPr>
          <p:cNvPr id="33" name="c1-callout-3"/>
          <p:cNvGrpSpPr/>
          <p:nvPr/>
        </p:nvGrpSpPr>
        <p:grpSpPr>
          <a:xfrm>
            <a:off x="533400" y="5073968"/>
            <a:ext cx="4977765" cy="729615"/>
            <a:chOff x="533400" y="5073968"/>
            <a:chExt cx="4977765" cy="729615"/>
          </a:xfrm>
        </p:grpSpPr>
        <p:sp>
          <p:nvSpPr>
            <p:cNvPr id="27" name="Rectangle 27"/>
            <p:cNvSpPr/>
            <p:nvPr/>
          </p:nvSpPr>
          <p:spPr>
            <a:xfrm>
              <a:off x="533400" y="5073968"/>
              <a:ext cx="4977765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8188" y="5338763"/>
              <a:ext cx="200026" cy="200025"/>
              <a:chOff x="738188" y="5338763"/>
              <a:chExt cx="200026" cy="200025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533876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77926" y="538321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12642" y="549433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892" y="5219700"/>
              <a:ext cx="39570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口令只能挡住不知道口令的用户；加密后即使有人绕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过文件系统直接读磁盘，没有 key 也得不到原文。</a:t>
              </a:r>
            </a:p>
          </p:txBody>
        </p:sp>
      </p:grpSp>
      <p:grpSp>
        <p:nvGrpSpPr>
          <p:cNvPr id="45" name="c2-steps-1"/>
          <p:cNvGrpSpPr/>
          <p:nvPr/>
        </p:nvGrpSpPr>
        <p:grpSpPr>
          <a:xfrm>
            <a:off x="5815965" y="1524000"/>
            <a:ext cx="5842635" cy="1358265"/>
            <a:chOff x="5815965" y="1524000"/>
            <a:chExt cx="5842635" cy="1358265"/>
          </a:xfrm>
        </p:grpSpPr>
        <p:sp>
          <p:nvSpPr>
            <p:cNvPr id="34" name="Rectangle 34"/>
            <p:cNvSpPr/>
            <p:nvPr/>
          </p:nvSpPr>
          <p:spPr>
            <a:xfrm>
              <a:off x="5815965" y="1524000"/>
              <a:ext cx="2778442" cy="1358265"/>
            </a:xfrm>
            <a:prstGeom prst="roundRect">
              <a:avLst>
                <a:gd name="adj" fmla="val 841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5949315" y="165735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039448" y="17278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942457" y="2060257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保存时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943600" y="2347436"/>
              <a:ext cx="232283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key 启动随机数发生器，产生随机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数序列，依次加到文件的各个字中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8670608" y="2117408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880158" y="1524000"/>
              <a:ext cx="2778442" cy="1358265"/>
            </a:xfrm>
            <a:prstGeom prst="roundRect">
              <a:avLst>
                <a:gd name="adj" fmla="val 841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013508" y="165735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103641" y="17278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06650" y="2060257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读取时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007792" y="2347436"/>
              <a:ext cx="232283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用同一个 key 启动同一个发生器，得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到相同序列，依次从各个字中减去</a:t>
              </a:r>
            </a:p>
          </p:txBody>
        </p:sp>
      </p:grpSp>
      <p:grpSp>
        <p:nvGrpSpPr>
          <p:cNvPr id="77" name="c2-table-2"/>
          <p:cNvGrpSpPr/>
          <p:nvPr/>
        </p:nvGrpSpPr>
        <p:grpSpPr>
          <a:xfrm>
            <a:off x="5811012" y="3052762"/>
            <a:ext cx="5847588" cy="2263807"/>
            <a:chOff x="5811012" y="3052762"/>
            <a:chExt cx="5847588" cy="2263807"/>
          </a:xfrm>
        </p:grpSpPr>
        <p:sp>
          <p:nvSpPr>
            <p:cNvPr id="46" name="Rectangle 46"/>
            <p:cNvSpPr/>
            <p:nvPr/>
          </p:nvSpPr>
          <p:spPr>
            <a:xfrm>
              <a:off x="5815965" y="3052762"/>
              <a:ext cx="5842635" cy="40005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49898" y="317420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字序号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885468" y="31742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原文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271216" y="317420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随机数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807738" y="31742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密文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532524" y="35742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953317" y="35742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455915" y="35742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875587" y="35742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815965" y="384810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5815965" y="3852862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532524" y="39743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953317" y="397430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455915" y="39743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875587" y="397430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815965" y="424815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532524" y="43743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953317" y="43743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455915" y="43743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875587" y="43743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815965" y="464820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5815965" y="4652962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532524" y="47744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953317" y="477440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414452" y="477440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875587" y="477440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5815965" y="3052762"/>
              <a:ext cx="5842635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7342822" y="3052762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8732520" y="3052762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10264140" y="3052762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5811012" y="5125879"/>
              <a:ext cx="25503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例：C1 = 5，C2 = 3，C3 = 16，key 初值 7</a:t>
              </a:r>
            </a:p>
          </p:txBody>
        </p:sp>
      </p:grpSp>
      <p:grpSp>
        <p:nvGrpSpPr>
          <p:cNvPr id="84" name="c2-callout-3"/>
          <p:cNvGrpSpPr/>
          <p:nvPr/>
        </p:nvGrpSpPr>
        <p:grpSpPr>
          <a:xfrm>
            <a:off x="5815965" y="5448300"/>
            <a:ext cx="5842635" cy="729615"/>
            <a:chOff x="5815965" y="5448300"/>
            <a:chExt cx="5842635" cy="729615"/>
          </a:xfrm>
        </p:grpSpPr>
        <p:sp>
          <p:nvSpPr>
            <p:cNvPr id="78" name="Rectangle 78"/>
            <p:cNvSpPr/>
            <p:nvPr/>
          </p:nvSpPr>
          <p:spPr>
            <a:xfrm>
              <a:off x="5815965" y="5448300"/>
              <a:ext cx="5842635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82" name="Group 82"/>
            <p:cNvGrpSpPr/>
            <p:nvPr/>
          </p:nvGrpSpPr>
          <p:grpSpPr>
            <a:xfrm>
              <a:off x="6020753" y="5713095"/>
              <a:ext cx="200026" cy="200026"/>
              <a:chOff x="6020753" y="5713095"/>
              <a:chExt cx="200026" cy="200026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6020753" y="57130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6120765" y="57797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6109653" y="58131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3" name="TextBox 83"/>
            <p:cNvSpPr txBox="1"/>
            <p:nvPr/>
          </p:nvSpPr>
          <p:spPr>
            <a:xfrm>
              <a:off x="6323457" y="5594033"/>
              <a:ext cx="482288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随机数：(7×5+3) mod 16 = 6，(6×5+3) mod 16 = 1，再得 8、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11。解密时从 key = 7 重算同一序列，密文减去它即还原。</a:t>
              </a:r>
            </a:p>
          </p:txBody>
        </p:sp>
      </p:grpSp>
      <p:grpSp>
        <p:nvGrpSpPr>
          <p:cNvPr id="8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5" name="TextBox 85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第8章 文件系统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文件系统 · 共享、保护、保密与安全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文件系统的安全：定期转储，故障后恢复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626418" cy="1485900"/>
            <a:chOff x="533400" y="1524000"/>
            <a:chExt cx="5626418" cy="14859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485900"/>
            </a:xfrm>
            <a:prstGeom prst="roundRect">
              <a:avLst>
                <a:gd name="adj" fmla="val 89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1920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1537335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16079" y="1743551"/>
              <a:ext cx="142155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8.6.3 后备（Backup）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66762" y="211074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22782" y="2054542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定期将磁盘上的文件复制到磁带上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6762" y="241173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2782" y="2355532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发生故障时由磁带恢复。只能恢复到最近一次转储时的状态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（limited recovery）</a:t>
              </a:r>
            </a:p>
          </p:txBody>
        </p:sp>
      </p:grpSp>
      <p:grpSp>
        <p:nvGrpSpPr>
          <p:cNvPr id="31" name="c1-table-2"/>
          <p:cNvGrpSpPr/>
          <p:nvPr/>
        </p:nvGrpSpPr>
        <p:grpSpPr>
          <a:xfrm>
            <a:off x="533400" y="3179445"/>
            <a:ext cx="5626418" cy="1600200"/>
            <a:chOff x="533400" y="3179445"/>
            <a:chExt cx="5626418" cy="1600200"/>
          </a:xfrm>
        </p:grpSpPr>
        <p:sp>
          <p:nvSpPr>
            <p:cNvPr id="16" name="Rectangle 16"/>
            <p:cNvSpPr/>
            <p:nvPr/>
          </p:nvSpPr>
          <p:spPr>
            <a:xfrm>
              <a:off x="533400" y="3179445"/>
              <a:ext cx="5626418" cy="40005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89064" y="330088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实现方法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83866" y="330088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934623" y="330088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0555" y="380095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海量转储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55458" y="3700939"/>
              <a:ext cx="200279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定期把磁盘上的文件全部复制到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磁带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118610" y="3700939"/>
              <a:ext cx="17183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恢复简单；转储量大、耗时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17480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4179570"/>
              <a:ext cx="5626418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0555" y="440102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增量转储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755458" y="440102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每次只复制修改过的部分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118610" y="4301014"/>
              <a:ext cx="17183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转储快；恢复时要依次装入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多次转储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179445"/>
              <a:ext cx="5626418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653540" y="3179445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016692" y="3179445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7" name="c1-card-3"/>
          <p:cNvGrpSpPr/>
          <p:nvPr/>
        </p:nvGrpSpPr>
        <p:grpSpPr>
          <a:xfrm>
            <a:off x="533400" y="4950142"/>
            <a:ext cx="5626418" cy="1322070"/>
            <a:chOff x="533400" y="4950142"/>
            <a:chExt cx="5626418" cy="1322070"/>
          </a:xfrm>
        </p:grpSpPr>
        <p:sp>
          <p:nvSpPr>
            <p:cNvPr id="32" name="Rectangle 32"/>
            <p:cNvSpPr/>
            <p:nvPr/>
          </p:nvSpPr>
          <p:spPr>
            <a:xfrm>
              <a:off x="533400" y="4950142"/>
              <a:ext cx="5626418" cy="1322070"/>
            </a:xfrm>
            <a:prstGeom prst="roundRect">
              <a:avLst>
                <a:gd name="adj" fmla="val 100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42925" y="5083492"/>
              <a:ext cx="47625" cy="105537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58190" y="513683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2759" y="516969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磁盘整理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1332" y="5480685"/>
              <a:ext cx="4985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利用转储和恢复可以整理磁盘：文件全部转出后再顺序装回，使文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件的物理块连续，空闲盘块也连续。</a:t>
              </a:r>
            </a:p>
          </p:txBody>
        </p:sp>
      </p:grpSp>
      <p:grpSp>
        <p:nvGrpSpPr>
          <p:cNvPr id="44" name="c2-card-1"/>
          <p:cNvGrpSpPr/>
          <p:nvPr/>
        </p:nvGrpSpPr>
        <p:grpSpPr>
          <a:xfrm>
            <a:off x="6464618" y="1524000"/>
            <a:ext cx="5193982" cy="944880"/>
            <a:chOff x="6464618" y="1524000"/>
            <a:chExt cx="5193982" cy="944880"/>
          </a:xfrm>
        </p:grpSpPr>
        <p:sp>
          <p:nvSpPr>
            <p:cNvPr id="38" name="Rectangle 38"/>
            <p:cNvSpPr/>
            <p:nvPr/>
          </p:nvSpPr>
          <p:spPr>
            <a:xfrm>
              <a:off x="6464618" y="1524000"/>
              <a:ext cx="5193982" cy="944880"/>
            </a:xfrm>
            <a:prstGeom prst="roundRect">
              <a:avLst>
                <a:gd name="adj" fmla="val 1411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74142" y="1657350"/>
              <a:ext cx="47625" cy="67818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689408" y="1710690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86131" y="1743551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131177" y="174593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周四磁盘损坏，怎样恢复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82549" y="2071688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周日做海量转储，周一到周三每天晚上做增量转储。</a:t>
              </a:r>
            </a:p>
          </p:txBody>
        </p:sp>
      </p:grpSp>
      <p:grpSp>
        <p:nvGrpSpPr>
          <p:cNvPr id="58" name="c2-steps-2"/>
          <p:cNvGrpSpPr/>
          <p:nvPr/>
        </p:nvGrpSpPr>
        <p:grpSpPr>
          <a:xfrm>
            <a:off x="6464618" y="2648902"/>
            <a:ext cx="3515487" cy="1685450"/>
            <a:chOff x="6464618" y="2648902"/>
            <a:chExt cx="3515487" cy="1685450"/>
          </a:xfrm>
        </p:grpSpPr>
        <p:sp>
          <p:nvSpPr>
            <p:cNvPr id="45" name="Rectangle 45"/>
            <p:cNvSpPr/>
            <p:nvPr/>
          </p:nvSpPr>
          <p:spPr>
            <a:xfrm>
              <a:off x="6597968" y="2791778"/>
              <a:ext cx="19050" cy="11658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6464618" y="264890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58241" y="272272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464618" y="323183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58241" y="33056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464618" y="381476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558241" y="38885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876860" y="268033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装入周日的海量转储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878002" y="2948464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得到周日晚上全部文件的状态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876860" y="3263265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依次装入周一、周二、周三的增量转储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878002" y="3531394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顺序不能颠倒，后一次的修改覆盖前一次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876860" y="384619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878002" y="4114324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恢复到周三晚上的状态；周四白天的修改丢失</a:t>
              </a:r>
            </a:p>
          </p:txBody>
        </p:sp>
      </p:grpSp>
      <p:grpSp>
        <p:nvGrpSpPr>
          <p:cNvPr id="74" name="c2-cells-3"/>
          <p:cNvGrpSpPr/>
          <p:nvPr/>
        </p:nvGrpSpPr>
        <p:grpSpPr>
          <a:xfrm>
            <a:off x="6459665" y="4497705"/>
            <a:ext cx="4311205" cy="679609"/>
            <a:chOff x="6459665" y="4497705"/>
            <a:chExt cx="4311205" cy="679609"/>
          </a:xfrm>
        </p:grpSpPr>
        <p:sp>
          <p:nvSpPr>
            <p:cNvPr id="59" name="TextBox 59"/>
            <p:cNvSpPr txBox="1"/>
            <p:nvPr/>
          </p:nvSpPr>
          <p:spPr>
            <a:xfrm>
              <a:off x="6459665" y="462105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转储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847522" y="4497705"/>
              <a:ext cx="784860" cy="368618"/>
            </a:xfrm>
            <a:prstGeom prst="rect">
              <a:avLst/>
            </a:prstGeom>
            <a:solidFill>
              <a:srgbClr val="0E7C86"/>
            </a:solidFill>
            <a:ln w="15240">
              <a:solidFill>
                <a:srgbClr val="0E7C86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949413" y="4621054"/>
              <a:ext cx="5791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周日 海量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7631430" y="4497705"/>
              <a:ext cx="784860" cy="368618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734273" y="4621054"/>
              <a:ext cx="5791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周一 增量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8416290" y="4497705"/>
              <a:ext cx="784860" cy="368618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519133" y="4621054"/>
              <a:ext cx="5791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周二 增量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9201150" y="4497705"/>
              <a:ext cx="784860" cy="368618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303993" y="4621054"/>
              <a:ext cx="5791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周三 增量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9986010" y="4497705"/>
              <a:ext cx="784860" cy="368618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0088853" y="4621054"/>
              <a:ext cx="5791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周四 损坏</a:t>
              </a:r>
            </a:p>
          </p:txBody>
        </p:sp>
        <p:sp>
          <p:nvSpPr>
            <p:cNvPr id="70" name="Freeform 70"/>
            <p:cNvSpPr/>
            <p:nvPr/>
          </p:nvSpPr>
          <p:spPr>
            <a:xfrm>
              <a:off x="7200900" y="488537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019394" y="5015389"/>
              <a:ext cx="43921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① 先装入</a:t>
              </a:r>
            </a:p>
          </p:txBody>
        </p:sp>
        <p:sp>
          <p:nvSpPr>
            <p:cNvPr id="72" name="Freeform 72"/>
            <p:cNvSpPr/>
            <p:nvPr/>
          </p:nvSpPr>
          <p:spPr>
            <a:xfrm>
              <a:off x="9555480" y="488537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153197" y="5015389"/>
              <a:ext cx="88076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② 按日期依次装入</a:t>
              </a:r>
            </a:p>
          </p:txBody>
        </p:sp>
      </p:grpSp>
      <p:grpSp>
        <p:nvGrpSpPr>
          <p:cNvPr id="81" name="c2-callout-4"/>
          <p:cNvGrpSpPr/>
          <p:nvPr/>
        </p:nvGrpSpPr>
        <p:grpSpPr>
          <a:xfrm>
            <a:off x="6464618" y="5293995"/>
            <a:ext cx="5193982" cy="978218"/>
            <a:chOff x="6464618" y="5293995"/>
            <a:chExt cx="5193982" cy="978218"/>
          </a:xfrm>
        </p:grpSpPr>
        <p:sp>
          <p:nvSpPr>
            <p:cNvPr id="75" name="Rectangle 75"/>
            <p:cNvSpPr/>
            <p:nvPr/>
          </p:nvSpPr>
          <p:spPr>
            <a:xfrm>
              <a:off x="6464618" y="5293995"/>
              <a:ext cx="5193982" cy="978218"/>
            </a:xfrm>
            <a:prstGeom prst="roundRect">
              <a:avLst>
                <a:gd name="adj" fmla="val 1168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6657347" y="5678923"/>
              <a:ext cx="224134" cy="192560"/>
              <a:chOff x="6657347" y="5678923"/>
              <a:chExt cx="224134" cy="192560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6769418" y="574929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6657347" y="567892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6769418" y="58270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6972110" y="5439728"/>
              <a:ext cx="412851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每次增量转储只含上次转储后改过的文件。缺了其中一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次，那天改过、之后又没再改的文件就恢复不到最新状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态。</a:t>
              </a:r>
            </a:p>
          </p:txBody>
        </p:sp>
      </p:grpSp>
      <p:grpSp>
        <p:nvGrpSpPr>
          <p:cNvPr id="8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2" name="TextBox 82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第8章 文件系统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469130" cy="3351847"/>
            <a:chOff x="667512" y="1835468"/>
            <a:chExt cx="4469130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文件系统的实现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内存中的打开文件表，外存上的空闲空间管理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6600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8.7.1 系统打开文件表与用户打开文件表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6862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UNIX 的 u_ofile、file、inode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外存空间管理与成组连接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4489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空闲 inode 管理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第8章 文件系统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文件系统 · 文件系统的实现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打开文件要用两张表：系统一张，每个进程一张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table-1"/>
          <p:cNvGrpSpPr/>
          <p:nvPr/>
        </p:nvGrpSpPr>
        <p:grpSpPr>
          <a:xfrm>
            <a:off x="528066" y="1524000"/>
            <a:ext cx="5199316" cy="1128332"/>
            <a:chOff x="528066" y="1524000"/>
            <a:chExt cx="5199316" cy="11283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4248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16848" y="1652588"/>
              <a:ext cx="684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FCB 主部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43378" y="165258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文件号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650361" y="16525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共享计数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815268" y="16525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修改标志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5966" y="2076450"/>
              <a:ext cx="1386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i_mode、i_addr …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796845" y="207645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929024" y="20764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093932" y="20764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1524000"/>
              <a:ext cx="5193982" cy="84867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2380298" y="1524000"/>
              <a:ext cx="9525" cy="8486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3392805" y="1524000"/>
              <a:ext cx="9525" cy="8486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557712" y="1524000"/>
              <a:ext cx="9525" cy="8486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28066" y="2446973"/>
              <a:ext cx="38271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系统打开文件表（整个系统一张），每个已打开的文件占一项</a:t>
              </a:r>
            </a:p>
          </p:txBody>
        </p:sp>
      </p:grpSp>
      <p:grpSp>
        <p:nvGrpSpPr>
          <p:cNvPr id="33" name="c1-table-2"/>
          <p:cNvGrpSpPr/>
          <p:nvPr/>
        </p:nvGrpSpPr>
        <p:grpSpPr>
          <a:xfrm>
            <a:off x="528066" y="2791778"/>
            <a:ext cx="5199316" cy="1128331"/>
            <a:chOff x="528066" y="2791778"/>
            <a:chExt cx="5199316" cy="1128331"/>
          </a:xfrm>
        </p:grpSpPr>
        <p:sp>
          <p:nvSpPr>
            <p:cNvPr id="22" name="Rectangle 22"/>
            <p:cNvSpPr/>
            <p:nvPr/>
          </p:nvSpPr>
          <p:spPr>
            <a:xfrm>
              <a:off x="533400" y="2791778"/>
              <a:ext cx="5193982" cy="4248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42404" y="292036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打开方式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417826" y="292036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读写指针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873246" y="292036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系统打开文件表入口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84720" y="3344227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563216" y="3344227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1024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909593" y="3344227"/>
              <a:ext cx="13933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→ 文件号 15 的表项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2791778"/>
              <a:ext cx="5193982" cy="84867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2004060" y="2791778"/>
              <a:ext cx="9525" cy="8486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3480435" y="2791778"/>
              <a:ext cx="9525" cy="8486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28066" y="3714750"/>
              <a:ext cx="38271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用户打开文件表（每个进程一张），表项下标就是文件描述符</a:t>
              </a:r>
            </a:p>
          </p:txBody>
        </p:sp>
      </p:grpSp>
      <p:grpSp>
        <p:nvGrpSpPr>
          <p:cNvPr id="39" name="c1-kv-3"/>
          <p:cNvGrpSpPr/>
          <p:nvPr/>
        </p:nvGrpSpPr>
        <p:grpSpPr>
          <a:xfrm>
            <a:off x="526161" y="4082891"/>
            <a:ext cx="5247854" cy="694945"/>
            <a:chOff x="526161" y="4082891"/>
            <a:chExt cx="5247854" cy="694945"/>
          </a:xfrm>
        </p:grpSpPr>
        <p:sp>
          <p:nvSpPr>
            <p:cNvPr id="34" name="TextBox 34"/>
            <p:cNvSpPr txBox="1"/>
            <p:nvPr/>
          </p:nvSpPr>
          <p:spPr>
            <a:xfrm>
              <a:off x="526161" y="408289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共享计数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525334" y="4082891"/>
              <a:ext cx="424868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有几个用户打开文件表项指向本项；减到 0 才释放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438626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26161" y="449913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修改标志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525334" y="4499134"/>
              <a:ext cx="35275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内存中的 FCB 被改过，关闭时要写回外存</a:t>
              </a:r>
            </a:p>
          </p:txBody>
        </p:sp>
      </p:grpSp>
      <p:grpSp>
        <p:nvGrpSpPr>
          <p:cNvPr id="45" name="c1-callout-4"/>
          <p:cNvGrpSpPr/>
          <p:nvPr/>
        </p:nvGrpSpPr>
        <p:grpSpPr>
          <a:xfrm>
            <a:off x="533400" y="4901565"/>
            <a:ext cx="5193982" cy="1018222"/>
            <a:chOff x="533400" y="4901565"/>
            <a:chExt cx="5193982" cy="1018222"/>
          </a:xfrm>
        </p:grpSpPr>
        <p:sp>
          <p:nvSpPr>
            <p:cNvPr id="40" name="Rectangle 40"/>
            <p:cNvSpPr/>
            <p:nvPr/>
          </p:nvSpPr>
          <p:spPr>
            <a:xfrm>
              <a:off x="533400" y="4901565"/>
              <a:ext cx="5193982" cy="1018222"/>
            </a:xfrm>
            <a:prstGeom prst="roundRect">
              <a:avLst>
                <a:gd name="adj" fmla="val 11225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38188" y="5311142"/>
              <a:ext cx="200023" cy="200023"/>
              <a:chOff x="738188" y="5311142"/>
              <a:chExt cx="200023" cy="200023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38188" y="531114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71538" y="537781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0511" y="5048726"/>
              <a:ext cx="4144264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文件描述符 fd 是用户打开文件表的下标（非负整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数）。open 返回 fd 后，read、write、close 都用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fd，不再查目录。</a:t>
              </a:r>
            </a:p>
          </p:txBody>
        </p:sp>
      </p:grpSp>
      <p:grpSp>
        <p:nvGrpSpPr>
          <p:cNvPr id="65" name="c2-graph-1"/>
          <p:cNvGrpSpPr/>
          <p:nvPr/>
        </p:nvGrpSpPr>
        <p:grpSpPr>
          <a:xfrm>
            <a:off x="6363652" y="1610678"/>
            <a:ext cx="4848225" cy="2567939"/>
            <a:chOff x="6363652" y="1610678"/>
            <a:chExt cx="4848225" cy="2567939"/>
          </a:xfrm>
        </p:grpSpPr>
        <p:sp>
          <p:nvSpPr>
            <p:cNvPr id="46" name="Freeform 46"/>
            <p:cNvSpPr/>
            <p:nvPr/>
          </p:nvSpPr>
          <p:spPr>
            <a:xfrm>
              <a:off x="8179118" y="2406968"/>
              <a:ext cx="1239202" cy="218123"/>
            </a:xfrm>
            <a:custGeom>
              <a:avLst/>
              <a:gdLst/>
              <a:ahLst/>
              <a:cxnLst/>
              <a:rect l="l" t="t" r="r" b="b"/>
              <a:pathLst>
                <a:path w="1239202" h="218123">
                  <a:moveTo>
                    <a:pt x="0" y="0"/>
                  </a:moveTo>
                  <a:lnTo>
                    <a:pt x="1239202" y="21812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9409748" y="2577465"/>
              <a:ext cx="101918" cy="94297"/>
            </a:xfrm>
            <a:custGeom>
              <a:avLst/>
              <a:gdLst/>
              <a:ahLst/>
              <a:cxnLst/>
              <a:rect l="l" t="t" r="r" b="b"/>
              <a:pathLst>
                <a:path w="101918" h="94297">
                  <a:moveTo>
                    <a:pt x="101918" y="63817"/>
                  </a:moveTo>
                  <a:lnTo>
                    <a:pt x="0" y="94297"/>
                  </a:lnTo>
                  <a:lnTo>
                    <a:pt x="16193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8179118" y="2937510"/>
              <a:ext cx="1239202" cy="218123"/>
            </a:xfrm>
            <a:custGeom>
              <a:avLst/>
              <a:gdLst/>
              <a:ahLst/>
              <a:cxnLst/>
              <a:rect l="l" t="t" r="r" b="b"/>
              <a:pathLst>
                <a:path w="1239202" h="218123">
                  <a:moveTo>
                    <a:pt x="0" y="218123"/>
                  </a:moveTo>
                  <a:lnTo>
                    <a:pt x="123920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9409748" y="2890838"/>
              <a:ext cx="101918" cy="94297"/>
            </a:xfrm>
            <a:custGeom>
              <a:avLst/>
              <a:gdLst/>
              <a:ahLst/>
              <a:cxnLst/>
              <a:rect l="l" t="t" r="r" b="b"/>
              <a:pathLst>
                <a:path w="101918" h="94297">
                  <a:moveTo>
                    <a:pt x="101918" y="30480"/>
                  </a:moveTo>
                  <a:lnTo>
                    <a:pt x="16193" y="942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10307955" y="3016568"/>
              <a:ext cx="9525" cy="786765"/>
            </a:xfrm>
            <a:custGeom>
              <a:avLst/>
              <a:gdLst/>
              <a:ahLst/>
              <a:cxnLst/>
              <a:rect l="l" t="t" r="r" b="b"/>
              <a:pathLst>
                <a:path w="9525" h="786765">
                  <a:moveTo>
                    <a:pt x="0" y="0"/>
                  </a:moveTo>
                  <a:lnTo>
                    <a:pt x="0" y="786765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51" name="Freeform 51"/>
            <p:cNvSpPr/>
            <p:nvPr/>
          </p:nvSpPr>
          <p:spPr>
            <a:xfrm>
              <a:off x="10260330" y="380333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10260330" y="292131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363652" y="2126932"/>
              <a:ext cx="2037398" cy="280035"/>
            </a:xfrm>
            <a:prstGeom prst="roundRect">
              <a:avLst>
                <a:gd name="adj" fmla="val 34014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412230" y="3155632"/>
              <a:ext cx="1940242" cy="280035"/>
            </a:xfrm>
            <a:prstGeom prst="roundRect">
              <a:avLst>
                <a:gd name="adj" fmla="val 34014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9503092" y="2641282"/>
              <a:ext cx="1610678" cy="280035"/>
            </a:xfrm>
            <a:prstGeom prst="roundRect">
              <a:avLst>
                <a:gd name="adj" fmla="val 34014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9404985" y="3898582"/>
              <a:ext cx="1806892" cy="280035"/>
            </a:xfrm>
            <a:prstGeom prst="roundRect">
              <a:avLst>
                <a:gd name="adj" fmla="val 34014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415210" y="2201228"/>
              <a:ext cx="19352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进程 A：fd 3｜读｜指针 1024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66980" y="3229928"/>
              <a:ext cx="18316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进程 B：fd 5｜读写｜指针 0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570246" y="2715578"/>
              <a:ext cx="14754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文件号 15｜共享计数 2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456902" y="3972878"/>
              <a:ext cx="17021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外存 FCB 主部（文件 15）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9697402" y="3331845"/>
              <a:ext cx="122205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696056" y="3360896"/>
              <a:ext cx="122379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打开时读入，关闭时写回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882765" y="161067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用户打开文件表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807892" y="161067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系统打开文件表</a:t>
              </a:r>
            </a:p>
          </p:txBody>
        </p:sp>
      </p:grpSp>
      <p:grpSp>
        <p:nvGrpSpPr>
          <p:cNvPr id="72" name="c2-callout-2"/>
          <p:cNvGrpSpPr/>
          <p:nvPr/>
        </p:nvGrpSpPr>
        <p:grpSpPr>
          <a:xfrm>
            <a:off x="6032182" y="4561522"/>
            <a:ext cx="5626418" cy="756285"/>
            <a:chOff x="6032182" y="4561522"/>
            <a:chExt cx="5626418" cy="756285"/>
          </a:xfrm>
        </p:grpSpPr>
        <p:sp>
          <p:nvSpPr>
            <p:cNvPr id="66" name="Rectangle 66"/>
            <p:cNvSpPr/>
            <p:nvPr/>
          </p:nvSpPr>
          <p:spPr>
            <a:xfrm>
              <a:off x="6032182" y="4561522"/>
              <a:ext cx="5626418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6236970" y="4839653"/>
              <a:ext cx="200026" cy="200025"/>
              <a:chOff x="6236970" y="4839653"/>
              <a:chExt cx="200026" cy="200025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6236970" y="483965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6276709" y="488410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6311424" y="499522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6539294" y="4708684"/>
              <a:ext cx="470331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读写指针在用户打开文件表里：两个进程打开同一文件，各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读各的位置，但共用内存中的同一份 FCB。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第8章 文件系统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45119" cy="909257"/>
            <a:chOff x="520446" y="342900"/>
            <a:chExt cx="714511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文件系统 · 文件系统的实现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4511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UNIX 的内存表目：u_ofile、file、inode 三级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4977765" cy="3342322"/>
            <a:chOff x="533400" y="1524000"/>
            <a:chExt cx="4977765" cy="334232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3342322"/>
            </a:xfrm>
            <a:prstGeom prst="roundRect">
              <a:avLst>
                <a:gd name="adj" fmla="val 285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331851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user {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每进程一个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...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u_ofile[NOFILE];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指向 file 表项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...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#define NOFILE 15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file {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整个系统一个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f_flag;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R、W、PIPE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f_count;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引用计数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f_inode;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指向内存 inode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*f_offset[2];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读写指针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 file[NFILE];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#define NFILE 100</a:t>
              </a:r>
            </a:p>
          </p:txBody>
        </p:sp>
      </p:grpSp>
      <p:grpSp>
        <p:nvGrpSpPr>
          <p:cNvPr id="35" name="c2-table-1"/>
          <p:cNvGrpSpPr/>
          <p:nvPr/>
        </p:nvGrpSpPr>
        <p:grpSpPr>
          <a:xfrm>
            <a:off x="5815965" y="1524000"/>
            <a:ext cx="5842635" cy="2697480"/>
            <a:chOff x="5815965" y="1524000"/>
            <a:chExt cx="5842635" cy="2697480"/>
          </a:xfrm>
        </p:grpSpPr>
        <p:sp>
          <p:nvSpPr>
            <p:cNvPr id="11" name="Rectangle 11"/>
            <p:cNvSpPr/>
            <p:nvPr/>
          </p:nvSpPr>
          <p:spPr>
            <a:xfrm>
              <a:off x="5815965" y="1524000"/>
              <a:ext cx="5842635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224003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通用概念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26268" y="1659731"/>
              <a:ext cx="7877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UNIX 实现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60350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个数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923788" y="222170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用户打开文件表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43026" y="2108359"/>
              <a:ext cx="210185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u_ofile[]（fd 是它的下标）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 file 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013823" y="2108359"/>
              <a:ext cx="13134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u_ofile 每进程一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个，file 系统一个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815965" y="264318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815965" y="2647950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923788" y="278368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系统打开文件表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43026" y="2783681"/>
              <a:ext cx="1064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 inode 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013823" y="278368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整个系统一个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815965" y="309276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923788" y="323230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读写指针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43026" y="3232309"/>
              <a:ext cx="16843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 表项的 f_offset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013823" y="3232309"/>
              <a:ext cx="14431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 file 表项一个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815965" y="354139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815965" y="3546158"/>
              <a:ext cx="584263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923788" y="379428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共享计数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443026" y="3680936"/>
              <a:ext cx="211810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 表的 f_count，inode 的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i_count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013823" y="379428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两级各一个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815965" y="1524000"/>
              <a:ext cx="5842635" cy="26974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30440" y="1524000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9901238" y="1524000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3" name="c2-card-2"/>
          <p:cNvGrpSpPr/>
          <p:nvPr/>
        </p:nvGrpSpPr>
        <p:grpSpPr>
          <a:xfrm>
            <a:off x="5815965" y="4411980"/>
            <a:ext cx="5842635" cy="1937385"/>
            <a:chOff x="5815965" y="4411980"/>
            <a:chExt cx="5842635" cy="1937385"/>
          </a:xfrm>
        </p:grpSpPr>
        <p:sp>
          <p:nvSpPr>
            <p:cNvPr id="36" name="Rectangle 36"/>
            <p:cNvSpPr/>
            <p:nvPr/>
          </p:nvSpPr>
          <p:spPr>
            <a:xfrm>
              <a:off x="5815965" y="4411980"/>
              <a:ext cx="5842635" cy="1937385"/>
            </a:xfrm>
            <a:prstGeom prst="roundRect">
              <a:avLst>
                <a:gd name="adj" fmla="val 6883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025515" y="4621530"/>
              <a:ext cx="1690688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079510" y="4657249"/>
              <a:ext cx="15817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为什么多出一张 file 表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031230" y="506158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189345" y="4998720"/>
              <a:ext cx="50539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fork 产生的父子进程，u_ofile 指向同一个 file 表项，共享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同一个读写指针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031230" y="568261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189345" y="5619750"/>
              <a:ext cx="49872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两个进程各自 open 同一文件，得到两个 file 表项，读写指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针互不影响，但指向同一个内存 inode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第8章 文件系统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43747" cy="909257"/>
            <a:chOff x="520446" y="342900"/>
            <a:chExt cx="62437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文件系统 · 文件系统的实现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437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UNIX inode：外存一份，打开后内存一份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0" name="c1-table-1"/>
          <p:cNvGrpSpPr/>
          <p:nvPr/>
        </p:nvGrpSpPr>
        <p:grpSpPr>
          <a:xfrm>
            <a:off x="533400" y="1524000"/>
            <a:ext cx="6492240" cy="4669155"/>
            <a:chOff x="533400" y="1524000"/>
            <a:chExt cx="6492240" cy="46691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4248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09675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字段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676650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89282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外存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68428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5889" y="2076450"/>
              <a:ext cx="5634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i_mode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323719" y="207645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文件类型、访问权限（共享说明）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770054" y="207645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49200" y="207645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36791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372678"/>
              <a:ext cx="649224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5889" y="2501265"/>
              <a:ext cx="5380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i_nlink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323719" y="2501265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链接计数（有几个目录项指向它）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770054" y="250126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549200" y="250126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79273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5889" y="2926080"/>
              <a:ext cx="9370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i_uid、i_gid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323719" y="292608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文件主和所在组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770054" y="292608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549200" y="292608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21659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221355"/>
              <a:ext cx="649224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5889" y="3349942"/>
              <a:ext cx="1310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i_size0、i_size1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323719" y="334994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文件长度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770054" y="334994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49200" y="334994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64140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5889" y="3774757"/>
              <a:ext cx="8094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i_addr[8]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323719" y="3774757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文件地址（块号）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770054" y="3774757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49200" y="3774757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06622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4070985"/>
              <a:ext cx="649224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5889" y="4198620"/>
              <a:ext cx="14119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i_atime、i_mtime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323719" y="419862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最后访问、修改时间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770054" y="419862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49200" y="419862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449008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5889" y="4623435"/>
              <a:ext cx="4871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i_flag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323719" y="4623435"/>
              <a:ext cx="28998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状态标志（ILOCK、IUPD、IMOUNT 等）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770054" y="462343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549200" y="462343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491490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33400" y="4919662"/>
              <a:ext cx="649224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5889" y="5048250"/>
              <a:ext cx="6228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i_count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323719" y="50482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引用计数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770054" y="504825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549200" y="504825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33400" y="533876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35889" y="5472112"/>
              <a:ext cx="13356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i_dev、i_number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2323719" y="5472112"/>
              <a:ext cx="22899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所在设备和 inode 号，回写时用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770054" y="547211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549200" y="547211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33400" y="576357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533400" y="5768340"/>
              <a:ext cx="649224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35889" y="5896928"/>
              <a:ext cx="5804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i_lastr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2323719" y="5896928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上次读的逻辑块号，用于预读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770054" y="5896928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549200" y="5896928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33400" y="1524000"/>
              <a:ext cx="6492240" cy="46691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2216468" y="1524000"/>
              <a:ext cx="9525" cy="46691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5462588" y="1524000"/>
              <a:ext cx="9525" cy="46691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6241732" y="1524000"/>
              <a:ext cx="9525" cy="46691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9" name="c2-card-1"/>
          <p:cNvGrpSpPr/>
          <p:nvPr/>
        </p:nvGrpSpPr>
        <p:grpSpPr>
          <a:xfrm>
            <a:off x="7330440" y="1524000"/>
            <a:ext cx="4328160" cy="2111692"/>
            <a:chOff x="7330440" y="1524000"/>
            <a:chExt cx="4328160" cy="2111692"/>
          </a:xfrm>
        </p:grpSpPr>
        <p:sp>
          <p:nvSpPr>
            <p:cNvPr id="71" name="Rectangle 71"/>
            <p:cNvSpPr/>
            <p:nvPr/>
          </p:nvSpPr>
          <p:spPr>
            <a:xfrm>
              <a:off x="7330440" y="1524000"/>
              <a:ext cx="4328160" cy="2111692"/>
            </a:xfrm>
            <a:prstGeom prst="roundRect">
              <a:avLst>
                <a:gd name="adj" fmla="val 63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7339965" y="1657350"/>
              <a:ext cx="47625" cy="184499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7566660" y="1722120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638098" y="175641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两个版本的差别</a:t>
              </a:r>
            </a:p>
          </p:txBody>
        </p:sp>
        <p:sp>
          <p:nvSpPr>
            <p:cNvPr id="75" name="Ellipse 75"/>
            <p:cNvSpPr/>
            <p:nvPr/>
          </p:nvSpPr>
          <p:spPr>
            <a:xfrm>
              <a:off x="7574280" y="214312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730871" y="2082641"/>
              <a:ext cx="3567176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 inode 多出 i_flag、i_count、i_dev、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i_number、i_lastr，只在文件被使用期间有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意义</a:t>
              </a:r>
            </a:p>
          </p:txBody>
        </p:sp>
        <p:sp>
          <p:nvSpPr>
            <p:cNvPr id="77" name="Ellipse 77"/>
            <p:cNvSpPr/>
            <p:nvPr/>
          </p:nvSpPr>
          <p:spPr>
            <a:xfrm>
              <a:off x="7574280" y="300323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730871" y="2943701"/>
              <a:ext cx="345897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 inode 区为所有已安装的文件卷共用，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所以要用 i_dev 指明属于哪个卷</a:t>
              </a:r>
            </a:p>
          </p:txBody>
        </p:sp>
      </p:grpSp>
      <p:grpSp>
        <p:nvGrpSpPr>
          <p:cNvPr id="86" name="c2-card-2"/>
          <p:cNvGrpSpPr/>
          <p:nvPr/>
        </p:nvGrpSpPr>
        <p:grpSpPr>
          <a:xfrm>
            <a:off x="7330440" y="3815715"/>
            <a:ext cx="4328160" cy="2376488"/>
            <a:chOff x="7330440" y="3815715"/>
            <a:chExt cx="4328160" cy="2376488"/>
          </a:xfrm>
        </p:grpSpPr>
        <p:sp>
          <p:nvSpPr>
            <p:cNvPr id="80" name="Rectangle 80"/>
            <p:cNvSpPr/>
            <p:nvPr/>
          </p:nvSpPr>
          <p:spPr>
            <a:xfrm>
              <a:off x="7330440" y="3815715"/>
              <a:ext cx="4328160" cy="2376488"/>
            </a:xfrm>
            <a:prstGeom prst="roundRect">
              <a:avLst>
                <a:gd name="adj" fmla="val 56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7339965" y="3949065"/>
              <a:ext cx="47625" cy="210978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7566660" y="4013835"/>
              <a:ext cx="1639252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7616954" y="4048125"/>
              <a:ext cx="15377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补充：V6 的 i_addr[8]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559421" y="4374356"/>
              <a:ext cx="3675380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课件结构体取自 UNIX V6，只有 8 个地址项：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小文件 8 项都是直接地址；大文件前 7 项为一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次间接，第 8 项为二次间接。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560564" y="5232082"/>
              <a:ext cx="35326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前面 13 个地址项（10 直接 + 3 级间接）的方案对应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UNIX System V。</a:t>
              </a:r>
            </a:p>
          </p:txBody>
        </p:sp>
      </p:grpSp>
      <p:grpSp>
        <p:nvGrpSpPr>
          <p:cNvPr id="8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7" name="TextBox 87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第8章 文件系统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17235" cy="909257"/>
            <a:chOff x="520446" y="342900"/>
            <a:chExt cx="711723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文件系统 · 文件系统的实现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1723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表间联系：u_ofile → file → inode 都是多对一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9" name="c1-graph-1"/>
          <p:cNvGrpSpPr/>
          <p:nvPr/>
        </p:nvGrpSpPr>
        <p:grpSpPr>
          <a:xfrm>
            <a:off x="709612" y="1555432"/>
            <a:ext cx="6559868" cy="3438525"/>
            <a:chOff x="709612" y="1555432"/>
            <a:chExt cx="6559868" cy="3438525"/>
          </a:xfrm>
        </p:grpSpPr>
        <p:sp>
          <p:nvSpPr>
            <p:cNvPr id="7" name="Freeform 7"/>
            <p:cNvSpPr/>
            <p:nvPr/>
          </p:nvSpPr>
          <p:spPr>
            <a:xfrm>
              <a:off x="1969770" y="2387918"/>
              <a:ext cx="863917" cy="225742"/>
            </a:xfrm>
            <a:custGeom>
              <a:avLst/>
              <a:gdLst/>
              <a:ahLst/>
              <a:cxnLst/>
              <a:rect l="l" t="t" r="r" b="b"/>
              <a:pathLst>
                <a:path w="863917" h="225742">
                  <a:moveTo>
                    <a:pt x="0" y="0"/>
                  </a:moveTo>
                  <a:lnTo>
                    <a:pt x="863917" y="22574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821305" y="2567940"/>
              <a:ext cx="103823" cy="91440"/>
            </a:xfrm>
            <a:custGeom>
              <a:avLst/>
              <a:gdLst/>
              <a:ahLst/>
              <a:cxnLst/>
              <a:rect l="l" t="t" r="r" b="b"/>
              <a:pathLst>
                <a:path w="103823" h="91440">
                  <a:moveTo>
                    <a:pt x="103823" y="69532"/>
                  </a:moveTo>
                  <a:lnTo>
                    <a:pt x="0" y="91440"/>
                  </a:lnTo>
                  <a:lnTo>
                    <a:pt x="2381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969770" y="2895600"/>
              <a:ext cx="863917" cy="225742"/>
            </a:xfrm>
            <a:custGeom>
              <a:avLst/>
              <a:gdLst/>
              <a:ahLst/>
              <a:cxnLst/>
              <a:rect l="l" t="t" r="r" b="b"/>
              <a:pathLst>
                <a:path w="863917" h="225742">
                  <a:moveTo>
                    <a:pt x="0" y="225742"/>
                  </a:moveTo>
                  <a:lnTo>
                    <a:pt x="86391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821305" y="2849880"/>
              <a:ext cx="103823" cy="91440"/>
            </a:xfrm>
            <a:custGeom>
              <a:avLst/>
              <a:gdLst/>
              <a:ahLst/>
              <a:cxnLst/>
              <a:rect l="l" t="t" r="r" b="b"/>
              <a:pathLst>
                <a:path w="103823" h="91440">
                  <a:moveTo>
                    <a:pt x="103823" y="21908"/>
                  </a:moveTo>
                  <a:lnTo>
                    <a:pt x="23812" y="914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157412" y="4118610"/>
              <a:ext cx="673417" cy="75248"/>
            </a:xfrm>
            <a:custGeom>
              <a:avLst/>
              <a:gdLst/>
              <a:ahLst/>
              <a:cxnLst/>
              <a:rect l="l" t="t" r="r" b="b"/>
              <a:pathLst>
                <a:path w="673417" h="75248">
                  <a:moveTo>
                    <a:pt x="0" y="75248"/>
                  </a:moveTo>
                  <a:lnTo>
                    <a:pt x="67341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825115" y="4070985"/>
              <a:ext cx="100012" cy="94298"/>
            </a:xfrm>
            <a:custGeom>
              <a:avLst/>
              <a:gdLst/>
              <a:ahLst/>
              <a:cxnLst/>
              <a:rect l="l" t="t" r="r" b="b"/>
              <a:pathLst>
                <a:path w="100012" h="94298">
                  <a:moveTo>
                    <a:pt x="100012" y="37148"/>
                  </a:moveTo>
                  <a:lnTo>
                    <a:pt x="11430" y="942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819525" y="2754630"/>
              <a:ext cx="755333" cy="9525"/>
            </a:xfrm>
            <a:custGeom>
              <a:avLst/>
              <a:gdLst/>
              <a:ahLst/>
              <a:cxnLst/>
              <a:rect l="l" t="t" r="r" b="b"/>
              <a:pathLst>
                <a:path w="755333" h="9525">
                  <a:moveTo>
                    <a:pt x="0" y="0"/>
                  </a:moveTo>
                  <a:lnTo>
                    <a:pt x="75533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574858" y="270700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819525" y="4147185"/>
              <a:ext cx="757238" cy="152400"/>
            </a:xfrm>
            <a:custGeom>
              <a:avLst/>
              <a:gdLst/>
              <a:ahLst/>
              <a:cxnLst/>
              <a:rect l="l" t="t" r="r" b="b"/>
              <a:pathLst>
                <a:path w="757238" h="152400">
                  <a:moveTo>
                    <a:pt x="0" y="0"/>
                  </a:moveTo>
                  <a:lnTo>
                    <a:pt x="757238" y="1524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567238" y="4252912"/>
              <a:ext cx="102870" cy="93345"/>
            </a:xfrm>
            <a:custGeom>
              <a:avLst/>
              <a:gdLst/>
              <a:ahLst/>
              <a:cxnLst/>
              <a:rect l="l" t="t" r="r" b="b"/>
              <a:pathLst>
                <a:path w="102870" h="93345">
                  <a:moveTo>
                    <a:pt x="102870" y="65722"/>
                  </a:moveTo>
                  <a:lnTo>
                    <a:pt x="0" y="93345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3952875" y="4563428"/>
              <a:ext cx="624840" cy="150495"/>
            </a:xfrm>
            <a:custGeom>
              <a:avLst/>
              <a:gdLst/>
              <a:ahLst/>
              <a:cxnLst/>
              <a:rect l="l" t="t" r="r" b="b"/>
              <a:pathLst>
                <a:path w="624840" h="150495">
                  <a:moveTo>
                    <a:pt x="0" y="150495"/>
                  </a:moveTo>
                  <a:lnTo>
                    <a:pt x="62484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566285" y="4516755"/>
              <a:ext cx="103823" cy="92392"/>
            </a:xfrm>
            <a:custGeom>
              <a:avLst/>
              <a:gdLst/>
              <a:ahLst/>
              <a:cxnLst/>
              <a:rect l="l" t="t" r="r" b="b"/>
              <a:pathLst>
                <a:path w="103823" h="92392">
                  <a:moveTo>
                    <a:pt x="103823" y="23812"/>
                  </a:moveTo>
                  <a:lnTo>
                    <a:pt x="21908" y="92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5771198" y="2754630"/>
              <a:ext cx="396240" cy="9525"/>
            </a:xfrm>
            <a:custGeom>
              <a:avLst/>
              <a:gdLst/>
              <a:ahLst/>
              <a:cxnLst/>
              <a:rect l="l" t="t" r="r" b="b"/>
              <a:pathLst>
                <a:path w="396240" h="9525">
                  <a:moveTo>
                    <a:pt x="0" y="0"/>
                  </a:moveTo>
                  <a:lnTo>
                    <a:pt x="39624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20" name="Freeform 20"/>
            <p:cNvSpPr/>
            <p:nvPr/>
          </p:nvSpPr>
          <p:spPr>
            <a:xfrm>
              <a:off x="6167438" y="270700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5675948" y="270700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5771198" y="4419600"/>
              <a:ext cx="396240" cy="9525"/>
            </a:xfrm>
            <a:custGeom>
              <a:avLst/>
              <a:gdLst/>
              <a:ahLst/>
              <a:cxnLst/>
              <a:rect l="l" t="t" r="r" b="b"/>
              <a:pathLst>
                <a:path w="396240" h="9525">
                  <a:moveTo>
                    <a:pt x="0" y="0"/>
                  </a:moveTo>
                  <a:lnTo>
                    <a:pt x="39624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23" name="Freeform 23"/>
            <p:cNvSpPr/>
            <p:nvPr/>
          </p:nvSpPr>
          <p:spPr>
            <a:xfrm>
              <a:off x="6167438" y="43719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5675948" y="43719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09612" y="2107882"/>
              <a:ext cx="1447800" cy="280035"/>
            </a:xfrm>
            <a:prstGeom prst="roundRect">
              <a:avLst>
                <a:gd name="adj" fmla="val 34014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709612" y="3121342"/>
              <a:ext cx="1447800" cy="280035"/>
            </a:xfrm>
            <a:prstGeom prst="roundRect">
              <a:avLst>
                <a:gd name="adj" fmla="val 34014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709612" y="4134802"/>
              <a:ext cx="1447800" cy="280035"/>
            </a:xfrm>
            <a:prstGeom prst="roundRect">
              <a:avLst>
                <a:gd name="adj" fmla="val 34014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2925128" y="2614612"/>
              <a:ext cx="894398" cy="280035"/>
            </a:xfrm>
            <a:prstGeom prst="roundRect">
              <a:avLst>
                <a:gd name="adj" fmla="val 34014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2925128" y="3917632"/>
              <a:ext cx="894398" cy="280035"/>
            </a:xfrm>
            <a:prstGeom prst="roundRect">
              <a:avLst>
                <a:gd name="adj" fmla="val 34014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2417445" y="4713922"/>
              <a:ext cx="1910715" cy="280035"/>
            </a:xfrm>
            <a:prstGeom prst="roundRect">
              <a:avLst>
                <a:gd name="adj" fmla="val 34014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4670108" y="2614612"/>
              <a:ext cx="1006792" cy="280035"/>
            </a:xfrm>
            <a:prstGeom prst="roundRect">
              <a:avLst>
                <a:gd name="adj" fmla="val 34014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4670108" y="4279582"/>
              <a:ext cx="1006792" cy="280035"/>
            </a:xfrm>
            <a:prstGeom prst="roundRect">
              <a:avLst>
                <a:gd name="adj" fmla="val 34014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262688" y="2614612"/>
              <a:ext cx="1006792" cy="280035"/>
            </a:xfrm>
            <a:prstGeom prst="roundRect">
              <a:avLst>
                <a:gd name="adj" fmla="val 34014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62688" y="4279582"/>
              <a:ext cx="1006792" cy="280035"/>
            </a:xfrm>
            <a:prstGeom prst="roundRect">
              <a:avLst>
                <a:gd name="adj" fmla="val 34014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78457" y="2182178"/>
              <a:ext cx="13101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进程 A：u_ofile[4]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78457" y="3195638"/>
              <a:ext cx="13101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进程 B：u_ofile[4]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78457" y="4209098"/>
              <a:ext cx="13101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进程 B：u_ofile[2]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014621" y="2688908"/>
              <a:ext cx="7163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 表项 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014621" y="3991928"/>
              <a:ext cx="7163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 表项 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475720" y="4788218"/>
              <a:ext cx="17941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file 表项 3（另一次 open）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752923" y="2688908"/>
              <a:ext cx="8402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内存 inode X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752923" y="4353878"/>
              <a:ext cx="8402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内存 inode Y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345503" y="2688908"/>
              <a:ext cx="8402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磁盘 inode X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345503" y="4353878"/>
              <a:ext cx="8402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磁盘 inode Y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45288" y="1555432"/>
              <a:ext cx="9764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进程的 u_ofile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724321" y="1555432"/>
              <a:ext cx="12969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file 表（系统一张）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725618" y="1555432"/>
              <a:ext cx="8948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内存 inode 表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07426" y="1555432"/>
              <a:ext cx="7163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磁盘 i_list</a:t>
              </a:r>
            </a:p>
          </p:txBody>
        </p:sp>
      </p:grpSp>
      <p:grpSp>
        <p:nvGrpSpPr>
          <p:cNvPr id="61" name="c2-table-1"/>
          <p:cNvGrpSpPr/>
          <p:nvPr/>
        </p:nvGrpSpPr>
        <p:grpSpPr>
          <a:xfrm>
            <a:off x="7762875" y="1524000"/>
            <a:ext cx="3895725" cy="2026920"/>
            <a:chOff x="7762875" y="1524000"/>
            <a:chExt cx="3895725" cy="2026920"/>
          </a:xfrm>
        </p:grpSpPr>
        <p:sp>
          <p:nvSpPr>
            <p:cNvPr id="50" name="Rectangle 50"/>
            <p:cNvSpPr/>
            <p:nvPr/>
          </p:nvSpPr>
          <p:spPr>
            <a:xfrm>
              <a:off x="7762875" y="1524000"/>
              <a:ext cx="3895725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28607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联系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888360" y="165973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什么时候出现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870698" y="2108359"/>
              <a:ext cx="101229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u_ofile →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file（n : 1）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273730" y="2108359"/>
              <a:ext cx="20449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fork 之后父子进程共享同一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 表项，读写指针也共享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7762875" y="2643188"/>
              <a:ext cx="389572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7762875" y="2647950"/>
              <a:ext cx="3895725" cy="9020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870698" y="2897029"/>
              <a:ext cx="926135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 → inode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（n : 1）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273730" y="2783681"/>
              <a:ext cx="2093722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同一文件被 open 多次：每次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open 得到新的 file 表项，指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向同一个内存 inode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762875" y="1524000"/>
              <a:ext cx="3895725" cy="20269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9161145" y="1524000"/>
              <a:ext cx="9525" cy="20269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8" name="c2-callout-2"/>
          <p:cNvGrpSpPr/>
          <p:nvPr/>
        </p:nvGrpSpPr>
        <p:grpSpPr>
          <a:xfrm>
            <a:off x="7762875" y="3741420"/>
            <a:ext cx="3895725" cy="1335405"/>
            <a:chOff x="7762875" y="3741420"/>
            <a:chExt cx="3895725" cy="1335405"/>
          </a:xfrm>
        </p:grpSpPr>
        <p:sp>
          <p:nvSpPr>
            <p:cNvPr id="62" name="Rectangle 62"/>
            <p:cNvSpPr/>
            <p:nvPr/>
          </p:nvSpPr>
          <p:spPr>
            <a:xfrm>
              <a:off x="7762875" y="3741420"/>
              <a:ext cx="3895725" cy="1335405"/>
            </a:xfrm>
            <a:prstGeom prst="roundRect">
              <a:avLst>
                <a:gd name="adj" fmla="val 85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967663" y="4309110"/>
              <a:ext cx="200026" cy="200026"/>
              <a:chOff x="7967663" y="4309110"/>
              <a:chExt cx="200026" cy="200026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7967663" y="43091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067675" y="43757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056563" y="440912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8269605" y="3890010"/>
              <a:ext cx="2920365" cy="1122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图中：A、B 的 fd 4 共用 file 表项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1（例如 B 由 A fork 而来）；B 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fd 2 和另一次 open 得到的表项 3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指向同一个 inode Y。</a:t>
              </a:r>
            </a:p>
          </p:txBody>
        </p:sp>
      </p:grpSp>
      <p:grpSp>
        <p:nvGrpSpPr>
          <p:cNvPr id="74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69" name="Rectangle 69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738188" y="5871212"/>
              <a:ext cx="200023" cy="200023"/>
              <a:chOff x="738188" y="5871212"/>
              <a:chExt cx="200023" cy="200023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738188" y="58712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71538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1040130" y="5728335"/>
              <a:ext cx="96545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read(4, …) 的查找路线：u_ofile[4] → file 表项（取 f_offset、检查 f_flag）→ 内存 inode（取 i_addr）→ 数据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块。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第8章 文件系统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文件系统 · 文件系统的实现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外存空闲空间的四种管理方法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table-1"/>
          <p:cNvGrpSpPr/>
          <p:nvPr/>
        </p:nvGrpSpPr>
        <p:grpSpPr>
          <a:xfrm>
            <a:off x="533400" y="1524000"/>
            <a:ext cx="6059805" cy="3150870"/>
            <a:chOff x="533400" y="1524000"/>
            <a:chExt cx="6059805" cy="31508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2135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02065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8380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22170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空闲块表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74723" y="2108359"/>
              <a:ext cx="22887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用一张表登记所有空闲块（或空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闲区的起始块号和块数）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40770" y="2108359"/>
              <a:ext cx="16385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适合连续分配；表本身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占空间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4318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647950"/>
              <a:ext cx="605980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89702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空闲块链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74723" y="2783681"/>
              <a:ext cx="22887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空闲块用指针链接起来，只记链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头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40770" y="2783681"/>
              <a:ext cx="16385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不占额外空间；分配多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块要逐块读盘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31946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459004"/>
              <a:ext cx="8257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字位映像图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（Linux）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74723" y="3572351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每块对应一位，表示占用或空闲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40770" y="357235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容易找到连续的空闲块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99478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999548"/>
              <a:ext cx="605980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42925" y="4009072"/>
              <a:ext cx="1314450" cy="65627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1223" y="4134326"/>
              <a:ext cx="67091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成组连接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（UNIX）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974723" y="4134326"/>
              <a:ext cx="23294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空闲块 100 个一组，组间链接，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第一组缓冲在内存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40770" y="424767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速度快，空间省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1524000"/>
              <a:ext cx="6059805" cy="31508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862138" y="1524000"/>
              <a:ext cx="9525" cy="31508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528185" y="1524000"/>
              <a:ext cx="9525" cy="31508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6" name="c1-cells-2"/>
          <p:cNvGrpSpPr/>
          <p:nvPr/>
        </p:nvGrpSpPr>
        <p:grpSpPr>
          <a:xfrm>
            <a:off x="527685" y="4865370"/>
            <a:ext cx="4913947" cy="419100"/>
            <a:chOff x="527685" y="4865370"/>
            <a:chExt cx="4913947" cy="419100"/>
          </a:xfrm>
        </p:grpSpPr>
        <p:sp>
          <p:nvSpPr>
            <p:cNvPr id="33" name="TextBox 33"/>
            <p:cNvSpPr txBox="1"/>
            <p:nvPr/>
          </p:nvSpPr>
          <p:spPr>
            <a:xfrm>
              <a:off x="527685" y="500491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空闲块链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235392" y="4865370"/>
              <a:ext cx="59912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387045" y="5004911"/>
              <a:ext cx="296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 5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834515" y="4865370"/>
              <a:ext cx="20955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1910715" y="5046345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1939290" y="507492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2282190" y="503205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2367915" y="4865370"/>
              <a:ext cx="5991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519567" y="5004911"/>
              <a:ext cx="296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 9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2967038" y="4865370"/>
              <a:ext cx="20955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3043238" y="5046345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3071812" y="507492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3414712" y="503205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3500438" y="4865370"/>
              <a:ext cx="5991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3607601" y="5004911"/>
              <a:ext cx="3838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 12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4099560" y="4865370"/>
              <a:ext cx="20955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4175760" y="5046345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4204335" y="507492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4547235" y="503205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4632960" y="4865370"/>
              <a:ext cx="5991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740124" y="5004911"/>
              <a:ext cx="3838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 20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232082" y="4865370"/>
              <a:ext cx="20955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295624" y="5012531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</p:grpSp>
      <p:grpSp>
        <p:nvGrpSpPr>
          <p:cNvPr id="63" name="c1-callout-3"/>
          <p:cNvGrpSpPr/>
          <p:nvPr/>
        </p:nvGrpSpPr>
        <p:grpSpPr>
          <a:xfrm>
            <a:off x="533400" y="5474970"/>
            <a:ext cx="6059805" cy="782955"/>
            <a:chOff x="533400" y="5474970"/>
            <a:chExt cx="6059805" cy="782955"/>
          </a:xfrm>
        </p:grpSpPr>
        <p:sp>
          <p:nvSpPr>
            <p:cNvPr id="57" name="Rectangle 57"/>
            <p:cNvSpPr/>
            <p:nvPr/>
          </p:nvSpPr>
          <p:spPr>
            <a:xfrm>
              <a:off x="533400" y="5474970"/>
              <a:ext cx="6059805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38188" y="5766435"/>
              <a:ext cx="200026" cy="200026"/>
              <a:chOff x="738188" y="5766435"/>
              <a:chExt cx="200026" cy="200026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738188" y="576643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38200" y="583311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27088" y="586644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0130" y="5623560"/>
              <a:ext cx="51492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空闲块链例：链头记块 5，块 5 中存着下一个空闲块号 9，依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此类推。分配 3 块要依次读块 5、9、12 才能取出后继块号。</a:t>
              </a:r>
            </a:p>
          </p:txBody>
        </p:sp>
      </p:grpSp>
      <p:grpSp>
        <p:nvGrpSpPr>
          <p:cNvPr id="69" name="c2-card-1"/>
          <p:cNvGrpSpPr/>
          <p:nvPr/>
        </p:nvGrpSpPr>
        <p:grpSpPr>
          <a:xfrm>
            <a:off x="6898005" y="1524000"/>
            <a:ext cx="4760595" cy="1602105"/>
            <a:chOff x="6898005" y="1524000"/>
            <a:chExt cx="4760595" cy="1602105"/>
          </a:xfrm>
        </p:grpSpPr>
        <p:sp>
          <p:nvSpPr>
            <p:cNvPr id="64" name="Rectangle 64"/>
            <p:cNvSpPr/>
            <p:nvPr/>
          </p:nvSpPr>
          <p:spPr>
            <a:xfrm>
              <a:off x="6898005" y="1524000"/>
              <a:ext cx="476059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6907530" y="165735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7145655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227011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位示图例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138035" y="2110740"/>
              <a:ext cx="4015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每字 16 位，1 表示占用、0 表示空闲；字号 i、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位号 j 都从 0 起，位号从左数。块号 b = 16 × i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j。</a:t>
              </a:r>
            </a:p>
          </p:txBody>
        </p:sp>
      </p:grpSp>
      <p:grpSp>
        <p:nvGrpSpPr>
          <p:cNvPr id="154" name="c2-cells-2"/>
          <p:cNvGrpSpPr/>
          <p:nvPr/>
        </p:nvGrpSpPr>
        <p:grpSpPr>
          <a:xfrm>
            <a:off x="6893052" y="3316605"/>
            <a:ext cx="4765548" cy="1501616"/>
            <a:chOff x="6893052" y="3316605"/>
            <a:chExt cx="4765548" cy="1501616"/>
          </a:xfrm>
        </p:grpSpPr>
        <p:sp>
          <p:nvSpPr>
            <p:cNvPr id="70" name="TextBox 70"/>
            <p:cNvSpPr txBox="1"/>
            <p:nvPr/>
          </p:nvSpPr>
          <p:spPr>
            <a:xfrm>
              <a:off x="6893052" y="3465671"/>
              <a:ext cx="2595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字 0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7266622" y="3316605"/>
              <a:ext cx="2743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360735" y="346567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7540942" y="3316605"/>
              <a:ext cx="2743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635055" y="346567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7815262" y="3316605"/>
              <a:ext cx="2743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909375" y="346567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8089582" y="3316605"/>
              <a:ext cx="2743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8184648" y="346567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8364855" y="3316605"/>
              <a:ext cx="2743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8458968" y="346567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8639175" y="3316605"/>
              <a:ext cx="2743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8733288" y="346567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8913495" y="3316605"/>
              <a:ext cx="2743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9007608" y="346567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9187815" y="3316605"/>
              <a:ext cx="2743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9281928" y="346567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9462135" y="3316605"/>
              <a:ext cx="2743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9557200" y="346567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9737408" y="3316605"/>
              <a:ext cx="2743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9831520" y="346567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10011728" y="3316605"/>
              <a:ext cx="2743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10105840" y="346567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10286048" y="3316605"/>
              <a:ext cx="2743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10380160" y="346567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10560368" y="3316605"/>
              <a:ext cx="2743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10654480" y="346567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10834688" y="3316605"/>
              <a:ext cx="2743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10929753" y="346567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11109960" y="3316605"/>
              <a:ext cx="2743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11204073" y="346567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11384280" y="3316605"/>
              <a:ext cx="2743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11478393" y="346567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7368663" y="378952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7642983" y="378952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7917303" y="378952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8192576" y="378952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8466896" y="378952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8741216" y="378952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9015536" y="378952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9289856" y="378952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9565128" y="378952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9839448" y="378952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10083411" y="378952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10357731" y="378952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10632051" y="378952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10907324" y="378952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11181644" y="378952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11455964" y="378952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6893052" y="4237196"/>
              <a:ext cx="2595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字 1</a:t>
              </a:r>
            </a:p>
          </p:txBody>
        </p:sp>
        <p:sp>
          <p:nvSpPr>
            <p:cNvPr id="120" name="Rectangle 120"/>
            <p:cNvSpPr/>
            <p:nvPr/>
          </p:nvSpPr>
          <p:spPr>
            <a:xfrm>
              <a:off x="7266622" y="4088130"/>
              <a:ext cx="2743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21" name="TextBox 121"/>
            <p:cNvSpPr txBox="1"/>
            <p:nvPr/>
          </p:nvSpPr>
          <p:spPr>
            <a:xfrm>
              <a:off x="7360735" y="423719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2" name="Rectangle 122"/>
            <p:cNvSpPr/>
            <p:nvPr/>
          </p:nvSpPr>
          <p:spPr>
            <a:xfrm>
              <a:off x="7540942" y="4088130"/>
              <a:ext cx="2743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23" name="TextBox 123"/>
            <p:cNvSpPr txBox="1"/>
            <p:nvPr/>
          </p:nvSpPr>
          <p:spPr>
            <a:xfrm>
              <a:off x="7635055" y="423719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4" name="Rectangle 124"/>
            <p:cNvSpPr/>
            <p:nvPr/>
          </p:nvSpPr>
          <p:spPr>
            <a:xfrm>
              <a:off x="7815262" y="4088130"/>
              <a:ext cx="2743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25" name="TextBox 125"/>
            <p:cNvSpPr txBox="1"/>
            <p:nvPr/>
          </p:nvSpPr>
          <p:spPr>
            <a:xfrm>
              <a:off x="7909375" y="423719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6" name="Rectangle 126"/>
            <p:cNvSpPr/>
            <p:nvPr/>
          </p:nvSpPr>
          <p:spPr>
            <a:xfrm>
              <a:off x="8089582" y="4088130"/>
              <a:ext cx="2743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27" name="TextBox 127"/>
            <p:cNvSpPr txBox="1"/>
            <p:nvPr/>
          </p:nvSpPr>
          <p:spPr>
            <a:xfrm>
              <a:off x="8184648" y="423719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8" name="Rectangle 128"/>
            <p:cNvSpPr/>
            <p:nvPr/>
          </p:nvSpPr>
          <p:spPr>
            <a:xfrm>
              <a:off x="8364855" y="4088130"/>
              <a:ext cx="27432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29" name="TextBox 129"/>
            <p:cNvSpPr txBox="1"/>
            <p:nvPr/>
          </p:nvSpPr>
          <p:spPr>
            <a:xfrm>
              <a:off x="8458968" y="423719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30" name="Rectangle 130"/>
            <p:cNvSpPr/>
            <p:nvPr/>
          </p:nvSpPr>
          <p:spPr>
            <a:xfrm>
              <a:off x="8639175" y="4088130"/>
              <a:ext cx="2743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31" name="TextBox 131"/>
            <p:cNvSpPr txBox="1"/>
            <p:nvPr/>
          </p:nvSpPr>
          <p:spPr>
            <a:xfrm>
              <a:off x="8733288" y="423719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2" name="Rectangle 132"/>
            <p:cNvSpPr/>
            <p:nvPr/>
          </p:nvSpPr>
          <p:spPr>
            <a:xfrm>
              <a:off x="8913495" y="4088130"/>
              <a:ext cx="2743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33" name="TextBox 133"/>
            <p:cNvSpPr txBox="1"/>
            <p:nvPr/>
          </p:nvSpPr>
          <p:spPr>
            <a:xfrm>
              <a:off x="9007608" y="423719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4" name="Rectangle 134"/>
            <p:cNvSpPr/>
            <p:nvPr/>
          </p:nvSpPr>
          <p:spPr>
            <a:xfrm>
              <a:off x="9187815" y="4088130"/>
              <a:ext cx="2743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35" name="TextBox 135"/>
            <p:cNvSpPr txBox="1"/>
            <p:nvPr/>
          </p:nvSpPr>
          <p:spPr>
            <a:xfrm>
              <a:off x="9281928" y="423719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6" name="Rectangle 136"/>
            <p:cNvSpPr/>
            <p:nvPr/>
          </p:nvSpPr>
          <p:spPr>
            <a:xfrm>
              <a:off x="9462135" y="4088130"/>
              <a:ext cx="2743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37" name="TextBox 137"/>
            <p:cNvSpPr txBox="1"/>
            <p:nvPr/>
          </p:nvSpPr>
          <p:spPr>
            <a:xfrm>
              <a:off x="9557200" y="423719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8" name="Rectangle 138"/>
            <p:cNvSpPr/>
            <p:nvPr/>
          </p:nvSpPr>
          <p:spPr>
            <a:xfrm>
              <a:off x="9737408" y="4088130"/>
              <a:ext cx="2743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39" name="TextBox 139"/>
            <p:cNvSpPr txBox="1"/>
            <p:nvPr/>
          </p:nvSpPr>
          <p:spPr>
            <a:xfrm>
              <a:off x="9831520" y="423719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0" name="Rectangle 140"/>
            <p:cNvSpPr/>
            <p:nvPr/>
          </p:nvSpPr>
          <p:spPr>
            <a:xfrm>
              <a:off x="10011728" y="4088130"/>
              <a:ext cx="2743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41" name="TextBox 141"/>
            <p:cNvSpPr txBox="1"/>
            <p:nvPr/>
          </p:nvSpPr>
          <p:spPr>
            <a:xfrm>
              <a:off x="10105840" y="423719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2" name="Rectangle 142"/>
            <p:cNvSpPr/>
            <p:nvPr/>
          </p:nvSpPr>
          <p:spPr>
            <a:xfrm>
              <a:off x="10286048" y="4088130"/>
              <a:ext cx="2743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43" name="TextBox 143"/>
            <p:cNvSpPr txBox="1"/>
            <p:nvPr/>
          </p:nvSpPr>
          <p:spPr>
            <a:xfrm>
              <a:off x="10380160" y="423719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4" name="Rectangle 144"/>
            <p:cNvSpPr/>
            <p:nvPr/>
          </p:nvSpPr>
          <p:spPr>
            <a:xfrm>
              <a:off x="10560368" y="4088130"/>
              <a:ext cx="2743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45" name="TextBox 145"/>
            <p:cNvSpPr txBox="1"/>
            <p:nvPr/>
          </p:nvSpPr>
          <p:spPr>
            <a:xfrm>
              <a:off x="10654480" y="423719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6" name="Rectangle 146"/>
            <p:cNvSpPr/>
            <p:nvPr/>
          </p:nvSpPr>
          <p:spPr>
            <a:xfrm>
              <a:off x="10834688" y="4088130"/>
              <a:ext cx="2743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47" name="TextBox 147"/>
            <p:cNvSpPr txBox="1"/>
            <p:nvPr/>
          </p:nvSpPr>
          <p:spPr>
            <a:xfrm>
              <a:off x="10929753" y="423719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8" name="Rectangle 148"/>
            <p:cNvSpPr/>
            <p:nvPr/>
          </p:nvSpPr>
          <p:spPr>
            <a:xfrm>
              <a:off x="11109960" y="4088130"/>
              <a:ext cx="2743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49" name="TextBox 149"/>
            <p:cNvSpPr txBox="1"/>
            <p:nvPr/>
          </p:nvSpPr>
          <p:spPr>
            <a:xfrm>
              <a:off x="11204073" y="423719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0" name="Rectangle 150"/>
            <p:cNvSpPr/>
            <p:nvPr/>
          </p:nvSpPr>
          <p:spPr>
            <a:xfrm>
              <a:off x="11384280" y="4088130"/>
              <a:ext cx="2743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51" name="TextBox 151"/>
            <p:cNvSpPr txBox="1"/>
            <p:nvPr/>
          </p:nvSpPr>
          <p:spPr>
            <a:xfrm>
              <a:off x="11478393" y="423719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2" name="Freeform 152"/>
            <p:cNvSpPr/>
            <p:nvPr/>
          </p:nvSpPr>
          <p:spPr>
            <a:xfrm>
              <a:off x="8463915" y="452628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153" name="TextBox 153"/>
            <p:cNvSpPr txBox="1"/>
            <p:nvPr/>
          </p:nvSpPr>
          <p:spPr>
            <a:xfrm>
              <a:off x="8282409" y="4656296"/>
              <a:ext cx="43921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第一个 0</a:t>
              </a:r>
            </a:p>
          </p:txBody>
        </p:sp>
      </p:grpSp>
      <p:grpSp>
        <p:nvGrpSpPr>
          <p:cNvPr id="160" name="c2-callout-3"/>
          <p:cNvGrpSpPr/>
          <p:nvPr/>
        </p:nvGrpSpPr>
        <p:grpSpPr>
          <a:xfrm>
            <a:off x="6898005" y="4954905"/>
            <a:ext cx="4760595" cy="782955"/>
            <a:chOff x="6898005" y="4954905"/>
            <a:chExt cx="4760595" cy="782955"/>
          </a:xfrm>
        </p:grpSpPr>
        <p:sp>
          <p:nvSpPr>
            <p:cNvPr id="155" name="Rectangle 155"/>
            <p:cNvSpPr/>
            <p:nvPr/>
          </p:nvSpPr>
          <p:spPr>
            <a:xfrm>
              <a:off x="6898005" y="4954905"/>
              <a:ext cx="4760595" cy="782955"/>
            </a:xfrm>
            <a:prstGeom prst="roundRect">
              <a:avLst>
                <a:gd name="adj" fmla="val 1459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158" name="Group 158"/>
            <p:cNvGrpSpPr/>
            <p:nvPr/>
          </p:nvGrpSpPr>
          <p:grpSpPr>
            <a:xfrm>
              <a:off x="7102793" y="5246370"/>
              <a:ext cx="200026" cy="200026"/>
              <a:chOff x="7102793" y="5246370"/>
              <a:chExt cx="200026" cy="200026"/>
            </a:xfrm>
          </p:grpSpPr>
          <p:sp>
            <p:nvSpPr>
              <p:cNvPr id="156" name="Freeform 156"/>
              <p:cNvSpPr/>
              <p:nvPr/>
            </p:nvSpPr>
            <p:spPr>
              <a:xfrm>
                <a:off x="7102793" y="524637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157" name="Freeform 157"/>
              <p:cNvSpPr/>
              <p:nvPr/>
            </p:nvSpPr>
            <p:spPr>
              <a:xfrm>
                <a:off x="7169468" y="532415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159" name="TextBox 159"/>
            <p:cNvSpPr txBox="1"/>
            <p:nvPr/>
          </p:nvSpPr>
          <p:spPr>
            <a:xfrm>
              <a:off x="7404735" y="5103495"/>
              <a:ext cx="38538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字 0 全为 1；字 1 的第 4 位是第一个 0，分配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块号 16 × 1 + 4 = 20，并把该位置 1。</a:t>
              </a:r>
            </a:p>
          </p:txBody>
        </p:sp>
      </p:grpSp>
      <p:grpSp>
        <p:nvGrpSpPr>
          <p:cNvPr id="1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61" name="TextBox 161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第8章 文件系统</a:t>
              </a:r>
            </a:p>
          </p:txBody>
        </p:sp>
        <p:sp>
          <p:nvSpPr>
            <p:cNvPr id="162" name="TextBox 1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061873" cy="909257"/>
            <a:chOff x="520446" y="342900"/>
            <a:chExt cx="706187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文件系统 · 文件系统的实现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06187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UNIX 超级块：卷的管理信息，安装后读入内存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ode-1"/>
          <p:cNvGrpSpPr/>
          <p:nvPr/>
        </p:nvGrpSpPr>
        <p:grpSpPr>
          <a:xfrm>
            <a:off x="533400" y="1524000"/>
            <a:ext cx="5626418" cy="3342322"/>
            <a:chOff x="533400" y="1524000"/>
            <a:chExt cx="5626418" cy="334232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3342322"/>
            </a:xfrm>
            <a:prstGeom prst="roundRect">
              <a:avLst>
                <a:gd name="adj" fmla="val 285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504122"/>
              <a:ext cx="5588318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2707005"/>
              <a:ext cx="5588318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52450" y="2909888"/>
              <a:ext cx="5588318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52450" y="3112770"/>
              <a:ext cx="5588318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1035" y="1937861"/>
              <a:ext cx="3588766" cy="2857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filesys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s_isize;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inode 区占的块数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s_fsize;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整个卷的块数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s_nfree;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内存中空闲块号个数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s_free[100];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空闲块号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s_ninode;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内存中空闲 inode 个数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s_inode[100];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空闲 inode 号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s_flock;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空闲块表加锁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s_ilock;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inode 表加锁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s_fmod;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超级块已修改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s_ronly;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只读安装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s_time[2];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最后更新时间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pad[50];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};</a:t>
              </a:r>
            </a:p>
          </p:txBody>
        </p:sp>
      </p:grpSp>
      <p:grpSp>
        <p:nvGrpSpPr>
          <p:cNvPr id="21" name="c1-callout-2"/>
          <p:cNvGrpSpPr/>
          <p:nvPr/>
        </p:nvGrpSpPr>
        <p:grpSpPr>
          <a:xfrm>
            <a:off x="533400" y="5056822"/>
            <a:ext cx="5626418" cy="1059180"/>
            <a:chOff x="533400" y="5056822"/>
            <a:chExt cx="5626418" cy="1059180"/>
          </a:xfrm>
        </p:grpSpPr>
        <p:sp>
          <p:nvSpPr>
            <p:cNvPr id="15" name="Rectangle 15"/>
            <p:cNvSpPr/>
            <p:nvPr/>
          </p:nvSpPr>
          <p:spPr>
            <a:xfrm>
              <a:off x="533400" y="5056822"/>
              <a:ext cx="5626418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38188" y="5486400"/>
              <a:ext cx="200026" cy="200025"/>
              <a:chOff x="738188" y="5486400"/>
              <a:chExt cx="200026" cy="20002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738188" y="548640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777926" y="553085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12642" y="564197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040130" y="5205412"/>
              <a:ext cx="46539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由 s_isize、s_fsize 可以算出各区范围：inode 区是块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 到块 s_isize + 1，文件存储区是块 s_isize + 2 到块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s_fsize − 1。</a:t>
              </a:r>
            </a:p>
          </p:txBody>
        </p:sp>
      </p:grpSp>
      <p:grpSp>
        <p:nvGrpSpPr>
          <p:cNvPr id="39" name="c2-cells-1"/>
          <p:cNvGrpSpPr/>
          <p:nvPr/>
        </p:nvGrpSpPr>
        <p:grpSpPr>
          <a:xfrm>
            <a:off x="6458902" y="1524000"/>
            <a:ext cx="3930968" cy="745807"/>
            <a:chOff x="6458902" y="1524000"/>
            <a:chExt cx="3930968" cy="745807"/>
          </a:xfrm>
        </p:grpSpPr>
        <p:sp>
          <p:nvSpPr>
            <p:cNvPr id="22" name="TextBox 22"/>
            <p:cNvSpPr txBox="1"/>
            <p:nvPr/>
          </p:nvSpPr>
          <p:spPr>
            <a:xfrm>
              <a:off x="6458902" y="166354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卷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740842" y="1524000"/>
              <a:ext cx="912495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146886" y="16635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652385" y="1524000"/>
              <a:ext cx="912495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059381" y="16635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564880" y="1524000"/>
              <a:ext cx="912495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837310" y="1663541"/>
              <a:ext cx="3676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2 … k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9477375" y="1524000"/>
              <a:ext cx="91249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575661" y="1663541"/>
              <a:ext cx="7159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k+1 … n−1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7158038" y="19621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009638" y="2093595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导引块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8070532" y="19621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922133" y="2093595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超级块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8983028" y="19621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777684" y="2093595"/>
              <a:ext cx="48688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inode 区</a:t>
              </a:r>
            </a:p>
          </p:txBody>
        </p:sp>
        <p:sp>
          <p:nvSpPr>
            <p:cNvPr id="37" name="Freeform 37"/>
            <p:cNvSpPr/>
            <p:nvPr/>
          </p:nvSpPr>
          <p:spPr>
            <a:xfrm>
              <a:off x="9895522" y="19621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625965" y="209359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文件存储区</a:t>
              </a:r>
            </a:p>
          </p:txBody>
        </p:sp>
      </p:grpSp>
      <p:grpSp>
        <p:nvGrpSpPr>
          <p:cNvPr id="51" name="c2-card-2"/>
          <p:cNvGrpSpPr/>
          <p:nvPr/>
        </p:nvGrpSpPr>
        <p:grpSpPr>
          <a:xfrm>
            <a:off x="6464618" y="2400300"/>
            <a:ext cx="5193982" cy="2183130"/>
            <a:chOff x="6464618" y="2400300"/>
            <a:chExt cx="5193982" cy="2183130"/>
          </a:xfrm>
        </p:grpSpPr>
        <p:sp>
          <p:nvSpPr>
            <p:cNvPr id="40" name="Rectangle 40"/>
            <p:cNvSpPr/>
            <p:nvPr/>
          </p:nvSpPr>
          <p:spPr>
            <a:xfrm>
              <a:off x="6464618" y="2400300"/>
              <a:ext cx="5193982" cy="2183130"/>
            </a:xfrm>
            <a:prstGeom prst="roundRect">
              <a:avLst>
                <a:gd name="adj" fmla="val 610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74142" y="2533650"/>
              <a:ext cx="47625" cy="191643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712268" y="2609850"/>
              <a:ext cx="203454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56793" y="2645569"/>
              <a:ext cx="19454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超级块（super block）记载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712267" y="297370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74117" y="30159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013258" y="2987040"/>
              <a:ext cx="41109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文件卷上 k+1 到 n−1 块中的所有空闲块：内存里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只放一组（s_free），其余成组链接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712267" y="359473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774117" y="36370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013258" y="3608070"/>
              <a:ext cx="40841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inode 区中最多 100 个空闲 inode 号（缓存）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705791" y="3940016"/>
              <a:ext cx="455650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文件卷安装（mount）后超级块读入内存。已占用的块记在各文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件的 inode 中，不必在这里登记。</a:t>
              </a:r>
            </a:p>
          </p:txBody>
        </p:sp>
      </p:grpSp>
      <p:grpSp>
        <p:nvGrpSpPr>
          <p:cNvPr id="58" name="c2-callout-3"/>
          <p:cNvGrpSpPr/>
          <p:nvPr/>
        </p:nvGrpSpPr>
        <p:grpSpPr>
          <a:xfrm>
            <a:off x="6464618" y="4773930"/>
            <a:ext cx="5193982" cy="1059180"/>
            <a:chOff x="6464618" y="4773930"/>
            <a:chExt cx="5193982" cy="1059180"/>
          </a:xfrm>
        </p:grpSpPr>
        <p:sp>
          <p:nvSpPr>
            <p:cNvPr id="52" name="Rectangle 52"/>
            <p:cNvSpPr/>
            <p:nvPr/>
          </p:nvSpPr>
          <p:spPr>
            <a:xfrm>
              <a:off x="6464618" y="4773930"/>
              <a:ext cx="5193982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6669405" y="5203508"/>
              <a:ext cx="200026" cy="200026"/>
              <a:chOff x="6669405" y="5203508"/>
              <a:chExt cx="200026" cy="200026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6669405" y="52035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769418" y="52701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758305" y="53035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6971348" y="4922520"/>
              <a:ext cx="42729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s_fmod：内存中的超级块被修改后置 1，系统定期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把它写回磁盘。s_flock、s_ilock 防止几个进程同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时修改空闲块表和空闲 inode 表。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第8章 文件系统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文件系统 · 文件系统的实现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成组连接：空闲块自己存放下一组空闲块号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graph-1"/>
          <p:cNvGrpSpPr/>
          <p:nvPr/>
        </p:nvGrpSpPr>
        <p:grpSpPr>
          <a:xfrm>
            <a:off x="1617688" y="1564005"/>
            <a:ext cx="3960152" cy="2325053"/>
            <a:chOff x="1617688" y="1564005"/>
            <a:chExt cx="3960152" cy="2325053"/>
          </a:xfrm>
        </p:grpSpPr>
        <p:sp>
          <p:nvSpPr>
            <p:cNvPr id="7" name="Freeform 7"/>
            <p:cNvSpPr/>
            <p:nvPr/>
          </p:nvSpPr>
          <p:spPr>
            <a:xfrm>
              <a:off x="4155758" y="1864995"/>
              <a:ext cx="9525" cy="295275"/>
            </a:xfrm>
            <a:custGeom>
              <a:avLst/>
              <a:gdLst/>
              <a:ahLst/>
              <a:cxnLst/>
              <a:rect l="l" t="t" r="r" b="b"/>
              <a:pathLst>
                <a:path w="9525" h="295275">
                  <a:moveTo>
                    <a:pt x="0" y="0"/>
                  </a:moveTo>
                  <a:lnTo>
                    <a:pt x="0" y="2952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4108132" y="216027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4155758" y="2554605"/>
              <a:ext cx="9525" cy="295275"/>
            </a:xfrm>
            <a:custGeom>
              <a:avLst/>
              <a:gdLst/>
              <a:ahLst/>
              <a:cxnLst/>
              <a:rect l="l" t="t" r="r" b="b"/>
              <a:pathLst>
                <a:path w="9525" h="295275">
                  <a:moveTo>
                    <a:pt x="0" y="0"/>
                  </a:moveTo>
                  <a:lnTo>
                    <a:pt x="0" y="2952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108132" y="284988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4155758" y="324612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4108132" y="349377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2733675" y="1564005"/>
              <a:ext cx="2844165" cy="300038"/>
            </a:xfrm>
            <a:prstGeom prst="roundRect">
              <a:avLst>
                <a:gd name="adj" fmla="val 31746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3227070" y="2255520"/>
              <a:ext cx="1858328" cy="300038"/>
            </a:xfrm>
            <a:prstGeom prst="roundRect">
              <a:avLst>
                <a:gd name="adj" fmla="val 31746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3227070" y="2945130"/>
              <a:ext cx="1858328" cy="300038"/>
            </a:xfrm>
            <a:prstGeom prst="roundRect">
              <a:avLst>
                <a:gd name="adj" fmla="val 31746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3435668" y="3589020"/>
              <a:ext cx="1440180" cy="300038"/>
            </a:xfrm>
            <a:prstGeom prst="roundRect">
              <a:avLst>
                <a:gd name="adj" fmla="val 31746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763860" y="1644491"/>
              <a:ext cx="27837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超级块：s_nfree = 66，s_free[0] = a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617688" y="1658303"/>
              <a:ext cx="10636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另有 65 个空闲块号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286294" y="2335054"/>
              <a:ext cx="17389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块 a：个数 100，[0] = b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111083" y="2348865"/>
              <a:ext cx="10636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另有 99 个空闲块号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286294" y="3025616"/>
              <a:ext cx="17389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块 b：个数 100，[0] = c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111083" y="3039428"/>
              <a:ext cx="10636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另有 99 个空闲块号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507932" y="3668554"/>
              <a:ext cx="12956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最后一组：[0] = 0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597592" y="1973580"/>
              <a:ext cx="111633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599726" y="2005965"/>
              <a:ext cx="1112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s_free[0] 指向块 a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3786188" y="2665095"/>
              <a:ext cx="73914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799637" y="2696528"/>
              <a:ext cx="7122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[0] 指向块 b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054792" y="3331845"/>
              <a:ext cx="20193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084358" y="3363278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……</a:t>
              </a:r>
            </a:p>
          </p:txBody>
        </p:sp>
      </p:grpSp>
      <p:grpSp>
        <p:nvGrpSpPr>
          <p:cNvPr id="36" name="c1-callout-2"/>
          <p:cNvGrpSpPr/>
          <p:nvPr/>
        </p:nvGrpSpPr>
        <p:grpSpPr>
          <a:xfrm>
            <a:off x="533400" y="4095750"/>
            <a:ext cx="5842635" cy="782955"/>
            <a:chOff x="533400" y="4095750"/>
            <a:chExt cx="5842635" cy="782955"/>
          </a:xfrm>
        </p:grpSpPr>
        <p:sp>
          <p:nvSpPr>
            <p:cNvPr id="31" name="Rectangle 31"/>
            <p:cNvSpPr/>
            <p:nvPr/>
          </p:nvSpPr>
          <p:spPr>
            <a:xfrm>
              <a:off x="533400" y="4095750"/>
              <a:ext cx="5842635" cy="782955"/>
            </a:xfrm>
            <a:prstGeom prst="roundRect">
              <a:avLst>
                <a:gd name="adj" fmla="val 1459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38188" y="4387217"/>
              <a:ext cx="200023" cy="200023"/>
              <a:chOff x="738188" y="4387217"/>
              <a:chExt cx="200023" cy="200023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38188" y="438721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71538" y="44538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040130" y="4244340"/>
              <a:ext cx="48920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特点：速度快（多数分配、释放只改内存中的 s_free），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空间省（空闲块号就存在空闲块里）。</a:t>
              </a:r>
            </a:p>
          </p:txBody>
        </p:sp>
      </p:grpSp>
      <p:grpSp>
        <p:nvGrpSpPr>
          <p:cNvPr id="43" name="c1-callout-3"/>
          <p:cNvGrpSpPr/>
          <p:nvPr/>
        </p:nvGrpSpPr>
        <p:grpSpPr>
          <a:xfrm>
            <a:off x="533400" y="5069205"/>
            <a:ext cx="5842635" cy="782955"/>
            <a:chOff x="533400" y="5069205"/>
            <a:chExt cx="5842635" cy="782955"/>
          </a:xfrm>
        </p:grpSpPr>
        <p:sp>
          <p:nvSpPr>
            <p:cNvPr id="37" name="Rectangle 37"/>
            <p:cNvSpPr/>
            <p:nvPr/>
          </p:nvSpPr>
          <p:spPr>
            <a:xfrm>
              <a:off x="533400" y="5069205"/>
              <a:ext cx="5842635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38188" y="5360670"/>
              <a:ext cx="200026" cy="200026"/>
              <a:chOff x="738188" y="5360670"/>
              <a:chExt cx="200026" cy="200026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38188" y="536067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38200" y="542734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27088" y="546068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0130" y="5217795"/>
              <a:ext cx="47967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更正：原课件有一页把释放写作 s_free[n_free++]，变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量应为 s_nfree；该页第 (2) 步还漏了 s_nfree = 1。</a:t>
              </a:r>
            </a:p>
          </p:txBody>
        </p:sp>
      </p:grpSp>
      <p:grpSp>
        <p:nvGrpSpPr>
          <p:cNvPr id="47" name="c2-code-1"/>
          <p:cNvGrpSpPr/>
          <p:nvPr/>
        </p:nvGrpSpPr>
        <p:grpSpPr>
          <a:xfrm>
            <a:off x="6680835" y="1524000"/>
            <a:ext cx="4977765" cy="2125028"/>
            <a:chOff x="6680835" y="1524000"/>
            <a:chExt cx="4977765" cy="2125028"/>
          </a:xfrm>
        </p:grpSpPr>
        <p:sp>
          <p:nvSpPr>
            <p:cNvPr id="44" name="Rectangle 44"/>
            <p:cNvSpPr/>
            <p:nvPr/>
          </p:nvSpPr>
          <p:spPr>
            <a:xfrm>
              <a:off x="6680835" y="1524000"/>
              <a:ext cx="4977765" cy="2125028"/>
            </a:xfrm>
            <a:prstGeom prst="roundRect">
              <a:avLst>
                <a:gd name="adj" fmla="val 4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809232" y="16759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申请一块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808470" y="1937861"/>
              <a:ext cx="3510534" cy="1640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(s_nfree &gt; 1)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b = s_free[--s_nfree];</a:t>
              </a:r>
              <a:br/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                  </a:t>
              </a:r>
              <a:r>
                <a:rPr lang="en-US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s_nfree == 1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b = s_free[0];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b 为 0 表示无空闲块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读入块 b，其中的个数送 s_nfree，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  100 个块号送 s_free[];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分配块 b;</a:t>
              </a:r>
            </a:p>
          </p:txBody>
        </p:sp>
      </p:grpSp>
      <p:grpSp>
        <p:nvGrpSpPr>
          <p:cNvPr id="51" name="c2-code-2"/>
          <p:cNvGrpSpPr/>
          <p:nvPr/>
        </p:nvGrpSpPr>
        <p:grpSpPr>
          <a:xfrm>
            <a:off x="6680835" y="3839528"/>
            <a:ext cx="4977765" cy="1922145"/>
            <a:chOff x="6680835" y="3839528"/>
            <a:chExt cx="4977765" cy="1922145"/>
          </a:xfrm>
        </p:grpSpPr>
        <p:sp>
          <p:nvSpPr>
            <p:cNvPr id="48" name="Rectangle 48"/>
            <p:cNvSpPr/>
            <p:nvPr/>
          </p:nvSpPr>
          <p:spPr>
            <a:xfrm>
              <a:off x="6680835" y="3839528"/>
              <a:ext cx="4977765" cy="1922145"/>
            </a:xfrm>
            <a:prstGeom prst="roundRect">
              <a:avLst>
                <a:gd name="adj" fmla="val 495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809232" y="3991451"/>
              <a:ext cx="5234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释放块 b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808470" y="4253389"/>
              <a:ext cx="3218942" cy="14373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(s_nfree &lt; 100)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s_free[s_nfree++] = b;</a:t>
              </a:r>
              <a:br/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                  </a:t>
              </a:r>
              <a:r>
                <a:rPr lang="en-US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s_nfree == 100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把 s_nfree 和 s_free[] 写入块 b;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s_free[0] = b;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s_nfree = 1;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第8章 文件系统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481501" cy="909257"/>
            <a:chOff x="520446" y="342900"/>
            <a:chExt cx="548150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文件系统 · 文件系统的实现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48150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成组连接例题：组长取 4，逐步模拟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0669334" cy="512636"/>
            <a:chOff x="526542" y="1545907"/>
            <a:chExt cx="10669334" cy="512636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066933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为了画得下，设每组 4 个（真实系统为 100）。初始 s_nfree = 3，s_free = [50, 31, 17]；块 50 中存着个数 4 和块号 [0, 81, 82, 83]。</a:t>
              </a:r>
              <a:br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依次执行：申请、申请、申请、释放 31、释放 17、申请。</a:t>
              </a:r>
            </a:p>
          </p:txBody>
        </p:sp>
      </p:grpSp>
      <p:grpSp>
        <p:nvGrpSpPr>
          <p:cNvPr id="68" name="c1-table-1"/>
          <p:cNvGrpSpPr/>
          <p:nvPr/>
        </p:nvGrpSpPr>
        <p:grpSpPr>
          <a:xfrm>
            <a:off x="533400" y="2177415"/>
            <a:ext cx="6492240" cy="3400425"/>
            <a:chOff x="533400" y="2177415"/>
            <a:chExt cx="6492240" cy="3400425"/>
          </a:xfrm>
        </p:grpSpPr>
        <p:sp>
          <p:nvSpPr>
            <p:cNvPr id="9" name="Rectangle 9"/>
            <p:cNvSpPr/>
            <p:nvPr/>
          </p:nvSpPr>
          <p:spPr>
            <a:xfrm>
              <a:off x="533400" y="2177415"/>
              <a:ext cx="6492240" cy="60007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79945" y="239887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53211" y="239887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324773" y="239887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947833" y="239887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215204" y="2298859"/>
              <a:ext cx="50429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s_nfre</a:t>
              </a:r>
              <a:br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174826" y="2398871"/>
              <a:ext cx="5338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s_free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1796" y="28989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53211" y="28989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申请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28812" y="2898934"/>
              <a:ext cx="1104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s_nfree = 3 &gt; 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227070" y="2898934"/>
              <a:ext cx="5240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分得 17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420172" y="289893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954078" y="2898934"/>
              <a:ext cx="637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[50, 31]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17277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3177540"/>
              <a:ext cx="649224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11796" y="32989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53211" y="32989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申请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928812" y="3298984"/>
              <a:ext cx="1104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s_nfree = 2 &gt; 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227070" y="3298984"/>
              <a:ext cx="5240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分得 31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420172" y="329898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954078" y="329898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[50]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57282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11796" y="37990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253211" y="379904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申请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928812" y="3799046"/>
              <a:ext cx="8482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s_nfree = 1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3139440" y="3587115"/>
              <a:ext cx="1928812" cy="58102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227070" y="3699034"/>
              <a:ext cx="153339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读入块 50 的内容，分得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 50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420172" y="379904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954078" y="3699034"/>
              <a:ext cx="80086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[0, 81, 82,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83]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17290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4177665"/>
              <a:ext cx="6492240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11796" y="439912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47669" y="4399121"/>
              <a:ext cx="5240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释放 31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928812" y="4299109"/>
              <a:ext cx="94310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s_nfree = 4，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已满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3139440" y="4187190"/>
              <a:ext cx="1928812" cy="58102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227070" y="4299109"/>
              <a:ext cx="14338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个数 4 和 [0, 81, 82,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83] 写入块 31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420172" y="439912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954078" y="439912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[31]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477297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11796" y="48991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47669" y="4899184"/>
              <a:ext cx="5240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释放 17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928812" y="4899184"/>
              <a:ext cx="1104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s_nfree = 1 &lt; 4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227070" y="4899184"/>
              <a:ext cx="10970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s_free[1] = 17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420172" y="489918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954078" y="4899184"/>
              <a:ext cx="637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[31, 17]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33400" y="517302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533400" y="5177790"/>
              <a:ext cx="649224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11796" y="52992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253211" y="52992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申请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928812" y="5299234"/>
              <a:ext cx="1104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s_nfree = 2 &gt; 1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227070" y="5299234"/>
              <a:ext cx="5240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分得 17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420172" y="529923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954078" y="529923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[31]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33400" y="2177415"/>
              <a:ext cx="6492240" cy="34004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982980" y="2177415"/>
              <a:ext cx="9525" cy="34004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1826895" y="2177415"/>
              <a:ext cx="9525" cy="34004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3125152" y="2177415"/>
              <a:ext cx="9525" cy="34004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5073015" y="2177415"/>
              <a:ext cx="9525" cy="34004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5852160" y="2177415"/>
              <a:ext cx="9525" cy="34004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03" name="c2-cells-1"/>
          <p:cNvGrpSpPr/>
          <p:nvPr/>
        </p:nvGrpSpPr>
        <p:grpSpPr>
          <a:xfrm>
            <a:off x="7325487" y="2177415"/>
            <a:ext cx="2338578" cy="2108835"/>
            <a:chOff x="7325487" y="2177415"/>
            <a:chExt cx="2338578" cy="2108835"/>
          </a:xfrm>
        </p:grpSpPr>
        <p:sp>
          <p:nvSpPr>
            <p:cNvPr id="69" name="TextBox 69"/>
            <p:cNvSpPr txBox="1"/>
            <p:nvPr/>
          </p:nvSpPr>
          <p:spPr>
            <a:xfrm>
              <a:off x="7325487" y="23007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初始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7987665" y="2177415"/>
              <a:ext cx="419100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116074" y="230076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8406765" y="2177415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8535174" y="230076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8825865" y="2177415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8954274" y="230076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9244965" y="2177415"/>
              <a:ext cx="419100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0E7C86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8162096" y="25998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581196" y="25998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000296" y="25998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419396" y="25998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325487" y="3001804"/>
              <a:ext cx="5649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 3 步后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7987665" y="2877502"/>
              <a:ext cx="419100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8154168" y="300180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8406765" y="2877502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8535174" y="300180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81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8825865" y="2877502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8954274" y="300180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82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9244965" y="2877502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9373374" y="300180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83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7325487" y="3520916"/>
              <a:ext cx="5649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 4 步后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7987665" y="3397568"/>
              <a:ext cx="419100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8116074" y="352091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8406765" y="3397568"/>
              <a:ext cx="419100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0E7C86"/>
              </a:solidFill>
            </a:ln>
          </p:spPr>
        </p:sp>
        <p:sp>
          <p:nvSpPr>
            <p:cNvPr id="94" name="Rectangle 94"/>
            <p:cNvSpPr/>
            <p:nvPr/>
          </p:nvSpPr>
          <p:spPr>
            <a:xfrm>
              <a:off x="8825865" y="3397568"/>
              <a:ext cx="419100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0E7C86"/>
              </a:solidFill>
            </a:ln>
          </p:spPr>
        </p:sp>
        <p:sp>
          <p:nvSpPr>
            <p:cNvPr id="95" name="Rectangle 95"/>
            <p:cNvSpPr/>
            <p:nvPr/>
          </p:nvSpPr>
          <p:spPr>
            <a:xfrm>
              <a:off x="9244965" y="3397568"/>
              <a:ext cx="419100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0E7C86"/>
              </a:solidFill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7325487" y="4040981"/>
              <a:ext cx="5649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 5 步后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7987665" y="3917632"/>
              <a:ext cx="419100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8116074" y="404098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8406765" y="3917632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8535174" y="404098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8825865" y="3917632"/>
              <a:ext cx="419100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0E7C86"/>
              </a:solidFill>
            </a:ln>
          </p:spPr>
        </p:sp>
        <p:sp>
          <p:nvSpPr>
            <p:cNvPr id="102" name="Rectangle 102"/>
            <p:cNvSpPr/>
            <p:nvPr/>
          </p:nvSpPr>
          <p:spPr>
            <a:xfrm>
              <a:off x="9244965" y="3917632"/>
              <a:ext cx="419100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0E7C86"/>
              </a:solidFill>
            </a:ln>
          </p:spPr>
        </p:sp>
      </p:grpSp>
      <p:grpSp>
        <p:nvGrpSpPr>
          <p:cNvPr id="110" name="c2-callout-2"/>
          <p:cNvGrpSpPr/>
          <p:nvPr/>
        </p:nvGrpSpPr>
        <p:grpSpPr>
          <a:xfrm>
            <a:off x="7330440" y="4455795"/>
            <a:ext cx="4328160" cy="978218"/>
            <a:chOff x="7330440" y="4455795"/>
            <a:chExt cx="4328160" cy="978218"/>
          </a:xfrm>
        </p:grpSpPr>
        <p:sp>
          <p:nvSpPr>
            <p:cNvPr id="104" name="Rectangle 104"/>
            <p:cNvSpPr/>
            <p:nvPr/>
          </p:nvSpPr>
          <p:spPr>
            <a:xfrm>
              <a:off x="7330440" y="4455795"/>
              <a:ext cx="4328160" cy="978218"/>
            </a:xfrm>
            <a:prstGeom prst="roundRect">
              <a:avLst>
                <a:gd name="adj" fmla="val 1168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08" name="Group 108"/>
            <p:cNvGrpSpPr/>
            <p:nvPr/>
          </p:nvGrpSpPr>
          <p:grpSpPr>
            <a:xfrm>
              <a:off x="7535228" y="4845368"/>
              <a:ext cx="200026" cy="200025"/>
              <a:chOff x="7535228" y="4845368"/>
              <a:chExt cx="200026" cy="200025"/>
            </a:xfrm>
          </p:grpSpPr>
          <p:sp>
            <p:nvSpPr>
              <p:cNvPr id="105" name="Freeform 105"/>
              <p:cNvSpPr/>
              <p:nvPr/>
            </p:nvSpPr>
            <p:spPr>
              <a:xfrm>
                <a:off x="7535228" y="484536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06" name="Freeform 106"/>
              <p:cNvSpPr/>
              <p:nvPr/>
            </p:nvSpPr>
            <p:spPr>
              <a:xfrm>
                <a:off x="7574966" y="488981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07" name="Freeform 107"/>
              <p:cNvSpPr/>
              <p:nvPr/>
            </p:nvSpPr>
            <p:spPr>
              <a:xfrm>
                <a:off x="7609682" y="500094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09" name="TextBox 109"/>
            <p:cNvSpPr txBox="1"/>
            <p:nvPr/>
          </p:nvSpPr>
          <p:spPr>
            <a:xfrm>
              <a:off x="7837932" y="4602480"/>
              <a:ext cx="3416998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4 步后块 31 成了新的链接块，里面存着原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来那一组；以后 s_nfree 再降到 1 时，会把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它读回内存。</a:t>
              </a:r>
            </a:p>
          </p:txBody>
        </p:sp>
      </p:grpSp>
      <p:grpSp>
        <p:nvGrpSpPr>
          <p:cNvPr id="117" name="c2-callout-3"/>
          <p:cNvGrpSpPr/>
          <p:nvPr/>
        </p:nvGrpSpPr>
        <p:grpSpPr>
          <a:xfrm>
            <a:off x="7330440" y="5603558"/>
            <a:ext cx="4328160" cy="729615"/>
            <a:chOff x="7330440" y="5603558"/>
            <a:chExt cx="4328160" cy="729615"/>
          </a:xfrm>
        </p:grpSpPr>
        <p:sp>
          <p:nvSpPr>
            <p:cNvPr id="111" name="Rectangle 111"/>
            <p:cNvSpPr/>
            <p:nvPr/>
          </p:nvSpPr>
          <p:spPr>
            <a:xfrm>
              <a:off x="7330440" y="5603558"/>
              <a:ext cx="432816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15" name="Group 115"/>
            <p:cNvGrpSpPr/>
            <p:nvPr/>
          </p:nvGrpSpPr>
          <p:grpSpPr>
            <a:xfrm>
              <a:off x="7535228" y="5868353"/>
              <a:ext cx="200026" cy="200026"/>
              <a:chOff x="7535228" y="5868353"/>
              <a:chExt cx="200026" cy="200026"/>
            </a:xfrm>
          </p:grpSpPr>
          <p:sp>
            <p:nvSpPr>
              <p:cNvPr id="112" name="Freeform 112"/>
              <p:cNvSpPr/>
              <p:nvPr/>
            </p:nvSpPr>
            <p:spPr>
              <a:xfrm>
                <a:off x="7535228" y="586835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13" name="Freeform 113"/>
              <p:cNvSpPr/>
              <p:nvPr/>
            </p:nvSpPr>
            <p:spPr>
              <a:xfrm>
                <a:off x="7635240" y="593502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14" name="Freeform 114"/>
              <p:cNvSpPr/>
              <p:nvPr/>
            </p:nvSpPr>
            <p:spPr>
              <a:xfrm>
                <a:off x="7624128" y="596836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16" name="TextBox 116"/>
            <p:cNvSpPr txBox="1"/>
            <p:nvPr/>
          </p:nvSpPr>
          <p:spPr>
            <a:xfrm>
              <a:off x="7837932" y="5750242"/>
              <a:ext cx="345986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步后 s_free[0] = 0，说明这已是最后一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组，这一组用完后再申请就会报告无空闲块。</a:t>
              </a:r>
            </a:p>
          </p:txBody>
        </p:sp>
      </p:grpSp>
      <p:grpSp>
        <p:nvGrpSpPr>
          <p:cNvPr id="12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8" name="TextBox 118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第8章 文件系统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262660" cy="909257"/>
            <a:chOff x="520446" y="342900"/>
            <a:chExt cx="526266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文件系统 · 文件系统的实现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26266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空闲 inode 管理：表满时直接丢弃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card-1"/>
          <p:cNvGrpSpPr/>
          <p:nvPr/>
        </p:nvGrpSpPr>
        <p:grpSpPr>
          <a:xfrm>
            <a:off x="533400" y="1524000"/>
            <a:ext cx="5193982" cy="3947160"/>
            <a:chOff x="533400" y="1524000"/>
            <a:chExt cx="5193982" cy="39471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3947160"/>
            </a:xfrm>
            <a:prstGeom prst="roundRect">
              <a:avLst>
                <a:gd name="adj" fmla="val 33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68046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258699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08921" y="1769269"/>
              <a:ext cx="25312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s_inode 最多记 100 个空闲 inode 号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申请时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1050" y="243268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42899" y="24749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2040" y="2446020"/>
              <a:ext cx="36701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s_ninode &gt; 0：取 s_inode[--s_ninode]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1050" y="276796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2899" y="28102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82040" y="2781300"/>
              <a:ext cx="42443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s_ninode = 0：从磁盘 inode 区顺序找 100 个空闲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inode（i_nlink = 0），编号填入 s_inode 表，修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 s_ninode，然后分配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3430" y="368808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释放时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81050" y="401002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42899" y="405231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82040" y="4023360"/>
              <a:ext cx="42157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s_ninode &lt; 100：s_inode[s_ninode++] = 释放的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i_number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81050" y="463105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42899" y="46733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82040" y="4644390"/>
              <a:ext cx="20244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s_ninode = 100：丢弃</a:t>
              </a:r>
            </a:p>
          </p:txBody>
        </p:sp>
      </p:grpSp>
      <p:grpSp>
        <p:nvGrpSpPr>
          <p:cNvPr id="50" name="c2-table-1"/>
          <p:cNvGrpSpPr/>
          <p:nvPr/>
        </p:nvGrpSpPr>
        <p:grpSpPr>
          <a:xfrm>
            <a:off x="6032182" y="1524000"/>
            <a:ext cx="5626418" cy="2697480"/>
            <a:chOff x="6032182" y="1524000"/>
            <a:chExt cx="5626418" cy="2697480"/>
          </a:xfrm>
        </p:grpSpPr>
        <p:sp>
          <p:nvSpPr>
            <p:cNvPr id="26" name="Rectangle 26"/>
            <p:cNvSpPr/>
            <p:nvPr/>
          </p:nvSpPr>
          <p:spPr>
            <a:xfrm>
              <a:off x="6032182" y="1524000"/>
              <a:ext cx="5626418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8491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71358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空闲块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185426" y="1659731"/>
              <a:ext cx="8641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空闲 inode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140006" y="210835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内存中缓存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03046" y="2108359"/>
              <a:ext cx="10554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s_free[100]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684258" y="2108359"/>
              <a:ext cx="11071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s_inode[100]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032182" y="241649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032182" y="2421255"/>
              <a:ext cx="5626418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140006" y="267033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其余记在哪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03046" y="267033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成组链接在空闲块中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684258" y="2556986"/>
              <a:ext cx="176860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不记，inode 区中可以查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032182" y="309276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140006" y="323230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表满时释放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603046" y="323230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写入链接块，不能丢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684258" y="323230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直接丢弃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032182" y="354139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032182" y="3546158"/>
              <a:ext cx="5626418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140006" y="379428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表空时申请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03046" y="3680936"/>
              <a:ext cx="172796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读入 s_free[0] 指向的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链接块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684258" y="3680936"/>
              <a:ext cx="149225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扫描 inode 区找空闲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inode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032182" y="1524000"/>
              <a:ext cx="5626418" cy="26974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490460" y="1524000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9571672" y="1524000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6" name="c2-callout-2"/>
          <p:cNvGrpSpPr/>
          <p:nvPr/>
        </p:nvGrpSpPr>
        <p:grpSpPr>
          <a:xfrm>
            <a:off x="6032182" y="4411980"/>
            <a:ext cx="5626418" cy="1059180"/>
            <a:chOff x="6032182" y="4411980"/>
            <a:chExt cx="5626418" cy="1059180"/>
          </a:xfrm>
        </p:grpSpPr>
        <p:sp>
          <p:nvSpPr>
            <p:cNvPr id="51" name="Rectangle 51"/>
            <p:cNvSpPr/>
            <p:nvPr/>
          </p:nvSpPr>
          <p:spPr>
            <a:xfrm>
              <a:off x="6032182" y="4411980"/>
              <a:ext cx="5626418" cy="1059180"/>
            </a:xfrm>
            <a:prstGeom prst="roundRect">
              <a:avLst>
                <a:gd name="adj" fmla="val 10791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6236970" y="4841560"/>
              <a:ext cx="200023" cy="200023"/>
              <a:chOff x="6236970" y="4841560"/>
              <a:chExt cx="200023" cy="200023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6236970" y="48415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370320" y="49082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6538912" y="4560570"/>
              <a:ext cx="47110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能丢弃的原因：inode 本身带有空闲标记（i_nlink =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0），以后扫描 inode 区还能找回来；空闲数据块上没有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这种标记，块号丢了就再也找不到。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第8章 文件系统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6007608" cy="3283267"/>
            <a:chOff x="667512" y="1835468"/>
            <a:chExt cx="6007608" cy="328326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文件系统的界面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每个系统调用怎样查目录、怎样修改三张表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57683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8.8 通用调用：creat、open、close、seek、read、write、link、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unlink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52818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471035"/>
              <a:ext cx="23126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UNIX 系统调用的实现步骤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88251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825365"/>
              <a:ext cx="32764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pipe、mknod、mount 与权限类调用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第8章 文件系统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629063" cy="909257"/>
            <a:chOff x="520446" y="342900"/>
            <a:chExt cx="362906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文件系统 · 文件系统的界面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62906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UNIX 文件系统调用一览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c1-table-1"/>
          <p:cNvGrpSpPr/>
          <p:nvPr/>
        </p:nvGrpSpPr>
        <p:grpSpPr>
          <a:xfrm>
            <a:off x="533400" y="1524000"/>
            <a:ext cx="6492240" cy="2973705"/>
            <a:chOff x="533400" y="1524000"/>
            <a:chExt cx="6492240" cy="29737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4248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49642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类别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11158" y="16525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系统调用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34940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5889" y="207645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建立与打开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04606" y="2076450"/>
              <a:ext cx="15387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creat、open、close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882009" y="207645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建立文件；打开得到文件描述符；关闭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6791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72678"/>
              <a:ext cx="649224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5889" y="250126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读写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04606" y="2501265"/>
              <a:ext cx="14822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seek、read、write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82009" y="2501265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移动读写指针；读、写若干字节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9273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5889" y="292608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目录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04606" y="292608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link、unlink、chdir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882009" y="292608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建立、删除链接；改变当前目录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21659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221355"/>
              <a:ext cx="6492240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5889" y="3349942"/>
              <a:ext cx="7741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特殊文件与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卷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804606" y="3349942"/>
              <a:ext cx="166573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pipe、mknod、mount、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umount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882009" y="3456622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建管道；建设备文件；安装、卸下文件卷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85476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5889" y="409479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属性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804606" y="3988118"/>
              <a:ext cx="170383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chmod、chown、stat、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fstat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882009" y="4094798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改权限、改文件主；取文件状态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1524000"/>
              <a:ext cx="6492240" cy="29737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1697355" y="1524000"/>
              <a:ext cx="9525" cy="29737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3774758" y="1524000"/>
              <a:ext cx="9525" cy="29737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0" name="c1-flow-2"/>
          <p:cNvGrpSpPr/>
          <p:nvPr/>
        </p:nvGrpSpPr>
        <p:grpSpPr>
          <a:xfrm>
            <a:off x="666750" y="4947285"/>
            <a:ext cx="6225540" cy="603885"/>
            <a:chOff x="666750" y="4947285"/>
            <a:chExt cx="6225540" cy="603885"/>
          </a:xfrm>
        </p:grpSpPr>
        <p:sp>
          <p:nvSpPr>
            <p:cNvPr id="36" name="Freeform 36"/>
            <p:cNvSpPr/>
            <p:nvPr/>
          </p:nvSpPr>
          <p:spPr>
            <a:xfrm>
              <a:off x="2023110" y="5249228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2185035" y="519684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3646170" y="5249228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3808095" y="519684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5269230" y="5249228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5431155" y="519684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66750" y="4947285"/>
              <a:ext cx="1356360" cy="60388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2289810" y="5043488"/>
              <a:ext cx="1356360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3912870" y="4947285"/>
              <a:ext cx="1356360" cy="603885"/>
            </a:xfrm>
            <a:prstGeom prst="roundRect">
              <a:avLst>
                <a:gd name="adj" fmla="val 15773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5535930" y="5043488"/>
              <a:ext cx="1356360" cy="41148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22198" y="5062538"/>
              <a:ext cx="1045464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creat /</a:t>
              </a:r>
              <a:br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open：得到 fd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541880" y="5165408"/>
              <a:ext cx="8522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seek：定位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047744" y="5062538"/>
              <a:ext cx="108661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 / write：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读写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634937" y="5165408"/>
              <a:ext cx="11583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close：释放 fd</a:t>
              </a:r>
            </a:p>
          </p:txBody>
        </p:sp>
      </p:grpSp>
      <p:grpSp>
        <p:nvGrpSpPr>
          <p:cNvPr id="52" name="c1-text-3"/>
          <p:cNvGrpSpPr/>
          <p:nvPr/>
        </p:nvGrpSpPr>
        <p:grpSpPr>
          <a:xfrm>
            <a:off x="527304" y="6020752"/>
            <a:ext cx="5585460" cy="234696"/>
            <a:chOff x="527304" y="6020752"/>
            <a:chExt cx="5585460" cy="234696"/>
          </a:xfrm>
        </p:grpSpPr>
        <p:sp>
          <p:nvSpPr>
            <p:cNvPr id="51" name="TextBox 51"/>
            <p:cNvSpPr txBox="1"/>
            <p:nvPr/>
          </p:nvSpPr>
          <p:spPr>
            <a:xfrm>
              <a:off x="527304" y="6020752"/>
              <a:ext cx="55854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一个文件从打开到关闭的典型调用顺序；seek 可以省略，此时从头顺序读写。</a:t>
              </a:r>
            </a:p>
          </p:txBody>
        </p:sp>
      </p:grpSp>
      <p:grpSp>
        <p:nvGrpSpPr>
          <p:cNvPr id="59" name="c2-card-1"/>
          <p:cNvGrpSpPr/>
          <p:nvPr/>
        </p:nvGrpSpPr>
        <p:grpSpPr>
          <a:xfrm>
            <a:off x="7330440" y="1524000"/>
            <a:ext cx="4328160" cy="2022158"/>
            <a:chOff x="7330440" y="1524000"/>
            <a:chExt cx="4328160" cy="2022158"/>
          </a:xfrm>
        </p:grpSpPr>
        <p:sp>
          <p:nvSpPr>
            <p:cNvPr id="53" name="Rectangle 53"/>
            <p:cNvSpPr/>
            <p:nvPr/>
          </p:nvSpPr>
          <p:spPr>
            <a:xfrm>
              <a:off x="7330440" y="1524000"/>
              <a:ext cx="4328160" cy="2022158"/>
            </a:xfrm>
            <a:prstGeom prst="roundRect">
              <a:avLst>
                <a:gd name="adj" fmla="val 65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7339965" y="1657350"/>
              <a:ext cx="47625" cy="175545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7566660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658100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559421" y="2082641"/>
              <a:ext cx="3504057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原课件写作 mknode、chowner、chmode、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state、fstate，UNIX 中的系统调用名为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mknod、chown、chmod、stat、fstat。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560564" y="2939415"/>
              <a:ext cx="35250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smount、sumount 是 UNIX V6 内核中实现 mount、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umount 的函数名，本讲义沿用课件写法。</a:t>
              </a:r>
            </a:p>
          </p:txBody>
        </p:sp>
      </p:grpSp>
      <p:grpSp>
        <p:nvGrpSpPr>
          <p:cNvPr id="68" name="c2-card-2"/>
          <p:cNvGrpSpPr/>
          <p:nvPr/>
        </p:nvGrpSpPr>
        <p:grpSpPr>
          <a:xfrm>
            <a:off x="7330440" y="3726180"/>
            <a:ext cx="4328160" cy="2481262"/>
            <a:chOff x="7330440" y="3726180"/>
            <a:chExt cx="4328160" cy="2481262"/>
          </a:xfrm>
        </p:grpSpPr>
        <p:sp>
          <p:nvSpPr>
            <p:cNvPr id="60" name="Rectangle 60"/>
            <p:cNvSpPr/>
            <p:nvPr/>
          </p:nvSpPr>
          <p:spPr>
            <a:xfrm>
              <a:off x="7330440" y="3726180"/>
              <a:ext cx="4328160" cy="2481262"/>
            </a:xfrm>
            <a:prstGeom prst="roundRect">
              <a:avLst>
                <a:gd name="adj" fmla="val 53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7339965" y="3859530"/>
              <a:ext cx="47625" cy="221456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7566660" y="3924300"/>
              <a:ext cx="1633538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612270" y="3958590"/>
              <a:ext cx="15413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通用界面与 UNIX 的差别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7574280" y="434530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730871" y="4285774"/>
              <a:ext cx="332371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8.8 的通用调用以</a:t>
              </a: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记录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为单位：read(fd,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nrd, buf)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7574280" y="493490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730871" y="4874419"/>
              <a:ext cx="292696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UNIX 以</a:t>
              </a: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字节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为单位：read(fd, buf,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count)，参数顺序也不同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第8章 文件系统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53097" cy="909257"/>
            <a:chOff x="520446" y="342900"/>
            <a:chExt cx="805309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文件系统 · 文件系统的界面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5309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creat：分配 FCB 主部，登记目录项，以写方式打开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card-1"/>
          <p:cNvGrpSpPr/>
          <p:nvPr/>
        </p:nvGrpSpPr>
        <p:grpSpPr>
          <a:xfrm>
            <a:off x="533400" y="1524000"/>
            <a:ext cx="4760595" cy="2302192"/>
            <a:chOff x="533400" y="1524000"/>
            <a:chExt cx="4760595" cy="23021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2302192"/>
            </a:xfrm>
            <a:prstGeom prst="roundRect">
              <a:avLst>
                <a:gd name="adj" fmla="val 57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3549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02489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623" y="1769269"/>
              <a:ext cx="875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通用（8.8）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12620" y="1768792"/>
              <a:ext cx="30366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creat(path_name, fcb_args)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1050" y="211645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42899" y="21587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2040" y="2129790"/>
              <a:ext cx="3322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为此文件分配一个 FCB 主部，初始化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1050" y="245173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2899" y="24940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82040" y="2465070"/>
              <a:ext cx="3682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把文件名和文件号作为 FCB 次部，填到末级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目录中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1050" y="307276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2899" y="31150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82040" y="308610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以写方式打开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4573" y="3418046"/>
              <a:ext cx="29164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例：creat("/usr/li/d1/f1", mode)</a:t>
              </a:r>
            </a:p>
          </p:txBody>
        </p:sp>
      </p:grpSp>
      <p:grpSp>
        <p:nvGrpSpPr>
          <p:cNvPr id="37" name="c1-cells-2"/>
          <p:cNvGrpSpPr/>
          <p:nvPr/>
        </p:nvGrpSpPr>
        <p:grpSpPr>
          <a:xfrm>
            <a:off x="527685" y="4016692"/>
            <a:ext cx="3377565" cy="1009650"/>
            <a:chOff x="527685" y="4016692"/>
            <a:chExt cx="3377565" cy="1009650"/>
          </a:xfrm>
        </p:grpSpPr>
        <p:sp>
          <p:nvSpPr>
            <p:cNvPr id="23" name="TextBox 23"/>
            <p:cNvSpPr txBox="1"/>
            <p:nvPr/>
          </p:nvSpPr>
          <p:spPr>
            <a:xfrm>
              <a:off x="527685" y="4156234"/>
              <a:ext cx="6853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d2 创建前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303020" y="4016692"/>
              <a:ext cx="8458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477835" y="4156234"/>
              <a:ext cx="494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(…, …)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147888" y="4016692"/>
              <a:ext cx="84582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248268" y="4156234"/>
              <a:ext cx="6450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(空, −1)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2993708" y="4016692"/>
              <a:ext cx="8458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168522" y="4156234"/>
              <a:ext cx="494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(…, …)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27685" y="4746784"/>
              <a:ext cx="6853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d2 创建后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303020" y="4607242"/>
              <a:ext cx="86772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489265" y="4746784"/>
              <a:ext cx="494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(…, …)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2169795" y="4607242"/>
              <a:ext cx="867728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269920" y="4746784"/>
              <a:ext cx="6684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(f1, 15)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037522" y="4607242"/>
              <a:ext cx="86772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223767" y="4746784"/>
              <a:ext cx="494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(…, …)</a:t>
              </a:r>
            </a:p>
          </p:txBody>
        </p:sp>
      </p:grpSp>
      <p:grpSp>
        <p:nvGrpSpPr>
          <p:cNvPr id="56" name="c2-card-1"/>
          <p:cNvGrpSpPr/>
          <p:nvPr/>
        </p:nvGrpSpPr>
        <p:grpSpPr>
          <a:xfrm>
            <a:off x="5598795" y="1524000"/>
            <a:ext cx="6059805" cy="2676525"/>
            <a:chOff x="5598795" y="1524000"/>
            <a:chExt cx="6059805" cy="2676525"/>
          </a:xfrm>
        </p:grpSpPr>
        <p:sp>
          <p:nvSpPr>
            <p:cNvPr id="38" name="Rectangle 38"/>
            <p:cNvSpPr/>
            <p:nvPr/>
          </p:nvSpPr>
          <p:spPr>
            <a:xfrm>
              <a:off x="5598795" y="1524000"/>
              <a:ext cx="6059805" cy="2676525"/>
            </a:xfrm>
            <a:prstGeom prst="roundRect">
              <a:avLst>
                <a:gd name="adj" fmla="val 49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608320" y="1657350"/>
              <a:ext cx="47625" cy="240982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846445" y="1733550"/>
              <a:ext cx="82962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917062" y="1769269"/>
              <a:ext cx="6893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UNIX 实现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783705" y="1768792"/>
              <a:ext cx="29730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fd = creat(pathname, mode)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838825" y="2129790"/>
              <a:ext cx="25797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mode 是共享说明（权限）。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5846445" y="245173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908294" y="24940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147435" y="2465070"/>
              <a:ext cx="48539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分配一个 inode 并初始化：i_size = 0，i_mode = mode，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i_nlink = 1，i_uid = u_uid，i_gid = u_gid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5846445" y="307276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908294" y="31150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147435" y="308610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填写目录项 (name, i_number)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5846445" y="340804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908294" y="345033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147435" y="3421380"/>
              <a:ext cx="46697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以写方式打开：填写 inode 表、file 表和 u_ofile 表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5846445" y="374332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908294" y="378561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147435" y="375666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返回文件描述符</a:t>
              </a:r>
            </a:p>
          </p:txBody>
        </p:sp>
      </p:grpSp>
      <p:grpSp>
        <p:nvGrpSpPr>
          <p:cNvPr id="62" name="c2-callout-2"/>
          <p:cNvGrpSpPr/>
          <p:nvPr/>
        </p:nvGrpSpPr>
        <p:grpSpPr>
          <a:xfrm>
            <a:off x="5598795" y="4391025"/>
            <a:ext cx="6059805" cy="1059180"/>
            <a:chOff x="5598795" y="4391025"/>
            <a:chExt cx="6059805" cy="1059180"/>
          </a:xfrm>
        </p:grpSpPr>
        <p:sp>
          <p:nvSpPr>
            <p:cNvPr id="57" name="Rectangle 57"/>
            <p:cNvSpPr/>
            <p:nvPr/>
          </p:nvSpPr>
          <p:spPr>
            <a:xfrm>
              <a:off x="5598795" y="4391025"/>
              <a:ext cx="6059805" cy="1059180"/>
            </a:xfrm>
            <a:prstGeom prst="roundRect">
              <a:avLst>
                <a:gd name="adj" fmla="val 10791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5803583" y="4820603"/>
              <a:ext cx="200026" cy="200026"/>
              <a:chOff x="5803583" y="4820603"/>
              <a:chExt cx="200026" cy="200026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5803583" y="482060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5870258" y="489839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6105525" y="4539615"/>
              <a:ext cx="49872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例：creat("d1/d2/f1", mode)，假定分配到 i_number =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15，就在 d2 中找一个空目录项（i_number 为 −1），改为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(f1, 15)，见左下图。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第8章 文件系统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281540" cy="909257"/>
            <a:chOff x="520446" y="342900"/>
            <a:chExt cx="528154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文件系统 · 文件系统的界面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28154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open：查目录、查权限、填两级表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c1-table-1"/>
          <p:cNvGrpSpPr/>
          <p:nvPr/>
        </p:nvGrpSpPr>
        <p:grpSpPr>
          <a:xfrm>
            <a:off x="533400" y="1524000"/>
            <a:ext cx="11125200" cy="3599498"/>
            <a:chOff x="533400" y="1524000"/>
            <a:chExt cx="11125200" cy="359949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2231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步骤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736423" y="1659731"/>
              <a:ext cx="29358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通用 fd = open(path_name, mode)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63366" y="1659731"/>
              <a:ext cx="28736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UNIX fd = open(pathname, mode)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22170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查目录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76628" y="2221706"/>
              <a:ext cx="26626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根据路径名查目录，找到 FCB 主部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48641" y="2108359"/>
              <a:ext cx="458089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查目录找到 inode：不在内存则读入，i_count = 1；已在内存则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i_count++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431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647950"/>
              <a:ext cx="11125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89702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76628" y="2897029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合法性检查：打开方式、共享说明、用户身份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48641" y="2783681"/>
              <a:ext cx="459714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权限检查：mode（打开方式）、i_mode（共享说明）、i_uid 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i_gid（文件主、组）、u_uid 和 u_gid（用户身份）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3194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57235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系统级表项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76628" y="3459004"/>
              <a:ext cx="421513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按文件号查系统打开文件表：已打开则共享计数加 1；否则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取空表项，填入外存 FCB 主部等信息，共享计数置 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48641" y="3459004"/>
              <a:ext cx="465404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（内存 inode 已在第 1 步准备好）在 file 表中分配一项，指向内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 inode：f_count = 1，f_offset = 0，f_flag = mode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99478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999548"/>
              <a:ext cx="11125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424767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进程级表项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976628" y="4134326"/>
              <a:ext cx="42395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在用户打开文件表中取空表项，填打开方式和读写指针，指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向系统打开文件表的对应表项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48641" y="4247674"/>
              <a:ext cx="43638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u_ofile 中取一个空闲表目，指向 file 表中的对应表目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67010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481060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976628" y="4810601"/>
              <a:ext cx="31318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fd：用户打开文件表中的入口，非负整数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48641" y="4810601"/>
              <a:ext cx="23822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fd：u_ofile 表的入口（下标）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1524000"/>
              <a:ext cx="11125200" cy="359949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1864042" y="1524000"/>
              <a:ext cx="9525" cy="35994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536055" y="1524000"/>
              <a:ext cx="9525" cy="35994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2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6" name="Rectangle 36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0130" y="5991225"/>
              <a:ext cx="104975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open 只准备表项，不读文件内容；新打开时读写指针为 0。同一文件被打开多次时，内存中只有一份 FCB（inode）。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第8章 文件系统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90747" cy="909257"/>
            <a:chOff x="520446" y="342900"/>
            <a:chExt cx="64907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文件系统 · 文件系统的界面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907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close：计数减到 0 才释放，修改过才写回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table-1"/>
          <p:cNvGrpSpPr/>
          <p:nvPr/>
        </p:nvGrpSpPr>
        <p:grpSpPr>
          <a:xfrm>
            <a:off x="533400" y="1524000"/>
            <a:ext cx="5842635" cy="2928938"/>
            <a:chOff x="533400" y="1524000"/>
            <a:chExt cx="5842635" cy="292893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2228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步骤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005406" y="1659731"/>
              <a:ext cx="1262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通用 close(fd)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442965" y="1659731"/>
              <a:ext cx="12962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UNIX close(fd)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22170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找表项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76578" y="2108359"/>
              <a:ext cx="191490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fd 查用户打开文件表，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找到系统打开文件表入口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913060" y="2108359"/>
              <a:ext cx="198805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fd 查 u_ofile，由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u_ofile[fd] 找到 file 表项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4318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647950"/>
              <a:ext cx="5842635" cy="112871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312372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减计数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76578" y="2897029"/>
              <a:ext cx="1979930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共享计数减 1；减后为 0 且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修改标志为 1，则 FCB 由内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存写回外存 FCB 主部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913060" y="2783681"/>
              <a:ext cx="2231898" cy="929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f_count−−，为 0 时由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f_inode 找到 inode，i_count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−−；为 0 且 i_flag 中有修改标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志，写回外存 inode 区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77285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402574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释放表项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76578" y="3912394"/>
              <a:ext cx="202869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fd 对应的用户打开文件表项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置为空闲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913060" y="3912394"/>
              <a:ext cx="193116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u_ofile[fd] = −1（空闲标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志）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5842635" cy="292893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463992" y="1524000"/>
              <a:ext cx="9525" cy="29289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800475" y="1524000"/>
              <a:ext cx="9525" cy="29289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3" name="c1-callout-2"/>
          <p:cNvGrpSpPr/>
          <p:nvPr/>
        </p:nvGrpSpPr>
        <p:grpSpPr>
          <a:xfrm>
            <a:off x="533400" y="4643438"/>
            <a:ext cx="5842635" cy="1059180"/>
            <a:chOff x="533400" y="4643438"/>
            <a:chExt cx="5842635" cy="1059180"/>
          </a:xfrm>
        </p:grpSpPr>
        <p:sp>
          <p:nvSpPr>
            <p:cNvPr id="27" name="Rectangle 27"/>
            <p:cNvSpPr/>
            <p:nvPr/>
          </p:nvSpPr>
          <p:spPr>
            <a:xfrm>
              <a:off x="533400" y="4643438"/>
              <a:ext cx="5842635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8188" y="5073015"/>
              <a:ext cx="200026" cy="200025"/>
              <a:chOff x="738188" y="5073015"/>
              <a:chExt cx="200026" cy="200025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507301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77926" y="511746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12642" y="522859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130" y="4792028"/>
              <a:ext cx="48729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close 是 open 的逆过程：open 使计数加 1、占用表项；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close 使计数减 1、归还表项。计数不为 0，说明还有别的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表项在用它。</a:t>
              </a:r>
            </a:p>
          </p:txBody>
        </p:sp>
      </p:grpSp>
      <p:grpSp>
        <p:nvGrpSpPr>
          <p:cNvPr id="64" name="c2-card-1"/>
          <p:cNvGrpSpPr/>
          <p:nvPr/>
        </p:nvGrpSpPr>
        <p:grpSpPr>
          <a:xfrm>
            <a:off x="6680835" y="1524000"/>
            <a:ext cx="4977765" cy="4191952"/>
            <a:chOff x="6680835" y="1524000"/>
            <a:chExt cx="4977765" cy="4191952"/>
          </a:xfrm>
        </p:grpSpPr>
        <p:sp>
          <p:nvSpPr>
            <p:cNvPr id="34" name="Rectangle 34"/>
            <p:cNvSpPr/>
            <p:nvPr/>
          </p:nvSpPr>
          <p:spPr>
            <a:xfrm>
              <a:off x="6680835" y="1524000"/>
              <a:ext cx="4977765" cy="4191952"/>
            </a:xfrm>
            <a:prstGeom prst="roundRect">
              <a:avLst>
                <a:gd name="adj" fmla="val 318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690360" y="1657350"/>
              <a:ext cx="47625" cy="392525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928485" y="173355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023595" y="176926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920865" y="2110740"/>
              <a:ext cx="42538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 A、B 各自 open 同一文件（inode 15），A 写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过文件。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928485" y="2707005"/>
              <a:ext cx="4520565" cy="675322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327862" y="295608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时刻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59369" y="2842736"/>
              <a:ext cx="670103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 的</a:t>
              </a:r>
              <a:br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f_count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578569" y="2842736"/>
              <a:ext cx="670103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 的</a:t>
              </a:r>
              <a:br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f_count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653985" y="2956084"/>
              <a:ext cx="6642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i_count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036308" y="3518059"/>
              <a:ext cx="7647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两次 open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640557" y="363140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859757" y="363140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932272" y="363140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928485" y="4052888"/>
              <a:ext cx="45205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928485" y="4057650"/>
              <a:ext cx="452056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036308" y="4193381"/>
              <a:ext cx="6247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close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209773" y="4193381"/>
              <a:ext cx="9692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0，表项释放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859757" y="419338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932272" y="419338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928485" y="4502468"/>
              <a:ext cx="45205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036308" y="4642009"/>
              <a:ext cx="6247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close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640557" y="464200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428973" y="4642009"/>
              <a:ext cx="9692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0，表项释放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932272" y="464200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928485" y="2707005"/>
              <a:ext cx="4520565" cy="22488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8080058" y="2707005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9299258" y="2707005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10518458" y="2707005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922008" y="5071586"/>
              <a:ext cx="427202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i_count 降为 0 时 i_flag 有修改标志（IUPD），inode 写回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外存；A close 时 inode 仍被 B 使用，不写回。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第8章 文件系统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281540" cy="909257"/>
            <a:chOff x="520446" y="342900"/>
            <a:chExt cx="528154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文件系统 · 文件系统的界面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28154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seek：只改读写指针，不访问磁盘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table-1"/>
          <p:cNvGrpSpPr/>
          <p:nvPr/>
        </p:nvGrpSpPr>
        <p:grpSpPr>
          <a:xfrm>
            <a:off x="533400" y="1524000"/>
            <a:ext cx="6059805" cy="2200275"/>
            <a:chOff x="533400" y="1524000"/>
            <a:chExt cx="6059805" cy="22002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0005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48915" y="1645444"/>
              <a:ext cx="1714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通用 seek(fd, offset)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618564" y="1645444"/>
              <a:ext cx="24345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UNIX seek(fd, whence, offset)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0555" y="2045494"/>
              <a:ext cx="211444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fd 查用户打开文件表，找到对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应入口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175635" y="2045494"/>
              <a:ext cx="309092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u_ofile[fd] 找到 file 表入口，由 f_inode 找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到内存 inode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51936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524125"/>
              <a:ext cx="6059805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0555" y="274558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检查参数合法性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175635" y="2645569"/>
              <a:ext cx="295579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检查 i_size0、i_size1、f_offset、offset、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whence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11943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0555" y="3245644"/>
              <a:ext cx="2113737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读写指针设为 offset，后继读写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由此开始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175635" y="3345656"/>
              <a:ext cx="17754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按参数要求调整 f_offset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1524000"/>
              <a:ext cx="6059805" cy="22002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3073718" y="1524000"/>
              <a:ext cx="9525" cy="2200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28" name="c1-callout-2"/>
          <p:cNvGrpSpPr/>
          <p:nvPr/>
        </p:nvGrpSpPr>
        <p:grpSpPr>
          <a:xfrm>
            <a:off x="533400" y="3893820"/>
            <a:ext cx="6059805" cy="729615"/>
            <a:chOff x="533400" y="3893820"/>
            <a:chExt cx="6059805" cy="729615"/>
          </a:xfrm>
        </p:grpSpPr>
        <p:sp>
          <p:nvSpPr>
            <p:cNvPr id="22" name="Rectangle 22"/>
            <p:cNvSpPr/>
            <p:nvPr/>
          </p:nvSpPr>
          <p:spPr>
            <a:xfrm>
              <a:off x="533400" y="3893820"/>
              <a:ext cx="6059805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38188" y="4158615"/>
              <a:ext cx="200026" cy="200026"/>
              <a:chOff x="738188" y="4158615"/>
              <a:chExt cx="200026" cy="200026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38188" y="415861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38200" y="42252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27088" y="425862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40892" y="4040505"/>
              <a:ext cx="499433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通用版的 offset 就是新位置；UNIX 版的 offset 是移动量，从哪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里算由 whence 决定。</a:t>
              </a:r>
            </a:p>
          </p:txBody>
        </p:sp>
      </p:grpSp>
      <p:grpSp>
        <p:nvGrpSpPr>
          <p:cNvPr id="48" name="c1-cells-3"/>
          <p:cNvGrpSpPr/>
          <p:nvPr/>
        </p:nvGrpSpPr>
        <p:grpSpPr>
          <a:xfrm>
            <a:off x="528638" y="4819174"/>
            <a:ext cx="5024438" cy="921067"/>
            <a:chOff x="528638" y="4819174"/>
            <a:chExt cx="5024438" cy="921067"/>
          </a:xfrm>
        </p:grpSpPr>
        <p:sp>
          <p:nvSpPr>
            <p:cNvPr id="29" name="TextBox 29"/>
            <p:cNvSpPr txBox="1"/>
            <p:nvPr/>
          </p:nvSpPr>
          <p:spPr>
            <a:xfrm>
              <a:off x="528638" y="5188267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文件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95350" y="5060632"/>
              <a:ext cx="776288" cy="368618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164562" y="5188267"/>
              <a:ext cx="23881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头 0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671638" y="5060632"/>
              <a:ext cx="77628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949589" y="5188267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500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2447925" y="5060632"/>
              <a:ext cx="776288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551605" y="5188267"/>
              <a:ext cx="56988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当前 1000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3224212" y="5060632"/>
              <a:ext cx="77628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467180" y="5188267"/>
              <a:ext cx="2894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1500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000500" y="5060632"/>
              <a:ext cx="77628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244420" y="5188267"/>
              <a:ext cx="2894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2800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776788" y="5060632"/>
              <a:ext cx="776288" cy="368618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940094" y="5188267"/>
              <a:ext cx="44872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尾 3000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802443" y="4819174"/>
              <a:ext cx="5137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whence 0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2021205" y="496538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355018" y="4819174"/>
              <a:ext cx="5137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whence 1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3573780" y="496538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4351020" y="54483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132258" y="5578316"/>
              <a:ext cx="5137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whence 2</a:t>
              </a:r>
            </a:p>
          </p:txBody>
        </p:sp>
      </p:grpSp>
      <p:grpSp>
        <p:nvGrpSpPr>
          <p:cNvPr id="50" name="c1-text-4"/>
          <p:cNvGrpSpPr/>
          <p:nvPr/>
        </p:nvGrpSpPr>
        <p:grpSpPr>
          <a:xfrm>
            <a:off x="527685" y="5874544"/>
            <a:ext cx="6012251" cy="220028"/>
            <a:chOff x="527685" y="5874544"/>
            <a:chExt cx="6012251" cy="220028"/>
          </a:xfrm>
        </p:grpSpPr>
        <p:sp>
          <p:nvSpPr>
            <p:cNvPr id="49" name="TextBox 49"/>
            <p:cNvSpPr txBox="1"/>
            <p:nvPr/>
          </p:nvSpPr>
          <p:spPr>
            <a:xfrm>
              <a:off x="527685" y="5874544"/>
              <a:ext cx="6012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右表前三个调用的结果在文件中的位置：whence 分别从文件头、当前位置、文件尾算起。</a:t>
              </a:r>
            </a:p>
          </p:txBody>
        </p:sp>
      </p:grpSp>
      <p:grpSp>
        <p:nvGrpSpPr>
          <p:cNvPr id="69" name="c2-table-1"/>
          <p:cNvGrpSpPr/>
          <p:nvPr/>
        </p:nvGrpSpPr>
        <p:grpSpPr>
          <a:xfrm>
            <a:off x="6898005" y="1524000"/>
            <a:ext cx="4760595" cy="2000250"/>
            <a:chOff x="6898005" y="1524000"/>
            <a:chExt cx="4760595" cy="2000250"/>
          </a:xfrm>
        </p:grpSpPr>
        <p:sp>
          <p:nvSpPr>
            <p:cNvPr id="51" name="Rectangle 51"/>
            <p:cNvSpPr/>
            <p:nvPr/>
          </p:nvSpPr>
          <p:spPr>
            <a:xfrm>
              <a:off x="6898005" y="1524000"/>
              <a:ext cx="4760595" cy="40005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328665" y="1645444"/>
              <a:ext cx="5655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whence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464152" y="1645444"/>
              <a:ext cx="1057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新的 f_offset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562176" y="20454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422958" y="2045494"/>
              <a:ext cx="15644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offset（从文件头算）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898005" y="231933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898005" y="2324100"/>
              <a:ext cx="476059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562176" y="2445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422958" y="2445544"/>
              <a:ext cx="12854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当前位置 + offset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898005" y="271938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562176" y="28455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422958" y="2845594"/>
              <a:ext cx="11346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文件尾 + offset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898005" y="311943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898005" y="3124200"/>
              <a:ext cx="476059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324330" y="3245644"/>
              <a:ext cx="5741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3、4、5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422958" y="3245644"/>
              <a:ext cx="23936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 0、1、2，offset 以 512 字节计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898005" y="1524000"/>
              <a:ext cx="4760595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8321040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9" name="c2-table-2"/>
          <p:cNvGrpSpPr/>
          <p:nvPr/>
        </p:nvGrpSpPr>
        <p:grpSpPr>
          <a:xfrm>
            <a:off x="6893052" y="3693795"/>
            <a:ext cx="4765548" cy="2264759"/>
            <a:chOff x="6893052" y="3693795"/>
            <a:chExt cx="4765548" cy="2264759"/>
          </a:xfrm>
        </p:grpSpPr>
        <p:sp>
          <p:nvSpPr>
            <p:cNvPr id="70" name="Rectangle 70"/>
            <p:cNvSpPr/>
            <p:nvPr/>
          </p:nvSpPr>
          <p:spPr>
            <a:xfrm>
              <a:off x="6898005" y="3693795"/>
              <a:ext cx="4760595" cy="40005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799464" y="381523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例：调用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255148" y="381523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新位置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995160" y="4215289"/>
              <a:ext cx="13254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seek(fd, 0, 500)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301237" y="4215289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500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6898005" y="448913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6898005" y="4493895"/>
              <a:ext cx="476059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995160" y="4615339"/>
              <a:ext cx="13254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seek(fd, 1, 500)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218311" y="4615339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1500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6898005" y="488918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995160" y="5015389"/>
              <a:ext cx="14125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seek(fd, 2, −200)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218311" y="5015389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2800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6898005" y="528923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6898005" y="5293995"/>
              <a:ext cx="476059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995160" y="5415439"/>
              <a:ext cx="11512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seek(fd, 4, 1)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0291049" y="5415439"/>
              <a:ext cx="12703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 + 512 = 1512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6898005" y="3693795"/>
              <a:ext cx="4760595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7" name="Rectangle 87"/>
            <p:cNvSpPr/>
            <p:nvPr/>
          </p:nvSpPr>
          <p:spPr>
            <a:xfrm>
              <a:off x="9310688" y="3693795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6893052" y="5767864"/>
              <a:ext cx="30640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文件长 3000 字节，每次都从 f_offset = 1000 出发</a:t>
              </a:r>
            </a:p>
          </p:txBody>
        </p:sp>
      </p:grpSp>
      <p:grpSp>
        <p:nvGrpSpPr>
          <p:cNvPr id="9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0" name="TextBox 90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第8章 文件系统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43352" cy="909257"/>
            <a:chOff x="520446" y="342900"/>
            <a:chExt cx="74433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文件系统 · 文件系统的界面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433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 与 write：由读写指针和 i_addr 算出盘块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8" name="c1-table-1"/>
          <p:cNvGrpSpPr/>
          <p:nvPr/>
        </p:nvGrpSpPr>
        <p:grpSpPr>
          <a:xfrm>
            <a:off x="533400" y="1524000"/>
            <a:ext cx="6924675" cy="4719638"/>
            <a:chOff x="533400" y="1524000"/>
            <a:chExt cx="6924675" cy="471963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924675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48411" y="165973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97323" y="1659731"/>
              <a:ext cx="24193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nrd = read(fd, buf, count)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488691" y="1659731"/>
              <a:ext cx="25459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nwt = write(fd, buf, count)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84812" y="21083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56513" y="2108359"/>
              <a:ext cx="23305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u_ofile[fd] 找到 file 表项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173093" y="210835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同左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16492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21255"/>
              <a:ext cx="692467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84812" y="25569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56513" y="2556986"/>
              <a:ext cx="24238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检查访问权限：f_flag 含 READ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173093" y="2556986"/>
              <a:ext cx="25149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检查访问权限：f_flag 含 WRITE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66072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84812" y="300561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56513" y="300561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f_inode 找到内存 inode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173093" y="30056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同左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314700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319462"/>
              <a:ext cx="692467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84812" y="356758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56513" y="3454241"/>
              <a:ext cx="274396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f_offset、count、i_addr 算出磁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盘块号（bmap，可能多块）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173093" y="3567589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同左，写到文件尾之后时要分配新盘块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990022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84812" y="424386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56513" y="4130516"/>
              <a:ext cx="276021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启动 I/O，把盘块读入系统缓冲区（缓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冲区中没有时切换进程）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173093" y="4130516"/>
              <a:ext cx="303657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申请系统缓冲区，把 buf 起的 count 字节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送入缓冲区（可多次）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665345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670108"/>
              <a:ext cx="692467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84812" y="49191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56513" y="4805839"/>
              <a:ext cx="19636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缓冲区内容复制到进程空间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（iomove）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173093" y="4805839"/>
              <a:ext cx="297154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缓冲区链到设备 I/O 链上，设备空闲则启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动设备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5340668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84812" y="548116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56513" y="5481161"/>
              <a:ext cx="20721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返回实际读入的字节数 nrd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173093" y="5481161"/>
              <a:ext cx="24598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修改 inode 中的文件长度 i_size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5790248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3400" y="5795010"/>
              <a:ext cx="692467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4812" y="592978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173093" y="5929789"/>
              <a:ext cx="21065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返回实际写出的字节数 nwt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1524000"/>
              <a:ext cx="6924675" cy="471963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943928" y="1524000"/>
              <a:ext cx="9525" cy="4719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4060508" y="1524000"/>
              <a:ext cx="9525" cy="4719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0" name="c2-card-1"/>
          <p:cNvGrpSpPr/>
          <p:nvPr/>
        </p:nvGrpSpPr>
        <p:grpSpPr>
          <a:xfrm>
            <a:off x="7762875" y="1524000"/>
            <a:ext cx="3895725" cy="4719638"/>
            <a:chOff x="7762875" y="1524000"/>
            <a:chExt cx="3895725" cy="4719638"/>
          </a:xfrm>
        </p:grpSpPr>
        <p:sp>
          <p:nvSpPr>
            <p:cNvPr id="49" name="Rectangle 49"/>
            <p:cNvSpPr/>
            <p:nvPr/>
          </p:nvSpPr>
          <p:spPr>
            <a:xfrm>
              <a:off x="7762875" y="1524000"/>
              <a:ext cx="3895725" cy="4719638"/>
            </a:xfrm>
            <a:prstGeom prst="roundRect">
              <a:avLst>
                <a:gd name="adj" fmla="val 34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7772400" y="1657350"/>
              <a:ext cx="47625" cy="44529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8010525" y="1733550"/>
              <a:ext cx="130968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077198" y="1769269"/>
              <a:ext cx="11772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通用（8.8）版本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002905" y="2110740"/>
              <a:ext cx="3066098" cy="5505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read(fd, nrd, buf)、write(fd,</a:t>
              </a:r>
              <a:br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nwt, buf)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002905" y="2722245"/>
              <a:ext cx="30251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以记录为单位，nrd、nwt 是记录个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数：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8010525" y="3329940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072374" y="337223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311515" y="3343275"/>
              <a:ext cx="21758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fd 查用户打开文件表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8010525" y="3665220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072374" y="370751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311515" y="3678555"/>
              <a:ext cx="2682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合法性检查（打开方式、存取方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式）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8010525" y="4286250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072374" y="432854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311515" y="429958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查系统打开文件表，找到文件地址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8010525" y="4621530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072374" y="466382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311515" y="4634865"/>
              <a:ext cx="2872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按物理结构和读写指针，算出起始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记录位置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8010525" y="5242560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8072374" y="528485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311515" y="5255895"/>
              <a:ext cx="2872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传送记录；write 需要时先申请存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储块，传送时可能切换进程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第8章 文件系统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70112" cy="909257"/>
            <a:chOff x="520446" y="342900"/>
            <a:chExt cx="667011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文件系统 · 文件系统的界面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7011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link 与 unlink：增删目录项，修改链接计数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card-1"/>
          <p:cNvGrpSpPr/>
          <p:nvPr/>
        </p:nvGrpSpPr>
        <p:grpSpPr>
          <a:xfrm>
            <a:off x="533400" y="1524000"/>
            <a:ext cx="5410200" cy="3531870"/>
            <a:chOff x="533400" y="1524000"/>
            <a:chExt cx="5410200" cy="35318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531870"/>
            </a:xfrm>
            <a:prstGeom prst="roundRect">
              <a:avLst>
                <a:gd name="adj" fmla="val 37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26517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建立连接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65922" y="1768792"/>
              <a:ext cx="34288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link(oldpathname, newpathname)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1050" y="211645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42899" y="21587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2040" y="2129790"/>
              <a:ext cx="4463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查目录找到 oldpathname 的 inode（FCB 主部），由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此得到文件号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1050" y="273748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2899" y="27797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82040" y="2750820"/>
              <a:ext cx="34581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查目录找到 newpathname 的末级目录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1050" y="307276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2899" y="31150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82040" y="3086100"/>
              <a:ext cx="43681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检查操作合法性：old 必须存在，new 的末级名字不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能已存在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81050" y="369379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42899" y="373608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82040" y="3707130"/>
              <a:ext cx="32764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inode 的 i_nlink++（连接计数加 1）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81050" y="402907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42899" y="407136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82040" y="4042410"/>
              <a:ext cx="35585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(末级名字, i_number) 作为新目录项填入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newpathname 的末级目录</a:t>
              </a:r>
            </a:p>
          </p:txBody>
        </p:sp>
      </p:grpSp>
      <p:grpSp>
        <p:nvGrpSpPr>
          <p:cNvPr id="42" name="c2-card-1"/>
          <p:cNvGrpSpPr/>
          <p:nvPr/>
        </p:nvGrpSpPr>
        <p:grpSpPr>
          <a:xfrm>
            <a:off x="6248400" y="1524000"/>
            <a:ext cx="5410200" cy="2005965"/>
            <a:chOff x="6248400" y="1524000"/>
            <a:chExt cx="5410200" cy="2005965"/>
          </a:xfrm>
        </p:grpSpPr>
        <p:sp>
          <p:nvSpPr>
            <p:cNvPr id="28" name="Rectangle 28"/>
            <p:cNvSpPr/>
            <p:nvPr/>
          </p:nvSpPr>
          <p:spPr>
            <a:xfrm>
              <a:off x="6248400" y="1524000"/>
              <a:ext cx="5410200" cy="2005965"/>
            </a:xfrm>
            <a:prstGeom prst="roundRect">
              <a:avLst>
                <a:gd name="adj" fmla="val 66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57925" y="1657350"/>
              <a:ext cx="47625" cy="173926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96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78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断开连接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80923" y="1768792"/>
              <a:ext cx="18174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unlink(pathname)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496050" y="211645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57899" y="21587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97040" y="2129790"/>
              <a:ext cx="40660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查目录找到 pathname 的 inode（FCB 主部）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496050" y="245173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57899" y="24940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97040" y="2465070"/>
              <a:ext cx="4463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i_nlink−−；减到 0 则归还文件占用的全部磁盘块，文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件被删除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496050" y="307276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57899" y="31150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797040" y="3086100"/>
              <a:ext cx="44698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从末级目录中清除这个文件名的登记（FCB 次部）</a:t>
              </a:r>
            </a:p>
          </p:txBody>
        </p:sp>
      </p:grpSp>
      <p:grpSp>
        <p:nvGrpSpPr>
          <p:cNvPr id="49" name="c2-callout-2"/>
          <p:cNvGrpSpPr/>
          <p:nvPr/>
        </p:nvGrpSpPr>
        <p:grpSpPr>
          <a:xfrm>
            <a:off x="6248400" y="3720465"/>
            <a:ext cx="5410200" cy="1335405"/>
            <a:chOff x="6248400" y="3720465"/>
            <a:chExt cx="5410200" cy="1335405"/>
          </a:xfrm>
        </p:grpSpPr>
        <p:sp>
          <p:nvSpPr>
            <p:cNvPr id="43" name="Rectangle 43"/>
            <p:cNvSpPr/>
            <p:nvPr/>
          </p:nvSpPr>
          <p:spPr>
            <a:xfrm>
              <a:off x="6248400" y="3720465"/>
              <a:ext cx="5410200" cy="1335405"/>
            </a:xfrm>
            <a:prstGeom prst="roundRect">
              <a:avLst>
                <a:gd name="adj" fmla="val 85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6453188" y="4288155"/>
              <a:ext cx="200026" cy="200026"/>
              <a:chOff x="6453188" y="4288155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6453188" y="428815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553200" y="435483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542088" y="438816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6755130" y="3869055"/>
              <a:ext cx="4511040" cy="1122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通用版（8.8）步骤相同，只是名称不同：FCB 主部对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 inode，连接计数对应 i_nlink。课件例子：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link("/usr/Li/f1", "/usr/Zhang/d2/f2")，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unlink("/usr/Zhang/d2/f2")。</a:t>
              </a:r>
            </a:p>
          </p:txBody>
        </p:sp>
      </p:grpSp>
      <p:grpSp>
        <p:nvGrpSpPr>
          <p:cNvPr id="56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0" name="Rectangle 50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040130" y="5991225"/>
              <a:ext cx="82842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易错：unlink 删的是一个目录项，不一定删除文件；只有 i_nlink 减到 0 时，文件才被删除。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第8章 文件系统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25330" cy="909257"/>
            <a:chOff x="520446" y="342900"/>
            <a:chExt cx="742533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文件系统 · 文件系统的界面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2533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例：link 再 unlink 后，目录项和 i_nlink 怎样变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9340215" cy="569595"/>
            <a:chOff x="525780" y="1548765"/>
            <a:chExt cx="9340215" cy="569595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93402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已知 d1、d2、f1 存在，f1 的 i_number = 15；d3 存在，f2 不存在。先 link("d1/d2/f1", "d1/d3/f2")，再</a:t>
              </a:r>
              <a:br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unlink("d1/d2/f1")。</a:t>
              </a:r>
            </a:p>
          </p:txBody>
        </p:sp>
      </p:grpSp>
      <p:grpSp>
        <p:nvGrpSpPr>
          <p:cNvPr id="35" name="c1-table-1"/>
          <p:cNvGrpSpPr/>
          <p:nvPr/>
        </p:nvGrpSpPr>
        <p:grpSpPr>
          <a:xfrm>
            <a:off x="533400" y="2230755"/>
            <a:ext cx="6059805" cy="1697355"/>
            <a:chOff x="533400" y="2230755"/>
            <a:chExt cx="6059805" cy="1697355"/>
          </a:xfrm>
        </p:grpSpPr>
        <p:sp>
          <p:nvSpPr>
            <p:cNvPr id="9" name="Rectangle 9"/>
            <p:cNvSpPr/>
            <p:nvPr/>
          </p:nvSpPr>
          <p:spPr>
            <a:xfrm>
              <a:off x="533400" y="2230755"/>
              <a:ext cx="6059805" cy="4248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72503" y="235934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383292" y="2359342"/>
              <a:ext cx="4112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d2 中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840617" y="2359342"/>
              <a:ext cx="4112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d3 中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894989" y="2359342"/>
              <a:ext cx="14628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inode 15 的 i_nlink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5889" y="278320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247595" y="2783205"/>
              <a:ext cx="6826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(f1, 15)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846271" y="2783205"/>
              <a:ext cx="3998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 f2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575897" y="278320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07467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3079432"/>
              <a:ext cx="605980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5889" y="3208020"/>
              <a:ext cx="5129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link 后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247595" y="3208020"/>
              <a:ext cx="6826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(f1, 15)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441382" y="3088958"/>
              <a:ext cx="1209675" cy="40576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704920" y="3208020"/>
              <a:ext cx="6826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(f2, 15)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575897" y="320802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49948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5889" y="3632835"/>
              <a:ext cx="6995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unlink 后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755458" y="3513772"/>
              <a:ext cx="1666875" cy="40576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005279" y="3632835"/>
              <a:ext cx="1167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(f1, −1)，空项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704920" y="3632835"/>
              <a:ext cx="6826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(f2, 15)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575897" y="363283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2230755"/>
              <a:ext cx="6059805" cy="1697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1741170" y="2230755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3427095" y="2230755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654868" y="2230755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2" name="c1-card-2"/>
          <p:cNvGrpSpPr/>
          <p:nvPr/>
        </p:nvGrpSpPr>
        <p:grpSpPr>
          <a:xfrm>
            <a:off x="533400" y="4109085"/>
            <a:ext cx="6059805" cy="1915478"/>
            <a:chOff x="533400" y="4109085"/>
            <a:chExt cx="6059805" cy="1915478"/>
          </a:xfrm>
        </p:grpSpPr>
        <p:sp>
          <p:nvSpPr>
            <p:cNvPr id="36" name="Rectangle 36"/>
            <p:cNvSpPr/>
            <p:nvPr/>
          </p:nvSpPr>
          <p:spPr>
            <a:xfrm>
              <a:off x="533400" y="4109085"/>
              <a:ext cx="6059805" cy="1915478"/>
            </a:xfrm>
            <a:prstGeom prst="roundRect">
              <a:avLst>
                <a:gd name="adj" fmla="val 696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542925" y="4242435"/>
              <a:ext cx="47625" cy="164877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69620" y="4307205"/>
              <a:ext cx="18097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21055" y="4341495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补充：删除正在使用的文件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62381" y="4667726"/>
              <a:ext cx="519925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unlink 使 i_nlink 降为 0 时，若文件仍被某进程打开（内存 inode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 i_count &gt; 0），UNIX 并不立刻释放。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3524" y="5253038"/>
              <a:ext cx="47373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等最后一次 close 使 i_count 降为 0 时，才释放磁盘块和 inode。</a:t>
              </a:r>
            </a:p>
          </p:txBody>
        </p:sp>
      </p:grpSp>
      <p:grpSp>
        <p:nvGrpSpPr>
          <p:cNvPr id="61" name="c2-graph-1"/>
          <p:cNvGrpSpPr/>
          <p:nvPr/>
        </p:nvGrpSpPr>
        <p:grpSpPr>
          <a:xfrm>
            <a:off x="7772400" y="2344102"/>
            <a:ext cx="3010853" cy="2541271"/>
            <a:chOff x="7772400" y="2344102"/>
            <a:chExt cx="3010853" cy="2541271"/>
          </a:xfrm>
        </p:grpSpPr>
        <p:sp>
          <p:nvSpPr>
            <p:cNvPr id="43" name="Freeform 43"/>
            <p:cNvSpPr/>
            <p:nvPr/>
          </p:nvSpPr>
          <p:spPr>
            <a:xfrm>
              <a:off x="8095298" y="2619375"/>
              <a:ext cx="1032510" cy="708660"/>
            </a:xfrm>
            <a:custGeom>
              <a:avLst/>
              <a:gdLst/>
              <a:ahLst/>
              <a:cxnLst/>
              <a:rect l="l" t="t" r="r" b="b"/>
              <a:pathLst>
                <a:path w="1032510" h="708660">
                  <a:moveTo>
                    <a:pt x="1032510" y="0"/>
                  </a:moveTo>
                  <a:lnTo>
                    <a:pt x="0" y="70866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9427845" y="2619375"/>
              <a:ext cx="1033462" cy="708660"/>
            </a:xfrm>
            <a:custGeom>
              <a:avLst/>
              <a:gdLst/>
              <a:ahLst/>
              <a:cxnLst/>
              <a:rect l="l" t="t" r="r" b="b"/>
              <a:pathLst>
                <a:path w="1033462" h="708660">
                  <a:moveTo>
                    <a:pt x="0" y="0"/>
                  </a:moveTo>
                  <a:lnTo>
                    <a:pt x="1033462" y="70866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8074342" y="3558540"/>
              <a:ext cx="994410" cy="980122"/>
            </a:xfrm>
            <a:custGeom>
              <a:avLst/>
              <a:gdLst/>
              <a:ahLst/>
              <a:cxnLst/>
              <a:rect l="l" t="t" r="r" b="b"/>
              <a:pathLst>
                <a:path w="994410" h="980122">
                  <a:moveTo>
                    <a:pt x="0" y="0"/>
                  </a:moveTo>
                  <a:lnTo>
                    <a:pt x="994410" y="98012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9034462" y="4504372"/>
              <a:ext cx="101918" cy="100965"/>
            </a:xfrm>
            <a:custGeom>
              <a:avLst/>
              <a:gdLst/>
              <a:ahLst/>
              <a:cxnLst/>
              <a:rect l="l" t="t" r="r" b="b"/>
              <a:pathLst>
                <a:path w="101918" h="100965">
                  <a:moveTo>
                    <a:pt x="101918" y="100965"/>
                  </a:moveTo>
                  <a:lnTo>
                    <a:pt x="0" y="67628"/>
                  </a:lnTo>
                  <a:lnTo>
                    <a:pt x="6762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9487852" y="3558540"/>
              <a:ext cx="993458" cy="980122"/>
            </a:xfrm>
            <a:custGeom>
              <a:avLst/>
              <a:gdLst/>
              <a:ahLst/>
              <a:cxnLst/>
              <a:rect l="l" t="t" r="r" b="b"/>
              <a:pathLst>
                <a:path w="993458" h="980122">
                  <a:moveTo>
                    <a:pt x="993458" y="0"/>
                  </a:moveTo>
                  <a:lnTo>
                    <a:pt x="0" y="98012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9420225" y="4504372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0" y="100965"/>
                  </a:moveTo>
                  <a:lnTo>
                    <a:pt x="34290" y="0"/>
                  </a:lnTo>
                  <a:lnTo>
                    <a:pt x="100965" y="6762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9105900" y="2344102"/>
              <a:ext cx="344805" cy="344805"/>
            </a:xfrm>
            <a:prstGeom prst="ellipse">
              <a:avLst/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7772400" y="3258502"/>
              <a:ext cx="344805" cy="344805"/>
            </a:xfrm>
            <a:prstGeom prst="ellipse">
              <a:avLst/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10438448" y="3258502"/>
              <a:ext cx="344805" cy="344805"/>
            </a:xfrm>
            <a:prstGeom prst="ellipse">
              <a:avLst/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8487728" y="4605338"/>
              <a:ext cx="1580198" cy="280035"/>
            </a:xfrm>
            <a:prstGeom prst="roundRect">
              <a:avLst>
                <a:gd name="adj" fmla="val 34014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191338" y="245078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d1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857838" y="336518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d2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523886" y="336518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d3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556672" y="4679632"/>
              <a:ext cx="14432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inode 15：i_nlink = 2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8509635" y="4003358"/>
              <a:ext cx="19050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539409" y="403240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f1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9855518" y="4003358"/>
              <a:ext cx="19050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885291" y="403240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f2</a:t>
              </a:r>
            </a:p>
          </p:txBody>
        </p:sp>
      </p:grpSp>
      <p:grpSp>
        <p:nvGrpSpPr>
          <p:cNvPr id="68" name="c2-callout-2"/>
          <p:cNvGrpSpPr/>
          <p:nvPr/>
        </p:nvGrpSpPr>
        <p:grpSpPr>
          <a:xfrm>
            <a:off x="6898005" y="5268278"/>
            <a:ext cx="4760595" cy="756285"/>
            <a:chOff x="6898005" y="5268278"/>
            <a:chExt cx="4760595" cy="756285"/>
          </a:xfrm>
        </p:grpSpPr>
        <p:sp>
          <p:nvSpPr>
            <p:cNvPr id="62" name="Rectangle 62"/>
            <p:cNvSpPr/>
            <p:nvPr/>
          </p:nvSpPr>
          <p:spPr>
            <a:xfrm>
              <a:off x="6898005" y="5268278"/>
              <a:ext cx="4760595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102793" y="5546408"/>
              <a:ext cx="200026" cy="200026"/>
              <a:chOff x="7102793" y="5546408"/>
              <a:chExt cx="200026" cy="200026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7102793" y="55464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7202805" y="56130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191693" y="56464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7405116" y="5415439"/>
              <a:ext cx="389178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图为 link 之后的状态：d2 中的 f1 和 d3 中的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f2 是同一个 inode 的两个名字，没有主次之分。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第8章 文件系统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72980" cy="909257"/>
            <a:chOff x="520446" y="342900"/>
            <a:chExt cx="73729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文件系统 · 文件系统的界面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729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pipe：一个 inode、两个 file 表项、两个描述符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card-1"/>
          <p:cNvGrpSpPr/>
          <p:nvPr/>
        </p:nvGrpSpPr>
        <p:grpSpPr>
          <a:xfrm>
            <a:off x="533400" y="1524000"/>
            <a:ext cx="5410200" cy="2607945"/>
            <a:chOff x="533400" y="1524000"/>
            <a:chExt cx="5410200" cy="26079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607945"/>
            </a:xfrm>
            <a:prstGeom prst="roundRect">
              <a:avLst>
                <a:gd name="adj" fmla="val 511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34124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9659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7660" y="1769269"/>
              <a:ext cx="18727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pipe(fd)，其中 int fd[2]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1050" y="209740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2899" y="21396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82040" y="2110740"/>
              <a:ext cx="26605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分配一个 inode，i_count = 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1050" y="243268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2899" y="24749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82040" y="2446020"/>
              <a:ext cx="44538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 2 个 file 表项，f_flag 分别为 PipeR、PipeW，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读写指针 offset 都为 0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1050" y="305371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2899" y="30960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82040" y="3067050"/>
              <a:ext cx="45687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 2 个 u_ofile 表项，分别指向这 2 个 file 表项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81050" y="338899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42899" y="343128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82040" y="3402330"/>
              <a:ext cx="43776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 2 个文件描述符 fd[0]、fd[1]，即 u_ofile 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 2 个入口</a:t>
              </a:r>
            </a:p>
          </p:txBody>
        </p:sp>
      </p:grpSp>
      <p:grpSp>
        <p:nvGrpSpPr>
          <p:cNvPr id="38" name="c1-table-2"/>
          <p:cNvGrpSpPr/>
          <p:nvPr/>
        </p:nvGrpSpPr>
        <p:grpSpPr>
          <a:xfrm>
            <a:off x="533400" y="4322445"/>
            <a:ext cx="5410200" cy="2022158"/>
            <a:chOff x="533400" y="4322445"/>
            <a:chExt cx="5410200" cy="2022158"/>
          </a:xfrm>
        </p:grpSpPr>
        <p:sp>
          <p:nvSpPr>
            <p:cNvPr id="24" name="Rectangle 24"/>
            <p:cNvSpPr/>
            <p:nvPr/>
          </p:nvSpPr>
          <p:spPr>
            <a:xfrm>
              <a:off x="533400" y="4322445"/>
              <a:ext cx="54102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49922" y="445817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655022" y="445817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规则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1223" y="4906804"/>
              <a:ext cx="6375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 read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831848" y="4906804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读指针追上写指针（管道中没有数据），读者等待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52149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5219700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1223" y="5355431"/>
              <a:ext cx="7280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 write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831848" y="5355431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写指针追上读指针（管道已满），写者等待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566451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1223" y="5917406"/>
              <a:ext cx="8641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关闭 close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831848" y="5804059"/>
              <a:ext cx="37518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没有读者时，用信号通知写者；没有写者时，唤醒等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待的读者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4322445"/>
              <a:ext cx="5410200" cy="20221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1719262" y="4322445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8" name="c2-graph-1"/>
          <p:cNvGrpSpPr/>
          <p:nvPr/>
        </p:nvGrpSpPr>
        <p:grpSpPr>
          <a:xfrm>
            <a:off x="6505575" y="2264092"/>
            <a:ext cx="5014913" cy="2448498"/>
            <a:chOff x="6505575" y="2264092"/>
            <a:chExt cx="5014913" cy="2448498"/>
          </a:xfrm>
        </p:grpSpPr>
        <p:sp>
          <p:nvSpPr>
            <p:cNvPr id="39" name="Freeform 39"/>
            <p:cNvSpPr/>
            <p:nvPr/>
          </p:nvSpPr>
          <p:spPr>
            <a:xfrm>
              <a:off x="7721918" y="2404110"/>
              <a:ext cx="303847" cy="9525"/>
            </a:xfrm>
            <a:custGeom>
              <a:avLst/>
              <a:gdLst/>
              <a:ahLst/>
              <a:cxnLst/>
              <a:rect l="l" t="t" r="r" b="b"/>
              <a:pathLst>
                <a:path w="303847" h="9525">
                  <a:moveTo>
                    <a:pt x="0" y="0"/>
                  </a:moveTo>
                  <a:lnTo>
                    <a:pt x="30384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8025765" y="235648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7721918" y="3787140"/>
              <a:ext cx="290512" cy="9525"/>
            </a:xfrm>
            <a:custGeom>
              <a:avLst/>
              <a:gdLst/>
              <a:ahLst/>
              <a:cxnLst/>
              <a:rect l="l" t="t" r="r" b="b"/>
              <a:pathLst>
                <a:path w="290512" h="9525">
                  <a:moveTo>
                    <a:pt x="0" y="0"/>
                  </a:moveTo>
                  <a:lnTo>
                    <a:pt x="29051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8012430" y="373951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9325928" y="2544128"/>
              <a:ext cx="1005840" cy="378142"/>
            </a:xfrm>
            <a:custGeom>
              <a:avLst/>
              <a:gdLst/>
              <a:ahLst/>
              <a:cxnLst/>
              <a:rect l="l" t="t" r="r" b="b"/>
              <a:pathLst>
                <a:path w="1005840" h="378142">
                  <a:moveTo>
                    <a:pt x="0" y="0"/>
                  </a:moveTo>
                  <a:lnTo>
                    <a:pt x="1005840" y="37814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10314622" y="2877502"/>
              <a:ext cx="105727" cy="89535"/>
            </a:xfrm>
            <a:custGeom>
              <a:avLst/>
              <a:gdLst/>
              <a:ahLst/>
              <a:cxnLst/>
              <a:rect l="l" t="t" r="r" b="b"/>
              <a:pathLst>
                <a:path w="105727" h="89535">
                  <a:moveTo>
                    <a:pt x="105727" y="78105"/>
                  </a:moveTo>
                  <a:lnTo>
                    <a:pt x="0" y="89535"/>
                  </a:lnTo>
                  <a:lnTo>
                    <a:pt x="3333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9325928" y="3268980"/>
              <a:ext cx="1005840" cy="378142"/>
            </a:xfrm>
            <a:custGeom>
              <a:avLst/>
              <a:gdLst/>
              <a:ahLst/>
              <a:cxnLst/>
              <a:rect l="l" t="t" r="r" b="b"/>
              <a:pathLst>
                <a:path w="1005840" h="378142">
                  <a:moveTo>
                    <a:pt x="0" y="378142"/>
                  </a:moveTo>
                  <a:lnTo>
                    <a:pt x="100584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10314622" y="3224212"/>
              <a:ext cx="105727" cy="89535"/>
            </a:xfrm>
            <a:custGeom>
              <a:avLst/>
              <a:gdLst/>
              <a:ahLst/>
              <a:cxnLst/>
              <a:rect l="l" t="t" r="r" b="b"/>
              <a:pathLst>
                <a:path w="105727" h="89535">
                  <a:moveTo>
                    <a:pt x="105727" y="11430"/>
                  </a:moveTo>
                  <a:lnTo>
                    <a:pt x="33338" y="89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505575" y="2264092"/>
              <a:ext cx="1216342" cy="280035"/>
            </a:xfrm>
            <a:prstGeom prst="roundRect">
              <a:avLst>
                <a:gd name="adj" fmla="val 34014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505575" y="3647122"/>
              <a:ext cx="1216342" cy="280035"/>
            </a:xfrm>
            <a:prstGeom prst="roundRect">
              <a:avLst>
                <a:gd name="adj" fmla="val 34014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8121015" y="2264092"/>
              <a:ext cx="1664018" cy="280035"/>
            </a:xfrm>
            <a:prstGeom prst="roundRect">
              <a:avLst>
                <a:gd name="adj" fmla="val 34014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8107680" y="3647122"/>
              <a:ext cx="1692592" cy="280035"/>
            </a:xfrm>
            <a:prstGeom prst="roundRect">
              <a:avLst>
                <a:gd name="adj" fmla="val 34014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10066020" y="2955608"/>
              <a:ext cx="1454468" cy="280035"/>
            </a:xfrm>
            <a:prstGeom prst="roundRect">
              <a:avLst>
                <a:gd name="adj" fmla="val 34014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85536" y="2338387"/>
              <a:ext cx="10573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u_ofile：fd[0]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585536" y="3721418"/>
              <a:ext cx="10573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u_ofile：fd[1]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182967" y="2338387"/>
              <a:ext cx="15410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file：PipeR，offset 0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167789" y="3721418"/>
              <a:ext cx="15714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file：PipeW，offset 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137936" y="3029902"/>
              <a:ext cx="13096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inode：i_count = 2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968044" y="4327208"/>
              <a:ext cx="1970913" cy="385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写入 fd[1] 的数据，从 fd[0] 按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先进先出读出</a:t>
              </a:r>
            </a:p>
          </p:txBody>
        </p:sp>
      </p:grpSp>
      <p:grpSp>
        <p:nvGrpSpPr>
          <p:cNvPr id="65" name="c2-callout-2"/>
          <p:cNvGrpSpPr/>
          <p:nvPr/>
        </p:nvGrpSpPr>
        <p:grpSpPr>
          <a:xfrm>
            <a:off x="6248400" y="4857750"/>
            <a:ext cx="5410200" cy="782955"/>
            <a:chOff x="6248400" y="4857750"/>
            <a:chExt cx="5410200" cy="782955"/>
          </a:xfrm>
        </p:grpSpPr>
        <p:sp>
          <p:nvSpPr>
            <p:cNvPr id="59" name="Rectangle 59"/>
            <p:cNvSpPr/>
            <p:nvPr/>
          </p:nvSpPr>
          <p:spPr>
            <a:xfrm>
              <a:off x="6248400" y="4857750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6453188" y="5149215"/>
              <a:ext cx="200026" cy="200025"/>
              <a:chOff x="6453188" y="5149215"/>
              <a:chExt cx="200026" cy="200025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6453188" y="514921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492926" y="519366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527642" y="530479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6755130" y="5006340"/>
              <a:ext cx="43491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典型用法：pipe 之后 fork，父进程关闭读端、子进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程关闭写端，数据就从父进程流向子进程。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第8章 文件系统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35081" cy="909257"/>
            <a:chOff x="520446" y="342900"/>
            <a:chExt cx="583508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文件系统 · 文件系统的界面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3508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inode 中的标志位：i_flag 与 i_mode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3" name="c1-cells-1"/>
          <p:cNvGrpSpPr/>
          <p:nvPr/>
        </p:nvGrpSpPr>
        <p:grpSpPr>
          <a:xfrm>
            <a:off x="528638" y="1524000"/>
            <a:ext cx="9977437" cy="888683"/>
            <a:chOff x="528638" y="1524000"/>
            <a:chExt cx="9977437" cy="888683"/>
          </a:xfrm>
        </p:grpSpPr>
        <p:sp>
          <p:nvSpPr>
            <p:cNvPr id="7" name="TextBox 7"/>
            <p:cNvSpPr txBox="1"/>
            <p:nvPr/>
          </p:nvSpPr>
          <p:spPr>
            <a:xfrm>
              <a:off x="528638" y="1652588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位号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057275" y="1524000"/>
              <a:ext cx="419100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91141" y="165258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475422" y="1524000"/>
              <a:ext cx="419100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10241" y="165258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894522" y="1524000"/>
              <a:ext cx="419100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029341" y="165258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313622" y="1524000"/>
              <a:ext cx="419100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448441" y="165258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732722" y="1524000"/>
              <a:ext cx="419100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867541" y="165258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151822" y="1524000"/>
              <a:ext cx="419100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286641" y="165258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570922" y="1524000"/>
              <a:ext cx="419100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740726" y="165258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990022" y="1524000"/>
              <a:ext cx="419100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159826" y="165258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409122" y="1524000"/>
              <a:ext cx="419100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78926" y="165258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828222" y="1524000"/>
              <a:ext cx="419100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998978" y="165258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248275" y="1524000"/>
              <a:ext cx="419100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418078" y="165258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667375" y="1524000"/>
              <a:ext cx="419100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837178" y="165258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086475" y="1524000"/>
              <a:ext cx="419100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256278" y="165258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505575" y="1524000"/>
              <a:ext cx="419100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75378" y="165258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924675" y="1524000"/>
              <a:ext cx="419100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094478" y="165258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343775" y="1524000"/>
              <a:ext cx="419100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513578" y="165258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28638" y="2171700"/>
              <a:ext cx="42297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i_mode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057275" y="2044065"/>
              <a:ext cx="59055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165098" y="2171700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已分配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646872" y="2044065"/>
              <a:ext cx="590550" cy="368618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816227" y="217170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类型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2237422" y="2044065"/>
              <a:ext cx="590550" cy="368618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406777" y="217170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类型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2827972" y="2044065"/>
              <a:ext cx="59055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2936748" y="2171700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大文件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418522" y="2044065"/>
              <a:ext cx="590550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577979" y="2171700"/>
              <a:ext cx="27163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SUID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4009072" y="2044065"/>
              <a:ext cx="590550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168529" y="2171700"/>
              <a:ext cx="27163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SGID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4599622" y="2044065"/>
              <a:ext cx="59055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769930" y="217170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粘着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191125" y="2044065"/>
              <a:ext cx="590550" cy="368618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446653" y="21717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781675" y="2044065"/>
              <a:ext cx="590550" cy="368618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024482" y="2171700"/>
              <a:ext cx="1049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w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372225" y="2044065"/>
              <a:ext cx="590550" cy="368618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627753" y="21717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962775" y="2044065"/>
              <a:ext cx="59055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218303" y="21717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7553325" y="2044065"/>
              <a:ext cx="59055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796132" y="2171700"/>
              <a:ext cx="1049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8143875" y="2044065"/>
              <a:ext cx="59055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399403" y="21717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8734425" y="2044065"/>
              <a:ext cx="59055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8989953" y="21717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9324975" y="2044065"/>
              <a:ext cx="59055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9567782" y="2171700"/>
              <a:ext cx="1049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9915525" y="2044065"/>
              <a:ext cx="59055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0171053" y="21717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</p:grpSp>
      <p:grpSp>
        <p:nvGrpSpPr>
          <p:cNvPr id="115" name="c1-table-2"/>
          <p:cNvGrpSpPr/>
          <p:nvPr/>
        </p:nvGrpSpPr>
        <p:grpSpPr>
          <a:xfrm>
            <a:off x="533400" y="2582228"/>
            <a:ext cx="11125200" cy="2800350"/>
            <a:chOff x="533400" y="2582228"/>
            <a:chExt cx="11125200" cy="2800350"/>
          </a:xfrm>
        </p:grpSpPr>
        <p:sp>
          <p:nvSpPr>
            <p:cNvPr id="74" name="Rectangle 74"/>
            <p:cNvSpPr/>
            <p:nvPr/>
          </p:nvSpPr>
          <p:spPr>
            <a:xfrm>
              <a:off x="533400" y="2582228"/>
              <a:ext cx="11125200" cy="40005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953313" y="270367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位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3319074" y="2703671"/>
              <a:ext cx="18829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i_mode（内存、外存都有）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238860" y="270367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位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655996" y="2703671"/>
              <a:ext cx="2000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i_flag（只在内存 inode 中）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41628" y="310372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631632" y="3103721"/>
              <a:ext cx="1283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已分配（IALLOC）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272785" y="310372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750492" y="3103721"/>
              <a:ext cx="14668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ILOCK：inode 已上锁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533400" y="337756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533400" y="3382328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811019" y="3503771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14–13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631632" y="3503771"/>
              <a:ext cx="34189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类型：00 普通、01 字符设备、10 目录、11 块设备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272785" y="350377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7750492" y="3503771"/>
              <a:ext cx="1528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IUPD：已修改，要写回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533400" y="377761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941628" y="390382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631632" y="3903821"/>
              <a:ext cx="27240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大文件（ILARG）：i_addr 改作间接地址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7272785" y="390382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7750492" y="3903821"/>
              <a:ext cx="1528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IACC：要更新访问时间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533400" y="417766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5" name="Rectangle 95"/>
            <p:cNvSpPr/>
            <p:nvPr/>
          </p:nvSpPr>
          <p:spPr>
            <a:xfrm>
              <a:off x="533400" y="4182428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779168" y="4303871"/>
              <a:ext cx="5104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11、10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631632" y="4303871"/>
              <a:ext cx="34974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SUID、SGID：执行时进程身份暂改为文件主、文件组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7272785" y="430387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7750492" y="4303871"/>
              <a:ext cx="16164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IMOUNT：其上安装了卷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533400" y="457771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985164" y="470392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631632" y="4703921"/>
              <a:ext cx="1163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粘着位（ISVTX）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7272785" y="470392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7750492" y="4703921"/>
              <a:ext cx="16477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IWANT：有进程等它解锁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533400" y="497776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533400" y="4982528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898092" y="5103971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8–0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1631632" y="5103971"/>
              <a:ext cx="24464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文件主、同组用户、其他用户的 rwx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7272785" y="510397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7750492" y="5103971"/>
              <a:ext cx="19174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ITEXT：正在执行的程序正文</a:t>
              </a:r>
            </a:p>
          </p:txBody>
        </p:sp>
        <p:sp>
          <p:nvSpPr>
            <p:cNvPr id="111" name="Rectangle 111"/>
            <p:cNvSpPr/>
            <p:nvPr/>
          </p:nvSpPr>
          <p:spPr>
            <a:xfrm>
              <a:off x="533400" y="2582228"/>
              <a:ext cx="11125200" cy="28003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12" name="Rectangle 112"/>
            <p:cNvSpPr/>
            <p:nvPr/>
          </p:nvSpPr>
          <p:spPr>
            <a:xfrm>
              <a:off x="1529715" y="2582228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3" name="Rectangle 113"/>
            <p:cNvSpPr/>
            <p:nvPr/>
          </p:nvSpPr>
          <p:spPr>
            <a:xfrm>
              <a:off x="6980872" y="2582228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4" name="Rectangle 114"/>
            <p:cNvSpPr/>
            <p:nvPr/>
          </p:nvSpPr>
          <p:spPr>
            <a:xfrm>
              <a:off x="7648575" y="2582228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22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116" name="Rectangle 116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20" name="Group 120"/>
            <p:cNvGrpSpPr/>
            <p:nvPr/>
          </p:nvGrpSpPr>
          <p:grpSpPr>
            <a:xfrm>
              <a:off x="738188" y="5897880"/>
              <a:ext cx="200026" cy="200026"/>
              <a:chOff x="738188" y="5897880"/>
              <a:chExt cx="200026" cy="200026"/>
            </a:xfrm>
          </p:grpSpPr>
          <p:sp>
            <p:nvSpPr>
              <p:cNvPr id="117" name="Freeform 117"/>
              <p:cNvSpPr/>
              <p:nvPr/>
            </p:nvSpPr>
            <p:spPr>
              <a:xfrm>
                <a:off x="738188" y="58978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18" name="Freeform 118"/>
              <p:cNvSpPr/>
              <p:nvPr/>
            </p:nvSpPr>
            <p:spPr>
              <a:xfrm>
                <a:off x="838200" y="59645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19" name="Freeform 119"/>
              <p:cNvSpPr/>
              <p:nvPr/>
            </p:nvSpPr>
            <p:spPr>
              <a:xfrm>
                <a:off x="827088" y="599789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21" name="TextBox 121"/>
            <p:cNvSpPr txBox="1"/>
            <p:nvPr/>
          </p:nvSpPr>
          <p:spPr>
            <a:xfrm>
              <a:off x="1040892" y="5779770"/>
              <a:ext cx="982922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更正：原课件图中 bit 11 标为 Set gid、bit 10 标为 Set uid。UNIX 中 ISUID = 04000（bit 11）、ISGID = 02000（bit 10），应对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调。</a:t>
              </a:r>
            </a:p>
          </p:txBody>
        </p:sp>
      </p:grpSp>
      <p:grpSp>
        <p:nvGrpSpPr>
          <p:cNvPr id="12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3" name="TextBox 123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第8章 文件系统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74735" cy="909257"/>
            <a:chOff x="520446" y="342900"/>
            <a:chExt cx="717473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文件系统 · 文件系统的界面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7473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mknod 建设备文件，mount 表记录已安装的卷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card-1"/>
          <p:cNvGrpSpPr/>
          <p:nvPr/>
        </p:nvGrpSpPr>
        <p:grpSpPr>
          <a:xfrm>
            <a:off x="533400" y="1524000"/>
            <a:ext cx="4977765" cy="2268855"/>
            <a:chOff x="533400" y="1524000"/>
            <a:chExt cx="4977765" cy="22688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268855"/>
            </a:xfrm>
            <a:prstGeom prst="roundRect">
              <a:avLst>
                <a:gd name="adj" fmla="val 587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0215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058" y="175641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建立特殊文件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447042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mknod(pathname, type and permissions, dev)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381" y="2418874"/>
              <a:ext cx="19165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dev 是主、次设备号。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9620" y="2724150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27965" y="276353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60514" y="2736056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非特权用户则失败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69620" y="3041332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27965" y="308167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60514" y="3054191"/>
              <a:ext cx="37038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建立一个 inode，初始化，i_addr[0] = dev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69620" y="3359468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27965" y="339980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0514" y="3371374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填写目录项</a:t>
              </a:r>
            </a:p>
          </p:txBody>
        </p:sp>
      </p:grpSp>
      <p:grpSp>
        <p:nvGrpSpPr>
          <p:cNvPr id="26" name="c1-code-2"/>
          <p:cNvGrpSpPr/>
          <p:nvPr/>
        </p:nvGrpSpPr>
        <p:grpSpPr>
          <a:xfrm>
            <a:off x="533400" y="3972878"/>
            <a:ext cx="4977765" cy="2207895"/>
            <a:chOff x="533400" y="3972878"/>
            <a:chExt cx="4977765" cy="2207895"/>
          </a:xfrm>
        </p:grpSpPr>
        <p:sp>
          <p:nvSpPr>
            <p:cNvPr id="23" name="Rectangle 23"/>
            <p:cNvSpPr/>
            <p:nvPr/>
          </p:nvSpPr>
          <p:spPr>
            <a:xfrm>
              <a:off x="533400" y="3972878"/>
              <a:ext cx="4977765" cy="2207895"/>
            </a:xfrm>
            <a:prstGeom prst="roundRect">
              <a:avLst>
                <a:gd name="adj" fmla="val 431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61797" y="4124801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1416" y="4386262"/>
              <a:ext cx="3431096" cy="17217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mount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m_dev;  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卷所在设备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buf   *m_bufp;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超级块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inode *m_inodep;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安装节点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 mount[NMOUNT];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#define NMOUNT 5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smount(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"/dev/rk05"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"/usr/Li/d01"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0);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安装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sumount(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"/dev/rk05"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     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卸下</a:t>
              </a:r>
            </a:p>
          </p:txBody>
        </p:sp>
      </p:grpSp>
      <p:grpSp>
        <p:nvGrpSpPr>
          <p:cNvPr id="50" name="c2-graph-1"/>
          <p:cNvGrpSpPr/>
          <p:nvPr/>
        </p:nvGrpSpPr>
        <p:grpSpPr>
          <a:xfrm>
            <a:off x="5952239" y="1503045"/>
            <a:ext cx="4862865" cy="2746058"/>
            <a:chOff x="5952239" y="1503045"/>
            <a:chExt cx="4862865" cy="2746058"/>
          </a:xfrm>
        </p:grpSpPr>
        <p:sp>
          <p:nvSpPr>
            <p:cNvPr id="27" name="Freeform 27"/>
            <p:cNvSpPr/>
            <p:nvPr/>
          </p:nvSpPr>
          <p:spPr>
            <a:xfrm>
              <a:off x="7294245" y="1877378"/>
              <a:ext cx="923925" cy="511493"/>
            </a:xfrm>
            <a:custGeom>
              <a:avLst/>
              <a:gdLst/>
              <a:ahLst/>
              <a:cxnLst/>
              <a:rect l="l" t="t" r="r" b="b"/>
              <a:pathLst>
                <a:path w="923925" h="511493">
                  <a:moveTo>
                    <a:pt x="923925" y="0"/>
                  </a:moveTo>
                  <a:lnTo>
                    <a:pt x="0" y="51149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8675370" y="1869758"/>
              <a:ext cx="1034415" cy="525780"/>
            </a:xfrm>
            <a:custGeom>
              <a:avLst/>
              <a:gdLst/>
              <a:ahLst/>
              <a:cxnLst/>
              <a:rect l="l" t="t" r="r" b="b"/>
              <a:pathLst>
                <a:path w="1034415" h="525780">
                  <a:moveTo>
                    <a:pt x="0" y="0"/>
                  </a:moveTo>
                  <a:lnTo>
                    <a:pt x="1034415" y="52578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7100888" y="2715578"/>
              <a:ext cx="9525" cy="359092"/>
            </a:xfrm>
            <a:custGeom>
              <a:avLst/>
              <a:gdLst/>
              <a:ahLst/>
              <a:cxnLst/>
              <a:rect l="l" t="t" r="r" b="b"/>
              <a:pathLst>
                <a:path w="9525" h="359092">
                  <a:moveTo>
                    <a:pt x="0" y="0"/>
                  </a:moveTo>
                  <a:lnTo>
                    <a:pt x="0" y="35909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7100888" y="3402330"/>
              <a:ext cx="9525" cy="416242"/>
            </a:xfrm>
            <a:custGeom>
              <a:avLst/>
              <a:gdLst/>
              <a:ahLst/>
              <a:cxnLst/>
              <a:rect l="l" t="t" r="r" b="b"/>
              <a:pathLst>
                <a:path w="9525" h="416242">
                  <a:moveTo>
                    <a:pt x="0" y="0"/>
                  </a:moveTo>
                  <a:lnTo>
                    <a:pt x="0" y="41624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9906000" y="2715578"/>
              <a:ext cx="9525" cy="382905"/>
            </a:xfrm>
            <a:custGeom>
              <a:avLst/>
              <a:gdLst/>
              <a:ahLst/>
              <a:cxnLst/>
              <a:rect l="l" t="t" r="r" b="b"/>
              <a:pathLst>
                <a:path w="9525" h="382905">
                  <a:moveTo>
                    <a:pt x="0" y="0"/>
                  </a:moveTo>
                  <a:lnTo>
                    <a:pt x="0" y="38290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7416165" y="3378518"/>
              <a:ext cx="2489835" cy="660083"/>
            </a:xfrm>
            <a:custGeom>
              <a:avLst/>
              <a:gdLst/>
              <a:ahLst/>
              <a:cxnLst/>
              <a:rect l="l" t="t" r="r" b="b"/>
              <a:pathLst>
                <a:path w="2489835" h="660083">
                  <a:moveTo>
                    <a:pt x="2489835" y="0"/>
                  </a:moveTo>
                  <a:lnTo>
                    <a:pt x="2489835" y="660083"/>
                  </a:lnTo>
                  <a:lnTo>
                    <a:pt x="0" y="660083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33" name="Freeform 33"/>
            <p:cNvSpPr/>
            <p:nvPr/>
          </p:nvSpPr>
          <p:spPr>
            <a:xfrm>
              <a:off x="7320915" y="39909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8195310" y="1503045"/>
              <a:ext cx="499110" cy="499110"/>
            </a:xfrm>
            <a:prstGeom prst="ellipse">
              <a:avLst/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6890385" y="2285048"/>
              <a:ext cx="421005" cy="421005"/>
            </a:xfrm>
            <a:prstGeom prst="ellipse">
              <a:avLst/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9695498" y="2285048"/>
              <a:ext cx="421005" cy="421005"/>
            </a:xfrm>
            <a:prstGeom prst="ellipse">
              <a:avLst/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6946582" y="3084195"/>
              <a:ext cx="308610" cy="308610"/>
            </a:xfrm>
            <a:prstGeom prst="ellipse">
              <a:avLst/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6890385" y="3828098"/>
              <a:ext cx="421005" cy="42100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9637395" y="3098482"/>
              <a:ext cx="536258" cy="280035"/>
            </a:xfrm>
            <a:prstGeom prst="roundRect">
              <a:avLst>
                <a:gd name="adj" fmla="val 34014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276271" y="1686878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root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973108" y="2429828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usr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778221" y="2429828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dev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030690" y="3172778"/>
              <a:ext cx="1403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Li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973108" y="3972878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d01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952239" y="3987641"/>
              <a:ext cx="88575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i_flag |= IMOUNT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737406" y="3172778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rk05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226040" y="3187541"/>
              <a:ext cx="58906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mknod 创建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317230" y="3960495"/>
              <a:ext cx="59150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335484" y="3989546"/>
              <a:ext cx="55594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安装到 d01</a:t>
              </a:r>
            </a:p>
          </p:txBody>
        </p:sp>
      </p:grpSp>
      <p:grpSp>
        <p:nvGrpSpPr>
          <p:cNvPr id="57" name="c2-callout-2"/>
          <p:cNvGrpSpPr/>
          <p:nvPr/>
        </p:nvGrpSpPr>
        <p:grpSpPr>
          <a:xfrm>
            <a:off x="5815965" y="4561522"/>
            <a:ext cx="5842635" cy="1018222"/>
            <a:chOff x="5815965" y="4561522"/>
            <a:chExt cx="5842635" cy="1018222"/>
          </a:xfrm>
        </p:grpSpPr>
        <p:sp>
          <p:nvSpPr>
            <p:cNvPr id="51" name="Rectangle 51"/>
            <p:cNvSpPr/>
            <p:nvPr/>
          </p:nvSpPr>
          <p:spPr>
            <a:xfrm>
              <a:off x="5815965" y="4561522"/>
              <a:ext cx="5842635" cy="1018222"/>
            </a:xfrm>
            <a:prstGeom prst="roundRect">
              <a:avLst>
                <a:gd name="adj" fmla="val 1122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020753" y="4971098"/>
              <a:ext cx="200026" cy="200026"/>
              <a:chOff x="6020753" y="4971098"/>
              <a:chExt cx="200026" cy="200026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6020753" y="497109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120765" y="50377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109653" y="507111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6323076" y="4708684"/>
              <a:ext cx="479348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更正：原课件卸下写作 sumount("/dev/rk01")，与安装的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设备不符，应为 /dev/rk05；图中 i_flag =| FMOUNT 应为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IMOUNT（=| 是早期 C 的 |=）。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第8章 文件系统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23243" cy="909257"/>
            <a:chOff x="520446" y="342900"/>
            <a:chExt cx="712324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文件系统 · 文件系统的界面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2324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smount：把块设备上的文件卷挂到一个目录上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8" name="c1-card-1"/>
          <p:cNvGrpSpPr/>
          <p:nvPr/>
        </p:nvGrpSpPr>
        <p:grpSpPr>
          <a:xfrm>
            <a:off x="533400" y="1524000"/>
            <a:ext cx="5626418" cy="4570095"/>
            <a:chOff x="533400" y="1524000"/>
            <a:chExt cx="5626418" cy="45700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570095"/>
            </a:xfrm>
            <a:prstGeom prst="roundRect">
              <a:avLst>
                <a:gd name="adj" fmla="val 291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430339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34625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56303" y="1769269"/>
              <a:ext cx="43967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smount(special_pathname, directory_pathname, roflag)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1050" y="209740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2899" y="21396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82040" y="211074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检查是否超级用户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1050" y="243268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2899" y="24749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82040" y="2446020"/>
              <a:ext cx="4482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找到 special_pathname 文件的 inode（由 mknod 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立）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1050" y="305371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2899" y="30960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82040" y="306705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合法性检查：必须是块型特殊文件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81050" y="338899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42899" y="343128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82040" y="3402330"/>
              <a:ext cx="44476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找到 directory_pathname（安装节点）的 inode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81050" y="372427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42899" y="376656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82040" y="3737610"/>
              <a:ext cx="34783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不是目录或引用数大于 1 时，错误返回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81050" y="405955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42899" y="41018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82040" y="4072890"/>
              <a:ext cx="38418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读入超级块到缓冲区，按 filesys 格式解释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81050" y="439483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42899" y="44371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82040" y="4408170"/>
              <a:ext cx="46348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安装节点 inode 的 i_addr[0] = 设备文件的 i_addr[0]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（dev）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81050" y="501586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2899" y="50581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82040" y="5029200"/>
              <a:ext cx="40728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分配一个 mount 表项，填写 m_dev、m_bufp、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m_inodep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81050" y="563689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42899" y="567918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82040" y="5650230"/>
              <a:ext cx="33161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安装节点 inode 的 i_flag |= IMOUNT</a:t>
              </a:r>
            </a:p>
          </p:txBody>
        </p:sp>
      </p:grpSp>
      <p:grpSp>
        <p:nvGrpSpPr>
          <p:cNvPr id="51" name="c2-card-1"/>
          <p:cNvGrpSpPr/>
          <p:nvPr/>
        </p:nvGrpSpPr>
        <p:grpSpPr>
          <a:xfrm>
            <a:off x="6464618" y="1524000"/>
            <a:ext cx="5193982" cy="2823210"/>
            <a:chOff x="6464618" y="1524000"/>
            <a:chExt cx="5193982" cy="2823210"/>
          </a:xfrm>
        </p:grpSpPr>
        <p:sp>
          <p:nvSpPr>
            <p:cNvPr id="39" name="Rectangle 39"/>
            <p:cNvSpPr/>
            <p:nvPr/>
          </p:nvSpPr>
          <p:spPr>
            <a:xfrm>
              <a:off x="6464618" y="1524000"/>
              <a:ext cx="5193982" cy="2823210"/>
            </a:xfrm>
            <a:prstGeom prst="roundRect">
              <a:avLst>
                <a:gd name="adj" fmla="val 47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474142" y="1657350"/>
              <a:ext cx="47625" cy="255651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712268" y="173355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807378" y="176926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171373" y="1768792"/>
              <a:ext cx="38635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smount("/dev/disk1", "/usr/d1", 0)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717983" y="219265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876098" y="2129790"/>
              <a:ext cx="4358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安装之前：disk1 只能作为特殊文件（块序列文件）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访问，即 raw I/O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717983" y="28136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876098" y="2750820"/>
              <a:ext cx="37509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安装之后：d1 成为 disk1 文件卷的根目录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717983" y="314896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876098" y="3086100"/>
              <a:ext cx="43491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disk1 的超级块读入内存缓冲区，按 filesys 格式解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释；卷的根目录 inode 读入内存 inode 区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705791" y="3703796"/>
              <a:ext cx="427202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内存 inode 区为所有已安装的卷共用，所以内存 inode 中有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i_dev 指明它对应哪个卷，回写时用。</a:t>
              </a:r>
            </a:p>
          </p:txBody>
        </p:sp>
      </p:grpSp>
      <p:grpSp>
        <p:nvGrpSpPr>
          <p:cNvPr id="58" name="c2-callout-2"/>
          <p:cNvGrpSpPr/>
          <p:nvPr/>
        </p:nvGrpSpPr>
        <p:grpSpPr>
          <a:xfrm>
            <a:off x="6464618" y="4537710"/>
            <a:ext cx="5193982" cy="1059180"/>
            <a:chOff x="6464618" y="4537710"/>
            <a:chExt cx="5193982" cy="1059180"/>
          </a:xfrm>
        </p:grpSpPr>
        <p:sp>
          <p:nvSpPr>
            <p:cNvPr id="52" name="Rectangle 52"/>
            <p:cNvSpPr/>
            <p:nvPr/>
          </p:nvSpPr>
          <p:spPr>
            <a:xfrm>
              <a:off x="6464618" y="4537710"/>
              <a:ext cx="5193982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6669405" y="4967288"/>
              <a:ext cx="200026" cy="200025"/>
              <a:chOff x="6669405" y="4967288"/>
              <a:chExt cx="200026" cy="200025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6669405" y="49672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709144" y="50117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743859" y="51228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6971348" y="4686300"/>
              <a:ext cx="43205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安装后查路径 /usr/d1/… 时，走到带 IMOUNT 标志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的 d1，就改到 mount 表中找到对应的卷，从该卷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的根目录接着查。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第8章 文件系统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78206" cy="909257"/>
            <a:chOff x="520446" y="342900"/>
            <a:chExt cx="697820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文件系统 · 文件系统的界面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7820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sumount：先把该卷的数据写回，再解除安装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1" name="c1-card-1"/>
          <p:cNvGrpSpPr/>
          <p:nvPr/>
        </p:nvGrpSpPr>
        <p:grpSpPr>
          <a:xfrm>
            <a:off x="533400" y="1524000"/>
            <a:ext cx="5410200" cy="4471988"/>
            <a:chOff x="533400" y="1524000"/>
            <a:chExt cx="5410200" cy="447198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471988"/>
            </a:xfrm>
            <a:prstGeom prst="roundRect">
              <a:avLst>
                <a:gd name="adj" fmla="val 29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4205288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225552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18650" y="1769269"/>
              <a:ext cx="21803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sumount(special_file_name)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1050" y="209740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2899" y="21396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82040" y="2110740"/>
              <a:ext cx="32061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查目录找到特殊文件的 inode，取 dev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（i_addr[0]）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1050" y="271843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2899" y="27607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82040" y="2731770"/>
              <a:ext cx="19941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释放特殊文件的 inode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1050" y="305371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2899" y="30960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82040" y="3067050"/>
              <a:ext cx="46091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dev 查 mount 表（m_dev），找到对应的超级块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81050" y="338899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42899" y="343128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82040" y="3402330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系统缓冲区中延迟写的块写回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81050" y="372427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42899" y="376656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82040" y="3737610"/>
              <a:ext cx="26605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该卷所有更新过的 inode 写回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81050" y="405955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42899" y="41018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82040" y="407289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超级块写回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81050" y="439483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42899" y="44371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82040" y="440817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释放超级块占用的缓冲区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81050" y="473011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2899" y="47724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82040" y="4743450"/>
              <a:ext cx="31956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m_inodep 找到安装节点的 inode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81050" y="506539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42899" y="510768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82040" y="5078730"/>
              <a:ext cx="26548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安装节点 i_flag &amp;= ~IMOUNT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781050" y="540067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03250" y="5442966"/>
              <a:ext cx="168959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82040" y="5414010"/>
              <a:ext cx="15398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释放 mount 表项</a:t>
              </a:r>
            </a:p>
          </p:txBody>
        </p:sp>
      </p:grpSp>
      <p:grpSp>
        <p:nvGrpSpPr>
          <p:cNvPr id="61" name="c2-table-1"/>
          <p:cNvGrpSpPr/>
          <p:nvPr/>
        </p:nvGrpSpPr>
        <p:grpSpPr>
          <a:xfrm>
            <a:off x="6248400" y="1524000"/>
            <a:ext cx="5410200" cy="2248852"/>
            <a:chOff x="6248400" y="1524000"/>
            <a:chExt cx="5410200" cy="2248852"/>
          </a:xfrm>
        </p:grpSpPr>
        <p:sp>
          <p:nvSpPr>
            <p:cNvPr id="42" name="Rectangle 42"/>
            <p:cNvSpPr/>
            <p:nvPr/>
          </p:nvSpPr>
          <p:spPr>
            <a:xfrm>
              <a:off x="6248400" y="1524000"/>
              <a:ext cx="54102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61062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阶段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58408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步骤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662008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做什么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356223" y="222170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找到卷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438263" y="2221706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1–3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304086" y="2108359"/>
              <a:ext cx="302844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由特殊文件得到设备号，再由 mount 表找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到超级块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248400" y="26431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248400" y="2647950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56223" y="278368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写回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438263" y="278368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4–6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304086" y="2783681"/>
              <a:ext cx="28561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数据块、inode、超级块依次写回磁盘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248400" y="30927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356223" y="334565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解除安装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438263" y="334565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7–10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304086" y="3232309"/>
              <a:ext cx="294716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释放缓冲区，清除安装节点的 IMOUNT 标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志，释放 mount 表项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248400" y="1524000"/>
              <a:ext cx="5410200" cy="22488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7325678" y="1524000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8191500" y="1524000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8" name="c2-callout-2"/>
          <p:cNvGrpSpPr/>
          <p:nvPr/>
        </p:nvGrpSpPr>
        <p:grpSpPr>
          <a:xfrm>
            <a:off x="6248400" y="3963352"/>
            <a:ext cx="5410200" cy="782955"/>
            <a:chOff x="6248400" y="3963352"/>
            <a:chExt cx="5410200" cy="782955"/>
          </a:xfrm>
        </p:grpSpPr>
        <p:sp>
          <p:nvSpPr>
            <p:cNvPr id="62" name="Rectangle 62"/>
            <p:cNvSpPr/>
            <p:nvPr/>
          </p:nvSpPr>
          <p:spPr>
            <a:xfrm>
              <a:off x="6248400" y="3963352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6453188" y="4254818"/>
              <a:ext cx="200026" cy="200026"/>
              <a:chOff x="6453188" y="4254818"/>
              <a:chExt cx="200026" cy="200026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6453188" y="425481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6553200" y="43214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6542088" y="435483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6755130" y="4111942"/>
              <a:ext cx="44062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课件写作 i_flag =&amp; ~IMOUNT，即 i_flag &amp;=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~IMOUNT：只清除 IMOUNT 这一位，其他标志不变。</a:t>
              </a:r>
            </a:p>
          </p:txBody>
        </p:sp>
      </p:grpSp>
      <p:grpSp>
        <p:nvGrpSpPr>
          <p:cNvPr id="75" name="c2-callout-3"/>
          <p:cNvGrpSpPr/>
          <p:nvPr/>
        </p:nvGrpSpPr>
        <p:grpSpPr>
          <a:xfrm>
            <a:off x="6248400" y="4936808"/>
            <a:ext cx="5410200" cy="1059180"/>
            <a:chOff x="6248400" y="4936808"/>
            <a:chExt cx="5410200" cy="1059180"/>
          </a:xfrm>
        </p:grpSpPr>
        <p:sp>
          <p:nvSpPr>
            <p:cNvPr id="69" name="Rectangle 69"/>
            <p:cNvSpPr/>
            <p:nvPr/>
          </p:nvSpPr>
          <p:spPr>
            <a:xfrm>
              <a:off x="6248400" y="4936808"/>
              <a:ext cx="5410200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6453188" y="5366385"/>
              <a:ext cx="200026" cy="200025"/>
              <a:chOff x="6453188" y="5366385"/>
              <a:chExt cx="200026" cy="200025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6453188" y="536638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6492926" y="541083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6527642" y="552196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6755130" y="5085398"/>
              <a:ext cx="43491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补充：卷上还有文件在使用（内存中有该设备的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inode）时，UNIX 拒绝卸下，否则写回之后这些进程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会访问到已不存在的卷。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第8章 文件系统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10973" cy="909257"/>
            <a:chOff x="520446" y="342900"/>
            <a:chExt cx="621097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文件系统 · 文件系统的界面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1097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chdir、chown、chmod、stat、fstat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table-1"/>
          <p:cNvGrpSpPr/>
          <p:nvPr/>
        </p:nvGrpSpPr>
        <p:grpSpPr>
          <a:xfrm>
            <a:off x="533400" y="1524000"/>
            <a:ext cx="11125200" cy="3372802"/>
            <a:chOff x="533400" y="1524000"/>
            <a:chExt cx="11125200" cy="337280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684388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系统调用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246988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执行步骤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1223" y="2221706"/>
              <a:ext cx="14965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chdir(pathname)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645408" y="2108359"/>
              <a:ext cx="753948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① 查目录找到 inode（不在内存则读入，i_count = 1；已在内存则 i_count++）② 检查权限 ③ u_cdir 当前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所指 inode 的 i_count−−，为 0 且修改过则写回外存 ④ 新 inode 入口送 u_cdir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6431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647950"/>
              <a:ext cx="11125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1223" y="2783681"/>
              <a:ext cx="213802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chown(pathname, owner,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group)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645408" y="2897029"/>
              <a:ext cx="66297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① 查目录找到 inode ② 权限检查（文件主或特权用户）③ 更新 i_uid、i_gid ④ inode 写回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3194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1223" y="3459004"/>
              <a:ext cx="25007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chmod(pathname, newmode)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45408" y="3459004"/>
              <a:ext cx="67762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① 查目录找到 inode ② 权限检查（文件主或特权用户）③ i_mode = newmode ④ inode 写回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76809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772852"/>
              <a:ext cx="11125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1223" y="4020979"/>
              <a:ext cx="25911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stat(pathname, statbuffer)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45408" y="3907631"/>
              <a:ext cx="693801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① 查目录找到内存 inode ② 把所有者、大小、权限、属性、链接数、inode 号、访问时间等复制到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statbuffer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44341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1223" y="4583906"/>
              <a:ext cx="20574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fstat(fd, statbuffer)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645408" y="4583906"/>
              <a:ext cx="66125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① 由 u_ofile[fd] 找到 file 表 ② 由 file 表找到 inode ③ inode 信息复制到 statbuffer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1524000"/>
              <a:ext cx="11125200" cy="337280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3532822" y="1524000"/>
              <a:ext cx="9525" cy="337280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5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29" name="Rectangle 29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38188" y="5871210"/>
              <a:ext cx="200026" cy="200025"/>
              <a:chOff x="738188" y="5871210"/>
              <a:chExt cx="200026" cy="20002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38188" y="587121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77926" y="591566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12642" y="602678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0130" y="5728335"/>
              <a:ext cx="94449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stat 按路径名查目录；fstat 用已打开的 fd 沿 u_ofile → file → inode 找，不必再查目录。chdir 让当前目录的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inode 一直留在内存中。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第8章 文件系统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271260" cy="3675697"/>
            <a:chOff x="667512" y="1835468"/>
            <a:chExt cx="6271260" cy="367569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新型文件系统与性能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261354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日志结构文件系统、内存映射文件、Linux 文件系统和常用的提速手</a:t>
              </a:r>
              <a:br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段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21195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154805"/>
              <a:ext cx="20244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8.9 日志结构文件系统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56628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509135"/>
              <a:ext cx="17316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8.10 内存映射文件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92061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863465"/>
              <a:ext cx="19053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8.11 Linux 文件系统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527494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5217795"/>
              <a:ext cx="19335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8.12 文件系统的效率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第8章 文件系统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文件系统 · 新型文件系统与性能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日志结构文件系统的背景：磁盘成了瓶颈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4977765" cy="2468880"/>
            <a:chOff x="533400" y="1524000"/>
            <a:chExt cx="4977765" cy="24688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468880"/>
            </a:xfrm>
            <a:prstGeom prst="roundRect">
              <a:avLst>
                <a:gd name="adj" fmla="val 54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20218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84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2635" y="1769269"/>
              <a:ext cx="621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8.9 背景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40062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速度越来越快，内存容量以接近指数的速度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增长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7946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731770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磁盘容量更大、更便宜，但速度提高相对较慢，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成为系统效率的瓶颈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4573" y="3349466"/>
              <a:ext cx="404444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日志结构文件系统（LFS）由 UC Berkeley 的研究人员提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出，是一种全新的文件系统。</a:t>
              </a:r>
            </a:p>
          </p:txBody>
        </p:sp>
      </p:grpSp>
      <p:grpSp>
        <p:nvGrpSpPr>
          <p:cNvPr id="18" name="c1-text-2"/>
          <p:cNvGrpSpPr/>
          <p:nvPr/>
        </p:nvGrpSpPr>
        <p:grpSpPr>
          <a:xfrm>
            <a:off x="526923" y="4203859"/>
            <a:ext cx="3465525" cy="249364"/>
            <a:chOff x="526923" y="4203859"/>
            <a:chExt cx="3465525" cy="249364"/>
          </a:xfrm>
        </p:grpSpPr>
        <p:sp>
          <p:nvSpPr>
            <p:cNvPr id="17" name="TextBox 17"/>
            <p:cNvSpPr txBox="1"/>
            <p:nvPr/>
          </p:nvSpPr>
          <p:spPr>
            <a:xfrm>
              <a:off x="526923" y="4203859"/>
              <a:ext cx="34655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在 UNIX 中创建一个文件，要写 4 个不同位置</a:t>
              </a:r>
            </a:p>
          </p:txBody>
        </p:sp>
      </p:grpSp>
      <p:grpSp>
        <p:nvGrpSpPr>
          <p:cNvPr id="31" name="c1-cells-3"/>
          <p:cNvGrpSpPr/>
          <p:nvPr/>
        </p:nvGrpSpPr>
        <p:grpSpPr>
          <a:xfrm>
            <a:off x="533400" y="4593908"/>
            <a:ext cx="4724400" cy="634841"/>
            <a:chOff x="533400" y="4593908"/>
            <a:chExt cx="4724400" cy="634841"/>
          </a:xfrm>
        </p:grpSpPr>
        <p:sp>
          <p:nvSpPr>
            <p:cNvPr id="19" name="Rectangle 19"/>
            <p:cNvSpPr/>
            <p:nvPr/>
          </p:nvSpPr>
          <p:spPr>
            <a:xfrm>
              <a:off x="533400" y="4593908"/>
              <a:ext cx="118110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3888" y="473773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目录中写文件名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714500" y="4593908"/>
              <a:ext cx="118110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879904" y="4737735"/>
              <a:ext cx="8502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新文件 inode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895600" y="4593908"/>
              <a:ext cx="118110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990328" y="4737735"/>
              <a:ext cx="9916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目录文件 inode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076700" y="4593908"/>
              <a:ext cx="118110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379214" y="473773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文件内容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88831" y="506682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269931" y="506682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451031" y="506682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32131" y="506682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  <p:grpSp>
        <p:nvGrpSpPr>
          <p:cNvPr id="38" name="c1-callout-4"/>
          <p:cNvGrpSpPr/>
          <p:nvPr/>
        </p:nvGrpSpPr>
        <p:grpSpPr>
          <a:xfrm>
            <a:off x="533400" y="5384482"/>
            <a:ext cx="4977765" cy="782955"/>
            <a:chOff x="533400" y="5384482"/>
            <a:chExt cx="4977765" cy="782955"/>
          </a:xfrm>
        </p:grpSpPr>
        <p:sp>
          <p:nvSpPr>
            <p:cNvPr id="32" name="Rectangle 32"/>
            <p:cNvSpPr/>
            <p:nvPr/>
          </p:nvSpPr>
          <p:spPr>
            <a:xfrm>
              <a:off x="533400" y="5384482"/>
              <a:ext cx="4977765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8188" y="5675948"/>
              <a:ext cx="200026" cy="200026"/>
              <a:chOff x="738188" y="5675948"/>
              <a:chExt cx="200026" cy="200026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567594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38200" y="57426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27088" y="577596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130" y="5533072"/>
              <a:ext cx="40443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 4 处分散在磁盘各处，每处都是一次小量写，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都要单独寻道和旋转等待。</a:t>
              </a:r>
            </a:p>
          </p:txBody>
        </p:sp>
      </p:grpSp>
      <p:grpSp>
        <p:nvGrpSpPr>
          <p:cNvPr id="46" name="c2-card-1"/>
          <p:cNvGrpSpPr/>
          <p:nvPr/>
        </p:nvGrpSpPr>
        <p:grpSpPr>
          <a:xfrm>
            <a:off x="5815965" y="1524000"/>
            <a:ext cx="5842635" cy="2273618"/>
            <a:chOff x="5815965" y="1524000"/>
            <a:chExt cx="5842635" cy="2273618"/>
          </a:xfrm>
        </p:grpSpPr>
        <p:sp>
          <p:nvSpPr>
            <p:cNvPr id="39" name="Rectangle 39"/>
            <p:cNvSpPr/>
            <p:nvPr/>
          </p:nvSpPr>
          <p:spPr>
            <a:xfrm>
              <a:off x="5815965" y="1524000"/>
              <a:ext cx="5842635" cy="2273618"/>
            </a:xfrm>
            <a:prstGeom prst="roundRect">
              <a:avLst>
                <a:gd name="adj" fmla="val 586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5825490" y="1657350"/>
              <a:ext cx="47625" cy="200691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063615" y="1733550"/>
              <a:ext cx="173450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116336" y="1769269"/>
              <a:ext cx="16281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小量写（small write）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055995" y="2110740"/>
              <a:ext cx="515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一次写只修改磁盘块上的一小部分数据。设寻道 10 ms、旋转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延迟 4 ms、真正读写 50 µs：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formula5"/>
                <p:cNvSpPr txBox="1">
                  <a:spLocks noGrp="1"/>
                </p:cNvSpPr>
                <p:nvPr/>
              </p:nvSpPr>
              <p:spPr>
                <a:xfrm>
                  <a:off x="6063615" y="2707005"/>
                  <a:ext cx="5385435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0.05</m:t>
                            </m:r>
                          </m:num>
                          <m:den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10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0.05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0.36%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5" name="TextBox 45"/>
            <p:cNvSpPr txBox="1"/>
            <p:nvPr/>
          </p:nvSpPr>
          <p:spPr>
            <a:xfrm>
              <a:off x="6057138" y="3389471"/>
              <a:ext cx="37349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磁盘时间几乎都花在定位上，访问效率不到 1%。</a:t>
              </a:r>
            </a:p>
          </p:txBody>
        </p:sp>
      </p:grpSp>
      <p:grpSp>
        <p:nvGrpSpPr>
          <p:cNvPr id="52" name="c2-card-2"/>
          <p:cNvGrpSpPr/>
          <p:nvPr/>
        </p:nvGrpSpPr>
        <p:grpSpPr>
          <a:xfrm>
            <a:off x="5815965" y="3988118"/>
            <a:ext cx="5842635" cy="1316355"/>
            <a:chOff x="5815965" y="3988118"/>
            <a:chExt cx="5842635" cy="1316355"/>
          </a:xfrm>
        </p:grpSpPr>
        <p:sp>
          <p:nvSpPr>
            <p:cNvPr id="47" name="Rectangle 47"/>
            <p:cNvSpPr/>
            <p:nvPr/>
          </p:nvSpPr>
          <p:spPr>
            <a:xfrm>
              <a:off x="5815965" y="3988118"/>
              <a:ext cx="5842635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5825490" y="4121468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063615" y="4197668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149873" y="423338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延迟写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055995" y="4574858"/>
              <a:ext cx="515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把写操作攒在内存里再写可以减少访盘次数，但发生故障时，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尚未写出的数据给文件系统一致性带来威胁。</a:t>
              </a:r>
            </a:p>
          </p:txBody>
        </p:sp>
      </p:grpSp>
      <p:grpSp>
        <p:nvGrpSpPr>
          <p:cNvPr id="59" name="c2-callout-3"/>
          <p:cNvGrpSpPr/>
          <p:nvPr/>
        </p:nvGrpSpPr>
        <p:grpSpPr>
          <a:xfrm>
            <a:off x="5815965" y="5494972"/>
            <a:ext cx="5842635" cy="782955"/>
            <a:chOff x="5815965" y="5494972"/>
            <a:chExt cx="5842635" cy="782955"/>
          </a:xfrm>
        </p:grpSpPr>
        <p:sp>
          <p:nvSpPr>
            <p:cNvPr id="53" name="Rectangle 53"/>
            <p:cNvSpPr/>
            <p:nvPr/>
          </p:nvSpPr>
          <p:spPr>
            <a:xfrm>
              <a:off x="5815965" y="5494972"/>
              <a:ext cx="5842635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6020753" y="5786438"/>
              <a:ext cx="200026" cy="200026"/>
              <a:chOff x="6020753" y="5786438"/>
              <a:chExt cx="200026" cy="200026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6020753" y="578643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120765" y="58531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109653" y="588645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6322695" y="5643562"/>
              <a:ext cx="48920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更正：原课件称这种情况下磁盘访问效率为 1%，按所给数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字计算约为 0.36%，应理解为“不到 1%”。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第8章 文件系统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90084" cy="909257"/>
            <a:chOff x="520446" y="342900"/>
            <a:chExt cx="649008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文件系统 · 新型文件系统与性能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9008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LFS：整个磁盘是一个日志，只在末尾追加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6059805" cy="1250632"/>
            <a:chOff x="533400" y="1524000"/>
            <a:chExt cx="6059805" cy="12506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1250632"/>
            </a:xfrm>
            <a:prstGeom prst="roundRect">
              <a:avLst>
                <a:gd name="adj" fmla="val 106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83932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3059" y="17564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基本做法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52443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写操作先暂存在内存缓冲区中（包括新写的数据和更新的数据），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积累到一定规模后，作为一个 segment 追加到日志末尾。</a:t>
              </a:r>
            </a:p>
          </p:txBody>
        </p:sp>
      </p:grpSp>
      <p:grpSp>
        <p:nvGrpSpPr>
          <p:cNvPr id="29" name="c1-cells-2"/>
          <p:cNvGrpSpPr/>
          <p:nvPr/>
        </p:nvGrpSpPr>
        <p:grpSpPr>
          <a:xfrm>
            <a:off x="528447" y="2990374"/>
            <a:ext cx="4717923" cy="1190149"/>
            <a:chOff x="528447" y="2990374"/>
            <a:chExt cx="4717923" cy="1190149"/>
          </a:xfrm>
        </p:grpSpPr>
        <p:sp>
          <p:nvSpPr>
            <p:cNvPr id="13" name="TextBox 13"/>
            <p:cNvSpPr txBox="1"/>
            <p:nvPr/>
          </p:nvSpPr>
          <p:spPr>
            <a:xfrm>
              <a:off x="528447" y="336756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磁盘日志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483995" y="3231832"/>
              <a:ext cx="940118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610193" y="3367564"/>
              <a:ext cx="6886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segment 1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425065" y="3231832"/>
              <a:ext cx="940118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851600" y="336756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365182" y="3231832"/>
              <a:ext cx="940118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491381" y="3367564"/>
              <a:ext cx="6886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segment k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306252" y="3231832"/>
              <a:ext cx="940118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403629" y="3367564"/>
              <a:ext cx="7444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 segment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95102" y="2990374"/>
              <a:ext cx="5614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追加到末尾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4737735" y="313658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8447" y="3922871"/>
              <a:ext cx="8763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一个 segment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483995" y="3786188"/>
              <a:ext cx="1445895" cy="394335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907626" y="3922871"/>
              <a:ext cx="5986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summary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929890" y="3786188"/>
              <a:ext cx="1445895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012983" y="3922871"/>
              <a:ext cx="12797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inode、目录、数据块</a:t>
              </a:r>
            </a:p>
          </p:txBody>
        </p:sp>
      </p:grpSp>
      <p:grpSp>
        <p:nvGrpSpPr>
          <p:cNvPr id="35" name="c1-kv-3"/>
          <p:cNvGrpSpPr/>
          <p:nvPr/>
        </p:nvGrpSpPr>
        <p:grpSpPr>
          <a:xfrm>
            <a:off x="526161" y="4383881"/>
            <a:ext cx="6067044" cy="1766507"/>
            <a:chOff x="526161" y="4383881"/>
            <a:chExt cx="6067044" cy="1766507"/>
          </a:xfrm>
        </p:grpSpPr>
        <p:sp>
          <p:nvSpPr>
            <p:cNvPr id="30" name="TextBox 30"/>
            <p:cNvSpPr txBox="1"/>
            <p:nvPr/>
          </p:nvSpPr>
          <p:spPr>
            <a:xfrm>
              <a:off x="526161" y="4383881"/>
              <a:ext cx="94781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inode map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101596" y="4383881"/>
              <a:ext cx="4243451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inode 随 segment 写到新位置，不能由编号算出，用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inode map 实现 i_number 到磁盘 inode 的映射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95490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26161" y="5068729"/>
              <a:ext cx="73583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清洁线程</a:t>
              </a:r>
              <a:br/>
              <a:r>
                <a:rPr lang="en-US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cleaner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101596" y="5068729"/>
              <a:ext cx="4288536" cy="10816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循环扫描并压缩 segment：读入一个 segment，丢弃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过时内容，仍有用的 inode 和数据块并入内存当前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segment 写回，旧 segment 标记为空闲，再处理下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</a:t>
              </a:r>
            </a:p>
          </p:txBody>
        </p:sp>
      </p:grpSp>
      <p:grpSp>
        <p:nvGrpSpPr>
          <p:cNvPr id="38" name="c2-image-1"/>
          <p:cNvGrpSpPr/>
          <p:nvPr/>
        </p:nvGrpSpPr>
        <p:grpSpPr>
          <a:xfrm>
            <a:off x="6898005" y="1524000"/>
            <a:ext cx="4760595" cy="3924871"/>
            <a:chOff x="6898005" y="1524000"/>
            <a:chExt cx="4760595" cy="3924871"/>
          </a:xfrm>
        </p:grpSpPr>
        <p:pic>
          <p:nvPicPr>
            <p:cNvPr id="36" name="Image 36"/>
            <p:cNvPicPr>
              <a:picLocks noChangeAspect="1"/>
            </p:cNvPicPr>
            <p:nvPr/>
          </p:nvPicPr>
          <p:blipFill>
            <a:blip r:embed="rId2"/>
            <a:srcRect l="768" t="0" r="769" b="0"/>
            <a:stretch>
              <a:fillRect/>
            </a:stretch>
          </p:blipFill>
          <p:spPr>
            <a:xfrm>
              <a:off x="6898005" y="1524000"/>
              <a:ext cx="4760595" cy="3626168"/>
            </a:xfrm>
            <a:prstGeom prst="roundRect">
              <a:avLst>
                <a:gd name="adj" fmla="val 3677"/>
              </a:avLst>
            </a:prstGeom>
          </p:spPr>
        </p:pic>
        <p:sp>
          <p:nvSpPr>
            <p:cNvPr id="37" name="TextBox 37"/>
            <p:cNvSpPr txBox="1"/>
            <p:nvPr/>
          </p:nvSpPr>
          <p:spPr>
            <a:xfrm>
              <a:off x="7152704" y="5243512"/>
              <a:ext cx="42511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新箱子只放到传送带末尾；清洁工把旧箱子里有用的东西装进新箱子</a:t>
              </a:r>
            </a:p>
          </p:txBody>
        </p:sp>
      </p:grpSp>
      <p:grpSp>
        <p:nvGrpSpPr>
          <p:cNvPr id="45" name="c2-callout-2"/>
          <p:cNvGrpSpPr/>
          <p:nvPr/>
        </p:nvGrpSpPr>
        <p:grpSpPr>
          <a:xfrm>
            <a:off x="6898005" y="5606415"/>
            <a:ext cx="4760595" cy="756285"/>
            <a:chOff x="6898005" y="5606415"/>
            <a:chExt cx="4760595" cy="756285"/>
          </a:xfrm>
        </p:grpSpPr>
        <p:sp>
          <p:nvSpPr>
            <p:cNvPr id="39" name="Rectangle 39"/>
            <p:cNvSpPr/>
            <p:nvPr/>
          </p:nvSpPr>
          <p:spPr>
            <a:xfrm>
              <a:off x="6898005" y="5606415"/>
              <a:ext cx="4760595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102793" y="5884545"/>
              <a:ext cx="200026" cy="200025"/>
              <a:chOff x="7102793" y="5884545"/>
              <a:chExt cx="200026" cy="200025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102793" y="588454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142531" y="592899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177247" y="604012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7405116" y="5753576"/>
              <a:ext cx="380161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对比 UNIX：inode 位置由编号直接算出；LFS 中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inode 位置会变，所以需要 inode map。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第8章 文件系统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文件系统 · 新型文件系统与性能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内存映射文件：像访问内存一样访问文件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4760595" cy="2519362"/>
            <a:chOff x="533400" y="1524000"/>
            <a:chExt cx="4760595" cy="25193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2519362"/>
            </a:xfrm>
            <a:prstGeom prst="roundRect">
              <a:avLst>
                <a:gd name="adj" fmla="val 52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252662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86772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0057" y="1769269"/>
              <a:ext cx="7087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8.10 背景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3825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文件在外存，存取速度慢：访问前要打开，每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次访问经过打开文件表，读写要经过 I/O 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输；缓冲能提速，但首次访问仍要 I/O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30803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3017520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内存容量增加，利用率不充分：进程虚拟空间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大，只用了较小的一部分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4573" y="3635216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思路：把文件映射到内存，以访问内存的方式访问文件。</a:t>
              </a:r>
            </a:p>
          </p:txBody>
        </p:sp>
      </p:grpSp>
      <p:grpSp>
        <p:nvGrpSpPr>
          <p:cNvPr id="20" name="c1-code-2"/>
          <p:cNvGrpSpPr/>
          <p:nvPr/>
        </p:nvGrpSpPr>
        <p:grpSpPr>
          <a:xfrm>
            <a:off x="533400" y="4233862"/>
            <a:ext cx="4760595" cy="1516380"/>
            <a:chOff x="533400" y="4233862"/>
            <a:chExt cx="4760595" cy="1516380"/>
          </a:xfrm>
        </p:grpSpPr>
        <p:sp>
          <p:nvSpPr>
            <p:cNvPr id="17" name="Rectangle 17"/>
            <p:cNvSpPr/>
            <p:nvPr/>
          </p:nvSpPr>
          <p:spPr>
            <a:xfrm>
              <a:off x="533400" y="4233862"/>
              <a:ext cx="4760595" cy="1516380"/>
            </a:xfrm>
            <a:prstGeom prst="roundRect">
              <a:avLst>
                <a:gd name="adj" fmla="val 62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61797" y="4385786"/>
              <a:ext cx="27770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使用过程：open、map、使用、unmap、close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1035" y="4648676"/>
              <a:ext cx="2806446" cy="1031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fd = open(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"f1"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"rw"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map(fd, 1K);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映射到虚地址 1K 处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...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直接读写内存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unmap(fd);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close(fd);</a:t>
              </a:r>
            </a:p>
          </p:txBody>
        </p:sp>
      </p:grpSp>
      <p:grpSp>
        <p:nvGrpSpPr>
          <p:cNvPr id="73" name="c2-graph-1"/>
          <p:cNvGrpSpPr/>
          <p:nvPr/>
        </p:nvGrpSpPr>
        <p:grpSpPr>
          <a:xfrm>
            <a:off x="5796185" y="1550670"/>
            <a:ext cx="5446173" cy="3161920"/>
            <a:chOff x="5796185" y="1550670"/>
            <a:chExt cx="5446173" cy="3161920"/>
          </a:xfrm>
        </p:grpSpPr>
        <p:sp>
          <p:nvSpPr>
            <p:cNvPr id="21" name="Freeform 21"/>
            <p:cNvSpPr/>
            <p:nvPr/>
          </p:nvSpPr>
          <p:spPr>
            <a:xfrm>
              <a:off x="6506528" y="2404110"/>
              <a:ext cx="1531620" cy="9525"/>
            </a:xfrm>
            <a:custGeom>
              <a:avLst/>
              <a:gdLst/>
              <a:ahLst/>
              <a:cxnLst/>
              <a:rect l="l" t="t" r="r" b="b"/>
              <a:pathLst>
                <a:path w="1531620" h="9525">
                  <a:moveTo>
                    <a:pt x="0" y="0"/>
                  </a:moveTo>
                  <a:lnTo>
                    <a:pt x="153162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8038148" y="235648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6506528" y="2907030"/>
              <a:ext cx="1531620" cy="9525"/>
            </a:xfrm>
            <a:custGeom>
              <a:avLst/>
              <a:gdLst/>
              <a:ahLst/>
              <a:cxnLst/>
              <a:rect l="l" t="t" r="r" b="b"/>
              <a:pathLst>
                <a:path w="1531620" h="9525">
                  <a:moveTo>
                    <a:pt x="0" y="0"/>
                  </a:moveTo>
                  <a:lnTo>
                    <a:pt x="153162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8038148" y="285940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6506528" y="3409950"/>
              <a:ext cx="1531620" cy="9525"/>
            </a:xfrm>
            <a:custGeom>
              <a:avLst/>
              <a:gdLst/>
              <a:ahLst/>
              <a:cxnLst/>
              <a:rect l="l" t="t" r="r" b="b"/>
              <a:pathLst>
                <a:path w="1531620" h="9525">
                  <a:moveTo>
                    <a:pt x="0" y="0"/>
                  </a:moveTo>
                  <a:lnTo>
                    <a:pt x="153162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8038148" y="33623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6506528" y="3912870"/>
              <a:ext cx="1531620" cy="9525"/>
            </a:xfrm>
            <a:custGeom>
              <a:avLst/>
              <a:gdLst/>
              <a:ahLst/>
              <a:cxnLst/>
              <a:rect l="l" t="t" r="r" b="b"/>
              <a:pathLst>
                <a:path w="1531620" h="9525">
                  <a:moveTo>
                    <a:pt x="0" y="0"/>
                  </a:moveTo>
                  <a:lnTo>
                    <a:pt x="153162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8038148" y="386524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8976360" y="2404110"/>
              <a:ext cx="1184910" cy="9525"/>
            </a:xfrm>
            <a:custGeom>
              <a:avLst/>
              <a:gdLst/>
              <a:ahLst/>
              <a:cxnLst/>
              <a:rect l="l" t="t" r="r" b="b"/>
              <a:pathLst>
                <a:path w="1184910" h="9525">
                  <a:moveTo>
                    <a:pt x="1184910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8881110" y="235648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10161270" y="235648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8976360" y="2907030"/>
              <a:ext cx="1184910" cy="9525"/>
            </a:xfrm>
            <a:custGeom>
              <a:avLst/>
              <a:gdLst/>
              <a:ahLst/>
              <a:cxnLst/>
              <a:rect l="l" t="t" r="r" b="b"/>
              <a:pathLst>
                <a:path w="1184910" h="9525">
                  <a:moveTo>
                    <a:pt x="1184910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8881110" y="285940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10161270" y="285940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8976360" y="3409950"/>
              <a:ext cx="1184910" cy="9525"/>
            </a:xfrm>
            <a:custGeom>
              <a:avLst/>
              <a:gdLst/>
              <a:ahLst/>
              <a:cxnLst/>
              <a:rect l="l" t="t" r="r" b="b"/>
              <a:pathLst>
                <a:path w="1184910" h="9525">
                  <a:moveTo>
                    <a:pt x="1184910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8881110" y="33623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10161270" y="33623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8976360" y="3912870"/>
              <a:ext cx="1184910" cy="9525"/>
            </a:xfrm>
            <a:custGeom>
              <a:avLst/>
              <a:gdLst/>
              <a:ahLst/>
              <a:cxnLst/>
              <a:rect l="l" t="t" r="r" b="b"/>
              <a:pathLst>
                <a:path w="1184910" h="9525">
                  <a:moveTo>
                    <a:pt x="1184910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8881110" y="386524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10161270" y="386524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025515" y="1761172"/>
              <a:ext cx="481012" cy="280035"/>
            </a:xfrm>
            <a:prstGeom prst="roundRect">
              <a:avLst>
                <a:gd name="adj" fmla="val 34014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025515" y="2264092"/>
              <a:ext cx="481012" cy="280035"/>
            </a:xfrm>
            <a:prstGeom prst="roundRect">
              <a:avLst>
                <a:gd name="adj" fmla="val 34014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025515" y="2767012"/>
              <a:ext cx="481012" cy="280035"/>
            </a:xfrm>
            <a:prstGeom prst="roundRect">
              <a:avLst>
                <a:gd name="adj" fmla="val 34014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025515" y="3269932"/>
              <a:ext cx="481012" cy="280035"/>
            </a:xfrm>
            <a:prstGeom prst="roundRect">
              <a:avLst>
                <a:gd name="adj" fmla="val 34014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025515" y="3772852"/>
              <a:ext cx="481012" cy="280035"/>
            </a:xfrm>
            <a:prstGeom prst="roundRect">
              <a:avLst>
                <a:gd name="adj" fmla="val 34014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025515" y="4275772"/>
              <a:ext cx="481012" cy="280035"/>
            </a:xfrm>
            <a:prstGeom prst="roundRect">
              <a:avLst>
                <a:gd name="adj" fmla="val 34014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8133398" y="2264092"/>
              <a:ext cx="747712" cy="280035"/>
            </a:xfrm>
            <a:prstGeom prst="roundRect">
              <a:avLst>
                <a:gd name="adj" fmla="val 34014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8133398" y="2767012"/>
              <a:ext cx="747712" cy="280035"/>
            </a:xfrm>
            <a:prstGeom prst="roundRect">
              <a:avLst>
                <a:gd name="adj" fmla="val 34014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8133398" y="3269932"/>
              <a:ext cx="747712" cy="280035"/>
            </a:xfrm>
            <a:prstGeom prst="roundRect">
              <a:avLst>
                <a:gd name="adj" fmla="val 34014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8133398" y="3772852"/>
              <a:ext cx="747712" cy="280035"/>
            </a:xfrm>
            <a:prstGeom prst="roundRect">
              <a:avLst>
                <a:gd name="adj" fmla="val 34014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10256520" y="2264092"/>
              <a:ext cx="985838" cy="280035"/>
            </a:xfrm>
            <a:prstGeom prst="roundRect">
              <a:avLst>
                <a:gd name="adj" fmla="val 34014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10256520" y="2767012"/>
              <a:ext cx="985838" cy="280035"/>
            </a:xfrm>
            <a:prstGeom prst="roundRect">
              <a:avLst>
                <a:gd name="adj" fmla="val 34014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10256520" y="3269932"/>
              <a:ext cx="985838" cy="280035"/>
            </a:xfrm>
            <a:prstGeom prst="roundRect">
              <a:avLst>
                <a:gd name="adj" fmla="val 34014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10256520" y="3772852"/>
              <a:ext cx="985838" cy="280035"/>
            </a:xfrm>
            <a:prstGeom prst="roundRect">
              <a:avLst>
                <a:gd name="adj" fmla="val 34014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126458" y="1835468"/>
              <a:ext cx="2781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页 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126458" y="2338387"/>
              <a:ext cx="2781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页 1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126458" y="2841308"/>
              <a:ext cx="2781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页 2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126458" y="3344228"/>
              <a:ext cx="2781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页 3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126458" y="3847148"/>
              <a:ext cx="2781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页 4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126458" y="4350068"/>
              <a:ext cx="2781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页 5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227292" y="2338387"/>
              <a:ext cx="5608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内存块 0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227292" y="2841308"/>
              <a:ext cx="5608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内存块 1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227292" y="3344228"/>
              <a:ext cx="5608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内存块 2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227292" y="3847148"/>
              <a:ext cx="5608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内存块 3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343321" y="2338387"/>
              <a:ext cx="8131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f1 的第 0 块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343321" y="2841308"/>
              <a:ext cx="8131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f1 的第 1 块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343321" y="3344228"/>
              <a:ext cx="8131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f1 的第 2 块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343321" y="3847148"/>
              <a:ext cx="8131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f1 的第 3 块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796185" y="1550670"/>
              <a:ext cx="938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进程 Pi 的页表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219694" y="185070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内存空间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499337" y="1850707"/>
              <a:ext cx="5011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文件 f1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499539" y="4327208"/>
              <a:ext cx="2197608" cy="385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map 时从文件读入，unmap 时写回文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件</a:t>
              </a:r>
            </a:p>
          </p:txBody>
        </p:sp>
      </p:grpSp>
      <p:grpSp>
        <p:nvGrpSpPr>
          <p:cNvPr id="80" name="c2-callout-2"/>
          <p:cNvGrpSpPr/>
          <p:nvPr/>
        </p:nvGrpSpPr>
        <p:grpSpPr>
          <a:xfrm>
            <a:off x="5598795" y="4857750"/>
            <a:ext cx="6059805" cy="1059180"/>
            <a:chOff x="5598795" y="4857750"/>
            <a:chExt cx="6059805" cy="1059180"/>
          </a:xfrm>
        </p:grpSpPr>
        <p:sp>
          <p:nvSpPr>
            <p:cNvPr id="74" name="Rectangle 74"/>
            <p:cNvSpPr/>
            <p:nvPr/>
          </p:nvSpPr>
          <p:spPr>
            <a:xfrm>
              <a:off x="5598795" y="4857750"/>
              <a:ext cx="6059805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5803583" y="5287328"/>
              <a:ext cx="200026" cy="200026"/>
              <a:chOff x="5803583" y="5287328"/>
              <a:chExt cx="200026" cy="200026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5803583" y="52873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5903595" y="53540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5892483" y="538734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9" name="TextBox 79"/>
            <p:cNvSpPr txBox="1"/>
            <p:nvPr/>
          </p:nvSpPr>
          <p:spPr>
            <a:xfrm>
              <a:off x="6105525" y="5006340"/>
              <a:ext cx="50825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按课件图，页长 1K，文件的第 0–3 块依次对应进程的第 1–4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页。映射后读写页 1–4 就是读写文件，不再经过 read、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write。</a:t>
              </a:r>
            </a:p>
          </p:txBody>
        </p:sp>
      </p:grpSp>
      <p:grpSp>
        <p:nvGrpSpPr>
          <p:cNvPr id="8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1" name="TextBox 81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第8章 文件系统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07458" cy="909257"/>
            <a:chOff x="520446" y="342900"/>
            <a:chExt cx="790745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文件系统 · 新型文件系统与性能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0745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Linux 文件系统：VFS 统一界面，Ext2fs 管理存储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7" name="c1-flow-1"/>
          <p:cNvGrpSpPr/>
          <p:nvPr/>
        </p:nvGrpSpPr>
        <p:grpSpPr>
          <a:xfrm>
            <a:off x="666750" y="1662112"/>
            <a:ext cx="4493895" cy="2581276"/>
            <a:chOff x="666750" y="1662112"/>
            <a:chExt cx="4493895" cy="2581276"/>
          </a:xfrm>
        </p:grpSpPr>
        <p:sp>
          <p:nvSpPr>
            <p:cNvPr id="7" name="Freeform 7"/>
            <p:cNvSpPr/>
            <p:nvPr/>
          </p:nvSpPr>
          <p:spPr>
            <a:xfrm>
              <a:off x="2913698" y="2100262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861310" y="22717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326832" y="3529012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274445" y="370046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913698" y="3529012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861310" y="370046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4500562" y="3529012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448175" y="370046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326832" y="2814638"/>
              <a:ext cx="1586865" cy="209550"/>
            </a:xfrm>
            <a:custGeom>
              <a:avLst/>
              <a:gdLst/>
              <a:ahLst/>
              <a:cxnLst/>
              <a:rect l="l" t="t" r="r" b="b"/>
              <a:pathLst>
                <a:path w="1586865" h="209550">
                  <a:moveTo>
                    <a:pt x="1586865" y="0"/>
                  </a:moveTo>
                  <a:lnTo>
                    <a:pt x="1586865" y="209550"/>
                  </a:lnTo>
                  <a:lnTo>
                    <a:pt x="1586865" y="66675"/>
                  </a:lnTo>
                  <a:lnTo>
                    <a:pt x="0" y="66675"/>
                  </a:lnTo>
                  <a:lnTo>
                    <a:pt x="0" y="1714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274445" y="29860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913698" y="2814638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  <a:lnTo>
                    <a:pt x="0" y="66675"/>
                  </a:lnTo>
                  <a:lnTo>
                    <a:pt x="0" y="1714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861310" y="29860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2913698" y="2814638"/>
              <a:ext cx="1586865" cy="209550"/>
            </a:xfrm>
            <a:custGeom>
              <a:avLst/>
              <a:gdLst/>
              <a:ahLst/>
              <a:cxnLst/>
              <a:rect l="l" t="t" r="r" b="b"/>
              <a:pathLst>
                <a:path w="1586865" h="209550">
                  <a:moveTo>
                    <a:pt x="0" y="0"/>
                  </a:moveTo>
                  <a:lnTo>
                    <a:pt x="0" y="209550"/>
                  </a:lnTo>
                  <a:lnTo>
                    <a:pt x="0" y="66675"/>
                  </a:lnTo>
                  <a:lnTo>
                    <a:pt x="1586865" y="66675"/>
                  </a:lnTo>
                  <a:lnTo>
                    <a:pt x="1586865" y="1714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448175" y="29860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66775" y="1662112"/>
              <a:ext cx="4094798" cy="43815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866775" y="2376488"/>
              <a:ext cx="4094798" cy="438150"/>
            </a:xfrm>
            <a:prstGeom prst="roundRect">
              <a:avLst>
                <a:gd name="adj" fmla="val 2173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66750" y="3090862"/>
              <a:ext cx="1320165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253615" y="3090862"/>
              <a:ext cx="1320165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3840480" y="3090862"/>
              <a:ext cx="1320165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66750" y="3805238"/>
              <a:ext cx="1320165" cy="438150"/>
            </a:xfrm>
            <a:prstGeom prst="roundRect">
              <a:avLst>
                <a:gd name="adj" fmla="val 2173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2253615" y="3805238"/>
              <a:ext cx="1320165" cy="438150"/>
            </a:xfrm>
            <a:prstGeom prst="roundRect">
              <a:avLst>
                <a:gd name="adj" fmla="val 2173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3840480" y="3805238"/>
              <a:ext cx="1320165" cy="438150"/>
            </a:xfrm>
            <a:prstGeom prst="roundRect">
              <a:avLst>
                <a:gd name="adj" fmla="val 2173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741171" y="1792129"/>
              <a:ext cx="23450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VFS（Virtual File System）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619684" y="2506504"/>
              <a:ext cx="5880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Ext2fs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70663" y="3220879"/>
              <a:ext cx="5123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缓冲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657528" y="3220879"/>
              <a:ext cx="5123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缓冲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149458" y="322087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网络协议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25147" y="3935254"/>
              <a:ext cx="6033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IO 设备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648750" y="393525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块设备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149458" y="393525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网络设备</a:t>
              </a:r>
            </a:p>
          </p:txBody>
        </p:sp>
      </p:grpSp>
      <p:grpSp>
        <p:nvGrpSpPr>
          <p:cNvPr id="43" name="c1-card-2"/>
          <p:cNvGrpSpPr/>
          <p:nvPr/>
        </p:nvGrpSpPr>
        <p:grpSpPr>
          <a:xfrm>
            <a:off x="533400" y="4572000"/>
            <a:ext cx="4760595" cy="1602105"/>
            <a:chOff x="533400" y="4572000"/>
            <a:chExt cx="4760595" cy="1602105"/>
          </a:xfrm>
        </p:grpSpPr>
        <p:sp>
          <p:nvSpPr>
            <p:cNvPr id="38" name="Rectangle 38"/>
            <p:cNvSpPr/>
            <p:nvPr/>
          </p:nvSpPr>
          <p:spPr>
            <a:xfrm>
              <a:off x="533400" y="4572000"/>
              <a:ext cx="476059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42925" y="470535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81050" y="4781550"/>
              <a:ext cx="45624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64981" y="4817269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VFS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73430" y="5158740"/>
              <a:ext cx="40062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VFS 本身不是实际的文件系统，它为 Ext2fs、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FAT 等多种实际文件系统提供统一界面，也为各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种外部设备提供统一接口。</a:t>
              </a:r>
            </a:p>
          </p:txBody>
        </p:sp>
      </p:grpSp>
      <p:grpSp>
        <p:nvGrpSpPr>
          <p:cNvPr id="66" name="c2-cells-1"/>
          <p:cNvGrpSpPr/>
          <p:nvPr/>
        </p:nvGrpSpPr>
        <p:grpSpPr>
          <a:xfrm>
            <a:off x="5593461" y="1524000"/>
            <a:ext cx="3910584" cy="1009650"/>
            <a:chOff x="5593461" y="1524000"/>
            <a:chExt cx="3910584" cy="1009650"/>
          </a:xfrm>
        </p:grpSpPr>
        <p:sp>
          <p:nvSpPr>
            <p:cNvPr id="44" name="TextBox 44"/>
            <p:cNvSpPr txBox="1"/>
            <p:nvPr/>
          </p:nvSpPr>
          <p:spPr>
            <a:xfrm>
              <a:off x="5593461" y="16678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磁盘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65545" y="1524000"/>
              <a:ext cx="64770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72034" y="166782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引导块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913245" y="1524000"/>
              <a:ext cx="6477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090410" y="16678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块组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7560945" y="1524000"/>
              <a:ext cx="64770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738110" y="16678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块组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208645" y="1524000"/>
              <a:ext cx="6477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486346" y="16678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8856345" y="1524000"/>
              <a:ext cx="6477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033510" y="16678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块组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593461" y="22583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一个块组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265545" y="2114550"/>
              <a:ext cx="64770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372034" y="225837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超级块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913245" y="2114550"/>
              <a:ext cx="64770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019734" y="225837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组描述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7560945" y="2114550"/>
              <a:ext cx="64770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667434" y="225837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位示图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8208645" y="2114550"/>
              <a:ext cx="64770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341638" y="2258378"/>
              <a:ext cx="3817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inode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8856345" y="2114550"/>
              <a:ext cx="6477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962834" y="225837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文件块</a:t>
              </a:r>
            </a:p>
          </p:txBody>
        </p:sp>
      </p:grpSp>
      <p:grpSp>
        <p:nvGrpSpPr>
          <p:cNvPr id="68" name="c2-text-2"/>
          <p:cNvGrpSpPr/>
          <p:nvPr/>
        </p:nvGrpSpPr>
        <p:grpSpPr>
          <a:xfrm>
            <a:off x="5592318" y="2745581"/>
            <a:ext cx="2425344" cy="249364"/>
            <a:chOff x="5592318" y="2745581"/>
            <a:chExt cx="2425344" cy="249364"/>
          </a:xfrm>
        </p:grpSpPr>
        <p:sp>
          <p:nvSpPr>
            <p:cNvPr id="67" name="TextBox 67"/>
            <p:cNvSpPr txBox="1"/>
            <p:nvPr/>
          </p:nvSpPr>
          <p:spPr>
            <a:xfrm>
              <a:off x="5592318" y="2745581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一个块组对应一组相邻的柱面。</a:t>
              </a:r>
            </a:p>
          </p:txBody>
        </p:sp>
      </p:grpSp>
      <p:grpSp>
        <p:nvGrpSpPr>
          <p:cNvPr id="84" name="c2-table-3"/>
          <p:cNvGrpSpPr/>
          <p:nvPr/>
        </p:nvGrpSpPr>
        <p:grpSpPr>
          <a:xfrm>
            <a:off x="5598795" y="3134678"/>
            <a:ext cx="6059805" cy="2026920"/>
            <a:chOff x="5598795" y="3134678"/>
            <a:chExt cx="6059805" cy="2026920"/>
          </a:xfrm>
        </p:grpSpPr>
        <p:sp>
          <p:nvSpPr>
            <p:cNvPr id="69" name="Rectangle 69"/>
            <p:cNvSpPr/>
            <p:nvPr/>
          </p:nvSpPr>
          <p:spPr>
            <a:xfrm>
              <a:off x="5598795" y="3134678"/>
              <a:ext cx="6059805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5965787" y="327040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801142" y="3270409"/>
              <a:ext cx="20796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BSD FFS（快速文件系统）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016710" y="3270409"/>
              <a:ext cx="6167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Ext2fs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5706618" y="383238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存储块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797230" y="3719036"/>
              <a:ext cx="181737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大块（最大 8 KB）+ 碎块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（fragment）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100376" y="3719036"/>
              <a:ext cx="219938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统一长度的块（1 KB、2 KB、4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KB）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5598795" y="425481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5598795" y="4259580"/>
              <a:ext cx="6059805" cy="9020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5706618" y="462105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空闲块管理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797230" y="462105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按柱面组分配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100376" y="4394359"/>
              <a:ext cx="2288794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位示图；尽量让一个文件的物理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块连续或邻近；预先分配，未用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完的块在文件关闭时释放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5598795" y="3134678"/>
              <a:ext cx="6059805" cy="20269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2" name="Rectangle 82"/>
            <p:cNvSpPr/>
            <p:nvPr/>
          </p:nvSpPr>
          <p:spPr>
            <a:xfrm>
              <a:off x="6684645" y="3134678"/>
              <a:ext cx="9525" cy="20269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8987790" y="3134678"/>
              <a:ext cx="9525" cy="20269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1" name="c2-callout-4"/>
          <p:cNvGrpSpPr/>
          <p:nvPr/>
        </p:nvGrpSpPr>
        <p:grpSpPr>
          <a:xfrm>
            <a:off x="5598795" y="5352098"/>
            <a:ext cx="6059805" cy="782955"/>
            <a:chOff x="5598795" y="5352098"/>
            <a:chExt cx="6059805" cy="782955"/>
          </a:xfrm>
        </p:grpSpPr>
        <p:sp>
          <p:nvSpPr>
            <p:cNvPr id="85" name="Rectangle 85"/>
            <p:cNvSpPr/>
            <p:nvPr/>
          </p:nvSpPr>
          <p:spPr>
            <a:xfrm>
              <a:off x="5598795" y="5352098"/>
              <a:ext cx="6059805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89" name="Group 89"/>
            <p:cNvGrpSpPr/>
            <p:nvPr/>
          </p:nvGrpSpPr>
          <p:grpSpPr>
            <a:xfrm>
              <a:off x="5803583" y="5643563"/>
              <a:ext cx="200026" cy="200026"/>
              <a:chOff x="5803583" y="5643563"/>
              <a:chExt cx="200026" cy="200026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5803583" y="564356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5903595" y="57102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5892483" y="574357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90" name="TextBox 90"/>
            <p:cNvSpPr txBox="1"/>
            <p:nvPr/>
          </p:nvSpPr>
          <p:spPr>
            <a:xfrm>
              <a:off x="6105525" y="5500688"/>
              <a:ext cx="49587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更正：原课件标题为“Ext2fs 与 VFS 差别”。大块加碎块是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BSD FFS 的做法，VFS 只是接口层，不管理存储块。</a:t>
              </a:r>
            </a:p>
          </p:txBody>
        </p:sp>
      </p:grpSp>
      <p:grpSp>
        <p:nvGrpSpPr>
          <p:cNvPr id="9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2" name="TextBox 92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第8章 文件系统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文件系统 · 新型文件系统与性能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提高文件系统效率的四种手段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6276022" cy="3000375"/>
            <a:chOff x="533400" y="1524000"/>
            <a:chExt cx="6276022" cy="30003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0005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69582" y="1645444"/>
              <a:ext cx="7087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8.12 手段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9910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14607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细节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0555" y="2145506"/>
              <a:ext cx="930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缓存 caching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011680" y="2045494"/>
              <a:ext cx="157607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尽可能把文件块保存在内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存中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893820" y="2045494"/>
              <a:ext cx="25717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读入的和要写出的块缓冲区都与文件块关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联，再次访问不必读盘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51936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524125"/>
              <a:ext cx="6276022" cy="8001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0555" y="2845594"/>
              <a:ext cx="1191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预读 read ahead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11680" y="2845594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顺序访问时提前读下一块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93820" y="2645569"/>
              <a:ext cx="2685542" cy="6200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当前读块 15，就预读块 16；每个打开文件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设访问标志，open 时置 0（顺序），seek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时翻转（非顺序）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31946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0555" y="3445669"/>
              <a:ext cx="1020623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延迟写 delayed</a:t>
              </a:r>
              <a:br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write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11680" y="354568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把写推迟到不得不写时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893820" y="3445669"/>
              <a:ext cx="268554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没有空闲缓冲区；文件关闭（所有用户都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关闭，i_count = 0）；系统刷新（flush）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91953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924300"/>
              <a:ext cx="6276022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0555" y="41457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减少磁臂移动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011680" y="41457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让磁头少走路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893820" y="4045744"/>
              <a:ext cx="25717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给文件分配连续的盘块；访问磁盘的请求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按扫描（SCAN）顺序服务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6276022" cy="30003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909762" y="1524000"/>
              <a:ext cx="9525" cy="30003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3791902" y="1524000"/>
              <a:ext cx="9525" cy="30003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5" name="c1-cells-2"/>
          <p:cNvGrpSpPr/>
          <p:nvPr/>
        </p:nvGrpSpPr>
        <p:grpSpPr>
          <a:xfrm>
            <a:off x="528447" y="4728686"/>
            <a:ext cx="2731961" cy="610077"/>
            <a:chOff x="528447" y="4728686"/>
            <a:chExt cx="2731961" cy="610077"/>
          </a:xfrm>
        </p:grpSpPr>
        <p:sp>
          <p:nvSpPr>
            <p:cNvPr id="32" name="TextBox 32"/>
            <p:cNvSpPr txBox="1"/>
            <p:nvPr/>
          </p:nvSpPr>
          <p:spPr>
            <a:xfrm>
              <a:off x="528447" y="509444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文件块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040130" y="4970145"/>
              <a:ext cx="555308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149424" y="5094446"/>
              <a:ext cx="3357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块 14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595438" y="4970145"/>
              <a:ext cx="555308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704731" y="5094446"/>
              <a:ext cx="3357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 15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2149792" y="4970145"/>
              <a:ext cx="555308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260039" y="5094446"/>
              <a:ext cx="3357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块 16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2705100" y="4970145"/>
              <a:ext cx="55530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815346" y="5094446"/>
              <a:ext cx="3357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 17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702270" y="4728686"/>
              <a:ext cx="3406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本次读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1834515" y="487489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2312772" y="4728686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预读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2389822" y="487489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52" name="c1-callout-3"/>
          <p:cNvGrpSpPr/>
          <p:nvPr/>
        </p:nvGrpSpPr>
        <p:grpSpPr>
          <a:xfrm>
            <a:off x="533400" y="5509260"/>
            <a:ext cx="6276022" cy="729615"/>
            <a:chOff x="533400" y="5509260"/>
            <a:chExt cx="6276022" cy="729615"/>
          </a:xfrm>
        </p:grpSpPr>
        <p:sp>
          <p:nvSpPr>
            <p:cNvPr id="46" name="Rectangle 46"/>
            <p:cNvSpPr/>
            <p:nvPr/>
          </p:nvSpPr>
          <p:spPr>
            <a:xfrm>
              <a:off x="533400" y="5509260"/>
              <a:ext cx="6276022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38188" y="5774055"/>
              <a:ext cx="200026" cy="200026"/>
              <a:chOff x="738188" y="5774055"/>
              <a:chExt cx="200026" cy="200026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38188" y="577405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38200" y="584073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27088" y="587406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0892" y="5654992"/>
              <a:ext cx="527723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UNIX V6 用内存 inode 的 i_lastr 记上次读的逻辑块号：本次要读的块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号正好是 i_lastr + 1，就判为顺序访问，并预读下一块。</a:t>
              </a:r>
            </a:p>
          </p:txBody>
        </p:sp>
      </p:grpSp>
      <p:grpSp>
        <p:nvGrpSpPr>
          <p:cNvPr id="63" name="c2-card-1"/>
          <p:cNvGrpSpPr/>
          <p:nvPr/>
        </p:nvGrpSpPr>
        <p:grpSpPr>
          <a:xfrm>
            <a:off x="7114222" y="1524000"/>
            <a:ext cx="4544378" cy="2300288"/>
            <a:chOff x="7114222" y="1524000"/>
            <a:chExt cx="4544378" cy="2300288"/>
          </a:xfrm>
        </p:grpSpPr>
        <p:sp>
          <p:nvSpPr>
            <p:cNvPr id="53" name="Rectangle 53"/>
            <p:cNvSpPr/>
            <p:nvPr/>
          </p:nvSpPr>
          <p:spPr>
            <a:xfrm>
              <a:off x="7114222" y="1524000"/>
              <a:ext cx="4544378" cy="2300288"/>
            </a:xfrm>
            <a:prstGeom prst="roundRect">
              <a:avLst>
                <a:gd name="adj" fmla="val 579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7123748" y="1657350"/>
              <a:ext cx="47625" cy="203358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7339012" y="1710690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419530" y="174355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预读的例子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7347585" y="211074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503604" y="2054542"/>
              <a:ext cx="376847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进程顺序读块 14、15：读 15 时把块 16 一起读入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缓冲区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7347585" y="266890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503604" y="2612708"/>
              <a:ext cx="364845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下一次 read 要块 16，直接从内存取，省去一次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等待磁盘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7347585" y="322611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503604" y="3169920"/>
              <a:ext cx="369989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如果中间调用了 seek，标志变为非顺序，不再预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</a:t>
              </a:r>
            </a:p>
          </p:txBody>
        </p:sp>
      </p:grpSp>
      <p:grpSp>
        <p:nvGrpSpPr>
          <p:cNvPr id="69" name="c2-card-2"/>
          <p:cNvGrpSpPr/>
          <p:nvPr/>
        </p:nvGrpSpPr>
        <p:grpSpPr>
          <a:xfrm>
            <a:off x="7114222" y="3994785"/>
            <a:ext cx="4544378" cy="1185862"/>
            <a:chOff x="7114222" y="3994785"/>
            <a:chExt cx="4544378" cy="1185862"/>
          </a:xfrm>
        </p:grpSpPr>
        <p:sp>
          <p:nvSpPr>
            <p:cNvPr id="64" name="Rectangle 64"/>
            <p:cNvSpPr/>
            <p:nvPr/>
          </p:nvSpPr>
          <p:spPr>
            <a:xfrm>
              <a:off x="7114222" y="3994785"/>
              <a:ext cx="4544378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7123748" y="4128135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7339012" y="4181475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416432" y="4214336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延迟写的代价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332154" y="4525328"/>
              <a:ext cx="39570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速度提高了，但断电或崩溃时内存中尚未写出的数据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会丢失，LFS 背景中提到的一致性问题就来自这里。</a:t>
              </a:r>
            </a:p>
          </p:txBody>
        </p:sp>
      </p:grpSp>
      <p:grpSp>
        <p:nvGrpSpPr>
          <p:cNvPr id="76" name="c2-callout-3"/>
          <p:cNvGrpSpPr/>
          <p:nvPr/>
        </p:nvGrpSpPr>
        <p:grpSpPr>
          <a:xfrm>
            <a:off x="7114222" y="5350192"/>
            <a:ext cx="4544378" cy="729615"/>
            <a:chOff x="7114222" y="5350192"/>
            <a:chExt cx="4544378" cy="729615"/>
          </a:xfrm>
        </p:grpSpPr>
        <p:sp>
          <p:nvSpPr>
            <p:cNvPr id="70" name="Rectangle 70"/>
            <p:cNvSpPr/>
            <p:nvPr/>
          </p:nvSpPr>
          <p:spPr>
            <a:xfrm>
              <a:off x="7114222" y="5350192"/>
              <a:ext cx="4544378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7319010" y="5614988"/>
              <a:ext cx="200026" cy="200026"/>
              <a:chOff x="7319010" y="5614988"/>
              <a:chExt cx="200026" cy="200026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7319010" y="5614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7419023" y="5681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7407910" y="5715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7621714" y="5495925"/>
              <a:ext cx="366560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原课件本节两页的编号分别写作 8.12 和 8.11，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按章节顺序应为 8.12。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第8章 文件系统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12339" cy="909257"/>
            <a:chOff x="520446" y="342900"/>
            <a:chExt cx="271233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文件系统 · 新型文件系统与性能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557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1743075"/>
            <a:chOff x="533400" y="1524000"/>
            <a:chExt cx="3505200" cy="17430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1743075"/>
            </a:xfrm>
            <a:prstGeom prst="roundRect">
              <a:avLst>
                <a:gd name="adj" fmla="val 765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0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9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3232" y="2054542"/>
              <a:ext cx="2998660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文件共 100 块，FCB 已在内存。随机读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逻辑块 60（从 0 编号），顺序、链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接、索引结构各要访问磁盘几次？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3232" y="2869882"/>
              <a:ext cx="26307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分别为 1 次、61 次、2 次。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436620"/>
            <a:ext cx="3505200" cy="2771775"/>
            <a:chOff x="533400" y="3436620"/>
            <a:chExt cx="3505200" cy="2771775"/>
          </a:xfrm>
        </p:grpSpPr>
        <p:sp>
          <p:nvSpPr>
            <p:cNvPr id="13" name="Rectangle 13"/>
            <p:cNvSpPr/>
            <p:nvPr/>
          </p:nvSpPr>
          <p:spPr>
            <a:xfrm>
              <a:off x="533400" y="3436620"/>
              <a:ext cx="3505200" cy="2771775"/>
            </a:xfrm>
            <a:prstGeom prst="roundRect">
              <a:avLst>
                <a:gd name="adj" fmla="val 481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0090" y="362331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9547" y="365617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3232" y="3968115"/>
              <a:ext cx="283535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成组连接中 s_nfree = 1 时再申请一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块，会发生什么？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3232" y="4525328"/>
              <a:ext cx="2851213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读入 s_free[0] 指向的块，把其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中的个数和块号装入 s_nfree、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s_free，再把这个块分配出去。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2257425"/>
            <a:chOff x="4343400" y="1524000"/>
            <a:chExt cx="3505200" cy="2257425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2257425"/>
            </a:xfrm>
            <a:prstGeom prst="roundRect">
              <a:avLst>
                <a:gd name="adj" fmla="val 590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30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19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23232" y="2054542"/>
              <a:ext cx="2998660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UNIX 混合索引，块长 1 KB，每块 256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个块号。读偏移 300 000 字节处用哪个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地址项？访盘几次？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23232" y="2869882"/>
              <a:ext cx="299694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逻辑块 292，块内偏移 992。292 −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266 = 26，二次间接：一级索引块第 0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项、二级第 26 项，访盘 3 次。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3950970"/>
            <a:ext cx="3505200" cy="2257425"/>
            <a:chOff x="4343400" y="3950970"/>
            <a:chExt cx="3505200" cy="2257425"/>
          </a:xfrm>
        </p:grpSpPr>
        <p:sp>
          <p:nvSpPr>
            <p:cNvPr id="25" name="Rectangle 25"/>
            <p:cNvSpPr/>
            <p:nvPr/>
          </p:nvSpPr>
          <p:spPr>
            <a:xfrm>
              <a:off x="4343400" y="3950970"/>
              <a:ext cx="3505200" cy="2257425"/>
            </a:xfrm>
            <a:prstGeom prst="roundRect">
              <a:avLst>
                <a:gd name="adj" fmla="val 590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30090" y="413766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19547" y="417052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23232" y="4482465"/>
              <a:ext cx="294336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 f 的 i_nlink = 1，正被进程 A 打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开，此时进程 B 执行 unlink(f)。f 何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时真正删除？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23232" y="5296852"/>
              <a:ext cx="300551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目录项立即清除，i_nlink = 0；A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最后一次 close 使 i_count 降为 0 时，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才释放磁盘块和 inode。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2514600"/>
            <a:chOff x="8153400" y="1524000"/>
            <a:chExt cx="3505200" cy="2514600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2514600"/>
            </a:xfrm>
            <a:prstGeom prst="roundRect">
              <a:avLst>
                <a:gd name="adj" fmla="val 530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40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29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33232" y="2054542"/>
              <a:ext cx="2924937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两个进程各自 open 同一文件，与父进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 open 后 fork 出子进程，file 表项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 inode 各有几个？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33232" y="2869882"/>
              <a:ext cx="2868358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各自 open：2 个 file 表项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（f_count 各为 1），1 个内存 inode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（i_count = 2）。fork：1 个 file 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项（f_count = 2），1 个 inode。</a:t>
              </a:r>
            </a:p>
          </p:txBody>
        </p:sp>
      </p:grpSp>
      <p:grpSp>
        <p:nvGrpSpPr>
          <p:cNvPr id="42" name="c3-card-2"/>
          <p:cNvGrpSpPr/>
          <p:nvPr/>
        </p:nvGrpSpPr>
        <p:grpSpPr>
          <a:xfrm>
            <a:off x="8153400" y="4208145"/>
            <a:ext cx="3505200" cy="2000250"/>
            <a:chOff x="8153400" y="4208145"/>
            <a:chExt cx="3505200" cy="2000250"/>
          </a:xfrm>
        </p:grpSpPr>
        <p:sp>
          <p:nvSpPr>
            <p:cNvPr id="37" name="Rectangle 37"/>
            <p:cNvSpPr/>
            <p:nvPr/>
          </p:nvSpPr>
          <p:spPr>
            <a:xfrm>
              <a:off x="8153400" y="4208145"/>
              <a:ext cx="3505200" cy="2000250"/>
            </a:xfrm>
            <a:prstGeom prst="roundRect">
              <a:avLst>
                <a:gd name="adj" fmla="val 6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40090" y="439483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29547" y="442769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33232" y="4739640"/>
              <a:ext cx="2882503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文件权限为 rwxr-x--x（八进制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751），同组用户能否写？其他用户能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否执行？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33232" y="5554028"/>
              <a:ext cx="291979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同组位 r-x，不能写；其他用户位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--x，可以执行。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第8章 文件系统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12339" cy="909257"/>
            <a:chOff x="520446" y="342900"/>
            <a:chExt cx="271233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文件系统 · 新型文件系统与性能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table-1"/>
          <p:cNvGrpSpPr/>
          <p:nvPr/>
        </p:nvGrpSpPr>
        <p:grpSpPr>
          <a:xfrm>
            <a:off x="533400" y="1524000"/>
            <a:ext cx="6276022" cy="2760345"/>
            <a:chOff x="533400" y="1524000"/>
            <a:chExt cx="6276022" cy="27603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248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30592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068128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5889" y="218313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物理结构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65554" y="2076450"/>
              <a:ext cx="4736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顺序读块快但难增长；链接省空间但随机访问慢；索引兼顾两者，多占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索引块；UNIX 用直接加多级间接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58127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586038"/>
              <a:ext cx="627602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5889" y="271462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65554" y="2714625"/>
              <a:ext cx="47874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FCB 分为次部（名字、文件号）和主部（inode）；目录树逐级查找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00609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5889" y="313944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打开文件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65554" y="3139440"/>
              <a:ext cx="45677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u_ofile → file → inode，两级都是多对一；fd 是 u_ofile 的下标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42995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434715"/>
              <a:ext cx="627602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5889" y="356330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外存空间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65554" y="3563302"/>
              <a:ext cx="35823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成组连接管理空闲块；空闲 inode 表满时直接丢弃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85476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5889" y="398811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共享与保护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65554" y="3988118"/>
              <a:ext cx="38165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link 增加目录项和 i_nlink；i_mode 中 9 位 rwx 权限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1524000"/>
              <a:ext cx="6276022" cy="27603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658302" y="1524000"/>
              <a:ext cx="9525" cy="2760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7" name="c1-kv-2"/>
          <p:cNvGrpSpPr/>
          <p:nvPr/>
        </p:nvGrpSpPr>
        <p:grpSpPr>
          <a:xfrm>
            <a:off x="526161" y="4487704"/>
            <a:ext cx="6283261" cy="1111187"/>
            <a:chOff x="526161" y="4487704"/>
            <a:chExt cx="6283261" cy="1111187"/>
          </a:xfrm>
        </p:grpSpPr>
        <p:sp>
          <p:nvSpPr>
            <p:cNvPr id="29" name="TextBox 29"/>
            <p:cNvSpPr txBox="1"/>
            <p:nvPr/>
          </p:nvSpPr>
          <p:spPr>
            <a:xfrm>
              <a:off x="526161" y="4487704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混合索引最大块数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276856" y="4487704"/>
              <a:ext cx="32164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+ 256 + 256² + 256³ = 16 843 018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479107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26161" y="4903946"/>
              <a:ext cx="114997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inode 所在块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276856" y="4903946"/>
              <a:ext cx="342669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+ ⌊i / 16⌋，块内偏移 (i mod 16) × 32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520731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6161" y="5320189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位示图块号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276856" y="5320189"/>
              <a:ext cx="14290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 × 字号 + 位号</a:t>
              </a:r>
            </a:p>
          </p:txBody>
        </p:sp>
      </p:grpSp>
      <p:grpSp>
        <p:nvGrpSpPr>
          <p:cNvPr id="54" name="c2-card-1"/>
          <p:cNvGrpSpPr/>
          <p:nvPr/>
        </p:nvGrpSpPr>
        <p:grpSpPr>
          <a:xfrm>
            <a:off x="7114222" y="1524000"/>
            <a:ext cx="4544378" cy="4018598"/>
            <a:chOff x="7114222" y="1524000"/>
            <a:chExt cx="4544378" cy="4018598"/>
          </a:xfrm>
        </p:grpSpPr>
        <p:sp>
          <p:nvSpPr>
            <p:cNvPr id="38" name="Rectangle 38"/>
            <p:cNvSpPr/>
            <p:nvPr/>
          </p:nvSpPr>
          <p:spPr>
            <a:xfrm>
              <a:off x="7114222" y="1524000"/>
              <a:ext cx="4544378" cy="4018598"/>
            </a:xfrm>
            <a:prstGeom prst="roundRect">
              <a:avLst>
                <a:gd name="adj" fmla="val 331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7123748" y="1657350"/>
              <a:ext cx="47625" cy="375189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350442" y="1722120"/>
              <a:ext cx="15430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409879" y="175641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7358062" y="214312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514654" y="2082641"/>
              <a:ext cx="368439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系统调用名 mknod、chown、chmod、stat、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fstat（第 38 页）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7358062" y="273177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514654" y="2672239"/>
              <a:ext cx="38385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i_mode 中 SUID、SGID 位置对调（第 47 页）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7358062" y="304990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514654" y="2989421"/>
              <a:ext cx="348602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卸下的设备应为 /dev/rk05，FMOUNT 应为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IMOUNT（第 48 页）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7358062" y="363950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514654" y="3579019"/>
              <a:ext cx="28723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小量写效率约 0.36%（第 53 页）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7358062" y="395668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514654" y="3897154"/>
              <a:ext cx="348602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大块加碎块属于 BSD FFS，不是 VFS（第 56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页）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7358062" y="454628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514654" y="4485799"/>
              <a:ext cx="354012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成组连接释放步骤的变量名 s_nfree（第 34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页）</a:t>
              </a:r>
            </a:p>
          </p:txBody>
        </p:sp>
      </p:grpSp>
      <p:grpSp>
        <p:nvGrpSpPr>
          <p:cNvPr id="60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55" name="Rectangle 55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38188" y="6011230"/>
              <a:ext cx="200023" cy="200023"/>
              <a:chOff x="738188" y="6011230"/>
              <a:chExt cx="200023" cy="200023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38188" y="60112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71538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0511" y="6011704"/>
              <a:ext cx="857846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复习时动手算：混合索引的地址项和访盘次数、成组连接的分配与释放、link 和 unlink 后的 i_nlink。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第8章 文件系统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s_ch8">
  <a:themeElements>
    <a:clrScheme name="os_ch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s_ch8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s_ch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2026-09-17T07:07:15Z</dcterms:created>
  <dcterms:modified xsi:type="dcterms:W3CDTF">2026-09-17T07:07:15Z</dcterms:modified>
  <cp:category/>
  <cp:contentStatus/>
</cp:coreProperties>
</file>