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s_ch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s_ch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fbff9c3696ec306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0259c3aa1442349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8693f95a610907b.png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420618" cy="3437763"/>
            <a:chOff x="666750" y="1619250"/>
            <a:chExt cx="3420618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98332" cy="3429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4866" y="1718310"/>
              <a:ext cx="166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操作系统原理 · 第五章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死锁与饥饿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进程互相卡死的原因与四类对策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死锁的定义、类型与四个必要条件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资源分配图与死锁定理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有序分配法与银行家算法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死锁检测、饥饿与静态分析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413752" cy="205359"/>
            <a:chOff x="680466" y="6192202"/>
            <a:chExt cx="441375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4137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自学复习版｜据吉林大学《操作系统原理》第五章课件整理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死锁是什么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353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定义、三类成因、Coffman 条件、处理策略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资源分配图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画图、约简、死锁定理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死锁预防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预先分配法、有序分配法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死锁避免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安全状态与银行家算法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检测与恢复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检测算法、检测时机、恢复手段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饥饿、过河与静态分析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饥饿与活锁，过河问题，已知活动序列时判断死锁可能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说出死锁的定义和四个必要条件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44602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画资源分配图，用约简判断是否死锁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28441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278130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手算银行家算法的安全性检查和资源请求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317944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11658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手算死锁检测算法，找出死锁进程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35147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345186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区分死锁、饥饿与活锁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691253" cy="3351847"/>
            <a:chOff x="667512" y="1835468"/>
            <a:chExt cx="469125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死锁是什么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从一个小例子出发，弄清定义、成因和必要条件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186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5.1 死锁的概念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16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5.2 死锁类型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186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5.3 死锁的条件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186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5.4 死锁的处理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死锁是什么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死锁：一组进程都在等对方手里的资源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977765" cy="2125028"/>
            <a:chOff x="533400" y="1524000"/>
            <a:chExt cx="4977765" cy="21250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7309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例：r1、r2 是可再用资源，两个进程交叉申请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984246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P1:                    P2: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apply for r1;          apply for r2;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...                    ...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① apply for r2;        ② apply for r1;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...                    ...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return r1;             return r1;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...                    ...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return r2;             return r2;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3839528"/>
            <a:ext cx="4977765" cy="1059180"/>
            <a:chOff x="533400" y="3839528"/>
            <a:chExt cx="4977765" cy="1059180"/>
          </a:xfrm>
        </p:grpSpPr>
        <p:sp>
          <p:nvSpPr>
            <p:cNvPr id="11" name="Rectangle 11"/>
            <p:cNvSpPr/>
            <p:nvPr/>
          </p:nvSpPr>
          <p:spPr>
            <a:xfrm>
              <a:off x="533400" y="3839528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26129" y="4265413"/>
              <a:ext cx="224134" cy="192560"/>
              <a:chOff x="726129" y="4265413"/>
              <a:chExt cx="224134" cy="19256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38200" y="433578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26129" y="426541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8200" y="44135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3988118"/>
              <a:ext cx="40538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若 P1 执行到 ① 时 P2 恰好执行到 ②：P1 占着 r1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等 r2，P2 占着 r2 等 r1，两个进程永远等下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去。</a:t>
              </a:r>
            </a:p>
          </p:txBody>
        </p:sp>
      </p:grpSp>
      <p:grpSp>
        <p:nvGrpSpPr>
          <p:cNvPr id="25" name="c2-card-1"/>
          <p:cNvGrpSpPr/>
          <p:nvPr/>
        </p:nvGrpSpPr>
        <p:grpSpPr>
          <a:xfrm>
            <a:off x="5815965" y="1524000"/>
            <a:ext cx="5842635" cy="1866900"/>
            <a:chOff x="5815965" y="1524000"/>
            <a:chExt cx="5842635" cy="1866900"/>
          </a:xfrm>
        </p:grpSpPr>
        <p:sp>
          <p:nvSpPr>
            <p:cNvPr id="18" name="Rectangle 18"/>
            <p:cNvSpPr/>
            <p:nvPr/>
          </p:nvSpPr>
          <p:spPr>
            <a:xfrm>
              <a:off x="5815965" y="1524000"/>
              <a:ext cx="5842635" cy="18669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825490" y="1657350"/>
              <a:ext cx="47625" cy="160020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6361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153823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63690" y="176879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进程死锁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55995" y="2129790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一组进程中的每一个进程，都无限期地等待本组中其他进程占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有的资源，而这些资源永远得不到。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57138" y="2747486"/>
              <a:ext cx="50523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死锁时刻可取在无限等待发生时，也可提前到等待发生前（此时死锁已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经注定）。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5815965" y="3581400"/>
            <a:ext cx="5842635" cy="2036445"/>
            <a:chOff x="5815965" y="3581400"/>
            <a:chExt cx="5842635" cy="2036445"/>
          </a:xfrm>
        </p:grpSpPr>
        <p:sp>
          <p:nvSpPr>
            <p:cNvPr id="26" name="Rectangle 26"/>
            <p:cNvSpPr/>
            <p:nvPr/>
          </p:nvSpPr>
          <p:spPr>
            <a:xfrm>
              <a:off x="5815965" y="3581400"/>
              <a:ext cx="5842635" cy="2036445"/>
            </a:xfrm>
            <a:prstGeom prst="roundRect">
              <a:avLst>
                <a:gd name="adj" fmla="val 6548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25515" y="37909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90120" y="38266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由定义得到的推论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031230" y="42310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89345" y="4168140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参与死锁的进程至少 2 个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031230" y="45662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89345" y="450342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每个参与死锁的进程都在等待资源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031230" y="49015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89345" y="4838700"/>
              <a:ext cx="2670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其中至少有 2 个进程占有资源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031230" y="523684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89345" y="517398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死锁进程是当前进程集合的一个子集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死锁是什么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路口堵死：竞争不同种资源引起的死锁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27685" y="1524000"/>
            <a:ext cx="6139129" cy="2091214"/>
            <a:chOff x="527685" y="1524000"/>
            <a:chExt cx="6139129" cy="209121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612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车流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2451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行驶方式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97324" y="16597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依次占用的路口格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85869" y="210835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65210" y="210835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由南驶入后左转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01680" y="2108359"/>
              <a:ext cx="7321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→ B → A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85869" y="255698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65210" y="255698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由东驶入后左转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01680" y="2556986"/>
              <a:ext cx="7321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→ A → C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66752" y="3005614"/>
              <a:ext cx="1563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65210" y="30056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由西驶入直行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01680" y="3005614"/>
              <a:ext cx="4226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→ D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605980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95262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18909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7685" y="3395186"/>
              <a:ext cx="61391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路口中心分为 A（左上）、B（右上）、C（左下）、D（右下）四格，每格同时只能停一辆车</a:t>
              </a:r>
            </a:p>
          </p:txBody>
        </p:sp>
      </p:grpSp>
      <p:grpSp>
        <p:nvGrpSpPr>
          <p:cNvPr id="39" name="c1-table-2"/>
          <p:cNvGrpSpPr/>
          <p:nvPr/>
        </p:nvGrpSpPr>
        <p:grpSpPr>
          <a:xfrm>
            <a:off x="533400" y="3761422"/>
            <a:ext cx="6059805" cy="1346835"/>
            <a:chOff x="533400" y="3761422"/>
            <a:chExt cx="6059805" cy="1346835"/>
          </a:xfrm>
        </p:grpSpPr>
        <p:sp>
          <p:nvSpPr>
            <p:cNvPr id="28" name="Rectangle 28"/>
            <p:cNvSpPr/>
            <p:nvPr/>
          </p:nvSpPr>
          <p:spPr>
            <a:xfrm>
              <a:off x="533400" y="3761422"/>
              <a:ext cx="605980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9046" y="389620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死锁情形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20478" y="389620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各车占有与等待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1223" y="4345781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情形 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74723" y="4345781"/>
              <a:ext cx="32570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占 A 等 C；W 占 C 等 D；S 占 D、B 等 A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65391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658678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1223" y="4794409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情形 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74723" y="4794409"/>
              <a:ext cx="32570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占 B、A 等 C；W 占 C 等 D；S 占 D 等 B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761422"/>
              <a:ext cx="6059805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862138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2-image-1"/>
          <p:cNvGrpSpPr/>
          <p:nvPr/>
        </p:nvGrpSpPr>
        <p:grpSpPr>
          <a:xfrm>
            <a:off x="6898005" y="1524000"/>
            <a:ext cx="4760595" cy="4159092"/>
            <a:chOff x="6898005" y="1524000"/>
            <a:chExt cx="4760595" cy="4159092"/>
          </a:xfrm>
        </p:grpSpPr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2"/>
            <a:srcRect l="3562" t="0" r="3561" b="0"/>
            <a:stretch>
              <a:fillRect/>
            </a:stretch>
          </p:blipFill>
          <p:spPr>
            <a:xfrm>
              <a:off x="6898005" y="1524000"/>
              <a:ext cx="4760595" cy="3844290"/>
            </a:xfrm>
            <a:prstGeom prst="roundRect">
              <a:avLst>
                <a:gd name="adj" fmla="val 3468"/>
              </a:avLst>
            </a:prstGeom>
          </p:spPr>
        </p:pic>
        <p:sp>
          <p:nvSpPr>
            <p:cNvPr id="41" name="TextBox 41"/>
            <p:cNvSpPr txBox="1"/>
            <p:nvPr/>
          </p:nvSpPr>
          <p:spPr>
            <a:xfrm>
              <a:off x="7764843" y="5463064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每辆车都占着一格，又在等下一辆车占着的格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3" name="Rectangle 4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991225"/>
              <a:ext cx="75068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判断方法：逐个写出“谁占着什么、在等什么”，等待关系首尾相接成环，就是死锁。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死锁是什么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同种资源、进程通信也会造成死锁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1547812"/>
            <a:chOff x="533400" y="1524000"/>
            <a:chExt cx="5410200" cy="15478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47812"/>
            </a:xfrm>
            <a:prstGeom prst="roundRect">
              <a:avLst>
                <a:gd name="adj" fmla="val 8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811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059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同种资源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19631" y="1756886"/>
              <a:ext cx="19055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台打印机，两个进程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7240" y="216122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831" y="2100739"/>
              <a:ext cx="454101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逐台申请 4 台，用完再逐台释放；P2 逐台申请 2 台，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用完再释放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3524" y="2686050"/>
              <a:ext cx="45596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释放要等拿齐之后，所以 4 台全分出去而谁也没拿齐时就死锁。</a:t>
              </a:r>
            </a:p>
          </p:txBody>
        </p:sp>
      </p:grpSp>
      <p:grpSp>
        <p:nvGrpSpPr>
          <p:cNvPr id="41" name="c1-table-2"/>
          <p:cNvGrpSpPr/>
          <p:nvPr/>
        </p:nvGrpSpPr>
        <p:grpSpPr>
          <a:xfrm>
            <a:off x="528066" y="3251835"/>
            <a:ext cx="5415534" cy="1977962"/>
            <a:chOff x="528066" y="3251835"/>
            <a:chExt cx="5415534" cy="1977962"/>
          </a:xfrm>
        </p:grpSpPr>
        <p:sp>
          <p:nvSpPr>
            <p:cNvPr id="16" name="Rectangle 16"/>
            <p:cNvSpPr/>
            <p:nvPr/>
          </p:nvSpPr>
          <p:spPr>
            <a:xfrm>
              <a:off x="533400" y="3251835"/>
              <a:ext cx="5410200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56766" y="33804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推进顺序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05462" y="3380422"/>
              <a:ext cx="5861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 占有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24624" y="3380422"/>
              <a:ext cx="5861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 占有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43525" y="33804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5889" y="3805238"/>
              <a:ext cx="1864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P1 拿 3 台、P2 拿 1 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48037" y="38052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67199" y="38052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60644" y="38052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0957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100512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5889" y="4229100"/>
              <a:ext cx="12566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P1 申请第 4 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48037" y="422910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67199" y="422910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43525" y="42291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5205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5889" y="4653915"/>
              <a:ext cx="12566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P2 申请第 2 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48037" y="465391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67199" y="465391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43525" y="465391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251835"/>
              <a:ext cx="5410200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3233738" y="325183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153852" y="325183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073015" y="325183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8066" y="5024438"/>
              <a:ext cx="37011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换个顺序就不死锁：P2 先拿齐 2 台，用完归还，P1 再拿齐</a:t>
              </a:r>
            </a:p>
          </p:txBody>
        </p:sp>
      </p:grpSp>
      <p:grpSp>
        <p:nvGrpSpPr>
          <p:cNvPr id="48" name="c1-callout-3"/>
          <p:cNvGrpSpPr/>
          <p:nvPr/>
        </p:nvGrpSpPr>
        <p:grpSpPr>
          <a:xfrm>
            <a:off x="533400" y="5368290"/>
            <a:ext cx="5410200" cy="756285"/>
            <a:chOff x="533400" y="5368290"/>
            <a:chExt cx="5410200" cy="756285"/>
          </a:xfrm>
        </p:grpSpPr>
        <p:sp>
          <p:nvSpPr>
            <p:cNvPr id="42" name="Rectangle 42"/>
            <p:cNvSpPr/>
            <p:nvPr/>
          </p:nvSpPr>
          <p:spPr>
            <a:xfrm>
              <a:off x="533400" y="536829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646420"/>
              <a:ext cx="200026" cy="200026"/>
              <a:chOff x="738188" y="5646420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6464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200" y="57130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27088" y="57464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511" y="5515451"/>
              <a:ext cx="438772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5.15 会给出判别式：需求总量 Σ &lt; M + N 时一定不会死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锁。本例 Σ = 6 = M + N，有死锁可能。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6248400" y="1524000"/>
            <a:ext cx="5410200" cy="2056448"/>
            <a:chOff x="6248400" y="1524000"/>
            <a:chExt cx="5410200" cy="2056448"/>
          </a:xfrm>
        </p:grpSpPr>
        <p:sp>
          <p:nvSpPr>
            <p:cNvPr id="49" name="Rectangle 49"/>
            <p:cNvSpPr/>
            <p:nvPr/>
          </p:nvSpPr>
          <p:spPr>
            <a:xfrm>
              <a:off x="6248400" y="1524000"/>
              <a:ext cx="5410200" cy="2056448"/>
            </a:xfrm>
            <a:prstGeom prst="roundRect">
              <a:avLst>
                <a:gd name="adj" fmla="val 64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1657350"/>
              <a:ext cx="47625" cy="17897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84620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68059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进程通信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84620" y="2059305"/>
              <a:ext cx="4975860" cy="805815"/>
            </a:xfrm>
            <a:prstGeom prst="roundRect">
              <a:avLst>
                <a:gd name="adj" fmla="val 118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12636" y="2205990"/>
              <a:ext cx="1477518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P1: receive(P2, M1);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P2: receive(P3, M2);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P3: receive(P1, M3);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78524" y="2973705"/>
              <a:ext cx="47365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每个进程都在等下一个进程发来消息，等待关系成环，三个进程全部阻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塞。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248400" y="3760470"/>
            <a:ext cx="5410200" cy="2364105"/>
            <a:chOff x="6248400" y="3760470"/>
            <a:chExt cx="5410200" cy="2364105"/>
          </a:xfrm>
        </p:grpSpPr>
        <p:sp>
          <p:nvSpPr>
            <p:cNvPr id="57" name="Rectangle 57"/>
            <p:cNvSpPr/>
            <p:nvPr/>
          </p:nvSpPr>
          <p:spPr>
            <a:xfrm>
              <a:off x="6248400" y="3760470"/>
              <a:ext cx="5410200" cy="2364105"/>
            </a:xfrm>
            <a:prstGeom prst="roundRect">
              <a:avLst>
                <a:gd name="adj" fmla="val 56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257925" y="3893820"/>
              <a:ext cx="47625" cy="2097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84620" y="395859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68059" y="399288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其他原因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77381" y="4320064"/>
              <a:ext cx="464019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两人在门口互相说“您先请”（After you / after you），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谁都不进门。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78524" y="4905375"/>
              <a:ext cx="43577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两人一直在“让”，并没有阻塞，按 5.12 的定义更接近活锁。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69176" cy="909257"/>
            <a:chOff x="520446" y="342900"/>
            <a:chExt cx="60691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死锁是什么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691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死锁的四个必要条件（Coffman 条件）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11125200" cy="3238500"/>
            <a:chOff x="533400" y="1524000"/>
            <a:chExt cx="11125200" cy="3238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4781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17670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93180" y="166306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路口例子中的表现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689782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怎样破坏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0080" y="2150745"/>
              <a:ext cx="1487329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资源独占 mutual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exclusion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88005" y="2150745"/>
              <a:ext cx="2491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一个资源同一时刻只给一个进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79795" y="228409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一格路面只能停一辆车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50605" y="2150745"/>
              <a:ext cx="2682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一般做不到，打印机等设备本身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就独占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61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66060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080" y="2905125"/>
              <a:ext cx="1167289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不可抢占 non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preemption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88005" y="30384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资源只能由占有者主动释放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79795" y="30384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不能把前车拖走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50605" y="3038475"/>
              <a:ext cx="26908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允许剥夺资源（见 5.9 恢复）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5156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0080" y="3659505"/>
              <a:ext cx="189547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保持申请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hold-while-applying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88005" y="37928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占着已有资源再申请新资源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79795" y="37928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占着一格再等下一格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50605" y="37928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预先分配法：运行前一次要齐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2700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27482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0080" y="4413885"/>
              <a:ext cx="2232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循环等待 circular wait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88005" y="44138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存在一个进程等待环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979795" y="4413885"/>
              <a:ext cx="2198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等 E、E 等 W、W 等 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50605" y="44138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有序分配法：按编号递增申请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11125200" cy="3238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976562" y="1524000"/>
              <a:ext cx="9525" cy="3238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868352" y="1524000"/>
              <a:ext cx="9525" cy="3238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539162" y="1524000"/>
              <a:ext cx="9525" cy="3238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38" name="Rectangle 38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26129" y="5867518"/>
              <a:ext cx="224134" cy="192560"/>
              <a:chOff x="726129" y="5867518"/>
              <a:chExt cx="224134" cy="1925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38200" y="5937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26129" y="5867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6015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130" y="5728335"/>
              <a:ext cx="9730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四个条件同时成立是死锁的必要条件；每类资源只有一个实例时它们也是充分条件。破坏其中任意一个，就能消除死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锁。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14894" cy="909257"/>
            <a:chOff x="520446" y="342900"/>
            <a:chExt cx="59148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死锁是什么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148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处理死锁的四类方法，以及“视而不见”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6492240" cy="2762250"/>
            <a:chOff x="533400" y="1524000"/>
            <a:chExt cx="6492240" cy="2762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1725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60042" y="165258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起作用的时间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0145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170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5889" y="21831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死锁预防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39837" y="2076450"/>
              <a:ext cx="1078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静态：运行前定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67634" y="2076450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限制进程申请资源的方式，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破坏必要条件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75529" y="2076450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约束死板，资源利用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率低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58127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586038"/>
              <a:ext cx="649224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5889" y="282130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死锁避免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39837" y="2714625"/>
              <a:ext cx="1078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动态：每次分配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67634" y="2714625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先算分配后是否安全，不安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全就不分配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75529" y="2714625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要预知最大需求，每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次检查有开销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21945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5889" y="34594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死锁检测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39837" y="3352800"/>
              <a:ext cx="1078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事后：定期或按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67634" y="3352800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运行检测算法，找出死锁进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75529" y="345948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死锁已经发生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85667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861435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889" y="3990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死锁恢复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39837" y="399002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检测到死锁后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67634" y="399002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重启、终止进程或剥夺资源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75529" y="399002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已完成的工作会丢失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6492240" cy="2762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632585" y="1524000"/>
              <a:ext cx="9525" cy="2762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060382" y="1524000"/>
              <a:ext cx="9525" cy="2762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268278" y="1524000"/>
              <a:ext cx="9525" cy="2762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1-compare-2"/>
          <p:cNvGrpSpPr/>
          <p:nvPr/>
        </p:nvGrpSpPr>
        <p:grpSpPr>
          <a:xfrm>
            <a:off x="533400" y="4466272"/>
            <a:ext cx="6492240" cy="1838325"/>
            <a:chOff x="533400" y="4466272"/>
            <a:chExt cx="6492240" cy="1838325"/>
          </a:xfrm>
        </p:grpSpPr>
        <p:sp>
          <p:nvSpPr>
            <p:cNvPr id="38" name="Rectangle 38"/>
            <p:cNvSpPr/>
            <p:nvPr/>
          </p:nvSpPr>
          <p:spPr>
            <a:xfrm>
              <a:off x="533400" y="4466272"/>
              <a:ext cx="3074670" cy="1838325"/>
            </a:xfrm>
            <a:prstGeom prst="roundRect">
              <a:avLst>
                <a:gd name="adj" fmla="val 72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2925" y="4599622"/>
              <a:ext cx="47625" cy="157162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2381" y="468772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死锁预防（静态）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77240" y="508349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33831" y="5023961"/>
              <a:ext cx="23588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运行前立下申请规则，不看系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统当前状态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77240" y="567309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33831" y="5612606"/>
              <a:ext cx="23588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所有进程都守规矩，死锁就不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可能出现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950970" y="4466272"/>
              <a:ext cx="3074670" cy="1838325"/>
            </a:xfrm>
            <a:prstGeom prst="roundRect">
              <a:avLst>
                <a:gd name="adj" fmla="val 72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3960495" y="4599622"/>
              <a:ext cx="47625" cy="157162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179951" y="468772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死锁避免（动态）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4194810" y="508349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351401" y="5023961"/>
              <a:ext cx="204330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每次请求都按当时的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Allocation、Need 算一遍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4194810" y="567309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351401" y="5612606"/>
              <a:ext cx="23588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四个必要条件照旧成立，只是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把系统挡在不安全状态之外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3617595" y="522351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632835" y="53197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易混</a:t>
              </a:r>
            </a:p>
          </p:txBody>
        </p:sp>
      </p:grpSp>
      <p:grpSp>
        <p:nvGrpSpPr>
          <p:cNvPr id="65" name="c2-card-1"/>
          <p:cNvGrpSpPr/>
          <p:nvPr/>
        </p:nvGrpSpPr>
        <p:grpSpPr>
          <a:xfrm>
            <a:off x="7330440" y="1524000"/>
            <a:ext cx="4328160" cy="2579370"/>
            <a:chOff x="7330440" y="1524000"/>
            <a:chExt cx="4328160" cy="2579370"/>
          </a:xfrm>
        </p:grpSpPr>
        <p:sp>
          <p:nvSpPr>
            <p:cNvPr id="55" name="Rectangle 55"/>
            <p:cNvSpPr/>
            <p:nvPr/>
          </p:nvSpPr>
          <p:spPr>
            <a:xfrm>
              <a:off x="7330440" y="1524000"/>
              <a:ext cx="4328160" cy="2579370"/>
            </a:xfrm>
            <a:prstGeom prst="roundRect">
              <a:avLst>
                <a:gd name="adj" fmla="val 51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339965" y="1657350"/>
              <a:ext cx="47625" cy="23126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566660" y="1722120"/>
              <a:ext cx="109347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639836" y="1756410"/>
              <a:ext cx="9471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5.10 鸵鸟算法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766238" y="17568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视而不见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574280" y="216122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730871" y="2100739"/>
              <a:ext cx="34409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工程师观点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：死锁发生频率低于其他故障造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成系统瘫痪的频率，而处理死锁的固定开销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大于它的危害，不值得处理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574280" y="302133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730871" y="2961799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数学家观点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：必须处理，无论代价如何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560564" y="3275648"/>
              <a:ext cx="374599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目前的系统实际多是这样做的。例如 UNIX 的进程表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（proc 结构）容量固定，表满引起的相互等待系统并不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处理。</a:t>
              </a:r>
            </a:p>
          </p:txBody>
        </p:sp>
      </p:grpSp>
      <p:grpSp>
        <p:nvGrpSpPr>
          <p:cNvPr id="78" name="c2-card-2"/>
          <p:cNvGrpSpPr/>
          <p:nvPr/>
        </p:nvGrpSpPr>
        <p:grpSpPr>
          <a:xfrm>
            <a:off x="7330440" y="4283392"/>
            <a:ext cx="4328160" cy="2022158"/>
            <a:chOff x="7330440" y="4283392"/>
            <a:chExt cx="4328160" cy="2022158"/>
          </a:xfrm>
        </p:grpSpPr>
        <p:sp>
          <p:nvSpPr>
            <p:cNvPr id="66" name="Rectangle 66"/>
            <p:cNvSpPr/>
            <p:nvPr/>
          </p:nvSpPr>
          <p:spPr>
            <a:xfrm>
              <a:off x="7330440" y="4283392"/>
              <a:ext cx="4328160" cy="2022158"/>
            </a:xfrm>
            <a:prstGeom prst="roundRect">
              <a:avLst>
                <a:gd name="adj" fmla="val 65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7339965" y="4416742"/>
              <a:ext cx="47625" cy="175545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566660" y="4481512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626096" y="45158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实际系统按资源分别选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559421" y="484203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通用操作系统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933878" y="484203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内核锁按约定顺序申请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566660" y="5145405"/>
              <a:ext cx="38938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559421" y="525827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数据库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933878" y="525827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检测加回滚，牺牲者重做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566660" y="5561648"/>
              <a:ext cx="38938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559421" y="567451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实时嵌入式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933878" y="567451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预先分配法，启动前配齐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601957" cy="2997517"/>
            <a:chOff x="667512" y="1835468"/>
            <a:chExt cx="560195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资源分配图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920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把“谁占着什么、谁在等什么”画成图，再用约简判断死锁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30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5.5 资源分配图的定义与画法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三个例子：有没有环、会不会死锁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2562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5.5.2 资源分配图的约简与死锁定理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资源分配图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资源分配图：申请边指向资源，分配边指向进程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6059805" cy="2103120"/>
            <a:chOff x="533400" y="1524000"/>
            <a:chExt cx="6059805" cy="21031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103120"/>
            </a:xfrm>
            <a:prstGeom prst="roundRect">
              <a:avLst>
                <a:gd name="adj" fmla="val 63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3642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971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= (V, E)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12788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071688"/>
              <a:ext cx="48828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 V = P ∪ R：进程集 P = {p1, …, pn}，资源类集 R = {r1, …,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rm}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268509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2628900"/>
              <a:ext cx="4235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 E = {(pi, rj)} ∪ {(rj, pi)}，其中 pi ∈ P，rj ∈ R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6762" y="298513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2782" y="2928938"/>
              <a:ext cx="5202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申请边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(pi, rj)：pi 申请 rj 类中的一个资源，由进程画到资源类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6762" y="328612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2782" y="3229927"/>
              <a:ext cx="5147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分配边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(rj, pi)：rj 的一个实例已分给 pi，由资源实例画到进程</a:t>
              </a:r>
            </a:p>
          </p:txBody>
        </p:sp>
      </p:grpSp>
      <p:grpSp>
        <p:nvGrpSpPr>
          <p:cNvPr id="26" name="c1-kv-2"/>
          <p:cNvGrpSpPr/>
          <p:nvPr/>
        </p:nvGrpSpPr>
        <p:grpSpPr>
          <a:xfrm>
            <a:off x="526542" y="3819525"/>
            <a:ext cx="6066663" cy="656463"/>
            <a:chOff x="526542" y="3819525"/>
            <a:chExt cx="6066663" cy="656463"/>
          </a:xfrm>
        </p:grpSpPr>
        <p:sp>
          <p:nvSpPr>
            <p:cNvPr id="21" name="TextBox 21"/>
            <p:cNvSpPr txBox="1"/>
            <p:nvPr/>
          </p:nvSpPr>
          <p:spPr>
            <a:xfrm>
              <a:off x="526542" y="381952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09497" y="381952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画成圆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1052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6542" y="421195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资源类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09497" y="421195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画成方框，框内每个小圆点代表一个实例</a:t>
              </a:r>
            </a:p>
          </p:txBody>
        </p:sp>
      </p:grpSp>
      <p:grpSp>
        <p:nvGrpSpPr>
          <p:cNvPr id="36" name="c1-card-3"/>
          <p:cNvGrpSpPr/>
          <p:nvPr/>
        </p:nvGrpSpPr>
        <p:grpSpPr>
          <a:xfrm>
            <a:off x="533400" y="4592955"/>
            <a:ext cx="6059805" cy="1506855"/>
            <a:chOff x="533400" y="4592955"/>
            <a:chExt cx="6059805" cy="1506855"/>
          </a:xfrm>
        </p:grpSpPr>
        <p:sp>
          <p:nvSpPr>
            <p:cNvPr id="27" name="Rectangle 27"/>
            <p:cNvSpPr/>
            <p:nvPr/>
          </p:nvSpPr>
          <p:spPr>
            <a:xfrm>
              <a:off x="533400" y="4592955"/>
              <a:ext cx="6059805" cy="1506855"/>
            </a:xfrm>
            <a:prstGeom prst="roundRect">
              <a:avLst>
                <a:gd name="adj" fmla="val 88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726305"/>
              <a:ext cx="47625" cy="12401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8190" y="477964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3961" y="481250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99960" y="481393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把一句话翻译成边集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1332" y="5140642"/>
              <a:ext cx="55930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“p1 占着 r2 的一个实例，正在申请 r1；r1 的唯一实例在 p2 手里。”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6762" y="549687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2782" y="5440680"/>
              <a:ext cx="5547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占有写成分配边：(r2, p1)、(r1, p2)；等待写成申请边：(p1, r1)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2475" y="5737384"/>
              <a:ext cx="41708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 = {(p1, r1), (r1, p2), (r2, p1)}，p1 在等 p2 释放 r1。</a:t>
              </a:r>
            </a:p>
          </p:txBody>
        </p:sp>
      </p:grpSp>
      <p:grpSp>
        <p:nvGrpSpPr>
          <p:cNvPr id="50" name="c2-steps-1"/>
          <p:cNvGrpSpPr/>
          <p:nvPr/>
        </p:nvGrpSpPr>
        <p:grpSpPr>
          <a:xfrm>
            <a:off x="6898005" y="1533525"/>
            <a:ext cx="3817239" cy="1685449"/>
            <a:chOff x="6898005" y="1533525"/>
            <a:chExt cx="3817239" cy="1685449"/>
          </a:xfrm>
        </p:grpSpPr>
        <p:sp>
          <p:nvSpPr>
            <p:cNvPr id="37" name="Rectangle 37"/>
            <p:cNvSpPr/>
            <p:nvPr/>
          </p:nvSpPr>
          <p:spPr>
            <a:xfrm>
              <a:off x="7031355" y="1676400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898005" y="21164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91629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898005" y="269938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91629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10247" y="156495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11390" y="1833086"/>
              <a:ext cx="34038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 申请 rj 中的一个实例，由 pi 向 rj 画一条申请边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10247" y="214788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11390" y="241601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如果能满足，把这条申请边改为分配边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10247" y="27308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11390" y="2998946"/>
              <a:ext cx="2295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 释放资源时，去掉对应的分配边</a:t>
              </a:r>
            </a:p>
          </p:txBody>
        </p:sp>
      </p:grpSp>
      <p:grpSp>
        <p:nvGrpSpPr>
          <p:cNvPr id="57" name="c2-callout-2"/>
          <p:cNvGrpSpPr/>
          <p:nvPr/>
        </p:nvGrpSpPr>
        <p:grpSpPr>
          <a:xfrm>
            <a:off x="6898005" y="3382328"/>
            <a:ext cx="4760595" cy="729615"/>
            <a:chOff x="6898005" y="3382328"/>
            <a:chExt cx="4760595" cy="729615"/>
          </a:xfrm>
        </p:grpSpPr>
        <p:sp>
          <p:nvSpPr>
            <p:cNvPr id="51" name="Rectangle 51"/>
            <p:cNvSpPr/>
            <p:nvPr/>
          </p:nvSpPr>
          <p:spPr>
            <a:xfrm>
              <a:off x="6898005" y="3382328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102793" y="3647123"/>
              <a:ext cx="200026" cy="200025"/>
              <a:chOff x="7102793" y="3647123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102793" y="364712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142531" y="369157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177247" y="380269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7405497" y="3529012"/>
              <a:ext cx="38027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读图：箭头指向资源，表示进程“在等”；箭头从资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源实例指向进程，表示进程“占着”。</a:t>
              </a:r>
            </a:p>
          </p:txBody>
        </p:sp>
      </p:grpSp>
      <p:grpSp>
        <p:nvGrpSpPr>
          <p:cNvPr id="64" name="c2-card-3"/>
          <p:cNvGrpSpPr/>
          <p:nvPr/>
        </p:nvGrpSpPr>
        <p:grpSpPr>
          <a:xfrm>
            <a:off x="6898005" y="4281488"/>
            <a:ext cx="4760595" cy="1446848"/>
            <a:chOff x="6898005" y="4281488"/>
            <a:chExt cx="4760595" cy="1446848"/>
          </a:xfrm>
        </p:grpSpPr>
        <p:sp>
          <p:nvSpPr>
            <p:cNvPr id="58" name="Rectangle 58"/>
            <p:cNvSpPr/>
            <p:nvPr/>
          </p:nvSpPr>
          <p:spPr>
            <a:xfrm>
              <a:off x="6898005" y="4281488"/>
              <a:ext cx="4760595" cy="1446848"/>
            </a:xfrm>
            <a:prstGeom prst="roundRect">
              <a:avLst>
                <a:gd name="adj" fmla="val 92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907530" y="4414838"/>
              <a:ext cx="47625" cy="118014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122795" y="4468178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196163" y="450103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单实例时的简化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115937" y="4812982"/>
              <a:ext cx="39827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每类资源都只有 1 个实例时，可以去掉资源节点，把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pi → rj → pk 直接画成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pi → pk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，得到进程等待图。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17080" y="5366861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这张图有环就是死锁，不必再做约简。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84468" cy="909257"/>
            <a:chOff x="520446" y="342900"/>
            <a:chExt cx="78844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资源分配图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844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 无环路不死锁；加一条申请边后出现环路并死锁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sets"/>
          <p:cNvGrpSpPr/>
          <p:nvPr/>
        </p:nvGrpSpPr>
        <p:grpSpPr>
          <a:xfrm>
            <a:off x="526923" y="1593056"/>
            <a:ext cx="10980801" cy="255175"/>
            <a:chOff x="526923" y="1593056"/>
            <a:chExt cx="10980801" cy="255175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93056"/>
              <a:ext cx="57760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{p1, p2, p3}，R = {r1(1), r2(2), r3(1), r4(3)}，括号内为实例数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667500" y="1685925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6972300" y="1634490"/>
              <a:ext cx="114300" cy="102870"/>
            </a:xfrm>
            <a:custGeom>
              <a:avLst/>
              <a:gdLst/>
              <a:ahLst/>
              <a:cxnLst/>
              <a:rect l="l" t="t" r="r" b="b"/>
              <a:pathLst>
                <a:path w="114300" h="102870">
                  <a:moveTo>
                    <a:pt x="114300" y="51435"/>
                  </a:moveTo>
                  <a:lnTo>
                    <a:pt x="0" y="1028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75754" y="161353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申请边：进程指向资源类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048750" y="1685925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9353550" y="1634490"/>
              <a:ext cx="114300" cy="102870"/>
            </a:xfrm>
            <a:custGeom>
              <a:avLst/>
              <a:gdLst/>
              <a:ahLst/>
              <a:cxnLst/>
              <a:rect l="l" t="t" r="r" b="b"/>
              <a:pathLst>
                <a:path w="114300" h="102870">
                  <a:moveTo>
                    <a:pt x="114300" y="51435"/>
                  </a:moveTo>
                  <a:lnTo>
                    <a:pt x="0" y="1028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57004" y="161353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分配边：资源实例指向进程</a:t>
              </a:r>
            </a:p>
          </p:txBody>
        </p:sp>
      </p:grpSp>
      <p:grpSp>
        <p:nvGrpSpPr>
          <p:cNvPr id="52" name="ex1-graph"/>
          <p:cNvGrpSpPr/>
          <p:nvPr/>
        </p:nvGrpSpPr>
        <p:grpSpPr>
          <a:xfrm>
            <a:off x="533400" y="1962150"/>
            <a:ext cx="5448300" cy="3067050"/>
            <a:chOff x="533400" y="1962150"/>
            <a:chExt cx="5448300" cy="3067050"/>
          </a:xfrm>
        </p:grpSpPr>
        <p:sp>
          <p:nvSpPr>
            <p:cNvPr id="15" name="Rectangle 15"/>
            <p:cNvSpPr/>
            <p:nvPr/>
          </p:nvSpPr>
          <p:spPr>
            <a:xfrm>
              <a:off x="533400" y="1962150"/>
              <a:ext cx="5448300" cy="3067050"/>
            </a:xfrm>
            <a:prstGeom prst="roundRect">
              <a:avLst>
                <a:gd name="adj" fmla="val 434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7042" y="2117408"/>
              <a:ext cx="1027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例1：无环路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509712" y="3178492"/>
              <a:ext cx="487680" cy="371475"/>
            </a:xfrm>
            <a:custGeom>
              <a:avLst/>
              <a:gdLst/>
              <a:ahLst/>
              <a:cxnLst/>
              <a:rect l="l" t="t" r="r" b="b"/>
              <a:pathLst>
                <a:path w="487680" h="371475">
                  <a:moveTo>
                    <a:pt x="0" y="371475"/>
                  </a:moveTo>
                  <a:lnTo>
                    <a:pt x="487680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1958340" y="3114675"/>
              <a:ext cx="121920" cy="110490"/>
            </a:xfrm>
            <a:custGeom>
              <a:avLst/>
              <a:gdLst/>
              <a:ahLst/>
              <a:cxnLst/>
              <a:rect l="l" t="t" r="r" b="b"/>
              <a:pathLst>
                <a:path w="121920" h="110490">
                  <a:moveTo>
                    <a:pt x="121920" y="0"/>
                  </a:moveTo>
                  <a:lnTo>
                    <a:pt x="62865" y="110490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3509962" y="3178492"/>
              <a:ext cx="487680" cy="371475"/>
            </a:xfrm>
            <a:custGeom>
              <a:avLst/>
              <a:gdLst/>
              <a:ahLst/>
              <a:cxnLst/>
              <a:rect l="l" t="t" r="r" b="b"/>
              <a:pathLst>
                <a:path w="487680" h="371475">
                  <a:moveTo>
                    <a:pt x="0" y="371475"/>
                  </a:moveTo>
                  <a:lnTo>
                    <a:pt x="487680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958590" y="3114675"/>
              <a:ext cx="121920" cy="110490"/>
            </a:xfrm>
            <a:custGeom>
              <a:avLst/>
              <a:gdLst/>
              <a:ahLst/>
              <a:cxnLst/>
              <a:rect l="l" t="t" r="r" b="b"/>
              <a:pathLst>
                <a:path w="121920" h="110490">
                  <a:moveTo>
                    <a:pt x="121920" y="0"/>
                  </a:moveTo>
                  <a:lnTo>
                    <a:pt x="62865" y="110490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2396490" y="2954655"/>
              <a:ext cx="697230" cy="531495"/>
            </a:xfrm>
            <a:custGeom>
              <a:avLst/>
              <a:gdLst/>
              <a:ahLst/>
              <a:cxnLst/>
              <a:rect l="l" t="t" r="r" b="b"/>
              <a:pathLst>
                <a:path w="697230" h="531495">
                  <a:moveTo>
                    <a:pt x="0" y="0"/>
                  </a:moveTo>
                  <a:lnTo>
                    <a:pt x="697230" y="531495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3054668" y="3439478"/>
              <a:ext cx="121920" cy="110490"/>
            </a:xfrm>
            <a:custGeom>
              <a:avLst/>
              <a:gdLst/>
              <a:ahLst/>
              <a:cxnLst/>
              <a:rect l="l" t="t" r="r" b="b"/>
              <a:pathLst>
                <a:path w="121920" h="110490">
                  <a:moveTo>
                    <a:pt x="121920" y="110490"/>
                  </a:moveTo>
                  <a:lnTo>
                    <a:pt x="0" y="81915"/>
                  </a:lnTo>
                  <a:lnTo>
                    <a:pt x="6191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4396740" y="2954655"/>
              <a:ext cx="697230" cy="531495"/>
            </a:xfrm>
            <a:custGeom>
              <a:avLst/>
              <a:gdLst/>
              <a:ahLst/>
              <a:cxnLst/>
              <a:rect l="l" t="t" r="r" b="b"/>
              <a:pathLst>
                <a:path w="697230" h="531495">
                  <a:moveTo>
                    <a:pt x="0" y="0"/>
                  </a:moveTo>
                  <a:lnTo>
                    <a:pt x="697230" y="531495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5054918" y="3439478"/>
              <a:ext cx="121920" cy="110490"/>
            </a:xfrm>
            <a:custGeom>
              <a:avLst/>
              <a:gdLst/>
              <a:ahLst/>
              <a:cxnLst/>
              <a:rect l="l" t="t" r="r" b="b"/>
              <a:pathLst>
                <a:path w="121920" h="110490">
                  <a:moveTo>
                    <a:pt x="121920" y="110490"/>
                  </a:moveTo>
                  <a:lnTo>
                    <a:pt x="0" y="81915"/>
                  </a:lnTo>
                  <a:lnTo>
                    <a:pt x="6191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1580198" y="3883342"/>
              <a:ext cx="607695" cy="530542"/>
            </a:xfrm>
            <a:custGeom>
              <a:avLst/>
              <a:gdLst/>
              <a:ahLst/>
              <a:cxnLst/>
              <a:rect l="l" t="t" r="r" b="b"/>
              <a:pathLst>
                <a:path w="607695" h="530542">
                  <a:moveTo>
                    <a:pt x="607695" y="530542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1501140" y="3814762"/>
              <a:ext cx="120015" cy="113347"/>
            </a:xfrm>
            <a:custGeom>
              <a:avLst/>
              <a:gdLst/>
              <a:ahLst/>
              <a:cxnLst/>
              <a:rect l="l" t="t" r="r" b="b"/>
              <a:pathLst>
                <a:path w="120015" h="113347">
                  <a:moveTo>
                    <a:pt x="0" y="0"/>
                  </a:moveTo>
                  <a:lnTo>
                    <a:pt x="120015" y="36195"/>
                  </a:lnTo>
                  <a:lnTo>
                    <a:pt x="52388" y="11334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2498408" y="3883342"/>
              <a:ext cx="607695" cy="530542"/>
            </a:xfrm>
            <a:custGeom>
              <a:avLst/>
              <a:gdLst/>
              <a:ahLst/>
              <a:cxnLst/>
              <a:rect l="l" t="t" r="r" b="b"/>
              <a:pathLst>
                <a:path w="607695" h="530542">
                  <a:moveTo>
                    <a:pt x="0" y="530542"/>
                  </a:moveTo>
                  <a:lnTo>
                    <a:pt x="607695" y="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3065145" y="3814762"/>
              <a:ext cx="120015" cy="113347"/>
            </a:xfrm>
            <a:custGeom>
              <a:avLst/>
              <a:gdLst/>
              <a:ahLst/>
              <a:cxnLst/>
              <a:rect l="l" t="t" r="r" b="b"/>
              <a:pathLst>
                <a:path w="120015" h="113347">
                  <a:moveTo>
                    <a:pt x="120015" y="0"/>
                  </a:moveTo>
                  <a:lnTo>
                    <a:pt x="67627" y="113347"/>
                  </a:lnTo>
                  <a:lnTo>
                    <a:pt x="0" y="361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4600575" y="3897630"/>
              <a:ext cx="519112" cy="513398"/>
            </a:xfrm>
            <a:custGeom>
              <a:avLst/>
              <a:gdLst/>
              <a:ahLst/>
              <a:cxnLst/>
              <a:rect l="l" t="t" r="r" b="b"/>
              <a:pathLst>
                <a:path w="519112" h="513398">
                  <a:moveTo>
                    <a:pt x="0" y="513398"/>
                  </a:moveTo>
                  <a:lnTo>
                    <a:pt x="519112" y="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5076825" y="3824288"/>
              <a:ext cx="117157" cy="116205"/>
            </a:xfrm>
            <a:custGeom>
              <a:avLst/>
              <a:gdLst/>
              <a:ahLst/>
              <a:cxnLst/>
              <a:rect l="l" t="t" r="r" b="b"/>
              <a:pathLst>
                <a:path w="117157" h="116205">
                  <a:moveTo>
                    <a:pt x="117157" y="0"/>
                  </a:moveTo>
                  <a:lnTo>
                    <a:pt x="72390" y="116205"/>
                  </a:lnTo>
                  <a:lnTo>
                    <a:pt x="0" y="4381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066925" y="2724150"/>
              <a:ext cx="552450" cy="381000"/>
            </a:xfrm>
            <a:prstGeom prst="roundRect">
              <a:avLst>
                <a:gd name="adj" fmla="val 15000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2281238" y="2852738"/>
              <a:ext cx="123825" cy="123825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0B5F67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237162" y="250078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067175" y="2724150"/>
              <a:ext cx="552450" cy="381000"/>
            </a:xfrm>
            <a:prstGeom prst="roundRect">
              <a:avLst>
                <a:gd name="adj" fmla="val 15000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4281488" y="2852738"/>
              <a:ext cx="123825" cy="123825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0B5F67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237412" y="250078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r3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057400" y="4267200"/>
              <a:ext cx="571500" cy="381000"/>
            </a:xfrm>
            <a:prstGeom prst="roundRect">
              <a:avLst>
                <a:gd name="adj" fmla="val 15000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2176462" y="4395788"/>
              <a:ext cx="123825" cy="123825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0B5F67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2386012" y="4395788"/>
              <a:ext cx="123825" cy="123825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0B5F67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237162" y="472011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952875" y="4267200"/>
              <a:ext cx="781050" cy="381000"/>
            </a:xfrm>
            <a:prstGeom prst="roundRect">
              <a:avLst>
                <a:gd name="adj" fmla="val 15000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4071938" y="4395788"/>
              <a:ext cx="123825" cy="123825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0B5F67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4281488" y="4395788"/>
              <a:ext cx="123825" cy="123825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0B5F67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4491038" y="4395788"/>
              <a:ext cx="123825" cy="123825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0B5F67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237412" y="472011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r4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1152525" y="3486150"/>
              <a:ext cx="381000" cy="3810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243637" y="36042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3152775" y="3486150"/>
              <a:ext cx="381000" cy="3810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243887" y="36042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153025" y="3486150"/>
              <a:ext cx="381000" cy="3810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44137" y="36042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</p:grpSp>
      <p:grpSp>
        <p:nvGrpSpPr>
          <p:cNvPr id="92" name="ex2-graph"/>
          <p:cNvGrpSpPr/>
          <p:nvPr/>
        </p:nvGrpSpPr>
        <p:grpSpPr>
          <a:xfrm>
            <a:off x="6210300" y="1962150"/>
            <a:ext cx="5448300" cy="3067050"/>
            <a:chOff x="6210300" y="1962150"/>
            <a:chExt cx="5448300" cy="3067050"/>
          </a:xfrm>
        </p:grpSpPr>
        <p:sp>
          <p:nvSpPr>
            <p:cNvPr id="53" name="Rectangle 53"/>
            <p:cNvSpPr/>
            <p:nvPr/>
          </p:nvSpPr>
          <p:spPr>
            <a:xfrm>
              <a:off x="6210300" y="1962150"/>
              <a:ext cx="5448300" cy="3067050"/>
            </a:xfrm>
            <a:prstGeom prst="roundRect">
              <a:avLst>
                <a:gd name="adj" fmla="val 434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93942" y="2117408"/>
              <a:ext cx="28901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例2：在例1上增加申请边 (p3, r2)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7186612" y="3178492"/>
              <a:ext cx="487680" cy="371475"/>
            </a:xfrm>
            <a:custGeom>
              <a:avLst/>
              <a:gdLst/>
              <a:ahLst/>
              <a:cxnLst/>
              <a:rect l="l" t="t" r="r" b="b"/>
              <a:pathLst>
                <a:path w="487680" h="371475">
                  <a:moveTo>
                    <a:pt x="0" y="371475"/>
                  </a:moveTo>
                  <a:lnTo>
                    <a:pt x="487680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56" name="Polygon 56"/>
            <p:cNvSpPr/>
            <p:nvPr/>
          </p:nvSpPr>
          <p:spPr>
            <a:xfrm>
              <a:off x="7635240" y="3114675"/>
              <a:ext cx="121920" cy="110490"/>
            </a:xfrm>
            <a:custGeom>
              <a:avLst/>
              <a:gdLst/>
              <a:ahLst/>
              <a:cxnLst/>
              <a:rect l="l" t="t" r="r" b="b"/>
              <a:pathLst>
                <a:path w="121920" h="110490">
                  <a:moveTo>
                    <a:pt x="121920" y="0"/>
                  </a:moveTo>
                  <a:lnTo>
                    <a:pt x="62865" y="110490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7" name="Line 57"/>
            <p:cNvSpPr/>
            <p:nvPr/>
          </p:nvSpPr>
          <p:spPr>
            <a:xfrm>
              <a:off x="9186862" y="3178492"/>
              <a:ext cx="487680" cy="371475"/>
            </a:xfrm>
            <a:custGeom>
              <a:avLst/>
              <a:gdLst/>
              <a:ahLst/>
              <a:cxnLst/>
              <a:rect l="l" t="t" r="r" b="b"/>
              <a:pathLst>
                <a:path w="487680" h="371475">
                  <a:moveTo>
                    <a:pt x="0" y="371475"/>
                  </a:moveTo>
                  <a:lnTo>
                    <a:pt x="487680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58" name="Polygon 58"/>
            <p:cNvSpPr/>
            <p:nvPr/>
          </p:nvSpPr>
          <p:spPr>
            <a:xfrm>
              <a:off x="9635490" y="3114675"/>
              <a:ext cx="121920" cy="110490"/>
            </a:xfrm>
            <a:custGeom>
              <a:avLst/>
              <a:gdLst/>
              <a:ahLst/>
              <a:cxnLst/>
              <a:rect l="l" t="t" r="r" b="b"/>
              <a:pathLst>
                <a:path w="121920" h="110490">
                  <a:moveTo>
                    <a:pt x="121920" y="0"/>
                  </a:moveTo>
                  <a:lnTo>
                    <a:pt x="62865" y="110490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9" name="Line 59"/>
            <p:cNvSpPr/>
            <p:nvPr/>
          </p:nvSpPr>
          <p:spPr>
            <a:xfrm>
              <a:off x="8073390" y="2954655"/>
              <a:ext cx="697230" cy="531495"/>
            </a:xfrm>
            <a:custGeom>
              <a:avLst/>
              <a:gdLst/>
              <a:ahLst/>
              <a:cxnLst/>
              <a:rect l="l" t="t" r="r" b="b"/>
              <a:pathLst>
                <a:path w="697230" h="531495">
                  <a:moveTo>
                    <a:pt x="0" y="0"/>
                  </a:moveTo>
                  <a:lnTo>
                    <a:pt x="697230" y="531495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60" name="Polygon 60"/>
            <p:cNvSpPr/>
            <p:nvPr/>
          </p:nvSpPr>
          <p:spPr>
            <a:xfrm>
              <a:off x="8731568" y="3439478"/>
              <a:ext cx="121920" cy="110490"/>
            </a:xfrm>
            <a:custGeom>
              <a:avLst/>
              <a:gdLst/>
              <a:ahLst/>
              <a:cxnLst/>
              <a:rect l="l" t="t" r="r" b="b"/>
              <a:pathLst>
                <a:path w="121920" h="110490">
                  <a:moveTo>
                    <a:pt x="121920" y="110490"/>
                  </a:moveTo>
                  <a:lnTo>
                    <a:pt x="0" y="81915"/>
                  </a:lnTo>
                  <a:lnTo>
                    <a:pt x="6191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1" name="Line 61"/>
            <p:cNvSpPr/>
            <p:nvPr/>
          </p:nvSpPr>
          <p:spPr>
            <a:xfrm>
              <a:off x="10073640" y="2954655"/>
              <a:ext cx="697230" cy="531495"/>
            </a:xfrm>
            <a:custGeom>
              <a:avLst/>
              <a:gdLst/>
              <a:ahLst/>
              <a:cxnLst/>
              <a:rect l="l" t="t" r="r" b="b"/>
              <a:pathLst>
                <a:path w="697230" h="531495">
                  <a:moveTo>
                    <a:pt x="0" y="0"/>
                  </a:moveTo>
                  <a:lnTo>
                    <a:pt x="697230" y="531495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62" name="Polygon 62"/>
            <p:cNvSpPr/>
            <p:nvPr/>
          </p:nvSpPr>
          <p:spPr>
            <a:xfrm>
              <a:off x="10731818" y="3439478"/>
              <a:ext cx="121920" cy="110490"/>
            </a:xfrm>
            <a:custGeom>
              <a:avLst/>
              <a:gdLst/>
              <a:ahLst/>
              <a:cxnLst/>
              <a:rect l="l" t="t" r="r" b="b"/>
              <a:pathLst>
                <a:path w="121920" h="110490">
                  <a:moveTo>
                    <a:pt x="121920" y="110490"/>
                  </a:moveTo>
                  <a:lnTo>
                    <a:pt x="0" y="81915"/>
                  </a:lnTo>
                  <a:lnTo>
                    <a:pt x="6191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3" name="Line 63"/>
            <p:cNvSpPr/>
            <p:nvPr/>
          </p:nvSpPr>
          <p:spPr>
            <a:xfrm>
              <a:off x="7257098" y="3883342"/>
              <a:ext cx="607695" cy="530542"/>
            </a:xfrm>
            <a:custGeom>
              <a:avLst/>
              <a:gdLst/>
              <a:ahLst/>
              <a:cxnLst/>
              <a:rect l="l" t="t" r="r" b="b"/>
              <a:pathLst>
                <a:path w="607695" h="530542">
                  <a:moveTo>
                    <a:pt x="607695" y="530542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64" name="Polygon 64"/>
            <p:cNvSpPr/>
            <p:nvPr/>
          </p:nvSpPr>
          <p:spPr>
            <a:xfrm>
              <a:off x="7178040" y="3814762"/>
              <a:ext cx="120015" cy="113347"/>
            </a:xfrm>
            <a:custGeom>
              <a:avLst/>
              <a:gdLst/>
              <a:ahLst/>
              <a:cxnLst/>
              <a:rect l="l" t="t" r="r" b="b"/>
              <a:pathLst>
                <a:path w="120015" h="113347">
                  <a:moveTo>
                    <a:pt x="0" y="0"/>
                  </a:moveTo>
                  <a:lnTo>
                    <a:pt x="120015" y="36195"/>
                  </a:lnTo>
                  <a:lnTo>
                    <a:pt x="52388" y="11334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5" name="Line 65"/>
            <p:cNvSpPr/>
            <p:nvPr/>
          </p:nvSpPr>
          <p:spPr>
            <a:xfrm>
              <a:off x="8175308" y="3883342"/>
              <a:ext cx="607695" cy="530542"/>
            </a:xfrm>
            <a:custGeom>
              <a:avLst/>
              <a:gdLst/>
              <a:ahLst/>
              <a:cxnLst/>
              <a:rect l="l" t="t" r="r" b="b"/>
              <a:pathLst>
                <a:path w="607695" h="530542">
                  <a:moveTo>
                    <a:pt x="0" y="530542"/>
                  </a:moveTo>
                  <a:lnTo>
                    <a:pt x="607695" y="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66" name="Polygon 66"/>
            <p:cNvSpPr/>
            <p:nvPr/>
          </p:nvSpPr>
          <p:spPr>
            <a:xfrm>
              <a:off x="8742045" y="3814762"/>
              <a:ext cx="120015" cy="113347"/>
            </a:xfrm>
            <a:custGeom>
              <a:avLst/>
              <a:gdLst/>
              <a:ahLst/>
              <a:cxnLst/>
              <a:rect l="l" t="t" r="r" b="b"/>
              <a:pathLst>
                <a:path w="120015" h="113347">
                  <a:moveTo>
                    <a:pt x="120015" y="0"/>
                  </a:moveTo>
                  <a:lnTo>
                    <a:pt x="67628" y="113347"/>
                  </a:lnTo>
                  <a:lnTo>
                    <a:pt x="0" y="361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7" name="Line 67"/>
            <p:cNvSpPr/>
            <p:nvPr/>
          </p:nvSpPr>
          <p:spPr>
            <a:xfrm>
              <a:off x="10277475" y="3897630"/>
              <a:ext cx="519112" cy="513398"/>
            </a:xfrm>
            <a:custGeom>
              <a:avLst/>
              <a:gdLst/>
              <a:ahLst/>
              <a:cxnLst/>
              <a:rect l="l" t="t" r="r" b="b"/>
              <a:pathLst>
                <a:path w="519112" h="513398">
                  <a:moveTo>
                    <a:pt x="0" y="513398"/>
                  </a:moveTo>
                  <a:lnTo>
                    <a:pt x="519112" y="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68" name="Polygon 68"/>
            <p:cNvSpPr/>
            <p:nvPr/>
          </p:nvSpPr>
          <p:spPr>
            <a:xfrm>
              <a:off x="10753725" y="3824288"/>
              <a:ext cx="117157" cy="116205"/>
            </a:xfrm>
            <a:custGeom>
              <a:avLst/>
              <a:gdLst/>
              <a:ahLst/>
              <a:cxnLst/>
              <a:rect l="l" t="t" r="r" b="b"/>
              <a:pathLst>
                <a:path w="117157" h="116205">
                  <a:moveTo>
                    <a:pt x="117157" y="0"/>
                  </a:moveTo>
                  <a:lnTo>
                    <a:pt x="72390" y="116205"/>
                  </a:lnTo>
                  <a:lnTo>
                    <a:pt x="0" y="4381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9" name="Freeform 69"/>
            <p:cNvSpPr/>
            <p:nvPr/>
          </p:nvSpPr>
          <p:spPr>
            <a:xfrm>
              <a:off x="8416290" y="3729038"/>
              <a:ext cx="2401252" cy="623888"/>
            </a:xfrm>
            <a:custGeom>
              <a:avLst/>
              <a:gdLst/>
              <a:ahLst/>
              <a:cxnLst/>
              <a:rect l="l" t="t" r="r" b="b"/>
              <a:pathLst>
                <a:path w="2401252" h="623888">
                  <a:moveTo>
                    <a:pt x="2401252" y="0"/>
                  </a:moveTo>
                  <a:lnTo>
                    <a:pt x="937260" y="376238"/>
                  </a:lnTo>
                  <a:lnTo>
                    <a:pt x="0" y="623888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70" name="Polygon 70"/>
            <p:cNvSpPr/>
            <p:nvPr/>
          </p:nvSpPr>
          <p:spPr>
            <a:xfrm>
              <a:off x="8315325" y="4300538"/>
              <a:ext cx="123825" cy="100012"/>
            </a:xfrm>
            <a:custGeom>
              <a:avLst/>
              <a:gdLst/>
              <a:ahLst/>
              <a:cxnLst/>
              <a:rect l="l" t="t" r="r" b="b"/>
              <a:pathLst>
                <a:path w="123825" h="100012">
                  <a:moveTo>
                    <a:pt x="0" y="79058"/>
                  </a:moveTo>
                  <a:lnTo>
                    <a:pt x="97155" y="0"/>
                  </a:lnTo>
                  <a:lnTo>
                    <a:pt x="123825" y="100012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7743825" y="2724150"/>
              <a:ext cx="552450" cy="381000"/>
            </a:xfrm>
            <a:prstGeom prst="roundRect">
              <a:avLst>
                <a:gd name="adj" fmla="val 15000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7958138" y="2852738"/>
              <a:ext cx="123825" cy="123825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0B5F67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914062" y="250078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9744075" y="2724150"/>
              <a:ext cx="552450" cy="381000"/>
            </a:xfrm>
            <a:prstGeom prst="roundRect">
              <a:avLst>
                <a:gd name="adj" fmla="val 15000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9958388" y="2852738"/>
              <a:ext cx="123825" cy="123825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0B5F67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914312" y="250078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r3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7734300" y="4267200"/>
              <a:ext cx="571500" cy="381000"/>
            </a:xfrm>
            <a:prstGeom prst="roundRect">
              <a:avLst>
                <a:gd name="adj" fmla="val 15000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7853362" y="4395788"/>
              <a:ext cx="123825" cy="123825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0B5F67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8062912" y="4395788"/>
              <a:ext cx="123825" cy="123825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0B5F67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914062" y="472011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9629775" y="4267200"/>
              <a:ext cx="781050" cy="381000"/>
            </a:xfrm>
            <a:prstGeom prst="roundRect">
              <a:avLst>
                <a:gd name="adj" fmla="val 15000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9748838" y="4395788"/>
              <a:ext cx="123825" cy="123825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0B5F67"/>
              </a:solidFill>
            </a:ln>
          </p:spPr>
        </p:sp>
        <p:sp>
          <p:nvSpPr>
            <p:cNvPr id="83" name="Ellipse 83"/>
            <p:cNvSpPr/>
            <p:nvPr/>
          </p:nvSpPr>
          <p:spPr>
            <a:xfrm>
              <a:off x="9958388" y="4395788"/>
              <a:ext cx="123825" cy="123825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0B5F67"/>
              </a:solidFill>
            </a:ln>
          </p:spPr>
        </p:sp>
        <p:sp>
          <p:nvSpPr>
            <p:cNvPr id="84" name="Ellipse 84"/>
            <p:cNvSpPr/>
            <p:nvPr/>
          </p:nvSpPr>
          <p:spPr>
            <a:xfrm>
              <a:off x="10167938" y="4395788"/>
              <a:ext cx="123825" cy="123825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0B5F67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9914312" y="472011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r4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6829425" y="3486150"/>
              <a:ext cx="381000" cy="3810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920537" y="36042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8829675" y="3486150"/>
              <a:ext cx="381000" cy="3810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8920787" y="36042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10829925" y="3486150"/>
              <a:ext cx="381000" cy="3810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10921037" y="36042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</p:grpSp>
      <p:grpSp>
        <p:nvGrpSpPr>
          <p:cNvPr id="98" name="ex1-note"/>
          <p:cNvGrpSpPr/>
          <p:nvPr/>
        </p:nvGrpSpPr>
        <p:grpSpPr>
          <a:xfrm>
            <a:off x="533400" y="5143500"/>
            <a:ext cx="5448300" cy="1219200"/>
            <a:chOff x="533400" y="5143500"/>
            <a:chExt cx="5448300" cy="1219200"/>
          </a:xfrm>
        </p:grpSpPr>
        <p:sp>
          <p:nvSpPr>
            <p:cNvPr id="93" name="Rectangle 93"/>
            <p:cNvSpPr/>
            <p:nvPr/>
          </p:nvSpPr>
          <p:spPr>
            <a:xfrm>
              <a:off x="533400" y="5143500"/>
              <a:ext cx="5448300" cy="1219200"/>
            </a:xfrm>
            <a:prstGeom prst="roundRect">
              <a:avLst>
                <a:gd name="adj" fmla="val 109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542925" y="5276850"/>
              <a:ext cx="47625" cy="9525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762000" y="52768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48258" y="533638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无死锁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56285" y="5628799"/>
              <a:ext cx="4136390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 没有申请边，先运行完并释放 r3、r4；p2 拿到 r3 后运行完，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 r1 和 r2 的一个实例；p1 再拿到 r1。三个进程都能完成。</a:t>
              </a:r>
            </a:p>
          </p:txBody>
        </p:sp>
      </p:grpSp>
      <p:grpSp>
        <p:nvGrpSpPr>
          <p:cNvPr id="104" name="ex2-note"/>
          <p:cNvGrpSpPr/>
          <p:nvPr/>
        </p:nvGrpSpPr>
        <p:grpSpPr>
          <a:xfrm>
            <a:off x="6210300" y="5143500"/>
            <a:ext cx="5448300" cy="1219200"/>
            <a:chOff x="6210300" y="5143500"/>
            <a:chExt cx="5448300" cy="1219200"/>
          </a:xfrm>
        </p:grpSpPr>
        <p:sp>
          <p:nvSpPr>
            <p:cNvPr id="99" name="Rectangle 99"/>
            <p:cNvSpPr/>
            <p:nvPr/>
          </p:nvSpPr>
          <p:spPr>
            <a:xfrm>
              <a:off x="6210300" y="5143500"/>
              <a:ext cx="5448300" cy="1219200"/>
            </a:xfrm>
            <a:prstGeom prst="roundRect">
              <a:avLst>
                <a:gd name="adj" fmla="val 109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6219825" y="5276850"/>
              <a:ext cx="47625" cy="9525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6438900" y="52768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529108" y="53363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死锁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433185" y="5628799"/>
              <a:ext cx="4179062" cy="6486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出现环 p1→r1→p2→r3→p3→r2→p1 和 p2→r3→p3→r2→p2。r2 的两个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实例被 p1、p2 占着：p1 等 p2，p2 等 p3，p3 等 p1、p2，谁也无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法先完成。</a:t>
              </a:r>
            </a:p>
          </p:txBody>
        </p:sp>
      </p:grpSp>
      <p:grpSp>
        <p:nvGrpSpPr>
          <p:cNvPr id="10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5" name="TextBox 10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54625" cy="909257"/>
            <a:chOff x="520446" y="342900"/>
            <a:chExt cx="68546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资源分配图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546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 有环路却不死锁：环上的资源有多个实例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sets"/>
          <p:cNvGrpSpPr/>
          <p:nvPr/>
        </p:nvGrpSpPr>
        <p:grpSpPr>
          <a:xfrm>
            <a:off x="526923" y="1593056"/>
            <a:ext cx="10980801" cy="255175"/>
            <a:chOff x="526923" y="1593056"/>
            <a:chExt cx="10980801" cy="255175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93056"/>
              <a:ext cx="28819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例3：r1 有 2 个实例，r2 有 1 个实例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667500" y="1685925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6972300" y="1634490"/>
              <a:ext cx="114300" cy="102870"/>
            </a:xfrm>
            <a:custGeom>
              <a:avLst/>
              <a:gdLst/>
              <a:ahLst/>
              <a:cxnLst/>
              <a:rect l="l" t="t" r="r" b="b"/>
              <a:pathLst>
                <a:path w="114300" h="102870">
                  <a:moveTo>
                    <a:pt x="114300" y="51435"/>
                  </a:moveTo>
                  <a:lnTo>
                    <a:pt x="0" y="1028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75754" y="161353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申请边：进程指向资源类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048750" y="1685925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9353550" y="1634490"/>
              <a:ext cx="114300" cy="102870"/>
            </a:xfrm>
            <a:custGeom>
              <a:avLst/>
              <a:gdLst/>
              <a:ahLst/>
              <a:cxnLst/>
              <a:rect l="l" t="t" r="r" b="b"/>
              <a:pathLst>
                <a:path w="114300" h="102870">
                  <a:moveTo>
                    <a:pt x="114300" y="51435"/>
                  </a:moveTo>
                  <a:lnTo>
                    <a:pt x="0" y="1028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57004" y="161353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分配边：资源实例指向进程</a:t>
              </a:r>
            </a:p>
          </p:txBody>
        </p:sp>
      </p:grpSp>
      <p:grpSp>
        <p:nvGrpSpPr>
          <p:cNvPr id="42" name="ex3-before"/>
          <p:cNvGrpSpPr/>
          <p:nvPr/>
        </p:nvGrpSpPr>
        <p:grpSpPr>
          <a:xfrm>
            <a:off x="533400" y="1962150"/>
            <a:ext cx="5448300" cy="3067050"/>
            <a:chOff x="533400" y="1962150"/>
            <a:chExt cx="5448300" cy="3067050"/>
          </a:xfrm>
        </p:grpSpPr>
        <p:sp>
          <p:nvSpPr>
            <p:cNvPr id="15" name="Rectangle 15"/>
            <p:cNvSpPr/>
            <p:nvPr/>
          </p:nvSpPr>
          <p:spPr>
            <a:xfrm>
              <a:off x="533400" y="1962150"/>
              <a:ext cx="5448300" cy="3067050"/>
            </a:xfrm>
            <a:prstGeom prst="roundRect">
              <a:avLst>
                <a:gd name="adj" fmla="val 434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7042" y="2117408"/>
              <a:ext cx="2630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初始：有环路 p1→r1→p3→r2→p1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2080260" y="2908935"/>
              <a:ext cx="1036320" cy="628650"/>
            </a:xfrm>
            <a:custGeom>
              <a:avLst/>
              <a:gdLst/>
              <a:ahLst/>
              <a:cxnLst/>
              <a:rect l="l" t="t" r="r" b="b"/>
              <a:pathLst>
                <a:path w="1036320" h="628650">
                  <a:moveTo>
                    <a:pt x="1036320" y="0"/>
                  </a:moveTo>
                  <a:lnTo>
                    <a:pt x="0" y="62865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1990725" y="3488055"/>
              <a:ext cx="124777" cy="103823"/>
            </a:xfrm>
            <a:custGeom>
              <a:avLst/>
              <a:gdLst/>
              <a:ahLst/>
              <a:cxnLst/>
              <a:rect l="l" t="t" r="r" b="b"/>
              <a:pathLst>
                <a:path w="124777" h="103823">
                  <a:moveTo>
                    <a:pt x="0" y="103823"/>
                  </a:moveTo>
                  <a:lnTo>
                    <a:pt x="71438" y="0"/>
                  </a:lnTo>
                  <a:lnTo>
                    <a:pt x="124777" y="88583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1837372" y="3452812"/>
              <a:ext cx="1146810" cy="157162"/>
            </a:xfrm>
            <a:custGeom>
              <a:avLst/>
              <a:gdLst/>
              <a:ahLst/>
              <a:cxnLst/>
              <a:rect l="l" t="t" r="r" b="b"/>
              <a:pathLst>
                <a:path w="1146810" h="157162">
                  <a:moveTo>
                    <a:pt x="0" y="157162"/>
                  </a:moveTo>
                  <a:lnTo>
                    <a:pt x="1146810" y="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2967990" y="3403282"/>
              <a:ext cx="120015" cy="101917"/>
            </a:xfrm>
            <a:custGeom>
              <a:avLst/>
              <a:gdLst/>
              <a:ahLst/>
              <a:cxnLst/>
              <a:rect l="l" t="t" r="r" b="b"/>
              <a:pathLst>
                <a:path w="120015" h="101917">
                  <a:moveTo>
                    <a:pt x="120015" y="35242"/>
                  </a:moveTo>
                  <a:lnTo>
                    <a:pt x="14288" y="1019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1837372" y="3838575"/>
              <a:ext cx="1146810" cy="157162"/>
            </a:xfrm>
            <a:custGeom>
              <a:avLst/>
              <a:gdLst/>
              <a:ahLst/>
              <a:cxnLst/>
              <a:rect l="l" t="t" r="r" b="b"/>
              <a:pathLst>
                <a:path w="1146810" h="157162">
                  <a:moveTo>
                    <a:pt x="0" y="0"/>
                  </a:moveTo>
                  <a:lnTo>
                    <a:pt x="1146810" y="157162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2967990" y="3943350"/>
              <a:ext cx="120015" cy="101917"/>
            </a:xfrm>
            <a:custGeom>
              <a:avLst/>
              <a:gdLst/>
              <a:ahLst/>
              <a:cxnLst/>
              <a:rect l="l" t="t" r="r" b="b"/>
              <a:pathLst>
                <a:path w="120015" h="101917">
                  <a:moveTo>
                    <a:pt x="120015" y="66675"/>
                  </a:moveTo>
                  <a:lnTo>
                    <a:pt x="0" y="101917"/>
                  </a:lnTo>
                  <a:lnTo>
                    <a:pt x="1428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3500438" y="3790950"/>
              <a:ext cx="997267" cy="205740"/>
            </a:xfrm>
            <a:custGeom>
              <a:avLst/>
              <a:gdLst/>
              <a:ahLst/>
              <a:cxnLst/>
              <a:rect l="l" t="t" r="r" b="b"/>
              <a:pathLst>
                <a:path w="997267" h="205740">
                  <a:moveTo>
                    <a:pt x="0" y="205740"/>
                  </a:moveTo>
                  <a:lnTo>
                    <a:pt x="997267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4478655" y="3742372"/>
              <a:ext cx="121920" cy="100965"/>
            </a:xfrm>
            <a:custGeom>
              <a:avLst/>
              <a:gdLst/>
              <a:ahLst/>
              <a:cxnLst/>
              <a:rect l="l" t="t" r="r" b="b"/>
              <a:pathLst>
                <a:path w="121920" h="100965">
                  <a:moveTo>
                    <a:pt x="121920" y="26670"/>
                  </a:moveTo>
                  <a:lnTo>
                    <a:pt x="20003" y="1009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3564255" y="2963228"/>
              <a:ext cx="1198245" cy="726757"/>
            </a:xfrm>
            <a:custGeom>
              <a:avLst/>
              <a:gdLst/>
              <a:ahLst/>
              <a:cxnLst/>
              <a:rect l="l" t="t" r="r" b="b"/>
              <a:pathLst>
                <a:path w="1198245" h="726757">
                  <a:moveTo>
                    <a:pt x="1198245" y="726757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3474720" y="2908935"/>
              <a:ext cx="124777" cy="102870"/>
            </a:xfrm>
            <a:custGeom>
              <a:avLst/>
              <a:gdLst/>
              <a:ahLst/>
              <a:cxnLst/>
              <a:rect l="l" t="t" r="r" b="b"/>
              <a:pathLst>
                <a:path w="124777" h="102870">
                  <a:moveTo>
                    <a:pt x="0" y="0"/>
                  </a:moveTo>
                  <a:lnTo>
                    <a:pt x="124777" y="15240"/>
                  </a:lnTo>
                  <a:lnTo>
                    <a:pt x="71438" y="10287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562100" y="3438525"/>
              <a:ext cx="419100" cy="571500"/>
            </a:xfrm>
            <a:prstGeom prst="roundRect">
              <a:avLst>
                <a:gd name="adj" fmla="val 13636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1709738" y="3557588"/>
              <a:ext cx="123825" cy="123825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0B5F67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709738" y="3767138"/>
              <a:ext cx="123825" cy="123825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0B5F67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61351" y="364378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610100" y="3457575"/>
              <a:ext cx="419100" cy="533400"/>
            </a:xfrm>
            <a:prstGeom prst="roundRect">
              <a:avLst>
                <a:gd name="adj" fmla="val 13636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4757738" y="3662362"/>
              <a:ext cx="123825" cy="123825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0B5F67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117973" y="364378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3105150" y="2609850"/>
              <a:ext cx="381000" cy="3810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96262" y="27279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3105150" y="3219450"/>
              <a:ext cx="381000" cy="3810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196262" y="33375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3105150" y="3848100"/>
              <a:ext cx="381000" cy="3810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196262" y="39662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3105150" y="4476750"/>
              <a:ext cx="381000" cy="3810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196262" y="45948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</p:grpSp>
      <p:grpSp>
        <p:nvGrpSpPr>
          <p:cNvPr id="68" name="ex3-after"/>
          <p:cNvGrpSpPr/>
          <p:nvPr/>
        </p:nvGrpSpPr>
        <p:grpSpPr>
          <a:xfrm>
            <a:off x="6210300" y="1962150"/>
            <a:ext cx="5448300" cy="3067050"/>
            <a:chOff x="6210300" y="1962150"/>
            <a:chExt cx="5448300" cy="3067050"/>
          </a:xfrm>
        </p:grpSpPr>
        <p:sp>
          <p:nvSpPr>
            <p:cNvPr id="43" name="Rectangle 43"/>
            <p:cNvSpPr/>
            <p:nvPr/>
          </p:nvSpPr>
          <p:spPr>
            <a:xfrm>
              <a:off x="6210300" y="1962150"/>
              <a:ext cx="5448300" cy="3067050"/>
            </a:xfrm>
            <a:prstGeom prst="roundRect">
              <a:avLst>
                <a:gd name="adj" fmla="val 434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93942" y="2117408"/>
              <a:ext cx="4024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p2 释放 r1 并分给 p1：(p1, r1) 改为 (r1, p1)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7507605" y="2948940"/>
              <a:ext cx="1187767" cy="639127"/>
            </a:xfrm>
            <a:custGeom>
              <a:avLst/>
              <a:gdLst/>
              <a:ahLst/>
              <a:cxnLst/>
              <a:rect l="l" t="t" r="r" b="b"/>
              <a:pathLst>
                <a:path w="1187767" h="639127">
                  <a:moveTo>
                    <a:pt x="0" y="639127"/>
                  </a:moveTo>
                  <a:lnTo>
                    <a:pt x="1187767" y="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8662988" y="2899410"/>
              <a:ext cx="124778" cy="100012"/>
            </a:xfrm>
            <a:custGeom>
              <a:avLst/>
              <a:gdLst/>
              <a:ahLst/>
              <a:cxnLst/>
              <a:rect l="l" t="t" r="r" b="b"/>
              <a:pathLst>
                <a:path w="124778" h="100012">
                  <a:moveTo>
                    <a:pt x="124778" y="0"/>
                  </a:moveTo>
                  <a:lnTo>
                    <a:pt x="48578" y="100012"/>
                  </a:lnTo>
                  <a:lnTo>
                    <a:pt x="0" y="857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Line 47"/>
            <p:cNvSpPr/>
            <p:nvPr/>
          </p:nvSpPr>
          <p:spPr>
            <a:xfrm>
              <a:off x="7514272" y="3838575"/>
              <a:ext cx="1146810" cy="157162"/>
            </a:xfrm>
            <a:custGeom>
              <a:avLst/>
              <a:gdLst/>
              <a:ahLst/>
              <a:cxnLst/>
              <a:rect l="l" t="t" r="r" b="b"/>
              <a:pathLst>
                <a:path w="1146810" h="157162">
                  <a:moveTo>
                    <a:pt x="0" y="0"/>
                  </a:moveTo>
                  <a:lnTo>
                    <a:pt x="1146810" y="157162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8644890" y="3943350"/>
              <a:ext cx="120015" cy="101917"/>
            </a:xfrm>
            <a:custGeom>
              <a:avLst/>
              <a:gdLst/>
              <a:ahLst/>
              <a:cxnLst/>
              <a:rect l="l" t="t" r="r" b="b"/>
              <a:pathLst>
                <a:path w="120015" h="101917">
                  <a:moveTo>
                    <a:pt x="120015" y="66675"/>
                  </a:moveTo>
                  <a:lnTo>
                    <a:pt x="0" y="101917"/>
                  </a:lnTo>
                  <a:lnTo>
                    <a:pt x="1428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9177338" y="3790950"/>
              <a:ext cx="997268" cy="205740"/>
            </a:xfrm>
            <a:custGeom>
              <a:avLst/>
              <a:gdLst/>
              <a:ahLst/>
              <a:cxnLst/>
              <a:rect l="l" t="t" r="r" b="b"/>
              <a:pathLst>
                <a:path w="997268" h="205740">
                  <a:moveTo>
                    <a:pt x="0" y="205740"/>
                  </a:moveTo>
                  <a:lnTo>
                    <a:pt x="997268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10155555" y="3742372"/>
              <a:ext cx="121920" cy="100965"/>
            </a:xfrm>
            <a:custGeom>
              <a:avLst/>
              <a:gdLst/>
              <a:ahLst/>
              <a:cxnLst/>
              <a:rect l="l" t="t" r="r" b="b"/>
              <a:pathLst>
                <a:path w="121920" h="100965">
                  <a:moveTo>
                    <a:pt x="121920" y="26670"/>
                  </a:moveTo>
                  <a:lnTo>
                    <a:pt x="20002" y="1009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1" name="Line 51"/>
            <p:cNvSpPr/>
            <p:nvPr/>
          </p:nvSpPr>
          <p:spPr>
            <a:xfrm>
              <a:off x="9241155" y="2963228"/>
              <a:ext cx="1198245" cy="726757"/>
            </a:xfrm>
            <a:custGeom>
              <a:avLst/>
              <a:gdLst/>
              <a:ahLst/>
              <a:cxnLst/>
              <a:rect l="l" t="t" r="r" b="b"/>
              <a:pathLst>
                <a:path w="1198245" h="726757">
                  <a:moveTo>
                    <a:pt x="1198245" y="726757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9151620" y="2908935"/>
              <a:ext cx="124778" cy="102870"/>
            </a:xfrm>
            <a:custGeom>
              <a:avLst/>
              <a:gdLst/>
              <a:ahLst/>
              <a:cxnLst/>
              <a:rect l="l" t="t" r="r" b="b"/>
              <a:pathLst>
                <a:path w="124778" h="102870">
                  <a:moveTo>
                    <a:pt x="0" y="0"/>
                  </a:moveTo>
                  <a:lnTo>
                    <a:pt x="124778" y="15240"/>
                  </a:lnTo>
                  <a:lnTo>
                    <a:pt x="71438" y="10287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239000" y="3438525"/>
              <a:ext cx="419100" cy="571500"/>
            </a:xfrm>
            <a:prstGeom prst="roundRect">
              <a:avLst>
                <a:gd name="adj" fmla="val 13636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7386638" y="3557588"/>
              <a:ext cx="123825" cy="123825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0B5F67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7386638" y="3767138"/>
              <a:ext cx="123825" cy="123825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0B5F67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38251" y="364378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0287000" y="3457575"/>
              <a:ext cx="419100" cy="533400"/>
            </a:xfrm>
            <a:prstGeom prst="roundRect">
              <a:avLst>
                <a:gd name="adj" fmla="val 13636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10434638" y="3662362"/>
              <a:ext cx="123825" cy="123825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0B5F67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794873" y="364378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8782050" y="2609850"/>
              <a:ext cx="381000" cy="3810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873162" y="27279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8782050" y="3219450"/>
              <a:ext cx="381000" cy="3810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873162" y="33375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8782050" y="3848100"/>
              <a:ext cx="381000" cy="3810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873162" y="39662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8782050" y="4476750"/>
              <a:ext cx="381000" cy="3810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873162" y="45948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</p:grpSp>
      <p:grpSp>
        <p:nvGrpSpPr>
          <p:cNvPr id="74" name="ex3-note1"/>
          <p:cNvGrpSpPr/>
          <p:nvPr/>
        </p:nvGrpSpPr>
        <p:grpSpPr>
          <a:xfrm>
            <a:off x="533400" y="5143500"/>
            <a:ext cx="5448300" cy="1219200"/>
            <a:chOff x="533400" y="5143500"/>
            <a:chExt cx="5448300" cy="1219200"/>
          </a:xfrm>
        </p:grpSpPr>
        <p:sp>
          <p:nvSpPr>
            <p:cNvPr id="69" name="Rectangle 69"/>
            <p:cNvSpPr/>
            <p:nvPr/>
          </p:nvSpPr>
          <p:spPr>
            <a:xfrm>
              <a:off x="533400" y="5143500"/>
              <a:ext cx="5448300" cy="1219200"/>
            </a:xfrm>
            <a:prstGeom prst="roundRect">
              <a:avLst>
                <a:gd name="adj" fmla="val 109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542925" y="5276850"/>
              <a:ext cx="47625" cy="95250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762000" y="52768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35457" y="53363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为什么不死锁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56285" y="5628799"/>
              <a:ext cx="4029710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环上的 r1 有 2 个实例，其中一个在 p2 手里，而 p2 不等任何资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源。p2 用完释放后，这个实例就能分给 p1，环被打破。</a:t>
              </a:r>
            </a:p>
          </p:txBody>
        </p:sp>
      </p:grpSp>
      <p:grpSp>
        <p:nvGrpSpPr>
          <p:cNvPr id="80" name="ex3-note2"/>
          <p:cNvGrpSpPr/>
          <p:nvPr/>
        </p:nvGrpSpPr>
        <p:grpSpPr>
          <a:xfrm>
            <a:off x="6210300" y="5143500"/>
            <a:ext cx="5448300" cy="1219200"/>
            <a:chOff x="6210300" y="5143500"/>
            <a:chExt cx="5448300" cy="1219200"/>
          </a:xfrm>
        </p:grpSpPr>
        <p:sp>
          <p:nvSpPr>
            <p:cNvPr id="75" name="Rectangle 75"/>
            <p:cNvSpPr/>
            <p:nvPr/>
          </p:nvSpPr>
          <p:spPr>
            <a:xfrm>
              <a:off x="6210300" y="5143500"/>
              <a:ext cx="5448300" cy="1219200"/>
            </a:xfrm>
            <a:prstGeom prst="roundRect">
              <a:avLst>
                <a:gd name="adj" fmla="val 109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219825" y="5276850"/>
              <a:ext cx="47625" cy="95250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438900" y="52768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529108" y="53363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433185" y="5628799"/>
              <a:ext cx="4179062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拿齐 r1、r2 后运行完，释放的 r2 再分给 p3。资源有多个实例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时，有环路只是死锁的</a:t>
              </a: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必要条件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，还不充分。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资源分配图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资源分配图的约简与死锁定理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385293" cy="2268379"/>
            <a:chOff x="533400" y="1533525"/>
            <a:chExt cx="5385293" cy="226837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748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164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9938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8231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56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1564957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找一个能完成的进程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1833086"/>
              <a:ext cx="4406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寻找一个非孤立、且没有申请边的进程节点 pi；找不到则算法结束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14788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让它完成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416016"/>
              <a:ext cx="49719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 pi 的所有分配边，使它成为孤立节点（相当于 pi 运行完并释放资源）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730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满足别人的申请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998946"/>
              <a:ext cx="4474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寻找所有申请边都可满足的进程 pj，把 pj 的申请边全部改为分配边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31374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581876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转第 1 步</a:t>
              </a:r>
            </a:p>
          </p:txBody>
        </p:sp>
      </p:grpSp>
      <p:grpSp>
        <p:nvGrpSpPr>
          <p:cNvPr id="44" name="c1-table-2"/>
          <p:cNvGrpSpPr/>
          <p:nvPr/>
        </p:nvGrpSpPr>
        <p:grpSpPr>
          <a:xfrm>
            <a:off x="528447" y="3965258"/>
            <a:ext cx="6064758" cy="2264758"/>
            <a:chOff x="528447" y="3965258"/>
            <a:chExt cx="6064758" cy="2264758"/>
          </a:xfrm>
        </p:grpSpPr>
        <p:sp>
          <p:nvSpPr>
            <p:cNvPr id="25" name="Rectangle 25"/>
            <p:cNvSpPr/>
            <p:nvPr/>
          </p:nvSpPr>
          <p:spPr>
            <a:xfrm>
              <a:off x="533400" y="3965258"/>
              <a:ext cx="6059805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423289" y="40867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图上的一步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76255" y="408670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死锁检测算法里的对应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0555" y="4486751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没有申请边的非孤立 pi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75635" y="4486751"/>
              <a:ext cx="24981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Allocation[i] ≠ 0 且 Request[i] = 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7605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4765358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0555" y="4886801"/>
              <a:ext cx="14471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 pi 的全部分配边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75635" y="4886801"/>
              <a:ext cx="21107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Work := Work + Allocation[i]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1606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0555" y="5286851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申请边都可满足的 pj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75635" y="5286851"/>
              <a:ext cx="22554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Request[j] ≤ Work，改为分配边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5606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5565458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0555" y="568690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结束时还有非孤立进程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175635" y="5686901"/>
              <a:ext cx="24588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它们 Finish 为 false，就是死锁进程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3965258"/>
              <a:ext cx="605980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3073718" y="396525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8447" y="6039326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约简是检测算法的图形版本，两种写法可以互相检验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898005" y="1524000"/>
            <a:ext cx="4760595" cy="1446848"/>
            <a:chOff x="6898005" y="1524000"/>
            <a:chExt cx="4760595" cy="1446848"/>
          </a:xfrm>
        </p:grpSpPr>
        <p:sp>
          <p:nvSpPr>
            <p:cNvPr id="45" name="Rectangle 45"/>
            <p:cNvSpPr/>
            <p:nvPr/>
          </p:nvSpPr>
          <p:spPr>
            <a:xfrm>
              <a:off x="6898005" y="1524000"/>
              <a:ext cx="4760595" cy="1446848"/>
            </a:xfrm>
            <a:prstGeom prst="roundRect">
              <a:avLst>
                <a:gd name="adj" fmla="val 92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907530" y="1657350"/>
              <a:ext cx="47625" cy="118014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122795" y="17106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203313" y="1743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可完全约简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15937" y="2054542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算法结束时若所有节点都成为孤立点，称资源分配图是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可完全约简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的，否则称为不可完全约简的。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17080" y="2608421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按不同顺序约简，最后得到的结论相同。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898005" y="3141345"/>
            <a:ext cx="4760595" cy="1185862"/>
            <a:chOff x="6898005" y="3141345"/>
            <a:chExt cx="4760595" cy="1185862"/>
          </a:xfrm>
        </p:grpSpPr>
        <p:sp>
          <p:nvSpPr>
            <p:cNvPr id="52" name="Rectangle 52"/>
            <p:cNvSpPr/>
            <p:nvPr/>
          </p:nvSpPr>
          <p:spPr>
            <a:xfrm>
              <a:off x="6898005" y="3141345"/>
              <a:ext cx="476059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907530" y="3274695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122795" y="332803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207364" y="336089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死锁定理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15937" y="3671888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 S 为死锁状态的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充分必要条件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是：S 的资源分配图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不可完全约简。</a:t>
              </a:r>
            </a:p>
          </p:txBody>
        </p:sp>
      </p:grpSp>
      <p:grpSp>
        <p:nvGrpSpPr>
          <p:cNvPr id="68" name="c2-card-3"/>
          <p:cNvGrpSpPr/>
          <p:nvPr/>
        </p:nvGrpSpPr>
        <p:grpSpPr>
          <a:xfrm>
            <a:off x="6898005" y="4496752"/>
            <a:ext cx="4760595" cy="1694498"/>
            <a:chOff x="6898005" y="4496752"/>
            <a:chExt cx="4760595" cy="1694498"/>
          </a:xfrm>
        </p:grpSpPr>
        <p:sp>
          <p:nvSpPr>
            <p:cNvPr id="58" name="Rectangle 58"/>
            <p:cNvSpPr/>
            <p:nvPr/>
          </p:nvSpPr>
          <p:spPr>
            <a:xfrm>
              <a:off x="6898005" y="4496752"/>
              <a:ext cx="4760595" cy="1694498"/>
            </a:xfrm>
            <a:prstGeom prst="roundRect">
              <a:avLst>
                <a:gd name="adj" fmla="val 7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907530" y="4630102"/>
              <a:ext cx="47625" cy="142779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122795" y="468344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214514" y="471630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131367" y="508349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287387" y="5027295"/>
              <a:ext cx="3857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步找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没有申请边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的进程，不是没有分配边的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131367" y="538353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287387" y="5327333"/>
              <a:ext cx="30305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步要 pj 的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申请边同时可满足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7131367" y="568452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287387" y="5628323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孤立点：既无申请边也无分配边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资源分配图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用约简检验前面三个例子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11125200" cy="2248852"/>
            <a:chOff x="533400" y="1524000"/>
            <a:chExt cx="11125200" cy="22488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0044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41152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约简过程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0060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 无环路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32888" y="2108359"/>
              <a:ext cx="589762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 无申请边，删去其分配边；p2 对 r3 的申请可满足，改为分配边后 p2 也无申请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边，删去；p1 对 r1 的申请可满足，同样删去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08008" y="222170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可完全约简，无死锁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14888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 加边 (p3, r2)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32888" y="2783681"/>
              <a:ext cx="58285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p1、p2、p3 都有不能满足的申请边，第 1 步就找不到可删的进程，算法结束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08008" y="278368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不可完全约简，死锁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345656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 有环路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32888" y="3232309"/>
              <a:ext cx="6190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无申请边，删去；p1 对 r1 的申请可满足，改为分配边后删去 p1；p3 对 r2 的申请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随之可满足，删去 p3；p4 本来就孤立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08008" y="334565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可完全约简，无死锁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11125200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420302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095422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compare-2"/>
          <p:cNvGrpSpPr/>
          <p:nvPr/>
        </p:nvGrpSpPr>
        <p:grpSpPr>
          <a:xfrm>
            <a:off x="533400" y="3963352"/>
            <a:ext cx="11125200" cy="1367790"/>
            <a:chOff x="533400" y="3963352"/>
            <a:chExt cx="11125200" cy="1367790"/>
          </a:xfrm>
        </p:grpSpPr>
        <p:sp>
          <p:nvSpPr>
            <p:cNvPr id="27" name="Rectangle 27"/>
            <p:cNvSpPr/>
            <p:nvPr/>
          </p:nvSpPr>
          <p:spPr>
            <a:xfrm>
              <a:off x="533400" y="3963352"/>
              <a:ext cx="5391150" cy="1367790"/>
            </a:xfrm>
            <a:prstGeom prst="roundRect">
              <a:avLst>
                <a:gd name="adj" fmla="val 97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096702"/>
              <a:ext cx="47625" cy="110109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3430" y="4197668"/>
              <a:ext cx="2076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每类资源只有 1 个实例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86765" y="461486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4880" y="4551998"/>
              <a:ext cx="1257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有环路 ⇔ 死锁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86765" y="495014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4880" y="488727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找到环就能下结论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67450" y="3963352"/>
              <a:ext cx="5391150" cy="1367790"/>
            </a:xfrm>
            <a:prstGeom prst="roundRect">
              <a:avLst>
                <a:gd name="adj" fmla="val 97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76975" y="4096702"/>
              <a:ext cx="47625" cy="110109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07480" y="419766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环上有多实例资源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520815" y="461486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78930" y="455199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有环路只是必要条件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520815" y="495014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78930" y="4887278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必须用约简或检测算法判断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5934075" y="448532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04415" y="458152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4" name="Rectangle 4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991225"/>
              <a:ext cx="61034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易错：看到环路就判死锁。先看环上的资源类是否都只有 1 个实例。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691253" cy="2997517"/>
            <a:chOff x="667512" y="1835468"/>
            <a:chExt cx="4691253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死锁预防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事先给进程立规矩，让死锁的必要条件无法成立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542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5.6.1 预先分配法：破坏保持申请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542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5.6.2 有序分配法：破坏循环等待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例子：用有序分配法消除路口死锁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死锁预防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预防靠限制申请方式；预先分配法一次要齐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4760595" cy="2183130"/>
            <a:chOff x="533400" y="1524000"/>
            <a:chExt cx="4760595" cy="21831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183130"/>
            </a:xfrm>
            <a:prstGeom prst="roundRect">
              <a:avLst>
                <a:gd name="adj" fmla="val 61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1643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74961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559" y="1756410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5.6 思路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26298" y="17568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死锁预防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对进程申请资源的活动加限制，所有进程都遵守，就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能保证不发生死锁。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274986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690336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优点：简单，系统不需要额外做什么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306800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3007519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缺点：约束了进程；有进程违反约束时仍可能死锁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3524" y="3321368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预防方法：预先分配法、有序分配法。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3887152"/>
            <a:ext cx="4760595" cy="2358390"/>
            <a:chOff x="533400" y="3887152"/>
            <a:chExt cx="4760595" cy="2358390"/>
          </a:xfrm>
        </p:grpSpPr>
        <p:sp>
          <p:nvSpPr>
            <p:cNvPr id="19" name="Rectangle 19"/>
            <p:cNvSpPr/>
            <p:nvPr/>
          </p:nvSpPr>
          <p:spPr>
            <a:xfrm>
              <a:off x="533400" y="3887152"/>
              <a:ext cx="4760595" cy="2358390"/>
            </a:xfrm>
            <a:prstGeom prst="roundRect">
              <a:avLst>
                <a:gd name="adj" fmla="val 56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020502"/>
              <a:ext cx="47625" cy="20916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9620" y="4085272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5060" y="41195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19581" y="4120991"/>
              <a:ext cx="18142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读磁带 → 排版 → 打印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77240" y="452437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3831" y="4463891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预先分配：运行前同时申请磁带机和打印机，缺一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个就一个也不分配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77240" y="511397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33831" y="5053489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打印机整个运行期间被占着，实际只在最后几分钟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3524" y="5638800"/>
              <a:ext cx="41269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变体：申请新资源前先归还已占有的全部资源，同样破坏保持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申请。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5598795" y="1524000"/>
            <a:ext cx="6059805" cy="1576388"/>
            <a:chOff x="5598795" y="1524000"/>
            <a:chExt cx="6059805" cy="1576388"/>
          </a:xfrm>
        </p:grpSpPr>
        <p:sp>
          <p:nvSpPr>
            <p:cNvPr id="30" name="Rectangle 30"/>
            <p:cNvSpPr/>
            <p:nvPr/>
          </p:nvSpPr>
          <p:spPr>
            <a:xfrm>
              <a:off x="5598795" y="1524000"/>
              <a:ext cx="6059805" cy="1576388"/>
            </a:xfrm>
            <a:prstGeom prst="roundRect">
              <a:avLst>
                <a:gd name="adj" fmla="val 8459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796915" y="1722120"/>
              <a:ext cx="130302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864328" y="1756410"/>
              <a:ext cx="11701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5.6.1 预先分配法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797867" y="2070735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856212" y="211012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87808" y="2082641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进程：运行前一次性申请所需的全部资源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797867" y="2387918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856212" y="242825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87808" y="2400776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系统：能全部满足就全部分配，否则一个也不分配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790819" y="2714625"/>
              <a:ext cx="5335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进程运行中不再申请新资源，破坏了“保持申请”（hold-and-wait）条件。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5598795" y="3280410"/>
            <a:ext cx="6059805" cy="1297305"/>
            <a:chOff x="5598795" y="3280410"/>
            <a:chExt cx="6059805" cy="1297305"/>
          </a:xfrm>
        </p:grpSpPr>
        <p:sp>
          <p:nvSpPr>
            <p:cNvPr id="41" name="Rectangle 41"/>
            <p:cNvSpPr/>
            <p:nvPr/>
          </p:nvSpPr>
          <p:spPr>
            <a:xfrm>
              <a:off x="5598795" y="3280410"/>
              <a:ext cx="6059805" cy="1297305"/>
            </a:xfrm>
            <a:prstGeom prst="roundRect">
              <a:avLst>
                <a:gd name="adj" fmla="val 102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608320" y="3413760"/>
              <a:ext cx="47625" cy="10306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835015" y="347853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26455" y="351282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842635" y="389953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99226" y="3839051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资源利用率低：很久以后才用的资源也被早早占住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5842635" y="421671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99226" y="4157186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进程很难在运行前准确列出所需的全部资源</a:t>
              </a:r>
            </a:p>
          </p:txBody>
        </p:sp>
      </p:grpSp>
      <p:grpSp>
        <p:nvGrpSpPr>
          <p:cNvPr id="56" name="c2-callout-3"/>
          <p:cNvGrpSpPr/>
          <p:nvPr/>
        </p:nvGrpSpPr>
        <p:grpSpPr>
          <a:xfrm>
            <a:off x="5598795" y="4757738"/>
            <a:ext cx="6059805" cy="1487805"/>
            <a:chOff x="5598795" y="4757738"/>
            <a:chExt cx="6059805" cy="1487805"/>
          </a:xfrm>
        </p:grpSpPr>
        <p:sp>
          <p:nvSpPr>
            <p:cNvPr id="50" name="Rectangle 50"/>
            <p:cNvSpPr/>
            <p:nvPr/>
          </p:nvSpPr>
          <p:spPr>
            <a:xfrm>
              <a:off x="5598795" y="4757738"/>
              <a:ext cx="6059805" cy="1487805"/>
            </a:xfrm>
            <a:prstGeom prst="roundRect">
              <a:avLst>
                <a:gd name="adj" fmla="val 768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5803583" y="5401628"/>
              <a:ext cx="200026" cy="200025"/>
              <a:chOff x="5803583" y="5401628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5803583" y="54016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5843321" y="54460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5878037" y="55572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105906" y="5140166"/>
              <a:ext cx="506399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和银行家算法对照：两者都要求事先知道最大需求，预先分配法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一次把资源全给出去，银行家算法则在每次请求时检查一遍再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给。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死锁预防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有序分配法：只能按编号从小到大申请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947862"/>
            <a:chOff x="533400" y="1524000"/>
            <a:chExt cx="5410200" cy="1947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47862"/>
            </a:xfrm>
            <a:prstGeom prst="roundRect">
              <a:avLst>
                <a:gd name="adj" fmla="val 68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8116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4964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478" y="1769269"/>
              <a:ext cx="7958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5.6.2 规则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5541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给资源编号：R = {r1, r2, …, rn}，函数 F: R → 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2442686"/>
              <a:ext cx="41248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例：F(scanner) = 1，F(tape) = 2，F(printer) = 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42248"/>
              <a:ext cx="4625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 pi 可以申请 rj 中的实例 ⇔ pi 当前占有的每个资源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rl 都满足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F(rl) &lt; F(rj)</a:t>
              </a:r>
            </a:p>
          </p:txBody>
        </p:sp>
      </p:grpSp>
      <p:grpSp>
        <p:nvGrpSpPr>
          <p:cNvPr id="29" name="c1-compare-2"/>
          <p:cNvGrpSpPr/>
          <p:nvPr/>
        </p:nvGrpSpPr>
        <p:grpSpPr>
          <a:xfrm>
            <a:off x="533400" y="3662362"/>
            <a:ext cx="5410200" cy="1939290"/>
            <a:chOff x="533400" y="3662362"/>
            <a:chExt cx="5410200" cy="1939290"/>
          </a:xfrm>
        </p:grpSpPr>
        <p:sp>
          <p:nvSpPr>
            <p:cNvPr id="15" name="Rectangle 15"/>
            <p:cNvSpPr/>
            <p:nvPr/>
          </p:nvSpPr>
          <p:spPr>
            <a:xfrm>
              <a:off x="533400" y="3662362"/>
              <a:ext cx="2533650" cy="1939290"/>
            </a:xfrm>
            <a:prstGeom prst="roundRect">
              <a:avLst>
                <a:gd name="adj" fmla="val 68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795712"/>
              <a:ext cx="47625" cy="16725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73430" y="389667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431387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4251008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与预先分配法相比，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资源利用率提高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09950" y="3662362"/>
              <a:ext cx="2533650" cy="1939290"/>
            </a:xfrm>
            <a:prstGeom prst="roundRect">
              <a:avLst>
                <a:gd name="adj" fmla="val 68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419475" y="3795712"/>
              <a:ext cx="47625" cy="16725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649980" y="389667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663315" y="431387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21430" y="425100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资源编号困难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663315" y="464915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821430" y="4586288"/>
              <a:ext cx="1729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为保持按序申请，暂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时不用的资源也要提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前申请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076575" y="447008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46915" y="456628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248400" y="1524000"/>
            <a:ext cx="5410200" cy="4077652"/>
            <a:chOff x="6248400" y="1524000"/>
            <a:chExt cx="5410200" cy="4077652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4077652"/>
            </a:xfrm>
            <a:prstGeom prst="roundRect">
              <a:avLst>
                <a:gd name="adj" fmla="val 32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1657350"/>
              <a:ext cx="47625" cy="381095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证明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97078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反证：假设发生死锁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501765" y="21926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59880" y="2129790"/>
              <a:ext cx="41447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t1：p1 无限等待 rk1 中的实例，它被 p2 占有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501765" y="25279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59880" y="2465070"/>
              <a:ext cx="41447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t2：p2 无限等待 rk2 中的实例，它被 p3 占有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501765" y="28632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59880" y="280035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501765" y="31984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59880" y="3135630"/>
              <a:ext cx="41447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tn：pn 无限等待 rkn 中的实例，它被 p1 占有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88430" y="3470910"/>
              <a:ext cx="4711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占着 rk1 又申请 rk2，按规则 F(rk1) &lt; F(rk2)。依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次类推：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formula3"/>
                <p:cNvSpPr txBox="1">
                  <a:spLocks noGrp="1"/>
                </p:cNvSpPr>
                <p:nvPr/>
              </p:nvSpPr>
              <p:spPr>
                <a:xfrm>
                  <a:off x="6496050" y="4067175"/>
                  <a:ext cx="49530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&lt;⋯&lt;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5" name="TextBox 45"/>
            <p:cNvSpPr txBox="1"/>
            <p:nvPr/>
          </p:nvSpPr>
          <p:spPr>
            <a:xfrm>
              <a:off x="6488430" y="460629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得出矛盾，所以不会死锁。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死锁预防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例：用有序分配法消除路口死锁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20883" cy="597598"/>
            <a:chOff x="525399" y="1550194"/>
            <a:chExt cx="10620883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20883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资源编号 F(D)=1，F(B)=2，F(A)=3，F(C)=4；信号量 S1、S2、S3、S4 依次保护路口格 D、B、A、C，初值都为 1。主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程序用 COBEGIN … COEND 让 m 辆 S 车、n 辆 E 车、o 辆 W 车并发执行。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2257425"/>
            <a:ext cx="3505200" cy="2106930"/>
            <a:chOff x="533400" y="2257425"/>
            <a:chExt cx="3505200" cy="2106930"/>
          </a:xfrm>
        </p:grpSpPr>
        <p:sp>
          <p:nvSpPr>
            <p:cNvPr id="9" name="Rectangle 9"/>
            <p:cNvSpPr/>
            <p:nvPr/>
          </p:nvSpPr>
          <p:spPr>
            <a:xfrm>
              <a:off x="533400" y="2257425"/>
              <a:ext cx="3505200" cy="2106930"/>
            </a:xfrm>
            <a:prstGeom prst="roundRect">
              <a:avLst>
                <a:gd name="adj" fmla="val 452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409349"/>
              <a:ext cx="13720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 南向左转：D → B → 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0273" y="2674144"/>
              <a:ext cx="1142746" cy="162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P(S1); 驶入D;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P(S2); 驶入B;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V(S1);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P(S3); 驶入A;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V(S2);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驶出A;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V(S3);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4554855"/>
            <a:ext cx="3505200" cy="1059180"/>
            <a:chOff x="533400" y="4554855"/>
            <a:chExt cx="3505200" cy="1059180"/>
          </a:xfrm>
        </p:grpSpPr>
        <p:sp>
          <p:nvSpPr>
            <p:cNvPr id="13" name="Rectangle 13"/>
            <p:cNvSpPr/>
            <p:nvPr/>
          </p:nvSpPr>
          <p:spPr>
            <a:xfrm>
              <a:off x="533400" y="4554855"/>
              <a:ext cx="3505200" cy="1059180"/>
            </a:xfrm>
            <a:prstGeom prst="roundRect">
              <a:avLst>
                <a:gd name="adj" fmla="val 1079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4985385"/>
              <a:ext cx="200026" cy="200026"/>
              <a:chOff x="738188" y="4985385"/>
              <a:chExt cx="200026" cy="20002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49853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04863" y="506317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130" y="4842510"/>
              <a:ext cx="25393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编号 1 → 2 → 3，本来就递增，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按行驶顺序申请即可。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4343400" y="2257425"/>
            <a:ext cx="3505200" cy="2106930"/>
            <a:chOff x="4343400" y="2257425"/>
            <a:chExt cx="3505200" cy="2106930"/>
          </a:xfrm>
        </p:grpSpPr>
        <p:sp>
          <p:nvSpPr>
            <p:cNvPr id="19" name="Rectangle 19"/>
            <p:cNvSpPr/>
            <p:nvPr/>
          </p:nvSpPr>
          <p:spPr>
            <a:xfrm>
              <a:off x="4343400" y="2257425"/>
              <a:ext cx="3505200" cy="2106930"/>
            </a:xfrm>
            <a:prstGeom prst="roundRect">
              <a:avLst>
                <a:gd name="adj" fmla="val 452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71797" y="2409349"/>
              <a:ext cx="13720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 东向左转：B → A → 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70273" y="2674144"/>
              <a:ext cx="1142746" cy="162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P(S2); 驶入B;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P(S3); 驶入A;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V(S2);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P(S4); 驶入C;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V(S3);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驶出C;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V(S4);</a:t>
              </a:r>
            </a:p>
          </p:txBody>
        </p:sp>
      </p:grpSp>
      <p:grpSp>
        <p:nvGrpSpPr>
          <p:cNvPr id="28" name="c2-callout-2"/>
          <p:cNvGrpSpPr/>
          <p:nvPr/>
        </p:nvGrpSpPr>
        <p:grpSpPr>
          <a:xfrm>
            <a:off x="4343400" y="4554855"/>
            <a:ext cx="3505200" cy="1059180"/>
            <a:chOff x="4343400" y="4554855"/>
            <a:chExt cx="3505200" cy="1059180"/>
          </a:xfrm>
        </p:grpSpPr>
        <p:sp>
          <p:nvSpPr>
            <p:cNvPr id="23" name="Rectangle 23"/>
            <p:cNvSpPr/>
            <p:nvPr/>
          </p:nvSpPr>
          <p:spPr>
            <a:xfrm>
              <a:off x="4343400" y="4554855"/>
              <a:ext cx="3505200" cy="1059180"/>
            </a:xfrm>
            <a:prstGeom prst="roundRect">
              <a:avLst>
                <a:gd name="adj" fmla="val 1079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4548188" y="4985385"/>
              <a:ext cx="200026" cy="200026"/>
              <a:chOff x="4548188" y="4985385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548188" y="49853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614863" y="506317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4850130" y="4980622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编号 2 → 3 → 4，同样递增。</a:t>
              </a:r>
            </a:p>
          </p:txBody>
        </p:sp>
      </p:grpSp>
      <p:grpSp>
        <p:nvGrpSpPr>
          <p:cNvPr id="32" name="c3-code-1"/>
          <p:cNvGrpSpPr/>
          <p:nvPr/>
        </p:nvGrpSpPr>
        <p:grpSpPr>
          <a:xfrm>
            <a:off x="8153400" y="2257425"/>
            <a:ext cx="3505200" cy="2106930"/>
            <a:chOff x="8153400" y="2257425"/>
            <a:chExt cx="3505200" cy="2106930"/>
          </a:xfrm>
        </p:grpSpPr>
        <p:sp>
          <p:nvSpPr>
            <p:cNvPr id="29" name="Rectangle 29"/>
            <p:cNvSpPr/>
            <p:nvPr/>
          </p:nvSpPr>
          <p:spPr>
            <a:xfrm>
              <a:off x="8153400" y="2257425"/>
              <a:ext cx="3505200" cy="2106930"/>
            </a:xfrm>
            <a:prstGeom prst="roundRect">
              <a:avLst>
                <a:gd name="adj" fmla="val 452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81797" y="2409349"/>
              <a:ext cx="11525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 西向直行：C → 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80273" y="2674144"/>
              <a:ext cx="1589786" cy="162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8"/>
                </a:lnSpc>
              </a:pPr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P(S1);   </a:t>
              </a:r>
              <a:r>
                <a:rPr lang="zh-CN" sz="12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先占 D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P(S4);   </a:t>
              </a:r>
              <a:r>
                <a:rPr lang="zh-CN" sz="12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再占 C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驶入C;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驶入D;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V(S4);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驶出D;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V(S1);</a:t>
              </a:r>
            </a:p>
          </p:txBody>
        </p:sp>
      </p:grpSp>
      <p:grpSp>
        <p:nvGrpSpPr>
          <p:cNvPr id="39" name="c3-callout-2"/>
          <p:cNvGrpSpPr/>
          <p:nvPr/>
        </p:nvGrpSpPr>
        <p:grpSpPr>
          <a:xfrm>
            <a:off x="8153400" y="4554855"/>
            <a:ext cx="3505200" cy="1059180"/>
            <a:chOff x="8153400" y="4554855"/>
            <a:chExt cx="3505200" cy="1059180"/>
          </a:xfrm>
        </p:grpSpPr>
        <p:sp>
          <p:nvSpPr>
            <p:cNvPr id="33" name="Rectangle 33"/>
            <p:cNvSpPr/>
            <p:nvPr/>
          </p:nvSpPr>
          <p:spPr>
            <a:xfrm>
              <a:off x="8153400" y="4554855"/>
              <a:ext cx="350520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358188" y="4985385"/>
              <a:ext cx="200026" cy="200025"/>
              <a:chOff x="8358188" y="4985385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58188" y="49853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97926" y="50298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432642" y="51409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8660130" y="4704398"/>
              <a:ext cx="26536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行驶顺序 C(4) → D(1) 是递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减，只能先申请 D，提前占住暂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时不用的资源。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579745" cy="2997517"/>
            <a:chOff x="667512" y="1835468"/>
            <a:chExt cx="5579745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死锁避免：银行家算法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每次分配前先演算：分出去之后，所有进程还能都完成吗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26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5.7 安全状态与安全序列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银行家算法的数据结构与流程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完整例题与算法的保守性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死锁避免：银行家算法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安全状态：存在一个能让所有进程依次完成的顺序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flow-1"/>
          <p:cNvGrpSpPr/>
          <p:nvPr/>
        </p:nvGrpSpPr>
        <p:grpSpPr>
          <a:xfrm>
            <a:off x="666750" y="1993582"/>
            <a:ext cx="5143500" cy="3194686"/>
            <a:chOff x="666750" y="1993582"/>
            <a:chExt cx="5143500" cy="3194686"/>
          </a:xfrm>
        </p:grpSpPr>
        <p:sp>
          <p:nvSpPr>
            <p:cNvPr id="7" name="Freeform 7"/>
            <p:cNvSpPr/>
            <p:nvPr/>
          </p:nvSpPr>
          <p:spPr>
            <a:xfrm>
              <a:off x="1435418" y="2431732"/>
              <a:ext cx="9525" cy="753427"/>
            </a:xfrm>
            <a:custGeom>
              <a:avLst/>
              <a:gdLst/>
              <a:ahLst/>
              <a:cxnLst/>
              <a:rect l="l" t="t" r="r" b="b"/>
              <a:pathLst>
                <a:path w="9525" h="753427">
                  <a:moveTo>
                    <a:pt x="0" y="0"/>
                  </a:moveTo>
                  <a:lnTo>
                    <a:pt x="0" y="7534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383030" y="31851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435418" y="3891915"/>
              <a:ext cx="9525" cy="753427"/>
            </a:xfrm>
            <a:custGeom>
              <a:avLst/>
              <a:gdLst/>
              <a:ahLst/>
              <a:cxnLst/>
              <a:rect l="l" t="t" r="r" b="b"/>
              <a:pathLst>
                <a:path w="9525" h="753427">
                  <a:moveTo>
                    <a:pt x="0" y="0"/>
                  </a:moveTo>
                  <a:lnTo>
                    <a:pt x="0" y="7534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383030" y="46453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203132" y="3590925"/>
              <a:ext cx="1965960" cy="9525"/>
            </a:xfrm>
            <a:custGeom>
              <a:avLst/>
              <a:gdLst/>
              <a:ahLst/>
              <a:cxnLst/>
              <a:rect l="l" t="t" r="r" b="b"/>
              <a:pathLst>
                <a:path w="1965960" h="9525">
                  <a:moveTo>
                    <a:pt x="0" y="0"/>
                  </a:moveTo>
                  <a:lnTo>
                    <a:pt x="196596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169092" y="35385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1993582"/>
              <a:ext cx="1536382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666750" y="3289935"/>
              <a:ext cx="1536382" cy="601980"/>
            </a:xfrm>
            <a:custGeom>
              <a:avLst/>
              <a:gdLst/>
              <a:ahLst/>
              <a:cxnLst/>
              <a:rect l="l" t="t" r="r" b="b"/>
              <a:pathLst>
                <a:path w="1536382" h="601980">
                  <a:moveTo>
                    <a:pt x="768667" y="0"/>
                  </a:moveTo>
                  <a:lnTo>
                    <a:pt x="1536382" y="300990"/>
                  </a:lnTo>
                  <a:lnTo>
                    <a:pt x="768667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66750" y="4750118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273868" y="3371850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12000" y="212359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可满足的请求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4313" y="35018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安全吗？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56627" y="48801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18165" y="350186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不分配，等待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463992" y="4229100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487233" y="42557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安全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990850" y="3374708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021140" y="34013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不安全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248400" y="1524000"/>
            <a:ext cx="5410200" cy="1937385"/>
            <a:chOff x="6248400" y="1524000"/>
            <a:chExt cx="5410200" cy="1937385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501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59880" y="2110740"/>
              <a:ext cx="45491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安全进程序列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&lt;p1, p2, …, pn&gt;：按此顺序，每个进程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都能用“当前可用资源 + 前面进程释放的资源”满足剩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余需求并运行完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501765" y="30803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59880" y="301752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系统处于安全状态：至少存在一个安全进程序列</a:t>
              </a:r>
            </a:p>
          </p:txBody>
        </p:sp>
      </p:grpSp>
      <p:grpSp>
        <p:nvGrpSpPr>
          <p:cNvPr id="49" name="c2-table-2"/>
          <p:cNvGrpSpPr/>
          <p:nvPr/>
        </p:nvGrpSpPr>
        <p:grpSpPr>
          <a:xfrm>
            <a:off x="6248400" y="3651885"/>
            <a:ext cx="5410200" cy="1795462"/>
            <a:chOff x="6248400" y="3651885"/>
            <a:chExt cx="5410200" cy="1795462"/>
          </a:xfrm>
        </p:grpSpPr>
        <p:sp>
          <p:nvSpPr>
            <p:cNvPr id="35" name="Rectangle 35"/>
            <p:cNvSpPr/>
            <p:nvPr/>
          </p:nvSpPr>
          <p:spPr>
            <a:xfrm>
              <a:off x="6248400" y="3651885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72554" y="37876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19184" y="378761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会不会死锁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56223" y="42362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安全状态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63066" y="423624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一定不会：按安全序列推进即可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45443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454914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56223" y="468487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不安全状态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63066" y="468487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可能死锁，也可能不会，取决于进程以后怎样申请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49939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56223" y="513349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死锁状态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63066" y="513349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已经死锁，它属于不安全状态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3651885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650480" y="365188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0" name="Rectangle 5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130" y="5991225"/>
              <a:ext cx="7284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易错：不安全不等于死锁。避免算法把整个不安全区域都挡在外面，所以偏保守。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47524" cy="909257"/>
            <a:chOff x="520446" y="342900"/>
            <a:chExt cx="62475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死锁避免：银行家算法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475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银行家算法（Dijkstra）用到的数据结构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30916" cy="597598"/>
            <a:chOff x="525399" y="1550194"/>
            <a:chExt cx="10630916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30916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进程事先声明对各类资源的最大需求 Claim（即 Max，只声明不分配）；系统对每个可满足的请求做安全性检查，安全才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分配。</a:t>
              </a:r>
            </a:p>
          </p:txBody>
        </p:sp>
      </p:grpSp>
      <p:grpSp>
        <p:nvGrpSpPr>
          <p:cNvPr id="47" name="c1-table-1"/>
          <p:cNvGrpSpPr/>
          <p:nvPr/>
        </p:nvGrpSpPr>
        <p:grpSpPr>
          <a:xfrm>
            <a:off x="527685" y="2257425"/>
            <a:ext cx="6281737" cy="3886677"/>
            <a:chOff x="527685" y="2257425"/>
            <a:chExt cx="6281737" cy="3886677"/>
          </a:xfrm>
        </p:grpSpPr>
        <p:sp>
          <p:nvSpPr>
            <p:cNvPr id="9" name="Rectangle 9"/>
            <p:cNvSpPr/>
            <p:nvPr/>
          </p:nvSpPr>
          <p:spPr>
            <a:xfrm>
              <a:off x="533400" y="2257425"/>
              <a:ext cx="627602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45172" y="23931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71102" y="23931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18074" y="23931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841784"/>
              <a:ext cx="7776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Available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22348" y="2841784"/>
              <a:ext cx="10899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array[1..m]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93083" y="284178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系统当前可用的各类资源数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15087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154680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290411"/>
              <a:ext cx="4612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Claim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22348" y="329041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array[1..n,1..m]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93083" y="329041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各进程的最大需求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59949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739039"/>
              <a:ext cx="8772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Allocation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22348" y="373903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array[1..n,1..m]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93083" y="373903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各进程当前已分到的资源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04812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052888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4188619"/>
              <a:ext cx="416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Need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22348" y="418861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array[1..n,1..m]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93083" y="418861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各进程还需要的资源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49675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4637246"/>
              <a:ext cx="7151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Request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22348" y="463724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array[1..n,1..m]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93083" y="463724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各进程当前提出的请求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94538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950142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1223" y="5085874"/>
              <a:ext cx="4533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Work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022348" y="5085874"/>
              <a:ext cx="10899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array[1..m]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093083" y="508587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临时变量：检测过程中的可用资源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539496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1223" y="5534501"/>
              <a:ext cx="5243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Finish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022348" y="5534501"/>
              <a:ext cx="10554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array[1..n]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093083" y="553450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临时变量：进程能否完成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2257425"/>
              <a:ext cx="6276022" cy="35909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909762" y="2257425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980498" y="2257425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7685" y="5924074"/>
              <a:ext cx="1805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为进程数，m 为资源类数</a:t>
              </a:r>
            </a:p>
          </p:txBody>
        </p:sp>
      </p:grpSp>
      <p:grpSp>
        <p:nvGrpSpPr>
          <p:cNvPr id="63" name="c2-card-1"/>
          <p:cNvGrpSpPr/>
          <p:nvPr/>
        </p:nvGrpSpPr>
        <p:grpSpPr>
          <a:xfrm>
            <a:off x="7114222" y="2257425"/>
            <a:ext cx="4544378" cy="2922270"/>
            <a:chOff x="7114222" y="2257425"/>
            <a:chExt cx="4544378" cy="2922270"/>
          </a:xfrm>
        </p:grpSpPr>
        <p:sp>
          <p:nvSpPr>
            <p:cNvPr id="48" name="Rectangle 48"/>
            <p:cNvSpPr/>
            <p:nvPr/>
          </p:nvSpPr>
          <p:spPr>
            <a:xfrm>
              <a:off x="7114222" y="2257425"/>
              <a:ext cx="4544378" cy="2922270"/>
            </a:xfrm>
            <a:prstGeom prst="roundRect">
              <a:avLst>
                <a:gd name="adj" fmla="val 45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123748" y="2390775"/>
              <a:ext cx="47625" cy="26555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361872" y="246697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452081" y="25026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61948" y="250221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向量的比较与运算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54252" y="2863215"/>
              <a:ext cx="33160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X、Y 是下标为 1..l 的一维数组：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367588" y="326136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525702" y="3198495"/>
              <a:ext cx="27181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≤ Y ⇔ 对所有 j，X[j] ≤ Y[j]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367588" y="35966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525702" y="3533775"/>
              <a:ext cx="29497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:= Y ⇔ 对所有 j，X[j] := Y[j]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367588" y="39319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525702" y="3869055"/>
              <a:ext cx="26284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:= c ⇔ 对所有 j，X[j] := c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367588" y="426720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525702" y="4204335"/>
              <a:ext cx="27181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± Y ⇔ 对所有 j，X[j] ± Y[j]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55396" y="4536281"/>
              <a:ext cx="34267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≤ 要逐个分量比较：(1,2,2) ≤ (4,4,2) 成立，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(1,2,2) ≤ (2,1,3) 不成立。</a:t>
              </a:r>
            </a:p>
          </p:txBody>
        </p:sp>
      </p:grpSp>
      <p:grpSp>
        <p:nvGrpSpPr>
          <p:cNvPr id="69" name="c2-callout-2"/>
          <p:cNvGrpSpPr/>
          <p:nvPr/>
        </p:nvGrpSpPr>
        <p:grpSpPr>
          <a:xfrm>
            <a:off x="7114222" y="5370195"/>
            <a:ext cx="4544378" cy="729615"/>
            <a:chOff x="7114222" y="5370195"/>
            <a:chExt cx="4544378" cy="729615"/>
          </a:xfrm>
        </p:grpSpPr>
        <p:sp>
          <p:nvSpPr>
            <p:cNvPr id="64" name="Rectangle 64"/>
            <p:cNvSpPr/>
            <p:nvPr/>
          </p:nvSpPr>
          <p:spPr>
            <a:xfrm>
              <a:off x="7114222" y="5370195"/>
              <a:ext cx="4544378" cy="729615"/>
            </a:xfrm>
            <a:prstGeom prst="roundRect">
              <a:avLst>
                <a:gd name="adj" fmla="val 15666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19010" y="5634992"/>
              <a:ext cx="200023" cy="200023"/>
              <a:chOff x="7319010" y="5634992"/>
              <a:chExt cx="200023" cy="20002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19010" y="563499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452360" y="57016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7620952" y="5630228"/>
              <a:ext cx="34085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始终成立：Need = Claim − Allocation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14173" cy="909257"/>
            <a:chOff x="520446" y="342900"/>
            <a:chExt cx="74141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死锁避免：银行家算法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141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 pi 发出请求后，系统按这个流程决定分不分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c1-flow-1"/>
          <p:cNvGrpSpPr/>
          <p:nvPr/>
        </p:nvGrpSpPr>
        <p:grpSpPr>
          <a:xfrm>
            <a:off x="793432" y="1718310"/>
            <a:ext cx="10605136" cy="3841432"/>
            <a:chOff x="793432" y="1718310"/>
            <a:chExt cx="10605136" cy="3841432"/>
          </a:xfrm>
        </p:grpSpPr>
        <p:sp>
          <p:nvSpPr>
            <p:cNvPr id="7" name="Freeform 7"/>
            <p:cNvSpPr/>
            <p:nvPr/>
          </p:nvSpPr>
          <p:spPr>
            <a:xfrm>
              <a:off x="6096000" y="2156460"/>
              <a:ext cx="9525" cy="201930"/>
            </a:xfrm>
            <a:custGeom>
              <a:avLst/>
              <a:gdLst/>
              <a:ahLst/>
              <a:cxnLst/>
              <a:rect l="l" t="t" r="r" b="b"/>
              <a:pathLst>
                <a:path w="9525" h="201930">
                  <a:moveTo>
                    <a:pt x="0" y="0"/>
                  </a:moveTo>
                  <a:lnTo>
                    <a:pt x="0" y="2019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043612" y="23583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7690485" y="2764155"/>
              <a:ext cx="414338" cy="9525"/>
            </a:xfrm>
            <a:custGeom>
              <a:avLst/>
              <a:gdLst/>
              <a:ahLst/>
              <a:cxnLst/>
              <a:rect l="l" t="t" r="r" b="b"/>
              <a:pathLst>
                <a:path w="414338" h="9525">
                  <a:moveTo>
                    <a:pt x="0" y="0"/>
                  </a:moveTo>
                  <a:lnTo>
                    <a:pt x="41433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8104822" y="27117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6096000" y="3065145"/>
              <a:ext cx="9525" cy="120015"/>
            </a:xfrm>
            <a:custGeom>
              <a:avLst/>
              <a:gdLst/>
              <a:ahLst/>
              <a:cxnLst/>
              <a:rect l="l" t="t" r="r" b="b"/>
              <a:pathLst>
                <a:path w="9525" h="120015">
                  <a:moveTo>
                    <a:pt x="0" y="0"/>
                  </a:moveTo>
                  <a:lnTo>
                    <a:pt x="0" y="1200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6043612" y="31851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087178" y="3590925"/>
              <a:ext cx="414338" cy="9525"/>
            </a:xfrm>
            <a:custGeom>
              <a:avLst/>
              <a:gdLst/>
              <a:ahLst/>
              <a:cxnLst/>
              <a:rect l="l" t="t" r="r" b="b"/>
              <a:pathLst>
                <a:path w="414338" h="9525">
                  <a:moveTo>
                    <a:pt x="414338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982402" y="35385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6096000" y="3889058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285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043612" y="38890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6096000" y="48387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285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043612" y="48387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690485" y="5244465"/>
              <a:ext cx="414338" cy="9525"/>
            </a:xfrm>
            <a:custGeom>
              <a:avLst/>
              <a:gdLst/>
              <a:ahLst/>
              <a:cxnLst/>
              <a:rect l="l" t="t" r="r" b="b"/>
              <a:pathLst>
                <a:path w="414338" h="9525">
                  <a:moveTo>
                    <a:pt x="0" y="0"/>
                  </a:moveTo>
                  <a:lnTo>
                    <a:pt x="41433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104822" y="51920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087178" y="5244465"/>
              <a:ext cx="414338" cy="9525"/>
            </a:xfrm>
            <a:custGeom>
              <a:avLst/>
              <a:gdLst/>
              <a:ahLst/>
              <a:cxnLst/>
              <a:rect l="l" t="t" r="r" b="b"/>
              <a:pathLst>
                <a:path w="414338" h="9525">
                  <a:moveTo>
                    <a:pt x="414338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982402" y="51920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501515" y="1718310"/>
              <a:ext cx="3188970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4501515" y="2463165"/>
              <a:ext cx="3188970" cy="601980"/>
            </a:xfrm>
            <a:custGeom>
              <a:avLst/>
              <a:gdLst/>
              <a:ahLst/>
              <a:cxnLst/>
              <a:rect l="l" t="t" r="r" b="b"/>
              <a:pathLst>
                <a:path w="3188970" h="601980">
                  <a:moveTo>
                    <a:pt x="1594485" y="0"/>
                  </a:moveTo>
                  <a:lnTo>
                    <a:pt x="3188970" y="300990"/>
                  </a:lnTo>
                  <a:lnTo>
                    <a:pt x="1594485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209598" y="2545080"/>
              <a:ext cx="3188970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4501515" y="3289935"/>
              <a:ext cx="3188970" cy="601980"/>
            </a:xfrm>
            <a:custGeom>
              <a:avLst/>
              <a:gdLst/>
              <a:ahLst/>
              <a:cxnLst/>
              <a:rect l="l" t="t" r="r" b="b"/>
              <a:pathLst>
                <a:path w="3188970" h="601980">
                  <a:moveTo>
                    <a:pt x="1594485" y="0"/>
                  </a:moveTo>
                  <a:lnTo>
                    <a:pt x="3188970" y="300990"/>
                  </a:lnTo>
                  <a:lnTo>
                    <a:pt x="1594485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93432" y="3371850"/>
              <a:ext cx="3188970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01515" y="3993832"/>
              <a:ext cx="3188970" cy="847725"/>
            </a:xfrm>
            <a:prstGeom prst="roundRect">
              <a:avLst>
                <a:gd name="adj" fmla="val 11236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501515" y="4943475"/>
              <a:ext cx="3188970" cy="601980"/>
            </a:xfrm>
            <a:custGeom>
              <a:avLst/>
              <a:gdLst/>
              <a:ahLst/>
              <a:cxnLst/>
              <a:rect l="l" t="t" r="r" b="b"/>
              <a:pathLst>
                <a:path w="3188970" h="601980">
                  <a:moveTo>
                    <a:pt x="1594485" y="0"/>
                  </a:moveTo>
                  <a:lnTo>
                    <a:pt x="3188970" y="300990"/>
                  </a:lnTo>
                  <a:lnTo>
                    <a:pt x="1594485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209598" y="5025390"/>
              <a:ext cx="3188970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93432" y="4930140"/>
              <a:ext cx="3188970" cy="629602"/>
            </a:xfrm>
            <a:prstGeom prst="roundRect">
              <a:avLst>
                <a:gd name="adj" fmla="val 1512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135230" y="1848326"/>
              <a:ext cx="19215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pi 发出请求 Request[i]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34295" y="2675096"/>
              <a:ext cx="19234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Request[i] ≤ Need[i]？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19097" y="267509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请求超过声明的最大需求，出错返回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84022" y="3501866"/>
              <a:ext cx="20239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Request[i] ≤ Available？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79263" y="3501866"/>
              <a:ext cx="141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资源不够，pi 等待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76851" y="4109561"/>
              <a:ext cx="2638298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试分配：Available −= Request[i]；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Allocation[i] += Request[i]；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Need[i] −= Request[i]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572582" y="515540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新状态安全？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90474" y="5155406"/>
              <a:ext cx="1427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确认分配，pi 继续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3152" y="5045869"/>
              <a:ext cx="258953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撤销试分配（三个量改回原值），pi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836218" y="254793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874508" y="257460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124575" y="308514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47816" y="311181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127182" y="337470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165473" y="340137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124575" y="385095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47816" y="387762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769542" y="5028248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803833" y="505491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安全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993832" y="5028248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024122" y="505491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不安全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4" name="Rectangle 5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130" y="5991225"/>
              <a:ext cx="8806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安全性检测用的是试分配之后的 Available、Allocation、Need；检测不通过时三张表都要改回去。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74580" cy="909257"/>
            <a:chOff x="520446" y="342900"/>
            <a:chExt cx="79745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死锁避免：银行家算法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745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安全性检测算法：反复找一个“现在就能完成”的进程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2440305"/>
            <a:chOff x="533400" y="1524000"/>
            <a:chExt cx="5842635" cy="24403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安全性检测（伪代码）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009392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Work := Available;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Finish := false;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所有进程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while 存在 j 满足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Finish[j] = false 且 Need[j] ≤ Work do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Work := Work + Allocation[j];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Finish[j] := true;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if 对所有 j，Finish[j] = true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then 安全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else 不安全;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4133850"/>
            <a:ext cx="5842635" cy="1790700"/>
            <a:chOff x="533400" y="4133850"/>
            <a:chExt cx="5842635" cy="1790700"/>
          </a:xfrm>
        </p:grpSpPr>
        <p:sp>
          <p:nvSpPr>
            <p:cNvPr id="11" name="Rectangle 11"/>
            <p:cNvSpPr/>
            <p:nvPr/>
          </p:nvSpPr>
          <p:spPr>
            <a:xfrm>
              <a:off x="533400" y="4133850"/>
              <a:ext cx="5842635" cy="1790700"/>
            </a:xfrm>
            <a:prstGeom prst="roundRect">
              <a:avLst>
                <a:gd name="adj" fmla="val 74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267200"/>
              <a:ext cx="47625" cy="15240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8190" y="432054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2759" y="435340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三点说明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472154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4665345"/>
              <a:ext cx="51296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安全序列不唯一：第 2 步有多个进程可选时任选一个，结论相同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502158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4965383"/>
              <a:ext cx="52365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Work 只增不减，一个进程一旦可完成，以后的轮次里仍然可完成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6762" y="5321617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2782" y="5265420"/>
              <a:ext cx="4531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复杂度：n 轮 × n 个进程 × m 个分量 = O(m·n²) 次比较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2475" y="5562124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银行家算法只适合进程数和资源类数都不大的系统。</a:t>
              </a:r>
            </a:p>
          </p:txBody>
        </p:sp>
      </p:grpSp>
      <p:grpSp>
        <p:nvGrpSpPr>
          <p:cNvPr id="40" name="c2-steps-1"/>
          <p:cNvGrpSpPr/>
          <p:nvPr/>
        </p:nvGrpSpPr>
        <p:grpSpPr>
          <a:xfrm>
            <a:off x="6680835" y="1533525"/>
            <a:ext cx="4775830" cy="2476023"/>
            <a:chOff x="6680835" y="1533525"/>
            <a:chExt cx="4775830" cy="2476023"/>
          </a:xfrm>
        </p:grpSpPr>
        <p:sp>
          <p:nvSpPr>
            <p:cNvPr id="23" name="Rectangle 23"/>
            <p:cNvSpPr/>
            <p:nvPr/>
          </p:nvSpPr>
          <p:spPr>
            <a:xfrm>
              <a:off x="6814185" y="1676400"/>
              <a:ext cx="19050" cy="1748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6680835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7445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680835" y="21164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74459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680835" y="269938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74459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680835" y="328231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74459" y="3356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93077" y="156495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94220" y="1833086"/>
              <a:ext cx="3022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Work 取当前可用资源，所有 Finish 置 false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93077" y="214788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找进程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94220" y="2416016"/>
              <a:ext cx="31773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找一个尚未完成、且 Need[j] ≤ Work 的进程 pj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93077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假定它运行完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94220" y="2998946"/>
              <a:ext cx="43624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Work 加上 pj 的 Allocation[j]，Finish[j] 置 true，回到第 2 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93077" y="331374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94220" y="3581876"/>
              <a:ext cx="426440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找不到时停止；Finish 全为 true 则安全，选出的顺序就是一个安全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</a:t>
              </a:r>
            </a:p>
          </p:txBody>
        </p:sp>
      </p:grpSp>
      <p:grpSp>
        <p:nvGrpSpPr>
          <p:cNvPr id="47" name="c2-callout-2"/>
          <p:cNvGrpSpPr/>
          <p:nvPr/>
        </p:nvGrpSpPr>
        <p:grpSpPr>
          <a:xfrm>
            <a:off x="6680835" y="4172902"/>
            <a:ext cx="4977765" cy="1751648"/>
            <a:chOff x="6680835" y="4172902"/>
            <a:chExt cx="4977765" cy="1751648"/>
          </a:xfrm>
        </p:grpSpPr>
        <p:sp>
          <p:nvSpPr>
            <p:cNvPr id="41" name="Rectangle 41"/>
            <p:cNvSpPr/>
            <p:nvPr/>
          </p:nvSpPr>
          <p:spPr>
            <a:xfrm>
              <a:off x="6680835" y="4172902"/>
              <a:ext cx="4977765" cy="1751648"/>
            </a:xfrm>
            <a:prstGeom prst="roundRect">
              <a:avLst>
                <a:gd name="adj" fmla="val 65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873564" y="4944546"/>
              <a:ext cx="224134" cy="192560"/>
              <a:chOff x="6873564" y="4944546"/>
              <a:chExt cx="224134" cy="19256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985635" y="50149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873564" y="494454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985635" y="50927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188327" y="4830128"/>
              <a:ext cx="408565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易错：第 3 步加回的是 Allocation[j]。pj 运行完释放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的是它原来占有的资源。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678467" cy="909257"/>
            <a:chOff x="520446" y="342900"/>
            <a:chExt cx="46784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死锁避免：银行家算法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6784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例题：T0 时刻的状态是否安全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81081" cy="597598"/>
            <a:chOff x="525399" y="1550194"/>
            <a:chExt cx="10681081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81081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 = {A(10), B(5), C(7)}，P = {p0, p1, p2, p3, p4}。先用 Need = Claim − Allocation 算出 Need，再由资源总数减去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已分配得到 Available。</a:t>
              </a:r>
            </a:p>
          </p:txBody>
        </p:sp>
      </p:grpSp>
      <p:grpSp>
        <p:nvGrpSpPr>
          <p:cNvPr id="45" name="c1-table-1"/>
          <p:cNvGrpSpPr/>
          <p:nvPr/>
        </p:nvGrpSpPr>
        <p:grpSpPr>
          <a:xfrm>
            <a:off x="527685" y="2257425"/>
            <a:ext cx="5091113" cy="3421856"/>
            <a:chOff x="527685" y="2257425"/>
            <a:chExt cx="5091113" cy="3421856"/>
          </a:xfrm>
        </p:grpSpPr>
        <p:sp>
          <p:nvSpPr>
            <p:cNvPr id="9" name="Rectangle 9"/>
            <p:cNvSpPr/>
            <p:nvPr/>
          </p:nvSpPr>
          <p:spPr>
            <a:xfrm>
              <a:off x="533400" y="2257425"/>
              <a:ext cx="5085398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822" y="239649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44270" y="2396490"/>
              <a:ext cx="5405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Claim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24517" y="2396490"/>
              <a:ext cx="1028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Allocation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98385" y="2396490"/>
              <a:ext cx="4882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Need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51138" y="288417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79771" y="2884170"/>
              <a:ext cx="469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7 5 3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03759" y="2884170"/>
              <a:ext cx="469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07744" y="2884170"/>
              <a:ext cx="469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7 4 2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228022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232785"/>
              <a:ext cx="5085398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1138" y="33718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79771" y="3371850"/>
              <a:ext cx="469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3 2 2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03759" y="3371850"/>
              <a:ext cx="469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2 0 0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07744" y="3371850"/>
              <a:ext cx="469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1 2 2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715702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51138" y="385953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79771" y="3859530"/>
              <a:ext cx="469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9 0 2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03759" y="3859530"/>
              <a:ext cx="469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3 0 0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07744" y="3859530"/>
              <a:ext cx="469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6 0 2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203382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4208145"/>
              <a:ext cx="5085398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51138" y="434721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79771" y="4347210"/>
              <a:ext cx="469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2 2 2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03759" y="4347210"/>
              <a:ext cx="469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2 1 1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07744" y="4347210"/>
              <a:ext cx="469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691062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51138" y="483489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79771" y="4834890"/>
              <a:ext cx="469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4 3 3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403759" y="4834890"/>
              <a:ext cx="469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07744" y="4834890"/>
              <a:ext cx="469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4 3 1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2257425"/>
              <a:ext cx="5085398" cy="29260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613535" y="2257425"/>
              <a:ext cx="9525" cy="29260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2807018" y="2257425"/>
              <a:ext cx="9525" cy="29260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460558" y="2257425"/>
              <a:ext cx="9525" cy="29260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7685" y="5259229"/>
              <a:ext cx="482625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各列依次为 A B C。已分配合计 (7, 2, 4)，Available = (10, 5, 7) − (7, 2,</a:t>
              </a:r>
            </a:p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4) = (3, 3, 3)</a:t>
              </a:r>
            </a:p>
          </p:txBody>
        </p:sp>
      </p:grpSp>
      <p:grpSp>
        <p:nvGrpSpPr>
          <p:cNvPr id="82" name="c2-table-1"/>
          <p:cNvGrpSpPr/>
          <p:nvPr/>
        </p:nvGrpSpPr>
        <p:grpSpPr>
          <a:xfrm>
            <a:off x="5917882" y="2257425"/>
            <a:ext cx="5740718" cy="2988469"/>
            <a:chOff x="5917882" y="2257425"/>
            <a:chExt cx="5740718" cy="2988469"/>
          </a:xfrm>
        </p:grpSpPr>
        <p:sp>
          <p:nvSpPr>
            <p:cNvPr id="46" name="Rectangle 46"/>
            <p:cNvSpPr/>
            <p:nvPr/>
          </p:nvSpPr>
          <p:spPr>
            <a:xfrm>
              <a:off x="5923598" y="2257425"/>
              <a:ext cx="573500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37249" y="23931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22134" y="23931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选中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18550" y="2393156"/>
              <a:ext cx="10680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Need ≤ Work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509151" y="2393156"/>
              <a:ext cx="8530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Work 变为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59807" y="284178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99676" y="284178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83595" y="2841784"/>
              <a:ext cx="15379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(1,2,2) ≤ (3,3,3)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597472" y="284178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(5,3,3)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923598" y="3150870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923598" y="3154680"/>
              <a:ext cx="573500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59807" y="329041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299676" y="32904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283595" y="3290411"/>
              <a:ext cx="15379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(0,1,1) ≤ (5,3,3)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597472" y="329041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(7,4,4)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923598" y="359949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359807" y="373903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99676" y="373903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283595" y="3739039"/>
              <a:ext cx="15379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(4,3,1) ≤ (7,4,4)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597472" y="373903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(7,4,6)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923598" y="4048125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923598" y="4052888"/>
              <a:ext cx="573500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59807" y="418861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299676" y="418861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83595" y="4188619"/>
              <a:ext cx="15379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(6,0,2) ≤ (7,4,6)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550086" y="418861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(10,4,6)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923598" y="4496752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359807" y="463724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299676" y="463724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236209" y="4637246"/>
              <a:ext cx="16327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(7,4,2) ≤ (10,4,6)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550086" y="463724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(10,5,7)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923598" y="2257425"/>
              <a:ext cx="5735002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6903720" y="225742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7887652" y="225742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10208895" y="225742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917882" y="5025866"/>
              <a:ext cx="54363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初始 Work = Available = (3,3,3)；每选中一个进程，Work 加上它的 Allocation</a:t>
              </a:r>
            </a:p>
          </p:txBody>
        </p:sp>
      </p:grpSp>
      <p:grpSp>
        <p:nvGrpSpPr>
          <p:cNvPr id="88" name="c2-callout-2"/>
          <p:cNvGrpSpPr/>
          <p:nvPr/>
        </p:nvGrpSpPr>
        <p:grpSpPr>
          <a:xfrm>
            <a:off x="5923598" y="5392102"/>
            <a:ext cx="5735002" cy="782955"/>
            <a:chOff x="5923598" y="5392102"/>
            <a:chExt cx="5735002" cy="782955"/>
          </a:xfrm>
        </p:grpSpPr>
        <p:sp>
          <p:nvSpPr>
            <p:cNvPr id="83" name="Rectangle 83"/>
            <p:cNvSpPr/>
            <p:nvPr/>
          </p:nvSpPr>
          <p:spPr>
            <a:xfrm>
              <a:off x="5923598" y="5392102"/>
              <a:ext cx="5735002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6128385" y="5683568"/>
              <a:ext cx="200026" cy="200026"/>
              <a:chOff x="6128385" y="5683568"/>
              <a:chExt cx="200026" cy="200026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6128385" y="56835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6195060" y="576135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6430328" y="5540692"/>
              <a:ext cx="4387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Finish 全为 true，存在安全序列 &lt;p1, p3, p4, p2,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p0&gt;，T0 状态安全。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35141" cy="909257"/>
            <a:chOff x="520446" y="342900"/>
            <a:chExt cx="77351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死锁避免：银行家算法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351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请求 (1, 0, 2)：试分配后仍然安全，可以分配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419379" cy="2268379"/>
            <a:chOff x="533400" y="1533525"/>
            <a:chExt cx="5419379" cy="226837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748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164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9938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8231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56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检查请求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1833086"/>
              <a:ext cx="50059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Request[2] = (1,0,2) ≤ Need[2] = (6,0,2)，且 ≤ Available = (3,3,3)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14788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试分配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416016"/>
              <a:ext cx="47906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Available = (2,3,1)；Allocation[2] = (4,0,2)；Need[2] = (5,0,0)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7308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安全性检测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998946"/>
              <a:ext cx="47477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Work = (2,3,1) 出发，按右表找到安全序列 &lt;p3, p1, p4, p2, p0&gt;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31374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581876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安全，确认把 (1,0,2) 分给 p2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3965258"/>
            <a:ext cx="5626418" cy="2000250"/>
            <a:chOff x="533400" y="3965258"/>
            <a:chExt cx="5626418" cy="2000250"/>
          </a:xfrm>
        </p:grpSpPr>
        <p:sp>
          <p:nvSpPr>
            <p:cNvPr id="25" name="Rectangle 25"/>
            <p:cNvSpPr/>
            <p:nvPr/>
          </p:nvSpPr>
          <p:spPr>
            <a:xfrm>
              <a:off x="533400" y="3965258"/>
              <a:ext cx="5626418" cy="2000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098608"/>
              <a:ext cx="47625" cy="17335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58190" y="415194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0862" y="41848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66762" y="455295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2782" y="4496752"/>
              <a:ext cx="485717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原课件此页把 p0 行写成 Allocation (0,1,0)、Need (7,4,3)，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与上一页矛盾（C 类合计变成 6）。p0 没有提出请求，应保持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(0,1,1)、(7,4,2)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66762" y="536733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2782" y="531114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原课件的安全序列 &lt;p3,p1,p4,p0,p2&gt; 不成立：p3、p1、p4 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成后 Work = (6,4,4)，p0 还需要 7 个 A</a:t>
              </a:r>
            </a:p>
          </p:txBody>
        </p:sp>
      </p:grpSp>
      <p:grpSp>
        <p:nvGrpSpPr>
          <p:cNvPr id="67" name="c2-table-1"/>
          <p:cNvGrpSpPr/>
          <p:nvPr/>
        </p:nvGrpSpPr>
        <p:grpSpPr>
          <a:xfrm>
            <a:off x="6464618" y="1524000"/>
            <a:ext cx="5193982" cy="3072765"/>
            <a:chOff x="6464618" y="1524000"/>
            <a:chExt cx="5193982" cy="3072765"/>
          </a:xfrm>
        </p:grpSpPr>
        <p:sp>
          <p:nvSpPr>
            <p:cNvPr id="34" name="Rectangle 34"/>
            <p:cNvSpPr/>
            <p:nvPr/>
          </p:nvSpPr>
          <p:spPr>
            <a:xfrm>
              <a:off x="6464618" y="1524000"/>
              <a:ext cx="5193982" cy="439102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02780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选中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98510" y="1648778"/>
              <a:ext cx="439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Need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39102" y="1648778"/>
              <a:ext cx="8997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Work 变为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02780" y="208788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61409" y="208788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332253" y="2087880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(2,3,1)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23974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64618" y="2402205"/>
              <a:ext cx="5193982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79564" y="252698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61543" y="2526982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(0,1,1)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332253" y="2526982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(4,4,2)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28355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79564" y="296608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61543" y="2966085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(1,2,2)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32253" y="2966085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(6,4,2)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4618" y="327469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64618" y="3279458"/>
              <a:ext cx="5193982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79564" y="340518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61543" y="340518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(4,3,1)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32253" y="340518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(6,4,4)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4618" y="371379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79564" y="384333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461543" y="384333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(5,0,0)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82276" y="384333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(10,4,6)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64618" y="41529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64618" y="4157662"/>
              <a:ext cx="5193982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79564" y="4282440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461543" y="4282440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(7,4,2)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282276" y="4282440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(10,5,7)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64618" y="1524000"/>
              <a:ext cx="5193982" cy="30727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912418" y="1524000"/>
              <a:ext cx="9525" cy="30727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715500" y="1524000"/>
              <a:ext cx="9525" cy="30727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4" name="c2-callout-2"/>
          <p:cNvGrpSpPr/>
          <p:nvPr/>
        </p:nvGrpSpPr>
        <p:grpSpPr>
          <a:xfrm>
            <a:off x="6464618" y="4766310"/>
            <a:ext cx="5193982" cy="1199198"/>
            <a:chOff x="6464618" y="4766310"/>
            <a:chExt cx="5193982" cy="1199198"/>
          </a:xfrm>
        </p:grpSpPr>
        <p:sp>
          <p:nvSpPr>
            <p:cNvPr id="68" name="Rectangle 68"/>
            <p:cNvSpPr/>
            <p:nvPr/>
          </p:nvSpPr>
          <p:spPr>
            <a:xfrm>
              <a:off x="6464618" y="4766310"/>
              <a:ext cx="5193982" cy="1199198"/>
            </a:xfrm>
            <a:prstGeom prst="roundRect">
              <a:avLst>
                <a:gd name="adj" fmla="val 953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669405" y="5266373"/>
              <a:ext cx="200026" cy="200025"/>
              <a:chOff x="6669405" y="5266373"/>
              <a:chExt cx="200026" cy="200025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6669405" y="5266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709144" y="5310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743859" y="5421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972110" y="5147310"/>
              <a:ext cx="40256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起点 Work = (2,3,1) 时 p1 要 2 个 C，只能从 p3 开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始。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997669" cy="909257"/>
            <a:chOff x="520446" y="342900"/>
            <a:chExt cx="39976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死锁避免：银行家算法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9976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接着处理 p4 和 p0 的请求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157855" cy="264033"/>
            <a:chOff x="526542" y="1545907"/>
            <a:chExt cx="615785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1578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当前状态：p2 已获得 (1,0,2)，Available = (2,3,1)，其余数据同上一页。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28812"/>
            <a:ext cx="5626418" cy="1503045"/>
            <a:chOff x="533400" y="1928812"/>
            <a:chExt cx="5626418" cy="150304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1503045"/>
            </a:xfrm>
            <a:prstGeom prst="roundRect">
              <a:avLst>
                <a:gd name="adj" fmla="val 88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2363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6410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5335" y="2148364"/>
              <a:ext cx="4676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p4 请求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06664" y="2150745"/>
              <a:ext cx="21489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Request[4] = (3, 3, 0)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253269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2476500"/>
              <a:ext cx="2710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Need[4] = (4,3,1)，请求合法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6762" y="283273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2782" y="2776538"/>
              <a:ext cx="48228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 3 个 A，Available 只有 2 个：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不能满足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，p4 等待，不必做安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全性检测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3601402"/>
            <a:ext cx="5626418" cy="2528888"/>
            <a:chOff x="533400" y="3601402"/>
            <a:chExt cx="5626418" cy="2528888"/>
          </a:xfrm>
        </p:grpSpPr>
        <p:sp>
          <p:nvSpPr>
            <p:cNvPr id="19" name="Rectangle 19"/>
            <p:cNvSpPr/>
            <p:nvPr/>
          </p:nvSpPr>
          <p:spPr>
            <a:xfrm>
              <a:off x="533400" y="3601402"/>
              <a:ext cx="5626418" cy="2528888"/>
            </a:xfrm>
            <a:prstGeom prst="roundRect">
              <a:avLst>
                <a:gd name="adj" fmla="val 52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734752"/>
              <a:ext cx="47625" cy="22621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8190" y="3788092"/>
              <a:ext cx="6410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5335" y="3820954"/>
              <a:ext cx="4676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p0 请求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06664" y="3823335"/>
              <a:ext cx="21489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Request[0] = (0, 2, 0)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66762" y="420528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2782" y="4149090"/>
              <a:ext cx="40577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Need[0] = (7,4,2)，且 ≤ Available = (2,3,1)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66762" y="450532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22782" y="4449128"/>
              <a:ext cx="45742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试分配：Available = (2,1,1)，Allocation[0] = (0,3,1)，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Need[0] = (7,2,2)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66762" y="506253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2782" y="5006340"/>
              <a:ext cx="46085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检测：p3 → (4,2,2)，p1 → (6,2,2)，p2 → (10,2,4)，p0 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(10,5,5)，p4 → (10,5,7)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2475" y="5560219"/>
              <a:ext cx="489026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存在安全序列 &lt;p3, p1, p2, p0, p4&gt;（本题中也是唯一的一个），</a:t>
              </a: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安全，可以</a:t>
              </a:r>
              <a:br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分配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464618" y="1928812"/>
            <a:ext cx="5193982" cy="1185862"/>
            <a:chOff x="6464618" y="1928812"/>
            <a:chExt cx="5193982" cy="1185862"/>
          </a:xfrm>
        </p:grpSpPr>
        <p:sp>
          <p:nvSpPr>
            <p:cNvPr id="32" name="Rectangle 32"/>
            <p:cNvSpPr/>
            <p:nvPr/>
          </p:nvSpPr>
          <p:spPr>
            <a:xfrm>
              <a:off x="6464618" y="1928812"/>
              <a:ext cx="5193982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74142" y="2062162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89408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82079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82549" y="2459355"/>
              <a:ext cx="44628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原课件结论为“p0 请求 (0,2,0) 不安全，取消分配”。按本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题数据核算，试分配后状态安全，应当分配。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464618" y="3284220"/>
            <a:ext cx="5193982" cy="2846070"/>
            <a:chOff x="6464618" y="3284220"/>
            <a:chExt cx="5193982" cy="2846070"/>
          </a:xfrm>
        </p:grpSpPr>
        <p:sp>
          <p:nvSpPr>
            <p:cNvPr id="38" name="Rectangle 38"/>
            <p:cNvSpPr/>
            <p:nvPr/>
          </p:nvSpPr>
          <p:spPr>
            <a:xfrm>
              <a:off x="6464618" y="3284220"/>
              <a:ext cx="5193982" cy="2846070"/>
            </a:xfrm>
            <a:prstGeom prst="roundRect">
              <a:avLst>
                <a:gd name="adj" fmla="val 46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74142" y="3417570"/>
              <a:ext cx="47625" cy="257937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89408" y="347091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74929" y="350377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补充对比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04557" y="3506152"/>
              <a:ext cx="21532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p0 请求的是 (0, 2, 1)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97980" y="388810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53999" y="3831908"/>
              <a:ext cx="25857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仍满足 ≤ Need[0]、≤ Available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697980" y="418814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53999" y="4131945"/>
              <a:ext cx="24780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试分配后 Available = (2,1,0)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697980" y="448818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53999" y="4431982"/>
              <a:ext cx="43428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 要 1 个 C，p1、p4 也要 C，p0、p2 要的 A 超过 2，第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一步就找不到进程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83692" y="4985861"/>
              <a:ext cx="2182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不安全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：撤销试分配，p0 等待。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死锁避免：银行家算法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银行家算法是保守的：判为不安全的分配未必导致死锁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626418" cy="1528762"/>
            <a:chOff x="533400" y="1524000"/>
            <a:chExt cx="5626418" cy="15287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528762"/>
            </a:xfrm>
            <a:prstGeom prst="roundRect">
              <a:avLst>
                <a:gd name="adj" fmla="val 87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620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961" y="174355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604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= {A, B}，各 1 个；P = {p1, p2}，Claim 都是 (1, 1)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41173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355532"/>
              <a:ext cx="30123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p1：申请 a，申请 b，释放 a，释放 b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271176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2655570"/>
              <a:ext cx="4411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p2：申请 b，释放 b，申请 b，申请 a，释放 a，释放 b</a:t>
              </a:r>
            </a:p>
          </p:txBody>
        </p:sp>
      </p:grpSp>
      <p:grpSp>
        <p:nvGrpSpPr>
          <p:cNvPr id="46" name="c1-table-2"/>
          <p:cNvGrpSpPr/>
          <p:nvPr/>
        </p:nvGrpSpPr>
        <p:grpSpPr>
          <a:xfrm>
            <a:off x="528447" y="3223260"/>
            <a:ext cx="5631371" cy="1863756"/>
            <a:chOff x="528447" y="3223260"/>
            <a:chExt cx="5631371" cy="1863756"/>
          </a:xfrm>
        </p:grpSpPr>
        <p:sp>
          <p:nvSpPr>
            <p:cNvPr id="17" name="Rectangle 17"/>
            <p:cNvSpPr/>
            <p:nvPr/>
          </p:nvSpPr>
          <p:spPr>
            <a:xfrm>
              <a:off x="533400" y="3223260"/>
              <a:ext cx="5626418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2233" y="33447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19504" y="334470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 已分配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75814" y="334470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 已分配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34511" y="33447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15611" y="33447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0555" y="37447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49170" y="374475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(0,0)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05480" y="374475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(0,0)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77970" y="374475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(1,1)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0185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02336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4144804"/>
              <a:ext cx="10174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请求 (1,0)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49170" y="414480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(1,0)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05480" y="414480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(0,0)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77970" y="414480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(0,1)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81538" y="414480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安全，分配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4186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0555" y="4544854"/>
              <a:ext cx="10174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请求 (0,1)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149170" y="454485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(1,0)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105480" y="454485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(0,1)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77970" y="454485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(0,0)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81538" y="454485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不安全，不分配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3223260"/>
              <a:ext cx="5626418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879282" y="322326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2835592" y="322326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791902" y="322326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579620" y="322326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8447" y="4896326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最后一行是试分配后的状态</a:t>
              </a:r>
            </a:p>
          </p:txBody>
        </p:sp>
      </p:grpSp>
      <p:grpSp>
        <p:nvGrpSpPr>
          <p:cNvPr id="53" name="c1-callout-3"/>
          <p:cNvGrpSpPr/>
          <p:nvPr/>
        </p:nvGrpSpPr>
        <p:grpSpPr>
          <a:xfrm>
            <a:off x="533400" y="5218748"/>
            <a:ext cx="5626418" cy="978218"/>
            <a:chOff x="533400" y="5218748"/>
            <a:chExt cx="5626418" cy="978218"/>
          </a:xfrm>
        </p:grpSpPr>
        <p:sp>
          <p:nvSpPr>
            <p:cNvPr id="47" name="Rectangle 47"/>
            <p:cNvSpPr/>
            <p:nvPr/>
          </p:nvSpPr>
          <p:spPr>
            <a:xfrm>
              <a:off x="533400" y="5218748"/>
              <a:ext cx="5626418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26129" y="5603676"/>
              <a:ext cx="224134" cy="192560"/>
              <a:chOff x="726129" y="5603676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38200" y="567404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6129" y="560367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57518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892" y="5364480"/>
              <a:ext cx="44714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实际系统很少真的用银行家算法：进程难以预先说出最大需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求，进程数和资源数还会变化。它更多是理解安全状态的模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型。</a:t>
              </a:r>
            </a:p>
          </p:txBody>
        </p:sp>
      </p:grpSp>
      <p:grpSp>
        <p:nvGrpSpPr>
          <p:cNvPr id="60" name="c2-card-1"/>
          <p:cNvGrpSpPr/>
          <p:nvPr/>
        </p:nvGrpSpPr>
        <p:grpSpPr>
          <a:xfrm>
            <a:off x="6464618" y="1524000"/>
            <a:ext cx="5193982" cy="1485900"/>
            <a:chOff x="6464618" y="1524000"/>
            <a:chExt cx="5193982" cy="1485900"/>
          </a:xfrm>
        </p:grpSpPr>
        <p:sp>
          <p:nvSpPr>
            <p:cNvPr id="54" name="Rectangle 54"/>
            <p:cNvSpPr/>
            <p:nvPr/>
          </p:nvSpPr>
          <p:spPr>
            <a:xfrm>
              <a:off x="6464618" y="1524000"/>
              <a:ext cx="5193982" cy="1485900"/>
            </a:xfrm>
            <a:prstGeom prst="roundRect">
              <a:avLst>
                <a:gd name="adj" fmla="val 89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74142" y="1657350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689408" y="171069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66827" y="174355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为什么说保守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82549" y="2054542"/>
              <a:ext cx="44885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试分配后 Work = (0,0)，p1 还要 b，p2 还要 a，只按最大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需求看谁都完成不了，于是判为不安全。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82549" y="2612708"/>
              <a:ext cx="4320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实际上 p2 拿到 b 后立刻就释放 b，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并不会导致死锁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86" name="c2-table-2"/>
          <p:cNvGrpSpPr/>
          <p:nvPr/>
        </p:nvGrpSpPr>
        <p:grpSpPr>
          <a:xfrm>
            <a:off x="6459665" y="3179445"/>
            <a:ext cx="5198935" cy="2264759"/>
            <a:chOff x="6459665" y="3179445"/>
            <a:chExt cx="5198935" cy="2264759"/>
          </a:xfrm>
        </p:grpSpPr>
        <p:sp>
          <p:nvSpPr>
            <p:cNvPr id="61" name="Rectangle 61"/>
            <p:cNvSpPr/>
            <p:nvPr/>
          </p:nvSpPr>
          <p:spPr>
            <a:xfrm>
              <a:off x="6464618" y="3179445"/>
              <a:ext cx="5193982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723418" y="33008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142165" y="3300889"/>
              <a:ext cx="13197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若真的把 b 分给 p2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826788" y="33008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可用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30656" y="37009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393305" y="3700939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b 分给 p2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770248" y="370093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(0,0)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464618" y="397478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64618" y="3979545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830656" y="41009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393305" y="4100989"/>
              <a:ext cx="1255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下一步就释放 b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770248" y="410098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(0,1)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464618" y="43748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830656" y="45010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393305" y="4501039"/>
              <a:ext cx="1918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取得 b，完成后释放 a、b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770248" y="450103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(1,1)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464618" y="477488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464618" y="4779645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830656" y="49010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393305" y="4901089"/>
              <a:ext cx="13382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再取 b、a，完成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770248" y="490108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(1,1)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464618" y="3179445"/>
              <a:ext cx="5193982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7291388" y="317944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10303192" y="317944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459665" y="5253514"/>
              <a:ext cx="29518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p2 的序列是 b −b b a −a −b，拿到 b 之后立刻就还</a:t>
              </a:r>
            </a:p>
          </p:txBody>
        </p:sp>
      </p:grpSp>
      <p:grpSp>
        <p:nvGrpSpPr>
          <p:cNvPr id="93" name="c2-callout-3"/>
          <p:cNvGrpSpPr/>
          <p:nvPr/>
        </p:nvGrpSpPr>
        <p:grpSpPr>
          <a:xfrm>
            <a:off x="6464618" y="5575935"/>
            <a:ext cx="5193982" cy="729615"/>
            <a:chOff x="6464618" y="5575935"/>
            <a:chExt cx="5193982" cy="729615"/>
          </a:xfrm>
        </p:grpSpPr>
        <p:sp>
          <p:nvSpPr>
            <p:cNvPr id="87" name="Rectangle 87"/>
            <p:cNvSpPr/>
            <p:nvPr/>
          </p:nvSpPr>
          <p:spPr>
            <a:xfrm>
              <a:off x="6464618" y="5575935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6669405" y="5839778"/>
              <a:ext cx="200026" cy="200026"/>
              <a:chOff x="6669405" y="5839778"/>
              <a:chExt cx="200026" cy="200026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6669405" y="58397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6769418" y="59064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6758305" y="59397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6972110" y="5721668"/>
              <a:ext cx="41285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银行家算法只知道各进程的最大需求，无法区分这种情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况，只能拒绝。</a:t>
              </a:r>
            </a:p>
          </p:txBody>
        </p:sp>
      </p:grpSp>
      <p:grpSp>
        <p:nvGrpSpPr>
          <p:cNvPr id="9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4" name="TextBox 9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62798" cy="909257"/>
            <a:chOff x="520446" y="342900"/>
            <a:chExt cx="67627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死锁避免：银行家算法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627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讨论：能不能判断得更准（5.11 有关问题）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2343150"/>
            <a:chOff x="533400" y="1524000"/>
            <a:chExt cx="5410200" cy="23431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43150"/>
            </a:xfrm>
            <a:prstGeom prst="roundRect">
              <a:avLst>
                <a:gd name="adj" fmla="val 56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764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558" y="174355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关于充要性算法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6600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银行家算法只用到“最大需求”这一个信息，这对充要性分析是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不够的，所以只能保守。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66890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61270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若进程预先给出有关资源的命令（活动）序列，可以设计充要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的死锁避免算法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322611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3169920"/>
              <a:ext cx="28844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但这个问题是 NP 完全的，复杂度高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6762" y="352615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2782" y="346995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程序中有分支和循环，预先给出命令序列本身就很困难</a:t>
              </a:r>
            </a:p>
          </p:txBody>
        </p:sp>
      </p:grpSp>
      <p:grpSp>
        <p:nvGrpSpPr>
          <p:cNvPr id="34" name="c1-table-2"/>
          <p:cNvGrpSpPr/>
          <p:nvPr/>
        </p:nvGrpSpPr>
        <p:grpSpPr>
          <a:xfrm>
            <a:off x="528447" y="4037648"/>
            <a:ext cx="5415153" cy="1863756"/>
            <a:chOff x="528447" y="4037648"/>
            <a:chExt cx="5415153" cy="1863756"/>
          </a:xfrm>
        </p:grpSpPr>
        <p:sp>
          <p:nvSpPr>
            <p:cNvPr id="19" name="Rectangle 19"/>
            <p:cNvSpPr/>
            <p:nvPr/>
          </p:nvSpPr>
          <p:spPr>
            <a:xfrm>
              <a:off x="533400" y="4037648"/>
              <a:ext cx="5410200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06627" y="415909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系统知道多少信息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37889" y="415909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能做到什么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0555" y="455914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只知道当前占有和请求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94635" y="4559141"/>
              <a:ext cx="1918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检测此刻是否已死锁（5.8）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8329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4837748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0555" y="495919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再加上各进程最大需求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94635" y="4959191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保守地避免（银行家），会拒绝安全的分配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2330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535924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再加上完整活动序列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94635" y="5359241"/>
              <a:ext cx="23930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可以充要判定，但问题是 NP 完全的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037648"/>
              <a:ext cx="54102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692718" y="403764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8447" y="5710714"/>
              <a:ext cx="41656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信息越多判断越准，代价也越高；5.14 的静态分析就建立在最后一行上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248400" y="1524000"/>
            <a:ext cx="5410200" cy="1189672"/>
            <a:chOff x="6248400" y="1524000"/>
            <a:chExt cx="5410200" cy="1189672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1189672"/>
            </a:xfrm>
            <a:prstGeom prst="roundRect">
              <a:avLst>
                <a:gd name="adj" fmla="val 112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1657350"/>
              <a:ext cx="47625" cy="92297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3190" y="171069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50609" y="174355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生灭资源问题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66332" y="2054542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消息、信号这类资源由进程产生，被接收后就不存在了。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67475" y="2351246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两类资源并存时，前面针对可重用资源的分析方法不能直接套用。</a:t>
              </a:r>
            </a:p>
          </p:txBody>
        </p:sp>
      </p:grpSp>
      <p:grpSp>
        <p:nvGrpSpPr>
          <p:cNvPr id="57" name="c2-table-2"/>
          <p:cNvGrpSpPr/>
          <p:nvPr/>
        </p:nvGrpSpPr>
        <p:grpSpPr>
          <a:xfrm>
            <a:off x="6248400" y="2884170"/>
            <a:ext cx="5410200" cy="1600200"/>
            <a:chOff x="6248400" y="2884170"/>
            <a:chExt cx="5410200" cy="1600200"/>
          </a:xfrm>
        </p:grpSpPr>
        <p:sp>
          <p:nvSpPr>
            <p:cNvPr id="42" name="Rectangle 42"/>
            <p:cNvSpPr/>
            <p:nvPr/>
          </p:nvSpPr>
          <p:spPr>
            <a:xfrm>
              <a:off x="6248400" y="2884170"/>
              <a:ext cx="5410200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90741" y="300561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资源类型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01698" y="30056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258146" y="30056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45555" y="350567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可重用资源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43812" y="350567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打印机、内存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66872" y="3405664"/>
              <a:ext cx="21450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数目固定，用完归还，可用分配图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和银行家算法分析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3879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48400" y="3884295"/>
              <a:ext cx="541020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45555" y="410575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消耗性资源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43812" y="410575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消息、信号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66872" y="4005739"/>
              <a:ext cx="21450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由进程产生，接收后消失，数目不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2884170"/>
              <a:ext cx="54102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541895" y="288417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164955" y="288417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ard-3"/>
          <p:cNvGrpSpPr/>
          <p:nvPr/>
        </p:nvGrpSpPr>
        <p:grpSpPr>
          <a:xfrm>
            <a:off x="6248400" y="4653915"/>
            <a:ext cx="5410200" cy="1697355"/>
            <a:chOff x="6248400" y="4653915"/>
            <a:chExt cx="5410200" cy="1697355"/>
          </a:xfrm>
        </p:grpSpPr>
        <p:sp>
          <p:nvSpPr>
            <p:cNvPr id="58" name="Rectangle 58"/>
            <p:cNvSpPr/>
            <p:nvPr/>
          </p:nvSpPr>
          <p:spPr>
            <a:xfrm>
              <a:off x="6248400" y="4653915"/>
              <a:ext cx="5410200" cy="1697355"/>
            </a:xfrm>
            <a:prstGeom prst="roundRect">
              <a:avLst>
                <a:gd name="adj" fmla="val 78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57925" y="4787265"/>
              <a:ext cx="47625" cy="1430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73190" y="4840605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46558" y="487346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关于两阶段封锁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66332" y="5184458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数据库事务先只加锁（增长阶段），再只解锁（收缩阶段）。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481762" y="554164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637782" y="548544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增长阶段各事务交叉加锁，仍可能形成循环等待而死锁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67475" y="5781199"/>
              <a:ext cx="471957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数据库的做法是检测加回滚：选一个事务回退重做，对应 5.9 的剥夺资源 +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进程回退。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913632" cy="2997517"/>
            <a:chOff x="667512" y="1835468"/>
            <a:chExt cx="391363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死锁的检测与恢复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允许死锁发生，查出来再处理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48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5.8.1 死锁检测算法与例题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42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5.8.2 什么时候检测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24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5.9 怎样从死锁中恢复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93156" cy="909257"/>
            <a:chOff x="520446" y="342900"/>
            <a:chExt cx="8393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死锁的检测与恢复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93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死锁检测算法：把安全性检测里的 Need 换成 Request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193982" cy="2733675"/>
            <a:chOff x="533400" y="1524000"/>
            <a:chExt cx="5193982" cy="2733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733675"/>
            </a:xfrm>
            <a:prstGeom prst="roundRect">
              <a:avLst>
                <a:gd name="adj" fmla="val 34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死锁检测（伪代码）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674110" cy="2248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Work := Available;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Finish := false;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while 存在 i 满足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Finish[i] = false 且 Request[i] ≤ Work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Work := Work + Allocation[i];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Finish[i] := true;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if 对所有 i，Finish[i] = true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then 无死锁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else 死锁;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Finish[i]=false 者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4448175"/>
            <a:ext cx="5193982" cy="1847850"/>
            <a:chOff x="533400" y="4448175"/>
            <a:chExt cx="5193982" cy="1847850"/>
          </a:xfrm>
        </p:grpSpPr>
        <p:sp>
          <p:nvSpPr>
            <p:cNvPr id="11" name="Rectangle 11"/>
            <p:cNvSpPr/>
            <p:nvPr/>
          </p:nvSpPr>
          <p:spPr>
            <a:xfrm>
              <a:off x="533400" y="4448175"/>
              <a:ext cx="5193982" cy="1847850"/>
            </a:xfrm>
            <a:prstGeom prst="roundRect">
              <a:avLst>
                <a:gd name="adj" fmla="val 7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581525"/>
              <a:ext cx="47625" cy="1581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465772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3359" y="4693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检测范围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5034915"/>
              <a:ext cx="448103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令 P 为全部进程，P′ ⊆ P 为占有资源的进程，则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 死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锁 ⇔ P′ 死锁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573" y="5652611"/>
              <a:ext cx="43695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恢复只需处理 P′ 中的进程；检测时不考虑 P − P′，缩小了范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围，降低开销。</a:t>
              </a:r>
            </a:p>
          </p:txBody>
        </p:sp>
      </p:grpSp>
      <p:grpSp>
        <p:nvGrpSpPr>
          <p:cNvPr id="42" name="c2-table-1"/>
          <p:cNvGrpSpPr/>
          <p:nvPr/>
        </p:nvGrpSpPr>
        <p:grpSpPr>
          <a:xfrm>
            <a:off x="6032182" y="1524000"/>
            <a:ext cx="5626418" cy="2470786"/>
            <a:chOff x="6032182" y="1524000"/>
            <a:chExt cx="5626418" cy="2470786"/>
          </a:xfrm>
        </p:grpSpPr>
        <p:sp>
          <p:nvSpPr>
            <p:cNvPr id="18" name="Rectangle 18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8636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29499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安全性检测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1021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死锁检测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140006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比较的量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77303" y="2108359"/>
              <a:ext cx="1260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Need[j] ≤ Work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71863" y="2108359"/>
              <a:ext cx="15436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Request[i] ≤ Work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32182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32182" y="24212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140006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需要预知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77303" y="255698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各进程最大需求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71863" y="255698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不需要，只看当前请求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32182" y="28660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40006" y="311896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77303" y="311896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不安全表示将来可能死锁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71863" y="3005614"/>
              <a:ext cx="183362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Finish 为 false 的进程此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刻已死锁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032182" y="35413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032182" y="3546158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40006" y="36809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使用时机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77303" y="36809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每次分配前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71863" y="36809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定期或按需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32182" y="1524000"/>
              <a:ext cx="5626418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264718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459278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card-2"/>
          <p:cNvGrpSpPr/>
          <p:nvPr/>
        </p:nvGrpSpPr>
        <p:grpSpPr>
          <a:xfrm>
            <a:off x="6032182" y="4185285"/>
            <a:ext cx="5626418" cy="2110740"/>
            <a:chOff x="6032182" y="4185285"/>
            <a:chExt cx="5626418" cy="2110740"/>
          </a:xfrm>
        </p:grpSpPr>
        <p:sp>
          <p:nvSpPr>
            <p:cNvPr id="43" name="Rectangle 43"/>
            <p:cNvSpPr/>
            <p:nvPr/>
          </p:nvSpPr>
          <p:spPr>
            <a:xfrm>
              <a:off x="6032182" y="4185285"/>
              <a:ext cx="5626418" cy="2110740"/>
            </a:xfrm>
            <a:prstGeom prst="roundRect">
              <a:avLst>
                <a:gd name="adj" fmla="val 63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41708" y="4318635"/>
              <a:ext cx="47625" cy="184404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79832" y="4394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61189" y="4430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两点说明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279832" y="475869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41682" y="48009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80823" y="477202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上述算法能找出参与死锁的全部进程，包括占有资源的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和不占有资源的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279832" y="537972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41682" y="54220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80823" y="5393055"/>
              <a:ext cx="4615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只想找占有资源的进程时，初始化对 Allocation[i] = 0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的进程直接置 Finish[i] = true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死锁的检测与恢复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检测例题：再多一个请求，四个进程就死锁了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857146" cy="264033"/>
            <a:chOff x="526542" y="1545907"/>
            <a:chExt cx="985714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8571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 = {A(7), B(3), C(6)}，P = {p0, …, p4}，Available = (0, 1, 0)。数据结构只需 Available、Allocation、Request。</a:t>
              </a:r>
            </a:p>
          </p:txBody>
        </p:sp>
      </p:grpSp>
      <p:grpSp>
        <p:nvGrpSpPr>
          <p:cNvPr id="38" name="c1-table-1"/>
          <p:cNvGrpSpPr/>
          <p:nvPr/>
        </p:nvGrpSpPr>
        <p:grpSpPr>
          <a:xfrm>
            <a:off x="528447" y="1928812"/>
            <a:ext cx="4549331" cy="2663857"/>
            <a:chOff x="528447" y="1928812"/>
            <a:chExt cx="4549331" cy="2663857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544378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5086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76496" y="2050256"/>
              <a:ext cx="7676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Allocation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81890" y="2050256"/>
              <a:ext cx="625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Request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78788" y="24503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84996" y="2450306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19486" y="2450306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2415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28912"/>
              <a:ext cx="454437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78788" y="28503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84996" y="2850356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2 0 0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19486" y="2850356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2 0 2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12420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78788" y="32504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84996" y="3250406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3 0 3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19486" y="3250406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52425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529012"/>
              <a:ext cx="454437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78788" y="36504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84996" y="3650456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2 1 1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19486" y="3650456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1 0 0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92430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78788" y="40505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84996" y="4050506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19486" y="4050506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928812"/>
              <a:ext cx="4544378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804988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506152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8447" y="4401979"/>
              <a:ext cx="1025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各列依次为 A B C</a:t>
              </a:r>
            </a:p>
          </p:txBody>
        </p:sp>
      </p:grpSp>
      <p:grpSp>
        <p:nvGrpSpPr>
          <p:cNvPr id="48" name="c1-card-2"/>
          <p:cNvGrpSpPr/>
          <p:nvPr/>
        </p:nvGrpSpPr>
        <p:grpSpPr>
          <a:xfrm>
            <a:off x="533400" y="4724400"/>
            <a:ext cx="4544378" cy="1489710"/>
            <a:chOff x="533400" y="4724400"/>
            <a:chExt cx="4544378" cy="1489710"/>
          </a:xfrm>
        </p:grpSpPr>
        <p:sp>
          <p:nvSpPr>
            <p:cNvPr id="39" name="Rectangle 39"/>
            <p:cNvSpPr/>
            <p:nvPr/>
          </p:nvSpPr>
          <p:spPr>
            <a:xfrm>
              <a:off x="533400" y="4724400"/>
              <a:ext cx="4544378" cy="1489710"/>
            </a:xfrm>
            <a:prstGeom prst="roundRect">
              <a:avLst>
                <a:gd name="adj" fmla="val 89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42925" y="4857750"/>
              <a:ext cx="47625" cy="122301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58190" y="4911090"/>
              <a:ext cx="1674495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13926" y="4943951"/>
              <a:ext cx="15630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此时 p2 又请求 (0, 0, 1)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66762" y="531114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22782" y="5254942"/>
              <a:ext cx="3746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 完成后 Work = (0,2,0)，A、C 两类都是 0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66762" y="561213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2782" y="5555933"/>
              <a:ext cx="36114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p1、p2、p4 都要 C，p3 要 A，全部满足不了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2475" y="5851684"/>
              <a:ext cx="33224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Finish[1..4] 为 false：p1、p2、p3、p4 死锁。</a:t>
              </a:r>
            </a:p>
          </p:txBody>
        </p:sp>
      </p:grpSp>
      <p:grpSp>
        <p:nvGrpSpPr>
          <p:cNvPr id="84" name="c2-table-1"/>
          <p:cNvGrpSpPr/>
          <p:nvPr/>
        </p:nvGrpSpPr>
        <p:grpSpPr>
          <a:xfrm>
            <a:off x="5382578" y="1928812"/>
            <a:ext cx="6276022" cy="2400300"/>
            <a:chOff x="5382578" y="1928812"/>
            <a:chExt cx="6276022" cy="2400300"/>
          </a:xfrm>
        </p:grpSpPr>
        <p:sp>
          <p:nvSpPr>
            <p:cNvPr id="49" name="Rectangle 49"/>
            <p:cNvSpPr/>
            <p:nvPr/>
          </p:nvSpPr>
          <p:spPr>
            <a:xfrm>
              <a:off x="5382578" y="1928812"/>
              <a:ext cx="6276022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824258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20598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选中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19803" y="2050256"/>
              <a:ext cx="11950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Request ≤ Work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485264" y="2050256"/>
              <a:ext cx="7464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Work 变为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931496" y="2450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88447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44413" y="2450306"/>
              <a:ext cx="1345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(0,0,0) ≤ (0,1,0)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562544" y="245030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(0,2,0)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82578" y="27241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382578" y="2728912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931496" y="2850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088447" y="28503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244413" y="2850356"/>
              <a:ext cx="1345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(0,0,0) ≤ (0,2,0)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562544" y="285035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(3,2,3)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82578" y="31242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931496" y="3250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088447" y="32504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244413" y="3250406"/>
              <a:ext cx="1345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(2,0,2) ≤ (3,2,3)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562544" y="325040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(5,2,3)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382578" y="35242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5382578" y="3529012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931496" y="36504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088447" y="36504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44413" y="3650456"/>
              <a:ext cx="1345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(1,0,0) ≤ (5,2,3)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562544" y="365045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(7,3,4)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382578" y="39243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931496" y="4050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088447" y="40505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244413" y="4050506"/>
              <a:ext cx="1345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(0,0,2) ≤ (7,3,4)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562544" y="405050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(7,3,6)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382578" y="1928812"/>
              <a:ext cx="6276022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6574155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7770495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10054590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4" name="c2-card-2"/>
          <p:cNvGrpSpPr/>
          <p:nvPr/>
        </p:nvGrpSpPr>
        <p:grpSpPr>
          <a:xfrm>
            <a:off x="5382578" y="4498658"/>
            <a:ext cx="6276022" cy="1506855"/>
            <a:chOff x="5382578" y="4498658"/>
            <a:chExt cx="6276022" cy="1506855"/>
          </a:xfrm>
        </p:grpSpPr>
        <p:sp>
          <p:nvSpPr>
            <p:cNvPr id="85" name="Rectangle 85"/>
            <p:cNvSpPr/>
            <p:nvPr/>
          </p:nvSpPr>
          <p:spPr>
            <a:xfrm>
              <a:off x="5382578" y="4498658"/>
              <a:ext cx="6276022" cy="1506855"/>
            </a:xfrm>
            <a:prstGeom prst="roundRect">
              <a:avLst>
                <a:gd name="adj" fmla="val 88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5392102" y="4632008"/>
              <a:ext cx="47625" cy="12401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600510" y="4708208"/>
              <a:ext cx="29091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原状态 Finish 全为 true，未死锁。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5615940" y="506444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5771960" y="5008245"/>
              <a:ext cx="29457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Request 为 0 的 p0、p2 最先被选中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5615940" y="536448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5771960" y="5308283"/>
              <a:ext cx="4580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每轮任选一个满足条件的进程，顺序不影响最终的 Finish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5615940" y="5664517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5771960" y="5608320"/>
              <a:ext cx="543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停下时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Finish 仍为 false 的进程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就是死锁进程，恢复时只处理它们</a:t>
              </a:r>
            </a:p>
          </p:txBody>
        </p:sp>
      </p:grpSp>
      <p:grpSp>
        <p:nvGrpSpPr>
          <p:cNvPr id="9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5" name="TextBox 9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死锁的检测与恢复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什么时候检测，检测到之后怎样恢复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4111942" cy="2343150"/>
            <a:chOff x="533400" y="1524000"/>
            <a:chExt cx="4111942" cy="23431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111942" cy="2343150"/>
            </a:xfrm>
            <a:prstGeom prst="roundRect">
              <a:avLst>
                <a:gd name="adj" fmla="val 56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764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1058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535" y="1743551"/>
              <a:ext cx="9601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5.8.2 检测时刻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34427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考虑因素：死锁发生的频度；死锁影响到的进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58190" y="2600325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3868" y="263871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8987" y="2612708"/>
              <a:ext cx="32712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进程等待时检测：发现早、恢复代价小，但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系统开销（overhead）大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58190" y="3157538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3868" y="319592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8987" y="316992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定时检测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58190" y="3457575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3868" y="349596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8987" y="3469958"/>
              <a:ext cx="2750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资源（如 CPU）利用率下降时检测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4037648"/>
            <a:ext cx="4111942" cy="1882140"/>
            <a:chOff x="533400" y="4037648"/>
            <a:chExt cx="4111942" cy="1882140"/>
          </a:xfrm>
        </p:grpSpPr>
        <p:sp>
          <p:nvSpPr>
            <p:cNvPr id="22" name="Rectangle 22"/>
            <p:cNvSpPr/>
            <p:nvPr/>
          </p:nvSpPr>
          <p:spPr>
            <a:xfrm>
              <a:off x="533400" y="4037648"/>
              <a:ext cx="4111942" cy="1882140"/>
            </a:xfrm>
            <a:prstGeom prst="roundRect">
              <a:avLst>
                <a:gd name="adj" fmla="val 70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170998"/>
              <a:ext cx="47625" cy="161544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58190" y="4224338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1558" y="425719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选牺牲者看什么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66762" y="462438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22782" y="456819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优先级、已运行多久、还要运行多久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66762" y="492442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2782" y="486822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占有资源的数量和类型、还差多少资源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66762" y="522541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2782" y="516921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回退代价、是否交互式、已被选中几次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4950142" y="1524000"/>
            <a:ext cx="6708458" cy="2400300"/>
            <a:chOff x="4950142" y="1524000"/>
            <a:chExt cx="6708458" cy="2400300"/>
          </a:xfrm>
        </p:grpSpPr>
        <p:sp>
          <p:nvSpPr>
            <p:cNvPr id="33" name="Rectangle 33"/>
            <p:cNvSpPr/>
            <p:nvPr/>
          </p:nvSpPr>
          <p:spPr>
            <a:xfrm>
              <a:off x="4950142" y="1524000"/>
              <a:ext cx="6708458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26711" y="1645444"/>
              <a:ext cx="923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5.9 恢复方法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7878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9530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47298" y="21455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重新启动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22720" y="21455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重新启动系统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42145" y="2045494"/>
              <a:ext cx="1860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简单，但代价大，未参与死锁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的进程也受牵连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950142" y="251936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950142" y="2524125"/>
              <a:ext cx="6708458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47298" y="27455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终止进程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22720" y="2645569"/>
              <a:ext cx="25717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终止环路上占有资源的进程：一次性全部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终止，或按优先级、代价函数逐个终止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42145" y="274558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被终止进程已做的工作丢失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950142" y="31194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047298" y="3345656"/>
              <a:ext cx="1178865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剥夺资源 + 进程回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22720" y="3345656"/>
              <a:ext cx="260019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选一个牺牲者（select a victim），剥夺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其资源并回退（rollback）到以前的状态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42145" y="3245644"/>
              <a:ext cx="1860550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保存快照（snapshot）代价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大；消除已产生的影响困难；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同一进程反复被选中会饥饿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950142" y="1524000"/>
              <a:ext cx="6708458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20802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44022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2-table-2"/>
          <p:cNvGrpSpPr/>
          <p:nvPr/>
        </p:nvGrpSpPr>
        <p:grpSpPr>
          <a:xfrm>
            <a:off x="4945190" y="4093845"/>
            <a:ext cx="6713410" cy="1864709"/>
            <a:chOff x="4945190" y="4093845"/>
            <a:chExt cx="6713410" cy="1864709"/>
          </a:xfrm>
        </p:grpSpPr>
        <p:sp>
          <p:nvSpPr>
            <p:cNvPr id="53" name="Rectangle 53"/>
            <p:cNvSpPr/>
            <p:nvPr/>
          </p:nvSpPr>
          <p:spPr>
            <a:xfrm>
              <a:off x="4950142" y="4093845"/>
              <a:ext cx="6708458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648719" y="421528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解除方案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34783" y="421528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释放出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381147" y="421528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重新检测的结果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047298" y="4615339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终止 p2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59930" y="4615339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(3,0,3)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267700" y="4615339"/>
              <a:ext cx="27411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Work = (3,2,3)，p1、p3、p4 依次完成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950142" y="488918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950142" y="4893945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047298" y="5015389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终止 p1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59930" y="5015389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(2,0,0)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267700" y="5015389"/>
              <a:ext cx="27411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Work = (2,2,0)，p3、p2、p4 依次完成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950142" y="528923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047298" y="5415439"/>
              <a:ext cx="12079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剥夺 p4 的 2 个 C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059930" y="5415439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(0,0,2)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267700" y="5415439"/>
              <a:ext cx="3253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Work = (0,2,2)，p2、p3、p1 完成，p4 再申请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4950142" y="4093845"/>
              <a:ext cx="6708458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958012" y="409384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8165782" y="409384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4945190" y="5767864"/>
              <a:ext cx="37566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承第 31 页的死锁：剥夺资源只需让 p4 回退，代价比终止进程小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13170" cy="3675697"/>
            <a:chOff x="667512" y="1835468"/>
            <a:chExt cx="6313170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饥饿、过河问题与静态分析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032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不死锁也可能永远轮不到；已知活动序列时，还能事先判断有没有死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锁可能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1529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5.12 饥饿与活锁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29432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5.13 两个过河问题的信号量解法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7412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5.14 简单组合资源的静态分析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31451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5.15 同种组合资源死锁的必要条件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饥饿、过河问题与静态分析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饥饿、饿死与活锁，和死锁的区别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4544378" cy="3146108"/>
            <a:chOff x="533400" y="1524000"/>
            <a:chExt cx="4544378" cy="31461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3146108"/>
            </a:xfrm>
            <a:prstGeom prst="roundRect">
              <a:avLst>
                <a:gd name="adj" fmla="val 42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87940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86772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0057" y="1769269"/>
              <a:ext cx="7087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5.12 定义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饥饿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：等待时间给进程推进和响应带来明显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影响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饿死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：饥饿到一定程度，进程的使命即使完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成也不再有实际意义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156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5280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活锁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：忙式等待条件下发生的饥饿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573" y="3684746"/>
              <a:ext cx="39143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没有时间上界的等待有两种：排队等待、忙式等待。死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锁和饥饿都是进程竞争资源引起的。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5382578" y="1524000"/>
            <a:ext cx="6276022" cy="3146108"/>
            <a:chOff x="5382578" y="1524000"/>
            <a:chExt cx="6276022" cy="3146108"/>
          </a:xfrm>
        </p:grpSpPr>
        <p:sp>
          <p:nvSpPr>
            <p:cNvPr id="19" name="Rectangle 19"/>
            <p:cNvSpPr/>
            <p:nvPr/>
          </p:nvSpPr>
          <p:spPr>
            <a:xfrm>
              <a:off x="5382578" y="1524000"/>
              <a:ext cx="627602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4532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8884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死锁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09868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饿死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90401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进程状态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45796" y="222170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处于等待（阻塞）状态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05126" y="2108359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可能在忙式等待，并不处于等待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82578" y="26431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82578" y="2647950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490401" y="28970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等的资源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45796" y="289702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永远不会被释放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05126" y="2783681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会被释放，但总分不到自己，等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待时间没有上界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82578" y="33194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490401" y="34590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循环等待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45796" y="34590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一定存在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05126" y="345900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不一定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82578" y="376809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82578" y="3772852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90401" y="39076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涉及进程数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45796" y="3907631"/>
              <a:ext cx="7280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至少 2 个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05126" y="3907631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可能只有 1 个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82578" y="421671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490401" y="435721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能否察觉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45796" y="435721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可以检测出来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05126" y="435721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不易判断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82578" y="1524000"/>
              <a:ext cx="6276022" cy="3146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33210" y="1524000"/>
              <a:ext cx="9525" cy="3146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892540" y="1524000"/>
              <a:ext cx="9525" cy="3146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8" name="Rectangle 4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5991225"/>
              <a:ext cx="68930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易错：活锁中的进程一直在运行（忙等），CPU 可能很忙，事情却没有进展。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89773" cy="909257"/>
            <a:chOff x="520446" y="342900"/>
            <a:chExt cx="70897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饥饿、过河问题与静态分析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897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过河问题（1）：同一时刻只允许一个方向过河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842635" cy="1986915"/>
            <a:chOff x="533400" y="1524000"/>
            <a:chExt cx="5842635" cy="19869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5168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河上有一排踏脚石 1, 2, …, n，东西两岸的人都要踩着石头过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河。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177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两个方向的人在河中相遇，谁都无法前进，发生死锁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06705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预防办法：任一时刻只允许一个方向的人过河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701415"/>
            <a:ext cx="5842635" cy="2232660"/>
            <a:chOff x="533400" y="3701415"/>
            <a:chExt cx="5842635" cy="2232660"/>
          </a:xfrm>
        </p:grpSpPr>
        <p:sp>
          <p:nvSpPr>
            <p:cNvPr id="17" name="Rectangle 17"/>
            <p:cNvSpPr/>
            <p:nvPr/>
          </p:nvSpPr>
          <p:spPr>
            <a:xfrm>
              <a:off x="533400" y="3701415"/>
              <a:ext cx="5842635" cy="2232660"/>
            </a:xfrm>
            <a:prstGeom prst="roundRect">
              <a:avLst>
                <a:gd name="adj" fmla="val 59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834765"/>
              <a:ext cx="47625" cy="196596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391096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3359" y="39466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变量设计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6765" y="43510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4880" y="428815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west_crossing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east_crossing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：正在过河的人数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6765" y="468630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4880" y="462343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west_wait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east_wait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：在岸边等待的人数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86765" y="502158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4880" y="4958715"/>
              <a:ext cx="4730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wq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eq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：两岸的等待信号量；</a:t>
              </a:r>
              <a:r>
                <a:rPr lang="en-US" sz="1500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mutex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：保护上述计数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4573" y="5290661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对岸有人正在过河就等；本方向最后一人过完时，唤醒对岸全部等待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者。</a:t>
              </a:r>
            </a:p>
          </p:txBody>
        </p:sp>
      </p:grpSp>
      <p:grpSp>
        <p:nvGrpSpPr>
          <p:cNvPr id="31" name="c2-image-1"/>
          <p:cNvGrpSpPr/>
          <p:nvPr/>
        </p:nvGrpSpPr>
        <p:grpSpPr>
          <a:xfrm>
            <a:off x="6680835" y="1524000"/>
            <a:ext cx="4977765" cy="4863942"/>
            <a:chOff x="6680835" y="1524000"/>
            <a:chExt cx="4977765" cy="4863942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rcRect l="8966" t="0" r="8967" b="0"/>
            <a:stretch>
              <a:fillRect/>
            </a:stretch>
          </p:blipFill>
          <p:spPr>
            <a:xfrm>
              <a:off x="6680835" y="1524000"/>
              <a:ext cx="4977765" cy="4549140"/>
            </a:xfrm>
            <a:prstGeom prst="roundRect">
              <a:avLst>
                <a:gd name="adj" fmla="val 2931"/>
              </a:avLst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7505484" y="6167914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每块石头只容一人，两个方向的人不能同时上石头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343525" cy="909257"/>
            <a:chOff x="520446" y="342900"/>
            <a:chExt cx="43435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饥饿、过河问题与静态分析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3435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过河问题（1）的信号量解法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3912870"/>
            <a:chOff x="533400" y="1524000"/>
            <a:chExt cx="5410200" cy="39128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912870"/>
            </a:xfrm>
            <a:prstGeom prst="roundRect">
              <a:avLst>
                <a:gd name="adj" fmla="val 24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西岸过河者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2871026" cy="3427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P(mutex);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east_crossing &gt; 0 then begin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west_wait := west_wait + 1;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V(mutex); P(wq);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等东岸过完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else begin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west_crossing := west_crossing + 1;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V(mutex);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过河;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P(mutex);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west_crossing := west_crossing - 1;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west_crossing = 0 then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east_wait &gt; 0 do begin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east_wait := east_wait - 1;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east_crossing := east_crossing + 1;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V(eq);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V(mutex);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6248400" y="1524000"/>
            <a:ext cx="5410200" cy="3912870"/>
            <a:chOff x="6248400" y="1524000"/>
            <a:chExt cx="5410200" cy="3912870"/>
          </a:xfrm>
        </p:grpSpPr>
        <p:sp>
          <p:nvSpPr>
            <p:cNvPr id="11" name="Rectangle 11"/>
            <p:cNvSpPr/>
            <p:nvPr/>
          </p:nvSpPr>
          <p:spPr>
            <a:xfrm>
              <a:off x="6248400" y="1524000"/>
              <a:ext cx="5410200" cy="3912870"/>
            </a:xfrm>
            <a:prstGeom prst="roundRect">
              <a:avLst>
                <a:gd name="adj" fmla="val 24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376797" y="16759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东岸过河者（与左边对称）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76416" y="1937385"/>
              <a:ext cx="2871026" cy="3427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P(mutex);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west_crossing &gt; 0 then begin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east_wait := east_wait + 1;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V(mutex); P(eq);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等西岸过完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else begin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east_crossing := east_crossing + 1;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V(mutex);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过河;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P(mutex);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east_crossing := east_crossing - 1;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east_crossing = 0 then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west_wait &gt; 0 do begin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west_wait := west_wait - 1;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west_crossing := west_crossing + 1;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V(wq);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V(mutex);</a:t>
              </a:r>
            </a:p>
          </p:txBody>
        </p:sp>
      </p:grpSp>
      <p:grpSp>
        <p:nvGrpSpPr>
          <p:cNvPr id="21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15" name="Rectangle 15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511" y="6011704"/>
              <a:ext cx="96394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初值：四个计数为 0，mutex = 1，wq = eq = 0。被唤醒的人不再自己加计数，唤醒方已经替他把 crossing 加 1。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2" name="TextBox 2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饥饿、过河问题与静态分析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这个解法不会死锁，但可能饿死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790700"/>
            <a:chOff x="533400" y="1524000"/>
            <a:chExt cx="5410200" cy="17907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90700"/>
            </a:xfrm>
            <a:prstGeom prst="roundRect">
              <a:avLst>
                <a:gd name="adj" fmla="val 74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240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5609" y="174355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为什么会饿死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211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西岸的人只要看到“东岸没人在过河”就直接上石头。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41173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355532"/>
              <a:ext cx="39301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西岸的人源源不断时 west_crossing 始终大于 0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271176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2655570"/>
              <a:ext cx="3621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东岸等待者要等它降到 0，等待时间没有上界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2475" y="2952274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反过来，东岸的人源源不断时，西岸的人同样会饿死。</a:t>
              </a:r>
            </a:p>
          </p:txBody>
        </p:sp>
      </p:grpSp>
      <p:grpSp>
        <p:nvGrpSpPr>
          <p:cNvPr id="47" name="c1-table-2"/>
          <p:cNvGrpSpPr/>
          <p:nvPr/>
        </p:nvGrpSpPr>
        <p:grpSpPr>
          <a:xfrm>
            <a:off x="528447" y="3484245"/>
            <a:ext cx="5415153" cy="2663856"/>
            <a:chOff x="528447" y="3484245"/>
            <a:chExt cx="5415153" cy="2663856"/>
          </a:xfrm>
        </p:grpSpPr>
        <p:sp>
          <p:nvSpPr>
            <p:cNvPr id="18" name="Rectangle 18"/>
            <p:cNvSpPr/>
            <p:nvPr/>
          </p:nvSpPr>
          <p:spPr>
            <a:xfrm>
              <a:off x="533400" y="3484245"/>
              <a:ext cx="5410200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82204" y="360568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依次发生的事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82303" y="3605689"/>
              <a:ext cx="1135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west_crossing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54705" y="3605689"/>
              <a:ext cx="787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east_wait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0555" y="4005739"/>
              <a:ext cx="731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W1 上石头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02852" y="400573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01110" y="400573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2795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284345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0555" y="4405789"/>
              <a:ext cx="13010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E1 到达，只能排队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02852" y="440578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01110" y="440578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6796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0555" y="4805839"/>
              <a:ext cx="1183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W2 到达，直接上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02852" y="480583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01110" y="480583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0796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5084445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0555" y="5205889"/>
              <a:ext cx="580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W1 过完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02852" y="520588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01110" y="520588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54797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0555" y="5605939"/>
              <a:ext cx="1183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W3 到达，直接上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02852" y="560593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301110" y="560593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484245"/>
              <a:ext cx="5410200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3342322" y="3484245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748212" y="3484245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8447" y="5957411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唤醒只发生在 west_crossing 由 1 变 0 的那一刻</a:t>
              </a:r>
            </a:p>
          </p:txBody>
        </p:sp>
      </p:grpSp>
      <p:grpSp>
        <p:nvGrpSpPr>
          <p:cNvPr id="59" name="c2-card-1"/>
          <p:cNvGrpSpPr/>
          <p:nvPr/>
        </p:nvGrpSpPr>
        <p:grpSpPr>
          <a:xfrm>
            <a:off x="6248400" y="1524000"/>
            <a:ext cx="5410200" cy="2064068"/>
            <a:chOff x="6248400" y="1524000"/>
            <a:chExt cx="5410200" cy="2064068"/>
          </a:xfrm>
        </p:grpSpPr>
        <p:sp>
          <p:nvSpPr>
            <p:cNvPr id="48" name="Rectangle 48"/>
            <p:cNvSpPr/>
            <p:nvPr/>
          </p:nvSpPr>
          <p:spPr>
            <a:xfrm>
              <a:off x="6248400" y="1524000"/>
              <a:ext cx="5410200" cy="2064068"/>
            </a:xfrm>
            <a:prstGeom prst="roundRect">
              <a:avLst>
                <a:gd name="adj" fmla="val 64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57925" y="1657350"/>
              <a:ext cx="47625" cy="179736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73190" y="171069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61811" y="174355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思考题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63562" y="174593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设计一个没有饿死的解法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66332" y="2071688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思路：新来的人如果发现对岸已经有人在等，也要排队，不再跟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在本方向正在过河的人后面上石头。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481762" y="268509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37782" y="2628900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等待条件改为：对岸有人正在过河，或对岸有人在等待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481762" y="298513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37782" y="292893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本方向最后一人过完时，照旧唤醒对岸全部等待者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67475" y="3225641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两岸按批次轮流过河，任何一方的等待都有上界。</a:t>
              </a:r>
            </a:p>
          </p:txBody>
        </p:sp>
      </p:grpSp>
      <p:grpSp>
        <p:nvGrpSpPr>
          <p:cNvPr id="63" name="c2-code-2"/>
          <p:cNvGrpSpPr/>
          <p:nvPr/>
        </p:nvGrpSpPr>
        <p:grpSpPr>
          <a:xfrm>
            <a:off x="6248400" y="3758565"/>
            <a:ext cx="5410200" cy="2217420"/>
            <a:chOff x="6248400" y="3758565"/>
            <a:chExt cx="5410200" cy="2217420"/>
          </a:xfrm>
        </p:grpSpPr>
        <p:sp>
          <p:nvSpPr>
            <p:cNvPr id="60" name="Rectangle 60"/>
            <p:cNvSpPr/>
            <p:nvPr/>
          </p:nvSpPr>
          <p:spPr>
            <a:xfrm>
              <a:off x="6248400" y="3758565"/>
              <a:ext cx="5410200" cy="2217420"/>
            </a:xfrm>
            <a:prstGeom prst="roundRect">
              <a:avLst>
                <a:gd name="adj" fmla="val 429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76797" y="391048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西岸过河者：改动只在进入时的判断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376378" y="4171140"/>
              <a:ext cx="3120466" cy="17308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P(mutex);</a:t>
              </a:r>
              <a:br/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east_crossing &gt; 0 or east_wait &gt; 0 then</a:t>
              </a:r>
              <a:br/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begin      </a:t>
              </a:r>
              <a:r>
                <a:rPr lang="zh-CN" sz="10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条件多了后半句</a:t>
              </a:r>
              <a:br/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west_wait := west_wait + 1;</a:t>
              </a:r>
              <a:br/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V(mutex); P(wq);</a:t>
              </a:r>
              <a:br/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else begin</a:t>
              </a:r>
              <a:br/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west_crossing := west_crossing + 1;</a:t>
              </a:r>
              <a:br/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V(mutex);</a:t>
              </a:r>
              <a:br/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13531" cy="909257"/>
            <a:chOff x="520446" y="342900"/>
            <a:chExt cx="85135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饥饿、过河问题与静态分析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135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过河问题（2）：8 块石头，两条路线共用 1、2 和 5、6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5" name="c1-flow-1"/>
          <p:cNvGrpSpPr/>
          <p:nvPr/>
        </p:nvGrpSpPr>
        <p:grpSpPr>
          <a:xfrm>
            <a:off x="666750" y="1690688"/>
            <a:ext cx="10858500" cy="1904047"/>
            <a:chOff x="666750" y="1690688"/>
            <a:chExt cx="10858500" cy="1904047"/>
          </a:xfrm>
        </p:grpSpPr>
        <p:sp>
          <p:nvSpPr>
            <p:cNvPr id="7" name="Freeform 7"/>
            <p:cNvSpPr/>
            <p:nvPr/>
          </p:nvSpPr>
          <p:spPr>
            <a:xfrm>
              <a:off x="1790700" y="264318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952625" y="25908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895475" y="264318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16192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90700" y="25908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81350" y="264318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343275" y="25908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286125" y="264318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16192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181350" y="25908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010025" y="2848928"/>
              <a:ext cx="1390650" cy="229552"/>
            </a:xfrm>
            <a:custGeom>
              <a:avLst/>
              <a:gdLst/>
              <a:ahLst/>
              <a:cxnLst/>
              <a:rect l="l" t="t" r="r" b="b"/>
              <a:pathLst>
                <a:path w="1390650" h="229552">
                  <a:moveTo>
                    <a:pt x="0" y="0"/>
                  </a:moveTo>
                  <a:lnTo>
                    <a:pt x="0" y="167640"/>
                  </a:lnTo>
                  <a:lnTo>
                    <a:pt x="1390650" y="167640"/>
                  </a:lnTo>
                  <a:lnTo>
                    <a:pt x="1390650" y="2295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348288" y="30784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5962650" y="338899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124575" y="33366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6791325" y="2953702"/>
              <a:ext cx="1390650" cy="229552"/>
            </a:xfrm>
            <a:custGeom>
              <a:avLst/>
              <a:gdLst/>
              <a:ahLst/>
              <a:cxnLst/>
              <a:rect l="l" t="t" r="r" b="b"/>
              <a:pathLst>
                <a:path w="1390650" h="229552">
                  <a:moveTo>
                    <a:pt x="0" y="229552"/>
                  </a:moveTo>
                  <a:lnTo>
                    <a:pt x="0" y="62865"/>
                  </a:lnTo>
                  <a:lnTo>
                    <a:pt x="1390650" y="62865"/>
                  </a:lnTo>
                  <a:lnTo>
                    <a:pt x="139065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129588" y="28489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8743950" y="264318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905875" y="25908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8848725" y="264318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16192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743950" y="25908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0134600" y="264318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0296525" y="25908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0239375" y="264318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16192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0134600" y="25908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6791325" y="2207895"/>
              <a:ext cx="1390650" cy="229552"/>
            </a:xfrm>
            <a:custGeom>
              <a:avLst/>
              <a:gdLst/>
              <a:ahLst/>
              <a:cxnLst/>
              <a:rect l="l" t="t" r="r" b="b"/>
              <a:pathLst>
                <a:path w="1390650" h="229552">
                  <a:moveTo>
                    <a:pt x="1390650" y="229552"/>
                  </a:moveTo>
                  <a:lnTo>
                    <a:pt x="1390650" y="61912"/>
                  </a:lnTo>
                  <a:lnTo>
                    <a:pt x="0" y="6191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738938" y="21031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6067425" y="189738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16192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5962650" y="18449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4010025" y="2103120"/>
              <a:ext cx="1390650" cy="229552"/>
            </a:xfrm>
            <a:custGeom>
              <a:avLst/>
              <a:gdLst/>
              <a:ahLst/>
              <a:cxnLst/>
              <a:rect l="l" t="t" r="r" b="b"/>
              <a:pathLst>
                <a:path w="1390650" h="229552">
                  <a:moveTo>
                    <a:pt x="1390650" y="0"/>
                  </a:moveTo>
                  <a:lnTo>
                    <a:pt x="1390650" y="166688"/>
                  </a:lnTo>
                  <a:lnTo>
                    <a:pt x="0" y="166688"/>
                  </a:lnTo>
                  <a:lnTo>
                    <a:pt x="0" y="2295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3957638" y="23326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6750" y="2437448"/>
              <a:ext cx="1123950" cy="411480"/>
            </a:xfrm>
            <a:prstGeom prst="roundRect">
              <a:avLst>
                <a:gd name="adj" fmla="val 18519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2057400" y="2437448"/>
              <a:ext cx="1123950" cy="411480"/>
            </a:xfrm>
            <a:prstGeom prst="roundRect">
              <a:avLst>
                <a:gd name="adj" fmla="val 23148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3448050" y="2437448"/>
              <a:ext cx="1123950" cy="411480"/>
            </a:xfrm>
            <a:prstGeom prst="roundRect">
              <a:avLst>
                <a:gd name="adj" fmla="val 23148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4838700" y="1690688"/>
              <a:ext cx="1123950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29350" y="1690688"/>
              <a:ext cx="1123950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4838700" y="3183255"/>
              <a:ext cx="1123950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29350" y="3183255"/>
              <a:ext cx="1123950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620000" y="2437448"/>
              <a:ext cx="1123950" cy="411480"/>
            </a:xfrm>
            <a:prstGeom prst="roundRect">
              <a:avLst>
                <a:gd name="adj" fmla="val 23148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010650" y="2437448"/>
              <a:ext cx="1123950" cy="411480"/>
            </a:xfrm>
            <a:prstGeom prst="roundRect">
              <a:avLst>
                <a:gd name="adj" fmla="val 23148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401300" y="2437448"/>
              <a:ext cx="1123950" cy="411480"/>
            </a:xfrm>
            <a:prstGeom prst="roundRect">
              <a:avLst>
                <a:gd name="adj" fmla="val 18519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61085" y="255936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西岸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568854" y="25593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959504" y="25593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350154" y="18135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40804" y="18135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350154" y="330517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40804" y="330517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131454" y="25593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522104" y="25593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795635" y="255936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东岸</a:t>
              </a:r>
            </a:p>
          </p:txBody>
        </p:sp>
      </p:grpSp>
      <p:grpSp>
        <p:nvGrpSpPr>
          <p:cNvPr id="71" name="c1-table-2"/>
          <p:cNvGrpSpPr/>
          <p:nvPr/>
        </p:nvGrpSpPr>
        <p:grpSpPr>
          <a:xfrm>
            <a:off x="533400" y="3942398"/>
            <a:ext cx="11125200" cy="1273492"/>
            <a:chOff x="533400" y="3942398"/>
            <a:chExt cx="11125200" cy="1273492"/>
          </a:xfrm>
        </p:grpSpPr>
        <p:sp>
          <p:nvSpPr>
            <p:cNvPr id="56" name="Rectangle 56"/>
            <p:cNvSpPr/>
            <p:nvPr/>
          </p:nvSpPr>
          <p:spPr>
            <a:xfrm>
              <a:off x="533400" y="3942398"/>
              <a:ext cx="11125200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255395" y="40709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方向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036695" y="40709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路线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709660" y="40709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35889" y="4495800"/>
              <a:ext cx="5303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西 → 东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416112" y="4495800"/>
              <a:ext cx="14741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→ 2 → 3 → 4 → 6 → 5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198489" y="4495800"/>
              <a:ext cx="2895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无死锁；(2) 无饿死；(3) 并行度高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33400" y="47863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33400" y="4791075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5889" y="4919662"/>
              <a:ext cx="5303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东 → 西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416112" y="4919662"/>
              <a:ext cx="14741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→ 6 → 7 → 8 → 2 → 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198489" y="4919662"/>
              <a:ext cx="49392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石头 1、2、5、6（深色框）两个方向都要经过，而且经过的先后相反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33400" y="3942398"/>
              <a:ext cx="11125200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2308860" y="3942398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091238" y="3942398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8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72" name="Rectangle 72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0511" y="6011704"/>
              <a:ext cx="101870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思路：共用的一对石头两个方向都按编号从小到大一起申请；再用计数信号量 S 限制河中人数，破坏绕一整圈的等待环。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90029" cy="909257"/>
            <a:chOff x="520446" y="342900"/>
            <a:chExt cx="66900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饥饿、过河问题与静态分析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900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过河问题（2）的解法：S 的初值为什么取 5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059569" cy="308039"/>
            <a:chOff x="525399" y="1550194"/>
            <a:chExt cx="705956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05956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信号量 S 初值 5，限制河中人数；s1–s8 初值都为 1，分别保护 8 块石头。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2733675" cy="3487102"/>
            <a:chOff x="533400" y="1967865"/>
            <a:chExt cx="2733675" cy="348710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2733675" cy="3487102"/>
            </a:xfrm>
            <a:prstGeom prst="roundRect">
              <a:avLst>
                <a:gd name="adj" fmla="val 34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4330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西 → 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0273" y="2383631"/>
              <a:ext cx="1175258" cy="300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8"/>
                </a:lnSpc>
              </a:pPr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P(S);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P(s1); 走到1;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P(s2); 走到2;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V(s1);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P(s3); 走到3;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V(s2);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P(s4); 走到4;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V(s3);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P(s5); P(s6);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走到6; V(s4);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走到5; V(s6);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走到E; V(s5);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V(S);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3571875" y="1967865"/>
            <a:ext cx="2733675" cy="3487102"/>
            <a:chOff x="3571875" y="1967865"/>
            <a:chExt cx="2733675" cy="3487102"/>
          </a:xfrm>
        </p:grpSpPr>
        <p:sp>
          <p:nvSpPr>
            <p:cNvPr id="13" name="Rectangle 13"/>
            <p:cNvSpPr/>
            <p:nvPr/>
          </p:nvSpPr>
          <p:spPr>
            <a:xfrm>
              <a:off x="3571875" y="1967865"/>
              <a:ext cx="2733675" cy="3487102"/>
            </a:xfrm>
            <a:prstGeom prst="roundRect">
              <a:avLst>
                <a:gd name="adj" fmla="val 34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700272" y="2119789"/>
              <a:ext cx="4330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东 → 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98748" y="2383631"/>
              <a:ext cx="1175258" cy="300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8"/>
                </a:lnSpc>
              </a:pPr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P(S);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P(s5); 走到5;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P(s6); 走到6;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V(s5);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P(s7); 走到7;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V(s6);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P(s8); 走到8;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V(s7);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P(s1); P(s2);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走到2; V(s8);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走到1; V(s2);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走到W; V(s1);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V(S);</a:t>
              </a:r>
            </a:p>
          </p:txBody>
        </p:sp>
      </p:grpSp>
      <p:grpSp>
        <p:nvGrpSpPr>
          <p:cNvPr id="28" name="c3-card-1"/>
          <p:cNvGrpSpPr/>
          <p:nvPr/>
        </p:nvGrpSpPr>
        <p:grpSpPr>
          <a:xfrm>
            <a:off x="6611302" y="1967865"/>
            <a:ext cx="5047298" cy="3487102"/>
            <a:chOff x="6611302" y="1967865"/>
            <a:chExt cx="5047298" cy="3487102"/>
          </a:xfrm>
        </p:grpSpPr>
        <p:sp>
          <p:nvSpPr>
            <p:cNvPr id="17" name="Rectangle 17"/>
            <p:cNvSpPr/>
            <p:nvPr/>
          </p:nvSpPr>
          <p:spPr>
            <a:xfrm>
              <a:off x="6611302" y="1967865"/>
              <a:ext cx="5047298" cy="3487102"/>
            </a:xfrm>
            <a:prstGeom prst="roundRect">
              <a:avLst>
                <a:gd name="adj" fmla="val 38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620828" y="2101215"/>
              <a:ext cx="47625" cy="322040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58952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49161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分析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864668" y="26174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22783" y="2554605"/>
              <a:ext cx="41871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共用的 {s1, s2}、{s5, s6} 两个方向都先申请小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号，两人之间不会在这里互相卡住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864668" y="323850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22783" y="3175635"/>
              <a:ext cx="3939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能形成的等待环只有绕一整圈 s1 → s2 → … → s8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 s1，8 个信号量都得有人占着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864668" y="385953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22783" y="3796665"/>
              <a:ext cx="4168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等待时一人最多占 2 个（在 4 上占 s4、s5，或在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上占 s8、s1），成环至少要 6 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52476" y="4413409"/>
              <a:ext cx="43045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 = 5 使河中最多 5 人，凑不成这个环，因此无死锁；S 取 6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就可能死锁。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饥饿、过河问题与静态分析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简单组合资源的静态分析：五个步骤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609690" cy="308039"/>
            <a:chOff x="525399" y="1550194"/>
            <a:chExt cx="660969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6096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条件：已知各个进程有关资源的活动序列。判断：有无死锁的可能性。</a:t>
              </a:r>
            </a:p>
          </p:txBody>
        </p:sp>
      </p:grpSp>
      <p:grpSp>
        <p:nvGrpSpPr>
          <p:cNvPr id="30" name="c1-steps-1"/>
          <p:cNvGrpSpPr/>
          <p:nvPr/>
        </p:nvGrpSpPr>
        <p:grpSpPr>
          <a:xfrm>
            <a:off x="533400" y="1977390"/>
            <a:ext cx="6009513" cy="3649313"/>
            <a:chOff x="533400" y="1977390"/>
            <a:chExt cx="6009513" cy="3649313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30727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6226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360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51282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86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39864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4724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504920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51230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01168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列状态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304574"/>
              <a:ext cx="55968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进程每次“占着一些资源、申请一个资源”记为一个状态 (pi : aj : ak1…akn)，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即（进程 : 请求 : 占有）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289655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画节点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19039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每个状态作为一个节点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54711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3840956"/>
              <a:ext cx="55074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s1 申请的资源被 s2 占有，由 s1 向 s2 画一条有向弧（同一进程的状态之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间不画）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443293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72678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找出图中所有环路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4880" y="508349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判可达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023" y="5377339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判断环上的状态能否同时到达；能则有死锁可能，否则无死锁可能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7114222" y="1967865"/>
            <a:ext cx="4544378" cy="3647122"/>
            <a:chOff x="7114222" y="1967865"/>
            <a:chExt cx="4544378" cy="3647122"/>
          </a:xfrm>
        </p:grpSpPr>
        <p:sp>
          <p:nvSpPr>
            <p:cNvPr id="31" name="Rectangle 31"/>
            <p:cNvSpPr/>
            <p:nvPr/>
          </p:nvSpPr>
          <p:spPr>
            <a:xfrm>
              <a:off x="7114222" y="1967865"/>
              <a:ext cx="4544378" cy="3647122"/>
            </a:xfrm>
            <a:prstGeom prst="roundRect">
              <a:avLst>
                <a:gd name="adj" fmla="val 36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2101215"/>
              <a:ext cx="47625" cy="338042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2177415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17626" y="221313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判可达的两条快速规则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1872" y="254127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23722" y="25835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62862" y="2554605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环路中有相同进程：不能同时到达（一个进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程同一时刻只处于一个状态）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361872" y="316230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23722" y="320459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62862" y="3175635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环路中有相同的被占有资源：不能同时到达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（一个资源不能同时被两个状态占有）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55396" y="3792379"/>
              <a:ext cx="3751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两条规则都排除不了时，要分析各进程推进的先后顺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序，见后面的例子。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33677" cy="909257"/>
            <a:chOff x="520446" y="342900"/>
            <a:chExt cx="79336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饥饿、过河问题与静态分析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336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分析例子：R = {A, B, C, D, E, F, G}，三个进程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sequences"/>
          <p:cNvGrpSpPr/>
          <p:nvPr/>
        </p:nvGrpSpPr>
        <p:grpSpPr>
          <a:xfrm>
            <a:off x="533400" y="1524000"/>
            <a:ext cx="5143500" cy="1337501"/>
            <a:chOff x="533400" y="1524000"/>
            <a:chExt cx="5143500" cy="133750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43500" cy="1333500"/>
            </a:xfrm>
            <a:prstGeom prst="roundRect">
              <a:avLst>
                <a:gd name="adj" fmla="val 1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1678781"/>
              <a:ext cx="33493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活动序列（字母表示申请，−x 表示释放 x）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5142" y="20640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p1: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93292" y="20640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 d −c a b −d −a −b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142" y="23307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p2: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93292" y="23307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 e −d b f −e −b −f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142" y="25974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p3: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93292" y="25974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 e −e f a −c −f −a</a:t>
              </a:r>
            </a:p>
          </p:txBody>
        </p:sp>
      </p:grpSp>
      <p:grpSp>
        <p:nvGrpSpPr>
          <p:cNvPr id="32" name="arcs"/>
          <p:cNvGrpSpPr/>
          <p:nvPr/>
        </p:nvGrpSpPr>
        <p:grpSpPr>
          <a:xfrm>
            <a:off x="533400" y="2971800"/>
            <a:ext cx="5143500" cy="2247900"/>
            <a:chOff x="533400" y="2971800"/>
            <a:chExt cx="5143500" cy="2247900"/>
          </a:xfrm>
        </p:grpSpPr>
        <p:sp>
          <p:nvSpPr>
            <p:cNvPr id="16" name="Rectangle 16"/>
            <p:cNvSpPr/>
            <p:nvPr/>
          </p:nvSpPr>
          <p:spPr>
            <a:xfrm>
              <a:off x="533400" y="2971800"/>
              <a:ext cx="5143500" cy="2247900"/>
            </a:xfrm>
            <a:prstGeom prst="roundRect">
              <a:avLst>
                <a:gd name="adj" fmla="val 59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105150"/>
              <a:ext cx="47625" cy="198120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904" y="3125152"/>
              <a:ext cx="37418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连弧规则：s1 申请的资源被 s2 占有，就画 s1 → s2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6285" y="3459956"/>
              <a:ext cx="1587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(p1:d:c) → (p2:e:d)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89935" y="3459956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 在 p2 手中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6285" y="3679031"/>
              <a:ext cx="1587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(p3:e:c) → (p2:b:e)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89935" y="3679031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 在 p2 手中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6285" y="38981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(p3:e:c) → (p2:f:eb)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89935" y="3898106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 在 p2 手中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6285" y="4117181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B42318"/>
                  </a:solidFill>
                  <a:latin typeface="Consolas"/>
                  <a:ea typeface="Consolas"/>
                  <a:cs typeface="Consolas"/>
                </a:rPr>
                <a:t>(p1:b:da) → (p2:f:eb)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89935" y="4117181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 在 p2 手中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6285" y="4336256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B42318"/>
                  </a:solidFill>
                  <a:latin typeface="Consolas"/>
                  <a:ea typeface="Consolas"/>
                  <a:cs typeface="Consolas"/>
                </a:rPr>
                <a:t>(p2:f:eb) → (p3:a:cf)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89935" y="4336256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 在 p3 手中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6285" y="4555331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B42318"/>
                  </a:solidFill>
                  <a:latin typeface="Consolas"/>
                  <a:ea typeface="Consolas"/>
                  <a:cs typeface="Consolas"/>
                </a:rPr>
                <a:t>(p3:a:cf) → (p1:b:da)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89935" y="4555331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在 p1 手中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6285" y="4762024"/>
              <a:ext cx="453466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红色三条弧构成唯一的环。环上进程各不相同，占有的 {d,a}、{e,b}、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{c,f} 也不重叠，两条快速规则都排除不了。</a:t>
              </a:r>
            </a:p>
          </p:txBody>
        </p:sp>
      </p:grpSp>
      <p:grpSp>
        <p:nvGrpSpPr>
          <p:cNvPr id="36" name="correction"/>
          <p:cNvGrpSpPr/>
          <p:nvPr/>
        </p:nvGrpSpPr>
        <p:grpSpPr>
          <a:xfrm>
            <a:off x="533400" y="5334000"/>
            <a:ext cx="5143500" cy="1028700"/>
            <a:chOff x="533400" y="5334000"/>
            <a:chExt cx="5143500" cy="1028700"/>
          </a:xfrm>
        </p:grpSpPr>
        <p:sp>
          <p:nvSpPr>
            <p:cNvPr id="33" name="Rectangle 33"/>
            <p:cNvSpPr/>
            <p:nvPr/>
          </p:nvSpPr>
          <p:spPr>
            <a:xfrm>
              <a:off x="533400" y="5334000"/>
              <a:ext cx="5143500" cy="1028700"/>
            </a:xfrm>
            <a:prstGeom prst="roundRect">
              <a:avLst>
                <a:gd name="adj" fmla="val 12963"/>
              </a:avLst>
            </a:prstGeom>
            <a:solidFill>
              <a:srgbClr val="F4F6FB"/>
            </a:solidFill>
            <a:ln w="14288">
              <a:solidFill>
                <a:srgbClr val="F4F6FB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5467350"/>
              <a:ext cx="47625" cy="7620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6285" y="5485924"/>
              <a:ext cx="3866134" cy="6486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：原课件 p3 序列第 6 项写作“释放 e”，但 e 在第 3 项已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释放，c 却始终没有释放；结合状态 (p3:f:c)、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(p3:a:cf)，应为“释放 c”。</a:t>
              </a:r>
            </a:p>
          </p:txBody>
        </p:sp>
      </p:grpSp>
      <p:grpSp>
        <p:nvGrpSpPr>
          <p:cNvPr id="72" name="state-graph"/>
          <p:cNvGrpSpPr/>
          <p:nvPr/>
        </p:nvGrpSpPr>
        <p:grpSpPr>
          <a:xfrm>
            <a:off x="5905500" y="1524000"/>
            <a:ext cx="5753100" cy="4838700"/>
            <a:chOff x="5905500" y="1524000"/>
            <a:chExt cx="5753100" cy="4838700"/>
          </a:xfrm>
        </p:grpSpPr>
        <p:sp>
          <p:nvSpPr>
            <p:cNvPr id="37" name="Rectangle 37"/>
            <p:cNvSpPr/>
            <p:nvPr/>
          </p:nvSpPr>
          <p:spPr>
            <a:xfrm>
              <a:off x="5905500" y="1524000"/>
              <a:ext cx="5753100" cy="4838700"/>
            </a:xfrm>
            <a:prstGeom prst="roundRect">
              <a:avLst>
                <a:gd name="adj" fmla="val 275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73070" y="1824514"/>
              <a:ext cx="7831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p1 的状态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90452" y="1824514"/>
              <a:ext cx="7831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p2 的状态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307835" y="1824514"/>
              <a:ext cx="7831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p3 的状态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7598092" y="2552700"/>
              <a:ext cx="345757" cy="9525"/>
            </a:xfrm>
            <a:custGeom>
              <a:avLst/>
              <a:gdLst/>
              <a:ahLst/>
              <a:cxnLst/>
              <a:rect l="l" t="t" r="r" b="b"/>
              <a:pathLst>
                <a:path w="345757" h="9525">
                  <a:moveTo>
                    <a:pt x="0" y="0"/>
                  </a:moveTo>
                  <a:lnTo>
                    <a:pt x="345757" y="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42" name="Polygon 42"/>
            <p:cNvSpPr/>
            <p:nvPr/>
          </p:nvSpPr>
          <p:spPr>
            <a:xfrm>
              <a:off x="7934325" y="2501265"/>
              <a:ext cx="114300" cy="102870"/>
            </a:xfrm>
            <a:custGeom>
              <a:avLst/>
              <a:gdLst/>
              <a:ahLst/>
              <a:cxnLst/>
              <a:rect l="l" t="t" r="r" b="b"/>
              <a:pathLst>
                <a:path w="114300" h="102870">
                  <a:moveTo>
                    <a:pt x="114300" y="51435"/>
                  </a:moveTo>
                  <a:lnTo>
                    <a:pt x="0" y="1028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Line 43"/>
            <p:cNvSpPr/>
            <p:nvPr/>
          </p:nvSpPr>
          <p:spPr>
            <a:xfrm>
              <a:off x="9215438" y="2790825"/>
              <a:ext cx="1137285" cy="779145"/>
            </a:xfrm>
            <a:custGeom>
              <a:avLst/>
              <a:gdLst/>
              <a:ahLst/>
              <a:cxnLst/>
              <a:rect l="l" t="t" r="r" b="b"/>
              <a:pathLst>
                <a:path w="1137285" h="779145">
                  <a:moveTo>
                    <a:pt x="1137285" y="0"/>
                  </a:moveTo>
                  <a:lnTo>
                    <a:pt x="0" y="779145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9129712" y="3522345"/>
              <a:ext cx="122872" cy="106680"/>
            </a:xfrm>
            <a:custGeom>
              <a:avLst/>
              <a:gdLst/>
              <a:ahLst/>
              <a:cxnLst/>
              <a:rect l="l" t="t" r="r" b="b"/>
              <a:pathLst>
                <a:path w="122872" h="106680">
                  <a:moveTo>
                    <a:pt x="0" y="106680"/>
                  </a:moveTo>
                  <a:lnTo>
                    <a:pt x="64770" y="0"/>
                  </a:lnTo>
                  <a:lnTo>
                    <a:pt x="122872" y="8477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Line 45"/>
            <p:cNvSpPr/>
            <p:nvPr/>
          </p:nvSpPr>
          <p:spPr>
            <a:xfrm>
              <a:off x="9017318" y="2790825"/>
              <a:ext cx="1508760" cy="2067878"/>
            </a:xfrm>
            <a:custGeom>
              <a:avLst/>
              <a:gdLst/>
              <a:ahLst/>
              <a:cxnLst/>
              <a:rect l="l" t="t" r="r" b="b"/>
              <a:pathLst>
                <a:path w="1508760" h="2067878">
                  <a:moveTo>
                    <a:pt x="1508760" y="0"/>
                  </a:moveTo>
                  <a:lnTo>
                    <a:pt x="0" y="2067878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8955405" y="4820602"/>
              <a:ext cx="109538" cy="122872"/>
            </a:xfrm>
            <a:custGeom>
              <a:avLst/>
              <a:gdLst/>
              <a:ahLst/>
              <a:cxnLst/>
              <a:rect l="l" t="t" r="r" b="b"/>
              <a:pathLst>
                <a:path w="109538" h="122872">
                  <a:moveTo>
                    <a:pt x="0" y="122872"/>
                  </a:moveTo>
                  <a:lnTo>
                    <a:pt x="25717" y="0"/>
                  </a:lnTo>
                  <a:lnTo>
                    <a:pt x="109538" y="6096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Line 47"/>
            <p:cNvSpPr/>
            <p:nvPr/>
          </p:nvSpPr>
          <p:spPr>
            <a:xfrm>
              <a:off x="7598092" y="5181600"/>
              <a:ext cx="345757" cy="9525"/>
            </a:xfrm>
            <a:custGeom>
              <a:avLst/>
              <a:gdLst/>
              <a:ahLst/>
              <a:cxnLst/>
              <a:rect l="l" t="t" r="r" b="b"/>
              <a:pathLst>
                <a:path w="345757" h="9525">
                  <a:moveTo>
                    <a:pt x="0" y="0"/>
                  </a:moveTo>
                  <a:lnTo>
                    <a:pt x="345757" y="0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7934325" y="5130165"/>
              <a:ext cx="114300" cy="102870"/>
            </a:xfrm>
            <a:custGeom>
              <a:avLst/>
              <a:gdLst/>
              <a:ahLst/>
              <a:cxnLst/>
              <a:rect l="l" t="t" r="r" b="b"/>
              <a:pathLst>
                <a:path w="114300" h="102870">
                  <a:moveTo>
                    <a:pt x="114300" y="51435"/>
                  </a:moveTo>
                  <a:lnTo>
                    <a:pt x="0" y="1028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9515475" y="5181600"/>
              <a:ext cx="345757" cy="9525"/>
            </a:xfrm>
            <a:custGeom>
              <a:avLst/>
              <a:gdLst/>
              <a:ahLst/>
              <a:cxnLst/>
              <a:rect l="l" t="t" r="r" b="b"/>
              <a:pathLst>
                <a:path w="345757" h="9525">
                  <a:moveTo>
                    <a:pt x="0" y="0"/>
                  </a:moveTo>
                  <a:lnTo>
                    <a:pt x="345757" y="0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9851708" y="5130165"/>
              <a:ext cx="114300" cy="102870"/>
            </a:xfrm>
            <a:custGeom>
              <a:avLst/>
              <a:gdLst/>
              <a:ahLst/>
              <a:cxnLst/>
              <a:rect l="l" t="t" r="r" b="b"/>
              <a:pathLst>
                <a:path w="114300" h="102870">
                  <a:moveTo>
                    <a:pt x="114300" y="51435"/>
                  </a:moveTo>
                  <a:lnTo>
                    <a:pt x="0" y="1028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6864668" y="5419725"/>
              <a:ext cx="3834765" cy="361950"/>
            </a:xfrm>
            <a:custGeom>
              <a:avLst/>
              <a:gdLst/>
              <a:ahLst/>
              <a:cxnLst/>
              <a:rect l="l" t="t" r="r" b="b"/>
              <a:pathLst>
                <a:path w="3834765" h="361950">
                  <a:moveTo>
                    <a:pt x="3834765" y="0"/>
                  </a:moveTo>
                  <a:lnTo>
                    <a:pt x="3834765" y="361950"/>
                  </a:lnTo>
                  <a:lnTo>
                    <a:pt x="0" y="361950"/>
                  </a:lnTo>
                  <a:lnTo>
                    <a:pt x="0" y="114300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6813232" y="5429250"/>
              <a:ext cx="102870" cy="114300"/>
            </a:xfrm>
            <a:custGeom>
              <a:avLst/>
              <a:gdLst/>
              <a:ahLst/>
              <a:cxnLst/>
              <a:rect l="l" t="t" r="r" b="b"/>
              <a:pathLst>
                <a:path w="102870" h="114300">
                  <a:moveTo>
                    <a:pt x="51435" y="0"/>
                  </a:moveTo>
                  <a:lnTo>
                    <a:pt x="10287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150292" y="2333625"/>
              <a:ext cx="14287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9050">
              <a:solidFill>
                <a:srgbClr val="0E7C8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479101" y="24722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(p1:d:c)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150292" y="3648075"/>
              <a:ext cx="14287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9050">
              <a:solidFill>
                <a:srgbClr val="D9DFE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79101" y="378666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5B6475"/>
                  </a:solidFill>
                  <a:latin typeface="Consolas"/>
                  <a:ea typeface="Consolas"/>
                  <a:cs typeface="Consolas"/>
                </a:rPr>
                <a:t>(p1:a:d)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150292" y="4962525"/>
              <a:ext cx="1428750" cy="438150"/>
            </a:xfrm>
            <a:prstGeom prst="roundRect">
              <a:avLst>
                <a:gd name="adj" fmla="val 21739"/>
              </a:avLst>
            </a:prstGeom>
            <a:solidFill>
              <a:srgbClr val="FDECEA"/>
            </a:solidFill>
            <a:ln w="19050">
              <a:solidFill>
                <a:srgbClr val="B4231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31714" y="5101114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B42318"/>
                  </a:solidFill>
                  <a:latin typeface="Consolas"/>
                  <a:ea typeface="Consolas"/>
                  <a:cs typeface="Consolas"/>
                </a:rPr>
                <a:t>(p1:b:da)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067675" y="2333625"/>
              <a:ext cx="14287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9050">
              <a:solidFill>
                <a:srgbClr val="0E7C8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396483" y="24722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(p2:e:d)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067675" y="3648075"/>
              <a:ext cx="14287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9050">
              <a:solidFill>
                <a:srgbClr val="0E7C8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396483" y="378666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(p2:b:e)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067675" y="4962525"/>
              <a:ext cx="1428750" cy="438150"/>
            </a:xfrm>
            <a:prstGeom prst="roundRect">
              <a:avLst>
                <a:gd name="adj" fmla="val 21739"/>
              </a:avLst>
            </a:prstGeom>
            <a:solidFill>
              <a:srgbClr val="FDECEA"/>
            </a:solidFill>
            <a:ln w="19050">
              <a:solidFill>
                <a:srgbClr val="B4231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349097" y="5101114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B42318"/>
                  </a:solidFill>
                  <a:latin typeface="Consolas"/>
                  <a:ea typeface="Consolas"/>
                  <a:cs typeface="Consolas"/>
                </a:rPr>
                <a:t>(p2:f:eb)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985058" y="2333625"/>
              <a:ext cx="14287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9050">
              <a:solidFill>
                <a:srgbClr val="0E7C86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0313866" y="24722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(p3:e:c)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985058" y="3648075"/>
              <a:ext cx="14287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9050">
              <a:solidFill>
                <a:srgbClr val="D9DFE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313866" y="378666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5B6475"/>
                  </a:solidFill>
                  <a:latin typeface="Consolas"/>
                  <a:ea typeface="Consolas"/>
                  <a:cs typeface="Consolas"/>
                </a:rPr>
                <a:t>(p3:f:c)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9985058" y="4962525"/>
              <a:ext cx="1428750" cy="438150"/>
            </a:xfrm>
            <a:prstGeom prst="roundRect">
              <a:avLst>
                <a:gd name="adj" fmla="val 21739"/>
              </a:avLst>
            </a:prstGeom>
            <a:solidFill>
              <a:srgbClr val="FDECEA"/>
            </a:solidFill>
            <a:ln w="19050">
              <a:solidFill>
                <a:srgbClr val="B4231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266479" y="5101114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B42318"/>
                  </a:solidFill>
                  <a:latin typeface="Consolas"/>
                  <a:ea typeface="Consolas"/>
                  <a:cs typeface="Consolas"/>
                </a:rPr>
                <a:t>(p3:a:cf)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128385" y="5828824"/>
              <a:ext cx="5032502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记法（进程 : 请求 : 占有）。灰框状态申请的资源没有被其他进程的状态占有，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不连弧。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饥饿、过河问题与静态分析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环上的状态能否同时到达：按推进先后反证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card-1"/>
          <p:cNvGrpSpPr/>
          <p:nvPr/>
        </p:nvGrpSpPr>
        <p:grpSpPr>
          <a:xfrm>
            <a:off x="533400" y="1524000"/>
            <a:ext cx="4977765" cy="3847148"/>
            <a:chOff x="533400" y="1524000"/>
            <a:chExt cx="4977765" cy="38471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3847148"/>
            </a:xfrm>
            <a:prstGeom prst="roundRect">
              <a:avLst>
                <a:gd name="adj" fmla="val 34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5804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要证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三个进程不能同时停在环上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环上的三个状态记为“线 1”：p1 占 d、a 等 b；p2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 e、b 等 f；p3 占 c、f 等 a。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4072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假设线 1 可达，三个进程都已走完前 3 步（记为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“线 2”）。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81050" y="3347085"/>
              <a:ext cx="452056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56614" y="34828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87973" y="3482816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 3 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35430" y="3482816"/>
              <a:ext cx="1082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 1 时仍占有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29417" y="393144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23081" y="3931444"/>
              <a:ext cx="4954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d −c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60610" y="393144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d（第 2 步取得）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81050" y="4239578"/>
              <a:ext cx="45205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1050" y="4244340"/>
              <a:ext cx="45205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29417" y="438007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23081" y="4380071"/>
              <a:ext cx="4954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e −d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60610" y="4380071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e（第 2 步取得）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81050" y="4689158"/>
              <a:ext cx="45205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229417" y="482869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23081" y="4828699"/>
              <a:ext cx="4954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e −e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60610" y="4828699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c（第 1 步取得）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81050" y="3347085"/>
              <a:ext cx="452056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884045" y="334708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248025" y="334708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2-steps-1"/>
          <p:cNvGrpSpPr/>
          <p:nvPr/>
        </p:nvGrpSpPr>
        <p:grpSpPr>
          <a:xfrm>
            <a:off x="5815965" y="1533525"/>
            <a:ext cx="5635625" cy="2998756"/>
            <a:chOff x="5815965" y="1533525"/>
            <a:chExt cx="5635625" cy="2998756"/>
          </a:xfrm>
        </p:grpSpPr>
        <p:sp>
          <p:nvSpPr>
            <p:cNvPr id="34" name="Rectangle 34"/>
            <p:cNvSpPr/>
            <p:nvPr/>
          </p:nvSpPr>
          <p:spPr>
            <a:xfrm>
              <a:off x="5949315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5815965" y="24193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09589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5815965" y="306990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0958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5815965" y="37204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09589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27445" y="1567815"/>
              <a:ext cx="8012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看资源 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28588" y="1861661"/>
              <a:ext cx="52230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在第 1–3 步用过 d，p1 第 2 步拿到 d 后一直占着，所以 p2 释放 d 早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 p1 取得 d：p2 先于 p1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27445" y="2453640"/>
              <a:ext cx="8012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看资源 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28588" y="2746534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 在第 2–3 步用过 e，p2 第 2 步拿到 e 后一直占着：p3 先于 p2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27445" y="3104198"/>
              <a:ext cx="8012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看资源 c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28588" y="3397091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在第 1–3 步用过 c，p3 第 1 步拿到 c 后一直占着：p1 先于 p3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27445" y="37547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矛盾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28588" y="4048601"/>
              <a:ext cx="51986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释放 c 早于 p3 取得 c，早于 p3 释放 e，早于 p2 取得 e，早于 p2 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 d，早于 p1 取得 d；即 p1 的第 3 步早于第 2 步，不可能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2" name="Rectangle 5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130" y="5991225"/>
              <a:ext cx="69111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结论：线 1 不可达，唯一的环不会真正出现，这组活动序列没有死锁的可能。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13992" cy="909257"/>
            <a:chOff x="520446" y="342900"/>
            <a:chExt cx="80139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饥饿、过河问题与静态分析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139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同种组合资源：需求总量 Σ &lt; M + N 时一定不会死锁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5780" y="1548765"/>
            <a:ext cx="5417820" cy="1173480"/>
            <a:chOff x="525780" y="1548765"/>
            <a:chExt cx="5417820" cy="117348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832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29640" y="15487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该类资源的数量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688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198882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9640" y="198882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使用该类资源的进程数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088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4288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9640" y="2428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所有进程对该类资源的需求总量</a:t>
              </a:r>
            </a:p>
          </p:txBody>
        </p:sp>
      </p:grpSp>
      <p:grpSp>
        <p:nvGrpSpPr>
          <p:cNvPr id="33" name="c1-steps-2"/>
          <p:cNvGrpSpPr/>
          <p:nvPr/>
        </p:nvGrpSpPr>
        <p:grpSpPr>
          <a:xfrm>
            <a:off x="533400" y="2863215"/>
            <a:ext cx="5470627" cy="2529173"/>
            <a:chOff x="533400" y="2863215"/>
            <a:chExt cx="5470627" cy="2529173"/>
          </a:xfrm>
        </p:grpSpPr>
        <p:sp>
          <p:nvSpPr>
            <p:cNvPr id="16" name="Rectangle 16"/>
            <p:cNvSpPr/>
            <p:nvPr/>
          </p:nvSpPr>
          <p:spPr>
            <a:xfrm>
              <a:off x="666750" y="300609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33400" y="286321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29370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51377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35875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16433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42381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3400" y="481584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7024" y="48896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880" y="289750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假设死锁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3191351"/>
              <a:ext cx="28064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设有 n 个进程参与死锁（2 ≤ n ≤ N）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4880" y="354806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参与死锁的进程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3841909"/>
              <a:ext cx="50580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它们占满全部 M 个资源，且每个至少还差 1 个，需求总量 ≥ M + 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4880" y="419862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未参与的进程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023" y="4492466"/>
              <a:ext cx="28813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每个至少需要 1 个，需求总量 ≥ N − 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4880" y="48501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6023" y="5143024"/>
              <a:ext cx="20119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≥ M + n + N − n = M + N</a:t>
              </a:r>
            </a:p>
          </p:txBody>
        </p:sp>
      </p:grpSp>
      <p:grpSp>
        <p:nvGrpSpPr>
          <p:cNvPr id="39" name="c1-callout-3"/>
          <p:cNvGrpSpPr/>
          <p:nvPr/>
        </p:nvGrpSpPr>
        <p:grpSpPr>
          <a:xfrm>
            <a:off x="533400" y="5571172"/>
            <a:ext cx="5410200" cy="782955"/>
            <a:chOff x="533400" y="5571172"/>
            <a:chExt cx="5410200" cy="782955"/>
          </a:xfrm>
        </p:grpSpPr>
        <p:sp>
          <p:nvSpPr>
            <p:cNvPr id="34" name="Rectangle 34"/>
            <p:cNvSpPr/>
            <p:nvPr/>
          </p:nvSpPr>
          <p:spPr>
            <a:xfrm>
              <a:off x="533400" y="557117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862640"/>
              <a:ext cx="200023" cy="200023"/>
              <a:chOff x="738188" y="5862640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86264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71538" y="59293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5719762"/>
              <a:ext cx="43776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Σ &lt; M + N 时一定无死锁；Σ ≥ M + N 时存在会死锁的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推进顺序（设每个进程的需求都不超过 M）。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6242685" y="1524000"/>
            <a:ext cx="5415915" cy="1642587"/>
            <a:chOff x="6242685" y="1524000"/>
            <a:chExt cx="5415915" cy="1642587"/>
          </a:xfrm>
        </p:grpSpPr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1536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00899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各进程需求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71164" y="1659731"/>
              <a:ext cx="8734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Σ 与 M + 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89021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51768" y="2108359"/>
              <a:ext cx="2847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47738" y="2108359"/>
              <a:ext cx="21795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P1(4) P2(6) P3(1) P4(7)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612803" y="2108359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 &lt; 19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587228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无死锁可能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451768" y="2556986"/>
              <a:ext cx="2847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47738" y="2556986"/>
              <a:ext cx="21795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P1(5) P2(6) P3(1) P4(7)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12803" y="2556986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 ≥ 19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587228" y="25569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有死锁可能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1524000"/>
              <a:ext cx="541020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935152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331642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474642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242685" y="2946559"/>
              <a:ext cx="16494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两例都是 M = 15，N = 4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6248400" y="3312795"/>
            <a:ext cx="5410200" cy="3041332"/>
            <a:chOff x="6248400" y="3312795"/>
            <a:chExt cx="5410200" cy="3041332"/>
          </a:xfrm>
        </p:grpSpPr>
        <p:sp>
          <p:nvSpPr>
            <p:cNvPr id="61" name="Rectangle 61"/>
            <p:cNvSpPr/>
            <p:nvPr/>
          </p:nvSpPr>
          <p:spPr>
            <a:xfrm>
              <a:off x="6248400" y="3312795"/>
              <a:ext cx="5410200" cy="3041332"/>
            </a:xfrm>
            <a:prstGeom prst="roundRect">
              <a:avLst>
                <a:gd name="adj" fmla="val 43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57925" y="3446145"/>
              <a:ext cx="47625" cy="27746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96050" y="3522345"/>
              <a:ext cx="11896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66041" y="355806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 的死锁情形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501765" y="396240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659880" y="3899535"/>
              <a:ext cx="33588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占 4 个差 1 个，P2 占 5 个差 1 个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501765" y="429768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59880" y="4234815"/>
              <a:ext cx="33588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 占 0 个差 1 个，P4 占 6 个差 1 个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89573" y="4565809"/>
              <a:ext cx="47553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已分配 4 + 5 + 0 + 6 = 15 = M，可用为 0，四个进程都在等。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854262" cy="909257"/>
            <a:chOff x="520446" y="342900"/>
            <a:chExt cx="28542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 · 饥饿、过河问题与静态分析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111692"/>
            <a:chOff x="533400" y="1524000"/>
            <a:chExt cx="3505200" cy="21116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111692"/>
            </a:xfrm>
            <a:prstGeom prst="roundRect">
              <a:avLst>
                <a:gd name="adj" fmla="val 6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1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0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4281" y="2082641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死锁的四个必要条件是什么？预先分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配法和有序分配法各破坏哪一个？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4281" y="2672239"/>
              <a:ext cx="28999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资源独占、不可抢占、保持申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请、循环等待。前者破坏保持申请，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后者破坏循环等待。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815715"/>
            <a:ext cx="3505200" cy="2383155"/>
            <a:chOff x="533400" y="3815715"/>
            <a:chExt cx="3505200" cy="2383155"/>
          </a:xfrm>
        </p:grpSpPr>
        <p:sp>
          <p:nvSpPr>
            <p:cNvPr id="13" name="Rectangle 13"/>
            <p:cNvSpPr/>
            <p:nvPr/>
          </p:nvSpPr>
          <p:spPr>
            <a:xfrm>
              <a:off x="533400" y="3815715"/>
              <a:ext cx="3505200" cy="2383155"/>
            </a:xfrm>
            <a:prstGeom prst="roundRect">
              <a:avLst>
                <a:gd name="adj" fmla="val 559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1520" y="401383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0468" y="404812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4281" y="4374356"/>
              <a:ext cx="298242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银行家例题中 p2 获得 (1,0,2) 后，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p1 请求 (1,0,1)，能否分配？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4281" y="4963954"/>
              <a:ext cx="260235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不能。试分配后 Available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(1,3,0)，没有进程满足 Need 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Work，不安全。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111692"/>
            <a:chOff x="4343400" y="1524000"/>
            <a:chExt cx="3505200" cy="2111692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111692"/>
            </a:xfrm>
            <a:prstGeom prst="roundRect">
              <a:avLst>
                <a:gd name="adj" fmla="val 6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41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30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4281" y="2082641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资源分配图中出现环路，系统一定死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锁吗？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4281" y="2672239"/>
              <a:ext cx="27195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不一定。单实例资源有环即死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锁；有多实例资源时要用约简判断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（如例3）。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815715"/>
            <a:ext cx="3505200" cy="2383155"/>
            <a:chOff x="4343400" y="3815715"/>
            <a:chExt cx="3505200" cy="2383155"/>
          </a:xfrm>
        </p:grpSpPr>
        <p:sp>
          <p:nvSpPr>
            <p:cNvPr id="25" name="Rectangle 25"/>
            <p:cNvSpPr/>
            <p:nvPr/>
          </p:nvSpPr>
          <p:spPr>
            <a:xfrm>
              <a:off x="4343400" y="3815715"/>
              <a:ext cx="3505200" cy="2383155"/>
            </a:xfrm>
            <a:prstGeom prst="roundRect">
              <a:avLst>
                <a:gd name="adj" fmla="val 559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41520" y="401383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30468" y="404812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34281" y="4374356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死锁检测算法和安全性检测算法的主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要区别？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4281" y="4963954"/>
              <a:ext cx="2972054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检测算法比较 Request 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Work，判断此刻是否死锁；安全性检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测比较 Need ≤ Work，判断将来是否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可能死锁。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111692"/>
            <a:chOff x="8153400" y="1524000"/>
            <a:chExt cx="3505200" cy="2111692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111692"/>
            </a:xfrm>
            <a:prstGeom prst="roundRect">
              <a:avLst>
                <a:gd name="adj" fmla="val 6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51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40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44281" y="2082641"/>
              <a:ext cx="293733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系统有 3 台打印机，每个进程最多要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台。最多几个进程并发才保证不死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44281" y="2943701"/>
              <a:ext cx="286385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 Σ &lt; M + N，即 2N &lt; 3 + N，N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3，最多 2 个进程。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815715"/>
            <a:ext cx="3505200" cy="2383155"/>
            <a:chOff x="8153400" y="3815715"/>
            <a:chExt cx="3505200" cy="2383155"/>
          </a:xfrm>
        </p:grpSpPr>
        <p:sp>
          <p:nvSpPr>
            <p:cNvPr id="37" name="Rectangle 37"/>
            <p:cNvSpPr/>
            <p:nvPr/>
          </p:nvSpPr>
          <p:spPr>
            <a:xfrm>
              <a:off x="8153400" y="3815715"/>
              <a:ext cx="3505200" cy="2383155"/>
            </a:xfrm>
            <a:prstGeom prst="roundRect">
              <a:avLst>
                <a:gd name="adj" fmla="val 559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51520" y="401383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40468" y="404812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44281" y="437435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饿死和死锁有哪些区别？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44281" y="4692491"/>
              <a:ext cx="28999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饿死进程可能在忙等；等的资源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会释放但轮不到它；不一定有环；可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能只涉及 1 个进程。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第5章 死锁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6059805" cy="2400300"/>
            <a:chOff x="533400" y="1524000"/>
            <a:chExt cx="6059805" cy="24003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173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策略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47354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核心做法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91481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代表方法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预防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00200" y="20454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破坏必要条件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02392" y="204549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预先分配法、有序分配法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4455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避免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00200" y="244554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分配前检查安全性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02392" y="24455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银行家算法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93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8455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00200" y="2845594"/>
              <a:ext cx="14416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Request 模拟推进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02392" y="2845594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死锁检测算法、资源分配图约简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194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2456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恢复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00200" y="324564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打破已形成的等待环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02392" y="3245644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重启、终止进程、剥夺资源并回退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194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36456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忽略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00200" y="364569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死锁很少发生时不处理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02392" y="36456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鸵鸟算法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6059805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498282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800475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card-2"/>
          <p:cNvGrpSpPr/>
          <p:nvPr/>
        </p:nvGrpSpPr>
        <p:grpSpPr>
          <a:xfrm>
            <a:off x="533400" y="4093845"/>
            <a:ext cx="6059805" cy="1528762"/>
            <a:chOff x="533400" y="4093845"/>
            <a:chExt cx="6059805" cy="1528762"/>
          </a:xfrm>
        </p:grpSpPr>
        <p:sp>
          <p:nvSpPr>
            <p:cNvPr id="36" name="Rectangle 36"/>
            <p:cNvSpPr/>
            <p:nvPr/>
          </p:nvSpPr>
          <p:spPr>
            <a:xfrm>
              <a:off x="533400" y="4093845"/>
              <a:ext cx="6059805" cy="1528762"/>
            </a:xfrm>
            <a:prstGeom prst="roundRect">
              <a:avLst>
                <a:gd name="adj" fmla="val 87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4227195"/>
              <a:ext cx="47625" cy="12620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58190" y="4280535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20357" y="431339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66762" y="468153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22782" y="4625340"/>
              <a:ext cx="48297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银行家例题：p0 行数据、p2 请求后的安全序列（第 25 页）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66762" y="498157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22782" y="4925378"/>
              <a:ext cx="429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 请求 (0,2,0) 按题目数据应判为安全（第 26 页）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66762" y="528161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22782" y="5225415"/>
              <a:ext cx="43935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静态分析例子：p3 序列第 6 项应为释放 c（第 41 页）</a:t>
              </a:r>
            </a:p>
          </p:txBody>
        </p:sp>
      </p:grpSp>
      <p:grpSp>
        <p:nvGrpSpPr>
          <p:cNvPr id="62" name="c2-bullets-1"/>
          <p:cNvGrpSpPr/>
          <p:nvPr/>
        </p:nvGrpSpPr>
        <p:grpSpPr>
          <a:xfrm>
            <a:off x="6897052" y="1534478"/>
            <a:ext cx="4656201" cy="2281427"/>
            <a:chOff x="6897052" y="1534478"/>
            <a:chExt cx="4656201" cy="2281427"/>
          </a:xfrm>
        </p:grpSpPr>
        <p:sp>
          <p:nvSpPr>
            <p:cNvPr id="47" name="Ellipse 47"/>
            <p:cNvSpPr/>
            <p:nvPr/>
          </p:nvSpPr>
          <p:spPr>
            <a:xfrm>
              <a:off x="6897052" y="1534478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52731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77849" y="1545907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死锁是一组进程互相无限等待对方占有的资源，四个必要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条件同时成立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897052" y="2100262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52731" y="213864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77849" y="2111692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单实例资源有环即死锁；多实例时用约简判断（死锁定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理）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897052" y="2666048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52731" y="270443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77849" y="2677477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银行家算法：试分配、查安全性、安全才分配，结论偏保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守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897052" y="3231832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52731" y="327021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77849" y="3243262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饿死的进程等的资源会释放却总轮不到它，不一定有环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897052" y="3540442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952731" y="35788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77849" y="3551872"/>
              <a:ext cx="2924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同种资源 Σ &lt; M + N 时一定不会死锁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3" name="Rectangle 6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892" y="6028373"/>
              <a:ext cx="92900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复习时重点练手算：银行家算法的安全序列、死锁检测找死锁进程、资源分配图约简。每一步都写出 Work 的变化。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第5章 死锁与饥饿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s_ch5">
  <a:themeElements>
    <a:clrScheme name="os_ch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s_ch5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s_ch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2026-09-19T03:15:52Z</dcterms:created>
  <dcterms:modified xsi:type="dcterms:W3CDTF">2026-09-19T03:15:52Z</dcterms:modified>
  <cp:category/>
  <cp:contentStatus/>
</cp:coreProperties>
</file>