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82f496ff50b08c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60f81f4eb1a76c6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3d2041fd69f9514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223815" cy="3437763"/>
            <a:chOff x="666750" y="1619250"/>
            <a:chExt cx="5223815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第三章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中断与处理机调度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213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中断怎样把控制权交给 OS，OS 又怎样分配 CPU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中断装置与中断处理程序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八种处理机调度算法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三级调度与作业调度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实时调度与系统实例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自学复习版｜据吉林大学《操作系统原理》第三章课件整理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中断与中断系统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中断的概念、中断装置、中断向量、嵌套与屏蔽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中断处理程序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267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总体流程；I/O、时钟、硬件故障、程序性与自愿性中断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处理机调度算法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073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调度准则与参数；FCFS、SJF、SRTN、HRN、HPF、RR、MLQ、FB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调度时机、过程与多级调度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74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dispatcher、交换与中级调度、作业与高级调度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772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可调度条件、EDF、RMS 与课后作业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多处理机调度与系统举例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610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自调度、组调度；Linux 与 Windows 10 的调度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说出中断响应的六个步骤，解释中断向量、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系统栈和中断屏蔽的作用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画出中断处理程序的总体流程，区分强迫性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中断与自愿性中断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对给定进程手算六种算法的甘特图、周转时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间和带权周转时间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说明高级、中级、低级调度各管什么，画出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含挂起状态的状态图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491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用可调度条件判断周期任务，画出 EDF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 的调度结果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468237" cy="3706177"/>
            <a:chOff x="667512" y="1835468"/>
            <a:chExt cx="6468237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中断与中断系统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操作系统靠中断取得控制权，先弄清中断装置在硬件层面做了什么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3.1.1 中断的概念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3.1.2.1 中断源与中断字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3.1.2.2 中断类型与中断向量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3.1.2.3 中断嵌套与系统栈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3.1.2.4 中断优先级与中断屏蔽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中断与中断系统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中断：暂停当前程序去处理事件，处理完再回到断点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1917382"/>
            <a:chOff x="533400" y="1524000"/>
            <a:chExt cx="5951220" cy="19173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78" y="176926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3.1.1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7372" y="176879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处理机在运行过程中出现了某一事件，必须中止正在运行的程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序，转去处理这个事件，然后再返回原来运行的程序，这一过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程称为中断。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中断系统由中断装置和中断处理程序两部分组成。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5780" y="3656648"/>
            <a:ext cx="5958840" cy="1015364"/>
            <a:chOff x="525780" y="3656648"/>
            <a:chExt cx="5958840" cy="1015364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365664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中断装置（硬件）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67952" y="365664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发现并响应中断的硬件机构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9766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096702"/>
              <a:ext cx="1539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中断处理程序（软</a:t>
              </a:r>
              <a:br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件）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67952" y="409670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操作系统中分析并处理中断事件的程序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803458"/>
            <a:ext cx="5951220" cy="1316355"/>
            <a:chOff x="533400" y="4803458"/>
            <a:chExt cx="5951220" cy="1316355"/>
          </a:xfrm>
        </p:grpSpPr>
        <p:sp>
          <p:nvSpPr>
            <p:cNvPr id="21" name="Rectangle 21"/>
            <p:cNvSpPr/>
            <p:nvPr/>
          </p:nvSpPr>
          <p:spPr>
            <a:xfrm>
              <a:off x="533400" y="4803458"/>
              <a:ext cx="5951220" cy="1316355"/>
            </a:xfrm>
            <a:prstGeom prst="roundRect">
              <a:avLst>
                <a:gd name="adj" fmla="val 1013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2950" y="5013008"/>
              <a:ext cx="180308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3775" y="5048726"/>
              <a:ext cx="1700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3.1.2 中断装置做三件事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330" y="5390198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识别中断源（多个中断源同时出现时按紧迫程度排队），保存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现场，引出中断处理程序。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6789420" y="1524000"/>
            <a:ext cx="4869180" cy="3613309"/>
            <a:chOff x="6789420" y="1524000"/>
            <a:chExt cx="4869180" cy="3613309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0" t="7472" r="0" b="7473"/>
            <a:stretch>
              <a:fillRect/>
            </a:stretch>
          </p:blipFill>
          <p:spPr>
            <a:xfrm>
              <a:off x="6789420" y="1524000"/>
              <a:ext cx="4869180" cy="3106102"/>
            </a:xfrm>
            <a:prstGeom prst="roundRect">
              <a:avLst>
                <a:gd name="adj" fmla="val 4293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6942455" y="4724876"/>
              <a:ext cx="45631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读书时门铃响了：夹好书签（保存现场），去开门（处理事件），回来从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书签处接着读（返回断点）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789420" y="5303520"/>
            <a:ext cx="4869180" cy="1059180"/>
            <a:chOff x="6789420" y="5303520"/>
            <a:chExt cx="4869180" cy="1059180"/>
          </a:xfrm>
        </p:grpSpPr>
        <p:sp>
          <p:nvSpPr>
            <p:cNvPr id="29" name="Rectangle 29"/>
            <p:cNvSpPr/>
            <p:nvPr/>
          </p:nvSpPr>
          <p:spPr>
            <a:xfrm>
              <a:off x="6789420" y="5303520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994208" y="5733098"/>
              <a:ext cx="200026" cy="200025"/>
              <a:chOff x="6994208" y="573309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994208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33946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68662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296150" y="5452110"/>
              <a:ext cx="40062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操作系统是中断驱动的（interrupt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driven）：时间片到、I/O 完成、系统调用都经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由中断进入 OS。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中断与中断系统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中断响应和处理的过程：六个步骤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fig"/>
          <p:cNvGrpSpPr/>
          <p:nvPr/>
        </p:nvGrpSpPr>
        <p:grpSpPr>
          <a:xfrm>
            <a:off x="533400" y="1619250"/>
            <a:ext cx="6096000" cy="4743450"/>
            <a:chOff x="533400" y="1619250"/>
            <a:chExt cx="6096000" cy="4743450"/>
          </a:xfrm>
        </p:grpSpPr>
        <p:sp>
          <p:nvSpPr>
            <p:cNvPr id="7" name="Rectangle 7"/>
            <p:cNvSpPr/>
            <p:nvPr/>
          </p:nvSpPr>
          <p:spPr>
            <a:xfrm>
              <a:off x="533400" y="3390900"/>
              <a:ext cx="6096000" cy="2971800"/>
            </a:xfrm>
            <a:prstGeom prst="roundRect">
              <a:avLst>
                <a:gd name="adj" fmla="val 3846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804" y="60617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操作系统（系统空间，管态）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76750" y="1619250"/>
              <a:ext cx="2000250" cy="1524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41901" y="17549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正在运行的程序（目态）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476875" y="2019300"/>
              <a:ext cx="9525" cy="932497"/>
            </a:xfrm>
            <a:custGeom>
              <a:avLst/>
              <a:gdLst/>
              <a:ahLst/>
              <a:cxnLst/>
              <a:rect l="l" t="t" r="r" b="b"/>
              <a:pathLst>
                <a:path w="9525" h="932497">
                  <a:moveTo>
                    <a:pt x="0" y="0"/>
                  </a:moveTo>
                  <a:lnTo>
                    <a:pt x="0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434012" y="29432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62" y="85725"/>
                  </a:moveTo>
                  <a:lnTo>
                    <a:pt x="0" y="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419725" y="2324100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95366" y="2315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断点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2152650"/>
              <a:ext cx="1809750" cy="666750"/>
            </a:xfrm>
            <a:prstGeom prst="roundRect">
              <a:avLst>
                <a:gd name="adj" fmla="val 11429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05278" y="2406491"/>
              <a:ext cx="1313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 PSW, PC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4000500"/>
              <a:ext cx="180975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71550" y="4114800"/>
              <a:ext cx="1581150" cy="323850"/>
            </a:xfrm>
            <a:prstGeom prst="roundRect">
              <a:avLst>
                <a:gd name="adj" fmla="val 11765"/>
              </a:avLst>
            </a:prstGeom>
            <a:solidFill>
              <a:srgbClr val="FDEEE7"/>
            </a:solidFill>
            <a:ln w="13335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15506" y="4204335"/>
              <a:ext cx="693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PSW, PC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7180" y="47282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30248" y="55745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143250" y="3848100"/>
              <a:ext cx="1809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52963" y="4011930"/>
              <a:ext cx="15903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 PSW′, PC′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62500" y="4762500"/>
              <a:ext cx="1676400" cy="1238250"/>
            </a:xfrm>
            <a:prstGeom prst="roundRect">
              <a:avLst>
                <a:gd name="adj" fmla="val 769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09972" y="48901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中断处理程序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00700" y="5162550"/>
              <a:ext cx="9525" cy="646747"/>
            </a:xfrm>
            <a:custGeom>
              <a:avLst/>
              <a:gdLst/>
              <a:ahLst/>
              <a:cxnLst/>
              <a:rect l="l" t="t" r="r" b="b"/>
              <a:pathLst>
                <a:path w="9525" h="646747">
                  <a:moveTo>
                    <a:pt x="0" y="0"/>
                  </a:moveTo>
                  <a:lnTo>
                    <a:pt x="0" y="646747"/>
                  </a:lnTo>
                </a:path>
              </a:pathLst>
            </a:custGeom>
            <a:noFill/>
            <a:ln w="15240">
              <a:solidFill>
                <a:srgbClr val="14A38B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5557838" y="58007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62" y="85725"/>
                  </a:moveTo>
                  <a:lnTo>
                    <a:pt x="0" y="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3272" y="5458778"/>
              <a:ext cx="6294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从 PC′ 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43250" y="5715000"/>
              <a:ext cx="1047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23409" y="583549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HAL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790825" y="2381250"/>
              <a:ext cx="2600325" cy="9525"/>
            </a:xfrm>
            <a:custGeom>
              <a:avLst/>
              <a:gdLst/>
              <a:ahLst/>
              <a:cxnLst/>
              <a:rect l="l" t="t" r="r" b="b"/>
              <a:pathLst>
                <a:path w="2600325" h="9525">
                  <a:moveTo>
                    <a:pt x="26003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32" name="Polygon 32"/>
            <p:cNvSpPr/>
            <p:nvPr/>
          </p:nvSpPr>
          <p:spPr>
            <a:xfrm>
              <a:off x="2705100" y="2333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895725" y="2276475"/>
              <a:ext cx="209550" cy="2095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54351" y="2315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428750" y="2838450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0"/>
                  </a:moveTo>
                  <a:lnTo>
                    <a:pt x="0" y="105727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1381125" y="38862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323975" y="328612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82601" y="3325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2790825" y="2686050"/>
              <a:ext cx="1209675" cy="1143000"/>
            </a:xfrm>
            <a:custGeom>
              <a:avLst/>
              <a:gdLst/>
              <a:ahLst/>
              <a:cxnLst/>
              <a:rect l="l" t="t" r="r" b="b"/>
              <a:pathLst>
                <a:path w="1209675" h="1143000">
                  <a:moveTo>
                    <a:pt x="1209675" y="1143000"/>
                  </a:moveTo>
                  <a:lnTo>
                    <a:pt x="1209675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2705100" y="2638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895725" y="313372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54351" y="3172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972050" y="4086225"/>
              <a:ext cx="628650" cy="571500"/>
            </a:xfrm>
            <a:custGeom>
              <a:avLst/>
              <a:gdLst/>
              <a:ahLst/>
              <a:cxnLst/>
              <a:rect l="l" t="t" r="r" b="b"/>
              <a:pathLst>
                <a:path w="628650" h="571500">
                  <a:moveTo>
                    <a:pt x="0" y="0"/>
                  </a:moveTo>
                  <a:lnTo>
                    <a:pt x="628650" y="0"/>
                  </a:lnTo>
                  <a:lnTo>
                    <a:pt x="628650" y="57150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5553075" y="46482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495925" y="4295775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54551" y="4334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2190750" y="2943225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10382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2143125" y="2857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085975" y="3286125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144601" y="3325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762125" y="1771650"/>
              <a:ext cx="2609850" cy="361950"/>
            </a:xfrm>
            <a:custGeom>
              <a:avLst/>
              <a:gdLst/>
              <a:ahLst/>
              <a:cxnLst/>
              <a:rect l="l" t="t" r="r" b="b"/>
              <a:pathLst>
                <a:path w="2609850" h="361950">
                  <a:moveTo>
                    <a:pt x="0" y="361950"/>
                  </a:moveTo>
                  <a:lnTo>
                    <a:pt x="0" y="0"/>
                  </a:lnTo>
                  <a:lnTo>
                    <a:pt x="260985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4362450" y="17240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038475" y="1666875"/>
              <a:ext cx="209550" cy="2095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97101" y="170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82" name="steps"/>
          <p:cNvGrpSpPr/>
          <p:nvPr/>
        </p:nvGrpSpPr>
        <p:grpSpPr>
          <a:xfrm>
            <a:off x="6858000" y="1524000"/>
            <a:ext cx="4800600" cy="4838700"/>
            <a:chOff x="6858000" y="1524000"/>
            <a:chExt cx="4800600" cy="4838700"/>
          </a:xfrm>
        </p:grpSpPr>
        <p:sp>
          <p:nvSpPr>
            <p:cNvPr id="56" name="Rectangle 56"/>
            <p:cNvSpPr/>
            <p:nvPr/>
          </p:nvSpPr>
          <p:spPr>
            <a:xfrm>
              <a:off x="6858000" y="1524000"/>
              <a:ext cx="4800600" cy="483870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7525" y="1676400"/>
              <a:ext cx="47625" cy="45339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096125" y="1752600"/>
              <a:ext cx="209550" cy="2095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54751" y="1791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03973" y="17673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正在运行的程序执行中出现中断事件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096125" y="211836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54751" y="21574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03973" y="2133124"/>
              <a:ext cx="3243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把当前的 PSW、PC 压入系统栈，保存现场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096125" y="248412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54751" y="25231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03973" y="2498884"/>
              <a:ext cx="3616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把该类中断的中断向量 PSW′、PC′ 送入寄存器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096125" y="2849880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54751" y="28889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03973" y="2864644"/>
              <a:ext cx="386562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处理机按新 PSW 进入系统态，从 PC′ 开始执行中断处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理程序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96125" y="3444240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54751" y="34832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03973" y="3459004"/>
              <a:ext cx="41055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处理结束，从系统栈弹出原来的 PSW、PC 送回寄存器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096125" y="3810000"/>
              <a:ext cx="209550" cy="2095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54751" y="3849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03973" y="38247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被中断的程序从断点继续执行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086600" y="4366260"/>
              <a:ext cx="43434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7105650" y="4547235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90435" y="4530566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中断装置（硬件）完成：②③，中间不插入任何软件操作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105650" y="4813935"/>
              <a:ext cx="114300" cy="1143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90435" y="4797266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操作系统完成：④⑤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080885" y="5121116"/>
              <a:ext cx="41719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HAL（硬件抽象层）：OS 中直接与硬件打交道的一层，处理程序通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过它访问硬件。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中断与中断系统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中断源、中断字与中断的分类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3362325" cy="1455420"/>
            <a:chOff x="525780" y="1548765"/>
            <a:chExt cx="3362325" cy="14554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33550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引起中断的事件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33547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中断寄存器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33550" y="1988820"/>
              <a:ext cx="1920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保存与中断事件相关信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息的寄存器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33547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3550" y="27108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中断寄存器的内容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135630"/>
            <a:ext cx="3354705" cy="1621155"/>
            <a:chOff x="533400" y="3135630"/>
            <a:chExt cx="3354705" cy="1621155"/>
          </a:xfrm>
        </p:grpSpPr>
        <p:sp>
          <p:nvSpPr>
            <p:cNvPr id="16" name="Rectangle 16"/>
            <p:cNvSpPr/>
            <p:nvPr/>
          </p:nvSpPr>
          <p:spPr>
            <a:xfrm>
              <a:off x="533400" y="3135630"/>
              <a:ext cx="335470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6898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34518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6160" y="338089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9202" y="3380422"/>
              <a:ext cx="844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中断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3741420"/>
              <a:ext cx="2682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中断寄存器就是设备状态寄存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器，其中的中断字反映设备是正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常结束还是出错。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4947285"/>
            <a:ext cx="3354705" cy="782955"/>
            <a:chOff x="533400" y="4947285"/>
            <a:chExt cx="3354705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947285"/>
              <a:ext cx="33547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238750"/>
              <a:ext cx="200026" cy="200026"/>
              <a:chOff x="738188" y="5238750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2387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305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53387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095875"/>
              <a:ext cx="2491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中断处理程序先取中断字，才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能分析出中断原因。</a:t>
              </a:r>
            </a:p>
          </p:txBody>
        </p:sp>
      </p:grpSp>
      <p:grpSp>
        <p:nvGrpSpPr>
          <p:cNvPr id="59" name="c2-tree-1"/>
          <p:cNvGrpSpPr/>
          <p:nvPr/>
        </p:nvGrpSpPr>
        <p:grpSpPr>
          <a:xfrm>
            <a:off x="4192905" y="1683068"/>
            <a:ext cx="7465695" cy="4625340"/>
            <a:chOff x="4192905" y="1683068"/>
            <a:chExt cx="7465695" cy="4625340"/>
          </a:xfrm>
        </p:grpSpPr>
        <p:sp>
          <p:nvSpPr>
            <p:cNvPr id="30" name="Freeform 30"/>
            <p:cNvSpPr/>
            <p:nvPr/>
          </p:nvSpPr>
          <p:spPr>
            <a:xfrm>
              <a:off x="9030652" y="1869758"/>
              <a:ext cx="419100" cy="1382077"/>
            </a:xfrm>
            <a:custGeom>
              <a:avLst/>
              <a:gdLst/>
              <a:ahLst/>
              <a:cxnLst/>
              <a:rect l="l" t="t" r="r" b="b"/>
              <a:pathLst>
                <a:path w="419100" h="1382077">
                  <a:moveTo>
                    <a:pt x="0" y="1382077"/>
                  </a:moveTo>
                  <a:lnTo>
                    <a:pt x="209550" y="138207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30652" y="2561272"/>
              <a:ext cx="419100" cy="690562"/>
            </a:xfrm>
            <a:custGeom>
              <a:avLst/>
              <a:gdLst/>
              <a:ahLst/>
              <a:cxnLst/>
              <a:rect l="l" t="t" r="r" b="b"/>
              <a:pathLst>
                <a:path w="419100" h="690562">
                  <a:moveTo>
                    <a:pt x="0" y="690562"/>
                  </a:moveTo>
                  <a:lnTo>
                    <a:pt x="209550" y="6905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30652" y="325183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30652" y="3251835"/>
              <a:ext cx="419100" cy="691515"/>
            </a:xfrm>
            <a:custGeom>
              <a:avLst/>
              <a:gdLst/>
              <a:ahLst/>
              <a:cxnLst/>
              <a:rect l="l" t="t" r="r" b="b"/>
              <a:pathLst>
                <a:path w="419100" h="691515">
                  <a:moveTo>
                    <a:pt x="0" y="0"/>
                  </a:moveTo>
                  <a:lnTo>
                    <a:pt x="209550" y="0"/>
                  </a:lnTo>
                  <a:lnTo>
                    <a:pt x="209550" y="691515"/>
                  </a:lnTo>
                  <a:lnTo>
                    <a:pt x="419100" y="6915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030652" y="3251835"/>
              <a:ext cx="419100" cy="1383030"/>
            </a:xfrm>
            <a:custGeom>
              <a:avLst/>
              <a:gdLst/>
              <a:ahLst/>
              <a:cxnLst/>
              <a:rect l="l" t="t" r="r" b="b"/>
              <a:pathLst>
                <a:path w="419100" h="1383030">
                  <a:moveTo>
                    <a:pt x="0" y="0"/>
                  </a:moveTo>
                  <a:lnTo>
                    <a:pt x="209550" y="0"/>
                  </a:lnTo>
                  <a:lnTo>
                    <a:pt x="209550" y="1383030"/>
                  </a:lnTo>
                  <a:lnTo>
                    <a:pt x="419100" y="138303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30652" y="5325428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345757"/>
                  </a:moveTo>
                  <a:lnTo>
                    <a:pt x="209550" y="34575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30652" y="5671185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0"/>
                  </a:moveTo>
                  <a:lnTo>
                    <a:pt x="209550" y="0"/>
                  </a:lnTo>
                  <a:lnTo>
                    <a:pt x="209550" y="345758"/>
                  </a:lnTo>
                  <a:lnTo>
                    <a:pt x="419100" y="3457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401752" y="3251835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401752" y="4461510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449752" y="1683068"/>
              <a:ext cx="220884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49752" y="2374582"/>
              <a:ext cx="220884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449752" y="3066098"/>
              <a:ext cx="220884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449752" y="3651885"/>
              <a:ext cx="2208848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449752" y="4343400"/>
              <a:ext cx="2208848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20852" y="2960370"/>
              <a:ext cx="2208848" cy="582930"/>
            </a:xfrm>
            <a:prstGeom prst="roundRect">
              <a:avLst>
                <a:gd name="adj" fmla="val 1634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449752" y="5033962"/>
              <a:ext cx="2208848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449752" y="5725478"/>
              <a:ext cx="2208848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20852" y="5379720"/>
              <a:ext cx="2208848" cy="582930"/>
            </a:xfrm>
            <a:prstGeom prst="roundRect">
              <a:avLst>
                <a:gd name="adj" fmla="val 1634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192905" y="4275772"/>
              <a:ext cx="2208848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38526" y="17806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时钟中断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38526" y="2472214"/>
              <a:ext cx="703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中断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38526" y="31627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控制台中断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38526" y="3749516"/>
              <a:ext cx="18011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硬件故障：掉电、内存校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38526" y="4440079"/>
              <a:ext cx="1776730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程序性：越界越权、缺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页、溢出除 0、非法指令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09626" y="3058001"/>
              <a:ext cx="18011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强迫性中断（运行程序不</a:t>
              </a:r>
              <a:br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期望）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38526" y="5131594"/>
              <a:ext cx="15572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系统调用：fd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open(fname, mode)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38526" y="5823109"/>
              <a:ext cx="163855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访管指令：准备参数、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svc n、取返回值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09626" y="5477351"/>
              <a:ext cx="18011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自愿性中断（运行程序期</a:t>
              </a:r>
              <a:br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望）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81678" y="43724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中断与中断系统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强迫性中断随时可能到来，自愿性中断由程序主动发出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flow-1"/>
          <p:cNvGrpSpPr/>
          <p:nvPr/>
        </p:nvGrpSpPr>
        <p:grpSpPr>
          <a:xfrm>
            <a:off x="666750" y="1464945"/>
            <a:ext cx="10858500" cy="2104073"/>
            <a:chOff x="666750" y="1464945"/>
            <a:chExt cx="10858500" cy="2104073"/>
          </a:xfrm>
        </p:grpSpPr>
        <p:sp>
          <p:nvSpPr>
            <p:cNvPr id="7" name="Freeform 7"/>
            <p:cNvSpPr/>
            <p:nvPr/>
          </p:nvSpPr>
          <p:spPr>
            <a:xfrm>
              <a:off x="1460182" y="2107882"/>
              <a:ext cx="1854518" cy="187642"/>
            </a:xfrm>
            <a:custGeom>
              <a:avLst/>
              <a:gdLst/>
              <a:ahLst/>
              <a:cxnLst/>
              <a:rect l="l" t="t" r="r" b="b"/>
              <a:pathLst>
                <a:path w="1854518" h="187642">
                  <a:moveTo>
                    <a:pt x="0" y="0"/>
                  </a:moveTo>
                  <a:lnTo>
                    <a:pt x="0" y="146685"/>
                  </a:lnTo>
                  <a:lnTo>
                    <a:pt x="1854518" y="146685"/>
                  </a:lnTo>
                  <a:lnTo>
                    <a:pt x="1854518" y="1876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62312" y="2295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14700" y="2295525"/>
              <a:ext cx="1854518" cy="60960"/>
            </a:xfrm>
            <a:custGeom>
              <a:avLst/>
              <a:gdLst/>
              <a:ahLst/>
              <a:cxnLst/>
              <a:rect l="l" t="t" r="r" b="b"/>
              <a:pathLst>
                <a:path w="1854518" h="60960">
                  <a:moveTo>
                    <a:pt x="1854518" y="17145"/>
                  </a:moveTo>
                  <a:lnTo>
                    <a:pt x="1854518" y="60960"/>
                  </a:lnTo>
                  <a:lnTo>
                    <a:pt x="0" y="6096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62312" y="2295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14700" y="2838450"/>
              <a:ext cx="9525" cy="187642"/>
            </a:xfrm>
            <a:custGeom>
              <a:avLst/>
              <a:gdLst/>
              <a:ahLst/>
              <a:cxnLst/>
              <a:rect l="l" t="t" r="r" b="b"/>
              <a:pathLst>
                <a:path w="9525" h="187642">
                  <a:moveTo>
                    <a:pt x="0" y="0"/>
                  </a:moveTo>
                  <a:lnTo>
                    <a:pt x="0" y="1876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62312" y="30260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817168" y="1888808"/>
              <a:ext cx="2015490" cy="9525"/>
            </a:xfrm>
            <a:custGeom>
              <a:avLst/>
              <a:gdLst/>
              <a:ahLst/>
              <a:cxnLst/>
              <a:rect l="l" t="t" r="r" b="b"/>
              <a:pathLst>
                <a:path w="2015490" h="9525">
                  <a:moveTo>
                    <a:pt x="0" y="0"/>
                  </a:moveTo>
                  <a:lnTo>
                    <a:pt x="201549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832658" y="18364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877300" y="2204085"/>
              <a:ext cx="1854518" cy="98107"/>
            </a:xfrm>
            <a:custGeom>
              <a:avLst/>
              <a:gdLst/>
              <a:ahLst/>
              <a:cxnLst/>
              <a:rect l="l" t="t" r="r" b="b"/>
              <a:pathLst>
                <a:path w="1854518" h="98107">
                  <a:moveTo>
                    <a:pt x="1854518" y="0"/>
                  </a:moveTo>
                  <a:lnTo>
                    <a:pt x="1854518" y="98107"/>
                  </a:lnTo>
                  <a:lnTo>
                    <a:pt x="0" y="98107"/>
                  </a:lnTo>
                  <a:lnTo>
                    <a:pt x="0" y="914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824912" y="2295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877300" y="2838450"/>
              <a:ext cx="9525" cy="187642"/>
            </a:xfrm>
            <a:custGeom>
              <a:avLst/>
              <a:gdLst/>
              <a:ahLst/>
              <a:cxnLst/>
              <a:rect l="l" t="t" r="r" b="b"/>
              <a:pathLst>
                <a:path w="9525" h="187642">
                  <a:moveTo>
                    <a:pt x="0" y="0"/>
                  </a:moveTo>
                  <a:lnTo>
                    <a:pt x="0" y="1876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824912" y="30260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1669732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374832" y="1464945"/>
              <a:ext cx="1587818" cy="847725"/>
            </a:xfrm>
            <a:custGeom>
              <a:avLst/>
              <a:gdLst/>
              <a:ahLst/>
              <a:cxnLst/>
              <a:rect l="l" t="t" r="r" b="b"/>
              <a:pathLst>
                <a:path w="1587818" h="847725">
                  <a:moveTo>
                    <a:pt x="133350" y="0"/>
                  </a:moveTo>
                  <a:lnTo>
                    <a:pt x="1587818" y="0"/>
                  </a:lnTo>
                  <a:lnTo>
                    <a:pt x="1454468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21268" y="2400300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21268" y="3130868"/>
              <a:ext cx="1587818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29350" y="1669732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937432" y="1574482"/>
              <a:ext cx="1587818" cy="629602"/>
            </a:xfrm>
            <a:custGeom>
              <a:avLst/>
              <a:gdLst/>
              <a:ahLst/>
              <a:cxnLst/>
              <a:rect l="l" t="t" r="r" b="b"/>
              <a:pathLst>
                <a:path w="1587818" h="629602">
                  <a:moveTo>
                    <a:pt x="133350" y="0"/>
                  </a:moveTo>
                  <a:lnTo>
                    <a:pt x="1587818" y="0"/>
                  </a:lnTo>
                  <a:lnTo>
                    <a:pt x="1454468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83868" y="2400300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83868" y="3130868"/>
              <a:ext cx="1587818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09078" y="17997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运行程序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2501" y="1581626"/>
              <a:ext cx="131343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时钟、I/O、控制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台、掉电、硬件故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63596" y="2530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中断装置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1282" y="326088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中断处理程序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71678" y="17997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运行程序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91356" y="1691164"/>
              <a:ext cx="12809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访管指令 SVC n、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trap 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6196" y="2530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中断装置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3882" y="326088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中断处理程序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140268" y="203835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70557" y="206502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被打断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060508" y="214026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94798" y="21669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696325" y="167259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30615" y="16992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</p:grpSp>
      <p:grpSp>
        <p:nvGrpSpPr>
          <p:cNvPr id="61" name="c1-table-2"/>
          <p:cNvGrpSpPr/>
          <p:nvPr/>
        </p:nvGrpSpPr>
        <p:grpSpPr>
          <a:xfrm>
            <a:off x="533400" y="3905250"/>
            <a:ext cx="11125200" cy="1795462"/>
            <a:chOff x="533400" y="3905250"/>
            <a:chExt cx="11125200" cy="1795462"/>
          </a:xfrm>
        </p:grpSpPr>
        <p:sp>
          <p:nvSpPr>
            <p:cNvPr id="42" name="Rectangle 42"/>
            <p:cNvSpPr/>
            <p:nvPr/>
          </p:nvSpPr>
          <p:spPr>
            <a:xfrm>
              <a:off x="533400" y="390525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69530" y="40409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79532" y="40409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强迫性中断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1054" y="40409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自愿性中断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1223" y="44896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对运行程序而言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43378" y="44896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不期望，事件随机发生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04901" y="4489609"/>
              <a:ext cx="2254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期望，程序主动请求 OS 服务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7977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8025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1223" y="49382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由谁引起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43378" y="493823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时钟、外部设备、操作员、硬件故障、程序运行错误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4901" y="4938236"/>
              <a:ext cx="3227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运行程序执行访管指令（SVC n、trap n）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2473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1223" y="5386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发生位置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643378" y="53868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任何一条指令执行完之后都可能发生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4901" y="53868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固定在访管指令处，可以预知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390525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530792" y="39052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92315" y="39052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97729" cy="909257"/>
            <a:chOff x="520446" y="342900"/>
            <a:chExt cx="91977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中断与中断系统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977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中断向量：每类中断一个，给出处理程序的 PSW 和入口地址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760595" cy="2055495"/>
            <a:chOff x="533400" y="1524000"/>
            <a:chExt cx="4760595" cy="2055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5549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887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1347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273" y="1769269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3.1.2.2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01202" y="1768792"/>
              <a:ext cx="2078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中断向量（PSW, PC）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中断处理程序的运行环境与入口地址。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每类中断事件有一个中断向量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8003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存放位置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由硬件规定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1984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135630"/>
              <a:ext cx="3853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OS 在系统初始化时设置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769995"/>
            <a:ext cx="4760595" cy="2569845"/>
            <a:chOff x="533400" y="3769995"/>
            <a:chExt cx="4760595" cy="2569845"/>
          </a:xfrm>
        </p:grpSpPr>
        <p:sp>
          <p:nvSpPr>
            <p:cNvPr id="20" name="Rectangle 20"/>
            <p:cNvSpPr/>
            <p:nvPr/>
          </p:nvSpPr>
          <p:spPr>
            <a:xfrm>
              <a:off x="533400" y="3769995"/>
              <a:ext cx="4760595" cy="2569845"/>
            </a:xfrm>
            <a:prstGeom prst="roundRect">
              <a:avLst>
                <a:gd name="adj" fmla="val 518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2950" y="3979545"/>
              <a:ext cx="1937385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973" y="4015264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 mode 必须是系统态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4356735"/>
              <a:ext cx="41014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中断装置把向量中的 PSW 装入寄存器后，处理机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立即按这个 PSW 运行处理程序。处理程序要执行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特权指令、访问系统空间，所以向量中 PSW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 应置为系统态（管态）。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593080" y="1524000"/>
            <a:ext cx="6065520" cy="3886677"/>
            <a:chOff x="5593080" y="1524000"/>
            <a:chExt cx="6065520" cy="3886677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657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4794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中断向量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39771" y="1659731"/>
              <a:ext cx="1486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 指向的处理程序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39078" y="210835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46503" y="2108359"/>
              <a:ext cx="905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PSW1, PC1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15553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时钟中断处理程序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98795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39078" y="255698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46503" y="2556986"/>
              <a:ext cx="905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PSW2, PC2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15553" y="2556986"/>
              <a:ext cx="1392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中断处理程序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98795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39078" y="30056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46503" y="3005614"/>
              <a:ext cx="905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PSW3, PC3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15553" y="30056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console 中断处理程序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598795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39078" y="34542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0024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46503" y="3454241"/>
              <a:ext cx="905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PSW4, PC4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15553" y="34542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硬件故障处理程序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39078" y="390382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0032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46503" y="3903821"/>
              <a:ext cx="905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PSW5, PC5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15553" y="390382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程序错误处理程序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4211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421671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88345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45182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5553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46605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39078" y="480107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0090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53331" y="4801076"/>
              <a:ext cx="891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PSWn, PCn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15553" y="480107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访管中断处理程序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1524000"/>
              <a:ext cx="6059805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8464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50296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593080" y="519064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向量表和各处理程序都在系统空间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5598795" y="5556885"/>
            <a:ext cx="6059805" cy="782955"/>
            <a:chOff x="5598795" y="5556885"/>
            <a:chExt cx="6059805" cy="782955"/>
          </a:xfrm>
        </p:grpSpPr>
        <p:sp>
          <p:nvSpPr>
            <p:cNvPr id="64" name="Rectangle 64"/>
            <p:cNvSpPr/>
            <p:nvPr/>
          </p:nvSpPr>
          <p:spPr>
            <a:xfrm>
              <a:off x="5598795" y="555688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5803583" y="5848350"/>
              <a:ext cx="200026" cy="200026"/>
              <a:chOff x="5803583" y="5848350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5803583" y="5848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903595" y="5915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5892483" y="5948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105525" y="5705475"/>
              <a:ext cx="5149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更正：原课件第 5 个地址写作 0030。前 4 个地址按 8 递增，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个应为 0032；最后一行的 0090 只是示意。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中断与中断系统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中断嵌套：高优先级中断可以打断低优先级中断的处理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421" y="1769269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3.1.2.3 中断嵌套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一般原则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：高优先级中断可以嵌入低优先级中断的处理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实现方法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：中断响应后，立即屏蔽不高于当前中断优先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级的中断源。</a:t>
              </a:r>
            </a:p>
          </p:txBody>
        </p:sp>
      </p:grpSp>
      <p:grpSp>
        <p:nvGrpSpPr>
          <p:cNvPr id="42" name="c1-graph-2"/>
          <p:cNvGrpSpPr/>
          <p:nvPr/>
        </p:nvGrpSpPr>
        <p:grpSpPr>
          <a:xfrm>
            <a:off x="904302" y="3851434"/>
            <a:ext cx="4826891" cy="1818417"/>
            <a:chOff x="904302" y="3851434"/>
            <a:chExt cx="4826891" cy="1818417"/>
          </a:xfrm>
        </p:grpSpPr>
        <p:sp>
          <p:nvSpPr>
            <p:cNvPr id="14" name="Freeform 14"/>
            <p:cNvSpPr/>
            <p:nvPr/>
          </p:nvSpPr>
          <p:spPr>
            <a:xfrm>
              <a:off x="1664970" y="4311650"/>
              <a:ext cx="1168718" cy="223203"/>
            </a:xfrm>
            <a:custGeom>
              <a:avLst/>
              <a:gdLst/>
              <a:ahLst/>
              <a:cxnLst/>
              <a:rect l="l" t="t" r="r" b="b"/>
              <a:pathLst>
                <a:path w="1168718" h="223203">
                  <a:moveTo>
                    <a:pt x="0" y="223203"/>
                  </a:moveTo>
                  <a:cubicBezTo>
                    <a:pt x="417830" y="14288"/>
                    <a:pt x="807402" y="0"/>
                    <a:pt x="1168718" y="180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811780" y="4450080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84773"/>
                  </a:moveTo>
                  <a:lnTo>
                    <a:pt x="0" y="84773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749742" y="4854892"/>
              <a:ext cx="1168718" cy="223203"/>
            </a:xfrm>
            <a:custGeom>
              <a:avLst/>
              <a:gdLst/>
              <a:ahLst/>
              <a:cxnLst/>
              <a:rect l="l" t="t" r="r" b="b"/>
              <a:pathLst>
                <a:path w="1168718" h="223203">
                  <a:moveTo>
                    <a:pt x="1168718" y="0"/>
                  </a:moveTo>
                  <a:cubicBezTo>
                    <a:pt x="750887" y="208915"/>
                    <a:pt x="361315" y="223203"/>
                    <a:pt x="0" y="4286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664970" y="485489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0"/>
                  </a:lnTo>
                  <a:lnTo>
                    <a:pt x="63817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58540" y="4311650"/>
              <a:ext cx="1168718" cy="223203"/>
            </a:xfrm>
            <a:custGeom>
              <a:avLst/>
              <a:gdLst/>
              <a:ahLst/>
              <a:cxnLst/>
              <a:rect l="l" t="t" r="r" b="b"/>
              <a:pathLst>
                <a:path w="1168718" h="223203">
                  <a:moveTo>
                    <a:pt x="0" y="223203"/>
                  </a:moveTo>
                  <a:cubicBezTo>
                    <a:pt x="417830" y="14288"/>
                    <a:pt x="807402" y="0"/>
                    <a:pt x="1168718" y="180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705350" y="4450080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84773"/>
                  </a:moveTo>
                  <a:lnTo>
                    <a:pt x="0" y="84773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643312" y="4854892"/>
              <a:ext cx="1168718" cy="223203"/>
            </a:xfrm>
            <a:custGeom>
              <a:avLst/>
              <a:gdLst/>
              <a:ahLst/>
              <a:cxnLst/>
              <a:rect l="l" t="t" r="r" b="b"/>
              <a:pathLst>
                <a:path w="1168718" h="223203">
                  <a:moveTo>
                    <a:pt x="1168718" y="0"/>
                  </a:moveTo>
                  <a:cubicBezTo>
                    <a:pt x="750887" y="208915"/>
                    <a:pt x="361315" y="223203"/>
                    <a:pt x="0" y="4286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3558540" y="485489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0"/>
                  </a:lnTo>
                  <a:lnTo>
                    <a:pt x="63817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5830" y="4534852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27008" y="4534852"/>
              <a:ext cx="1022032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32948" y="4534852"/>
              <a:ext cx="1198245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5746" y="46205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目态程序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11784" y="4620578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第 1 层处理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2062" y="4620578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第 n−1 层处理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128838" y="428529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154834" y="43200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128838" y="491871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54834" y="4953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22408" y="428529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48404" y="43200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22408" y="491871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48404" y="4953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302" y="3851434"/>
              <a:ext cx="881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PSW1 : PC1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97872" y="3851434"/>
              <a:ext cx="881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PSW2 : PC2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98099" y="3851434"/>
              <a:ext cx="867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PSWn : PCn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8245" y="54644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91815" y="54644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管态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85385" y="54644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管态</a:t>
              </a:r>
            </a:p>
          </p:txBody>
        </p:sp>
      </p:grpSp>
      <p:grpSp>
        <p:nvGrpSpPr>
          <p:cNvPr id="44" name="c2-text-1"/>
          <p:cNvGrpSpPr/>
          <p:nvPr/>
        </p:nvGrpSpPr>
        <p:grpSpPr>
          <a:xfrm>
            <a:off x="6241923" y="1545431"/>
            <a:ext cx="2597658" cy="249364"/>
            <a:chOff x="6241923" y="1545431"/>
            <a:chExt cx="2597658" cy="249364"/>
          </a:xfrm>
        </p:grpSpPr>
        <p:sp>
          <p:nvSpPr>
            <p:cNvPr id="43" name="TextBox 43"/>
            <p:cNvSpPr txBox="1"/>
            <p:nvPr/>
          </p:nvSpPr>
          <p:spPr>
            <a:xfrm>
              <a:off x="6241923" y="154543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系统栈（左为栈底，右为栈顶）：</a:t>
              </a:r>
            </a:p>
          </p:txBody>
        </p:sp>
      </p:grpSp>
      <p:grpSp>
        <p:nvGrpSpPr>
          <p:cNvPr id="57" name="c2-cells-2"/>
          <p:cNvGrpSpPr/>
          <p:nvPr/>
        </p:nvGrpSpPr>
        <p:grpSpPr>
          <a:xfrm>
            <a:off x="6248400" y="1980248"/>
            <a:ext cx="5257800" cy="995362"/>
            <a:chOff x="6248400" y="1980248"/>
            <a:chExt cx="5257800" cy="995362"/>
          </a:xfrm>
        </p:grpSpPr>
        <p:sp>
          <p:nvSpPr>
            <p:cNvPr id="45" name="Rectangle 45"/>
            <p:cNvSpPr/>
            <p:nvPr/>
          </p:nvSpPr>
          <p:spPr>
            <a:xfrm>
              <a:off x="6248400" y="2229802"/>
              <a:ext cx="13144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36089" y="2369344"/>
              <a:ext cx="739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PSW1 PC1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562850" y="2229802"/>
              <a:ext cx="13144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50539" y="2369344"/>
              <a:ext cx="739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PSW2 PC2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877300" y="2229802"/>
              <a:ext cx="13144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41738" y="23693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191750" y="2229802"/>
              <a:ext cx="13144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03822" y="2369344"/>
              <a:ext cx="10903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PSWn−1 PCn−1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23054" y="198024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10810875" y="21345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867525" y="26679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9704" y="279939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栈底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6248400" y="3106102"/>
            <a:ext cx="5410200" cy="1986915"/>
            <a:chOff x="6248400" y="3106102"/>
            <a:chExt cx="5410200" cy="1986915"/>
          </a:xfrm>
        </p:grpSpPr>
        <p:sp>
          <p:nvSpPr>
            <p:cNvPr id="58" name="Rectangle 58"/>
            <p:cNvSpPr/>
            <p:nvPr/>
          </p:nvSpPr>
          <p:spPr>
            <a:xfrm>
              <a:off x="6248400" y="3106102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3239452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96050" y="33156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86258" y="33513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501765" y="375570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59880" y="3692842"/>
              <a:ext cx="4780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目态程序被中断时，PSW1、PC1 最先压栈，位于栈底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501765" y="409098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9880" y="4028122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层处理程序又被更高优先级的中断打断时，它自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己的 PSW、PC 继续压栈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501765" y="471201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59880" y="4649152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返回时按后进先出依次弹出，目态程序最后恢复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9" name="Rectangle 6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991225"/>
              <a:ext cx="790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上图各框上方标的是该层程序运行时的 PSW 和 PC，被打断时正是这一对被压入系统栈。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中断与中断系统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响应后还要进一步保存现场；优先级定次序，屏蔽可以调整次序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353050" cy="500824"/>
            <a:chOff x="526923" y="1545431"/>
            <a:chExt cx="5353050" cy="50082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3530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中断装置只保存了 PSW 和 PC，处理程序开头还要保存通用寄存器等现场，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结尾恢复：</a:t>
              </a:r>
            </a:p>
          </p:txBody>
        </p:sp>
      </p:grpSp>
      <p:grpSp>
        <p:nvGrpSpPr>
          <p:cNvPr id="39" name="c1-flow-2"/>
          <p:cNvGrpSpPr/>
          <p:nvPr/>
        </p:nvGrpSpPr>
        <p:grpSpPr>
          <a:xfrm>
            <a:off x="666750" y="2267902"/>
            <a:ext cx="5359717" cy="2217420"/>
            <a:chOff x="666750" y="2267902"/>
            <a:chExt cx="5359717" cy="2217420"/>
          </a:xfrm>
        </p:grpSpPr>
        <p:sp>
          <p:nvSpPr>
            <p:cNvPr id="9" name="Freeform 9"/>
            <p:cNvSpPr/>
            <p:nvPr/>
          </p:nvSpPr>
          <p:spPr>
            <a:xfrm>
              <a:off x="2275522" y="258222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37448" y="2529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50995" y="258222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12920" y="2529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222558" y="2897505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0"/>
                  </a:moveTo>
                  <a:lnTo>
                    <a:pt x="0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70170" y="30527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222558" y="3595688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70170" y="38461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255770" y="41700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150995" y="41176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380298" y="41700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275522" y="41176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471612" y="3700462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1552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419225" y="35956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" y="2267902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542222" y="2267902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17695" y="2267902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17695" y="3157538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17695" y="3950970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542222" y="3950970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" y="3855720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6750" y="3157538"/>
              <a:ext cx="16087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896" y="238458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关中断（屏蔽所有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90368" y="238458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进一步保存现场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（通用寄存器等）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5840" y="238458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开中断（或开放高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优先级中断）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71453" y="32875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57610" y="4080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关中断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95981" y="4080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恢复现场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896" y="397144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开中断（或开放高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优先级中断）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508" y="32875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中断返回</a:t>
              </a:r>
            </a:p>
          </p:txBody>
        </p:sp>
      </p:grpSp>
      <p:grpSp>
        <p:nvGrpSpPr>
          <p:cNvPr id="46" name="c1-callout-3"/>
          <p:cNvGrpSpPr/>
          <p:nvPr/>
        </p:nvGrpSpPr>
        <p:grpSpPr>
          <a:xfrm>
            <a:off x="533400" y="4757738"/>
            <a:ext cx="5626418" cy="782955"/>
            <a:chOff x="533400" y="4757738"/>
            <a:chExt cx="5626418" cy="782955"/>
          </a:xfrm>
        </p:grpSpPr>
        <p:sp>
          <p:nvSpPr>
            <p:cNvPr id="40" name="Rectangle 40"/>
            <p:cNvSpPr/>
            <p:nvPr/>
          </p:nvSpPr>
          <p:spPr>
            <a:xfrm>
              <a:off x="533400" y="475773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045511"/>
              <a:ext cx="224134" cy="192560"/>
              <a:chOff x="726129" y="5045511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1158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0455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51936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490632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保存和恢复现场时要关中断：这时正在连续写系统栈，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中途被打断会把栈里的现场弄乱。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464618" y="1524000"/>
            <a:ext cx="5193982" cy="1701165"/>
            <a:chOff x="6464618" y="1524000"/>
            <a:chExt cx="5193982" cy="1701165"/>
          </a:xfrm>
        </p:grpSpPr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12268" y="1733550"/>
              <a:ext cx="1540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1689" y="1769269"/>
              <a:ext cx="14223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3.1.2.4 中断优先级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4648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硬件规定的中断响应次序，依据两点：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717983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76098" y="24460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紧迫程度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17983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76098" y="2781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处理时间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464618" y="3415665"/>
            <a:ext cx="5193982" cy="1365885"/>
            <a:chOff x="6464618" y="3415665"/>
            <a:chExt cx="5193982" cy="1365885"/>
          </a:xfrm>
        </p:grpSpPr>
        <p:sp>
          <p:nvSpPr>
            <p:cNvPr id="57" name="Rectangle 57"/>
            <p:cNvSpPr/>
            <p:nvPr/>
          </p:nvSpPr>
          <p:spPr>
            <a:xfrm>
              <a:off x="6464618" y="3415665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74168" y="362521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4823" y="366093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中断屏蔽的两个用途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674167" y="398907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36017" y="40313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75158" y="400240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高优先级中断事件的处理不受低优先级中断打扰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74167" y="43243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36017" y="43666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75158" y="43376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程序通过设置屏蔽，调整中断的实际响应次序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464618" y="4972050"/>
            <a:ext cx="5193982" cy="782955"/>
            <a:chOff x="6464618" y="4972050"/>
            <a:chExt cx="5193982" cy="782955"/>
          </a:xfrm>
        </p:grpSpPr>
        <p:sp>
          <p:nvSpPr>
            <p:cNvPr id="67" name="Rectangle 67"/>
            <p:cNvSpPr/>
            <p:nvPr/>
          </p:nvSpPr>
          <p:spPr>
            <a:xfrm>
              <a:off x="6464618" y="497205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69405" y="5263515"/>
              <a:ext cx="200026" cy="200026"/>
              <a:chOff x="6669405" y="5263515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69405" y="52635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69418" y="53301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58305" y="53635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971348" y="512064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优先级是硬件定死的；屏蔽由软件设置，可以临时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改变谁能打断谁。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81421" cy="3351847"/>
            <a:chOff x="667512" y="1835468"/>
            <a:chExt cx="558142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中断处理程序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71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中断装置把控制权交给 OS 之后，各类中断分别怎样处理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3.1.3 中断处理程序的总体流程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604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3.1.3.1–3.1.3.4 I/O、时钟、控制台与硬件故障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3.1.3.5 程序性中断与中断续元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3.1.3.6 自愿性中断（系统调用）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中断处理程序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中断处理程序的总体流程：处理完再决定是否切换进程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flow-1"/>
          <p:cNvGrpSpPr/>
          <p:nvPr/>
        </p:nvGrpSpPr>
        <p:grpSpPr>
          <a:xfrm>
            <a:off x="793432" y="1532572"/>
            <a:ext cx="10605136" cy="3975735"/>
            <a:chOff x="793432" y="1532572"/>
            <a:chExt cx="10605136" cy="3975735"/>
          </a:xfrm>
        </p:grpSpPr>
        <p:sp>
          <p:nvSpPr>
            <p:cNvPr id="7" name="Freeform 7"/>
            <p:cNvSpPr/>
            <p:nvPr/>
          </p:nvSpPr>
          <p:spPr>
            <a:xfrm>
              <a:off x="2387918" y="2162175"/>
              <a:ext cx="3708082" cy="57150"/>
            </a:xfrm>
            <a:custGeom>
              <a:avLst/>
              <a:gdLst/>
              <a:ahLst/>
              <a:cxnLst/>
              <a:rect l="l" t="t" r="r" b="b"/>
              <a:pathLst>
                <a:path w="3708082" h="57150">
                  <a:moveTo>
                    <a:pt x="0" y="0"/>
                  </a:moveTo>
                  <a:lnTo>
                    <a:pt x="0" y="57150"/>
                  </a:lnTo>
                  <a:lnTo>
                    <a:pt x="3708082" y="57150"/>
                  </a:lnTo>
                  <a:lnTo>
                    <a:pt x="3708082" y="85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043612" y="2170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6096000" y="2162175"/>
              <a:ext cx="3708082" cy="57150"/>
            </a:xfrm>
            <a:custGeom>
              <a:avLst/>
              <a:gdLst/>
              <a:ahLst/>
              <a:cxnLst/>
              <a:rect l="l" t="t" r="r" b="b"/>
              <a:pathLst>
                <a:path w="3708082" h="57150">
                  <a:moveTo>
                    <a:pt x="3708082" y="0"/>
                  </a:moveTo>
                  <a:lnTo>
                    <a:pt x="3708082" y="57150"/>
                  </a:lnTo>
                  <a:lnTo>
                    <a:pt x="0" y="57150"/>
                  </a:lnTo>
                  <a:lnTo>
                    <a:pt x="0" y="85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043612" y="2170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096000" y="2713672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43612" y="28184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3361372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43612" y="34661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4009072"/>
              <a:ext cx="9525" cy="22860"/>
            </a:xfrm>
            <a:custGeom>
              <a:avLst/>
              <a:gdLst/>
              <a:ahLst/>
              <a:cxnLst/>
              <a:rect l="l" t="t" r="r" b="b"/>
              <a:pathLst>
                <a:path w="9525" h="22860">
                  <a:moveTo>
                    <a:pt x="0" y="0"/>
                  </a:moveTo>
                  <a:lnTo>
                    <a:pt x="0" y="22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043612" y="40319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387918" y="4665345"/>
              <a:ext cx="3708082" cy="88583"/>
            </a:xfrm>
            <a:custGeom>
              <a:avLst/>
              <a:gdLst/>
              <a:ahLst/>
              <a:cxnLst/>
              <a:rect l="l" t="t" r="r" b="b"/>
              <a:pathLst>
                <a:path w="3708082" h="88583">
                  <a:moveTo>
                    <a:pt x="3708082" y="72390"/>
                  </a:moveTo>
                  <a:lnTo>
                    <a:pt x="3708082" y="88583"/>
                  </a:lnTo>
                  <a:lnTo>
                    <a:pt x="0" y="8858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335530" y="46653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690485" y="4436745"/>
              <a:ext cx="414338" cy="647700"/>
            </a:xfrm>
            <a:custGeom>
              <a:avLst/>
              <a:gdLst/>
              <a:ahLst/>
              <a:cxnLst/>
              <a:rect l="l" t="t" r="r" b="b"/>
              <a:pathLst>
                <a:path w="414338" h="647700">
                  <a:moveTo>
                    <a:pt x="0" y="0"/>
                  </a:moveTo>
                  <a:lnTo>
                    <a:pt x="260033" y="0"/>
                  </a:lnTo>
                  <a:lnTo>
                    <a:pt x="260033" y="647700"/>
                  </a:lnTo>
                  <a:lnTo>
                    <a:pt x="414338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104822" y="50320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93432" y="1532572"/>
              <a:ext cx="3188970" cy="629602"/>
            </a:xfrm>
            <a:custGeom>
              <a:avLst/>
              <a:gdLst/>
              <a:ahLst/>
              <a:cxnLst/>
              <a:rect l="l" t="t" r="r" b="b"/>
              <a:pathLst>
                <a:path w="3188970" h="629602">
                  <a:moveTo>
                    <a:pt x="133350" y="0"/>
                  </a:moveTo>
                  <a:lnTo>
                    <a:pt x="3188970" y="0"/>
                  </a:lnTo>
                  <a:lnTo>
                    <a:pt x="3055620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209598" y="1532572"/>
              <a:ext cx="3188970" cy="629602"/>
            </a:xfrm>
            <a:custGeom>
              <a:avLst/>
              <a:gdLst/>
              <a:ahLst/>
              <a:cxnLst/>
              <a:rect l="l" t="t" r="r" b="b"/>
              <a:pathLst>
                <a:path w="3188970" h="629602">
                  <a:moveTo>
                    <a:pt x="133350" y="0"/>
                  </a:moveTo>
                  <a:lnTo>
                    <a:pt x="3188970" y="0"/>
                  </a:lnTo>
                  <a:lnTo>
                    <a:pt x="3055620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01515" y="2275522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01515" y="2923222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01515" y="3570922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501515" y="4136708"/>
              <a:ext cx="3188970" cy="601027"/>
            </a:xfrm>
            <a:custGeom>
              <a:avLst/>
              <a:gdLst/>
              <a:ahLst/>
              <a:cxnLst/>
              <a:rect l="l" t="t" r="r" b="b"/>
              <a:pathLst>
                <a:path w="3188970" h="601027">
                  <a:moveTo>
                    <a:pt x="1594485" y="0"/>
                  </a:moveTo>
                  <a:lnTo>
                    <a:pt x="3188970" y="300038"/>
                  </a:lnTo>
                  <a:lnTo>
                    <a:pt x="1594485" y="601027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93432" y="4770120"/>
              <a:ext cx="3188970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09598" y="4660582"/>
              <a:ext cx="3188970" cy="8477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9680" y="1649254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强迫性中断：关中断，进一步保存现场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到系统栈，取中断字，分析中断原因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5846" y="1649254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自愿性中断：关中断，保存现场到系统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栈，取调用号，分析何种系统调用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00269" y="240553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开放高优先级中断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44896" y="30532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31053" y="370093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关中断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86425" y="43476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需要切换进程？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9680" y="4885849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由系统栈恢复现场，返回上层中断或目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态程序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08124" y="4777264"/>
              <a:ext cx="2791917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 dispatcher：保存下降进程现场到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PCB，选择上升进程，由 PCB 恢复上升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进程现场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27182" y="45377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65473" y="45643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979092" y="466915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02334" y="46958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2" name="Rectangle 4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728335"/>
              <a:ext cx="9968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下降进程：被换下 CPU 的进程；上升进程：新选中投入运行的进程。原课件前一页的流程没有画关中断、开放高优先级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中断这几步，其余相同。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中断处理程序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考虑系统状态后，运行态分成用户态运行和核心态运行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graph-1"/>
          <p:cNvGrpSpPr/>
          <p:nvPr/>
        </p:nvGrpSpPr>
        <p:grpSpPr>
          <a:xfrm>
            <a:off x="810578" y="1799272"/>
            <a:ext cx="5131117" cy="4142804"/>
            <a:chOff x="810578" y="1799272"/>
            <a:chExt cx="5131117" cy="4142804"/>
          </a:xfrm>
        </p:grpSpPr>
        <p:sp>
          <p:nvSpPr>
            <p:cNvPr id="7" name="Freeform 7"/>
            <p:cNvSpPr/>
            <p:nvPr/>
          </p:nvSpPr>
          <p:spPr>
            <a:xfrm>
              <a:off x="2823845" y="2119312"/>
              <a:ext cx="258445" cy="1384935"/>
            </a:xfrm>
            <a:custGeom>
              <a:avLst/>
              <a:gdLst/>
              <a:ahLst/>
              <a:cxnLst/>
              <a:rect l="l" t="t" r="r" b="b"/>
              <a:pathLst>
                <a:path w="258445" h="1384935">
                  <a:moveTo>
                    <a:pt x="258445" y="0"/>
                  </a:moveTo>
                  <a:cubicBezTo>
                    <a:pt x="13970" y="490220"/>
                    <a:pt x="0" y="951865"/>
                    <a:pt x="216535" y="138493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97518" y="3483292"/>
              <a:ext cx="84773" cy="106680"/>
            </a:xfrm>
            <a:custGeom>
              <a:avLst/>
              <a:gdLst/>
              <a:ahLst/>
              <a:cxnLst/>
              <a:rect l="l" t="t" r="r" b="b"/>
              <a:pathLst>
                <a:path w="84773" h="106680">
                  <a:moveTo>
                    <a:pt x="84773" y="106680"/>
                  </a:moveTo>
                  <a:lnTo>
                    <a:pt x="0" y="42862"/>
                  </a:lnTo>
                  <a:lnTo>
                    <a:pt x="8477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42310" y="2205038"/>
              <a:ext cx="259398" cy="1384935"/>
            </a:xfrm>
            <a:custGeom>
              <a:avLst/>
              <a:gdLst/>
              <a:ahLst/>
              <a:cxnLst/>
              <a:rect l="l" t="t" r="r" b="b"/>
              <a:pathLst>
                <a:path w="259398" h="1384935">
                  <a:moveTo>
                    <a:pt x="0" y="1384935"/>
                  </a:moveTo>
                  <a:cubicBezTo>
                    <a:pt x="245110" y="894715"/>
                    <a:pt x="259398" y="433070"/>
                    <a:pt x="4286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42310" y="211931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0"/>
                  </a:moveTo>
                  <a:lnTo>
                    <a:pt x="85725" y="63817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87090" y="2174558"/>
              <a:ext cx="1985962" cy="1415415"/>
            </a:xfrm>
            <a:custGeom>
              <a:avLst/>
              <a:gdLst/>
              <a:ahLst/>
              <a:cxnLst/>
              <a:rect l="l" t="t" r="r" b="b"/>
              <a:pathLst>
                <a:path w="1985962" h="1415415">
                  <a:moveTo>
                    <a:pt x="0" y="1415415"/>
                  </a:moveTo>
                  <a:lnTo>
                    <a:pt x="19859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345430" y="2119312"/>
              <a:ext cx="105727" cy="94298"/>
            </a:xfrm>
            <a:custGeom>
              <a:avLst/>
              <a:gdLst/>
              <a:ahLst/>
              <a:cxnLst/>
              <a:rect l="l" t="t" r="r" b="b"/>
              <a:pathLst>
                <a:path w="105727" h="94298">
                  <a:moveTo>
                    <a:pt x="105727" y="0"/>
                  </a:moveTo>
                  <a:lnTo>
                    <a:pt x="55245" y="94298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28900" y="4005262"/>
              <a:ext cx="529590" cy="1616393"/>
            </a:xfrm>
            <a:custGeom>
              <a:avLst/>
              <a:gdLst/>
              <a:ahLst/>
              <a:cxnLst/>
              <a:rect l="l" t="t" r="r" b="b"/>
              <a:pathLst>
                <a:path w="529590" h="1616393">
                  <a:moveTo>
                    <a:pt x="0" y="1616393"/>
                  </a:moveTo>
                  <a:cubicBezTo>
                    <a:pt x="344805" y="1110298"/>
                    <a:pt x="521335" y="571500"/>
                    <a:pt x="52959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11818" y="3910012"/>
              <a:ext cx="94298" cy="96203"/>
            </a:xfrm>
            <a:custGeom>
              <a:avLst/>
              <a:gdLst/>
              <a:ahLst/>
              <a:cxnLst/>
              <a:rect l="l" t="t" r="r" b="b"/>
              <a:pathLst>
                <a:path w="94298" h="96203">
                  <a:moveTo>
                    <a:pt x="48578" y="0"/>
                  </a:moveTo>
                  <a:lnTo>
                    <a:pt x="94298" y="96203"/>
                  </a:lnTo>
                  <a:lnTo>
                    <a:pt x="0" y="9429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24125" y="3910012"/>
              <a:ext cx="529590" cy="1616393"/>
            </a:xfrm>
            <a:custGeom>
              <a:avLst/>
              <a:gdLst/>
              <a:ahLst/>
              <a:cxnLst/>
              <a:rect l="l" t="t" r="r" b="b"/>
              <a:pathLst>
                <a:path w="529590" h="1616393">
                  <a:moveTo>
                    <a:pt x="529590" y="0"/>
                  </a:moveTo>
                  <a:cubicBezTo>
                    <a:pt x="184785" y="506095"/>
                    <a:pt x="8255" y="1044893"/>
                    <a:pt x="0" y="161639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76500" y="5526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5720" y="95250"/>
                  </a:moveTo>
                  <a:lnTo>
                    <a:pt x="0" y="0"/>
                  </a:lnTo>
                  <a:lnTo>
                    <a:pt x="95250" y="9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24225" y="3910012"/>
              <a:ext cx="1655445" cy="1644968"/>
            </a:xfrm>
            <a:custGeom>
              <a:avLst/>
              <a:gdLst/>
              <a:ahLst/>
              <a:cxnLst/>
              <a:rect l="l" t="t" r="r" b="b"/>
              <a:pathLst>
                <a:path w="1655445" h="1644968">
                  <a:moveTo>
                    <a:pt x="0" y="0"/>
                  </a:moveTo>
                  <a:lnTo>
                    <a:pt x="1655445" y="16449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45380" y="552069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7628"/>
                  </a:lnTo>
                  <a:lnTo>
                    <a:pt x="6762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882265" y="5781675"/>
              <a:ext cx="2059305" cy="9525"/>
            </a:xfrm>
            <a:custGeom>
              <a:avLst/>
              <a:gdLst/>
              <a:ahLst/>
              <a:cxnLst/>
              <a:rect l="l" t="t" r="r" b="b"/>
              <a:pathLst>
                <a:path w="2059305" h="9525">
                  <a:moveTo>
                    <a:pt x="205930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87015" y="5734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191578" y="5781675"/>
              <a:ext cx="966788" cy="9525"/>
            </a:xfrm>
            <a:custGeom>
              <a:avLst/>
              <a:gdLst/>
              <a:ahLst/>
              <a:cxnLst/>
              <a:rect l="l" t="t" r="r" b="b"/>
              <a:pathLst>
                <a:path w="966788" h="9525">
                  <a:moveTo>
                    <a:pt x="0" y="0"/>
                  </a:moveTo>
                  <a:lnTo>
                    <a:pt x="9667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158365" y="5734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95575" y="1799272"/>
              <a:ext cx="933450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27948" y="3589972"/>
              <a:ext cx="1069658" cy="320040"/>
            </a:xfrm>
            <a:prstGeom prst="roundRect">
              <a:avLst>
                <a:gd name="adj" fmla="val 2976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08295" y="1799272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0578" y="562165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53615" y="562165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941570" y="562165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782634" y="1884998"/>
              <a:ext cx="75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运行 user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10544" y="3674745"/>
              <a:ext cx="90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 kernel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49802" y="368950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中断嵌套、嵌套返回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07355" y="1884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4209" y="57073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52675" y="57073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40630" y="57073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36532" y="276129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62529" y="27960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943225" y="2761298"/>
              <a:ext cx="96583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41521" y="2796064"/>
              <a:ext cx="9692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返回（置 PSW）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256722" y="276129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81767" y="27960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733675" y="4721542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751569" y="47563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调度选中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499360" y="462438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525357" y="46591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剥夺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98582" y="467296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16477" y="47077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等待事件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576638" y="5689282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595484" y="57240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事件发生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60195" y="568928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85239" y="57240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680835" y="1524000"/>
            <a:ext cx="4977765" cy="2924176"/>
            <a:chOff x="6680835" y="1524000"/>
            <a:chExt cx="4977765" cy="2924176"/>
          </a:xfrm>
        </p:grpSpPr>
        <p:sp>
          <p:nvSpPr>
            <p:cNvPr id="53" name="Rectangle 53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7557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状态转换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9214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什么时候发生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88658" y="2108359"/>
              <a:ext cx="128620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user → 运行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79396" y="22217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发生中断（包括系统调用）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26431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0835" y="2647950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8658" y="2783681"/>
              <a:ext cx="14312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kernel → 运行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79396" y="2897029"/>
              <a:ext cx="2644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中断处理完返回，PSW 置为用户态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33194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88658" y="3459004"/>
              <a:ext cx="157637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kernel → 就绪 /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 / 终止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79396" y="35723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被剥夺、等待事件、结束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680835" y="39947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80835" y="399954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88658" y="4134326"/>
              <a:ext cx="1516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 → 运行 kernel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79396" y="413432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被调度选中，先在核心态恢复现场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680835" y="1524000"/>
              <a:ext cx="4977765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766810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llout-2"/>
          <p:cNvGrpSpPr/>
          <p:nvPr/>
        </p:nvGrpSpPr>
        <p:grpSpPr>
          <a:xfrm>
            <a:off x="6680835" y="4638675"/>
            <a:ext cx="4977765" cy="1059180"/>
            <a:chOff x="6680835" y="4638675"/>
            <a:chExt cx="4977765" cy="1059180"/>
          </a:xfrm>
        </p:grpSpPr>
        <p:sp>
          <p:nvSpPr>
            <p:cNvPr id="72" name="Rectangle 72"/>
            <p:cNvSpPr/>
            <p:nvPr/>
          </p:nvSpPr>
          <p:spPr>
            <a:xfrm>
              <a:off x="6680835" y="4638675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885623" y="5068255"/>
              <a:ext cx="200023" cy="200023"/>
              <a:chOff x="6885623" y="5068255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885623" y="50682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018973" y="5134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187565" y="4787265"/>
              <a:ext cx="4063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进程不会从 user 态直接进入就绪、等待或终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止：这些转换都先经中断进入 kernel，由 OS 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4479" cy="909257"/>
            <a:chOff x="520446" y="342900"/>
            <a:chExt cx="5784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中断处理程序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4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I/O、时钟与控制台中断各自处理什么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3505200" cy="3444240"/>
            <a:chOff x="533400" y="1524000"/>
            <a:chExt cx="3505200" cy="34442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444240"/>
            </a:xfrm>
            <a:prstGeom prst="roundRect">
              <a:avLst>
                <a:gd name="adj" fmla="val 3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1775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012" y="1769269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3.1.3.1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2590" y="1768792"/>
              <a:ext cx="844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中断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正常结束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继续传输下一批数据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800350"/>
              <a:ext cx="2302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唤醒等待这次 I/O 的进程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135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传输错误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5337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47091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复执，例如重试 3 次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8690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80619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仍然失败，报告系统操作员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4343400" y="1524000"/>
            <a:ext cx="3505200" cy="3444240"/>
            <a:chOff x="4343400" y="1524000"/>
            <a:chExt cx="3505200" cy="3444240"/>
          </a:xfrm>
        </p:grpSpPr>
        <p:sp>
          <p:nvSpPr>
            <p:cNvPr id="23" name="Rectangle 23"/>
            <p:cNvSpPr/>
            <p:nvPr/>
          </p:nvSpPr>
          <p:spPr>
            <a:xfrm>
              <a:off x="4343400" y="1524000"/>
              <a:ext cx="3505200" cy="3444240"/>
            </a:xfrm>
            <a:prstGeom prst="roundRect">
              <a:avLst>
                <a:gd name="adj" fmla="val 3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52925" y="1657350"/>
              <a:ext cx="47625" cy="31775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9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73012" y="1769269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3.1.3.2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82590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时钟中断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3430" y="2129790"/>
              <a:ext cx="1796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做系统的日常管理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（housekeeping）：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596765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54880" y="275082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进程管理：重新计算调度参数，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如动态优先数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4596765" y="34347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54880" y="337185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实现软时钟，启动定时程序（如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死锁检测）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596765" y="40557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54880" y="399288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考虑进程切换，如时间片用完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4573" y="4324826"/>
              <a:ext cx="2792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例：硬时钟每 5ms 中断一次，软时钟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50ms，即每 10 次硬时钟中断计一次。</a:t>
              </a:r>
            </a:p>
          </p:txBody>
        </p:sp>
      </p:grpSp>
      <p:grpSp>
        <p:nvGrpSpPr>
          <p:cNvPr id="44" name="c3-card-1"/>
          <p:cNvGrpSpPr/>
          <p:nvPr/>
        </p:nvGrpSpPr>
        <p:grpSpPr>
          <a:xfrm>
            <a:off x="8153400" y="1524000"/>
            <a:ext cx="3505200" cy="1866900"/>
            <a:chOff x="8153400" y="1524000"/>
            <a:chExt cx="3505200" cy="1866900"/>
          </a:xfrm>
        </p:grpSpPr>
        <p:sp>
          <p:nvSpPr>
            <p:cNvPr id="37" name="Rectangle 37"/>
            <p:cNvSpPr/>
            <p:nvPr/>
          </p:nvSpPr>
          <p:spPr>
            <a:xfrm>
              <a:off x="8153400" y="1524000"/>
              <a:ext cx="3505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62925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40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83012" y="1769269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3.1.3.3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92590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控制台中断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93430" y="212979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一个控制按钮，对应一个中断向量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和一个中断处理程序。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94573" y="2747486"/>
              <a:ext cx="2776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操作员按下哪个按钮，就进入哪个处理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程序。</a:t>
              </a:r>
            </a:p>
          </p:txBody>
        </p:sp>
      </p:grpSp>
      <p:grpSp>
        <p:nvGrpSpPr>
          <p:cNvPr id="51" name="c3-callout-2"/>
          <p:cNvGrpSpPr/>
          <p:nvPr/>
        </p:nvGrpSpPr>
        <p:grpSpPr>
          <a:xfrm>
            <a:off x="8153400" y="3581400"/>
            <a:ext cx="3505200" cy="1059180"/>
            <a:chOff x="8153400" y="3581400"/>
            <a:chExt cx="3505200" cy="1059180"/>
          </a:xfrm>
        </p:grpSpPr>
        <p:sp>
          <p:nvSpPr>
            <p:cNvPr id="45" name="Rectangle 45"/>
            <p:cNvSpPr/>
            <p:nvPr/>
          </p:nvSpPr>
          <p:spPr>
            <a:xfrm>
              <a:off x="8153400" y="3581400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358188" y="4010978"/>
              <a:ext cx="200026" cy="200025"/>
              <a:chOff x="8358188" y="401097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58188" y="40109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97926" y="40554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432642" y="41665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660130" y="3729990"/>
              <a:ext cx="26060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没有时钟中断，OS 就无法从一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直占用 CPU 的进程手中收回处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理机。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2" name="Rectangle 5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728335"/>
              <a:ext cx="9997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例：进程读文件时发出 I/O 请求后进入等待；磁盘读完一块数据发出 I/O 中断，处理程序查设备状态：正常就唤醒该进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程，出错就重试，重试仍失败才报告操作员。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中断处理程序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硬件故障与程序性中断的处理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ard-1"/>
          <p:cNvGrpSpPr/>
          <p:nvPr/>
        </p:nvGrpSpPr>
        <p:grpSpPr>
          <a:xfrm>
            <a:off x="533400" y="1524000"/>
            <a:ext cx="5085398" cy="2882265"/>
            <a:chOff x="533400" y="1524000"/>
            <a:chExt cx="5085398" cy="28822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882265"/>
            </a:xfrm>
            <a:prstGeom prst="roundRect">
              <a:avLst>
                <a:gd name="adj" fmla="val 46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155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421" y="1769269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3.1.3.4 电源故障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2085975"/>
              <a:ext cx="462819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01076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掉电时依次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4699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恢复时依次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8873" y="26703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内存、寄存器内容写到外存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3448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启动处理机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81050" y="2978468"/>
              <a:ext cx="46281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2983230"/>
              <a:ext cx="462819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8873" y="31189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停止设备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03448" y="31189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启动设备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28048"/>
              <a:ext cx="46281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8873" y="35675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停止处理机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3448" y="356758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外存内容读回内存、寄存器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1050" y="2085975"/>
              <a:ext cx="462819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90862" y="208597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4573" y="3997166"/>
              <a:ext cx="2780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关键应用使用 UPS（不间断电源）。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596765"/>
            <a:ext cx="5085398" cy="782955"/>
            <a:chOff x="533400" y="4596765"/>
            <a:chExt cx="5085398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596765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888230"/>
              <a:ext cx="200026" cy="200025"/>
              <a:chOff x="738188" y="4888230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8882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49326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0438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745355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用户想自己处理除 0、溢出这类中断，要事先在程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序里登记处理入口，做法见下一页。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923598" y="1524000"/>
            <a:ext cx="5735002" cy="2475548"/>
            <a:chOff x="5923598" y="1524000"/>
            <a:chExt cx="5735002" cy="2475548"/>
          </a:xfrm>
        </p:grpSpPr>
        <p:sp>
          <p:nvSpPr>
            <p:cNvPr id="34" name="Rectangle 34"/>
            <p:cNvSpPr/>
            <p:nvPr/>
          </p:nvSpPr>
          <p:spPr>
            <a:xfrm>
              <a:off x="5923598" y="1524000"/>
              <a:ext cx="573500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57718" y="1659731"/>
              <a:ext cx="1625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3.1.3.5 程序性中断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842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321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处理方式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31420" y="2108359"/>
              <a:ext cx="196286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只能由 OS 处理：影响系统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或其他进程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5993" y="22217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越界、非法指令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16655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终止进程或进入调试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923598" y="26431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23598" y="2647950"/>
              <a:ext cx="573500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1420" y="2783681"/>
              <a:ext cx="196286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只能由 OS 处理：需要系统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管理或协助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5993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页故障、缺段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16655" y="289702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动态调入所缺的页或段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923598" y="331946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31420" y="3459004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可以由用户处理：不影响系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统和其他进程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25993" y="3572351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 0、溢出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16655" y="345900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用户自行处理，或由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 标准处理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923598" y="1524000"/>
              <a:ext cx="5735002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213408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70407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5923598" y="4190048"/>
            <a:ext cx="5735002" cy="1662112"/>
            <a:chOff x="5923598" y="4190048"/>
            <a:chExt cx="5735002" cy="1662112"/>
          </a:xfrm>
        </p:grpSpPr>
        <p:sp>
          <p:nvSpPr>
            <p:cNvPr id="54" name="Rectangle 54"/>
            <p:cNvSpPr/>
            <p:nvPr/>
          </p:nvSpPr>
          <p:spPr>
            <a:xfrm>
              <a:off x="5923598" y="4190048"/>
              <a:ext cx="5735002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33122" y="4323398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71248" y="4399598"/>
              <a:ext cx="26279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98400" y="443531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内存故障（海明校验、奇偶校验出错）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176962" y="483965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35078" y="477678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检查出错的存储单元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176962" y="5174933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35078" y="5112068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把出错的存储区划出系统，不再分配；报告操作员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64770" y="5443061"/>
              <a:ext cx="5216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原课件第一步写作“下雨检查”，疑为录入错误，这里按“检查”理解。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中断处理程序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应用程序自己处理中断：用调试语句登记中断续元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55423" cy="308039"/>
            <a:chOff x="525399" y="1550194"/>
            <a:chExt cx="1005542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554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中断续元：用户程序中专门处理某种中断的一段代码。调试语句的形式为 on &lt;中断条件&gt; &lt;中断续元入口&gt;。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4869180" cy="2327910"/>
            <a:chOff x="533400" y="1967865"/>
            <a:chExt cx="4869180" cy="232791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86918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同一种中断在不同位置转不同续元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2493518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on &lt;divide_zero&gt; goto LA;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此后发生除 0，转 LA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on &lt;divide_zero&gt; goto LB;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此后发生除 0，转 LB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LA: ...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除 0 中断续元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iret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LB: ...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除 0 中断续元 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iret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486275"/>
            <a:ext cx="4869180" cy="782955"/>
            <a:chOff x="533400" y="4486275"/>
            <a:chExt cx="4869180" cy="782955"/>
          </a:xfrm>
        </p:grpSpPr>
        <p:sp>
          <p:nvSpPr>
            <p:cNvPr id="13" name="Rectangle 13"/>
            <p:cNvSpPr/>
            <p:nvPr/>
          </p:nvSpPr>
          <p:spPr>
            <a:xfrm>
              <a:off x="533400" y="448627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777740"/>
              <a:ext cx="200026" cy="200025"/>
              <a:chOff x="738188" y="477774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7777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8221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9333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63486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相同的中断发生在程序的不同位置，可以采用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不同的处理方法。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5707380" y="1977390"/>
            <a:ext cx="5660009" cy="2112931"/>
            <a:chOff x="5707380" y="1977390"/>
            <a:chExt cx="5660009" cy="2112931"/>
          </a:xfrm>
        </p:grpSpPr>
        <p:sp>
          <p:nvSpPr>
            <p:cNvPr id="20" name="Rectangle 20"/>
            <p:cNvSpPr/>
            <p:nvPr/>
          </p:nvSpPr>
          <p:spPr>
            <a:xfrm>
              <a:off x="5840730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707380" y="1977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0100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707380" y="26279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0100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707380" y="32785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0100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1886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20003" y="2304574"/>
              <a:ext cx="4122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生成中断续元表，每个中断事件一项，入口初值都为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18860" y="266223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20003" y="295513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执行调试语句，把续元入口填进表中对应的一项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18860" y="33127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20003" y="3606641"/>
              <a:ext cx="52473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按中断原因查表：为 0 表示用户没有规定续元，由 OS 标准处理；非 0 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示用户已规定，转用户处理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5701665" y="4269105"/>
            <a:ext cx="5956935" cy="2091214"/>
            <a:chOff x="5701665" y="4269105"/>
            <a:chExt cx="5956935" cy="2091214"/>
          </a:xfrm>
        </p:grpSpPr>
        <p:sp>
          <p:nvSpPr>
            <p:cNvPr id="34" name="Rectangle 34"/>
            <p:cNvSpPr/>
            <p:nvPr/>
          </p:nvSpPr>
          <p:spPr>
            <a:xfrm>
              <a:off x="5707380" y="4269105"/>
              <a:ext cx="595122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52234" y="44038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中断续元表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14001" y="44038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续元入口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15203" y="4853464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中断事件 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11242" y="48534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07380" y="51615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07380" y="5166360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15203" y="5302091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中断事件 1（除 0）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58491" y="5302091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56102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15203" y="575071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中断事件 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11242" y="57507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07380" y="4269105"/>
              <a:ext cx="595122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66848" y="42691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01665" y="6140291"/>
              <a:ext cx="2970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 on &lt;divide_zero&gt; goto LA 之后的状态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中断处理程序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用户处理溢出中断的完整过程（教材图 3-9）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fig"/>
          <p:cNvGrpSpPr/>
          <p:nvPr/>
        </p:nvGrpSpPr>
        <p:grpSpPr>
          <a:xfrm>
            <a:off x="533400" y="1581150"/>
            <a:ext cx="6610350" cy="4743450"/>
            <a:chOff x="533400" y="1581150"/>
            <a:chExt cx="6610350" cy="474345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4000500" cy="3219450"/>
            </a:xfrm>
            <a:prstGeom prst="roundRect">
              <a:avLst>
                <a:gd name="adj" fmla="val 35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289554" y="1699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用户进程空间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4972050"/>
              <a:ext cx="6610350" cy="1352550"/>
            </a:xfrm>
            <a:prstGeom prst="roundRect">
              <a:avLst>
                <a:gd name="adj" fmla="val 8451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84904" y="5128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操作系统（系统空间）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0" y="180975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35793" y="1973580"/>
              <a:ext cx="1339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用户栈：PSW, PC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953000" y="2590800"/>
              <a:ext cx="1905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22423" y="26489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2819400"/>
              <a:ext cx="1714500" cy="247650"/>
            </a:xfrm>
            <a:prstGeom prst="roundRect">
              <a:avLst>
                <a:gd name="adj" fmla="val 15385"/>
              </a:avLst>
            </a:prstGeom>
            <a:solidFill>
              <a:srgbClr val="FDEEE7"/>
            </a:solidFill>
            <a:ln w="13335">
              <a:solidFill>
                <a:srgbClr val="F26B3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35964" y="2874169"/>
              <a:ext cx="739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PSW′, LA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22423" y="31061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45911" y="2401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中断续元表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3448050"/>
              <a:ext cx="1905000" cy="457200"/>
            </a:xfrm>
            <a:prstGeom prst="roundRect">
              <a:avLst>
                <a:gd name="adj" fmla="val 1666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89758" y="3606641"/>
              <a:ext cx="14314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LA: 中断续元 … iret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953000" y="41148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76316" y="42786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用户程序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57250" y="4114800"/>
              <a:ext cx="1543050" cy="476250"/>
            </a:xfrm>
            <a:prstGeom prst="roundRect">
              <a:avLst>
                <a:gd name="adj" fmla="val 16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2957" y="4278630"/>
              <a:ext cx="1231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 PSW, PC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5353050"/>
              <a:ext cx="1524000" cy="8001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92123" y="55173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7381" y="5795010"/>
              <a:ext cx="693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PSW, PC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28950" y="5524500"/>
              <a:ext cx="1714500" cy="45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144023" y="5683091"/>
              <a:ext cx="1484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 PSW1, PC1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95900" y="5524500"/>
              <a:ext cx="1676400" cy="45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43372" y="56788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中断处理程序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2505075" y="4286250"/>
              <a:ext cx="2428875" cy="9525"/>
            </a:xfrm>
            <a:custGeom>
              <a:avLst/>
              <a:gdLst/>
              <a:ahLst/>
              <a:cxnLst/>
              <a:rect l="l" t="t" r="r" b="b"/>
              <a:pathLst>
                <a:path w="2428875" h="9525">
                  <a:moveTo>
                    <a:pt x="24288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33" name="Polygon 33"/>
            <p:cNvSpPr/>
            <p:nvPr/>
          </p:nvSpPr>
          <p:spPr>
            <a:xfrm>
              <a:off x="2419350" y="4238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571875" y="4067175"/>
              <a:ext cx="209550" cy="2095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30501" y="4106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1238250" y="4610100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1190625" y="5238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62025" y="486727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0651" y="4906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2038350" y="4714875"/>
              <a:ext cx="1847850" cy="790575"/>
            </a:xfrm>
            <a:custGeom>
              <a:avLst/>
              <a:gdLst/>
              <a:ahLst/>
              <a:cxnLst/>
              <a:rect l="l" t="t" r="r" b="b"/>
              <a:pathLst>
                <a:path w="1847850" h="790575">
                  <a:moveTo>
                    <a:pt x="1847850" y="790575"/>
                  </a:moveTo>
                  <a:lnTo>
                    <a:pt x="1847850" y="161925"/>
                  </a:lnTo>
                  <a:lnTo>
                    <a:pt x="0" y="16192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1990725" y="4629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847975" y="477202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906601" y="4811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4762500" y="57531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5181600" y="5705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914900" y="549592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73526" y="5534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667500" y="2943225"/>
              <a:ext cx="361950" cy="2562225"/>
            </a:xfrm>
            <a:custGeom>
              <a:avLst/>
              <a:gdLst/>
              <a:ahLst/>
              <a:cxnLst/>
              <a:rect l="l" t="t" r="r" b="b"/>
              <a:pathLst>
                <a:path w="361950" h="2562225">
                  <a:moveTo>
                    <a:pt x="0" y="2562225"/>
                  </a:moveTo>
                  <a:lnTo>
                    <a:pt x="0" y="1933575"/>
                  </a:lnTo>
                  <a:lnTo>
                    <a:pt x="361950" y="1933575"/>
                  </a:lnTo>
                  <a:lnTo>
                    <a:pt x="361950" y="0"/>
                  </a:ln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6877050" y="2895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924675" y="408622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83301" y="4125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628650" y="1952625"/>
              <a:ext cx="4219575" cy="3800475"/>
            </a:xfrm>
            <a:custGeom>
              <a:avLst/>
              <a:gdLst/>
              <a:ahLst/>
              <a:cxnLst/>
              <a:rect l="l" t="t" r="r" b="b"/>
              <a:pathLst>
                <a:path w="4219575" h="3800475">
                  <a:moveTo>
                    <a:pt x="114300" y="3800475"/>
                  </a:moveTo>
                  <a:lnTo>
                    <a:pt x="0" y="3800475"/>
                  </a:lnTo>
                  <a:lnTo>
                    <a:pt x="0" y="0"/>
                  </a:lnTo>
                  <a:lnTo>
                    <a:pt x="42195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4838700" y="1905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800225" y="184785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858851" y="1886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1524000" y="3048000"/>
              <a:ext cx="3409950" cy="962025"/>
            </a:xfrm>
            <a:custGeom>
              <a:avLst/>
              <a:gdLst/>
              <a:ahLst/>
              <a:cxnLst/>
              <a:rect l="l" t="t" r="r" b="b"/>
              <a:pathLst>
                <a:path w="3409950" h="962025">
                  <a:moveTo>
                    <a:pt x="3409950" y="0"/>
                  </a:moveTo>
                  <a:lnTo>
                    <a:pt x="0" y="0"/>
                  </a:lnTo>
                  <a:lnTo>
                    <a:pt x="0" y="962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1476375" y="4000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752725" y="294322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811351" y="2982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2209800" y="3676650"/>
              <a:ext cx="2638425" cy="419100"/>
            </a:xfrm>
            <a:custGeom>
              <a:avLst/>
              <a:gdLst/>
              <a:ahLst/>
              <a:cxnLst/>
              <a:rect l="l" t="t" r="r" b="b"/>
              <a:pathLst>
                <a:path w="2638425" h="419100">
                  <a:moveTo>
                    <a:pt x="0" y="419100"/>
                  </a:moveTo>
                  <a:lnTo>
                    <a:pt x="0" y="0"/>
                  </a:lnTo>
                  <a:lnTo>
                    <a:pt x="26384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4838700" y="36290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3514725" y="3571875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573351" y="3610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1047750" y="2190750"/>
              <a:ext cx="3886200" cy="1819275"/>
            </a:xfrm>
            <a:custGeom>
              <a:avLst/>
              <a:gdLst/>
              <a:ahLst/>
              <a:cxnLst/>
              <a:rect l="l" t="t" r="r" b="b"/>
              <a:pathLst>
                <a:path w="3886200" h="1819275">
                  <a:moveTo>
                    <a:pt x="3886200" y="0"/>
                  </a:moveTo>
                  <a:lnTo>
                    <a:pt x="0" y="0"/>
                  </a:lnTo>
                  <a:lnTo>
                    <a:pt x="0" y="18192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1000125" y="4000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752725" y="2085975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811351" y="2125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2419350" y="4476750"/>
              <a:ext cx="2428875" cy="9525"/>
            </a:xfrm>
            <a:custGeom>
              <a:avLst/>
              <a:gdLst/>
              <a:ahLst/>
              <a:cxnLst/>
              <a:rect l="l" t="t" r="r" b="b"/>
              <a:pathLst>
                <a:path w="2428875" h="9525">
                  <a:moveTo>
                    <a:pt x="0" y="0"/>
                  </a:moveTo>
                  <a:lnTo>
                    <a:pt x="2428875" y="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4838700" y="4429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3571875" y="4486275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601919" y="45415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106" name="steps"/>
          <p:cNvGrpSpPr/>
          <p:nvPr/>
        </p:nvGrpSpPr>
        <p:grpSpPr>
          <a:xfrm>
            <a:off x="7391400" y="1524000"/>
            <a:ext cx="4267200" cy="4838700"/>
            <a:chOff x="7391400" y="1524000"/>
            <a:chExt cx="4267200" cy="4838700"/>
          </a:xfrm>
        </p:grpSpPr>
        <p:sp>
          <p:nvSpPr>
            <p:cNvPr id="73" name="Rectangle 73"/>
            <p:cNvSpPr/>
            <p:nvPr/>
          </p:nvSpPr>
          <p:spPr>
            <a:xfrm>
              <a:off x="7391400" y="1524000"/>
              <a:ext cx="4267200" cy="48387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400925" y="1676400"/>
              <a:ext cx="47625" cy="45339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7629525" y="1733550"/>
              <a:ext cx="209550" cy="2095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688151" y="17726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37754" y="17564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用户程序运行中发生溢出中断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7629525" y="204978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688151" y="20888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37754" y="2072640"/>
              <a:ext cx="2718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中断装置把旧的 PSW、PC 压入系统栈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629525" y="236601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688151" y="2405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937754" y="2388870"/>
              <a:ext cx="3390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取溢出中断的中断向量 PSW1、PC1 送入寄存器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629525" y="268224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688151" y="27212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937754" y="2705100"/>
              <a:ext cx="2283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转到中断处理程序（入口 PC1）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629525" y="299847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688151" y="30375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937754" y="3021330"/>
              <a:ext cx="2734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处理程序查中断续元表，该项入口非 0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629525" y="331470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88151" y="3353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937754" y="33375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把系统栈中保存的现场转移到用户栈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7629525" y="363093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688151" y="3669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937754" y="3653790"/>
              <a:ext cx="3246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续元入口 PSW′、LA 送寄存器，OS 处理结束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7629525" y="3947160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688151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937754" y="3970020"/>
              <a:ext cx="1866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在用户态执行中断续元 LA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7629525" y="4263390"/>
              <a:ext cx="209550" cy="209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688151" y="43024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937754" y="4286250"/>
              <a:ext cx="2920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iret 把用户栈中的 PSW、PC 送回寄存器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7629525" y="4579620"/>
              <a:ext cx="209550" cy="2095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659569" y="46348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937754" y="460248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返回中断断点，用户程序继续运行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633335" y="5003006"/>
              <a:ext cx="3674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若查得入口为 0，说明用户没有登记中断续元，由 OS 做标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准处理，不经过第 6 至第 9 步。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中断处理程序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自愿性中断：访管指令与系统调用，按访管号查表转服务程序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110615"/>
            <a:chOff x="533400" y="1524000"/>
            <a:chExt cx="4760595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818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访管指令（SuperVisor Call）形式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514854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准备参数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放到 OS 规定的位置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SVC n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 为访管号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取返回值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从 OS 规定的位置取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825115"/>
            <a:ext cx="4760595" cy="907732"/>
            <a:chOff x="533400" y="2825115"/>
            <a:chExt cx="4760595" cy="907732"/>
          </a:xfrm>
        </p:grpSpPr>
        <p:sp>
          <p:nvSpPr>
            <p:cNvPr id="11" name="Rectangle 11"/>
            <p:cNvSpPr/>
            <p:nvPr/>
          </p:nvSpPr>
          <p:spPr>
            <a:xfrm>
              <a:off x="533400" y="2825115"/>
              <a:ext cx="476059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977039"/>
              <a:ext cx="1827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系统调用（system call）形式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239929"/>
              <a:ext cx="287756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返回值 = 系统调用名称(实参1, …, 实参n);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fd = open(fname, mode);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3923348"/>
            <a:ext cx="4760595" cy="2283142"/>
            <a:chOff x="533400" y="3923348"/>
            <a:chExt cx="4760595" cy="2283142"/>
          </a:xfrm>
        </p:grpSpPr>
        <p:sp>
          <p:nvSpPr>
            <p:cNvPr id="15" name="Rectangle 15"/>
            <p:cNvSpPr/>
            <p:nvPr/>
          </p:nvSpPr>
          <p:spPr>
            <a:xfrm>
              <a:off x="533400" y="3923348"/>
              <a:ext cx="4760595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56698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132898"/>
              <a:ext cx="2862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783" y="4168616"/>
              <a:ext cx="2823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例：fd = open(fname, mode) 怎样执行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449675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453904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4510088"/>
              <a:ext cx="4045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库函数把 fname、mode 放到 OS 规定的位置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483203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899" y="487432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040" y="4845368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SVC n，n 为 open 的访管号，CPU 进入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管态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1050" y="545306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899" y="549535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040" y="5466398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服务程序完成后返回，从规定位置取出 fd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573" y="579834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系统调用写起来像函数调用，底层仍是访管指令的三步。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593080" y="1524000"/>
            <a:ext cx="6065520" cy="2539842"/>
            <a:chOff x="5593080" y="1524000"/>
            <a:chExt cx="6065520" cy="2539842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2735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访管号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9878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服务程序入口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6070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7879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addr0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3607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78797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addr1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86314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2095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18466" y="3454241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m−1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72020" y="3454241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addr(m−1)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1524000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8009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93080" y="3843814"/>
              <a:ext cx="3061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系统调用驱动表（table driven），例如 UNIX</a:t>
              </a:r>
            </a:p>
          </p:txBody>
        </p:sp>
      </p:grpSp>
      <p:grpSp>
        <p:nvGrpSpPr>
          <p:cNvPr id="64" name="c2-flow-2"/>
          <p:cNvGrpSpPr/>
          <p:nvPr/>
        </p:nvGrpSpPr>
        <p:grpSpPr>
          <a:xfrm>
            <a:off x="5811202" y="4443412"/>
            <a:ext cx="5634991" cy="1343026"/>
            <a:chOff x="5811202" y="4443412"/>
            <a:chExt cx="5634991" cy="1343026"/>
          </a:xfrm>
        </p:grpSpPr>
        <p:sp>
          <p:nvSpPr>
            <p:cNvPr id="50" name="Freeform 50"/>
            <p:cNvSpPr/>
            <p:nvPr/>
          </p:nvSpPr>
          <p:spPr>
            <a:xfrm>
              <a:off x="8417242" y="4662488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736330" y="46101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144125" y="488156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091738" y="52435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522018" y="5567362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31908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417242" y="55149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1202" y="4443412"/>
              <a:ext cx="2605088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841105" y="4443412"/>
              <a:ext cx="260508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841105" y="5348288"/>
              <a:ext cx="260508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11202" y="5348288"/>
              <a:ext cx="260508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71378" y="4573429"/>
              <a:ext cx="885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 SVC 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17610" y="457342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中断装置转访管中断处理程序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33631" y="547830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取出访管号 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30786" y="5478304"/>
              <a:ext cx="216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查驱动表第 n 项，转 addr n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13170" cy="3675697"/>
            <a:chOff x="667512" y="1835468"/>
            <a:chExt cx="631317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处理机调度算法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处理机调度要回答三个问题：按什么原则分配（算法）、何时重新分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配（时机）、如何完成分配（过程）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660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3.2.1 调度准则、调度参数与阵发期估算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263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FCFS、SJF、SRTN、HRN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186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 与 UNIX 动态优先数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269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RR、多级队列与反馈排队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调度准则与调度参数：周转时间和带权周转时间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4544378" cy="2692718"/>
            <a:chOff x="533400" y="1524000"/>
            <a:chExt cx="4544378" cy="2692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8383" y="1659731"/>
              <a:ext cx="2711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考虑因素（scheduling criteria）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179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利用率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24275" y="1982152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22573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255698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吞吐量（单位时间完成的进程数）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24275" y="2430780"/>
              <a:ext cx="13439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22573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周转时间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24275" y="2880360"/>
              <a:ext cx="1343978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2573" y="3005614"/>
              <a:ext cx="28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47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319462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响应时间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724275" y="3328988"/>
              <a:ext cx="1343978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22573" y="3454241"/>
              <a:ext cx="28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633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90382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系统开销（调度本身的代价）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724275" y="3777615"/>
              <a:ext cx="1343978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22573" y="3903821"/>
              <a:ext cx="28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4544378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70998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2"/>
          <p:cNvGrpSpPr/>
          <p:nvPr/>
        </p:nvGrpSpPr>
        <p:grpSpPr>
          <a:xfrm>
            <a:off x="533400" y="4407218"/>
            <a:ext cx="4544378" cy="1335405"/>
            <a:chOff x="533400" y="4407218"/>
            <a:chExt cx="4544378" cy="1335405"/>
          </a:xfrm>
        </p:grpSpPr>
        <p:sp>
          <p:nvSpPr>
            <p:cNvPr id="34" name="Rectangle 34"/>
            <p:cNvSpPr/>
            <p:nvPr/>
          </p:nvSpPr>
          <p:spPr>
            <a:xfrm>
              <a:off x="533400" y="4407218"/>
              <a:ext cx="4544378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974908"/>
              <a:ext cx="200026" cy="200025"/>
              <a:chOff x="738188" y="497490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9749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50193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51304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4555808"/>
              <a:ext cx="36347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例：FCFS 例题中 P2 于 1 时刻进入、30 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刻完成、运行 3，T = 29，W = 29/3 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9.67。W = 1 表示一点没等，W 越大等待相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对越长。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5382578" y="1524000"/>
            <a:ext cx="6276022" cy="4218622"/>
            <a:chOff x="5382578" y="1524000"/>
            <a:chExt cx="6276022" cy="4218622"/>
          </a:xfrm>
        </p:grpSpPr>
        <p:sp>
          <p:nvSpPr>
            <p:cNvPr id="41" name="Rectangle 41"/>
            <p:cNvSpPr/>
            <p:nvPr/>
          </p:nvSpPr>
          <p:spPr>
            <a:xfrm>
              <a:off x="5382578" y="1524000"/>
              <a:ext cx="6276022" cy="4218622"/>
            </a:xfrm>
            <a:prstGeom prst="roundRect">
              <a:avLst>
                <a:gd name="adj" fmla="val 31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92102" y="1657350"/>
              <a:ext cx="47625" cy="395192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63022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1253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调度参数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22608" y="2110740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周转时间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：完成时间 − 进入时间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5"/>
                <p:cNvSpPr txBox="1">
                  <a:spLocks noGrp="1"/>
                </p:cNvSpPr>
                <p:nvPr/>
              </p:nvSpPr>
              <p:spPr>
                <a:xfrm>
                  <a:off x="5630228" y="2421255"/>
                  <a:ext cx="581882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7" name="TextBox 47"/>
            <p:cNvSpPr txBox="1"/>
            <p:nvPr/>
          </p:nvSpPr>
          <p:spPr>
            <a:xfrm>
              <a:off x="5622608" y="296037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平均周转时间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：周转时间的平均值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6"/>
                <p:cNvSpPr txBox="1">
                  <a:spLocks noGrp="1"/>
                </p:cNvSpPr>
                <p:nvPr/>
              </p:nvSpPr>
              <p:spPr>
                <a:xfrm>
                  <a:off x="5630228" y="3270885"/>
                  <a:ext cx="5818822" cy="6496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̅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9" name="TextBox 49"/>
            <p:cNvSpPr txBox="1"/>
            <p:nvPr/>
          </p:nvSpPr>
          <p:spPr>
            <a:xfrm>
              <a:off x="5622608" y="4040505"/>
              <a:ext cx="556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带权周转时间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：周转时间 / 运行时间；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平均带权周转时间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：它的平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formula7"/>
                <p:cNvSpPr txBox="1">
                  <a:spLocks noGrp="1"/>
                </p:cNvSpPr>
                <p:nvPr/>
              </p:nvSpPr>
              <p:spPr>
                <a:xfrm>
                  <a:off x="5630228" y="4636770"/>
                  <a:ext cx="5818822" cy="6496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acc>
                          <m:accPr>
                            <m:chr m:val="̅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90272" cy="909257"/>
            <a:chOff x="520446" y="342900"/>
            <a:chExt cx="7690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90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阵发期：用指数平均估算下一次要用多久 CPU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131695"/>
            <a:chOff x="533400" y="1524000"/>
            <a:chExt cx="5626418" cy="2131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31695"/>
            </a:xfrm>
            <a:prstGeom prst="roundRect">
              <a:avLst>
                <a:gd name="adj" fmla="val 62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49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3159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516" y="1769269"/>
              <a:ext cx="12006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阵发期（burst）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685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burst：进程（线程）使用 CPU 计算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797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burst：进程（线程）使用设备做 I/O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2777966"/>
              <a:ext cx="490601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进程的运行行为：CPU burst，I/O burst，CPU burst，I/O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burst，……CPU 调度只考虑处于 CPU burst 的进程，其长度要根据以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前的行为推定。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46195"/>
            <a:ext cx="5626418" cy="2489835"/>
            <a:chOff x="533400" y="3846195"/>
            <a:chExt cx="5626418" cy="2489835"/>
          </a:xfrm>
        </p:grpSpPr>
        <p:sp>
          <p:nvSpPr>
            <p:cNvPr id="17" name="Rectangle 17"/>
            <p:cNvSpPr/>
            <p:nvPr/>
          </p:nvSpPr>
          <p:spPr>
            <a:xfrm>
              <a:off x="533400" y="3846195"/>
              <a:ext cx="5626418" cy="2489835"/>
            </a:xfrm>
            <a:prstGeom prst="roundRect">
              <a:avLst>
                <a:gd name="adj" fmla="val 53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979545"/>
              <a:ext cx="47625" cy="22231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0557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359" y="40914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估算公式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43293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τn 是第 n 个 CPU 阵发期的估计值，tn 是进程最近一次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阵发期的实际长度：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9"/>
                <p:cNvSpPr txBox="1">
                  <a:spLocks noGrp="1"/>
                </p:cNvSpPr>
                <p:nvPr/>
              </p:nvSpPr>
              <p:spPr>
                <a:xfrm>
                  <a:off x="781050" y="5029200"/>
                  <a:ext cx="516921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τ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</m:d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τ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Ellipse 23"/>
            <p:cNvSpPr/>
            <p:nvPr/>
          </p:nvSpPr>
          <p:spPr>
            <a:xfrm>
              <a:off x="786765" y="56692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606415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α ≤ 1；α = 0 时 τn+1 = τn，α = 1 时 τn+1 = tn；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通常取 α = 0.5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458902" y="1524000"/>
            <a:ext cx="5199698" cy="4535328"/>
            <a:chOff x="6458902" y="1524000"/>
            <a:chExt cx="5199698" cy="4535328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3608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7148" y="1659731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实际长度 tn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23075" y="1659731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估计值 τn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3608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9103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342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3608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9103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6080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3608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9103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6080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3608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9103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6080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3608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43653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60809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42119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421671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3608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43653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60809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46605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36082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43653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13423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51101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64618" y="511492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36082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91039" y="5249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13423" y="5249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1524000"/>
              <a:ext cx="5193982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715250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76598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58902" y="5639276"/>
              <a:ext cx="48973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补充例题：α = 0.5，τ0 = 10，如 τ1 = 0.5 × 6 + 0.5 × 10 = 8。实际长度跳到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 后，估计值 9、11、12 逐步跟上，越早的历史权重越小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4024" cy="909257"/>
            <a:chOff x="520446" y="342900"/>
            <a:chExt cx="86640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40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剥夺式与非剥夺式：就绪进程能否从运行进程手中抢 CPU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1365885"/>
            <a:chOff x="533400" y="1524000"/>
            <a:chExt cx="5193982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3450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723" y="1769269"/>
              <a:ext cx="1628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剥夺式（preemptive）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460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就绪进程可以从运行进程手中抢占 CPU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运行进程一直运行到：结束、等待或被抢先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080385"/>
            <a:ext cx="5193982" cy="1365885"/>
            <a:chOff x="533400" y="3080385"/>
            <a:chExt cx="5193982" cy="1365885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13735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289935"/>
              <a:ext cx="2205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0459" y="3325654"/>
              <a:ext cx="2127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非剥夺式（non-preemptive）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7299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3460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就绪进程不能从运行进程手中抢占 CPU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0652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0024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运行进程一直运行到：结束或等待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4636770"/>
            <a:ext cx="5193982" cy="533400"/>
            <a:chOff x="533400" y="4636770"/>
            <a:chExt cx="5193982" cy="533400"/>
          </a:xfrm>
        </p:grpSpPr>
        <p:sp>
          <p:nvSpPr>
            <p:cNvPr id="25" name="Rectangle 25"/>
            <p:cNvSpPr/>
            <p:nvPr/>
          </p:nvSpPr>
          <p:spPr>
            <a:xfrm>
              <a:off x="533400" y="4636770"/>
              <a:ext cx="5193982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803458"/>
              <a:ext cx="200026" cy="200025"/>
              <a:chOff x="738188" y="4803458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8034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48479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49590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79869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判断：新进程到达时是否立即重新比较。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032182" y="1524000"/>
            <a:ext cx="5626418" cy="3817620"/>
            <a:chOff x="6032182" y="1524000"/>
            <a:chExt cx="5626418" cy="3817620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344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794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剥夺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387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比较的量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40006" y="2108359"/>
              <a:ext cx="13524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 先到先服务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03158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28060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进入就绪队列的先后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40006" y="2556986"/>
              <a:ext cx="1247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SJF 短作业优先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03158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28060" y="2556986"/>
              <a:ext cx="12374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burst 长度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40006" y="3005614"/>
              <a:ext cx="18693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SRTN 最短剩余时间优先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03158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28060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剩余运行时间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32182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40006" y="3454241"/>
              <a:ext cx="1591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HRN 最高响应比优先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03158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28060" y="34542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37633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40006" y="3903821"/>
              <a:ext cx="1247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 最高优先数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03158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两种都有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28060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优先数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4211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32182" y="421671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40006" y="4352449"/>
              <a:ext cx="1142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 时间片轮转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03158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28060" y="435244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时间片是否用完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32182" y="46605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40006" y="4801076"/>
              <a:ext cx="1953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MLQ 多级队列、FB 反馈排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03158" y="491442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28060" y="491442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所在队列与队内规则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32182" y="1524000"/>
              <a:ext cx="5626418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390572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515475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0" name="Rectangle 7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728335"/>
              <a:ext cx="10006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例：P1 正在运行，比它更优先（或剩余时间更短）的 P2 到达。剥夺式立即换 P2 上 CPU；非剥夺式要等 P1 结束或进入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等待，P2 才能运行。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99738" cy="909257"/>
            <a:chOff x="520446" y="342900"/>
            <a:chExt cx="78997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997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 先到先服务：按进入就绪队列的次序分配 CPU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641773" cy="308039"/>
            <a:chOff x="525399" y="1550194"/>
            <a:chExt cx="864177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6417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例：P1、P2、P3 分别在 0、1、2 时刻到达，运行时间为 27、3、5，按到达次序依次运行。</a:t>
              </a:r>
            </a:p>
          </p:txBody>
        </p:sp>
      </p:grpSp>
      <p:grpSp>
        <p:nvGrpSpPr>
          <p:cNvPr id="21" name="c1-graph-1"/>
          <p:cNvGrpSpPr/>
          <p:nvPr/>
        </p:nvGrpSpPr>
        <p:grpSpPr>
          <a:xfrm>
            <a:off x="603494" y="2005965"/>
            <a:ext cx="10997956" cy="730187"/>
            <a:chOff x="603494" y="2005965"/>
            <a:chExt cx="10997956" cy="730187"/>
          </a:xfrm>
        </p:grpSpPr>
        <p:sp>
          <p:nvSpPr>
            <p:cNvPr id="9" name="Freeform 9"/>
            <p:cNvSpPr/>
            <p:nvPr/>
          </p:nvSpPr>
          <p:spPr>
            <a:xfrm>
              <a:off x="647700" y="243459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06200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" y="2005965"/>
              <a:ext cx="8318182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965882" y="2005965"/>
              <a:ext cx="923925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889808" y="2005965"/>
              <a:ext cx="1540192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01647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23177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54759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3494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82805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06730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46923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  <p:grpSp>
        <p:nvGrpSpPr>
          <p:cNvPr id="63" name="c1-table-2"/>
          <p:cNvGrpSpPr/>
          <p:nvPr/>
        </p:nvGrpSpPr>
        <p:grpSpPr>
          <a:xfrm>
            <a:off x="527685" y="2958465"/>
            <a:ext cx="11130915" cy="2090262"/>
            <a:chOff x="527685" y="2958465"/>
            <a:chExt cx="11130915" cy="2090262"/>
          </a:xfrm>
        </p:grpSpPr>
        <p:sp>
          <p:nvSpPr>
            <p:cNvPr id="22" name="Rectangle 22"/>
            <p:cNvSpPr/>
            <p:nvPr/>
          </p:nvSpPr>
          <p:spPr>
            <a:xfrm>
              <a:off x="533400" y="29584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7069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41601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到达时间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30371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20093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开始时间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8863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完成时间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98586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周转时间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77920" y="30932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带权周转时间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4239" y="354187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38842" y="35418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0226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17334" y="35418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58718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8441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47474" y="35418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850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8557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4239" y="399145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38842" y="39914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27612" y="39914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69948" y="39914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58718" y="39914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48441" y="39914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753600" y="3865245"/>
              <a:ext cx="189547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505316" y="39914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9.67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2995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4239" y="444007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38842" y="44400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27612" y="44400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9948" y="4440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58718" y="4440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48441" y="4440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52702" y="44400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2958465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792605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382328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71098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60820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150542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739312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7685" y="4828699"/>
              <a:ext cx="10746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平均周转时间 = (27 + 29 + 33) / 3 ≈ 29.67；平均带权周转时间 = (1 + 9.67 + 6.6) / 3 ≈ 5.76；等待时间 = 周转时间 − 运行时间，分别为 0、26、28，平均 18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4" name="Rectangle 6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5991225"/>
              <a:ext cx="8764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优点是“公平”；缺点是短作业等待时间长：P2 只需运行 3，却等了 26，带权周转时间高达 9.67。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8413" cy="909257"/>
            <a:chOff x="520446" y="342900"/>
            <a:chExt cx="67284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84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SJF 短作业优先：CPU burst 最短的先运行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40833" cy="308039"/>
            <a:chOff x="525399" y="1550194"/>
            <a:chExt cx="1024083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4083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例：P1–P4 都在 0 时刻到达，运行时间为 12、5、7、3。非剥夺，按运行时间从短到长：P4、P2、P3、P1。</a:t>
              </a:r>
            </a:p>
          </p:txBody>
        </p:sp>
      </p:grpSp>
      <p:grpSp>
        <p:nvGrpSpPr>
          <p:cNvPr id="24" name="c1-graph-1"/>
          <p:cNvGrpSpPr/>
          <p:nvPr/>
        </p:nvGrpSpPr>
        <p:grpSpPr>
          <a:xfrm>
            <a:off x="603494" y="2005965"/>
            <a:ext cx="10997956" cy="730187"/>
            <a:chOff x="603494" y="2005965"/>
            <a:chExt cx="10997956" cy="730187"/>
          </a:xfrm>
        </p:grpSpPr>
        <p:sp>
          <p:nvSpPr>
            <p:cNvPr id="9" name="Freeform 9"/>
            <p:cNvSpPr/>
            <p:nvPr/>
          </p:nvSpPr>
          <p:spPr>
            <a:xfrm>
              <a:off x="647700" y="243459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06200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" y="2005965"/>
              <a:ext cx="1198245" cy="381000"/>
            </a:xfrm>
            <a:prstGeom prst="roundRect">
              <a:avLst>
                <a:gd name="adj" fmla="val 1000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845945" y="2005965"/>
              <a:ext cx="199644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42385" y="2005965"/>
              <a:ext cx="2795588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37972" y="2005965"/>
              <a:ext cx="479202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4215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39497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3503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28842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494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01739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98179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4895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923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  <p:grpSp>
        <p:nvGrpSpPr>
          <p:cNvPr id="74" name="c1-table-2"/>
          <p:cNvGrpSpPr/>
          <p:nvPr/>
        </p:nvGrpSpPr>
        <p:grpSpPr>
          <a:xfrm>
            <a:off x="527685" y="2958465"/>
            <a:ext cx="11130915" cy="2539842"/>
            <a:chOff x="527685" y="2958465"/>
            <a:chExt cx="11130915" cy="2539842"/>
          </a:xfrm>
        </p:grpSpPr>
        <p:sp>
          <p:nvSpPr>
            <p:cNvPr id="25" name="Rectangle 25"/>
            <p:cNvSpPr/>
            <p:nvPr/>
          </p:nvSpPr>
          <p:spPr>
            <a:xfrm>
              <a:off x="533400" y="29584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7069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41601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到达时间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30371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20093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8863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完成时间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98586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周转时间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77920" y="30932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带权周转时间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4239" y="354187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38842" y="35418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80226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9948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58718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48441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05316" y="35418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850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8557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4239" y="399145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38842" y="39914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27612" y="39914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17334" y="39914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6104" y="39914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5827" y="39914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52702" y="39914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2995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4239" y="444007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38842" y="44400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27612" y="44400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17334" y="44400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58718" y="4440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48441" y="4440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05316" y="44400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7482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7529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54239" y="488870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38842" y="4888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127612" y="4888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717334" y="4888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06104" y="4888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95827" y="4888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47474" y="4888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2958465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792605" y="2958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3382328" y="2958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971098" y="2958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560820" y="2958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150542" y="2958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739312" y="2958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7685" y="5278279"/>
              <a:ext cx="7090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平均周转时间 = (27 + 8 + 15 + 3) / 4 = 13.25；平均带权周转时间 = (2.25 + 1.6 + 2.14 + 1) / 4 ≈ 1.75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5" name="Rectangle 7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991225"/>
              <a:ext cx="925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对比：按 FCFS 顺序运行平均周转时间为 20。同时到达时 SJF 平均等待时间最短，但长作业可能饿死。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73490" cy="909257"/>
            <a:chOff x="520446" y="342900"/>
            <a:chExt cx="88734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734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SRTN 最短剩余时间优先：新进程到达时重新比较剩余时间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50370" cy="308039"/>
            <a:chOff x="525399" y="1550194"/>
            <a:chExt cx="785037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503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可剥夺的 SJF。例：P1–P4 的到达时间为 0、1、3、5，运行时间为 12、9、6、3。</a:t>
              </a:r>
            </a:p>
          </p:txBody>
        </p:sp>
      </p:grpSp>
      <p:grpSp>
        <p:nvGrpSpPr>
          <p:cNvPr id="33" name="c1-graph-1"/>
          <p:cNvGrpSpPr/>
          <p:nvPr/>
        </p:nvGrpSpPr>
        <p:grpSpPr>
          <a:xfrm>
            <a:off x="603494" y="2005965"/>
            <a:ext cx="10997956" cy="730187"/>
            <a:chOff x="603494" y="2005965"/>
            <a:chExt cx="10997956" cy="730187"/>
          </a:xfrm>
        </p:grpSpPr>
        <p:sp>
          <p:nvSpPr>
            <p:cNvPr id="9" name="Freeform 9"/>
            <p:cNvSpPr/>
            <p:nvPr/>
          </p:nvSpPr>
          <p:spPr>
            <a:xfrm>
              <a:off x="647700" y="243459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06200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" y="2005965"/>
              <a:ext cx="359092" cy="381000"/>
            </a:xfrm>
            <a:prstGeom prst="roundRect">
              <a:avLst>
                <a:gd name="adj" fmla="val 1061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06792" y="2005965"/>
              <a:ext cx="719138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725930" y="2005965"/>
              <a:ext cx="719138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45068" y="2005965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23298" y="2005965"/>
              <a:ext cx="1437322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60620" y="2005965"/>
              <a:ext cx="2515552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76172" y="2005965"/>
              <a:ext cx="395382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05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62169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8035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7951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3681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1420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8894" y="21212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494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2587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81724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00862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79092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77543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93095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46923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  <p:grpSp>
        <p:nvGrpSpPr>
          <p:cNvPr id="75" name="c1-table-2"/>
          <p:cNvGrpSpPr/>
          <p:nvPr/>
        </p:nvGrpSpPr>
        <p:grpSpPr>
          <a:xfrm>
            <a:off x="533400" y="2958465"/>
            <a:ext cx="11125200" cy="3141345"/>
            <a:chOff x="533400" y="2958465"/>
            <a:chExt cx="11125200" cy="3141345"/>
          </a:xfrm>
        </p:grpSpPr>
        <p:sp>
          <p:nvSpPr>
            <p:cNvPr id="34" name="Rectangle 34"/>
            <p:cNvSpPr/>
            <p:nvPr/>
          </p:nvSpPr>
          <p:spPr>
            <a:xfrm>
              <a:off x="533400" y="29584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0869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56764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39398" y="309324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此时各进程的剩余时间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44404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3427" y="3541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53743" y="3541871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到达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33966" y="3541871"/>
              <a:ext cx="1214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P1：11，P2：9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6566" y="3541871"/>
              <a:ext cx="985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P2，抢占 P1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850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38557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3427" y="39914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53743" y="3991451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到达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33966" y="3991451"/>
              <a:ext cx="1854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P1：11，P2：7，P3：6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96566" y="3991451"/>
              <a:ext cx="985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P3，抢占 P2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2995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33427" y="44400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53743" y="4440079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到达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33966" y="4440079"/>
              <a:ext cx="2494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P1：11，P2：7，P3：4，P4：3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96566" y="4440079"/>
              <a:ext cx="985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P4，抢占 P3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7482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47529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3427" y="4888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53743" y="4888706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完成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33966" y="4888706"/>
              <a:ext cx="1854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P1：11，P2：7，P3：4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96566" y="488870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51977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83672" y="53373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53743" y="5337334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完成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533966" y="5337334"/>
              <a:ext cx="1214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P1：11，P2：7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96566" y="533733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56464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33400" y="56511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83672" y="578596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53743" y="5785961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完成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33966" y="5785961"/>
              <a:ext cx="575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96566" y="5785961"/>
              <a:ext cx="1143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P1，30 时完成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29584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641158" y="29584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3421380" y="29584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983980" y="29584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07857" cy="909257"/>
            <a:chOff x="520446" y="342900"/>
            <a:chExt cx="87078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078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SRTN 例题的结果：平均周转时间 15，平均等待时间 7.5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c1-table-1"/>
          <p:cNvGrpSpPr/>
          <p:nvPr/>
        </p:nvGrpSpPr>
        <p:grpSpPr>
          <a:xfrm>
            <a:off x="527685" y="1524000"/>
            <a:ext cx="11130915" cy="2539842"/>
            <a:chOff x="527685" y="1524000"/>
            <a:chExt cx="11130915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70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346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3411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2476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1541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606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周转时间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8633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带权周转时间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1217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等待时间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4227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4070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8397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2200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527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5592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61112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6202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54227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4070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3135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200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527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5592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5588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0941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54227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4070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3135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200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527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330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6111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0941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4227" y="345424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4070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3135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2200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1265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330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588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0941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59448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98513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37578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6643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5708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54773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26318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7685" y="3843814"/>
              <a:ext cx="9517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平均周转时间 = (30 + 18 + 9 + 3) / 4 = 15；平均带权周转时间 = (2.5 + 2 + 1.5 + 1) / 4 = 1.75；平均等待时间 = (18 + 9 + 3 + 0) / 4 = 7.5</a:t>
              </a:r>
            </a:p>
          </p:txBody>
        </p:sp>
      </p:grpSp>
      <p:grpSp>
        <p:nvGrpSpPr>
          <p:cNvPr id="79" name="c1-compare-2"/>
          <p:cNvGrpSpPr/>
          <p:nvPr/>
        </p:nvGrpSpPr>
        <p:grpSpPr>
          <a:xfrm>
            <a:off x="533400" y="4210050"/>
            <a:ext cx="11125200" cy="1367790"/>
            <a:chOff x="533400" y="4210050"/>
            <a:chExt cx="11125200" cy="1367790"/>
          </a:xfrm>
        </p:grpSpPr>
        <p:sp>
          <p:nvSpPr>
            <p:cNvPr id="63" name="Rectangle 63"/>
            <p:cNvSpPr/>
            <p:nvPr/>
          </p:nvSpPr>
          <p:spPr>
            <a:xfrm>
              <a:off x="533400" y="421005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42925" y="434340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3430" y="4444365"/>
              <a:ext cx="1517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SRTN（可剥夺）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86765" y="48615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4880" y="4798695"/>
              <a:ext cx="3677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执行段：P1、P2、P3、P4、P3、P2、P1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86765" y="51968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4880" y="5133975"/>
              <a:ext cx="3316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平均周转时间 15，平均等待时间 7.5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67450" y="421005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76975" y="434340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07480" y="4444365"/>
              <a:ext cx="2067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同一例题用非剥夺 SJF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520815" y="48615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78930" y="4798695"/>
              <a:ext cx="3202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先独占 0–12，之后 P4、P3、P2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520815" y="51968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678930" y="5133975"/>
              <a:ext cx="3761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平均周转时间 17.25，平均等待时间 9.75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5934075" y="47320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004415" y="482822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0" name="Rectangle 8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130" y="5991225"/>
              <a:ext cx="10066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易错：“开始时间”指第一次得到 CPU 的时刻；等待时间 = 周转时间 − 运行时间，被抢占后排队的时间也算在内。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4024" cy="909257"/>
            <a:chOff x="520446" y="342900"/>
            <a:chExt cx="86640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40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HRN 最高响应比优先（非剥夺）：等得越久，响应比越高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111942" cy="2026920"/>
            <a:chOff x="533400" y="1524000"/>
            <a:chExt cx="4111942" cy="2026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111942" cy="2026920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02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95179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8089" y="1769269"/>
              <a:ext cx="293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响应比（Highest Response Ratio Next）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1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365474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RR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BT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WT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WT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86765" y="28346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71775"/>
              <a:ext cx="2713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BT：运行时间（burst time）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699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107055"/>
              <a:ext cx="2836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WT：已等待时间（wait time）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741420"/>
            <a:ext cx="4111942" cy="1651635"/>
            <a:chOff x="533400" y="3741420"/>
            <a:chExt cx="4111942" cy="1651635"/>
          </a:xfrm>
        </p:grpSpPr>
        <p:sp>
          <p:nvSpPr>
            <p:cNvPr id="17" name="Rectangle 17"/>
            <p:cNvSpPr/>
            <p:nvPr/>
          </p:nvSpPr>
          <p:spPr>
            <a:xfrm>
              <a:off x="533400" y="3741420"/>
              <a:ext cx="4111942" cy="1651635"/>
            </a:xfrm>
            <a:prstGeom prst="roundRect">
              <a:avLst>
                <a:gd name="adj" fmla="val 807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2950" y="39509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3158" y="39866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8665" y="439102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432816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同时到达的任务，短者优先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48665" y="47263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4663440"/>
              <a:ext cx="3063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长作业的响应比随等待时间增加而增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大，不会饿死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4944428" y="1524000"/>
            <a:ext cx="6714172" cy="2539842"/>
            <a:chOff x="4944428" y="1524000"/>
            <a:chExt cx="6714172" cy="2539842"/>
          </a:xfrm>
        </p:grpSpPr>
        <p:sp>
          <p:nvSpPr>
            <p:cNvPr id="25" name="Rectangle 25"/>
            <p:cNvSpPr/>
            <p:nvPr/>
          </p:nvSpPr>
          <p:spPr>
            <a:xfrm>
              <a:off x="4950142" y="1524000"/>
              <a:ext cx="670845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399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7763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 响应比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7488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 响应比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48166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 响应比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435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6252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6158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未到达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71308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未到达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81985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未到达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15729" y="210835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50142" y="24164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0142" y="2421255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12772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95416" y="2556986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+ 9/8 = 2.125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74255" y="2430780"/>
              <a:ext cx="15240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99914" y="255698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+ 5/2 = 3.5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63205" y="255698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+ 4/6 ≈ 1.67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15729" y="255698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950142" y="286607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12772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697855" y="2880360"/>
              <a:ext cx="165830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48030" y="3005614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+ 11/8 = 2.375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71308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已完成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05364" y="3005614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+ 6/6 = 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15729" y="300561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50142" y="33147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950142" y="3319462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12772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61583" y="34542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已完成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71308" y="34542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已完成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17305" y="3328988"/>
              <a:ext cx="165830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15819" y="3454241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+ 14/6 ≈ 3.33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15729" y="3454241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0142" y="1524000"/>
              <a:ext cx="670845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68356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5996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90301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58037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944428" y="3843814"/>
              <a:ext cx="4349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补充例题：P1–P4 到达时间 0、1、5、6，运行时间 10、8、2、6</a:t>
              </a:r>
            </a:p>
          </p:txBody>
        </p:sp>
      </p:grpSp>
      <p:grpSp>
        <p:nvGrpSpPr>
          <p:cNvPr id="81" name="c2-graph-2"/>
          <p:cNvGrpSpPr/>
          <p:nvPr/>
        </p:nvGrpSpPr>
        <p:grpSpPr>
          <a:xfrm>
            <a:off x="5024047" y="4248150"/>
            <a:ext cx="6576451" cy="730187"/>
            <a:chOff x="5024047" y="4248150"/>
            <a:chExt cx="6576451" cy="730187"/>
          </a:xfrm>
        </p:grpSpPr>
        <p:sp>
          <p:nvSpPr>
            <p:cNvPr id="66" name="Freeform 66"/>
            <p:cNvSpPr/>
            <p:nvPr/>
          </p:nvSpPr>
          <p:spPr>
            <a:xfrm>
              <a:off x="5066348" y="4676775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1505248" y="4629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107305" y="4248150"/>
              <a:ext cx="236505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519988" y="4248150"/>
              <a:ext cx="473392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32432" y="4248150"/>
              <a:ext cx="1892618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979342" y="4248150"/>
              <a:ext cx="1419225" cy="381000"/>
            </a:xfrm>
            <a:prstGeom prst="roundRect">
              <a:avLst>
                <a:gd name="adj" fmla="val 1000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85642" y="43643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51539" y="43643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73597" y="43643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584287" y="43643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024047" y="47729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29290" y="47729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17923" y="47729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873405" y="47729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339303" y="47729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2" name="Rectangle 8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04863" y="6073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130" y="5991225"/>
              <a:ext cx="8958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同一例题的平均周转时间：FCFS 15.5，SJF 13.5，HRN 14。SJF 下 P2 要等 17，HRN 下只等 11。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5499" cy="909257"/>
            <a:chOff x="520446" y="342900"/>
            <a:chExt cx="75754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54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 最高优先数，以及 UNIX 的可抢占动态优先数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27685" y="1524000"/>
            <a:ext cx="5632133" cy="2296001"/>
            <a:chOff x="527685" y="1524000"/>
            <a:chExt cx="5632133" cy="229600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61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792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优先数怎样定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247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85867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静态优先数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（static）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04263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进程创建时分配，生存期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内不变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5020" y="210835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响应速度慢，开销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小；适合批处理进程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98668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动态优先数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（dynamic）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4263" y="278368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创建时继承优先数，生存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期内可以修改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55020" y="28970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响应速度快，开销大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9167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4243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7685" y="3399949"/>
              <a:ext cx="52814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最高优先数算法适用于实时系统。注意：本章例题优先数越大越优先，UNIX 的 p_pri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越小越优先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3"/>
              <p:cNvSpPr txBox="1">
                <a:spLocks noGrp="1"/>
              </p:cNvSpPr>
              <p:nvPr/>
            </p:nvSpPr>
            <p:spPr>
              <a:xfrm>
                <a:off x="533400" y="3966210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p_pri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127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USER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p_cpu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16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p_nice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3" name="c1-kv-3"/>
          <p:cNvGrpSpPr/>
          <p:nvPr/>
        </p:nvGrpSpPr>
        <p:grpSpPr>
          <a:xfrm>
            <a:off x="525780" y="4600575"/>
            <a:ext cx="5634038" cy="1737360"/>
            <a:chOff x="525780" y="4600575"/>
            <a:chExt cx="5634038" cy="1737360"/>
          </a:xfrm>
        </p:grpSpPr>
        <p:sp>
          <p:nvSpPr>
            <p:cNvPr id="25" name="TextBox 25"/>
            <p:cNvSpPr txBox="1"/>
            <p:nvPr/>
          </p:nvSpPr>
          <p:spPr>
            <a:xfrm>
              <a:off x="525780" y="460057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USER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08747" y="4600575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100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9206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5780" y="5040630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p_cpu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08747" y="5040630"/>
              <a:ext cx="4368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运行进程每 20ms 加 1（优先级降低）；其他进程每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1200ms 减 10（优先级提高）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6426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5780" y="576262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p_nice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08747" y="5762625"/>
              <a:ext cx="42348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可用系统调用 nice(…) 修改：用户进程 0～20（偏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低），系统进程 −20～+20（可以更高）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464618" y="1524000"/>
            <a:ext cx="5193982" cy="1573530"/>
            <a:chOff x="6464618" y="1524000"/>
            <a:chExt cx="5193982" cy="1573530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288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7617" y="165973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获得处理机的进程一直运行到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72441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非剥夺式静态优先数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57488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终止或等待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4618" y="242125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2441" y="26703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剥夺式动（静）态优先数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57488" y="2556986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终止、等待，或出现优先级更高的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744902" y="1524000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464618" y="3288030"/>
            <a:ext cx="5193982" cy="2990850"/>
            <a:chOff x="6464618" y="3288030"/>
            <a:chExt cx="5193982" cy="2990850"/>
          </a:xfrm>
        </p:grpSpPr>
        <p:sp>
          <p:nvSpPr>
            <p:cNvPr id="46" name="Rectangle 46"/>
            <p:cNvSpPr/>
            <p:nvPr/>
          </p:nvSpPr>
          <p:spPr>
            <a:xfrm>
              <a:off x="6464618" y="3288030"/>
              <a:ext cx="5193982" cy="2990850"/>
            </a:xfrm>
            <a:prstGeom prst="roundRect">
              <a:avLst>
                <a:gd name="adj" fmla="val 44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4142" y="3421380"/>
              <a:ext cx="47625" cy="2724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12268" y="34975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94576" y="35332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98092" y="3532822"/>
              <a:ext cx="2388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选 p_pri 最小的进程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4648" y="3893820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两个用户进程，p_nice 都为 0：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717983" y="4291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76098" y="4229100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最近用 CPU 多，p_cpu = 160：p_pri = min{127,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+ 10 + 0} = 110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17983" y="49129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76098" y="4850130"/>
              <a:ext cx="3968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刚被唤醒，p_cpu = 40（40/16 取整为 2）：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p_pri = 102，选中 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05791" y="5466874"/>
              <a:ext cx="4495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 B 用 nice 把 p_nice 调到 20，p_pri = 122，就轮到 A。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7462" cy="909257"/>
            <a:chOff x="520446" y="342900"/>
            <a:chExt cx="79774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74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 可抢占例题：每有进程到达，就比较一次优先数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3576637" cy="2988469"/>
            <a:chOff x="527685" y="1524000"/>
            <a:chExt cx="3576637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709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03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328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8015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997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7547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5779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124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2469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35709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35709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7547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779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124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2469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35709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7547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5779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9124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2469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35709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35709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7547" y="345424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5779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9124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2469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63328"/>
              <a:ext cx="35709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7547" y="39038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779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9124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2469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357092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38112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3266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24707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429244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优先数大者优先</a:t>
              </a:r>
            </a:p>
          </p:txBody>
        </p:sp>
      </p:grpSp>
      <p:grpSp>
        <p:nvGrpSpPr>
          <p:cNvPr id="50" name="c1-callout-2"/>
          <p:cNvGrpSpPr/>
          <p:nvPr/>
        </p:nvGrpSpPr>
        <p:grpSpPr>
          <a:xfrm>
            <a:off x="533400" y="4658678"/>
            <a:ext cx="3570922" cy="1335405"/>
            <a:chOff x="533400" y="4658678"/>
            <a:chExt cx="3570922" cy="1335405"/>
          </a:xfrm>
        </p:grpSpPr>
        <p:sp>
          <p:nvSpPr>
            <p:cNvPr id="44" name="Rectangle 44"/>
            <p:cNvSpPr/>
            <p:nvPr/>
          </p:nvSpPr>
          <p:spPr>
            <a:xfrm>
              <a:off x="533400" y="4658678"/>
              <a:ext cx="3570922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226368"/>
              <a:ext cx="200026" cy="200025"/>
              <a:chOff x="738188" y="522636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2263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2708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3819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4807268"/>
              <a:ext cx="26822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每有进程到达或完成，就在就绪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进程中比较优先数；可抢占时，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新到达的高优先级进程立即换下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运行进程。</a:t>
              </a:r>
            </a:p>
          </p:txBody>
        </p:sp>
      </p:grpSp>
      <p:grpSp>
        <p:nvGrpSpPr>
          <p:cNvPr id="93" name="c2-table-1"/>
          <p:cNvGrpSpPr/>
          <p:nvPr/>
        </p:nvGrpSpPr>
        <p:grpSpPr>
          <a:xfrm>
            <a:off x="4409122" y="1524000"/>
            <a:ext cx="7249478" cy="4039553"/>
            <a:chOff x="4409122" y="1524000"/>
            <a:chExt cx="7249478" cy="4039553"/>
          </a:xfrm>
        </p:grpSpPr>
        <p:sp>
          <p:nvSpPr>
            <p:cNvPr id="51" name="Rectangle 51"/>
            <p:cNvSpPr/>
            <p:nvPr/>
          </p:nvSpPr>
          <p:spPr>
            <a:xfrm>
              <a:off x="4409122" y="1524000"/>
              <a:ext cx="724947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284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35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196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5103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314188" y="2108359"/>
              <a:ext cx="15858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P1(0)、P4(2) 到达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46133" y="210835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09122" y="2416492"/>
              <a:ext cx="72494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09122" y="2421255"/>
              <a:ext cx="72494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75103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314188" y="2556986"/>
              <a:ext cx="2674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P2(1) 到达，低于运行中的 P4(2)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46133" y="2556986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继续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409122" y="2866072"/>
              <a:ext cx="72494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5103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314188" y="3005614"/>
              <a:ext cx="23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完成；就绪 P1(0)、P2(1)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46133" y="300561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409122" y="3314700"/>
              <a:ext cx="72494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409122" y="3319462"/>
              <a:ext cx="72494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75103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314188" y="3454241"/>
              <a:ext cx="1985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P3(3) 到达，高于 P2(1)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46133" y="3454241"/>
              <a:ext cx="985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P3，抢占 P2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409122" y="3763328"/>
              <a:ext cx="72494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751035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314188" y="3903821"/>
              <a:ext cx="1985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P5(7) 到达，高于 P3(3)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46133" y="3903821"/>
              <a:ext cx="985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P5，抢占 P3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409122" y="4211955"/>
              <a:ext cx="72494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4409122" y="4216718"/>
              <a:ext cx="72494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51035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314188" y="4352449"/>
              <a:ext cx="3030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 完成；就绪 P1(0)、P2(1)、P3(3)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46133" y="435244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409122" y="4660582"/>
              <a:ext cx="72494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701279" y="480107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314188" y="4801076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完成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46133" y="480107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409122" y="5110162"/>
              <a:ext cx="72494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4409122" y="5114925"/>
              <a:ext cx="72494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701279" y="524970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314188" y="5249704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完成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446133" y="5249704"/>
              <a:ext cx="1143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P1，25 时完成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409122" y="1524000"/>
              <a:ext cx="7249478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520160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933354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5607" cy="909257"/>
            <a:chOff x="520446" y="342900"/>
            <a:chExt cx="64756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56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 例题的结果：平均周转时间应为 10.8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603494" y="1562100"/>
            <a:ext cx="6797431" cy="730187"/>
            <a:chOff x="603494" y="1562100"/>
            <a:chExt cx="6797431" cy="730187"/>
          </a:xfrm>
        </p:grpSpPr>
        <p:sp>
          <p:nvSpPr>
            <p:cNvPr id="7" name="Freeform 7"/>
            <p:cNvSpPr/>
            <p:nvPr/>
          </p:nvSpPr>
          <p:spPr>
            <a:xfrm>
              <a:off x="647700" y="1990725"/>
              <a:ext cx="6657975" cy="9525"/>
            </a:xfrm>
            <a:custGeom>
              <a:avLst/>
              <a:gdLst/>
              <a:ahLst/>
              <a:cxnLst/>
              <a:rect l="l" t="t" r="r" b="b"/>
              <a:pathLst>
                <a:path w="6657975" h="9525">
                  <a:moveTo>
                    <a:pt x="0" y="0"/>
                  </a:moveTo>
                  <a:lnTo>
                    <a:pt x="665797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305675" y="19431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47700" y="1562100"/>
              <a:ext cx="789622" cy="381000"/>
            </a:xfrm>
            <a:prstGeom prst="roundRect">
              <a:avLst>
                <a:gd name="adj" fmla="val 1000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37322" y="1562100"/>
              <a:ext cx="262890" cy="381000"/>
            </a:xfrm>
            <a:prstGeom prst="roundRect">
              <a:avLst>
                <a:gd name="adj" fmla="val 14493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01165" y="1562100"/>
              <a:ext cx="262890" cy="381000"/>
            </a:xfrm>
            <a:prstGeom prst="roundRect">
              <a:avLst>
                <a:gd name="adj" fmla="val 1449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64055" y="1562100"/>
              <a:ext cx="526732" cy="381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490788" y="1562100"/>
              <a:ext cx="1579245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070032" y="1562100"/>
              <a:ext cx="1053465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123498" y="1562100"/>
              <a:ext cx="210597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8319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4099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27942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2227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75742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209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72294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494" y="2086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93117" y="2086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6959" y="2086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19849" y="2086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46582" y="2086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86955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40420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46398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  <p:grpSp>
        <p:nvGrpSpPr>
          <p:cNvPr id="96" name="c1-table-2"/>
          <p:cNvGrpSpPr/>
          <p:nvPr/>
        </p:nvGrpSpPr>
        <p:grpSpPr>
          <a:xfrm>
            <a:off x="527685" y="2514600"/>
            <a:ext cx="6930390" cy="3188493"/>
            <a:chOff x="527685" y="2514600"/>
            <a:chExt cx="6930390" cy="3188493"/>
          </a:xfrm>
        </p:grpSpPr>
        <p:sp>
          <p:nvSpPr>
            <p:cNvPr id="32" name="Rectangle 32"/>
            <p:cNvSpPr/>
            <p:nvPr/>
          </p:nvSpPr>
          <p:spPr>
            <a:xfrm>
              <a:off x="533400" y="2514600"/>
              <a:ext cx="692467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6564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61427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66289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65958" y="26503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37939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2802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47664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2138" y="26503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带权周转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3734" y="30989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86354" y="30989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91217" y="30989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77042" y="30989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15481" y="30989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20343" y="30989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25206" y="30989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7221" y="30989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4070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3411855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3734" y="35475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86354" y="35475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91217" y="35475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77042" y="35475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62867" y="35475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20343" y="35475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25206" y="35475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39379" y="35475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385667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3734" y="39962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686354" y="39962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491217" y="39962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377042" y="39962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262867" y="39962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020343" y="39962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72592" y="39962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97221" y="39962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430530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" y="4310062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3734" y="444484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686354" y="44448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491217" y="44448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377042" y="44448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262867" y="44448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067729" y="44448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872592" y="44448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39379" y="44448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33400" y="475392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23734" y="48944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686354" y="48944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491217" y="48944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377042" y="48944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262867" y="48944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067729" y="48944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872592" y="48944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839379" y="48944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33400" y="2514600"/>
              <a:ext cx="692467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1333500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2138362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2942272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3910012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4714875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518785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323648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27685" y="5283041"/>
              <a:ext cx="65829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平均周转时间 = (25 + 15 + 9 + 3 + 2) / 5 = 10.8；平均带权周转时间 = (3.13 + 3 + 1.29 + 1 + 1) / 5 ≈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1.88</a:t>
              </a:r>
            </a:p>
          </p:txBody>
        </p:sp>
      </p:grpSp>
      <p:grpSp>
        <p:nvGrpSpPr>
          <p:cNvPr id="103" name="c2-card-1"/>
          <p:cNvGrpSpPr/>
          <p:nvPr/>
        </p:nvGrpSpPr>
        <p:grpSpPr>
          <a:xfrm>
            <a:off x="7762875" y="1524000"/>
            <a:ext cx="3895725" cy="1898332"/>
            <a:chOff x="7762875" y="1524000"/>
            <a:chExt cx="3895725" cy="1898332"/>
          </a:xfrm>
        </p:grpSpPr>
        <p:sp>
          <p:nvSpPr>
            <p:cNvPr id="97" name="Rectangle 97"/>
            <p:cNvSpPr/>
            <p:nvPr/>
          </p:nvSpPr>
          <p:spPr>
            <a:xfrm>
              <a:off x="7762875" y="1524000"/>
              <a:ext cx="3895725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772400" y="1657350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801052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10168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002905" y="2110740"/>
              <a:ext cx="3282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原课件写作“平均周转时间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(25+15+9+3+2)/5 = 38.8”。括号内五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项之和是 54，结果应为 10.8。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004048" y="3014186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平均带权周转时间 1.88 无误。</a:t>
              </a:r>
            </a:p>
          </p:txBody>
        </p:sp>
      </p:grpSp>
      <p:grpSp>
        <p:nvGrpSpPr>
          <p:cNvPr id="114" name="c2-card-2"/>
          <p:cNvGrpSpPr/>
          <p:nvPr/>
        </p:nvGrpSpPr>
        <p:grpSpPr>
          <a:xfrm>
            <a:off x="7762875" y="3612832"/>
            <a:ext cx="3895725" cy="2558415"/>
            <a:chOff x="7762875" y="3612832"/>
            <a:chExt cx="3895725" cy="2558415"/>
          </a:xfrm>
        </p:grpSpPr>
        <p:sp>
          <p:nvSpPr>
            <p:cNvPr id="104" name="Rectangle 104"/>
            <p:cNvSpPr/>
            <p:nvPr/>
          </p:nvSpPr>
          <p:spPr>
            <a:xfrm>
              <a:off x="7762875" y="3612832"/>
              <a:ext cx="3895725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7772400" y="3746182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010525" y="38223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101686" y="38581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8016240" y="426243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174355" y="4199572"/>
              <a:ext cx="3082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的周转时间 9 = 运行 7 + 被 P5 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占后等待 2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8016240" y="488346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174355" y="4820602"/>
              <a:ext cx="3082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优先数最低，一直等到 17 才第一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次运行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8016240" y="550449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8174355" y="5441632"/>
              <a:ext cx="2967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P4、P5 一到达就运行完，带权周转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时间为 1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1434" cy="909257"/>
            <a:chOff x="520446" y="342900"/>
            <a:chExt cx="70814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14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 时间片轮转：就绪进程轮流使用一个时间片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ompare-1"/>
          <p:cNvGrpSpPr/>
          <p:nvPr/>
        </p:nvGrpSpPr>
        <p:grpSpPr>
          <a:xfrm>
            <a:off x="533400" y="1524000"/>
            <a:ext cx="5842636" cy="1939290"/>
            <a:chOff x="533400" y="1524000"/>
            <a:chExt cx="5842636" cy="19392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749868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基本轮转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863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时间片（quantum，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 slice）长度固定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22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所有进程等速向前推进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26168" y="1524000"/>
              <a:ext cx="2749868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35692" y="165735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66198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改进轮转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879532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37648" y="211264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时间片长度不固定，可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以变化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292792" y="23317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63133" y="242792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653790"/>
            <a:ext cx="5842635" cy="1986915"/>
            <a:chOff x="533400" y="3653790"/>
            <a:chExt cx="5842635" cy="1986915"/>
          </a:xfrm>
        </p:grpSpPr>
        <p:sp>
          <p:nvSpPr>
            <p:cNvPr id="22" name="Rectangle 22"/>
            <p:cNvSpPr/>
            <p:nvPr/>
          </p:nvSpPr>
          <p:spPr>
            <a:xfrm>
              <a:off x="533400" y="3653790"/>
              <a:ext cx="584263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78714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386334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4507" y="38990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时间片取多长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240530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通常为几十毫秒到几百毫秒，例如 50ms。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6386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57581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过长：响应速度慢，时间片长到每个进程一次运行完时就退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 FCFS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52597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5196840"/>
              <a:ext cx="4336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过短：进程切换频繁，系统开销（overhead）大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676225" y="1524000"/>
            <a:ext cx="4986985" cy="4140042"/>
            <a:chOff x="6676225" y="1524000"/>
            <a:chExt cx="4986985" cy="4140042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1202" t="0" r="1201" b="0"/>
            <a:stretch>
              <a:fillRect/>
            </a:stretch>
          </p:blipFill>
          <p:spPr>
            <a:xfrm>
              <a:off x="6680835" y="1524000"/>
              <a:ext cx="4977765" cy="3825240"/>
            </a:xfrm>
            <a:prstGeom prst="roundRect">
              <a:avLst>
                <a:gd name="adj" fmla="val 3486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6676225" y="5444014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车轮战：大师在每张棋盘上走一步就换下一桌，每位对手都能很快等到回应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680835" y="5829300"/>
            <a:ext cx="4977765" cy="533400"/>
            <a:chOff x="6680835" y="5829300"/>
            <a:chExt cx="4977765" cy="533400"/>
          </a:xfrm>
        </p:grpSpPr>
        <p:sp>
          <p:nvSpPr>
            <p:cNvPr id="35" name="Rectangle 35"/>
            <p:cNvSpPr/>
            <p:nvPr/>
          </p:nvSpPr>
          <p:spPr>
            <a:xfrm>
              <a:off x="6680835" y="5829300"/>
              <a:ext cx="4977765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85623" y="5995990"/>
              <a:ext cx="200023" cy="200023"/>
              <a:chOff x="6885623" y="599599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85623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018973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87565" y="5991225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RR 是可抢占的，适用于分时系统。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4531" cy="909257"/>
            <a:chOff x="520446" y="342900"/>
            <a:chExt cx="70445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45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 例题（时间片 4）：用完时间片就排到队尾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2089" cy="308039"/>
            <a:chOff x="525399" y="1550194"/>
            <a:chExt cx="8312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2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P1、P2、P3 都在 0 时刻到达，运行时间为 17、10、3。队列中括号内为剩余运行时间。</a:t>
              </a:r>
            </a:p>
          </p:txBody>
        </p:sp>
      </p:grpSp>
      <p:grpSp>
        <p:nvGrpSpPr>
          <p:cNvPr id="36" name="c1-graph-1"/>
          <p:cNvGrpSpPr/>
          <p:nvPr/>
        </p:nvGrpSpPr>
        <p:grpSpPr>
          <a:xfrm>
            <a:off x="603494" y="2005965"/>
            <a:ext cx="4633351" cy="730187"/>
            <a:chOff x="603494" y="2005965"/>
            <a:chExt cx="4633351" cy="730187"/>
          </a:xfrm>
        </p:grpSpPr>
        <p:sp>
          <p:nvSpPr>
            <p:cNvPr id="9" name="Freeform 9"/>
            <p:cNvSpPr/>
            <p:nvPr/>
          </p:nvSpPr>
          <p:spPr>
            <a:xfrm>
              <a:off x="647700" y="2434590"/>
              <a:ext cx="4493895" cy="9525"/>
            </a:xfrm>
            <a:custGeom>
              <a:avLst/>
              <a:gdLst/>
              <a:ahLst/>
              <a:cxnLst/>
              <a:rect l="l" t="t" r="r" b="b"/>
              <a:pathLst>
                <a:path w="4493895" h="9525">
                  <a:moveTo>
                    <a:pt x="0" y="0"/>
                  </a:moveTo>
                  <a:lnTo>
                    <a:pt x="449389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141595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" y="2005965"/>
              <a:ext cx="58959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236345" y="2005965"/>
              <a:ext cx="589598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825942" y="2005965"/>
              <a:ext cx="441960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267902" y="2005965"/>
              <a:ext cx="58959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56548" y="2005965"/>
              <a:ext cx="589598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46145" y="2005965"/>
              <a:ext cx="58959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34790" y="2005965"/>
              <a:ext cx="294322" cy="381000"/>
            </a:xfrm>
            <a:prstGeom prst="roundRect">
              <a:avLst>
                <a:gd name="adj" fmla="val 12945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29112" y="2005965"/>
              <a:ext cx="736282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4307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33904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9207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64509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53154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42752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84712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0014" y="21264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494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2139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81737" y="2530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84825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73470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63068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51713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46035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2318" y="253079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  <p:grpSp>
        <p:nvGrpSpPr>
          <p:cNvPr id="67" name="c1-table-2"/>
          <p:cNvGrpSpPr/>
          <p:nvPr/>
        </p:nvGrpSpPr>
        <p:grpSpPr>
          <a:xfrm>
            <a:off x="527685" y="2958465"/>
            <a:ext cx="4766310" cy="2290286"/>
            <a:chOff x="527685" y="2958465"/>
            <a:chExt cx="4766310" cy="2290286"/>
          </a:xfrm>
        </p:grpSpPr>
        <p:sp>
          <p:nvSpPr>
            <p:cNvPr id="37" name="Rectangle 37"/>
            <p:cNvSpPr/>
            <p:nvPr/>
          </p:nvSpPr>
          <p:spPr>
            <a:xfrm>
              <a:off x="533400" y="2958465"/>
              <a:ext cx="476059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8474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85252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72982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50323" y="3093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带权周转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72292" y="3093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5644" y="354187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62793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50523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05406" y="35418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49833" y="3541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8509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385572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65644" y="399145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62793" y="39914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50523" y="39914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52792" y="39914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49833" y="39914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2995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5644" y="444007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62793" y="4440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50523" y="44400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605406" y="44400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797219" y="44400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2958465"/>
              <a:ext cx="476059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415415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303145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189922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402455" y="29584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7685" y="4828699"/>
              <a:ext cx="44422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平均周转时间 = (30 + 25 + 11) / 3 = 22；平均带权周转时间 ≈ 2.64；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平均等待时间 = (13 + 15 + 8) / 3 = 12</a:t>
              </a:r>
            </a:p>
          </p:txBody>
        </p:sp>
      </p:grpSp>
      <p:grpSp>
        <p:nvGrpSpPr>
          <p:cNvPr id="74" name="c1-callout-3"/>
          <p:cNvGrpSpPr/>
          <p:nvPr/>
        </p:nvGrpSpPr>
        <p:grpSpPr>
          <a:xfrm>
            <a:off x="533400" y="5394960"/>
            <a:ext cx="4760595" cy="782955"/>
            <a:chOff x="533400" y="5394960"/>
            <a:chExt cx="4760595" cy="782955"/>
          </a:xfrm>
        </p:grpSpPr>
        <p:sp>
          <p:nvSpPr>
            <p:cNvPr id="68" name="Rectangle 68"/>
            <p:cNvSpPr/>
            <p:nvPr/>
          </p:nvSpPr>
          <p:spPr>
            <a:xfrm>
              <a:off x="533400" y="539496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686425"/>
              <a:ext cx="200026" cy="200025"/>
              <a:chOff x="738188" y="5686425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6864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7926" y="57308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2642" y="58420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130" y="5543550"/>
              <a:ext cx="3644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时间片 ≥ 17 时退化为 FCFS：平均周转时间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≈ 24.67，P3 到 30 才完成。</a:t>
              </a:r>
            </a:p>
          </p:txBody>
        </p:sp>
      </p:grpSp>
      <p:grpSp>
        <p:nvGrpSpPr>
          <p:cNvPr id="117" name="c2-table-1"/>
          <p:cNvGrpSpPr/>
          <p:nvPr/>
        </p:nvGrpSpPr>
        <p:grpSpPr>
          <a:xfrm>
            <a:off x="5598795" y="1967865"/>
            <a:ext cx="6059805" cy="4039552"/>
            <a:chOff x="5598795" y="1967865"/>
            <a:chExt cx="6059805" cy="4039552"/>
          </a:xfrm>
        </p:grpSpPr>
        <p:sp>
          <p:nvSpPr>
            <p:cNvPr id="75" name="Rectangle 75"/>
            <p:cNvSpPr/>
            <p:nvPr/>
          </p:nvSpPr>
          <p:spPr>
            <a:xfrm>
              <a:off x="5598795" y="1967865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84481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42354" y="21026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运行（本次时长）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276080" y="210264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本次结束后的就绪队列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967377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555296" y="2551271"/>
              <a:ext cx="652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P1（4）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736520" y="2551271"/>
              <a:ext cx="1824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P2(10) P3(3) P1(13)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598795" y="2860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598795" y="28651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967377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55296" y="3000851"/>
              <a:ext cx="652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P2（4）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736520" y="3000851"/>
              <a:ext cx="1724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P3(3) P1(13) P2(6)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598795" y="3308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967377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555296" y="3449479"/>
              <a:ext cx="11695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P3（3），完成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736520" y="3449479"/>
              <a:ext cx="1169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P1(13) P2(6)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598795" y="3757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598795" y="376237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917622" y="389810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555296" y="3898106"/>
              <a:ext cx="652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P1（4）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736520" y="3898106"/>
              <a:ext cx="1068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P2(6) P1(9)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598795" y="4207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917622" y="43467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555296" y="4346734"/>
              <a:ext cx="652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P2（4）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736520" y="4346734"/>
              <a:ext cx="1068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P1(9) P2(2)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598795" y="46558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5598795" y="466058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5917622" y="479536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555296" y="4795361"/>
              <a:ext cx="652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P1（4）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36520" y="4795361"/>
              <a:ext cx="1068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P2(2) P1(5)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598795" y="51044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5917622" y="52449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555296" y="5244941"/>
              <a:ext cx="11695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P2（2），完成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736520" y="5244941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P1(5)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5598795" y="55530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5598795" y="555783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5917622" y="569356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555296" y="5693569"/>
              <a:ext cx="1462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P1（4 + 1），完成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736520" y="569356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5598795" y="1967865"/>
              <a:ext cx="6059805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442710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8623935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29801" cy="909257"/>
            <a:chOff x="520446" y="342900"/>
            <a:chExt cx="81298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298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多级队列 MLQ：多个就绪队列，进程所属的队列固定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316355"/>
            <a:chOff x="533400" y="1524000"/>
            <a:chExt cx="497776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421" y="1769269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3.2.1.7 多级队列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设置多个就绪队列，每个进程固定属于其中一个，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各队列可以采用不同的调度算法。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27685" y="3030855"/>
            <a:ext cx="4983480" cy="2091214"/>
            <a:chOff x="527685" y="3030855"/>
            <a:chExt cx="4983480" cy="2091214"/>
          </a:xfrm>
        </p:grpSpPr>
        <p:sp>
          <p:nvSpPr>
            <p:cNvPr id="13" name="Rectangle 13"/>
            <p:cNvSpPr/>
            <p:nvPr/>
          </p:nvSpPr>
          <p:spPr>
            <a:xfrm>
              <a:off x="533400" y="3030855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6607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0691" y="3166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进程类型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27576" y="3166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队内算法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9712" y="361521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26170" y="3615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实时进程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21998" y="361521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92334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92811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9712" y="40638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26170" y="40638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分时进程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2066" y="4063841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729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9712" y="451246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26170" y="45124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批处理进程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1998" y="4512469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030855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013585" y="30308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41432" y="30308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490204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例：通用系统中的三个就绪队列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5268278"/>
            <a:ext cx="4977765" cy="782955"/>
            <a:chOff x="533400" y="5268278"/>
            <a:chExt cx="4977765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268278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559743"/>
              <a:ext cx="200026" cy="200026"/>
              <a:chOff x="738188" y="5559743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5597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6264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6597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416868"/>
              <a:ext cx="4044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常见做法是队列之间按优先级调度：队列 1 为空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时才调度队列 2，依此类推。</a:t>
              </a:r>
            </a:p>
          </p:txBody>
        </p:sp>
      </p:grpSp>
      <p:grpSp>
        <p:nvGrpSpPr>
          <p:cNvPr id="66" name="c2-graph-1"/>
          <p:cNvGrpSpPr/>
          <p:nvPr/>
        </p:nvGrpSpPr>
        <p:grpSpPr>
          <a:xfrm>
            <a:off x="5922835" y="2138362"/>
            <a:ext cx="5485257" cy="3610356"/>
            <a:chOff x="5922835" y="2138362"/>
            <a:chExt cx="5485257" cy="3610356"/>
          </a:xfrm>
        </p:grpSpPr>
        <p:sp>
          <p:nvSpPr>
            <p:cNvPr id="41" name="Freeform 41"/>
            <p:cNvSpPr/>
            <p:nvPr/>
          </p:nvSpPr>
          <p:spPr>
            <a:xfrm>
              <a:off x="6743700" y="2513648"/>
              <a:ext cx="1811655" cy="1307782"/>
            </a:xfrm>
            <a:custGeom>
              <a:avLst/>
              <a:gdLst/>
              <a:ahLst/>
              <a:cxnLst/>
              <a:rect l="l" t="t" r="r" b="b"/>
              <a:pathLst>
                <a:path w="1811655" h="1307782">
                  <a:moveTo>
                    <a:pt x="0" y="1307782"/>
                  </a:moveTo>
                  <a:lnTo>
                    <a:pt x="18116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526780" y="2458402"/>
              <a:ext cx="105727" cy="94297"/>
            </a:xfrm>
            <a:custGeom>
              <a:avLst/>
              <a:gdLst/>
              <a:ahLst/>
              <a:cxnLst/>
              <a:rect l="l" t="t" r="r" b="b"/>
              <a:pathLst>
                <a:path w="105727" h="94297">
                  <a:moveTo>
                    <a:pt x="105727" y="0"/>
                  </a:moveTo>
                  <a:lnTo>
                    <a:pt x="56197" y="94297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222808" y="3943350"/>
              <a:ext cx="344805" cy="9525"/>
            </a:xfrm>
            <a:custGeom>
              <a:avLst/>
              <a:gdLst/>
              <a:ahLst/>
              <a:cxnLst/>
              <a:rect l="l" t="t" r="r" b="b"/>
              <a:pathLst>
                <a:path w="344805" h="9525">
                  <a:moveTo>
                    <a:pt x="0" y="0"/>
                  </a:moveTo>
                  <a:lnTo>
                    <a:pt x="3448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567612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743700" y="4065270"/>
              <a:ext cx="1811655" cy="1307782"/>
            </a:xfrm>
            <a:custGeom>
              <a:avLst/>
              <a:gdLst/>
              <a:ahLst/>
              <a:cxnLst/>
              <a:rect l="l" t="t" r="r" b="b"/>
              <a:pathLst>
                <a:path w="1811655" h="1307782">
                  <a:moveTo>
                    <a:pt x="0" y="0"/>
                  </a:moveTo>
                  <a:lnTo>
                    <a:pt x="1811655" y="13077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526780" y="5334000"/>
              <a:ext cx="105727" cy="94297"/>
            </a:xfrm>
            <a:custGeom>
              <a:avLst/>
              <a:gdLst/>
              <a:ahLst/>
              <a:cxnLst/>
              <a:rect l="l" t="t" r="r" b="b"/>
              <a:pathLst>
                <a:path w="105727" h="94297">
                  <a:moveTo>
                    <a:pt x="105727" y="94297"/>
                  </a:moveTo>
                  <a:lnTo>
                    <a:pt x="0" y="77153"/>
                  </a:lnTo>
                  <a:lnTo>
                    <a:pt x="561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069705" y="2458402"/>
              <a:ext cx="1594485" cy="1181100"/>
            </a:xfrm>
            <a:custGeom>
              <a:avLst/>
              <a:gdLst/>
              <a:ahLst/>
              <a:cxnLst/>
              <a:rect l="l" t="t" r="r" b="b"/>
              <a:pathLst>
                <a:path w="1594485" h="1181100">
                  <a:moveTo>
                    <a:pt x="0" y="0"/>
                  </a:moveTo>
                  <a:lnTo>
                    <a:pt x="1594485" y="11811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635615" y="3601402"/>
              <a:ext cx="105728" cy="95250"/>
            </a:xfrm>
            <a:custGeom>
              <a:avLst/>
              <a:gdLst/>
              <a:ahLst/>
              <a:cxnLst/>
              <a:rect l="l" t="t" r="r" b="b"/>
              <a:pathLst>
                <a:path w="105728" h="95250">
                  <a:moveTo>
                    <a:pt x="105728" y="95250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044112" y="3943350"/>
              <a:ext cx="601980" cy="9525"/>
            </a:xfrm>
            <a:custGeom>
              <a:avLst/>
              <a:gdLst/>
              <a:ahLst/>
              <a:cxnLst/>
              <a:rect l="l" t="t" r="r" b="b"/>
              <a:pathLst>
                <a:path w="601980" h="9525">
                  <a:moveTo>
                    <a:pt x="0" y="0"/>
                  </a:moveTo>
                  <a:lnTo>
                    <a:pt x="6019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646092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069705" y="4247198"/>
              <a:ext cx="1594485" cy="1181100"/>
            </a:xfrm>
            <a:custGeom>
              <a:avLst/>
              <a:gdLst/>
              <a:ahLst/>
              <a:cxnLst/>
              <a:rect l="l" t="t" r="r" b="b"/>
              <a:pathLst>
                <a:path w="1594485" h="1181100">
                  <a:moveTo>
                    <a:pt x="0" y="1181100"/>
                  </a:moveTo>
                  <a:lnTo>
                    <a:pt x="15944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635615" y="4190048"/>
              <a:ext cx="105728" cy="95250"/>
            </a:xfrm>
            <a:custGeom>
              <a:avLst/>
              <a:gdLst/>
              <a:ahLst/>
              <a:cxnLst/>
              <a:rect l="l" t="t" r="r" b="b"/>
              <a:pathLst>
                <a:path w="105728" h="95250">
                  <a:moveTo>
                    <a:pt x="105728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62862" y="2138362"/>
              <a:ext cx="2381250" cy="320040"/>
            </a:xfrm>
            <a:prstGeom prst="roundRect">
              <a:avLst>
                <a:gd name="adj" fmla="val 29762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62862" y="3783330"/>
              <a:ext cx="2381250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662862" y="5428298"/>
              <a:ext cx="2381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741342" y="3609975"/>
              <a:ext cx="666750" cy="666750"/>
            </a:xfrm>
            <a:prstGeom prst="roundRect">
              <a:avLst>
                <a:gd name="adj" fmla="val 57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22835" y="386905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新进程按类型入队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55825" y="2223135"/>
              <a:ext cx="1795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 1 实时进程（HPF）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05111" y="3869055"/>
              <a:ext cx="1696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队列 2 分时进程（RR）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75053" y="5514022"/>
              <a:ext cx="1956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 3 批处理进程（HPF）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20763" y="386905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743122" y="298418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68167" y="30189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最先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743122" y="471678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768167" y="47515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1277" cy="909257"/>
            <a:chOff x="520446" y="342900"/>
            <a:chExt cx="81112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12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反馈排队 FB：一个时间片没做完，就降到下一级队列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722948" y="1565910"/>
            <a:ext cx="5031105" cy="2768917"/>
            <a:chOff x="722948" y="1565910"/>
            <a:chExt cx="5031105" cy="2768917"/>
          </a:xfrm>
        </p:grpSpPr>
        <p:sp>
          <p:nvSpPr>
            <p:cNvPr id="7" name="Freeform 7"/>
            <p:cNvSpPr/>
            <p:nvPr/>
          </p:nvSpPr>
          <p:spPr>
            <a:xfrm>
              <a:off x="3048952" y="188023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23272" y="18278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591050" y="2174558"/>
              <a:ext cx="9525" cy="20955"/>
            </a:xfrm>
            <a:custGeom>
              <a:avLst/>
              <a:gdLst/>
              <a:ahLst/>
              <a:cxnLst/>
              <a:rect l="l" t="t" r="r" b="b"/>
              <a:pathLst>
                <a:path w="9525" h="20955">
                  <a:moveTo>
                    <a:pt x="0" y="209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38662" y="21745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591050" y="2908935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0"/>
                  </a:moveTo>
                  <a:lnTo>
                    <a:pt x="0" y="74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38662" y="29832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591050" y="3526155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0"/>
                  </a:moveTo>
                  <a:lnTo>
                    <a:pt x="0" y="74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38662" y="3600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153728" y="4020502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048952" y="39681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2948" y="1661160"/>
              <a:ext cx="232600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28048" y="156591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28048" y="2279332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28048" y="3088005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28048" y="3705225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2948" y="3705225"/>
              <a:ext cx="2326005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48689" y="17911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创建、唤醒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84829" y="1682591"/>
              <a:ext cx="201244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Q1（RR，HPF1）运行 s1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84829" y="2395061"/>
              <a:ext cx="201244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Q2（RR，HPF2）运行 s2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89801" y="32180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84829" y="3821906"/>
              <a:ext cx="201244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Qn（RR，HPFn）运行 sn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7857" y="3821906"/>
              <a:ext cx="19961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Qn 中没做完的进程回到 Qn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19625" y="214503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42866" y="21717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未完成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19625" y="290607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42866" y="293274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未完成</a:t>
              </a:r>
            </a:p>
          </p:txBody>
        </p:sp>
      </p:grpSp>
      <p:grpSp>
        <p:nvGrpSpPr>
          <p:cNvPr id="53" name="c1-table-2"/>
          <p:cNvGrpSpPr/>
          <p:nvPr/>
        </p:nvGrpSpPr>
        <p:grpSpPr>
          <a:xfrm>
            <a:off x="533400" y="4567238"/>
            <a:ext cx="5410200" cy="1795462"/>
            <a:chOff x="533400" y="4567238"/>
            <a:chExt cx="5410200" cy="1795462"/>
          </a:xfrm>
        </p:grpSpPr>
        <p:sp>
          <p:nvSpPr>
            <p:cNvPr id="34" name="Rectangle 34"/>
            <p:cNvSpPr/>
            <p:nvPr/>
          </p:nvSpPr>
          <p:spPr>
            <a:xfrm>
              <a:off x="533400" y="4567238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88047" y="47029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50680" y="470296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21390" y="470296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36100" y="515159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36837" y="5151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86927" y="5151596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 s1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4606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46544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36100" y="5600224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36837" y="56002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91235" y="560022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 &gt; s1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9093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39428" y="6048851"/>
              <a:ext cx="254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36837" y="6048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86927" y="6048851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 sn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567238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195512" y="456723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025265" y="456723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1"/>
          <p:cNvGrpSpPr/>
          <p:nvPr/>
        </p:nvGrpSpPr>
        <p:grpSpPr>
          <a:xfrm>
            <a:off x="6248400" y="1524000"/>
            <a:ext cx="5410200" cy="3140392"/>
            <a:chOff x="6248400" y="1524000"/>
            <a:chExt cx="5410200" cy="3140392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3140392"/>
            </a:xfrm>
            <a:prstGeom prst="roundRect">
              <a:avLst>
                <a:gd name="adj" fmla="val 424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57950" y="1733550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21321" y="1769269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3.2.1.8 调度效果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50330" y="2110740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资源利用率高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：P1 等待 P2 占有的资源 R；P2 释放 R 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 被唤醒，进入最高级队列，很快投入运行并用上 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0330" y="2731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响应速度快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：交互式进程常等待用户输入，输入完成被唤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醒后进入最高级队列，很快被选中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50330" y="335280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系统开销小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：计算量大的进程用完前 n−1 级时间片仍未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完成，落入底层队列，调度频率下降，但每次得到较长的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51473" y="4256246"/>
              <a:ext cx="37141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与多级队列的区别：FB 中进程所属的队列可变。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248400" y="4854892"/>
            <a:ext cx="5410200" cy="1316355"/>
            <a:chOff x="6248400" y="4854892"/>
            <a:chExt cx="5410200" cy="1316355"/>
          </a:xfrm>
        </p:grpSpPr>
        <p:sp>
          <p:nvSpPr>
            <p:cNvPr id="62" name="Rectangle 62"/>
            <p:cNvSpPr/>
            <p:nvPr/>
          </p:nvSpPr>
          <p:spPr>
            <a:xfrm>
              <a:off x="6248400" y="4854892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498824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96050" y="506444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78359" y="51001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88430" y="5441632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s1、s2、s3 = 2、4、8，进程需运行 9：Q1 运行 2 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Q2 运行 4 → Q3 运行 3 完成。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处理机调度算法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八种调度算法对比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table-1"/>
          <p:cNvGrpSpPr/>
          <p:nvPr/>
        </p:nvGrpSpPr>
        <p:grpSpPr>
          <a:xfrm>
            <a:off x="533400" y="1524000"/>
            <a:ext cx="11125200" cy="4039553"/>
            <a:chOff x="533400" y="1524000"/>
            <a:chExt cx="11125200" cy="403955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61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00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剥夺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5323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68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6400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缺点或注意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5186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9148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进入就绪队列的先后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36120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公平，实现简单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51748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短作业等待时间长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SJF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5186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89148" y="2556986"/>
              <a:ext cx="12374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burst 最短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36120" y="25569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同时到达时平均等待时间最短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51748" y="255698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要预估运行时间；长作业可能饿死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00561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SRTN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5186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89148" y="3005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剩余运行时间最短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36120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短进程周转快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51748" y="3005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切换多；长作业可能饿死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45424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HRN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65186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9148" y="34542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响应比最高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36120" y="345424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兼顾短作业和等待久的作业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51748" y="345424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每次调度都要计算响应比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763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390382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65186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两种都有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89148" y="390382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优先数最高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36120" y="390382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能区分轻重缓急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51748" y="390382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静态优先数下低优先级进程可能饿死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21671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223" y="435244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65186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89148" y="435244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轮流，时间片用完就让出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36120" y="43524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响应及时，适合分时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51748" y="435244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时间片长短难定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660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" y="4801076"/>
              <a:ext cx="404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MLQ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65186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89148" y="48010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所属队列固定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36120" y="480107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不同类型进程用不同算法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51748" y="480107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低级队列中的进程可能饿死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51101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511492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1223" y="524970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865186" y="524970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089148" y="52497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队列可变，逐级下降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36120" y="52497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利用率高、响应快、开销小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51748" y="52497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级数、各级时间片等参数多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1524000"/>
              <a:ext cx="1112520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752600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97656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42353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53916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0" name="Rectangle 7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做计算题：先判断是否剥夺，再在每个调度时刻列出候选进程和比较量，最后画甘特图、算周转时间。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02692" cy="3675697"/>
            <a:chOff x="667512" y="1835468"/>
            <a:chExt cx="6302692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调度时机、过程与多级调度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9278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何时重新分配 CPU，怎样完成切换；作业、交换与处理机三个层次的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3.2.2 处理机调度时机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3.2.3 处理机调度过程（dispatcher）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3.3.1 交换与中级调度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3.3.2 作业与高级调度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48717" cy="909257"/>
            <a:chOff x="520446" y="342900"/>
            <a:chExt cx="85487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调度时机、过程与多级调度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487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调度时机与调度过程：何时切换，dispatcher 怎样切换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316355"/>
            <a:chOff x="533400" y="1524000"/>
            <a:chExt cx="5626418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579" y="1769269"/>
              <a:ext cx="109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3.2.2 调度时机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运行进程结束、等待，或处理机被剥夺。这些事件都经中断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 OS，调度发生在中断处理的末尾。</a:t>
              </a:r>
            </a:p>
          </p:txBody>
        </p:sp>
      </p:grpSp>
      <p:grpSp>
        <p:nvGrpSpPr>
          <p:cNvPr id="52" name="c1-table-2"/>
          <p:cNvGrpSpPr/>
          <p:nvPr/>
        </p:nvGrpSpPr>
        <p:grpSpPr>
          <a:xfrm>
            <a:off x="533400" y="3030855"/>
            <a:ext cx="5626418" cy="3141345"/>
            <a:chOff x="533400" y="3030855"/>
            <a:chExt cx="5626418" cy="3141345"/>
          </a:xfrm>
        </p:grpSpPr>
        <p:sp>
          <p:nvSpPr>
            <p:cNvPr id="13" name="Rectangle 13"/>
            <p:cNvSpPr/>
            <p:nvPr/>
          </p:nvSpPr>
          <p:spPr>
            <a:xfrm>
              <a:off x="533400" y="3030855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7740" y="31665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引起中断的事件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36887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33391" y="3166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进程切换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36152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进程自愿结束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9053" y="361521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exit()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818698" y="3489008"/>
              <a:ext cx="13315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16996" y="3615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23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2811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06384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进程被强行终止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9053" y="4063841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非法指令、越界、kill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818698" y="3937635"/>
              <a:ext cx="13315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16996" y="40638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3729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5124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进程等待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9053" y="4512469"/>
              <a:ext cx="1737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 I/O、等待信号量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18698" y="4387215"/>
              <a:ext cx="13315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16996" y="45124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21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82631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9610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时钟中断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29053" y="49610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时间片用完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818698" y="4835842"/>
              <a:ext cx="1331595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916996" y="49610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2701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5410676"/>
              <a:ext cx="1122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I/O 中断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29053" y="541067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唤醒了更高优先级进程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818698" y="5284470"/>
              <a:ext cx="1331595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16996" y="54106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7188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72357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58593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29053" y="58593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唤醒或创建了更高优先级进程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818698" y="5733098"/>
              <a:ext cx="1331595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16996" y="58593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030855"/>
              <a:ext cx="5626418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216468" y="303085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804410" y="303085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steps-1"/>
          <p:cNvGrpSpPr/>
          <p:nvPr/>
        </p:nvGrpSpPr>
        <p:grpSpPr>
          <a:xfrm>
            <a:off x="6464618" y="1533525"/>
            <a:ext cx="4871593" cy="2347246"/>
            <a:chOff x="6464618" y="1533525"/>
            <a:chExt cx="4871593" cy="2347246"/>
          </a:xfrm>
        </p:grpSpPr>
        <p:sp>
          <p:nvSpPr>
            <p:cNvPr id="53" name="Rectangle 53"/>
            <p:cNvSpPr/>
            <p:nvPr/>
          </p:nvSpPr>
          <p:spPr>
            <a:xfrm>
              <a:off x="6597968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64618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824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64618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5824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76098" y="1567815"/>
              <a:ext cx="2479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3.2.3 保存下降进程的现场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7241" y="1861661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PSW、PC、SP、通用寄存器、地址寄存器（如页表寄存器）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等处理机现场保存到它的 PCB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76098" y="24536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选择上升进程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7241" y="274653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按处理机调度算法从就绪队列中选出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76098" y="310419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恢复上升进程的现场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77241" y="3397091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PCB 装回寄存器：先恢复通用寄存器和地址寄存器，最后恢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 PSW 和 PC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464618" y="4060508"/>
            <a:ext cx="5193982" cy="2252662"/>
            <a:chOff x="6464618" y="4060508"/>
            <a:chExt cx="5193982" cy="2252662"/>
          </a:xfrm>
        </p:grpSpPr>
        <p:sp>
          <p:nvSpPr>
            <p:cNvPr id="67" name="Rectangle 67"/>
            <p:cNvSpPr/>
            <p:nvPr/>
          </p:nvSpPr>
          <p:spPr>
            <a:xfrm>
              <a:off x="6464618" y="4060508"/>
              <a:ext cx="5193982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74142" y="4193858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12268" y="427005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94576" y="43057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课后思考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98092" y="4305300"/>
              <a:ext cx="3906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 和 PC 为什么必须用一条指令同时恢复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717983" y="472916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76098" y="4666298"/>
              <a:ext cx="41052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先恢复 PC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：立即跳到用户程序，却仍按系统态运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行，恢复 PSW 的 OS 指令再也执行不到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717983" y="535019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76098" y="5287328"/>
              <a:ext cx="436959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先恢复 PSW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：立即进入用户态，而 PC 仍指向 OS 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码，会越权出错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705791" y="590407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所以用一条指令（如中断返回指令）把两者同时装入。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0586" cy="909257"/>
            <a:chOff x="520446" y="342900"/>
            <a:chExt cx="93505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调度时机、过程与多级调度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05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三级调度：高级管作业进内存，中级管换入换出，低级管 CPU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6497955" cy="2771299"/>
            <a:chOff x="527685" y="1524000"/>
            <a:chExt cx="6497955" cy="277129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280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45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0240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高级调度（作业调度）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89086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后备作业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6883" y="2108359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从输入井中选作业，为它建立作业控制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中级调度（交换）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9086" y="278368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就绪或等待的进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16883" y="2783681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在内存与外存之间换出、换入进程，控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制并发度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低级调度（处理机调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89086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就绪进程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16883" y="3572351"/>
              <a:ext cx="1973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CPU 分给一个就绪进程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492240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7650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04298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407527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运行频率：低级调度最频繁，高级调度最少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441508"/>
            <a:ext cx="6492240" cy="533400"/>
            <a:chOff x="533400" y="4441508"/>
            <a:chExt cx="649224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4441508"/>
              <a:ext cx="649224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608197"/>
              <a:ext cx="200023" cy="200023"/>
              <a:chOff x="738188" y="4608197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6081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46748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603432"/>
              <a:ext cx="42640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处理机调度（CPU scheduling）就是低级调度。</a:t>
              </a:r>
            </a:p>
          </p:txBody>
        </p:sp>
      </p:grpSp>
      <p:grpSp>
        <p:nvGrpSpPr>
          <p:cNvPr id="54" name="c1-flow-3"/>
          <p:cNvGrpSpPr/>
          <p:nvPr/>
        </p:nvGrpSpPr>
        <p:grpSpPr>
          <a:xfrm>
            <a:off x="684848" y="5241608"/>
            <a:ext cx="6189345" cy="1028700"/>
            <a:chOff x="684848" y="5241608"/>
            <a:chExt cx="6189345" cy="1028700"/>
          </a:xfrm>
        </p:grpSpPr>
        <p:sp>
          <p:nvSpPr>
            <p:cNvPr id="34" name="Freeform 34"/>
            <p:cNvSpPr/>
            <p:nvPr/>
          </p:nvSpPr>
          <p:spPr>
            <a:xfrm>
              <a:off x="2546032" y="546068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744152" y="5408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4710112" y="546068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4908232" y="5408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3779520" y="567975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3727132" y="57273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84848" y="5241608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848928" y="5241608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013008" y="5241608"/>
              <a:ext cx="186118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848928" y="5832158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3552" y="537162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输入井中的后备作业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83789" y="537162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内存中的就绪进程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79407" y="5371624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83789" y="59621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外存中的挂起进程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516505" y="524446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550795" y="52711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高级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80585" y="524446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14875" y="52711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低级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808095" y="5663565"/>
              <a:ext cx="11620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831336" y="569023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中级：换出、换入</a:t>
              </a:r>
            </a:p>
          </p:txBody>
        </p:sp>
      </p:grpSp>
      <p:grpSp>
        <p:nvGrpSpPr>
          <p:cNvPr id="63" name="c2-kv-1"/>
          <p:cNvGrpSpPr/>
          <p:nvPr/>
        </p:nvGrpSpPr>
        <p:grpSpPr>
          <a:xfrm>
            <a:off x="7322820" y="1548765"/>
            <a:ext cx="4335780" cy="1455420"/>
            <a:chOff x="7322820" y="1548765"/>
            <a:chExt cx="4335780" cy="1455420"/>
          </a:xfrm>
        </p:grpSpPr>
        <p:sp>
          <p:nvSpPr>
            <p:cNvPr id="55" name="TextBox 55"/>
            <p:cNvSpPr txBox="1"/>
            <p:nvPr/>
          </p:nvSpPr>
          <p:spPr>
            <a:xfrm>
              <a:off x="732282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63902" y="1548765"/>
              <a:ext cx="893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swapping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330440" y="186880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2282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中级调度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63902" y="1988820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mid-level scheduling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330440" y="230886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22820" y="24288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并发度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63902" y="2428875"/>
              <a:ext cx="3101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degree of multi-programming，内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存中同时驻留、竞争运行的进程数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7330440" y="3135630"/>
            <a:ext cx="4328160" cy="3210878"/>
            <a:chOff x="7330440" y="3135630"/>
            <a:chExt cx="4328160" cy="3210878"/>
          </a:xfrm>
        </p:grpSpPr>
        <p:sp>
          <p:nvSpPr>
            <p:cNvPr id="64" name="Rectangle 64"/>
            <p:cNvSpPr/>
            <p:nvPr/>
          </p:nvSpPr>
          <p:spPr>
            <a:xfrm>
              <a:off x="7330440" y="3135630"/>
              <a:ext cx="4328160" cy="3210878"/>
            </a:xfrm>
            <a:prstGeom prst="roundRect">
              <a:avLst>
                <a:gd name="adj" fmla="val 41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339965" y="3268980"/>
              <a:ext cx="47625" cy="29441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578090" y="3345180"/>
              <a:ext cx="251460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08214" y="3380899"/>
              <a:ext cx="2454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3.3.1 中级调度的目标：控制并发度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70470" y="37223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并发度过高时：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83805" y="41205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41920" y="40576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系统开销大，响应速度慢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583805" y="44557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741920" y="43929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内存等资源紧张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583805" y="47910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741920" y="472821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进程（线程）频繁进入等待状态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583805" y="51263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41920" y="5063490"/>
              <a:ext cx="2721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死锁增多（more deadlocks）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调度时机、过程与多级调度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引入交换后，就绪和等待各多出一个挂起状态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graph-1"/>
          <p:cNvGrpSpPr/>
          <p:nvPr/>
        </p:nvGrpSpPr>
        <p:grpSpPr>
          <a:xfrm>
            <a:off x="656272" y="1750695"/>
            <a:ext cx="5666423" cy="4288536"/>
            <a:chOff x="656272" y="1750695"/>
            <a:chExt cx="5666423" cy="4288536"/>
          </a:xfrm>
        </p:grpSpPr>
        <p:sp>
          <p:nvSpPr>
            <p:cNvPr id="7" name="Freeform 7"/>
            <p:cNvSpPr/>
            <p:nvPr/>
          </p:nvSpPr>
          <p:spPr>
            <a:xfrm>
              <a:off x="2456498" y="2164080"/>
              <a:ext cx="782003" cy="1377315"/>
            </a:xfrm>
            <a:custGeom>
              <a:avLst/>
              <a:gdLst/>
              <a:ahLst/>
              <a:cxnLst/>
              <a:rect l="l" t="t" r="r" b="b"/>
              <a:pathLst>
                <a:path w="782003" h="1377315">
                  <a:moveTo>
                    <a:pt x="0" y="1377315"/>
                  </a:moveTo>
                  <a:cubicBezTo>
                    <a:pt x="403225" y="987425"/>
                    <a:pt x="663892" y="528320"/>
                    <a:pt x="782003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91828" y="2070735"/>
              <a:ext cx="93345" cy="103823"/>
            </a:xfrm>
            <a:custGeom>
              <a:avLst/>
              <a:gdLst/>
              <a:ahLst/>
              <a:cxnLst/>
              <a:rect l="l" t="t" r="r" b="b"/>
              <a:pathLst>
                <a:path w="93345" h="103823">
                  <a:moveTo>
                    <a:pt x="67627" y="0"/>
                  </a:moveTo>
                  <a:lnTo>
                    <a:pt x="93345" y="103823"/>
                  </a:lnTo>
                  <a:lnTo>
                    <a:pt x="0" y="828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46960" y="2070735"/>
              <a:ext cx="782002" cy="1377315"/>
            </a:xfrm>
            <a:custGeom>
              <a:avLst/>
              <a:gdLst/>
              <a:ahLst/>
              <a:cxnLst/>
              <a:rect l="l" t="t" r="r" b="b"/>
              <a:pathLst>
                <a:path w="782002" h="1377315">
                  <a:moveTo>
                    <a:pt x="782002" y="0"/>
                  </a:moveTo>
                  <a:cubicBezTo>
                    <a:pt x="378778" y="389890"/>
                    <a:pt x="118110" y="848995"/>
                    <a:pt x="0" y="137731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00288" y="3438525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25717" y="102870"/>
                  </a:moveTo>
                  <a:lnTo>
                    <a:pt x="0" y="0"/>
                  </a:lnTo>
                  <a:lnTo>
                    <a:pt x="93345" y="200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61398" y="1910715"/>
              <a:ext cx="2132648" cy="9525"/>
            </a:xfrm>
            <a:custGeom>
              <a:avLst/>
              <a:gdLst/>
              <a:ahLst/>
              <a:cxnLst/>
              <a:rect l="l" t="t" r="r" b="b"/>
              <a:pathLst>
                <a:path w="2132648" h="9525">
                  <a:moveTo>
                    <a:pt x="0" y="0"/>
                  </a:moveTo>
                  <a:lnTo>
                    <a:pt x="21326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694045" y="18630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463290" y="2070735"/>
              <a:ext cx="1477328" cy="1404937"/>
            </a:xfrm>
            <a:custGeom>
              <a:avLst/>
              <a:gdLst/>
              <a:ahLst/>
              <a:cxnLst/>
              <a:rect l="l" t="t" r="r" b="b"/>
              <a:pathLst>
                <a:path w="1477328" h="1404937">
                  <a:moveTo>
                    <a:pt x="0" y="0"/>
                  </a:moveTo>
                  <a:lnTo>
                    <a:pt x="1477328" y="140493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907280" y="3441382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68580"/>
                  </a:lnTo>
                  <a:lnTo>
                    <a:pt x="657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52712" y="3701415"/>
              <a:ext cx="2258378" cy="9525"/>
            </a:xfrm>
            <a:custGeom>
              <a:avLst/>
              <a:gdLst/>
              <a:ahLst/>
              <a:cxnLst/>
              <a:rect l="l" t="t" r="r" b="b"/>
              <a:pathLst>
                <a:path w="2258378" h="9525">
                  <a:moveTo>
                    <a:pt x="225837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57462" y="36537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37272" y="3917632"/>
              <a:ext cx="960120" cy="707708"/>
            </a:xfrm>
            <a:custGeom>
              <a:avLst/>
              <a:gdLst/>
              <a:ahLst/>
              <a:cxnLst/>
              <a:rect l="l" t="t" r="r" b="b"/>
              <a:pathLst>
                <a:path w="960120" h="707708">
                  <a:moveTo>
                    <a:pt x="0" y="707708"/>
                  </a:moveTo>
                  <a:lnTo>
                    <a:pt x="9601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68818" y="386143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6198" y="9525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37272" y="4912995"/>
              <a:ext cx="970598" cy="747712"/>
            </a:xfrm>
            <a:custGeom>
              <a:avLst/>
              <a:gdLst/>
              <a:ahLst/>
              <a:cxnLst/>
              <a:rect l="l" t="t" r="r" b="b"/>
              <a:pathLst>
                <a:path w="970598" h="747712">
                  <a:moveTo>
                    <a:pt x="0" y="0"/>
                  </a:moveTo>
                  <a:lnTo>
                    <a:pt x="970598" y="7477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78342" y="562260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96203"/>
                  </a:moveTo>
                  <a:lnTo>
                    <a:pt x="0" y="76200"/>
                  </a:lnTo>
                  <a:lnTo>
                    <a:pt x="5810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967548" y="3861435"/>
              <a:ext cx="259398" cy="1768793"/>
            </a:xfrm>
            <a:custGeom>
              <a:avLst/>
              <a:gdLst/>
              <a:ahLst/>
              <a:cxnLst/>
              <a:rect l="l" t="t" r="r" b="b"/>
              <a:pathLst>
                <a:path w="259398" h="1768793">
                  <a:moveTo>
                    <a:pt x="259398" y="0"/>
                  </a:moveTo>
                  <a:cubicBezTo>
                    <a:pt x="11748" y="619125"/>
                    <a:pt x="0" y="1208722"/>
                    <a:pt x="224155" y="176879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146935" y="5613082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80010" y="105728"/>
                  </a:moveTo>
                  <a:lnTo>
                    <a:pt x="0" y="35243"/>
                  </a:lnTo>
                  <a:lnTo>
                    <a:pt x="885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354580" y="3950018"/>
              <a:ext cx="259398" cy="1768792"/>
            </a:xfrm>
            <a:custGeom>
              <a:avLst/>
              <a:gdLst/>
              <a:ahLst/>
              <a:cxnLst/>
              <a:rect l="l" t="t" r="r" b="b"/>
              <a:pathLst>
                <a:path w="259398" h="1768792">
                  <a:moveTo>
                    <a:pt x="0" y="1768792"/>
                  </a:moveTo>
                  <a:cubicBezTo>
                    <a:pt x="247650" y="1149668"/>
                    <a:pt x="259398" y="560070"/>
                    <a:pt x="35243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346008" y="3861435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8572" y="0"/>
                  </a:moveTo>
                  <a:lnTo>
                    <a:pt x="88582" y="70485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854258" y="3861435"/>
              <a:ext cx="259715" cy="1768793"/>
            </a:xfrm>
            <a:custGeom>
              <a:avLst/>
              <a:gdLst/>
              <a:ahLst/>
              <a:cxnLst/>
              <a:rect l="l" t="t" r="r" b="b"/>
              <a:pathLst>
                <a:path w="259715" h="1768793">
                  <a:moveTo>
                    <a:pt x="259715" y="0"/>
                  </a:moveTo>
                  <a:cubicBezTo>
                    <a:pt x="12065" y="619125"/>
                    <a:pt x="0" y="1208722"/>
                    <a:pt x="223520" y="176879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033962" y="5613082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80010" y="105728"/>
                  </a:moveTo>
                  <a:lnTo>
                    <a:pt x="0" y="35243"/>
                  </a:lnTo>
                  <a:lnTo>
                    <a:pt x="885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241608" y="3950018"/>
              <a:ext cx="259398" cy="1768792"/>
            </a:xfrm>
            <a:custGeom>
              <a:avLst/>
              <a:gdLst/>
              <a:ahLst/>
              <a:cxnLst/>
              <a:rect l="l" t="t" r="r" b="b"/>
              <a:pathLst>
                <a:path w="259398" h="1768792">
                  <a:moveTo>
                    <a:pt x="0" y="1768792"/>
                  </a:moveTo>
                  <a:cubicBezTo>
                    <a:pt x="247650" y="1149668"/>
                    <a:pt x="259398" y="560070"/>
                    <a:pt x="35243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233035" y="3861435"/>
              <a:ext cx="87630" cy="105728"/>
            </a:xfrm>
            <a:custGeom>
              <a:avLst/>
              <a:gdLst/>
              <a:ahLst/>
              <a:cxnLst/>
              <a:rect l="l" t="t" r="r" b="b"/>
              <a:pathLst>
                <a:path w="87630" h="105728">
                  <a:moveTo>
                    <a:pt x="8572" y="0"/>
                  </a:moveTo>
                  <a:lnTo>
                    <a:pt x="87630" y="70485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805112" y="5878830"/>
              <a:ext cx="1953578" cy="9525"/>
            </a:xfrm>
            <a:custGeom>
              <a:avLst/>
              <a:gdLst/>
              <a:ahLst/>
              <a:cxnLst/>
              <a:rect l="l" t="t" r="r" b="b"/>
              <a:pathLst>
                <a:path w="1953578" h="9525">
                  <a:moveTo>
                    <a:pt x="195357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709862" y="58312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27998" y="175069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89295" y="175069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24062" y="354139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11090" y="354139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6272" y="460629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71662" y="571881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758690" y="571881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27058" y="18364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88355" y="18364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23122" y="36271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10150" y="36271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9904" y="46910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61578" y="58045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就绪挂起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48606" y="58045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等待挂起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96540" y="278892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22537" y="28236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463165" y="263842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489162" y="26731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剥夺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12945" y="181832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38942" y="18530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949065" y="2713672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66959" y="27484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等待事件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447098" y="3609022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464992" y="3642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事件发生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393508" y="415099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418552" y="41848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398270" y="522255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423314" y="52573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878330" y="469773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904327" y="47315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377440" y="469773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403437" y="47315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换入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765358" y="469773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91354" y="47315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264468" y="469773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90464" y="47315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换入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447098" y="5786438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464992" y="58202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事件发生</a:t>
              </a:r>
            </a:p>
          </p:txBody>
        </p:sp>
      </p:grpSp>
      <p:grpSp>
        <p:nvGrpSpPr>
          <p:cNvPr id="84" name="c2-card-1"/>
          <p:cNvGrpSpPr/>
          <p:nvPr/>
        </p:nvGrpSpPr>
        <p:grpSpPr>
          <a:xfrm>
            <a:off x="7114222" y="1524000"/>
            <a:ext cx="4544378" cy="2804160"/>
            <a:chOff x="7114222" y="1524000"/>
            <a:chExt cx="4544378" cy="2804160"/>
          </a:xfrm>
        </p:grpSpPr>
        <p:sp>
          <p:nvSpPr>
            <p:cNvPr id="70" name="Rectangle 70"/>
            <p:cNvSpPr/>
            <p:nvPr/>
          </p:nvSpPr>
          <p:spPr>
            <a:xfrm>
              <a:off x="7114222" y="1524000"/>
              <a:ext cx="4544378" cy="2804160"/>
            </a:xfrm>
            <a:prstGeom prst="roundRect">
              <a:avLst>
                <a:gd name="adj" fmla="val 47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23748" y="1657350"/>
              <a:ext cx="47625" cy="25374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61872" y="1733550"/>
              <a:ext cx="255079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80789" y="1769269"/>
              <a:ext cx="2512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UNIX 的中级调度（0 号进程 sched）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361872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23722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62862" y="2110740"/>
              <a:ext cx="3641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要把 SRUN 状态、在外存的进程移入内存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361872" y="2432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23722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62862" y="244602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内存不够时，先移出 SWAIT 和 SSTOP 状态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7361872" y="30537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423722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662862" y="3067050"/>
              <a:ext cx="3577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还不够，再移出 SSLEEP 和 SRUN 状态的进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55396" y="368474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条件：待移入进程在外存的时间 ≥ 3 秒，待移出进程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在内存的时间 ≥ 2 秒，防止进程刚换入又被换出。</a:t>
              </a:r>
            </a:p>
          </p:txBody>
        </p:sp>
      </p:grpSp>
      <p:grpSp>
        <p:nvGrpSpPr>
          <p:cNvPr id="91" name="c2-callout-2"/>
          <p:cNvGrpSpPr/>
          <p:nvPr/>
        </p:nvGrpSpPr>
        <p:grpSpPr>
          <a:xfrm>
            <a:off x="7114222" y="4518660"/>
            <a:ext cx="4544378" cy="1059180"/>
            <a:chOff x="7114222" y="4518660"/>
            <a:chExt cx="4544378" cy="1059180"/>
          </a:xfrm>
        </p:grpSpPr>
        <p:sp>
          <p:nvSpPr>
            <p:cNvPr id="85" name="Rectangle 85"/>
            <p:cNvSpPr/>
            <p:nvPr/>
          </p:nvSpPr>
          <p:spPr>
            <a:xfrm>
              <a:off x="7114222" y="451866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19010" y="4948238"/>
              <a:ext cx="200026" cy="200026"/>
              <a:chOff x="7319010" y="4948238"/>
              <a:chExt cx="200026" cy="20002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319010" y="49482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419023" y="5014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407910" y="50482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620952" y="466725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挂起状态的进程在外存；等待挂起的进程等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到事件发生，变为就绪挂起，仍需换入才能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被调度。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13491" cy="909257"/>
            <a:chOff x="520446" y="342900"/>
            <a:chExt cx="88134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调度时机、过程与多级调度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134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作业的五种状态，由 SPOOLing 和两个作业调度程序推动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666750" y="1762125"/>
            <a:ext cx="10858500" cy="438150"/>
            <a:chOff x="666750" y="1762125"/>
            <a:chExt cx="10858500" cy="438150"/>
          </a:xfrm>
        </p:grpSpPr>
        <p:sp>
          <p:nvSpPr>
            <p:cNvPr id="7" name="Freeform 7"/>
            <p:cNvSpPr/>
            <p:nvPr/>
          </p:nvSpPr>
          <p:spPr>
            <a:xfrm>
              <a:off x="1636395" y="1981200"/>
              <a:ext cx="1398270" cy="9525"/>
            </a:xfrm>
            <a:custGeom>
              <a:avLst/>
              <a:gdLst/>
              <a:ahLst/>
              <a:cxnLst/>
              <a:rect l="l" t="t" r="r" b="b"/>
              <a:pathLst>
                <a:path w="1398270" h="9525">
                  <a:moveTo>
                    <a:pt x="0" y="0"/>
                  </a:moveTo>
                  <a:lnTo>
                    <a:pt x="139827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34665" y="19288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08132" y="1981200"/>
              <a:ext cx="1398270" cy="9525"/>
            </a:xfrm>
            <a:custGeom>
              <a:avLst/>
              <a:gdLst/>
              <a:ahLst/>
              <a:cxnLst/>
              <a:rect l="l" t="t" r="r" b="b"/>
              <a:pathLst>
                <a:path w="1398270" h="9525">
                  <a:moveTo>
                    <a:pt x="0" y="0"/>
                  </a:moveTo>
                  <a:lnTo>
                    <a:pt x="139827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506402" y="19288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580822" y="1981200"/>
              <a:ext cx="1398270" cy="9525"/>
            </a:xfrm>
            <a:custGeom>
              <a:avLst/>
              <a:gdLst/>
              <a:ahLst/>
              <a:cxnLst/>
              <a:rect l="l" t="t" r="r" b="b"/>
              <a:pathLst>
                <a:path w="1398270" h="9525">
                  <a:moveTo>
                    <a:pt x="0" y="0"/>
                  </a:moveTo>
                  <a:lnTo>
                    <a:pt x="139827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979092" y="19288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052560" y="1981200"/>
              <a:ext cx="1398270" cy="9525"/>
            </a:xfrm>
            <a:custGeom>
              <a:avLst/>
              <a:gdLst/>
              <a:ahLst/>
              <a:cxnLst/>
              <a:rect l="l" t="t" r="r" b="b"/>
              <a:pathLst>
                <a:path w="1398270" h="9525">
                  <a:moveTo>
                    <a:pt x="0" y="0"/>
                  </a:moveTo>
                  <a:lnTo>
                    <a:pt x="139827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450830" y="19288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1762125"/>
              <a:ext cx="96964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39440" y="1762125"/>
              <a:ext cx="9696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611178" y="1762125"/>
              <a:ext cx="96964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83868" y="1762125"/>
              <a:ext cx="9696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555605" y="1762125"/>
              <a:ext cx="96964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2782" y="1892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44519" y="1892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17209" y="1892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89899" y="1892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61637" y="1892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83092" y="1764982"/>
              <a:ext cx="100869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86330" y="1791652"/>
              <a:ext cx="1003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SPOOLing 输入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15790" y="1764982"/>
              <a:ext cx="88868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33802" y="1791652"/>
              <a:ext cx="85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 (1)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87528" y="1764982"/>
              <a:ext cx="88868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6492" y="1791652"/>
              <a:ext cx="85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 (2)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300210" y="1764982"/>
              <a:ext cx="100869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02495" y="1791652"/>
              <a:ext cx="1003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SPOOLing 输出</a:t>
              </a:r>
            </a:p>
          </p:txBody>
        </p:sp>
      </p:grpSp>
      <p:grpSp>
        <p:nvGrpSpPr>
          <p:cNvPr id="62" name="c1-table-2"/>
          <p:cNvGrpSpPr/>
          <p:nvPr/>
        </p:nvGrpSpPr>
        <p:grpSpPr>
          <a:xfrm>
            <a:off x="533400" y="2628900"/>
            <a:ext cx="11125200" cy="2692718"/>
            <a:chOff x="533400" y="2628900"/>
            <a:chExt cx="11125200" cy="2692718"/>
          </a:xfrm>
        </p:grpSpPr>
        <p:sp>
          <p:nvSpPr>
            <p:cNvPr id="34" name="Rectangle 34"/>
            <p:cNvSpPr/>
            <p:nvPr/>
          </p:nvSpPr>
          <p:spPr>
            <a:xfrm>
              <a:off x="533400" y="26289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2312" y="27646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36987" y="27646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28787" y="27646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转入该状态由谁完成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223" y="32132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76628" y="32132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作业正由输入机向输入井传送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1526" y="3213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5213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35261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36618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76628" y="36618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已在输入井中，尚未进入内存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1526" y="3661886"/>
              <a:ext cx="15674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输入进程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9709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" y="41105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76628" y="41105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已分解为进程，在内存中处理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1526" y="4110514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 (1)，即高级调度，是系统进程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4196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4243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" y="4559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76628" y="455914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处理完毕，结果在输出井中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1526" y="4559141"/>
              <a:ext cx="1038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 (2)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8682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1223" y="50087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976628" y="500872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结果正由输出井向打印机传送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71526" y="5008721"/>
              <a:ext cx="15674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输出进程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2628900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864042" y="26289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58940" y="26289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3" name="Rectangle 6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728335"/>
              <a:ext cx="9864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SPOOLing：Simultaneous Peripheral Operation On-Line。适合批作业调度的算法：FCFS、HPF、SJF、HRN；RR、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SRTN、FB 靠反复剥夺 CPU 起作用，不适合作业调度。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35240" cy="909257"/>
            <a:chOff x="520446" y="342900"/>
            <a:chExt cx="94352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调度时机、过程与多级调度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352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作业调度程序 (1) 选作业、建进程；(2) 做善后、唤醒等待者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4498708" cy="249364"/>
            <a:chOff x="526923" y="1545431"/>
            <a:chExt cx="4498708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4498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在后备作业集合中选择作业，并为其建立作业控制进程</a:t>
              </a:r>
            </a:p>
          </p:txBody>
        </p:sp>
      </p:grpSp>
      <p:grpSp>
        <p:nvGrpSpPr>
          <p:cNvPr id="43" name="c1-flow-2"/>
          <p:cNvGrpSpPr/>
          <p:nvPr/>
        </p:nvGrpSpPr>
        <p:grpSpPr>
          <a:xfrm>
            <a:off x="785812" y="2005965"/>
            <a:ext cx="5024438" cy="3498533"/>
            <a:chOff x="785812" y="2005965"/>
            <a:chExt cx="5024438" cy="3498533"/>
          </a:xfrm>
        </p:grpSpPr>
        <p:sp>
          <p:nvSpPr>
            <p:cNvPr id="9" name="Freeform 9"/>
            <p:cNvSpPr/>
            <p:nvPr/>
          </p:nvSpPr>
          <p:spPr>
            <a:xfrm>
              <a:off x="3888105" y="2306955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0" y="0"/>
                  </a:moveTo>
                  <a:lnTo>
                    <a:pt x="2809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9092" y="22545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36482" y="260794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84095" y="2646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88105" y="3051810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0" y="0"/>
                  </a:moveTo>
                  <a:lnTo>
                    <a:pt x="2809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69092" y="29994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336482" y="3351848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0" y="0"/>
                  </a:moveTo>
                  <a:lnTo>
                    <a:pt x="0" y="24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84095" y="3376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336482" y="4110990"/>
              <a:ext cx="9525" cy="105727"/>
            </a:xfrm>
            <a:custGeom>
              <a:avLst/>
              <a:gdLst/>
              <a:ahLst/>
              <a:cxnLst/>
              <a:rect l="l" t="t" r="r" b="b"/>
              <a:pathLst>
                <a:path w="9525" h="105727">
                  <a:moveTo>
                    <a:pt x="0" y="0"/>
                  </a:moveTo>
                  <a:lnTo>
                    <a:pt x="0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284095" y="42167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336482" y="4759642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284095" y="49615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85812" y="2005965"/>
              <a:ext cx="3102292" cy="601980"/>
            </a:xfrm>
            <a:custGeom>
              <a:avLst/>
              <a:gdLst/>
              <a:ahLst/>
              <a:cxnLst/>
              <a:rect l="l" t="t" r="r" b="b"/>
              <a:pathLst>
                <a:path w="3102292" h="601980">
                  <a:moveTo>
                    <a:pt x="1550670" y="0"/>
                  </a:moveTo>
                  <a:lnTo>
                    <a:pt x="3102292" y="300990"/>
                  </a:lnTo>
                  <a:lnTo>
                    <a:pt x="155067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73868" y="2087880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85812" y="2750820"/>
              <a:ext cx="3102292" cy="601027"/>
            </a:xfrm>
            <a:custGeom>
              <a:avLst/>
              <a:gdLst/>
              <a:ahLst/>
              <a:cxnLst/>
              <a:rect l="l" t="t" r="r" b="b"/>
              <a:pathLst>
                <a:path w="3102292" h="601027">
                  <a:moveTo>
                    <a:pt x="1550670" y="0"/>
                  </a:moveTo>
                  <a:lnTo>
                    <a:pt x="3102292" y="300990"/>
                  </a:lnTo>
                  <a:lnTo>
                    <a:pt x="1550670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73868" y="283273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5812" y="3481388"/>
              <a:ext cx="310229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5812" y="4321492"/>
              <a:ext cx="310229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5812" y="5066348"/>
              <a:ext cx="310229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41671" y="2217896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内存已有 n 道作业？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62792" y="22178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68438" y="29627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输入井中有后备作业？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62792" y="29627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8246" y="3598069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访问作业控制表，按作业调度算法选一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个后备作业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59822" y="4451509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作业状态标志为“执行”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340" y="51963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为该作业建立作业控制进程，回到开头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966210" y="209073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04500" y="21174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365058" y="25869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388298" y="26136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66210" y="283559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04500" y="28622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65058" y="332517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88298" y="33518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45" name="c2-text-1"/>
          <p:cNvGrpSpPr/>
          <p:nvPr/>
        </p:nvGrpSpPr>
        <p:grpSpPr>
          <a:xfrm>
            <a:off x="6241923" y="1545431"/>
            <a:ext cx="3120199" cy="249364"/>
            <a:chOff x="6241923" y="1545431"/>
            <a:chExt cx="3120199" cy="249364"/>
          </a:xfrm>
        </p:grpSpPr>
        <p:sp>
          <p:nvSpPr>
            <p:cNvPr id="44" name="TextBox 44"/>
            <p:cNvSpPr txBox="1"/>
            <p:nvPr/>
          </p:nvSpPr>
          <p:spPr>
            <a:xfrm>
              <a:off x="6241923" y="1545431"/>
              <a:ext cx="3120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对终止的作业控制进程进行善后处理</a:t>
              </a:r>
            </a:p>
          </p:txBody>
        </p:sp>
      </p:grpSp>
      <p:grpSp>
        <p:nvGrpSpPr>
          <p:cNvPr id="86" name="c2-flow-2"/>
          <p:cNvGrpSpPr/>
          <p:nvPr/>
        </p:nvGrpSpPr>
        <p:grpSpPr>
          <a:xfrm>
            <a:off x="6500812" y="2005965"/>
            <a:ext cx="5024438" cy="3689033"/>
            <a:chOff x="6500812" y="2005965"/>
            <a:chExt cx="5024438" cy="3689033"/>
          </a:xfrm>
        </p:grpSpPr>
        <p:sp>
          <p:nvSpPr>
            <p:cNvPr id="46" name="Freeform 46"/>
            <p:cNvSpPr/>
            <p:nvPr/>
          </p:nvSpPr>
          <p:spPr>
            <a:xfrm>
              <a:off x="9603105" y="2306955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0" y="0"/>
                  </a:moveTo>
                  <a:lnTo>
                    <a:pt x="2809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884092" y="22545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051482" y="2607945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0"/>
                  </a:moveTo>
                  <a:lnTo>
                    <a:pt x="0" y="238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999095" y="26317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051482" y="3366135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999095" y="3472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051482" y="4015740"/>
              <a:ext cx="9525" cy="120015"/>
            </a:xfrm>
            <a:custGeom>
              <a:avLst/>
              <a:gdLst/>
              <a:ahLst/>
              <a:cxnLst/>
              <a:rect l="l" t="t" r="r" b="b"/>
              <a:pathLst>
                <a:path w="9525" h="120015">
                  <a:moveTo>
                    <a:pt x="0" y="0"/>
                  </a:moveTo>
                  <a:lnTo>
                    <a:pt x="0" y="120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999095" y="41357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603105" y="4540568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0" y="0"/>
                  </a:moveTo>
                  <a:lnTo>
                    <a:pt x="2809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884092" y="44881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051482" y="4771072"/>
              <a:ext cx="9525" cy="70485"/>
            </a:xfrm>
            <a:custGeom>
              <a:avLst/>
              <a:gdLst/>
              <a:ahLst/>
              <a:cxnLst/>
              <a:rect l="l" t="t" r="r" b="b"/>
              <a:pathLst>
                <a:path w="9525" h="70485">
                  <a:moveTo>
                    <a:pt x="0" y="7048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999095" y="47710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603105" y="5285422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0" y="0"/>
                  </a:moveTo>
                  <a:lnTo>
                    <a:pt x="2809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884092" y="52330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6500812" y="2005965"/>
              <a:ext cx="3102293" cy="601980"/>
            </a:xfrm>
            <a:custGeom>
              <a:avLst/>
              <a:gdLst/>
              <a:ahLst/>
              <a:cxnLst/>
              <a:rect l="l" t="t" r="r" b="b"/>
              <a:pathLst>
                <a:path w="3102293" h="601980">
                  <a:moveTo>
                    <a:pt x="1550670" y="0"/>
                  </a:moveTo>
                  <a:lnTo>
                    <a:pt x="3102293" y="300990"/>
                  </a:lnTo>
                  <a:lnTo>
                    <a:pt x="155067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988868" y="2087880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500812" y="2736532"/>
              <a:ext cx="310229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500812" y="3577590"/>
              <a:ext cx="310229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6500812" y="4240530"/>
              <a:ext cx="3102293" cy="601028"/>
            </a:xfrm>
            <a:custGeom>
              <a:avLst/>
              <a:gdLst/>
              <a:ahLst/>
              <a:cxnLst/>
              <a:rect l="l" t="t" r="r" b="b"/>
              <a:pathLst>
                <a:path w="3102293" h="601028">
                  <a:moveTo>
                    <a:pt x="1550670" y="0"/>
                  </a:moveTo>
                  <a:lnTo>
                    <a:pt x="3102293" y="300038"/>
                  </a:lnTo>
                  <a:lnTo>
                    <a:pt x="1550670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988868" y="432149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500812" y="4875848"/>
              <a:ext cx="3102293" cy="819150"/>
            </a:xfrm>
            <a:custGeom>
              <a:avLst/>
              <a:gdLst/>
              <a:ahLst/>
              <a:cxnLst/>
              <a:rect l="l" t="t" r="r" b="b"/>
              <a:pathLst>
                <a:path w="3102293" h="819150">
                  <a:moveTo>
                    <a:pt x="1550670" y="0"/>
                  </a:moveTo>
                  <a:lnTo>
                    <a:pt x="3102293" y="409575"/>
                  </a:lnTo>
                  <a:lnTo>
                    <a:pt x="155067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988868" y="4971098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97281" y="221789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有终止的作业控制进程？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77792" y="22178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3246" y="2853214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取一个终止的作业控制进程，撤销它并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做善后处理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88665" y="3707606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对应作业状态改为“完成”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61898" y="4451509"/>
              <a:ext cx="1779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 (1) 在等待？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65159" y="4451509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唤醒作业调度 (1)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81838" y="5086826"/>
              <a:ext cx="19392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输出在等作业完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93337" y="5086826"/>
              <a:ext cx="11264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 SPOOLing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681210" y="209073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19501" y="21174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80058" y="258032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103298" y="260699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681210" y="432435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719501" y="435102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080058" y="47663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03298" y="47929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681210" y="506920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719501" y="5095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9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7" name="Rectangle 8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0130" y="599122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两个程序都是循环执行的系统进程：条件不满足就等待，被唤醒后回到开头重新判断。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实时调度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任务有截止期，调度的目标是让每个任务都按时完成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实时任务与可调度条件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6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3.4.1 最早截止期调度 EDF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01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3.4.2 速率单调调度 RMS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课后作业：三个周期任务的分析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实时任务：有明确时间约束的计算任务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937385"/>
            <a:chOff x="533400" y="1524000"/>
            <a:chExt cx="5626418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8117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082" y="1769269"/>
              <a:ext cx="1677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3.4 实时任务与实时调度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实时任务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：具有明确时间约束的计算任务，如某时刻前必须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开始处理、某时刻前必须处理完毕。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实时调度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：合理安排就绪实时任务的执行次序，满足每个实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时任务的时间约束条件。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651885"/>
            <a:ext cx="5626418" cy="2697481"/>
            <a:chOff x="533400" y="3651885"/>
            <a:chExt cx="5626418" cy="2697481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67117" y="37876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0802" y="37876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4236244"/>
              <a:ext cx="927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硬实时 hard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real-time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7190" y="434959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必须满足任务截止期要求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771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77583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911566"/>
              <a:ext cx="927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软实时 soft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real-time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7190" y="50249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期望满足截止期要求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447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5868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67190" y="55868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每隔固定时间发生一次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8959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90073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60355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67190" y="603551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由随机事件触发，发生时刻不确定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51885"/>
              <a:ext cx="5626418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54605" y="365188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kv-1"/>
          <p:cNvGrpSpPr/>
          <p:nvPr/>
        </p:nvGrpSpPr>
        <p:grpSpPr>
          <a:xfrm>
            <a:off x="6456998" y="1548765"/>
            <a:ext cx="5201602" cy="2493645"/>
            <a:chOff x="6456998" y="1548765"/>
            <a:chExt cx="5201602" cy="2493645"/>
          </a:xfrm>
        </p:grpSpPr>
        <p:sp>
          <p:nvSpPr>
            <p:cNvPr id="33" name="TextBox 33"/>
            <p:cNvSpPr txBox="1"/>
            <p:nvPr/>
          </p:nvSpPr>
          <p:spPr>
            <a:xfrm>
              <a:off x="6456998" y="1548765"/>
              <a:ext cx="1124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Ready time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2015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就绪时间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56998" y="1988820"/>
              <a:ext cx="1791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Starting deadline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20150" y="1988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开始截止期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3088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6998" y="2428875"/>
              <a:ext cx="1654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Processing time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20150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处理时间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748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6998" y="2868930"/>
              <a:ext cx="2014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Completion deadline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20150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完成截止期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1889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56998" y="3308985"/>
              <a:ext cx="1771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Occurring period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20150" y="33089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发生周期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6290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56998" y="3749040"/>
              <a:ext cx="2174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Occurring frequency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20150" y="37490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发生频率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464618" y="4173855"/>
            <a:ext cx="5193982" cy="1059180"/>
            <a:chOff x="6464618" y="4173855"/>
            <a:chExt cx="5193982" cy="1059180"/>
          </a:xfrm>
        </p:grpSpPr>
        <p:sp>
          <p:nvSpPr>
            <p:cNvPr id="51" name="Rectangle 51"/>
            <p:cNvSpPr/>
            <p:nvPr/>
          </p:nvSpPr>
          <p:spPr>
            <a:xfrm>
              <a:off x="6464618" y="417385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4603433"/>
              <a:ext cx="200026" cy="200026"/>
              <a:chOff x="6669405" y="4603433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46034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46701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58305" y="47034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348" y="4322445"/>
              <a:ext cx="4063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本章例题中，周期为 T 的任务第 k 个实例在 (k−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1)T 时刻就绪，完成截止期取下一周期开始，即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kT。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7749" cy="909257"/>
            <a:chOff x="520446" y="342900"/>
            <a:chExt cx="8227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7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周期性实时任务可调度的必要条件：总利用率不超过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710815"/>
            <a:chOff x="533400" y="1524000"/>
            <a:chExt cx="5193982" cy="2710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710815"/>
            </a:xfrm>
            <a:prstGeom prst="roundRect">
              <a:avLst>
                <a:gd name="adj" fmla="val 49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441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必要条件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 为任务 Pi 的处理时间，Ti 为 Pi 的发生周期，任务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P1, …, Pm 可调度的必要条件是：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736782" cy="767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4573" y="3591401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Ci/Ti 是 Pi 占用 CPU 的时间比例，总和超过 1 时 CPU 无论如何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都忙不过来。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425315"/>
            <a:ext cx="5193982" cy="1937385"/>
            <a:chOff x="533400" y="4425315"/>
            <a:chExt cx="5193982" cy="1937385"/>
          </a:xfrm>
        </p:grpSpPr>
        <p:sp>
          <p:nvSpPr>
            <p:cNvPr id="15" name="Rectangle 15"/>
            <p:cNvSpPr/>
            <p:nvPr/>
          </p:nvSpPr>
          <p:spPr>
            <a:xfrm>
              <a:off x="533400" y="4425315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55866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634865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742" y="467058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5012055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T1、T2、T3 = 100、200、500 ms；C1、C2、C3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50、30、100 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5633085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C1/T1 + C2/T2 + C3/T3 = 0.5 + 0.15 + 0.2 = 0.85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1，满足必要条件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026467" y="1524000"/>
            <a:ext cx="5632133" cy="1642587"/>
            <a:chOff x="6026467" y="1524000"/>
            <a:chExt cx="5632133" cy="1642587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23271" y="1659731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 2 进程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4414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就绪时间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299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1064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完成截止期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6457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发生周期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33204" y="21083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4138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7984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4666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1442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33204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138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7984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4666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1442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4660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23341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31926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56798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26467" y="2946559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10/20 + 25/50 = 1，满足必要条件（不考虑调度开销）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6026467" y="3312795"/>
            <a:ext cx="5632133" cy="2090262"/>
            <a:chOff x="6026467" y="3312795"/>
            <a:chExt cx="5632133" cy="2090262"/>
          </a:xfrm>
        </p:grpSpPr>
        <p:sp>
          <p:nvSpPr>
            <p:cNvPr id="47" name="Rectangle 47"/>
            <p:cNvSpPr/>
            <p:nvPr/>
          </p:nvSpPr>
          <p:spPr>
            <a:xfrm>
              <a:off x="6032182" y="3312795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23927" y="34475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83577" y="344757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26514" y="344757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8499" y="344757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10484" y="344757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00094" y="344757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89704" y="344757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79314" y="344757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23927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41334" y="38962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36886" y="38962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78871" y="38962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20856" y="38962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10466" y="38962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47462" y="38962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189686" y="38962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42052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32182" y="42100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23927" y="43457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93948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36886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78871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20856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10466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500076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89686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32182" y="46539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237770" y="47944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截止期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93948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36886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78871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120856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63079" y="479440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00076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142299" y="479440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032182" y="3312795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969442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611428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254365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896350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539288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275570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917555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026467" y="5183029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2 在 0～100ms 内的任务实例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0900" cy="909257"/>
            <a:chOff x="520446" y="342900"/>
            <a:chExt cx="729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EDF 最早截止期优先：截止期最早的任务先运行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1365885"/>
            <a:chOff x="533400" y="1524000"/>
            <a:chExt cx="4977765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82416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3288" y="1769269"/>
              <a:ext cx="2838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3.4.1 EDF（Earliest Deadline First）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优先选择截止期最早的实时任务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可抢先：新到达任务的截止期更早时，立即抢占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080385"/>
            <a:ext cx="4977765" cy="2805112"/>
            <a:chOff x="533400" y="3080385"/>
            <a:chExt cx="4977765" cy="2805112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4977765" cy="2805112"/>
            </a:xfrm>
            <a:prstGeom prst="roundRect">
              <a:avLst>
                <a:gd name="adj" fmla="val 47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13735"/>
              <a:ext cx="47625" cy="25384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2899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8457" y="33256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可调度条件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667125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可以证明，对 EDF 来说，下式是可调度的充分条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8"/>
                <p:cNvSpPr txBox="1">
                  <a:spLocks noGrp="1"/>
                </p:cNvSpPr>
                <p:nvPr/>
              </p:nvSpPr>
              <p:spPr>
                <a:xfrm>
                  <a:off x="781050" y="4263390"/>
                  <a:ext cx="4520565" cy="767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74573" y="5147786"/>
              <a:ext cx="369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它同时也是必要条件，所以对 EDF 是充要条件。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815965" y="1524000"/>
            <a:ext cx="5842635" cy="1602105"/>
            <a:chOff x="5815965" y="1524000"/>
            <a:chExt cx="5842635" cy="1602105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2549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5995" y="2110740"/>
              <a:ext cx="5063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原课件写“在不可调度的条件下，EDF 可使错过截止期任务最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小化”。准确的结论是：EDF 使最大延迟（完成时间减截止期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的最大值）最小，错过截止期的任务个数不一定最少。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5815965" y="3316605"/>
            <a:ext cx="5842635" cy="2568892"/>
            <a:chOff x="5815965" y="3316605"/>
            <a:chExt cx="5842635" cy="2568892"/>
          </a:xfrm>
        </p:grpSpPr>
        <p:sp>
          <p:nvSpPr>
            <p:cNvPr id="30" name="Rectangle 30"/>
            <p:cNvSpPr/>
            <p:nvPr/>
          </p:nvSpPr>
          <p:spPr>
            <a:xfrm>
              <a:off x="5815965" y="3316605"/>
              <a:ext cx="5842635" cy="2568892"/>
            </a:xfrm>
            <a:prstGeom prst="roundRect">
              <a:avLst>
                <a:gd name="adj" fmla="val 5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3449955"/>
              <a:ext cx="47625" cy="23021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63615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53823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5995" y="3903345"/>
              <a:ext cx="5082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J1、J2、J3 都在 0 时刻到达，处理时间都是 2，截止期分别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2、3、4：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69330" y="45872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27445" y="452437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EDF 顺序 J1、J2、J3：完成于 2、4、6，J2、J3 误期，共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69330" y="52082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27445" y="5145405"/>
              <a:ext cx="4568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 J1、J3、J2：完成于 2、4、6，只有 J2 误期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7138" y="5477351"/>
              <a:ext cx="4117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最大延迟：EDF 为 2，另一顺序为 3，EDF 仍然更小。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99298" cy="909257"/>
            <a:chOff x="520446" y="342900"/>
            <a:chExt cx="94992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992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EDF 例题：A（周期 20，处理 10）与 B（周期 50，处理 25）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graph-1"/>
          <p:cNvGrpSpPr/>
          <p:nvPr/>
        </p:nvGrpSpPr>
        <p:grpSpPr>
          <a:xfrm>
            <a:off x="603494" y="1562100"/>
            <a:ext cx="10997956" cy="730187"/>
            <a:chOff x="603494" y="1562100"/>
            <a:chExt cx="10997956" cy="730187"/>
          </a:xfrm>
        </p:grpSpPr>
        <p:sp>
          <p:nvSpPr>
            <p:cNvPr id="7" name="Freeform 7"/>
            <p:cNvSpPr/>
            <p:nvPr/>
          </p:nvSpPr>
          <p:spPr>
            <a:xfrm>
              <a:off x="647700" y="19907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506200" y="19431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4770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2593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80416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82390" y="1562100"/>
              <a:ext cx="1617345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99735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577965" y="1562100"/>
              <a:ext cx="539115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1708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195310" y="1562100"/>
              <a:ext cx="215646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35177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214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6037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3860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86394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34182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42854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152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68872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8621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494" y="2086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4285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2108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9931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7754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16658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5577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94888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3400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223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9046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6869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08051" y="20869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</p:grpSp>
      <p:grpSp>
        <p:nvGrpSpPr>
          <p:cNvPr id="69" name="c1-table-2"/>
          <p:cNvGrpSpPr/>
          <p:nvPr/>
        </p:nvGrpSpPr>
        <p:grpSpPr>
          <a:xfrm>
            <a:off x="533400" y="2514600"/>
            <a:ext cx="11125200" cy="2692718"/>
            <a:chOff x="533400" y="2514600"/>
            <a:chExt cx="11125200" cy="2692718"/>
          </a:xfrm>
        </p:grpSpPr>
        <p:sp>
          <p:nvSpPr>
            <p:cNvPr id="41" name="Rectangle 41"/>
            <p:cNvSpPr/>
            <p:nvPr/>
          </p:nvSpPr>
          <p:spPr>
            <a:xfrm>
              <a:off x="533400" y="25146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0869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51148" y="26503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事件（括号内为截止期）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32899" y="2650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3427" y="3098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53743" y="3098959"/>
              <a:ext cx="22400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A1(20) 与 B1(50) 同时到达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2603" y="3098959"/>
              <a:ext cx="784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先运行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4070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34118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83672" y="35475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53743" y="3547586"/>
              <a:ext cx="3046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A2(40) 到达，早于正在运行的 B1(50)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72603" y="3547586"/>
              <a:ext cx="867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抢占 B1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38566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3672" y="39962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53743" y="3996214"/>
              <a:ext cx="2185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A3(60) 到达，晚于 B1(50)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72603" y="3996214"/>
              <a:ext cx="1542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 继续，45 时完成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305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3100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83672" y="44448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53743" y="4444841"/>
              <a:ext cx="2285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B2(100) 到达，晚于 A3(60)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72603" y="4444841"/>
              <a:ext cx="1542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继续，55 时完成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47539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3672" y="48944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53743" y="4894421"/>
              <a:ext cx="2285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A4(80) 到达，早于 B2(100)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72603" y="4894421"/>
              <a:ext cx="867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A4 抢占 B2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2514600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641158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760018" y="25146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0" name="Rectangle 7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04863" y="59489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728335"/>
              <a:ext cx="9883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80 时 A5(100) 到达，与 B2 截止期相同，B2 继续到 90，A5 于 100 完成。所有实例按时完成，利用率恰为 1，CPU 没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有空闲。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80507" cy="909257"/>
            <a:chOff x="520446" y="342900"/>
            <a:chExt cx="6680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80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 速率单调调度：周期越短，优先级越高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86915"/>
            <a:chOff x="533400" y="1524000"/>
            <a:chExt cx="5410200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12229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3176" y="1769269"/>
              <a:ext cx="3158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3.4.2 RMS（Rate Monotonic Scheduling）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815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1973 年由 Liu 和 Layland 提出，面向周期性实时任务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按周期分配固定优先级：发生周期最短（频度最高）的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任务优先级最高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高优先级任务到达时抢占低优先级任务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701415"/>
            <a:ext cx="5410200" cy="2505075"/>
            <a:chOff x="533400" y="3701415"/>
            <a:chExt cx="5410200" cy="2505075"/>
          </a:xfrm>
        </p:grpSpPr>
        <p:sp>
          <p:nvSpPr>
            <p:cNvPr id="18" name="Rectangle 18"/>
            <p:cNvSpPr/>
            <p:nvPr/>
          </p:nvSpPr>
          <p:spPr>
            <a:xfrm>
              <a:off x="533400" y="3701415"/>
              <a:ext cx="5410200" cy="2505075"/>
            </a:xfrm>
            <a:prstGeom prst="roundRect">
              <a:avLst>
                <a:gd name="adj" fmla="val 5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34765"/>
              <a:ext cx="47625" cy="22383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91096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2853" y="394668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可调度条件（充分条件）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20"/>
                <p:cNvSpPr txBox="1">
                  <a:spLocks noGrp="1"/>
                </p:cNvSpPr>
                <p:nvPr/>
              </p:nvSpPr>
              <p:spPr>
                <a:xfrm>
                  <a:off x="781050" y="4263390"/>
                  <a:ext cx="4953000" cy="7086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Ellipse 23"/>
            <p:cNvSpPr/>
            <p:nvPr/>
          </p:nvSpPr>
          <p:spPr>
            <a:xfrm>
              <a:off x="786765" y="51549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092065"/>
              <a:ext cx="2452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上限：RMS 一定可调度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54902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5427345"/>
              <a:ext cx="3567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上限 &lt; U ≤ 1：说不准，要画甘特图检查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58254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5762625"/>
              <a:ext cx="332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&gt; 1：违反必要条件，一定不可调度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242685" y="1524000"/>
            <a:ext cx="5415915" cy="1393031"/>
            <a:chOff x="6242685" y="1524000"/>
            <a:chExt cx="5415915" cy="1393031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793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7420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048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6201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7354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507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9660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5374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7657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6330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7483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8636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9789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0942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5516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9618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0771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1924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3077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84230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2685" y="2496979"/>
              <a:ext cx="5025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→ ∞ 时上限趋于 ln 2 ≈ 0.693。原课件三位小数取的是截断值 0.779、0.756、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0.734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248400" y="3063240"/>
            <a:ext cx="5410200" cy="3143250"/>
            <a:chOff x="6248400" y="3063240"/>
            <a:chExt cx="5410200" cy="3143250"/>
          </a:xfrm>
        </p:grpSpPr>
        <p:sp>
          <p:nvSpPr>
            <p:cNvPr id="54" name="Rectangle 54"/>
            <p:cNvSpPr/>
            <p:nvPr/>
          </p:nvSpPr>
          <p:spPr>
            <a:xfrm>
              <a:off x="6248400" y="3063240"/>
              <a:ext cx="5410200" cy="3143250"/>
            </a:xfrm>
            <a:prstGeom prst="roundRect">
              <a:avLst>
                <a:gd name="adj" fmla="val 424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57950" y="3272790"/>
              <a:ext cx="1293495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04818" y="3308509"/>
              <a:ext cx="119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RMS 与 EDF 比较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63665" y="37128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21780" y="364998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RMS 的可调度条件强于 EDF：上限小于 1，任务越多越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接近 0.693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63665" y="433387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21780" y="4271010"/>
              <a:ext cx="3175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RMS 优先级固定，实现比 EDF 简单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3665" y="46691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1780" y="46062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条件是充分的：不满足时不一定不可调度，要实际排一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遍；只满足 Σ ≤ 1 时 RMS 可能误期，见下一页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0709" cy="909257"/>
            <a:chOff x="520446" y="342900"/>
            <a:chExt cx="87607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07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 A、B 改用 RMS：A 总是优先，B1 到 50 时还差 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603494" y="1562100"/>
            <a:ext cx="10997956" cy="730187"/>
            <a:chOff x="603494" y="1562100"/>
            <a:chExt cx="10997956" cy="730187"/>
          </a:xfrm>
        </p:grpSpPr>
        <p:sp>
          <p:nvSpPr>
            <p:cNvPr id="7" name="Freeform 7"/>
            <p:cNvSpPr/>
            <p:nvPr/>
          </p:nvSpPr>
          <p:spPr>
            <a:xfrm>
              <a:off x="647700" y="19907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506200" y="19431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4770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2593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80416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8239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6062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38850" y="1562100"/>
              <a:ext cx="539115" cy="381000"/>
            </a:xfrm>
            <a:prstGeom prst="roundRect">
              <a:avLst>
                <a:gd name="adj" fmla="val 10000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577965" y="1562100"/>
              <a:ext cx="539115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1708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19531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27354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351770" y="15621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214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6037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3860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1683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9506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03739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2854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152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2975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798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86217" y="16783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494" y="2086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4285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2108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9931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7754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5577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94888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400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1223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9046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68693" y="2086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08051" y="20869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</p:grpSp>
      <p:grpSp>
        <p:nvGrpSpPr>
          <p:cNvPr id="60" name="c1-compare-2"/>
          <p:cNvGrpSpPr/>
          <p:nvPr/>
        </p:nvGrpSpPr>
        <p:grpSpPr>
          <a:xfrm>
            <a:off x="533400" y="2514600"/>
            <a:ext cx="11125200" cy="1367790"/>
            <a:chOff x="533400" y="2514600"/>
            <a:chExt cx="11125200" cy="1367790"/>
          </a:xfrm>
        </p:grpSpPr>
        <p:sp>
          <p:nvSpPr>
            <p:cNvPr id="44" name="Rectangle 44"/>
            <p:cNvSpPr/>
            <p:nvPr/>
          </p:nvSpPr>
          <p:spPr>
            <a:xfrm>
              <a:off x="533400" y="251460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264795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73430" y="274891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EDF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6765" y="31661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880" y="3103245"/>
              <a:ext cx="3720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利用率 10/20 + 25/50 = 1 ≤ 1，满足条件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86765" y="35013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4880" y="34385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上一页的调度中所有实例按时完成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67450" y="251460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76975" y="264795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07480" y="2748915"/>
              <a:ext cx="1439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RMS（可抢占）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20815" y="31661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78930" y="3103245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利用率 1 &gt; 2(2^(1/2) − 1) ≈ 0.828，条件不满足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20815" y="35013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78930" y="3438525"/>
              <a:ext cx="4355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实际排出来 B1 误期（红色段在截止期 50 之后）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934075" y="303657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04415" y="31327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7" name="c1-callout-3"/>
          <p:cNvGrpSpPr/>
          <p:nvPr/>
        </p:nvGrpSpPr>
        <p:grpSpPr>
          <a:xfrm>
            <a:off x="533400" y="4072890"/>
            <a:ext cx="11125200" cy="533400"/>
            <a:chOff x="533400" y="407289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407289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4239578"/>
              <a:ext cx="200026" cy="200025"/>
              <a:chOff x="738188" y="4239578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42395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42840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43951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4234815"/>
              <a:ext cx="10362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的周期短、优先级高，每 20ms 抢占一次 B。截止期 50 之前 B1 只分到 10–20、30–40 两段共 20ms，还差 5ms。</a:t>
              </a:r>
            </a:p>
          </p:txBody>
        </p:sp>
      </p:grpSp>
      <p:grpSp>
        <p:nvGrpSpPr>
          <p:cNvPr id="73" name="c1-card-4"/>
          <p:cNvGrpSpPr/>
          <p:nvPr/>
        </p:nvGrpSpPr>
        <p:grpSpPr>
          <a:xfrm>
            <a:off x="533400" y="4796790"/>
            <a:ext cx="11125200" cy="1316355"/>
            <a:chOff x="533400" y="4796790"/>
            <a:chExt cx="11125200" cy="1316355"/>
          </a:xfrm>
        </p:grpSpPr>
        <p:sp>
          <p:nvSpPr>
            <p:cNvPr id="68" name="Rectangle 68"/>
            <p:cNvSpPr/>
            <p:nvPr/>
          </p:nvSpPr>
          <p:spPr>
            <a:xfrm>
              <a:off x="533400" y="4796790"/>
              <a:ext cx="11125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493014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81050" y="50063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1258" y="50420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3430" y="5383530"/>
              <a:ext cx="10264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RMS 是“非剥夺式”。Liu 和 Layland（1973）的 RMS 是可抢占的固定优先级调度，上述条件只在可抢占时成立。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非剥夺时，A（T = 10，C = 1）、B（T = 100，C = 20）利用率仅 0.3，A2 仍会误期。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79222" cy="909257"/>
            <a:chOff x="520446" y="342900"/>
            <a:chExt cx="88792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792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 例题：三个任务的利用率 0.752，不超过上限 0.780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70388" cy="597598"/>
            <a:chOff x="525399" y="1550194"/>
            <a:chExt cx="10470388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70388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A（T = 100，C = 20）、B（T = 150，C = 40）、C（T = 350，C = 100）。20/100 + 40/150 + 100/350 ≈ 0.2 + 0.267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+ 0.286 ≈ 0.752 ≤ 3(2^(1/3) − 1) ≈ 0.780，可调度。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923" y="2278856"/>
            <a:ext cx="7152817" cy="249364"/>
            <a:chOff x="526923" y="2278856"/>
            <a:chExt cx="7152817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278856"/>
              <a:ext cx="7152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可抢占的 RMS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：C1 在 100、150、200 分别被 A2、B2、A3 抢占，240 时完成（截止期 350）</a:t>
              </a:r>
            </a:p>
          </p:txBody>
        </p:sp>
      </p:grpSp>
      <p:grpSp>
        <p:nvGrpSpPr>
          <p:cNvPr id="44" name="c1-graph-2"/>
          <p:cNvGrpSpPr/>
          <p:nvPr/>
        </p:nvGrpSpPr>
        <p:grpSpPr>
          <a:xfrm>
            <a:off x="603494" y="2706052"/>
            <a:ext cx="10997956" cy="730187"/>
            <a:chOff x="603494" y="2706052"/>
            <a:chExt cx="10997956" cy="730187"/>
          </a:xfrm>
        </p:grpSpPr>
        <p:sp>
          <p:nvSpPr>
            <p:cNvPr id="11" name="Freeform 11"/>
            <p:cNvSpPr/>
            <p:nvPr/>
          </p:nvSpPr>
          <p:spPr>
            <a:xfrm>
              <a:off x="647700" y="3134678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506200" y="30870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47700" y="2706052"/>
              <a:ext cx="719138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366838" y="2706052"/>
              <a:ext cx="1437322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04160" y="2706052"/>
              <a:ext cx="1437322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241482" y="2706052"/>
              <a:ext cx="719138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60620" y="2706052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38850" y="2706052"/>
              <a:ext cx="1437322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76172" y="2706052"/>
              <a:ext cx="359092" cy="381000"/>
            </a:xfrm>
            <a:prstGeom prst="roundRect">
              <a:avLst>
                <a:gd name="adj" fmla="val 1061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36218" y="2706052"/>
              <a:ext cx="719138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54402" y="2706052"/>
              <a:ext cx="719138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73540" y="2706052"/>
              <a:ext cx="2156460" cy="381000"/>
            </a:xfrm>
            <a:prstGeom prst="roundRect">
              <a:avLst>
                <a:gd name="adj" fmla="val 1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2124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0354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18629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96859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95067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3319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1527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90642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09779" y="28222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84130" y="28222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3494" y="32308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83760" y="323088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21083" y="323088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19534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38671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16901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54224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14269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32454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51591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08051" y="323088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</p:grpSp>
      <p:grpSp>
        <p:nvGrpSpPr>
          <p:cNvPr id="46" name="c1-text-3"/>
          <p:cNvGrpSpPr/>
          <p:nvPr/>
        </p:nvGrpSpPr>
        <p:grpSpPr>
          <a:xfrm>
            <a:off x="526923" y="3679984"/>
            <a:ext cx="7544521" cy="249364"/>
            <a:chOff x="526923" y="3679984"/>
            <a:chExt cx="7544521" cy="249364"/>
          </a:xfrm>
        </p:grpSpPr>
        <p:sp>
          <p:nvSpPr>
            <p:cNvPr id="45" name="TextBox 45"/>
            <p:cNvSpPr txBox="1"/>
            <p:nvPr/>
          </p:nvSpPr>
          <p:spPr>
            <a:xfrm>
              <a:off x="526923" y="3679984"/>
              <a:ext cx="75445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原课件的调度图（按非剥夺方式排）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：C1 一次运行 60–160，C2 运行 360–460；本例同样没有误期</a:t>
              </a:r>
            </a:p>
          </p:txBody>
        </p:sp>
      </p:grpSp>
      <p:grpSp>
        <p:nvGrpSpPr>
          <p:cNvPr id="80" name="c1-graph-4"/>
          <p:cNvGrpSpPr/>
          <p:nvPr/>
        </p:nvGrpSpPr>
        <p:grpSpPr>
          <a:xfrm>
            <a:off x="603494" y="4107180"/>
            <a:ext cx="10997956" cy="731139"/>
            <a:chOff x="603494" y="4107180"/>
            <a:chExt cx="10997956" cy="731139"/>
          </a:xfrm>
        </p:grpSpPr>
        <p:sp>
          <p:nvSpPr>
            <p:cNvPr id="47" name="Freeform 47"/>
            <p:cNvSpPr/>
            <p:nvPr/>
          </p:nvSpPr>
          <p:spPr>
            <a:xfrm>
              <a:off x="647700" y="453580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506200" y="44881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700" y="4107180"/>
              <a:ext cx="4686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116330" y="4107180"/>
              <a:ext cx="93726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053590" y="4107180"/>
              <a:ext cx="2344102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397692" y="4107180"/>
              <a:ext cx="4686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4867275" y="4107180"/>
              <a:ext cx="93726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04535" y="4107180"/>
              <a:ext cx="4686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73165" y="4107180"/>
              <a:ext cx="1406842" cy="381000"/>
            </a:xfrm>
            <a:prstGeom prst="roundRect">
              <a:avLst>
                <a:gd name="adj" fmla="val 1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80008" y="4107180"/>
              <a:ext cx="468630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148638" y="4107180"/>
              <a:ext cx="937260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085898" y="4107180"/>
              <a:ext cx="2344102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77347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80292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121449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27339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1237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934182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08470" y="42233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09654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2599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53757" y="4223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3494" y="46329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33253" y="463296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71465" y="463296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275744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745326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682586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151216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58059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026689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63949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08051" y="46329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460</a:t>
              </a:r>
            </a:p>
          </p:txBody>
        </p:sp>
      </p:grpSp>
      <p:grpSp>
        <p:nvGrpSpPr>
          <p:cNvPr id="86" name="c1-callout-5"/>
          <p:cNvGrpSpPr/>
          <p:nvPr/>
        </p:nvGrpSpPr>
        <p:grpSpPr>
          <a:xfrm>
            <a:off x="533400" y="5059680"/>
            <a:ext cx="11125200" cy="533400"/>
            <a:chOff x="533400" y="5059680"/>
            <a:chExt cx="11125200" cy="533400"/>
          </a:xfrm>
        </p:grpSpPr>
        <p:sp>
          <p:nvSpPr>
            <p:cNvPr id="81" name="Rectangle 81"/>
            <p:cNvSpPr/>
            <p:nvPr/>
          </p:nvSpPr>
          <p:spPr>
            <a:xfrm>
              <a:off x="533400" y="505968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5226368"/>
              <a:ext cx="200026" cy="200026"/>
              <a:chOff x="738188" y="5226368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52263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04863" y="53041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130" y="5221605"/>
              <a:ext cx="901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检验可抢占 RMS：A 的实例于 20、120、220 完成，B 于 60、190，C1 于 240，均早于各自截止期。</a:t>
              </a:r>
            </a:p>
          </p:txBody>
        </p:sp>
      </p:grpSp>
      <p:grpSp>
        <p:nvGrpSpPr>
          <p:cNvPr id="93" name="c1-callout-6"/>
          <p:cNvGrpSpPr/>
          <p:nvPr/>
        </p:nvGrpSpPr>
        <p:grpSpPr>
          <a:xfrm>
            <a:off x="533400" y="5783580"/>
            <a:ext cx="11125200" cy="533400"/>
            <a:chOff x="533400" y="5783580"/>
            <a:chExt cx="11125200" cy="533400"/>
          </a:xfrm>
        </p:grpSpPr>
        <p:sp>
          <p:nvSpPr>
            <p:cNvPr id="87" name="Rectangle 87"/>
            <p:cNvSpPr/>
            <p:nvPr/>
          </p:nvSpPr>
          <p:spPr>
            <a:xfrm>
              <a:off x="533400" y="578358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8188" y="5950268"/>
              <a:ext cx="200026" cy="200026"/>
              <a:chOff x="738188" y="5950268"/>
              <a:chExt cx="200026" cy="20002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59502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8200" y="6016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27088" y="60502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0130" y="5945505"/>
              <a:ext cx="8577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0.753 和 0.779：前者是三个分项先取三位小数再相加，后者是截断值，结论不变。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37414" cy="909257"/>
            <a:chOff x="520446" y="342900"/>
            <a:chExt cx="75374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实时调度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374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课后作业：三个周期任务，EDF 与 RMS 能否调度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770887" cy="308039"/>
            <a:chOff x="525399" y="1550194"/>
            <a:chExt cx="97708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7708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T1 = 100，C1 = 50；T2 = 200，C2 = 30；T3 = 500，C3 = 100。利用率 = 0.5 + 0.15 + 0.2 = 0.85。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923" y="1988344"/>
            <a:ext cx="10382656" cy="500824"/>
            <a:chOff x="526923" y="1988344"/>
            <a:chExt cx="10382656" cy="50082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88344"/>
              <a:ext cx="1038265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：0.85 ≤ 1，可调度。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可抢占 RMS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：0.85 &gt; 3(2^(1/3) − 1) ≈ 0.780，条件不满足，要实际排：结果与 EDF 相同（下图 0～400ms），P3 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 完成；1000ms 大周期内所有实例都按时完成，也可调度。</a:t>
              </a:r>
            </a:p>
          </p:txBody>
        </p:sp>
      </p:grpSp>
      <p:grpSp>
        <p:nvGrpSpPr>
          <p:cNvPr id="46" name="c1-graph-2"/>
          <p:cNvGrpSpPr/>
          <p:nvPr/>
        </p:nvGrpSpPr>
        <p:grpSpPr>
          <a:xfrm>
            <a:off x="603494" y="2667000"/>
            <a:ext cx="10997956" cy="730187"/>
            <a:chOff x="603494" y="2667000"/>
            <a:chExt cx="10997956" cy="730187"/>
          </a:xfrm>
        </p:grpSpPr>
        <p:sp>
          <p:nvSpPr>
            <p:cNvPr id="11" name="Freeform 11"/>
            <p:cNvSpPr/>
            <p:nvPr/>
          </p:nvSpPr>
          <p:spPr>
            <a:xfrm>
              <a:off x="647700" y="30956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506200" y="3048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47700" y="2667000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95488" y="2667000"/>
              <a:ext cx="808672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04160" y="2667000"/>
              <a:ext cx="539115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43275" y="2667000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91062" y="2667000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38850" y="2667000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86638" y="2667000"/>
              <a:ext cx="808672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95310" y="2667000"/>
              <a:ext cx="539115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34425" y="2667000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082212" y="2667000"/>
              <a:ext cx="269558" cy="381000"/>
            </a:xfrm>
            <a:prstGeom prst="roundRect">
              <a:avLst>
                <a:gd name="adj" fmla="val 1413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51770" y="2667000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17402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95632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69049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12024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60764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08552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5829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60199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03174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12799" y="2783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23245" y="27832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3494" y="3191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12410" y="3191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21083" y="3191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21326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9114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16901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64689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73361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12476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29821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08051" y="31918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</p:grpSp>
      <p:grpSp>
        <p:nvGrpSpPr>
          <p:cNvPr id="48" name="c1-text-3"/>
          <p:cNvGrpSpPr/>
          <p:nvPr/>
        </p:nvGrpSpPr>
        <p:grpSpPr>
          <a:xfrm>
            <a:off x="526923" y="3640931"/>
            <a:ext cx="10617783" cy="249364"/>
            <a:chOff x="526923" y="3640931"/>
            <a:chExt cx="10617783" cy="249364"/>
          </a:xfrm>
        </p:grpSpPr>
        <p:sp>
          <p:nvSpPr>
            <p:cNvPr id="47" name="TextBox 47"/>
            <p:cNvSpPr txBox="1"/>
            <p:nvPr/>
          </p:nvSpPr>
          <p:spPr>
            <a:xfrm>
              <a:off x="526923" y="3640931"/>
              <a:ext cx="106177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若按原课件的非剥夺方式排 RMS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：P3 在 80–180 连续运行，P1 的第 2 个实例（100 到达，截止期 200）到 230 才完成，误期（红色段）。</a:t>
              </a:r>
            </a:p>
          </p:txBody>
        </p:sp>
      </p:grpSp>
      <p:grpSp>
        <p:nvGrpSpPr>
          <p:cNvPr id="76" name="c1-graph-4"/>
          <p:cNvGrpSpPr/>
          <p:nvPr/>
        </p:nvGrpSpPr>
        <p:grpSpPr>
          <a:xfrm>
            <a:off x="603494" y="4068128"/>
            <a:ext cx="10997956" cy="731139"/>
            <a:chOff x="603494" y="4068128"/>
            <a:chExt cx="10997956" cy="731139"/>
          </a:xfrm>
        </p:grpSpPr>
        <p:sp>
          <p:nvSpPr>
            <p:cNvPr id="49" name="Freeform 49"/>
            <p:cNvSpPr/>
            <p:nvPr/>
          </p:nvSpPr>
          <p:spPr>
            <a:xfrm>
              <a:off x="647700" y="4496752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1506200" y="44491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700" y="4068128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995488" y="4068128"/>
              <a:ext cx="808672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804160" y="4068128"/>
              <a:ext cx="2695575" cy="381000"/>
            </a:xfrm>
            <a:prstGeom prst="roundRect">
              <a:avLst>
                <a:gd name="adj" fmla="val 1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99735" y="4068128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47522" y="4068128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95310" y="4068128"/>
              <a:ext cx="808672" cy="381000"/>
            </a:xfrm>
            <a:prstGeom prst="roundRect">
              <a:avLst>
                <a:gd name="adj" fmla="val 10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003982" y="4068128"/>
              <a:ext cx="1347788" cy="381000"/>
            </a:xfrm>
            <a:prstGeom prst="roundRect">
              <a:avLst>
                <a:gd name="adj" fmla="val 10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351770" y="4068128"/>
              <a:ext cx="1078230" cy="381000"/>
            </a:xfrm>
            <a:prstGeom prst="roundRect">
              <a:avLst>
                <a:gd name="adj" fmla="val 1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17402" y="4184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295632" y="4184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47279" y="4184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69437" y="4184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16272" y="4184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94502" y="4184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72732" y="4184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23245" y="418433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3494" y="45939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912410" y="459390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721083" y="459390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377786" y="459390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25574" y="459390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73361" y="459390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82034" y="459390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29821" y="459390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308051" y="459390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7" name="Rectangle 7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作业结论：EDF 可调度；标准的可抢占 RMS 实际排出来也可调度；按非剥夺方式排 RMS，P1 第 2 个实例误期，不可调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度。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219507" cy="3706177"/>
            <a:chOff x="667512" y="1835468"/>
            <a:chExt cx="6219507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多处理机调度与系统举例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096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多个处理机怎样分担进程；Linux 和 Windows 10 实际怎样调度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3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3.5.1 自调度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3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3.5.2 组调度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17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3.6.1 Linux 进程调度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041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3.6.2 Windows 10 线程调度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2520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进程调度见第 12 章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29393" cy="909257"/>
            <a:chOff x="520446" y="342900"/>
            <a:chExt cx="77293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293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多处理机调度：M 个进程（线程）分给 N 个处理机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365885"/>
            <a:chOff x="533400" y="1524000"/>
            <a:chExt cx="5410200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1158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834" y="1769269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3.5 问题与目标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246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SMP（对称多处理）：所有处理机相同（同构）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目标：负载共享（load sharing）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3080385"/>
            <a:ext cx="5410200" cy="1573530"/>
            <a:chOff x="533400" y="3080385"/>
            <a:chExt cx="5410200" cy="1573530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4001" y="32161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就绪队列怎样组织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96042" y="32161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366474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每个处理机一个就绪队列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13888" y="36647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负载不能真正均衡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728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7764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11337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所有处理机共用一个就绪队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 Q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13888" y="4113371"/>
              <a:ext cx="27846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各处理机自行访问 Q，或由主处理机分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派（master/slave）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80385"/>
              <a:ext cx="5410200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01302" y="3080385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3"/>
          <p:cNvGrpSpPr/>
          <p:nvPr/>
        </p:nvGrpSpPr>
        <p:grpSpPr>
          <a:xfrm>
            <a:off x="533400" y="4844415"/>
            <a:ext cx="5410200" cy="1365885"/>
            <a:chOff x="533400" y="4844415"/>
            <a:chExt cx="5410200" cy="1365885"/>
          </a:xfrm>
        </p:grpSpPr>
        <p:sp>
          <p:nvSpPr>
            <p:cNvPr id="28" name="Rectangle 28"/>
            <p:cNvSpPr/>
            <p:nvPr/>
          </p:nvSpPr>
          <p:spPr>
            <a:xfrm>
              <a:off x="533400" y="4844415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977765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5053965"/>
              <a:ext cx="146589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9690" y="5089684"/>
              <a:ext cx="1349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Mach 的改进自调度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4940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5431155"/>
              <a:ext cx="4331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全局队列：系统一个；局部队列：每个 CPU 一个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8293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76643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调度时先考虑局部队列，再考虑全局队列</a:t>
              </a:r>
            </a:p>
          </p:txBody>
        </p:sp>
      </p:grpSp>
      <p:grpSp>
        <p:nvGrpSpPr>
          <p:cNvPr id="63" name="c2-graph-1"/>
          <p:cNvGrpSpPr/>
          <p:nvPr/>
        </p:nvGrpSpPr>
        <p:grpSpPr>
          <a:xfrm>
            <a:off x="6434138" y="1655445"/>
            <a:ext cx="4821554" cy="1356741"/>
            <a:chOff x="6434138" y="1655445"/>
            <a:chExt cx="4821554" cy="1356741"/>
          </a:xfrm>
        </p:grpSpPr>
        <p:sp>
          <p:nvSpPr>
            <p:cNvPr id="37" name="Freeform 37"/>
            <p:cNvSpPr/>
            <p:nvPr/>
          </p:nvSpPr>
          <p:spPr>
            <a:xfrm>
              <a:off x="7577138" y="1959292"/>
              <a:ext cx="773430" cy="195262"/>
            </a:xfrm>
            <a:custGeom>
              <a:avLst/>
              <a:gdLst/>
              <a:ahLst/>
              <a:cxnLst/>
              <a:rect l="l" t="t" r="r" b="b"/>
              <a:pathLst>
                <a:path w="773430" h="195262">
                  <a:moveTo>
                    <a:pt x="0" y="0"/>
                  </a:moveTo>
                  <a:lnTo>
                    <a:pt x="773430" y="1952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338185" y="2107882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69532"/>
                  </a:moveTo>
                  <a:lnTo>
                    <a:pt x="0" y="92392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577138" y="2333625"/>
              <a:ext cx="770572" cy="9525"/>
            </a:xfrm>
            <a:custGeom>
              <a:avLst/>
              <a:gdLst/>
              <a:ahLst/>
              <a:cxnLst/>
              <a:rect l="l" t="t" r="r" b="b"/>
              <a:pathLst>
                <a:path w="770572" h="9525">
                  <a:moveTo>
                    <a:pt x="0" y="0"/>
                  </a:moveTo>
                  <a:lnTo>
                    <a:pt x="7705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347710" y="2286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577138" y="2512695"/>
              <a:ext cx="773430" cy="195262"/>
            </a:xfrm>
            <a:custGeom>
              <a:avLst/>
              <a:gdLst/>
              <a:ahLst/>
              <a:cxnLst/>
              <a:rect l="l" t="t" r="r" b="b"/>
              <a:pathLst>
                <a:path w="773430" h="195262">
                  <a:moveTo>
                    <a:pt x="0" y="195262"/>
                  </a:moveTo>
                  <a:lnTo>
                    <a:pt x="7734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38185" y="2466975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22860"/>
                  </a:moveTo>
                  <a:lnTo>
                    <a:pt x="23812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681210" y="1905952"/>
              <a:ext cx="989647" cy="262890"/>
            </a:xfrm>
            <a:custGeom>
              <a:avLst/>
              <a:gdLst/>
              <a:ahLst/>
              <a:cxnLst/>
              <a:rect l="l" t="t" r="r" b="b"/>
              <a:pathLst>
                <a:path w="989647" h="262890">
                  <a:moveTo>
                    <a:pt x="0" y="262890"/>
                  </a:moveTo>
                  <a:lnTo>
                    <a:pt x="9896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658475" y="1859280"/>
              <a:ext cx="104775" cy="92393"/>
            </a:xfrm>
            <a:custGeom>
              <a:avLst/>
              <a:gdLst/>
              <a:ahLst/>
              <a:cxnLst/>
              <a:rect l="l" t="t" r="r" b="b"/>
              <a:pathLst>
                <a:path w="104775" h="92393">
                  <a:moveTo>
                    <a:pt x="104775" y="21908"/>
                  </a:moveTo>
                  <a:lnTo>
                    <a:pt x="24765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681210" y="2333625"/>
              <a:ext cx="986790" cy="9525"/>
            </a:xfrm>
            <a:custGeom>
              <a:avLst/>
              <a:gdLst/>
              <a:ahLst/>
              <a:cxnLst/>
              <a:rect l="l" t="t" r="r" b="b"/>
              <a:pathLst>
                <a:path w="986790" h="9525">
                  <a:moveTo>
                    <a:pt x="0" y="0"/>
                  </a:moveTo>
                  <a:lnTo>
                    <a:pt x="9867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668000" y="2286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681210" y="2498408"/>
              <a:ext cx="989647" cy="262890"/>
            </a:xfrm>
            <a:custGeom>
              <a:avLst/>
              <a:gdLst/>
              <a:ahLst/>
              <a:cxnLst/>
              <a:rect l="l" t="t" r="r" b="b"/>
              <a:pathLst>
                <a:path w="989647" h="262890">
                  <a:moveTo>
                    <a:pt x="0" y="0"/>
                  </a:moveTo>
                  <a:lnTo>
                    <a:pt x="989647" y="2628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658475" y="2715578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70485"/>
                  </a:moveTo>
                  <a:lnTo>
                    <a:pt x="0" y="92392"/>
                  </a:lnTo>
                  <a:lnTo>
                    <a:pt x="2476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34138" y="1655445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34138" y="2173605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34138" y="2691765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442960" y="2047875"/>
              <a:ext cx="1238250" cy="571500"/>
            </a:xfrm>
            <a:prstGeom prst="roundRect">
              <a:avLst>
                <a:gd name="adj" fmla="val 1666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763250" y="1655445"/>
              <a:ext cx="492442" cy="320040"/>
            </a:xfrm>
            <a:prstGeom prst="roundRect">
              <a:avLst>
                <a:gd name="adj" fmla="val 11905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763250" y="2173605"/>
              <a:ext cx="492442" cy="320040"/>
            </a:xfrm>
            <a:prstGeom prst="roundRect">
              <a:avLst>
                <a:gd name="adj" fmla="val 11905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763250" y="2691765"/>
              <a:ext cx="492442" cy="320040"/>
            </a:xfrm>
            <a:prstGeom prst="roundRect">
              <a:avLst>
                <a:gd name="adj" fmla="val 11905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14910" y="174117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进程（线程）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4910" y="22593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进程（线程）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4910" y="27774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进程（线程）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32901" y="22593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就绪队列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55041" y="174117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55041" y="225933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55041" y="277749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</p:grpSp>
      <p:grpSp>
        <p:nvGrpSpPr>
          <p:cNvPr id="82" name="c2-compare-2"/>
          <p:cNvGrpSpPr/>
          <p:nvPr/>
        </p:nvGrpSpPr>
        <p:grpSpPr>
          <a:xfrm>
            <a:off x="6248400" y="3333750"/>
            <a:ext cx="5410200" cy="2876550"/>
            <a:chOff x="6248400" y="3333750"/>
            <a:chExt cx="5410200" cy="2876550"/>
          </a:xfrm>
        </p:grpSpPr>
        <p:sp>
          <p:nvSpPr>
            <p:cNvPr id="64" name="Rectangle 64"/>
            <p:cNvSpPr/>
            <p:nvPr/>
          </p:nvSpPr>
          <p:spPr>
            <a:xfrm>
              <a:off x="6248400" y="3333750"/>
              <a:ext cx="2533650" cy="28765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3467100"/>
              <a:ext cx="47625" cy="2609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88430" y="3568065"/>
              <a:ext cx="1873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3.5.1 自调度的优点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501765" y="39852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59880" y="392239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不需要专门的处理机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分派任务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501765" y="46062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59880" y="45434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任务分配均衡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124950" y="3333750"/>
              <a:ext cx="2533650" cy="28765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9134475" y="3467100"/>
              <a:ext cx="47625" cy="26098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364980" y="3568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378315" y="39852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536430" y="3922395"/>
              <a:ext cx="1720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多时就绪队列成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为瓶颈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378315" y="46062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536430" y="45434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线程两次调度可能在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不同处理机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378315" y="52273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536430" y="516445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不能保证同组线程同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时调度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8791575" y="46101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861915" y="47063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组调度：把一组合作线程同时分派到多个处理机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842635" cy="3150870"/>
            <a:chOff x="533400" y="1524000"/>
            <a:chExt cx="5842635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2335" y="17730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8947" y="17730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自调度（均衡调度）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8916" y="1659731"/>
              <a:ext cx="103870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组调度（gang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scheduling）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分派单位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9940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单个线程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47376" y="233505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一组相关（合作）的线程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合作线程之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9940" y="278368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可能一个在运行、一个还在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排队，互相等待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47376" y="289702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同时运行，避免相互等待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9940" y="3459004"/>
              <a:ext cx="1906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就绪队列需互斥访问，CPU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多时成为瓶颈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47376" y="35723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降低开销，提高运行效率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9940" y="4247674"/>
              <a:ext cx="18108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Mach（改进的自调度）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47376" y="4134326"/>
              <a:ext cx="19149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Cm* 的 task force（一组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相关的计算）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69735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3479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865370"/>
            <a:ext cx="5842635" cy="1316355"/>
            <a:chOff x="533400" y="4865370"/>
            <a:chExt cx="5842635" cy="1316355"/>
          </a:xfrm>
        </p:grpSpPr>
        <p:sp>
          <p:nvSpPr>
            <p:cNvPr id="32" name="Rectangle 32"/>
            <p:cNvSpPr/>
            <p:nvPr/>
          </p:nvSpPr>
          <p:spPr>
            <a:xfrm>
              <a:off x="533400" y="486537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99872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" y="507492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507" y="51106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为什么要成组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430" y="5452110"/>
              <a:ext cx="5006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给 A2 发消息等回复：自调度下 A2 可能还在排队，A1 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能空等；组调度让两者同时运行，回复马上就到。</a:t>
              </a:r>
            </a:p>
          </p:txBody>
        </p:sp>
      </p:grpSp>
      <p:grpSp>
        <p:nvGrpSpPr>
          <p:cNvPr id="39" name="c2-text-1"/>
          <p:cNvGrpSpPr/>
          <p:nvPr/>
        </p:nvGrpSpPr>
        <p:grpSpPr>
          <a:xfrm>
            <a:off x="6674358" y="1545431"/>
            <a:ext cx="4759706" cy="500824"/>
            <a:chOff x="6674358" y="1545431"/>
            <a:chExt cx="4759706" cy="500824"/>
          </a:xfrm>
        </p:grpSpPr>
        <p:sp>
          <p:nvSpPr>
            <p:cNvPr id="38" name="TextBox 38"/>
            <p:cNvSpPr txBox="1"/>
            <p:nvPr/>
          </p:nvSpPr>
          <p:spPr>
            <a:xfrm>
              <a:off x="6674358" y="1545431"/>
              <a:ext cx="475970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示意：线程组 A（A1、A2、A3）与线程组 B（B1、B2）按组占用时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间段</a:t>
              </a:r>
            </a:p>
          </p:txBody>
        </p:sp>
      </p:grpSp>
      <p:grpSp>
        <p:nvGrpSpPr>
          <p:cNvPr id="57" name="c2-graph-2"/>
          <p:cNvGrpSpPr/>
          <p:nvPr/>
        </p:nvGrpSpPr>
        <p:grpSpPr>
          <a:xfrm>
            <a:off x="6899338" y="2424112"/>
            <a:ext cx="4378262" cy="2163699"/>
            <a:chOff x="6899338" y="2424112"/>
            <a:chExt cx="4378262" cy="2163699"/>
          </a:xfrm>
        </p:grpSpPr>
        <p:sp>
          <p:nvSpPr>
            <p:cNvPr id="40" name="Rectangle 40"/>
            <p:cNvSpPr/>
            <p:nvPr/>
          </p:nvSpPr>
          <p:spPr>
            <a:xfrm>
              <a:off x="7958138" y="2424112"/>
              <a:ext cx="1428750" cy="476250"/>
            </a:xfrm>
            <a:prstGeom prst="roundRect">
              <a:avLst>
                <a:gd name="adj" fmla="val 8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58138" y="3138488"/>
              <a:ext cx="1428750" cy="476250"/>
            </a:xfrm>
            <a:prstGeom prst="roundRect">
              <a:avLst>
                <a:gd name="adj" fmla="val 8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58138" y="3852862"/>
              <a:ext cx="1428750" cy="476250"/>
            </a:xfrm>
            <a:prstGeom prst="roundRect">
              <a:avLst>
                <a:gd name="adj" fmla="val 8000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848850" y="2424112"/>
              <a:ext cx="1428750" cy="476250"/>
            </a:xfrm>
            <a:prstGeom prst="roundRect">
              <a:avLst>
                <a:gd name="adj" fmla="val 8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48850" y="3138488"/>
              <a:ext cx="1428750" cy="476250"/>
            </a:xfrm>
            <a:prstGeom prst="roundRect">
              <a:avLst>
                <a:gd name="adj" fmla="val 8000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848850" y="3852862"/>
              <a:ext cx="1428750" cy="476250"/>
            </a:xfrm>
            <a:prstGeom prst="roundRect">
              <a:avLst>
                <a:gd name="adj" fmla="val 8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9338" y="2586990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9338" y="3301365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99338" y="4015740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67844" y="258699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67844" y="33013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67844" y="401574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58557" y="258699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58557" y="33013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95585" y="40157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95078" y="43824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时间段 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85790" y="43824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时间段 2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680835" y="4757738"/>
            <a:ext cx="4977765" cy="782955"/>
            <a:chOff x="6680835" y="4757738"/>
            <a:chExt cx="4977765" cy="782955"/>
          </a:xfrm>
        </p:grpSpPr>
        <p:sp>
          <p:nvSpPr>
            <p:cNvPr id="58" name="Rectangle 58"/>
            <p:cNvSpPr/>
            <p:nvPr/>
          </p:nvSpPr>
          <p:spPr>
            <a:xfrm>
              <a:off x="6680835" y="4757738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885623" y="5049203"/>
              <a:ext cx="200026" cy="200025"/>
              <a:chOff x="6885623" y="5049203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885623" y="50492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925361" y="50936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60077" y="52047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187565" y="4906328"/>
              <a:ext cx="3815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同组线程同时上 CPU，彼此通信时对方正在运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行，不必等下一轮调度。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8334" cy="909257"/>
            <a:chOff x="520446" y="342900"/>
            <a:chExt cx="59383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83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进程调度：按 goodness 选进程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316355"/>
            <a:chOff x="533400" y="1524000"/>
            <a:chExt cx="5626418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579" y="1769269"/>
              <a:ext cx="109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3.6.1 三类进程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Real-time FIFO；Real-time Round Robin；Timesharing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（分时）</a:t>
              </a:r>
            </a:p>
          </p:txBody>
        </p:sp>
      </p:grpSp>
      <p:grpSp>
        <p:nvGrpSpPr>
          <p:cNvPr id="18" name="c1-kv-2"/>
          <p:cNvGrpSpPr/>
          <p:nvPr/>
        </p:nvGrpSpPr>
        <p:grpSpPr>
          <a:xfrm>
            <a:off x="525780" y="3055620"/>
            <a:ext cx="5634038" cy="2143125"/>
            <a:chOff x="525780" y="3055620"/>
            <a:chExt cx="5634038" cy="2143125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3055620"/>
              <a:ext cx="842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priority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5912" y="3055620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0～40，缺省 20；可通过 nice 系统调用调整，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nice(value) 中 value 取 −20～20，priority = 20 −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9395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05955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counter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85912" y="4059555"/>
              <a:ext cx="426339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进程尚可运行的时间：运行进程每个时钟间隔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（10ms，称为一个 jiffy）减 1；所有就绪进程的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counter 都降到 0 时，重新计算所有进程（包括等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待进程）的 counter = counter/2 + priority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524000"/>
            <a:ext cx="5193982" cy="1719262"/>
            <a:chOff x="6464618" y="1524000"/>
            <a:chExt cx="5193982" cy="1719262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3015" y="1675924"/>
              <a:ext cx="1674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goodness（值大者被选中）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2252" y="1937861"/>
              <a:ext cx="314071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(Real-time)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goodness = 1000 + priority;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else if (counter == 0)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Timesharing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goodness 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else     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Timesharing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goodness = counter + priority;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433762"/>
            <a:ext cx="5193982" cy="2036445"/>
            <a:chOff x="6464618" y="3433762"/>
            <a:chExt cx="5193982" cy="2036445"/>
          </a:xfrm>
        </p:grpSpPr>
        <p:sp>
          <p:nvSpPr>
            <p:cNvPr id="23" name="Rectangle 23"/>
            <p:cNvSpPr/>
            <p:nvPr/>
          </p:nvSpPr>
          <p:spPr>
            <a:xfrm>
              <a:off x="6464618" y="3433762"/>
              <a:ext cx="5193982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3567112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12268" y="364331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5724" y="36790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调度发生时刻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17983" y="408336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6098" y="4020502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运行进程的 counter 减到 0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17983" y="441864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76098" y="4355782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运行进程执行系统调用 exit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17983" y="475392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6098" y="4691062"/>
              <a:ext cx="3449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运行进程因等待 I/O、信号灯而被封锁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7983" y="508920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6098" y="502634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 goodness 高的进程被解除封锁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9476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调度效果：实时优先于分时；交互和 I/O 型进程等待时留着 counter，重算后更大，优先于 CPU 型进程。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9558" cy="909257"/>
            <a:chOff x="520446" y="342900"/>
            <a:chExt cx="59395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95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goodness 算例与 Linux 的对称多处理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7685" y="1524000"/>
            <a:ext cx="5632133" cy="2539842"/>
            <a:chOff x="527685" y="1524000"/>
            <a:chExt cx="5632133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13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443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37313" y="1659731"/>
              <a:ext cx="718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priority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52452" y="1659731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counter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55221" y="1659731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goodness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1066" y="21083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5606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9535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5335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969192" y="1982152"/>
              <a:ext cx="11811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63721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066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5606" y="2556986"/>
              <a:ext cx="1057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分时，CPU 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9535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5335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0587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066" y="300561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15606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分时，交互型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9535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0596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5849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1066" y="3454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15606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9535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5335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5849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30302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73462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4905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9549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3843814"/>
              <a:ext cx="2377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补充例子：选中 A；A 不就绪时选 C</a:t>
              </a:r>
            </a:p>
          </p:txBody>
        </p:sp>
      </p:grpSp>
      <p:grpSp>
        <p:nvGrpSpPr>
          <p:cNvPr id="56" name="c1-flow-2"/>
          <p:cNvGrpSpPr/>
          <p:nvPr/>
        </p:nvGrpSpPr>
        <p:grpSpPr>
          <a:xfrm>
            <a:off x="666750" y="4281488"/>
            <a:ext cx="5359717" cy="847725"/>
            <a:chOff x="666750" y="4281488"/>
            <a:chExt cx="5359717" cy="847725"/>
          </a:xfrm>
        </p:grpSpPr>
        <p:sp>
          <p:nvSpPr>
            <p:cNvPr id="46" name="Freeform 46"/>
            <p:cNvSpPr/>
            <p:nvPr/>
          </p:nvSpPr>
          <p:spPr>
            <a:xfrm>
              <a:off x="2275522" y="470535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437448" y="4652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4150995" y="470535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4312920" y="4652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6750" y="448627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542222" y="4281488"/>
              <a:ext cx="1608772" cy="847725"/>
            </a:xfrm>
            <a:prstGeom prst="roundRect">
              <a:avLst>
                <a:gd name="adj" fmla="val 112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17695" y="4391025"/>
              <a:ext cx="16087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4652" y="4616291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 schedule()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65984" y="4398169"/>
              <a:ext cx="1362202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就绪进程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counter 全为 0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45520" y="4506754"/>
              <a:ext cx="13540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 goodness 最大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者运行</a:t>
              </a:r>
            </a:p>
          </p:txBody>
        </p:sp>
      </p:grpSp>
      <p:grpSp>
        <p:nvGrpSpPr>
          <p:cNvPr id="63" name="c1-callout-3"/>
          <p:cNvGrpSpPr/>
          <p:nvPr/>
        </p:nvGrpSpPr>
        <p:grpSpPr>
          <a:xfrm>
            <a:off x="533400" y="5391150"/>
            <a:ext cx="5626418" cy="782955"/>
            <a:chOff x="533400" y="5391150"/>
            <a:chExt cx="5626418" cy="782955"/>
          </a:xfrm>
        </p:grpSpPr>
        <p:sp>
          <p:nvSpPr>
            <p:cNvPr id="57" name="Rectangle 57"/>
            <p:cNvSpPr/>
            <p:nvPr/>
          </p:nvSpPr>
          <p:spPr>
            <a:xfrm>
              <a:off x="533400" y="539115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682615"/>
              <a:ext cx="200026" cy="200025"/>
              <a:chOff x="738188" y="568261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6826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57270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58381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539740"/>
              <a:ext cx="4625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重算例：若 C 在等待，counter 仍为 15，重算后 15/2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+ 20 = 27（取整）；用完配额的 B 为 0/2 + 20 = 20。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6464618" y="1524000"/>
            <a:ext cx="5193982" cy="4650105"/>
            <a:chOff x="6464618" y="1524000"/>
            <a:chExt cx="5193982" cy="4650105"/>
          </a:xfrm>
        </p:grpSpPr>
        <p:sp>
          <p:nvSpPr>
            <p:cNvPr id="64" name="Rectangle 64"/>
            <p:cNvSpPr/>
            <p:nvPr/>
          </p:nvSpPr>
          <p:spPr>
            <a:xfrm>
              <a:off x="6464618" y="1524000"/>
              <a:ext cx="5193982" cy="4650105"/>
            </a:xfrm>
            <a:prstGeom prst="roundRect">
              <a:avLst>
                <a:gd name="adj" fmla="val 2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4142" y="1657350"/>
              <a:ext cx="47625" cy="43834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712268" y="1733550"/>
              <a:ext cx="189928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49608" y="1769269"/>
              <a:ext cx="18246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Linux 对称多处理（SMP）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76098" y="211074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2.0 是第一个支持对称多处理硬件的 Linux 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核，进程或线程可以同时运行在多个处理机上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76098" y="273177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为保持内核非剥夺的同步要求，用一个唯一的内核自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旋锁（spin lock）保证任何时刻最多只有一个处理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机执行内核代码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717983" y="37014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76098" y="363855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真正意义上的 SMP：把这个自旋锁分解为若干个相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互独立的自旋锁，分别保护内核代码中互不相交的子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05791" y="4541996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自旋锁：拿不到锁的处理机原地循环等待，不睡眠，适合保护很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短的临界区。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24020" cy="909257"/>
            <a:chOff x="520446" y="342900"/>
            <a:chExt cx="91240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240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10 线程调度：32 个优先级，可抢占的动态优先级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322195"/>
            <a:chOff x="533400" y="1524000"/>
            <a:chExt cx="4977765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579" y="1769269"/>
              <a:ext cx="109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3.6.2 主要特征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以线程为调度单位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实时、前台（GUI 窗口）、后台（非交互）三类；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实时类并不做截止期调度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37408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可抢占 + 动态优先级 + 时间片轮转 + 反馈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651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02330"/>
              <a:ext cx="2227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支持对称多处理（SMP）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036695"/>
            <a:ext cx="4977765" cy="782955"/>
            <a:chOff x="533400" y="4036695"/>
            <a:chExt cx="4977765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403669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328160"/>
              <a:ext cx="200026" cy="200025"/>
              <a:chOff x="738188" y="4328160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3281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43726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44837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185285"/>
              <a:ext cx="4006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例：进程基本优先级为 4，其线程的基本优先级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2～6 之间，当前优先级在 2～15 之间变动。</a:t>
              </a:r>
            </a:p>
          </p:txBody>
        </p:sp>
      </p:grpSp>
      <p:grpSp>
        <p:nvGrpSpPr>
          <p:cNvPr id="37" name="c1-flow-3"/>
          <p:cNvGrpSpPr/>
          <p:nvPr/>
        </p:nvGrpSpPr>
        <p:grpSpPr>
          <a:xfrm>
            <a:off x="666750" y="5314950"/>
            <a:ext cx="4711065" cy="629602"/>
            <a:chOff x="666750" y="5314950"/>
            <a:chExt cx="4711065" cy="629602"/>
          </a:xfrm>
        </p:grpSpPr>
        <p:sp>
          <p:nvSpPr>
            <p:cNvPr id="27" name="Freeform 27"/>
            <p:cNvSpPr/>
            <p:nvPr/>
          </p:nvSpPr>
          <p:spPr>
            <a:xfrm>
              <a:off x="2059305" y="56292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221230" y="55768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718560" y="56292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880485" y="55768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5314950"/>
              <a:ext cx="1392555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326005" y="5314950"/>
              <a:ext cx="139255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985260" y="5314950"/>
              <a:ext cx="1392555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7590" y="5430679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等事件完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成，优先级提升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99678" y="5430679"/>
              <a:ext cx="10452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每用完一个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quantum 下降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06100" y="5430679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降到基本优先级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为止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815965" y="1524000"/>
            <a:ext cx="5842635" cy="2928938"/>
            <a:chOff x="5815965" y="1524000"/>
            <a:chExt cx="5842635" cy="2928938"/>
          </a:xfrm>
        </p:grpSpPr>
        <p:sp>
          <p:nvSpPr>
            <p:cNvPr id="38" name="Rectangle 38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5964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392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519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25490" y="1982152"/>
              <a:ext cx="799148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23788" y="2221706"/>
              <a:ext cx="583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16～31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41033" y="2108359"/>
              <a:ext cx="890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个实时优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09751" y="2108359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一些内核线程；应用程序提升为实时优先级需要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有权限；不是真正意义上的实时调度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15965" y="2647950"/>
              <a:ext cx="5842635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5490" y="2657475"/>
              <a:ext cx="799148" cy="1109662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3788" y="3123724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1～15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41033" y="3010376"/>
              <a:ext cx="890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个可变优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09751" y="2783681"/>
              <a:ext cx="342671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分基本优先级与当前优先级：线程基本优先级继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承进程基本优先级，可上下浮动 2；当前优先级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可动态提升，运行完一个 quantum 后自动下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降，但不低于基本优先级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37728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23788" y="40257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1033" y="3912394"/>
              <a:ext cx="8013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个系统线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程优先级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09751" y="40257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系统线程专用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1524000"/>
              <a:ext cx="5842635" cy="29289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28448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97165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5815965" y="4643438"/>
            <a:ext cx="5842635" cy="1604962"/>
            <a:chOff x="5815965" y="4643438"/>
            <a:chExt cx="5842635" cy="1604962"/>
          </a:xfrm>
        </p:grpSpPr>
        <p:sp>
          <p:nvSpPr>
            <p:cNvPr id="60" name="Rectangle 60"/>
            <p:cNvSpPr/>
            <p:nvPr/>
          </p:nvSpPr>
          <p:spPr>
            <a:xfrm>
              <a:off x="5815965" y="4643438"/>
              <a:ext cx="5842635" cy="1604962"/>
            </a:xfrm>
            <a:prstGeom prst="roundRect">
              <a:avLst>
                <a:gd name="adj" fmla="val 8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25490" y="4776788"/>
              <a:ext cx="47625" cy="13382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63615" y="4852988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11469" y="48887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补充例子：一次提升与回落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55995" y="5230178"/>
              <a:ext cx="5101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基本优先级 8 的线程等键盘输入；按键到达后提升 6 到 14，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很快抢到 CPU；此后每用完一个 quantum 降 1：14 → 13 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 → 8，回到 8 为止。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94289" cy="909257"/>
            <a:chOff x="520446" y="342900"/>
            <a:chExt cx="63942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942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的优先级提升、抢占与时间配额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3505200" cy="3659505"/>
            <a:chOff x="533400" y="1524000"/>
            <a:chExt cx="3505200" cy="36595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659505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928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优先级提升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以下情况提升线程的当前优先级：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1228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操作完成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事件等待结束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794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11658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前台进程中的线程完成一个等待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8004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737610"/>
              <a:ext cx="2057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窗口活动唤醒 GUI 线程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1357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07289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就绪超过一定时限，仍未获得处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690586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提升后不会超过 15。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4343400" y="1524000"/>
            <a:ext cx="3505200" cy="3659505"/>
            <a:chOff x="4343400" y="1524000"/>
            <a:chExt cx="3505200" cy="3659505"/>
          </a:xfrm>
        </p:grpSpPr>
        <p:sp>
          <p:nvSpPr>
            <p:cNvPr id="24" name="Rectangle 24"/>
            <p:cNvSpPr/>
            <p:nvPr/>
          </p:nvSpPr>
          <p:spPr>
            <a:xfrm>
              <a:off x="4343400" y="1524000"/>
              <a:ext cx="3505200" cy="3659505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52925" y="1657350"/>
              <a:ext cx="47625" cy="33928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9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63898" y="1769269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抢占 CPU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3430" y="21107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抢先情形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59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54880" y="244602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被唤醒线程的优先级高于运行线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459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54880" y="30670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某线程的优先级动态变化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83430" y="34023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被抢先的线程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4596765" y="38004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54880" y="373761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回到相应的就绪队列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4596765" y="41357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54880" y="407289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实时线程：重新分配完整的时间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配额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4596765" y="47567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4880" y="469392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其他线程：保持剩余配额</a:t>
              </a:r>
            </a:p>
          </p:txBody>
        </p:sp>
      </p:grpSp>
      <p:grpSp>
        <p:nvGrpSpPr>
          <p:cNvPr id="54" name="c3-card-1"/>
          <p:cNvGrpSpPr/>
          <p:nvPr/>
        </p:nvGrpSpPr>
        <p:grpSpPr>
          <a:xfrm>
            <a:off x="8153400" y="1524000"/>
            <a:ext cx="3505200" cy="3659505"/>
            <a:chOff x="8153400" y="1524000"/>
            <a:chExt cx="3505200" cy="3659505"/>
          </a:xfrm>
        </p:grpSpPr>
        <p:sp>
          <p:nvSpPr>
            <p:cNvPr id="41" name="Rectangle 41"/>
            <p:cNvSpPr/>
            <p:nvPr/>
          </p:nvSpPr>
          <p:spPr>
            <a:xfrm>
              <a:off x="8153400" y="1524000"/>
              <a:ext cx="3505200" cy="3659505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62925" y="1657350"/>
              <a:ext cx="47625" cy="33928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401050" y="1733550"/>
              <a:ext cx="166782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56818" y="1769269"/>
              <a:ext cx="1557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时间配额（quantum）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40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64880" y="2110740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配额长度 6～36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40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64880" y="244602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时钟中断每 15ms 一次，每次减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40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64880" y="3067050"/>
              <a:ext cx="2120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2～12 次时钟中断（30～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180ms）配额用完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406765" y="37509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64880" y="368808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用完后进入就绪队列，优先级下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94573" y="4305776"/>
              <a:ext cx="272770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算一算：配额 6 需 6 ÷ 3 = 2 次时钟中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断，即 30ms；配额 36 需 12 次，即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180ms。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5" name="Rectangle 5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728335"/>
              <a:ext cx="9883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三者配合：I/O 型和交互型线程靠优先级提升尽快拿到 CPU，响应快；CPU 型线程用完配额后优先级回落，在同一优先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级的就绪队列中轮转，不会长期霸占处理机。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0803" cy="909257"/>
            <a:chOff x="520446" y="342900"/>
            <a:chExt cx="66408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08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在 SMP 上怎样安排线程与处理器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272665"/>
            <a:chOff x="533400" y="1524000"/>
            <a:chExt cx="4760595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64592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261" y="1769269"/>
              <a:ext cx="15334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亲合关系（affinity）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每个进程有处理器亲合掩码，缺省为所有处理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器的集合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线程继承进程的亲合掩码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 SetProcessAffinityMask、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SetThreadAffinityMask 修改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987165"/>
            <a:ext cx="4760595" cy="2272665"/>
            <a:chOff x="533400" y="3987165"/>
            <a:chExt cx="4760595" cy="2272665"/>
          </a:xfrm>
        </p:grpSpPr>
        <p:sp>
          <p:nvSpPr>
            <p:cNvPr id="18" name="Rectangle 18"/>
            <p:cNvSpPr/>
            <p:nvPr/>
          </p:nvSpPr>
          <p:spPr>
            <a:xfrm>
              <a:off x="533400" y="3987165"/>
              <a:ext cx="476059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20515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196715"/>
              <a:ext cx="232505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6953" y="4232434"/>
              <a:ext cx="22541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理想处理器（ideal processor）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6367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57390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首选处理器、第二处理器，记在内核线程控制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块中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52578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519493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线程创建时随机确定，使各线程分散到不同处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理机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58788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5815965"/>
              <a:ext cx="38267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线程可用 SetThreadIdealProcessor 修改</a:t>
              </a:r>
            </a:p>
          </p:txBody>
        </p:sp>
      </p:grpSp>
      <p:grpSp>
        <p:nvGrpSpPr>
          <p:cNvPr id="49" name="c2-flow-1"/>
          <p:cNvGrpSpPr/>
          <p:nvPr/>
        </p:nvGrpSpPr>
        <p:grpSpPr>
          <a:xfrm>
            <a:off x="5811202" y="1620202"/>
            <a:ext cx="5634991" cy="2203132"/>
            <a:chOff x="5811202" y="1620202"/>
            <a:chExt cx="5634991" cy="2203132"/>
          </a:xfrm>
        </p:grpSpPr>
        <p:sp>
          <p:nvSpPr>
            <p:cNvPr id="29" name="Freeform 29"/>
            <p:cNvSpPr/>
            <p:nvPr/>
          </p:nvSpPr>
          <p:spPr>
            <a:xfrm>
              <a:off x="7114222" y="2185988"/>
              <a:ext cx="1514475" cy="70485"/>
            </a:xfrm>
            <a:custGeom>
              <a:avLst/>
              <a:gdLst/>
              <a:ahLst/>
              <a:cxnLst/>
              <a:rect l="l" t="t" r="r" b="b"/>
              <a:pathLst>
                <a:path w="1514475" h="70485">
                  <a:moveTo>
                    <a:pt x="1514475" y="35242"/>
                  </a:moveTo>
                  <a:lnTo>
                    <a:pt x="1514475" y="70485"/>
                  </a:lnTo>
                  <a:lnTo>
                    <a:pt x="0" y="7048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06183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628698" y="2185988"/>
              <a:ext cx="1515428" cy="70485"/>
            </a:xfrm>
            <a:custGeom>
              <a:avLst/>
              <a:gdLst/>
              <a:ahLst/>
              <a:cxnLst/>
              <a:rect l="l" t="t" r="r" b="b"/>
              <a:pathLst>
                <a:path w="1515428" h="70485">
                  <a:moveTo>
                    <a:pt x="0" y="35242"/>
                  </a:moveTo>
                  <a:lnTo>
                    <a:pt x="0" y="70485"/>
                  </a:lnTo>
                  <a:lnTo>
                    <a:pt x="1515428" y="70485"/>
                  </a:lnTo>
                  <a:lnTo>
                    <a:pt x="15154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091738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144125" y="3088958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0" y="4953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091738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023610" y="1620202"/>
              <a:ext cx="5211128" cy="601028"/>
            </a:xfrm>
            <a:custGeom>
              <a:avLst/>
              <a:gdLst/>
              <a:ahLst/>
              <a:cxnLst/>
              <a:rect l="l" t="t" r="r" b="b"/>
              <a:pathLst>
                <a:path w="5211128" h="601028">
                  <a:moveTo>
                    <a:pt x="2605088" y="0"/>
                  </a:moveTo>
                  <a:lnTo>
                    <a:pt x="5211128" y="300990"/>
                  </a:lnTo>
                  <a:lnTo>
                    <a:pt x="2605088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1202" y="2290762"/>
              <a:ext cx="2605088" cy="847725"/>
            </a:xfrm>
            <a:prstGeom prst="roundRect">
              <a:avLst>
                <a:gd name="adj" fmla="val 112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841105" y="2290762"/>
              <a:ext cx="2605088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841105" y="3193732"/>
              <a:ext cx="2605088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88339" y="18321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就绪线程：有空闲处理器？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69826" y="2406491"/>
              <a:ext cx="228879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依次看首选处理器、第二处理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器、当前执行处理器，再由高到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低找空闲处理器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99728" y="2406491"/>
              <a:ext cx="228879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依次考虑抢先首选处理器、第二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处理器、可运行的编号最大处理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99728" y="3310414"/>
              <a:ext cx="22887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都不能抢先，进入相应的就绪队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757160" y="204025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95451" y="20669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271635" y="204025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09926" y="20669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172700" y="307371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195941" y="31003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不能抢先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5598795" y="4095750"/>
            <a:ext cx="6059805" cy="2164080"/>
            <a:chOff x="5598795" y="4095750"/>
            <a:chExt cx="6059805" cy="2164080"/>
          </a:xfrm>
        </p:grpSpPr>
        <p:sp>
          <p:nvSpPr>
            <p:cNvPr id="50" name="Rectangle 50"/>
            <p:cNvSpPr/>
            <p:nvPr/>
          </p:nvSpPr>
          <p:spPr>
            <a:xfrm>
              <a:off x="5598795" y="4095750"/>
              <a:ext cx="6059805" cy="2164080"/>
            </a:xfrm>
            <a:prstGeom prst="roundRect">
              <a:avLst>
                <a:gd name="adj" fmla="val 616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08345" y="4305300"/>
              <a:ext cx="234315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43397" y="434101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空闲处理器选就绪线程时优先考虑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814060" y="47453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72175" y="4682490"/>
              <a:ext cx="4130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上次在该 CPU 上运行的线程（利用二级缓存）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814060" y="5080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72175" y="5017770"/>
              <a:ext cx="251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理想处理器是该 CPU 的线程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14060" y="54159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72175" y="5353050"/>
              <a:ext cx="4730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就绪超过 2 个 quantum 的线程；优先级 ≥ 24 的线程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39059" cy="909257"/>
            <a:chOff x="520446" y="342900"/>
            <a:chExt cx="31390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57425"/>
            <a:chOff x="533400" y="1524000"/>
            <a:chExt cx="3505200" cy="22574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中断向量的存放位置和内容分别由谁决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定？向量中的 PSW 为什么要置为系统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86988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位置由硬件规定，内容由 OS 初始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化时设置；处理程序要执行特权指令、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访问系统空间。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50970"/>
            <a:ext cx="3505200" cy="2257425"/>
            <a:chOff x="533400" y="3950970"/>
            <a:chExt cx="3505200" cy="2257425"/>
          </a:xfrm>
        </p:grpSpPr>
        <p:sp>
          <p:nvSpPr>
            <p:cNvPr id="13" name="Rectangle 13"/>
            <p:cNvSpPr/>
            <p:nvPr/>
          </p:nvSpPr>
          <p:spPr>
            <a:xfrm>
              <a:off x="53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482465"/>
              <a:ext cx="293565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进程切换时，PSW 和 PC 为什么必须用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一条指令同时恢复？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5039678"/>
              <a:ext cx="29369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先恢复 PC 则用户程序在系统态下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运行、PSW 再也恢复不了；先恢复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 则用户态下执行 OS 代码而越权。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57425"/>
            <a:chOff x="4343400" y="1524000"/>
            <a:chExt cx="3505200" cy="225742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8987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P1、P2、P3 到达时间 0、2、4，运行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7、4、1。FCFS 与 SRTN 的平均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周转时间各是多少？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869882"/>
              <a:ext cx="29026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 为 (7 + 9 + 8)/3 = 8；SRTN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执行段 P1、P2、P3、P2、P1，为 (12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+ 5 + 1)/3 = 6。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50970"/>
            <a:ext cx="3505200" cy="2257425"/>
            <a:chOff x="4343400" y="3950970"/>
            <a:chExt cx="3505200" cy="225742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4482465"/>
              <a:ext cx="2851642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A（T = 40，C = 20）、B（T = 60，C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25）。EDF 和可抢占 RMS 能否调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5296852"/>
              <a:ext cx="29112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利用率约 0.917 ≤ 1，EDF 可调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度；超过 0.828，按 RMS 实际排出 B1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60 时还差 5，不可调度。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57425"/>
            <a:chOff x="8153400" y="1524000"/>
            <a:chExt cx="3505200" cy="225742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91807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三个进程同时到达，运行时间 5、3、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6，时间片为 4。RR 的完成顺序和平均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周转时间？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2869882"/>
              <a:ext cx="25511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完成顺序 P2(7)、P1(12)、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P3(14)，平均周转时间 (12 + 7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14)/3 = 11。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50970"/>
            <a:ext cx="3505200" cy="2257425"/>
            <a:chOff x="8153400" y="3950970"/>
            <a:chExt cx="3505200" cy="225742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232" y="448246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高级、中级、低级调度各管什么？中级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调度的目标是什么？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3232" y="5039678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高级选作业进内存，中级在内外存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之间换入换出进程，低级分配 CPU；中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级调度的目标是控制并发度。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39059" cy="909257"/>
            <a:chOff x="520446" y="342900"/>
            <a:chExt cx="31390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中断与调度 · 多处理机调度与系统举例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059805" cy="3372802"/>
            <a:chOff x="533400" y="1524000"/>
            <a:chExt cx="6059805" cy="3372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3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512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中断响应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4723" y="2108359"/>
              <a:ext cx="43289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 PSW、PC 到系统栈，装入中断向量，执行处理程序，恢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复并返回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中断处理程序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4723" y="2783681"/>
              <a:ext cx="40525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处理完判断是否切换进程；切换由 dispatcher 保存、选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择、恢复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4723" y="3459004"/>
              <a:ext cx="4215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非剥夺：FCFS、SJF、HRN；剥夺：SRTN、RR、FB；HPF 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种都有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99954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1343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三级调度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4723" y="4134326"/>
              <a:ext cx="3469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高级选作业，中级控制并发度，低级分配 CPU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43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5839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74723" y="4583906"/>
              <a:ext cx="4043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EDF：Σ Ci/Ti ≤ 1；RMS：Σ Ci/Ti ≤ n(2^(1/n) − 1)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059805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62138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bullets-1"/>
          <p:cNvGrpSpPr/>
          <p:nvPr/>
        </p:nvGrpSpPr>
        <p:grpSpPr>
          <a:xfrm>
            <a:off x="6898005" y="1535430"/>
            <a:ext cx="4687824" cy="1567815"/>
            <a:chOff x="6898005" y="1535430"/>
            <a:chExt cx="4687824" cy="1567815"/>
          </a:xfrm>
        </p:grpSpPr>
        <p:sp>
          <p:nvSpPr>
            <p:cNvPr id="29" name="Ellipse 29"/>
            <p:cNvSpPr/>
            <p:nvPr/>
          </p:nvSpPr>
          <p:spPr>
            <a:xfrm>
              <a:off x="6898005" y="15354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59854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98995" y="1548765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同时到达时 SJF 平均等待最短；HRN 兼顾短作业与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等待久的作业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98005" y="21659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9854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98995" y="2179320"/>
              <a:ext cx="4130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SRTN、RR 可剥夺，等待时间要算上被抢占后排队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的时间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898005" y="279654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59854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98995" y="2809875"/>
              <a:ext cx="438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 的条件比 EDF 严格，不满足时要实际排一遍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898005" y="3234690"/>
            <a:ext cx="4760595" cy="2036445"/>
            <a:chOff x="6898005" y="3234690"/>
            <a:chExt cx="4760595" cy="2036445"/>
          </a:xfrm>
        </p:grpSpPr>
        <p:sp>
          <p:nvSpPr>
            <p:cNvPr id="39" name="Rectangle 39"/>
            <p:cNvSpPr/>
            <p:nvPr/>
          </p:nvSpPr>
          <p:spPr>
            <a:xfrm>
              <a:off x="6898005" y="3234690"/>
              <a:ext cx="4760595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07530" y="336804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45655" y="344424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1408" y="347995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51370" y="38842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9485" y="3821430"/>
              <a:ext cx="4066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HPF 例题平均周转时间应为 10.8（原 38.8）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51370" y="42195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09485" y="4156710"/>
              <a:ext cx="3502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 是可抢占调度（原写作非剥夺式）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51370" y="45548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09485" y="4491990"/>
              <a:ext cx="3864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EDF 使最大延迟最小，并非误期任务数最少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51370" y="48901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09485" y="482727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中断向量表第 5 个地址应为 0032（原 0030）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9105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复习重点：六种调度算法的甘特图与周转时间手算；中断响应和处理流程；EDF、RMS 的可调度判断。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第3章 中断与处理机调度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3">
  <a:themeElements>
    <a:clrScheme name="os_ch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2026-09-17T02:59:27Z</dcterms:created>
  <dcterms:modified xsi:type="dcterms:W3CDTF">2026-09-17T02:59:27Z</dcterms:modified>
  <cp:category/>
  <cp:contentStatus/>
</cp:coreProperties>
</file>