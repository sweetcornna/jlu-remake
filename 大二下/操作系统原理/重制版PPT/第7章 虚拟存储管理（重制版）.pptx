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700f4d42501242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6ed1a395c8cfea8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15ab39948b2707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第七章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虚拟存储管理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只装入一部分，用到时再调入，内存不够就淘汰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外存管理与缺页中断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页面置换算法与工作集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虚拟段式、段页式与动态连接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916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 与 Windows 实例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自学复习版｜据吉林大学《操作系统原理》第七章课件整理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外存管理与虚拟存储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外存的划分与分配、进程与外存的对应、为什么需要虚拟存储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虚拟页式存储管理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地址映射、缺页中断处理、页表扩充、页框分配与调入时机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181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OPT、FIFO、LRU、NUR、LFU/MFU、二次机会、时钟算法、考研题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颠簸与工作集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颠簸的成因、工作集模型、窗口尺寸、页故障率反馈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虚拟段式与段页式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缺段中断、段的动态连接、共享段表与四种中断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系统举例与计算题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009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 伙伴堆、Windows Vista 虚拟页式、含缺页的有效访问时间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画出虚拟页式的地址映射和缺页中断处理流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OPT、FIFO、LRU、时钟、改进时钟算法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手算缺页次数和淘汰页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说出颠簸的原因，写出给定窗口尺寸下的工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跟踪动态连接时间接字和段名-段号对照表的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手算伙伴堆的分配与合并，计算含缺页的有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效访问时间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外存管理与虚拟存储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内存装不下的部分放在外存哪里，为什么只装入一部分就能运行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 外存空间的划分与分配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进程与外存块的对应关系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没有虚拟存储时的两个问题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外存管理与虚拟存储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外存空间：按块划分，用三种方式记录空闲块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ells-1"/>
          <p:cNvGrpSpPr/>
          <p:nvPr/>
        </p:nvGrpSpPr>
        <p:grpSpPr>
          <a:xfrm>
            <a:off x="526923" y="1524000"/>
            <a:ext cx="4984242" cy="419100"/>
            <a:chOff x="526923" y="1524000"/>
            <a:chExt cx="4984242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6540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外存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1552" y="1524000"/>
              <a:ext cx="1129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883" y="1654016"/>
              <a:ext cx="853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Swap 空间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21218" y="1524000"/>
              <a:ext cx="1129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23770" y="1654016"/>
              <a:ext cx="724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 空间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50882" y="1524000"/>
              <a:ext cx="1129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0768" y="1654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1524000"/>
              <a:ext cx="1129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81385" y="1654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2133600"/>
            <a:ext cx="4977765" cy="4073842"/>
            <a:chOff x="533400" y="2133600"/>
            <a:chExt cx="4977765" cy="4073842"/>
          </a:xfrm>
        </p:grpSpPr>
        <p:sp>
          <p:nvSpPr>
            <p:cNvPr id="17" name="Rectangle 17"/>
            <p:cNvSpPr/>
            <p:nvPr/>
          </p:nvSpPr>
          <p:spPr>
            <a:xfrm>
              <a:off x="533400" y="2133600"/>
              <a:ext cx="4977765" cy="4073842"/>
            </a:xfrm>
            <a:prstGeom prst="roundRect">
              <a:avLst>
                <a:gd name="adj" fmla="val 32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2266950"/>
              <a:ext cx="47625" cy="38071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2343150"/>
              <a:ext cx="135445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884" y="2378869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7.1 外存空间划分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42185" y="2378392"/>
              <a:ext cx="1151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块（block）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2739390"/>
              <a:ext cx="4397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外存空间静态划分为等长的块，块长为 2ⁱ 字节。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31375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307467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块是外存分配的基本单位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34728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3409950"/>
              <a:ext cx="2503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块也是 I/O 传输的基本单位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573" y="3741896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Swap 空间存放从内存换出的页面，File 空间存放文件，输入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井和输出井供 SPOOLing 使用。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2248852"/>
            <a:chOff x="5815965" y="1524000"/>
            <a:chExt cx="5842635" cy="2248852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9358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外存空间分配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07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282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23788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5868" y="22217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空闲块用指针串成一条链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63303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分配回收要逐块读写链指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针，速度慢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264795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3788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空闲块表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25868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用表登记空闲块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63303" y="2783681"/>
              <a:ext cx="767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采用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字位映像图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25868" y="323230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每块对应一位，记录空闲或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63303" y="33456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位图占空间小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1328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5071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2"/>
          <p:cNvGrpSpPr/>
          <p:nvPr/>
        </p:nvGrpSpPr>
        <p:grpSpPr>
          <a:xfrm>
            <a:off x="5815965" y="3963352"/>
            <a:ext cx="5842635" cy="2244091"/>
            <a:chOff x="5815965" y="3963352"/>
            <a:chExt cx="5842635" cy="2244091"/>
          </a:xfrm>
        </p:grpSpPr>
        <p:sp>
          <p:nvSpPr>
            <p:cNvPr id="49" name="Rectangle 49"/>
            <p:cNvSpPr/>
            <p:nvPr/>
          </p:nvSpPr>
          <p:spPr>
            <a:xfrm>
              <a:off x="5815965" y="3963352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65901" y="40981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管理方式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4121" y="40981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进程与外存块的对应关系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23788" y="45477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界地址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25868" y="454771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每个进程占一组外存连续块；双对界时占两组连续块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48558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5965" y="486060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23788" y="49963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5868" y="49963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内存一页对应外存一块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53044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23788" y="5444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25868" y="544496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每段占外存若干连续块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57540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5965" y="575881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23788" y="58935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25868" y="589359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内存一页对应外存一块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3963352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213282" y="3963352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外存管理与虚拟存储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为什么要虚拟存储：进程只装一部分，缺的时候再调入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ompare-1"/>
          <p:cNvGrpSpPr/>
          <p:nvPr/>
        </p:nvGrpSpPr>
        <p:grpSpPr>
          <a:xfrm>
            <a:off x="533400" y="1524000"/>
            <a:ext cx="5951220" cy="2560320"/>
            <a:chOff x="533400" y="1524000"/>
            <a:chExt cx="5951220" cy="2560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66060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没有虚拟存储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不能运行比内存大的程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进程全部装入内存，浪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费空间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18560" y="1524000"/>
              <a:ext cx="2766060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72808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58590" y="175831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虚拟存储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97192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30040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进程部分装入内存，部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分或全部放在外存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7192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30040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运行时访问到外存部分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就动态调入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71925" y="34175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30040" y="33547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内存不够时淘汰暂时不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用的部分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347085" y="26422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17425" y="27384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274820"/>
            <a:ext cx="5951220" cy="2016442"/>
            <a:chOff x="533400" y="4274820"/>
            <a:chExt cx="5951220" cy="2016442"/>
          </a:xfrm>
        </p:grpSpPr>
        <p:sp>
          <p:nvSpPr>
            <p:cNvPr id="26" name="Rectangle 26"/>
            <p:cNvSpPr/>
            <p:nvPr/>
          </p:nvSpPr>
          <p:spPr>
            <a:xfrm>
              <a:off x="533400" y="4274820"/>
              <a:ext cx="595122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408170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48437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1705" y="452008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为什么能只装一部分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77440" y="451961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进程活动具有局部性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488061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一段时间内，进程只集中访问程序和数据的一小部分。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2787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2158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单控制流的进程只需要较少部分在内存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6140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5511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多控制流（多线程）的进程需要较多部分在内存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573" y="58831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全部装入会让大量暂时不用的页面白占内存。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789420" y="1524000"/>
            <a:ext cx="4869180" cy="4863942"/>
            <a:chOff x="6789420" y="1524000"/>
            <a:chExt cx="4869180" cy="486394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9862" t="0" r="9862" b="0"/>
            <a:stretch>
              <a:fillRect/>
            </a:stretch>
          </p:blipFill>
          <p:spPr>
            <a:xfrm>
              <a:off x="6789420" y="1524000"/>
              <a:ext cx="486918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409002" y="616791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书桌只放正在读的几本，其余留在书架上，要用时再换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虚拟页式存储管理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页式管理加上缺页中断和页面淘汰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地址映射：硬件完成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缺页中断处理：软件完成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页表、快表增加的字段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页框分配、外存块分配与调入时机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80414" cy="909257"/>
            <a:chOff x="520446" y="342900"/>
            <a:chExt cx="110804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80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7.2.1 地址映射：查快表、查页表由硬件完成，页不在内存就发缺页中断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87328" cy="308039"/>
            <a:chOff x="525399" y="1550194"/>
            <a:chExt cx="1008732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873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逻辑地址 (p, d)：p 为逻辑页号，d 为页内地址。l 为页表长度寄存器，b 为页表首址寄存器，f 为页框号。</a:t>
              </a:r>
            </a:p>
          </p:txBody>
        </p:sp>
      </p:grpSp>
      <p:grpSp>
        <p:nvGrpSpPr>
          <p:cNvPr id="63" name="c1-flow-1"/>
          <p:cNvGrpSpPr/>
          <p:nvPr/>
        </p:nvGrpSpPr>
        <p:grpSpPr>
          <a:xfrm>
            <a:off x="689610" y="2086928"/>
            <a:ext cx="10813732" cy="2840354"/>
            <a:chOff x="689610" y="2086928"/>
            <a:chExt cx="10813732" cy="2840354"/>
          </a:xfrm>
        </p:grpSpPr>
        <p:sp>
          <p:nvSpPr>
            <p:cNvPr id="9" name="Freeform 9"/>
            <p:cNvSpPr/>
            <p:nvPr/>
          </p:nvSpPr>
          <p:spPr>
            <a:xfrm>
              <a:off x="2602230" y="249650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9875" y="2444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7270" y="2496502"/>
              <a:ext cx="4657725" cy="9525"/>
            </a:xfrm>
            <a:custGeom>
              <a:avLst/>
              <a:gdLst/>
              <a:ahLst/>
              <a:cxnLst/>
              <a:rect l="l" t="t" r="r" b="b"/>
              <a:pathLst>
                <a:path w="4657725" h="9525">
                  <a:moveTo>
                    <a:pt x="0" y="0"/>
                  </a:moveTo>
                  <a:lnTo>
                    <a:pt x="46577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484995" y="2444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70960" y="2906078"/>
              <a:ext cx="9525" cy="242888"/>
            </a:xfrm>
            <a:custGeom>
              <a:avLst/>
              <a:gdLst/>
              <a:ahLst/>
              <a:cxnLst/>
              <a:rect l="l" t="t" r="r" b="b"/>
              <a:pathLst>
                <a:path w="9525" h="242888">
                  <a:moveTo>
                    <a:pt x="0" y="0"/>
                  </a:moveTo>
                  <a:lnTo>
                    <a:pt x="0" y="242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18572" y="31489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07005" y="355473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02230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27270" y="355473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34915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052310" y="355473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259955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277350" y="355473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484995" y="35023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546080" y="2915602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493692" y="2810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321040" y="3854768"/>
              <a:ext cx="9525" cy="338138"/>
            </a:xfrm>
            <a:custGeom>
              <a:avLst/>
              <a:gdLst/>
              <a:ahLst/>
              <a:cxnLst/>
              <a:rect l="l" t="t" r="r" b="b"/>
              <a:pathLst>
                <a:path w="9525" h="338138">
                  <a:moveTo>
                    <a:pt x="0" y="0"/>
                  </a:moveTo>
                  <a:lnTo>
                    <a:pt x="0" y="3381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268652" y="41929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776788" y="4612958"/>
              <a:ext cx="2587943" cy="9525"/>
            </a:xfrm>
            <a:custGeom>
              <a:avLst/>
              <a:gdLst/>
              <a:ahLst/>
              <a:cxnLst/>
              <a:rect l="l" t="t" r="r" b="b"/>
              <a:pathLst>
                <a:path w="2587943" h="9525">
                  <a:moveTo>
                    <a:pt x="25879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672012" y="45605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9610" y="2182178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2914650" y="2086928"/>
              <a:ext cx="1912620" cy="819150"/>
            </a:xfrm>
            <a:custGeom>
              <a:avLst/>
              <a:gdLst/>
              <a:ahLst/>
              <a:cxnLst/>
              <a:rect l="l" t="t" r="r" b="b"/>
              <a:pathLst>
                <a:path w="1912620" h="819150">
                  <a:moveTo>
                    <a:pt x="956310" y="0"/>
                  </a:moveTo>
                  <a:lnTo>
                    <a:pt x="1912620" y="409575"/>
                  </a:lnTo>
                  <a:lnTo>
                    <a:pt x="95631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89770" y="2182178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9610" y="3335655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914650" y="3253740"/>
              <a:ext cx="1912620" cy="601027"/>
            </a:xfrm>
            <a:custGeom>
              <a:avLst/>
              <a:gdLst/>
              <a:ahLst/>
              <a:cxnLst/>
              <a:rect l="l" t="t" r="r" b="b"/>
              <a:pathLst>
                <a:path w="1912620" h="601027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39690" y="333565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64730" y="3253740"/>
              <a:ext cx="1912620" cy="601027"/>
            </a:xfrm>
            <a:custGeom>
              <a:avLst/>
              <a:gdLst/>
              <a:ahLst/>
              <a:cxnLst/>
              <a:rect l="l" t="t" r="r" b="b"/>
              <a:pathLst>
                <a:path w="1912620" h="601027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89770" y="323945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64730" y="4297680"/>
              <a:ext cx="1913572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4868" y="4393882"/>
              <a:ext cx="382714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203" y="229790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指令给出逻辑地址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(p, d)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83331" y="2297906"/>
              <a:ext cx="117525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 查快表，查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99955" y="2297906"/>
              <a:ext cx="14922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与 d 合并得物理地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94816" y="34656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4774" y="3465671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p ≤ l−1？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52882" y="3465671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b、p 查页表得 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97622" y="34656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该页在内存？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60915" y="3356134"/>
              <a:ext cx="13703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(p, f) 写入快表，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快表满则淘汰一项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83043" y="441436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缺页中断，转软件处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理（下一页）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01141" y="452389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调入后重新执行这条指令，再走一遍映射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027545" y="228028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61835" y="23069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99535" y="298799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22776" y="30146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44140" y="33385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682430" y="33651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869180" y="33385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07471" y="33651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319260" y="333851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57550" y="33651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349615" y="398430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72856" y="40109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70245" y="439674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0534" y="4423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处理完</a:t>
              </a:r>
            </a:p>
          </p:txBody>
        </p:sp>
      </p:grpSp>
      <p:grpSp>
        <p:nvGrpSpPr>
          <p:cNvPr id="69" name="c1-card-2"/>
          <p:cNvGrpSpPr/>
          <p:nvPr/>
        </p:nvGrpSpPr>
        <p:grpSpPr>
          <a:xfrm>
            <a:off x="533400" y="5332095"/>
            <a:ext cx="11129200" cy="1030605"/>
            <a:chOff x="533400" y="5332095"/>
            <a:chExt cx="11129200" cy="1030605"/>
          </a:xfrm>
        </p:grpSpPr>
        <p:sp>
          <p:nvSpPr>
            <p:cNvPr id="64" name="Rectangle 64"/>
            <p:cNvSpPr/>
            <p:nvPr/>
          </p:nvSpPr>
          <p:spPr>
            <a:xfrm>
              <a:off x="533400" y="5332095"/>
              <a:ext cx="11125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2925" y="5465445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1050" y="55416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1258" y="55773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3430" y="5918835"/>
              <a:ext cx="10889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原课件流程图把写入快表的表项写作 (f, p)。快表按逻辑页号查找页框号，表项应为 (p, f)，与第 9 页的快表格式一致。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缺页中断处理：有空闲页框就直接读入，没有就先淘汰一页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flow-1"/>
          <p:cNvGrpSpPr/>
          <p:nvPr/>
        </p:nvGrpSpPr>
        <p:grpSpPr>
          <a:xfrm>
            <a:off x="2771775" y="1625918"/>
            <a:ext cx="3890962" cy="4635817"/>
            <a:chOff x="2771775" y="1625918"/>
            <a:chExt cx="3890962" cy="4635817"/>
          </a:xfrm>
        </p:grpSpPr>
        <p:sp>
          <p:nvSpPr>
            <p:cNvPr id="7" name="Freeform 7"/>
            <p:cNvSpPr/>
            <p:nvPr/>
          </p:nvSpPr>
          <p:spPr>
            <a:xfrm>
              <a:off x="3670935" y="2228850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0" y="0"/>
                  </a:move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8548" y="2334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70935" y="3027998"/>
              <a:ext cx="9525" cy="1001078"/>
            </a:xfrm>
            <a:custGeom>
              <a:avLst/>
              <a:gdLst/>
              <a:ahLst/>
              <a:cxnLst/>
              <a:rect l="l" t="t" r="r" b="b"/>
              <a:pathLst>
                <a:path w="9525" h="1001078">
                  <a:moveTo>
                    <a:pt x="0" y="0"/>
                  </a:moveTo>
                  <a:lnTo>
                    <a:pt x="0" y="1001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8548" y="4029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571048" y="2733675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58690" y="2681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763578" y="3035618"/>
              <a:ext cx="9525" cy="105728"/>
            </a:xfrm>
            <a:custGeom>
              <a:avLst/>
              <a:gdLst/>
              <a:ahLst/>
              <a:cxnLst/>
              <a:rect l="l" t="t" r="r" b="b"/>
              <a:pathLst>
                <a:path w="9525" h="105728">
                  <a:moveTo>
                    <a:pt x="0" y="0"/>
                  </a:moveTo>
                  <a:lnTo>
                    <a:pt x="0" y="1057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1190" y="31413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763578" y="3833812"/>
              <a:ext cx="9525" cy="195262"/>
            </a:xfrm>
            <a:custGeom>
              <a:avLst/>
              <a:gdLst/>
              <a:ahLst/>
              <a:cxnLst/>
              <a:rect l="l" t="t" r="r" b="b"/>
              <a:pathLst>
                <a:path w="9525" h="195262">
                  <a:moveTo>
                    <a:pt x="0" y="0"/>
                  </a:moveTo>
                  <a:lnTo>
                    <a:pt x="0" y="195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1190" y="4029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670935" y="3833812"/>
              <a:ext cx="2092643" cy="195262"/>
            </a:xfrm>
            <a:custGeom>
              <a:avLst/>
              <a:gdLst/>
              <a:ahLst/>
              <a:cxnLst/>
              <a:rect l="l" t="t" r="r" b="b"/>
              <a:pathLst>
                <a:path w="2092643" h="195262">
                  <a:moveTo>
                    <a:pt x="2092643" y="0"/>
                  </a:moveTo>
                  <a:lnTo>
                    <a:pt x="2092643" y="150495"/>
                  </a:lnTo>
                  <a:lnTo>
                    <a:pt x="0" y="150495"/>
                  </a:lnTo>
                  <a:lnTo>
                    <a:pt x="0" y="1952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18548" y="4029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675822" y="4346258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571048" y="42938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670935" y="4558665"/>
              <a:ext cx="9525" cy="277177"/>
            </a:xfrm>
            <a:custGeom>
              <a:avLst/>
              <a:gdLst/>
              <a:ahLst/>
              <a:cxnLst/>
              <a:rect l="l" t="t" r="r" b="b"/>
              <a:pathLst>
                <a:path w="9525" h="277177">
                  <a:moveTo>
                    <a:pt x="0" y="0"/>
                  </a:moveTo>
                  <a:lnTo>
                    <a:pt x="0" y="2771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18548" y="48358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670935" y="5365432"/>
              <a:ext cx="9525" cy="187643"/>
            </a:xfrm>
            <a:custGeom>
              <a:avLst/>
              <a:gdLst/>
              <a:ahLst/>
              <a:cxnLst/>
              <a:rect l="l" t="t" r="r" b="b"/>
              <a:pathLst>
                <a:path w="9525" h="187643">
                  <a:moveTo>
                    <a:pt x="0" y="0"/>
                  </a:moveTo>
                  <a:lnTo>
                    <a:pt x="0" y="1876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618548" y="5553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71775" y="1625918"/>
              <a:ext cx="17992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771775" y="2439352"/>
              <a:ext cx="1799272" cy="588645"/>
            </a:xfrm>
            <a:custGeom>
              <a:avLst/>
              <a:gdLst/>
              <a:ahLst/>
              <a:cxnLst/>
              <a:rect l="l" t="t" r="r" b="b"/>
              <a:pathLst>
                <a:path w="1799272" h="588645">
                  <a:moveTo>
                    <a:pt x="899160" y="0"/>
                  </a:moveTo>
                  <a:lnTo>
                    <a:pt x="1799272" y="294322"/>
                  </a:lnTo>
                  <a:lnTo>
                    <a:pt x="899160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863465" y="2431732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863465" y="3246120"/>
              <a:ext cx="1799272" cy="587692"/>
            </a:xfrm>
            <a:custGeom>
              <a:avLst/>
              <a:gdLst/>
              <a:ahLst/>
              <a:cxnLst/>
              <a:rect l="l" t="t" r="r" b="b"/>
              <a:pathLst>
                <a:path w="1799272" h="587692">
                  <a:moveTo>
                    <a:pt x="900112" y="0"/>
                  </a:moveTo>
                  <a:lnTo>
                    <a:pt x="1799272" y="294322"/>
                  </a:lnTo>
                  <a:lnTo>
                    <a:pt x="900112" y="587692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63465" y="4133850"/>
              <a:ext cx="1799272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71775" y="4133850"/>
              <a:ext cx="17992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71775" y="4940618"/>
              <a:ext cx="17992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71775" y="5657850"/>
              <a:ext cx="17992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979039" y="1740218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保存现场，由页表找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到该页在外存的位置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80207" y="26498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有空闲页框？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71682" y="2546985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按淘汰算法选一页淘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2850" y="34566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该页修改过？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34394" y="42624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写回外存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80207" y="426243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读入所需页面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99435" y="50692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更新页表和快表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9039" y="5773102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恢复现场，重新执行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被中断的指令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99510" y="34890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22751" y="35156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603432" y="25174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41723" y="25441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92152" y="3891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15394" y="3918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03432" y="37680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41723" y="37947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114222" y="1524000"/>
            <a:ext cx="4544378" cy="2097405"/>
            <a:chOff x="7114222" y="1524000"/>
            <a:chExt cx="4544378" cy="2097405"/>
          </a:xfrm>
        </p:grpSpPr>
        <p:sp>
          <p:nvSpPr>
            <p:cNvPr id="50" name="Rectangle 50"/>
            <p:cNvSpPr/>
            <p:nvPr/>
          </p:nvSpPr>
          <p:spPr>
            <a:xfrm>
              <a:off x="7114222" y="1524000"/>
              <a:ext cx="4544378" cy="2097405"/>
            </a:xfrm>
            <a:prstGeom prst="roundRect">
              <a:avLst>
                <a:gd name="adj" fmla="val 6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1657350"/>
              <a:ext cx="47625" cy="18307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56158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3751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基本原理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20368" y="210073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进程运行前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：全部装入外存，部分装入内存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63777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20368" y="242077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进程运行时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：访问的页不在内存，发生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缺页中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断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，由中断处理程序调入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50062" y="3008948"/>
              <a:ext cx="3822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淘汰页面时还要修改页表和总页表。读盘期间进程阻塞，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 切换给其他进程。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114222" y="3806190"/>
            <a:ext cx="4544378" cy="1545908"/>
            <a:chOff x="7114222" y="3806190"/>
            <a:chExt cx="4544378" cy="1545908"/>
          </a:xfrm>
        </p:grpSpPr>
        <p:sp>
          <p:nvSpPr>
            <p:cNvPr id="60" name="Rectangle 60"/>
            <p:cNvSpPr/>
            <p:nvPr/>
          </p:nvSpPr>
          <p:spPr>
            <a:xfrm>
              <a:off x="7114222" y="3806190"/>
              <a:ext cx="454437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3748" y="393954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56158" y="401002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0762" y="40457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和普通中断的区别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48918" y="4382929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缺页中断发生在一条指令执行的过程中，处理完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重新执行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这条指令；普通中断处理完接着执行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下一条指令。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7114222" y="5537835"/>
            <a:ext cx="4544378" cy="756285"/>
            <a:chOff x="7114222" y="5537835"/>
            <a:chExt cx="4544378" cy="756285"/>
          </a:xfrm>
        </p:grpSpPr>
        <p:sp>
          <p:nvSpPr>
            <p:cNvPr id="66" name="Rectangle 66"/>
            <p:cNvSpPr/>
            <p:nvPr/>
          </p:nvSpPr>
          <p:spPr>
            <a:xfrm>
              <a:off x="7114222" y="5537835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19010" y="5815965"/>
              <a:ext cx="200026" cy="200025"/>
              <a:chOff x="7319010" y="5815965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19010" y="5815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358749" y="5860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393464" y="5971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621334" y="5684996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淘汰页已修改时要先写盘再读盘，处理时间明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显变长，作业 1 就用到这两种时间。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页表和快表要增加外存地址、访问权限和修改标志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281737" cy="2091214"/>
            <a:chOff x="527685" y="1524000"/>
            <a:chExt cx="6281737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12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102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页框号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426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外存块号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9130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内外标识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239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访问权限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334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199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21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3984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8854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0963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073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199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210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245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42080" y="255698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6396" y="2556986"/>
              <a:ext cx="814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{r, w, e}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84265" y="255698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199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210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984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8854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0963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073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27602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7734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6411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1377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56247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5500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339518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虚拟页式的页表（每个进程一张，按逻辑页号索引）</a:t>
              </a:r>
            </a:p>
          </p:txBody>
        </p:sp>
      </p:grpSp>
      <p:grpSp>
        <p:nvGrpSpPr>
          <p:cNvPr id="68" name="c1-table-2"/>
          <p:cNvGrpSpPr/>
          <p:nvPr/>
        </p:nvGrpSpPr>
        <p:grpSpPr>
          <a:xfrm>
            <a:off x="527685" y="3761422"/>
            <a:ext cx="6281737" cy="2091215"/>
            <a:chOff x="527685" y="3761422"/>
            <a:chExt cx="6281737" cy="2091215"/>
          </a:xfrm>
        </p:grpSpPr>
        <p:sp>
          <p:nvSpPr>
            <p:cNvPr id="43" name="Rectangle 43"/>
            <p:cNvSpPr/>
            <p:nvPr/>
          </p:nvSpPr>
          <p:spPr>
            <a:xfrm>
              <a:off x="533400" y="3761422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9061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47785" y="38962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页框号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25633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访问权限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71553" y="38962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63932" y="43457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58869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22874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68794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653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65867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63932" y="47944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58869" y="47944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69631" y="4794409"/>
              <a:ext cx="814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{r, w, e}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22328" y="479440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51025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63932" y="52430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58869" y="52430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22874" y="52430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68794" y="52430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3761422"/>
              <a:ext cx="627602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102168" y="37614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513772" y="37614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31130" y="37614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7685" y="563260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虚拟页式的快表（只存已在内存的页）</a:t>
              </a:r>
            </a:p>
          </p:txBody>
        </p:sp>
      </p:grpSp>
      <p:grpSp>
        <p:nvGrpSpPr>
          <p:cNvPr id="80" name="c2-kv-1"/>
          <p:cNvGrpSpPr/>
          <p:nvPr/>
        </p:nvGrpSpPr>
        <p:grpSpPr>
          <a:xfrm>
            <a:off x="7106602" y="1548765"/>
            <a:ext cx="4551998" cy="2459355"/>
            <a:chOff x="7106602" y="1548765"/>
            <a:chExt cx="4551998" cy="2459355"/>
          </a:xfrm>
        </p:grpSpPr>
        <p:sp>
          <p:nvSpPr>
            <p:cNvPr id="69" name="TextBox 69"/>
            <p:cNvSpPr txBox="1"/>
            <p:nvPr/>
          </p:nvSpPr>
          <p:spPr>
            <a:xfrm>
              <a:off x="7106602" y="1548765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外存块号 b′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39150" y="154876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该页在外存的位置，缺页时据此读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14222" y="21507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06602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内外标识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39150" y="2270760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标明该页当前在内存还是只在外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存，不在内存就发缺页中断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114222" y="287274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6602" y="2992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访问权限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39150" y="2992755"/>
              <a:ext cx="2993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允许的操作：读 r、写 w、执行 e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114222" y="33127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106602" y="34328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39150" y="3432810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调入内存后是否被写过；修改过的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页淘汰时必须写回外存</a:t>
              </a:r>
            </a:p>
          </p:txBody>
        </p:sp>
      </p:grpSp>
      <p:grpSp>
        <p:nvGrpSpPr>
          <p:cNvPr id="87" name="c2-callout-2"/>
          <p:cNvGrpSpPr/>
          <p:nvPr/>
        </p:nvGrpSpPr>
        <p:grpSpPr>
          <a:xfrm>
            <a:off x="7114222" y="4139565"/>
            <a:ext cx="4544378" cy="1668780"/>
            <a:chOff x="7114222" y="4139565"/>
            <a:chExt cx="4544378" cy="1668780"/>
          </a:xfrm>
        </p:grpSpPr>
        <p:sp>
          <p:nvSpPr>
            <p:cNvPr id="81" name="Rectangle 81"/>
            <p:cNvSpPr/>
            <p:nvPr/>
          </p:nvSpPr>
          <p:spPr>
            <a:xfrm>
              <a:off x="7114222" y="4139565"/>
              <a:ext cx="4544378" cy="1668780"/>
            </a:xfrm>
            <a:prstGeom prst="roundRect">
              <a:avLst>
                <a:gd name="adj" fmla="val 684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19010" y="4873943"/>
              <a:ext cx="200026" cy="200026"/>
              <a:chOff x="7319010" y="4873943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19010" y="48739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419023" y="49406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407910" y="49739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620952" y="4731068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快表里的页都在内存中，所以快表不需要外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存块号和内外标识。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页框分配的静态策略：按什么比例给每个进程分页框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2470786"/>
            <a:chOff x="533400" y="1524000"/>
            <a:chExt cx="5626418" cy="247078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860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静态策略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22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平均分配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3843" y="2108359"/>
              <a:ext cx="3207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128 个页框、25 个进程时，每个进程分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个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147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按进程长度比例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3843" y="278368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进程越长分得越多，见右边公式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644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按进程优先级比例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53843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优先级越高分得越多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147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按长度和优先级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53843" y="36809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两个因素按比例综合决定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4125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185285"/>
            <a:ext cx="5626418" cy="1915478"/>
            <a:chOff x="533400" y="4185285"/>
            <a:chExt cx="5626418" cy="1915478"/>
          </a:xfrm>
        </p:grpSpPr>
        <p:sp>
          <p:nvSpPr>
            <p:cNvPr id="26" name="Rectangle 26"/>
            <p:cNvSpPr/>
            <p:nvPr/>
          </p:nvSpPr>
          <p:spPr>
            <a:xfrm>
              <a:off x="533400" y="4185285"/>
              <a:ext cx="5626418" cy="1915478"/>
            </a:xfrm>
            <a:prstGeom prst="roundRect">
              <a:avLst>
                <a:gd name="adj" fmla="val 69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318635"/>
              <a:ext cx="47625" cy="16487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3948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655" y="44305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静态策略没有反映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1050" y="47586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899" y="48009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2040" y="4772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程序的结构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1050" y="50939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899" y="51362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040" y="51073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程序在不同时刻的行为特性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573" y="543925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进程运行中需要的页框数是变化的。后面的工作集模型和页故障率反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馈模型按运行情况动态调整。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3"/>
              <p:cNvSpPr txBox="1">
                <a:spLocks noGrp="1"/>
              </p:cNvSpPr>
              <p:nvPr/>
            </p:nvSpPr>
            <p:spPr>
              <a:xfrm>
                <a:off x="6464618" y="1524000"/>
                <a:ext cx="5193982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7" name="c2-kv-2"/>
          <p:cNvGrpSpPr/>
          <p:nvPr/>
        </p:nvGrpSpPr>
        <p:grpSpPr>
          <a:xfrm>
            <a:off x="6456998" y="2493645"/>
            <a:ext cx="5201602" cy="1173480"/>
            <a:chOff x="6456998" y="2493645"/>
            <a:chExt cx="5201602" cy="1173480"/>
          </a:xfrm>
        </p:grpSpPr>
        <p:sp>
          <p:nvSpPr>
            <p:cNvPr id="39" name="TextBox 39"/>
            <p:cNvSpPr txBox="1"/>
            <p:nvPr/>
          </p:nvSpPr>
          <p:spPr>
            <a:xfrm>
              <a:off x="6456998" y="249364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34200" y="249364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pᵢ 的页面数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813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6998" y="2933700"/>
              <a:ext cx="174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34200" y="2933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内存的页框总数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253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6998" y="337375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34200" y="337375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分给进程 pᵢ 的页框数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464618" y="3798570"/>
            <a:ext cx="5193982" cy="2302192"/>
            <a:chOff x="6464618" y="3798570"/>
            <a:chExt cx="5193982" cy="2302192"/>
          </a:xfrm>
        </p:grpSpPr>
        <p:sp>
          <p:nvSpPr>
            <p:cNvPr id="48" name="Rectangle 48"/>
            <p:cNvSpPr/>
            <p:nvPr/>
          </p:nvSpPr>
          <p:spPr>
            <a:xfrm>
              <a:off x="6464618" y="3798570"/>
              <a:ext cx="5193982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93192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12268" y="400812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7378" y="40438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71373" y="404336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按进程长度比例分配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17983" y="4467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6098" y="440436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m = 62 个页框，进程 p1 有 10 页，p2 有 127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页，S = 137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17983" y="50882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76098" y="5025390"/>
              <a:ext cx="2852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= 10 / 137 × 62 ≈ 4.5，取 4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17983" y="54235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76098" y="5360670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= 127 / 137 × 62 ≈ 57.5，取 57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5791" y="5692616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向下取整后共分出 61 个，剩下 1 个页框留作空闲。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虚拟页式存储管理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外存块怎样分配，页面什么时候调入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626418" cy="2026920"/>
            <a:chOff x="533400" y="1524000"/>
            <a:chExt cx="5626418" cy="2026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668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外存块分配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3733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外存中保存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426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057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335054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静态分配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3275" y="23350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进程的全部页面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41560" y="2108359"/>
              <a:ext cx="11508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速度快：未修改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的页淘汰时不必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16996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外存浪费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9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464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123724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动态分配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3275" y="301037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只保存不在内存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的页面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41560" y="31237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节省外存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16996" y="3010376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速度慢：淘汰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时必须写回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5626418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710690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28975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04410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3741420"/>
            <a:ext cx="5626418" cy="782955"/>
            <a:chOff x="533400" y="3741420"/>
            <a:chExt cx="5626418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374142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032885"/>
              <a:ext cx="200026" cy="200026"/>
              <a:chOff x="738188" y="403288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0328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0995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1328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389001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静态分配时外存始终留着每一页的副本，页面调入后没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被修改，淘汰时直接丢弃内存中的这一份即可。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4714875"/>
            <a:ext cx="5626418" cy="782955"/>
            <a:chOff x="533400" y="4714875"/>
            <a:chExt cx="5626418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471487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002648"/>
              <a:ext cx="224134" cy="192560"/>
              <a:chOff x="726129" y="5002648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0730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0026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150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486346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动态分配下页面调入内存后外存不再保留它，所以淘汰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任何页都要写回。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1345882"/>
            <a:chOff x="6464618" y="1524000"/>
            <a:chExt cx="5193982" cy="1345882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345882"/>
            </a:xfrm>
            <a:prstGeom prst="roundRect">
              <a:avLst>
                <a:gd name="adj" fmla="val 99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0791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6431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 请调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1892" y="1768792"/>
              <a:ext cx="2679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请求调页（demand paging）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4648" y="2129790"/>
              <a:ext cx="4154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发生缺页中断时才调入（upon page fault）。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5791" y="24617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调入的一定是马上要用的页，不会白调。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464618" y="3060382"/>
            <a:ext cx="5193982" cy="2436495"/>
            <a:chOff x="6464618" y="3060382"/>
            <a:chExt cx="5193982" cy="2436495"/>
          </a:xfrm>
        </p:grpSpPr>
        <p:sp>
          <p:nvSpPr>
            <p:cNvPr id="49" name="Rectangle 49"/>
            <p:cNvSpPr/>
            <p:nvPr/>
          </p:nvSpPr>
          <p:spPr>
            <a:xfrm>
              <a:off x="6464618" y="3060382"/>
              <a:ext cx="5193982" cy="2436495"/>
            </a:xfrm>
            <a:prstGeom prst="roundRect">
              <a:avLst>
                <a:gd name="adj" fmla="val 54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3193732"/>
              <a:ext cx="47625" cy="21697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12268" y="3269932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6431" y="330565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 预调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21892" y="3305175"/>
              <a:ext cx="2021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预调页（prepaging）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04648" y="3666172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缺页之前，根据程序的顺序行为预计将要访问的页，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提前调入（before page fault）。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05791" y="428386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预计不一定准，所以预调必须辅以请调。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内存满了又发生缺页，淘汰哪一页能让缺页率最低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84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OPT、FIFO 与 Belady 异常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56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与近似算法 NUR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二次机会与时钟算法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改进的时钟算法与 2010 考研题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置换算法一览：各自淘汰哪一页，依据和代价是什么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495854" cy="293370"/>
            <a:chOff x="525780" y="1548765"/>
            <a:chExt cx="949585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495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置换算法（replacement algorithm）用于页淘汰、段淘汰和快表淘汰，目标是页故障率（缺页率）最低。</a:t>
              </a:r>
            </a:p>
          </p:txBody>
        </p:sp>
      </p:grpSp>
      <p:grpSp>
        <p:nvGrpSpPr>
          <p:cNvPr id="61" name="c1-table-1"/>
          <p:cNvGrpSpPr/>
          <p:nvPr/>
        </p:nvGrpSpPr>
        <p:grpSpPr>
          <a:xfrm>
            <a:off x="533400" y="1954530"/>
            <a:ext cx="11125200" cy="4298632"/>
            <a:chOff x="533400" y="1954530"/>
            <a:chExt cx="11125200" cy="429863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6683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6100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淘汰哪一页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518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依据或实现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91306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问题与评价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971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OPT 最佳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40902" y="251555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将来最长时间以后才用到的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1712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需要预知以后的访问序列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9272" y="251555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缺页率最低，无法实现，只作比较基准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052762"/>
              <a:ext cx="1348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FIFO 先进先出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0902" y="30527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最先调入的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1712" y="305276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依据是先进入的可能已用完；用队列实现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9272" y="2946082"/>
              <a:ext cx="2602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整个运行中都要用的页也会被换出；有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Belady 异常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537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589972"/>
              <a:ext cx="1581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LRU 最近最少使用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0902" y="358997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最近一次访问距今最长的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1712" y="358997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用栈实现，栈底就是淘汰页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49272" y="3589972"/>
              <a:ext cx="2640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效果接近 OPT，每次访问都要维护栈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8881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4019550"/>
              <a:ext cx="1258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NUR 最近不用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40902" y="40195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最近一段时间未用到的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1712" y="401955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访问标志：访问置 1，定时清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9272" y="4019550"/>
              <a:ext cx="163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的近似，实现简单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4556760"/>
              <a:ext cx="1581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 LFU 最不经常使用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40902" y="4556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使用次数最少的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1712" y="45567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计数器：调入清 0，访问加 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49272" y="4450080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前期常用、后来不用的页难换出；刚调入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的页易被换出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577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6252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5093017"/>
              <a:ext cx="1456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 MFU 最频繁使用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40902" y="509301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使用次数最多的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11712" y="5093017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依据是用得多的可能已经用完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49272" y="5093017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贯穿全程都要用的页会被换出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873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746" y="5523548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 二次机会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40902" y="552354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装入最久且最近未被访问的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11712" y="5523548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链表：r = 1 的清 0 后移到链尾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9272" y="552354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摘链入链慢，要额外空间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8178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82263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746" y="5954078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 时钟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0902" y="595407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与二次机会相同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11712" y="595407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页面排成环，指针循环扫描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49272" y="595407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直接用页表访问位，快且省空间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954530"/>
              <a:ext cx="11125200" cy="42976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530792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201602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539162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0608" cy="909257"/>
            <a:chOff x="520446" y="342900"/>
            <a:chExt cx="8010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0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OPT：淘汰将来最久才用到的页，同一序列缺页 9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91419" cy="541592"/>
            <a:chOff x="526161" y="1547336"/>
            <a:chExt cx="10591419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914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访问序列 6,0,1,2,0,3,0,4,2,3,0,3,2,1,2,0,1,6,0,1，3 个页框，开始为空。橙色格是本次调入的页，“×6”表示缺页并淘汰 6。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缺页率 45%。</a:t>
              </a:r>
            </a:p>
          </p:txBody>
        </p:sp>
      </p:grpSp>
      <p:grpSp>
        <p:nvGrpSpPr>
          <p:cNvPr id="134" name="c1-table-1"/>
          <p:cNvGrpSpPr/>
          <p:nvPr/>
        </p:nvGrpSpPr>
        <p:grpSpPr>
          <a:xfrm>
            <a:off x="533400" y="2204085"/>
            <a:ext cx="11125200" cy="2028825"/>
            <a:chOff x="533400" y="2204085"/>
            <a:chExt cx="11125200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11125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8416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576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010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540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4070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600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0356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5656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20956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6256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1556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5904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01204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6504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1804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61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814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67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20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639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61699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879" y="273415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66888" y="261937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57835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5218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748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51835" y="261937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4278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808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3243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773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2303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1833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363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7977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03277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98577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93877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225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3525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78825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183178" y="261937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74125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6847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63772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010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4879" y="313991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262188" y="3025140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45218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4748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44278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93808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3243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2773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232082" y="3025140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2303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91833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1363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17030" y="3025140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07977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03277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98577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93877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88225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83525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78825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374125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6847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363772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34166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44879" y="3545681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756535" y="343090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947482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442782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938082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242435" y="343090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432430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927730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423030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918330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13630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907977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03277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98577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202930" y="3430905"/>
              <a:ext cx="47625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393877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88225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383525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878825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374125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868472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363772" y="3545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3400" y="38223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46611" y="395144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 / 淘汰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957835" y="39514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452182" y="39514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947482" y="39514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397173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386820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377420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862368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348268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328515" y="3951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533400" y="2204085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175260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224790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274224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323754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373284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422814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4722495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5217795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5713095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08395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670274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719804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69334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818864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868299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917829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7359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168890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1066323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115853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0" name="c1-table-2"/>
          <p:cNvGrpSpPr/>
          <p:nvPr/>
        </p:nvGrpSpPr>
        <p:grpSpPr>
          <a:xfrm>
            <a:off x="528066" y="4408170"/>
            <a:ext cx="11130534" cy="1902714"/>
            <a:chOff x="528066" y="4408170"/>
            <a:chExt cx="11130534" cy="1902714"/>
          </a:xfrm>
        </p:grpSpPr>
        <p:sp>
          <p:nvSpPr>
            <p:cNvPr id="135" name="Rectangle 135"/>
            <p:cNvSpPr/>
            <p:nvPr/>
          </p:nvSpPr>
          <p:spPr>
            <a:xfrm>
              <a:off x="533400" y="4408170"/>
              <a:ext cx="11125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1040384" y="45324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第几次访问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2932049" y="45324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内存中的页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488265" y="453247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各页下一次被访问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0612476" y="45324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957458" y="493823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次访问 2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3033822" y="493823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6、0、1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4415790" y="4938236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在第 5 次，1 在第 14 次，6 在第 18 次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0721787" y="49382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533400" y="52149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33400" y="521970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957458" y="534400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次访问 4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033822" y="5344001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2、0、3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4415790" y="5344001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在第 9 次，3 在第 10 次，0 在第 11 次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721787" y="53440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533400" y="56207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13922" y="5749766"/>
              <a:ext cx="1018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次访问 6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3033822" y="574976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2、0、1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4415790" y="5749766"/>
              <a:ext cx="3019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在第 19 次，1 在第 20 次，2 以后不再访问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0721787" y="57497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533400" y="4408170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2308860" y="440817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4311015" y="440817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9873615" y="440817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528066" y="6105525"/>
              <a:ext cx="5137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OPT 要预知整个访问序列，实际系统做不到，只用来衡量其他算法离最优有多远。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3264" cy="909257"/>
            <a:chOff x="520446" y="342900"/>
            <a:chExt cx="72932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3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FIFO：淘汰最先调入的页，同一序列缺页 15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181023" cy="293370"/>
            <a:chOff x="525780" y="1548765"/>
            <a:chExt cx="818102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181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同一访问序列、3 个页框。FIFO 按调入先后排成队列，缺页时淘汰队首（最早调入的页）。</a:t>
              </a:r>
            </a:p>
          </p:txBody>
        </p:sp>
      </p:grpSp>
      <p:grpSp>
        <p:nvGrpSpPr>
          <p:cNvPr id="146" name="c1-table-1"/>
          <p:cNvGrpSpPr/>
          <p:nvPr/>
        </p:nvGrpSpPr>
        <p:grpSpPr>
          <a:xfrm>
            <a:off x="533400" y="1954530"/>
            <a:ext cx="11125200" cy="2150745"/>
            <a:chOff x="533400" y="1954530"/>
            <a:chExt cx="11125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26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227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466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19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372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25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686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216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1746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276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08066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241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9771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301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8313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266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7796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326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68561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290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5820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0619" y="2515552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66888" y="2394585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5449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488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41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51835" y="2394585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394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473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90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43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32082" y="2394585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196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49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02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17030" y="2394585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0463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9993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523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9053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48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801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54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83178" y="2394585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707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6512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6042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619" y="2946082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62188" y="282416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4488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441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394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3473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242435" y="282416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4290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243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4196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727382" y="282416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149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102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0463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9993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9523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202930" y="282416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39053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848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3801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754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3707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677525" y="282416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86512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36042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30619" y="3376612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756535" y="325469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94413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43943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93473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429087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736782" y="325469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924387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419687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914987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222682" y="325469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410287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90463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39993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9523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9053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697278" y="325469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88488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38018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87548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37078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86512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1172825" y="3254692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136042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18189" y="380619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 / 淘汰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95449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44883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94413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390572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×6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38022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87552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37082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586612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361420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855767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×4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341667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836015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×3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321915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816262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311562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33400" y="1954530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75260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224790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274224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323754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373284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422814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472249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521779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571309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620839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670274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719804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769334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818864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868299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917829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967359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1016889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1066323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1115853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7" name="c1-compare-2"/>
          <p:cNvGrpSpPr/>
          <p:nvPr/>
        </p:nvGrpSpPr>
        <p:grpSpPr>
          <a:xfrm>
            <a:off x="533400" y="4291012"/>
            <a:ext cx="11125200" cy="2071688"/>
            <a:chOff x="533400" y="4291012"/>
            <a:chExt cx="11125200" cy="2071688"/>
          </a:xfrm>
        </p:grpSpPr>
        <p:sp>
          <p:nvSpPr>
            <p:cNvPr id="147" name="Rectangle 147"/>
            <p:cNvSpPr/>
            <p:nvPr/>
          </p:nvSpPr>
          <p:spPr>
            <a:xfrm>
              <a:off x="533400" y="4291012"/>
              <a:ext cx="535305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542925" y="4424362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768096" y="4518184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跟踪队列（旧 → 新）</a:t>
              </a:r>
            </a:p>
          </p:txBody>
        </p:sp>
        <p:sp>
          <p:nvSpPr>
            <p:cNvPr id="150" name="Ellipse 150"/>
            <p:cNvSpPr/>
            <p:nvPr/>
          </p:nvSpPr>
          <p:spPr>
            <a:xfrm>
              <a:off x="782955" y="49168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39546" y="4856321"/>
              <a:ext cx="3799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次访问 3：队列为 0、1、2，淘汰队首 0</a:t>
              </a:r>
            </a:p>
          </p:txBody>
        </p:sp>
        <p:sp>
          <p:nvSpPr>
            <p:cNvPr id="152" name="Ellipse 152"/>
            <p:cNvSpPr/>
            <p:nvPr/>
          </p:nvSpPr>
          <p:spPr>
            <a:xfrm>
              <a:off x="782955" y="52368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939546" y="5176361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次访问 0：刚淘汰的 0 马上又要用，队列为 1、2、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3，淘汰 1</a:t>
              </a:r>
            </a:p>
          </p:txBody>
        </p:sp>
        <p:sp>
          <p:nvSpPr>
            <p:cNvPr id="154" name="Ellipse 154"/>
            <p:cNvSpPr/>
            <p:nvPr/>
          </p:nvSpPr>
          <p:spPr>
            <a:xfrm>
              <a:off x="782955" y="58283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939546" y="5767864"/>
              <a:ext cx="32259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次访问 4：队列 2、3、0，淘汰 2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6305550" y="4291012"/>
              <a:ext cx="535305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6315075" y="4424362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540246" y="451818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59" name="Ellipse 159"/>
            <p:cNvSpPr/>
            <p:nvPr/>
          </p:nvSpPr>
          <p:spPr>
            <a:xfrm>
              <a:off x="6555105" y="49168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6711696" y="4856321"/>
              <a:ext cx="27098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依据是“先进入的可能已经用完”</a:t>
              </a:r>
            </a:p>
          </p:txBody>
        </p:sp>
        <p:sp>
          <p:nvSpPr>
            <p:cNvPr id="161" name="Ellipse 161"/>
            <p:cNvSpPr/>
            <p:nvPr/>
          </p:nvSpPr>
          <p:spPr>
            <a:xfrm>
              <a:off x="6555105" y="52368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6711696" y="517636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有些代码和数据在整个运行中都要用，照样按调入先后被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换出</a:t>
              </a:r>
            </a:p>
          </p:txBody>
        </p:sp>
        <p:sp>
          <p:nvSpPr>
            <p:cNvPr id="163" name="Ellipse 163"/>
            <p:cNvSpPr/>
            <p:nvPr/>
          </p:nvSpPr>
          <p:spPr>
            <a:xfrm>
              <a:off x="6555105" y="58283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711696" y="576786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增加页框数，缺页次数不一定减少（下一页）</a:t>
              </a:r>
            </a:p>
          </p:txBody>
        </p:sp>
        <p:sp>
          <p:nvSpPr>
            <p:cNvPr id="165" name="Ellipse 165"/>
            <p:cNvSpPr/>
            <p:nvPr/>
          </p:nvSpPr>
          <p:spPr>
            <a:xfrm>
              <a:off x="5934075" y="51644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019991" y="52616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</a:t>
              </a:r>
            </a:p>
          </p:txBody>
        </p:sp>
      </p:grpSp>
      <p:grpSp>
        <p:nvGrpSpPr>
          <p:cNvPr id="1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8" name="TextBox 1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0363" cy="909257"/>
            <a:chOff x="520446" y="342900"/>
            <a:chExt cx="76703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03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Belady 异常：FIFO 多给一个页框，缺页反而更多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84537" cy="264033"/>
            <a:chOff x="526542" y="1545907"/>
            <a:chExt cx="65845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84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访问序列 1,2,3,4,1,2,5,1,2,3,4,5，分别给 3 个和 4 个页框，用 FIFO 置换。</a:t>
              </a:r>
            </a:p>
          </p:txBody>
        </p:sp>
      </p:grpSp>
      <p:grpSp>
        <p:nvGrpSpPr>
          <p:cNvPr id="95" name="c1-table-1"/>
          <p:cNvGrpSpPr/>
          <p:nvPr/>
        </p:nvGrpSpPr>
        <p:grpSpPr>
          <a:xfrm>
            <a:off x="528447" y="1928812"/>
            <a:ext cx="5415153" cy="2170462"/>
            <a:chOff x="528447" y="1928812"/>
            <a:chExt cx="5415153" cy="2170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1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262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076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985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7800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5709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3619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433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9342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157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5066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976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790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8335" y="242697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08748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4456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270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0180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545080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7994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5903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3813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680460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1627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9537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351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260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317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0984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8335" y="280892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786890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2270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0180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7994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23222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5903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813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1627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9537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7351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16792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5260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317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0984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8335" y="318992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165985" y="3082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30180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7994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05903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302318" y="3082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43813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81627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19537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7351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5260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95888" y="3082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170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0984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9150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54456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92270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30180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67994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05903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43813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81627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95260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33170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139446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77260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215169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253079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290893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328803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66617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404526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442436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480250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18160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55974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28447" y="3908584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个页框：缺页 9 次，页故障率 9/12</a:t>
              </a:r>
            </a:p>
          </p:txBody>
        </p:sp>
      </p:grpSp>
      <p:grpSp>
        <p:nvGrpSpPr>
          <p:cNvPr id="102" name="c1-callout-2"/>
          <p:cNvGrpSpPr/>
          <p:nvPr/>
        </p:nvGrpSpPr>
        <p:grpSpPr>
          <a:xfrm>
            <a:off x="533400" y="4226242"/>
            <a:ext cx="5410200" cy="1172528"/>
            <a:chOff x="533400" y="4226242"/>
            <a:chExt cx="5410200" cy="1172528"/>
          </a:xfrm>
        </p:grpSpPr>
        <p:sp>
          <p:nvSpPr>
            <p:cNvPr id="96" name="Rectangle 96"/>
            <p:cNvSpPr/>
            <p:nvPr/>
          </p:nvSpPr>
          <p:spPr>
            <a:xfrm>
              <a:off x="533400" y="4226242"/>
              <a:ext cx="5410200" cy="1172528"/>
            </a:xfrm>
            <a:prstGeom prst="roundRect">
              <a:avLst>
                <a:gd name="adj" fmla="val 974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38188" y="4712018"/>
              <a:ext cx="200026" cy="200026"/>
              <a:chOff x="738188" y="4712018"/>
              <a:chExt cx="200026" cy="200026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47120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38200" y="4778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27088" y="48120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1273" y="4370546"/>
              <a:ext cx="4491482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反常出在第 8 次访问页 1。3 个页框时它第 5 次才重新装入，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6、7 次淘汰的是更早装入的页 3、页 4，第 8 次它刚排到队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首，人还在内存；4 个页框时它自第 1 次起没换出过，第 7 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5 进来时它最老，正好被淘汰。</a:t>
              </a:r>
            </a:p>
          </p:txBody>
        </p:sp>
      </p:grpSp>
      <p:grpSp>
        <p:nvGrpSpPr>
          <p:cNvPr id="202" name="c2-table-1"/>
          <p:cNvGrpSpPr/>
          <p:nvPr/>
        </p:nvGrpSpPr>
        <p:grpSpPr>
          <a:xfrm>
            <a:off x="6243447" y="1928812"/>
            <a:ext cx="5415153" cy="2552414"/>
            <a:chOff x="6243447" y="1928812"/>
            <a:chExt cx="5415153" cy="2552414"/>
          </a:xfrm>
        </p:grpSpPr>
        <p:sp>
          <p:nvSpPr>
            <p:cNvPr id="103" name="Rectangle 103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341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25762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63576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1485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39300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77209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15119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52933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908428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28657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66566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04476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42290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6493335" y="2426970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页框1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7123748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25956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63770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01680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39494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77403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15313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9395460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953127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910372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28851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66760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10910888" y="2319338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10467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424847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6493335" y="280892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页框2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501890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63770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01680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839494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877403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915313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53127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9774555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9910372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28851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66760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0467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11289030" y="2701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11424847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6493335" y="318992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页框3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7880985" y="3082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801680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839494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877403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915313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953127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9910372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10153650" y="3082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1028851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066760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104670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424847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493335" y="357187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页框4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8260080" y="3463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839494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877403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915313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953127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9910372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028851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10531792" y="3463290"/>
              <a:ext cx="3600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066760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104670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1424847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6" name="Rectangle 176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7" name="TextBox 177"/>
            <p:cNvSpPr txBox="1"/>
            <p:nvPr/>
          </p:nvSpPr>
          <p:spPr>
            <a:xfrm>
              <a:off x="6534150" y="3952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725956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763770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801680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839494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953127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9910372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1028851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066760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104670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11424847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88" name="Rectangle 188"/>
            <p:cNvSpPr/>
            <p:nvPr/>
          </p:nvSpPr>
          <p:spPr>
            <a:xfrm>
              <a:off x="6248400" y="192881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89" name="Rectangle 189"/>
            <p:cNvSpPr/>
            <p:nvPr/>
          </p:nvSpPr>
          <p:spPr>
            <a:xfrm>
              <a:off x="710946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748760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1" name="Rectangle 191"/>
            <p:cNvSpPr/>
            <p:nvPr/>
          </p:nvSpPr>
          <p:spPr>
            <a:xfrm>
              <a:off x="786669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2" name="Rectangle 192"/>
            <p:cNvSpPr/>
            <p:nvPr/>
          </p:nvSpPr>
          <p:spPr>
            <a:xfrm>
              <a:off x="824579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862393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4" name="Rectangle 194"/>
            <p:cNvSpPr/>
            <p:nvPr/>
          </p:nvSpPr>
          <p:spPr>
            <a:xfrm>
              <a:off x="900303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5" name="Rectangle 195"/>
            <p:cNvSpPr/>
            <p:nvPr/>
          </p:nvSpPr>
          <p:spPr>
            <a:xfrm>
              <a:off x="938117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976026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1013936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8" name="Rectangle 198"/>
            <p:cNvSpPr/>
            <p:nvPr/>
          </p:nvSpPr>
          <p:spPr>
            <a:xfrm>
              <a:off x="1051750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1089660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0" name="Rectangle 200"/>
            <p:cNvSpPr/>
            <p:nvPr/>
          </p:nvSpPr>
          <p:spPr>
            <a:xfrm>
              <a:off x="1127474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1" name="TextBox 201"/>
            <p:cNvSpPr txBox="1"/>
            <p:nvPr/>
          </p:nvSpPr>
          <p:spPr>
            <a:xfrm>
              <a:off x="6243447" y="4290536"/>
              <a:ext cx="2331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个页框：缺页 10 次，页故障率 10/12</a:t>
              </a:r>
            </a:p>
          </p:txBody>
        </p:sp>
      </p:grpSp>
      <p:grpSp>
        <p:nvGrpSpPr>
          <p:cNvPr id="209" name="c2-callout-2"/>
          <p:cNvGrpSpPr/>
          <p:nvPr/>
        </p:nvGrpSpPr>
        <p:grpSpPr>
          <a:xfrm>
            <a:off x="6248400" y="4607242"/>
            <a:ext cx="5410200" cy="790575"/>
            <a:chOff x="6248400" y="4607242"/>
            <a:chExt cx="5410200" cy="790575"/>
          </a:xfrm>
        </p:grpSpPr>
        <p:sp>
          <p:nvSpPr>
            <p:cNvPr id="203" name="Rectangle 203"/>
            <p:cNvSpPr/>
            <p:nvPr/>
          </p:nvSpPr>
          <p:spPr>
            <a:xfrm>
              <a:off x="6248400" y="4607242"/>
              <a:ext cx="5410200" cy="790575"/>
            </a:xfrm>
            <a:prstGeom prst="roundRect">
              <a:avLst>
                <a:gd name="adj" fmla="val 144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7" name="Group 207"/>
            <p:cNvGrpSpPr/>
            <p:nvPr/>
          </p:nvGrpSpPr>
          <p:grpSpPr>
            <a:xfrm>
              <a:off x="6453188" y="4902518"/>
              <a:ext cx="200026" cy="200025"/>
              <a:chOff x="6453188" y="4902518"/>
              <a:chExt cx="200026" cy="200025"/>
            </a:xfrm>
          </p:grpSpPr>
          <p:sp>
            <p:nvSpPr>
              <p:cNvPr id="204" name="Freeform 204"/>
              <p:cNvSpPr/>
              <p:nvPr/>
            </p:nvSpPr>
            <p:spPr>
              <a:xfrm>
                <a:off x="6453188" y="49025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5" name="Freeform 205"/>
              <p:cNvSpPr/>
              <p:nvPr/>
            </p:nvSpPr>
            <p:spPr>
              <a:xfrm>
                <a:off x="6492926" y="49469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6" name="Freeform 206"/>
              <p:cNvSpPr/>
              <p:nvPr/>
            </p:nvSpPr>
            <p:spPr>
              <a:xfrm>
                <a:off x="6527642" y="50580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8" name="TextBox 208"/>
            <p:cNvSpPr txBox="1"/>
            <p:nvPr/>
          </p:nvSpPr>
          <p:spPr>
            <a:xfrm>
              <a:off x="6756273" y="4796314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 6 次访问，4 个页框只缺 4 次、3 个页框缺 6 次；后 6 次倒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过来，4 个页框缺 6 次、3 个页框只缺 3 次。</a:t>
              </a:r>
            </a:p>
          </p:txBody>
        </p:sp>
      </p:grpSp>
      <p:grpSp>
        <p:nvGrpSpPr>
          <p:cNvPr id="215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210" name="Rectangle 21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13" name="Group 213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2" name="Freeform 212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4" name="TextBox 214"/>
            <p:cNvSpPr txBox="1"/>
            <p:nvPr/>
          </p:nvSpPr>
          <p:spPr>
            <a:xfrm>
              <a:off x="1041273" y="5805011"/>
              <a:ext cx="992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LRU、OPT 不会出现 Belady 异常：任何时刻 n 个页框中的页集合都包含在 n+1 个页框的页集合里。本例 LRU 由 10 次降为 8 次，OPT 由 7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次降为 6 次。</a:t>
              </a:r>
            </a:p>
          </p:txBody>
        </p:sp>
      </p:grpSp>
      <p:grpSp>
        <p:nvGrpSpPr>
          <p:cNvPr id="2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6" name="TextBox 21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3208" cy="909257"/>
            <a:chOff x="520446" y="342900"/>
            <a:chExt cx="7863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3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LRU：淘汰最久没有被访问的页，用栈记录访问先后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2558415"/>
            <a:chOff x="533400" y="1524000"/>
            <a:chExt cx="4760595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3612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1585" y="1769269"/>
              <a:ext cx="231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 LRU（least recently used）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53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淘汰最近一次访问距当前时间最长的页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（Replace page that hasn't been used for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longest period of time）。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实现：栈。页面被访问时从栈中取出，压到栈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38550"/>
              <a:ext cx="312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栈底就是 LRU 页，缺页时淘汰栈底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272915"/>
            <a:ext cx="4760595" cy="1364932"/>
            <a:chOff x="533400" y="4272915"/>
            <a:chExt cx="4760595" cy="1364932"/>
          </a:xfrm>
        </p:grpSpPr>
        <p:sp>
          <p:nvSpPr>
            <p:cNvPr id="17" name="Rectangle 17"/>
            <p:cNvSpPr/>
            <p:nvPr/>
          </p:nvSpPr>
          <p:spPr>
            <a:xfrm>
              <a:off x="533400" y="4272915"/>
              <a:ext cx="4760595" cy="1364932"/>
            </a:xfrm>
            <a:prstGeom prst="roundRect">
              <a:avLst>
                <a:gd name="adj" fmla="val 837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854893"/>
              <a:ext cx="200026" cy="200026"/>
              <a:chOff x="738188" y="4854893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8548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9215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49549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712018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依据是局部性：最近用过的页很可能马上又要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用，很久没用的页短期内也不太会用。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5592318" y="1545431"/>
            <a:ext cx="5572506" cy="500824"/>
            <a:chOff x="5592318" y="1545431"/>
            <a:chExt cx="5572506" cy="500824"/>
          </a:xfrm>
        </p:grpSpPr>
        <p:sp>
          <p:nvSpPr>
            <p:cNvPr id="24" name="TextBox 24"/>
            <p:cNvSpPr txBox="1"/>
            <p:nvPr/>
          </p:nvSpPr>
          <p:spPr>
            <a:xfrm>
              <a:off x="5592318" y="1545431"/>
              <a:ext cx="55725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例：访问序列 4, 7, 0, 7, 1, 0, 1, 2, 1, 2, 7, 1, 2。a 为第 11 次访问（页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7）之前，b 为这次访问之后。</a:t>
              </a:r>
            </a:p>
          </p:txBody>
        </p:sp>
      </p:grpSp>
      <p:grpSp>
        <p:nvGrpSpPr>
          <p:cNvPr id="52" name="c2-cells-2"/>
          <p:cNvGrpSpPr/>
          <p:nvPr/>
        </p:nvGrpSpPr>
        <p:grpSpPr>
          <a:xfrm>
            <a:off x="5592318" y="2234565"/>
            <a:ext cx="5057584" cy="1275397"/>
            <a:chOff x="5592318" y="2234565"/>
            <a:chExt cx="5057584" cy="1275397"/>
          </a:xfrm>
        </p:grpSpPr>
        <p:sp>
          <p:nvSpPr>
            <p:cNvPr id="26" name="TextBox 26"/>
            <p:cNvSpPr txBox="1"/>
            <p:nvPr/>
          </p:nvSpPr>
          <p:spPr>
            <a:xfrm>
              <a:off x="5592318" y="2630329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栈 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39802" y="250031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4458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961822" y="250031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6660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3842" y="250031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8862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805862" y="2500312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1064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727882" y="250031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3266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4128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462712" y="2405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95110" y="2234565"/>
              <a:ext cx="787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栈底 LRU 页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0150792" y="2405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2318" y="3220879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栈 b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9802" y="3090862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44580" y="32208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961822" y="309086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66600" y="32208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883842" y="309086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88620" y="32208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05862" y="309086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10640" y="32208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727882" y="3090862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132660" y="32208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5598795" y="3700462"/>
            <a:ext cx="6059805" cy="1937385"/>
            <a:chOff x="5598795" y="3700462"/>
            <a:chExt cx="6059805" cy="1937385"/>
          </a:xfrm>
        </p:grpSpPr>
        <p:sp>
          <p:nvSpPr>
            <p:cNvPr id="53" name="Rectangle 53"/>
            <p:cNvSpPr/>
            <p:nvPr/>
          </p:nvSpPr>
          <p:spPr>
            <a:xfrm>
              <a:off x="5598795" y="3700462"/>
              <a:ext cx="605980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08320" y="3833812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46445" y="39100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37606" y="39457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52160" y="43500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10275" y="4287202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7：7 在栈中第 4 个位置，取出后压到栈顶，原来在它上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 2、1、0 各下移一位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52160" y="49710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10275" y="4908232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此时若缺页，淘汰栈底的 4：它的最近一次访问是第 1 次，距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今最久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4221" cy="909257"/>
            <a:chOff x="520446" y="342900"/>
            <a:chExt cx="88542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4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例题：同一序列缺页 12 次，介于 OPT 和 FIFO 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11790" cy="569595"/>
            <a:chOff x="525780" y="1548765"/>
            <a:chExt cx="105117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11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访问序列同 OPT 例题，3 个页框，淘汰最近一次访问最早的页。同一序列 OPT 缺页 9 次（45%），LRU 12 次（60%），FIFO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 次（75%）。</a:t>
              </a:r>
            </a:p>
          </p:txBody>
        </p:sp>
      </p:grpSp>
      <p:grpSp>
        <p:nvGrpSpPr>
          <p:cNvPr id="140" name="c1-table-1"/>
          <p:cNvGrpSpPr/>
          <p:nvPr/>
        </p:nvGrpSpPr>
        <p:grpSpPr>
          <a:xfrm>
            <a:off x="533400" y="2230755"/>
            <a:ext cx="11125200" cy="2150745"/>
            <a:chOff x="533400" y="2230755"/>
            <a:chExt cx="11125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265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2271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4661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191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3721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251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6866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2166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17466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2766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08066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2413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97713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3013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8313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2661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77961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3261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68561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290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58208" y="2362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0619" y="2791777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766888" y="2670810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5449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4883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413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51835" y="2670810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3943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3473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9087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24387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32082" y="2670810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19687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4987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0287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17030" y="2670810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04634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99934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5234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02930" y="2670810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90534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8488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018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548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078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6512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60429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0861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619" y="3222307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62188" y="310038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44883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4413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3943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3473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29087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24387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19687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14987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22682" y="310038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10287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04634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99934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95234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90534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84882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192578" y="310038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80182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75482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0782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86512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360429" y="322230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35166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0619" y="365283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2756535" y="353091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944139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439439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934739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242435" y="353091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429087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924387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419687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727382" y="353091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914987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410287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04634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99934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895234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390534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884882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80182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875482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183178" y="3530918"/>
              <a:ext cx="4762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370782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865129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360429" y="3652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33400" y="39462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18189" y="4082415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 / 淘汰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954492" y="40824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2448839" y="40824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944139" y="40824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390572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×6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380220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×1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370820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866120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×3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361420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855767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×4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341667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×0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331315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321915" y="40824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×2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533400" y="2230755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175260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224790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274224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323754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373284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422814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4722495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5217795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5713095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6208395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6702742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7198042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693342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8188642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868299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917829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967359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10168890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1066323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11158538" y="223075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5" name="c1-table-2"/>
          <p:cNvGrpSpPr/>
          <p:nvPr/>
        </p:nvGrpSpPr>
        <p:grpSpPr>
          <a:xfrm>
            <a:off x="533400" y="4567238"/>
            <a:ext cx="11125200" cy="1720215"/>
            <a:chOff x="533400" y="4567238"/>
            <a:chExt cx="11125200" cy="1720215"/>
          </a:xfrm>
        </p:grpSpPr>
        <p:sp>
          <p:nvSpPr>
            <p:cNvPr id="141" name="Rectangle 141"/>
            <p:cNvSpPr/>
            <p:nvPr/>
          </p:nvSpPr>
          <p:spPr>
            <a:xfrm>
              <a:off x="533400" y="4567238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1013079" y="46977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第几次访问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2904744" y="46977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内存中的页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364034" y="469773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各页最近一次被访问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601325" y="46977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24230" y="512826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次访问 4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013786" y="5128260"/>
              <a:ext cx="601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2、0、3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4421124" y="51282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在第 4 次，0 在第 7 次，3 在第 6 次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718444" y="5128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533400" y="5422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533400" y="54273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877584" y="5558790"/>
              <a:ext cx="1090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次访问 1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3013786" y="5558790"/>
              <a:ext cx="601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0、3、2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4421124" y="5558790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在第 11 次，3 在第 12 次，2 在第 13 次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718444" y="55587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533400" y="58521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877584" y="5988367"/>
              <a:ext cx="1090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16 次访问 0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3013786" y="5988367"/>
              <a:ext cx="601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1、3、2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4421124" y="5988367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在第 14 次，3 在第 12 次，2 在第 15 次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0718444" y="59883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533400" y="4567238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2308860" y="456723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4311015" y="456723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9873615" y="456723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6" name="TextBox 1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77907" cy="909257"/>
            <a:chOff x="520446" y="342900"/>
            <a:chExt cx="94779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779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NUR：定时清零访问标志，淘汰标志为 0 的页，是 LRU 的近似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232660"/>
            <a:chOff x="533400" y="1524000"/>
            <a:chExt cx="4760595" cy="22326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2336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6003" y="1769269"/>
              <a:ext cx="218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 NUR（not used recently）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淘汰最近一段时间内没有用到的页。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每页增加一个访问标志：访问时置 1，定时清 0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淘汰时从标志为 0 的页中选一个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113246"/>
              <a:ext cx="41094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只能分出“这段时间用过”和“没用过”两档，分不出没用过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的页里谁更久，所以是 LRU 的近似。</a:t>
              </a:r>
            </a:p>
          </p:txBody>
        </p:sp>
      </p:grpSp>
      <p:grpSp>
        <p:nvGrpSpPr>
          <p:cNvPr id="34" name="c1-compare-2"/>
          <p:cNvGrpSpPr/>
          <p:nvPr/>
        </p:nvGrpSpPr>
        <p:grpSpPr>
          <a:xfrm>
            <a:off x="533400" y="3947160"/>
            <a:ext cx="4760596" cy="1939290"/>
            <a:chOff x="533400" y="3947160"/>
            <a:chExt cx="4760596" cy="1939290"/>
          </a:xfrm>
        </p:grpSpPr>
        <p:sp>
          <p:nvSpPr>
            <p:cNvPr id="18" name="Rectangle 18"/>
            <p:cNvSpPr/>
            <p:nvPr/>
          </p:nvSpPr>
          <p:spPr>
            <a:xfrm>
              <a:off x="533400" y="3947160"/>
              <a:ext cx="217074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08051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3430" y="4181475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 要记录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5986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5358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每次访问的先后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2197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15683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每访问一次都要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23248" y="3947160"/>
              <a:ext cx="217074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32772" y="408051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63277" y="418147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NUR 只要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376612" y="45986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34727" y="4535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每页一个访问位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376612" y="49339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34727" y="4871085"/>
              <a:ext cx="1377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一个定时清 0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2751772" y="47548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22113" y="48510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6" name="c2-text-1"/>
          <p:cNvGrpSpPr/>
          <p:nvPr/>
        </p:nvGrpSpPr>
        <p:grpSpPr>
          <a:xfrm>
            <a:off x="5592318" y="1545431"/>
            <a:ext cx="5726938" cy="500824"/>
            <a:chOff x="5592318" y="1545431"/>
            <a:chExt cx="5726938" cy="500824"/>
          </a:xfrm>
        </p:grpSpPr>
        <p:sp>
          <p:nvSpPr>
            <p:cNvPr id="35" name="TextBox 35"/>
            <p:cNvSpPr txBox="1"/>
            <p:nvPr/>
          </p:nvSpPr>
          <p:spPr>
            <a:xfrm>
              <a:off x="5592318" y="1545431"/>
              <a:ext cx="572693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例：设内存 6 个页框（前 11 次访问恰好装入 6 个不同的页），第 6 次访问之后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访问标志全部清 0，第 12 次访问页 8 时缺页。</a:t>
              </a:r>
            </a:p>
          </p:txBody>
        </p:sp>
      </p:grpSp>
      <p:grpSp>
        <p:nvGrpSpPr>
          <p:cNvPr id="78" name="c2-cells-2"/>
          <p:cNvGrpSpPr/>
          <p:nvPr/>
        </p:nvGrpSpPr>
        <p:grpSpPr>
          <a:xfrm>
            <a:off x="5592318" y="2234565"/>
            <a:ext cx="6066282" cy="932211"/>
            <a:chOff x="5592318" y="2234565"/>
            <a:chExt cx="6066282" cy="932211"/>
          </a:xfrm>
        </p:grpSpPr>
        <p:sp>
          <p:nvSpPr>
            <p:cNvPr id="37" name="TextBox 37"/>
            <p:cNvSpPr txBox="1"/>
            <p:nvPr/>
          </p:nvSpPr>
          <p:spPr>
            <a:xfrm>
              <a:off x="5592318" y="26303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57900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3503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24625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175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91350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6848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58075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3520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24800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0193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391525" y="2500312"/>
              <a:ext cx="46672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6865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58250" y="2500312"/>
              <a:ext cx="46672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3538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24975" y="2500312"/>
              <a:ext cx="46672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0210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791700" y="2500312"/>
              <a:ext cx="46672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6883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258425" y="2500312"/>
              <a:ext cx="46672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3555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725150" y="2500312"/>
              <a:ext cx="46672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02280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191875" y="2500312"/>
              <a:ext cx="46672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69005" y="26303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50029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16754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83479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50204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16929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83654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50379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17104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83829" y="29760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14274" y="297608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80999" y="297608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47724" y="297608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44449" y="223456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之后清 0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586788" y="2405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278553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11387138" y="2405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4" name="c2-table-3"/>
          <p:cNvGrpSpPr/>
          <p:nvPr/>
        </p:nvGrpSpPr>
        <p:grpSpPr>
          <a:xfrm>
            <a:off x="5598795" y="3309938"/>
            <a:ext cx="6059805" cy="1573530"/>
            <a:chOff x="5598795" y="3309938"/>
            <a:chExt cx="6059805" cy="1573530"/>
          </a:xfrm>
        </p:grpSpPr>
        <p:sp>
          <p:nvSpPr>
            <p:cNvPr id="79" name="Rectangle 79"/>
            <p:cNvSpPr/>
            <p:nvPr/>
          </p:nvSpPr>
          <p:spPr>
            <a:xfrm>
              <a:off x="5598795" y="3309938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773039" y="34447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内存中的页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52287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928575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03910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24965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92692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14700" y="34447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797423" y="3894296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最近一次访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51675" y="3894296"/>
              <a:ext cx="313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606665" y="3768090"/>
              <a:ext cx="75628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827962" y="3894296"/>
              <a:ext cx="313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03298" y="3894296"/>
              <a:ext cx="313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79648" y="3894296"/>
              <a:ext cx="4030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247376" y="3894296"/>
              <a:ext cx="4030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14088" y="3894296"/>
              <a:ext cx="313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598795" y="44291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5598795" y="443388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859196" y="4569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访问标志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830378" y="4443412"/>
              <a:ext cx="75628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154657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606665" y="4443412"/>
              <a:ext cx="75628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930944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382000" y="4443412"/>
              <a:ext cx="756285" cy="429578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706279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527334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395062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217069" y="45696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598795" y="3309938"/>
              <a:ext cx="6059805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816090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592378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367712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9143048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010775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878502" y="3309938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0" name="c2-callout-4"/>
          <p:cNvGrpSpPr/>
          <p:nvPr/>
        </p:nvGrpSpPr>
        <p:grpSpPr>
          <a:xfrm>
            <a:off x="5598795" y="5073015"/>
            <a:ext cx="6059805" cy="812482"/>
            <a:chOff x="5598795" y="5073015"/>
            <a:chExt cx="6059805" cy="812482"/>
          </a:xfrm>
        </p:grpSpPr>
        <p:sp>
          <p:nvSpPr>
            <p:cNvPr id="115" name="Rectangle 115"/>
            <p:cNvSpPr/>
            <p:nvPr/>
          </p:nvSpPr>
          <p:spPr>
            <a:xfrm>
              <a:off x="5598795" y="5073015"/>
              <a:ext cx="6059805" cy="812482"/>
            </a:xfrm>
            <a:prstGeom prst="roundRect">
              <a:avLst>
                <a:gd name="adj" fmla="val 1406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5803583" y="5379720"/>
              <a:ext cx="200026" cy="200026"/>
              <a:chOff x="5803583" y="5379720"/>
              <a:chExt cx="200026" cy="200026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5803583" y="53797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5870258" y="54575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6105525" y="5236845"/>
              <a:ext cx="4977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LRU 淘汰页 3（第 2 次以后再没用过）；NUR 在标志为 0 的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2、3、4 中任选一个。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22445" cy="909257"/>
            <a:chOff x="520446" y="342900"/>
            <a:chExt cx="90224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224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二次机会：访问位为 1 的页清零后移到链尾，再给一次机会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16565" cy="569595"/>
            <a:chOff x="525780" y="1548765"/>
            <a:chExt cx="1061656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16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淘汰装入最久且最近未被访问的页。页面按装入先后链成一串，链首最老；6/1 表示页 6 的访问位 r = 1。例：缺页，要调入页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197" name="c1-cells-1"/>
          <p:cNvGrpSpPr/>
          <p:nvPr/>
        </p:nvGrpSpPr>
        <p:grpSpPr>
          <a:xfrm>
            <a:off x="527304" y="2230755"/>
            <a:ext cx="10807446" cy="2059305"/>
            <a:chOff x="527304" y="2230755"/>
            <a:chExt cx="10807446" cy="2059305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3526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2230755"/>
              <a:ext cx="80200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26519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73555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849755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878330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21230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306955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877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09912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186112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214688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57588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43312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98282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46270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522470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551045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93945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79670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34639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81675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857875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886450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229350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15075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0044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7080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193280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21855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564755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50480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06402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53438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529638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558212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01112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86838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41807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789795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865995" y="239934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894570" y="242792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237470" y="23850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323195" y="223075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78164" y="23526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125200" y="223075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185769" y="23602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7304" y="290798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查 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71550" y="2786062"/>
              <a:ext cx="80200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226519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773555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849755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878330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2221230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306955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562877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109912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3186112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3214688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3557588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643312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898282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446270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4522470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4551045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4893945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979670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234639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781675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5857875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5886450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6229350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315075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70044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117080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7193280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7221855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7564755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650480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906402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453438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529638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8558212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901112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986838" y="2786062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241807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89795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9865995" y="295465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9894570" y="298323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10237470" y="294036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323195" y="2786062"/>
              <a:ext cx="802005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578164" y="29079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6/0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1125200" y="2786062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1185769" y="29156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27304" y="346329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查 3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71550" y="3341370"/>
              <a:ext cx="802005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226519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4/0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773555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1849755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08" name="Freeform 108"/>
            <p:cNvSpPr/>
            <p:nvPr/>
          </p:nvSpPr>
          <p:spPr>
            <a:xfrm>
              <a:off x="1878330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2221230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2306955" y="3341370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2562877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8/0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3109912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3" name="Ellipse 113"/>
            <p:cNvSpPr/>
            <p:nvPr/>
          </p:nvSpPr>
          <p:spPr>
            <a:xfrm>
              <a:off x="3186112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14" name="Freeform 114"/>
            <p:cNvSpPr/>
            <p:nvPr/>
          </p:nvSpPr>
          <p:spPr>
            <a:xfrm>
              <a:off x="3214688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3557588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3643312" y="3341370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898282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446270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4522470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0" name="Freeform 120"/>
            <p:cNvSpPr/>
            <p:nvPr/>
          </p:nvSpPr>
          <p:spPr>
            <a:xfrm>
              <a:off x="4551045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4893945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4979670" y="3341370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234639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9/0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781675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25" name="Ellipse 125"/>
            <p:cNvSpPr/>
            <p:nvPr/>
          </p:nvSpPr>
          <p:spPr>
            <a:xfrm>
              <a:off x="5857875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6" name="Freeform 126"/>
            <p:cNvSpPr/>
            <p:nvPr/>
          </p:nvSpPr>
          <p:spPr>
            <a:xfrm>
              <a:off x="5886450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6229350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6315075" y="3341370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570044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0/0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7117080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1" name="Ellipse 131"/>
            <p:cNvSpPr/>
            <p:nvPr/>
          </p:nvSpPr>
          <p:spPr>
            <a:xfrm>
              <a:off x="7193280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32" name="Freeform 132"/>
            <p:cNvSpPr/>
            <p:nvPr/>
          </p:nvSpPr>
          <p:spPr>
            <a:xfrm>
              <a:off x="7221855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7564755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650480" y="3341370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906402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8453438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7" name="Ellipse 137"/>
            <p:cNvSpPr/>
            <p:nvPr/>
          </p:nvSpPr>
          <p:spPr>
            <a:xfrm>
              <a:off x="8529638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38" name="Freeform 138"/>
            <p:cNvSpPr/>
            <p:nvPr/>
          </p:nvSpPr>
          <p:spPr>
            <a:xfrm>
              <a:off x="8558212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8901112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8986838" y="3341370"/>
              <a:ext cx="802005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9241807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6/0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9789795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43" name="Ellipse 143"/>
            <p:cNvSpPr/>
            <p:nvPr/>
          </p:nvSpPr>
          <p:spPr>
            <a:xfrm>
              <a:off x="9865995" y="350901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4" name="Freeform 144"/>
            <p:cNvSpPr/>
            <p:nvPr/>
          </p:nvSpPr>
          <p:spPr>
            <a:xfrm>
              <a:off x="9894570" y="353758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0237470" y="34947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10323195" y="3341370"/>
              <a:ext cx="802005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10578164" y="34632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3/0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11125200" y="334137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1185769" y="346995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27304" y="40185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971550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1226519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8/0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1773555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54" name="Ellipse 154"/>
            <p:cNvSpPr/>
            <p:nvPr/>
          </p:nvSpPr>
          <p:spPr>
            <a:xfrm>
              <a:off x="1849755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55" name="Freeform 155"/>
            <p:cNvSpPr/>
            <p:nvPr/>
          </p:nvSpPr>
          <p:spPr>
            <a:xfrm>
              <a:off x="1878330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2221230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2306955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2562877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3109912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60" name="Ellipse 160"/>
            <p:cNvSpPr/>
            <p:nvPr/>
          </p:nvSpPr>
          <p:spPr>
            <a:xfrm>
              <a:off x="3186112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61" name="Freeform 161"/>
            <p:cNvSpPr/>
            <p:nvPr/>
          </p:nvSpPr>
          <p:spPr>
            <a:xfrm>
              <a:off x="3214688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3557588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3643312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3898282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9/0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4446270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66" name="Ellipse 166"/>
            <p:cNvSpPr/>
            <p:nvPr/>
          </p:nvSpPr>
          <p:spPr>
            <a:xfrm>
              <a:off x="4522470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67" name="Freeform 167"/>
            <p:cNvSpPr/>
            <p:nvPr/>
          </p:nvSpPr>
          <p:spPr>
            <a:xfrm>
              <a:off x="4551045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8" name="Freeform 168"/>
            <p:cNvSpPr/>
            <p:nvPr/>
          </p:nvSpPr>
          <p:spPr>
            <a:xfrm>
              <a:off x="4893945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4979670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5234639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0/0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5781675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2" name="Ellipse 172"/>
            <p:cNvSpPr/>
            <p:nvPr/>
          </p:nvSpPr>
          <p:spPr>
            <a:xfrm>
              <a:off x="5857875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3" name="Freeform 173"/>
            <p:cNvSpPr/>
            <p:nvPr/>
          </p:nvSpPr>
          <p:spPr>
            <a:xfrm>
              <a:off x="5886450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4" name="Freeform 174"/>
            <p:cNvSpPr/>
            <p:nvPr/>
          </p:nvSpPr>
          <p:spPr>
            <a:xfrm>
              <a:off x="6229350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6315075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6570044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7117080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8" name="Ellipse 178"/>
            <p:cNvSpPr/>
            <p:nvPr/>
          </p:nvSpPr>
          <p:spPr>
            <a:xfrm>
              <a:off x="7193280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9" name="Freeform 179"/>
            <p:cNvSpPr/>
            <p:nvPr/>
          </p:nvSpPr>
          <p:spPr>
            <a:xfrm>
              <a:off x="7221855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0" name="Freeform 180"/>
            <p:cNvSpPr/>
            <p:nvPr/>
          </p:nvSpPr>
          <p:spPr>
            <a:xfrm>
              <a:off x="7564755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7650480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7906402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6/0</a:t>
              </a: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8453438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84" name="Ellipse 184"/>
            <p:cNvSpPr/>
            <p:nvPr/>
          </p:nvSpPr>
          <p:spPr>
            <a:xfrm>
              <a:off x="8529638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5" name="Freeform 185"/>
            <p:cNvSpPr/>
            <p:nvPr/>
          </p:nvSpPr>
          <p:spPr>
            <a:xfrm>
              <a:off x="8558212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6" name="Freeform 186"/>
            <p:cNvSpPr/>
            <p:nvPr/>
          </p:nvSpPr>
          <p:spPr>
            <a:xfrm>
              <a:off x="8901112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8986838" y="3895725"/>
              <a:ext cx="80200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9241807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3/0</a:t>
              </a:r>
            </a:p>
          </p:txBody>
        </p:sp>
        <p:sp>
          <p:nvSpPr>
            <p:cNvPr id="189" name="Rectangle 189"/>
            <p:cNvSpPr/>
            <p:nvPr/>
          </p:nvSpPr>
          <p:spPr>
            <a:xfrm>
              <a:off x="9789795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0" name="Ellipse 190"/>
            <p:cNvSpPr/>
            <p:nvPr/>
          </p:nvSpPr>
          <p:spPr>
            <a:xfrm>
              <a:off x="9865995" y="406431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91" name="Freeform 191"/>
            <p:cNvSpPr/>
            <p:nvPr/>
          </p:nvSpPr>
          <p:spPr>
            <a:xfrm>
              <a:off x="9894570" y="409289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10237470" y="405003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10323195" y="3895725"/>
              <a:ext cx="802005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10578164" y="401859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2/1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11125200" y="3895725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11185769" y="40252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221" name="c1-steps-2"/>
          <p:cNvGrpSpPr/>
          <p:nvPr/>
        </p:nvGrpSpPr>
        <p:grpSpPr>
          <a:xfrm>
            <a:off x="533400" y="4470082"/>
            <a:ext cx="11125200" cy="1177290"/>
            <a:chOff x="533400" y="4470082"/>
            <a:chExt cx="11125200" cy="1177290"/>
          </a:xfrm>
        </p:grpSpPr>
        <p:sp>
          <p:nvSpPr>
            <p:cNvPr id="198" name="Rectangle 198"/>
            <p:cNvSpPr/>
            <p:nvPr/>
          </p:nvSpPr>
          <p:spPr>
            <a:xfrm>
              <a:off x="533400" y="4470082"/>
              <a:ext cx="2566988" cy="1177290"/>
            </a:xfrm>
            <a:prstGeom prst="roundRect">
              <a:avLst>
                <a:gd name="adj" fmla="val 970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9" name="Ellipse 199"/>
            <p:cNvSpPr/>
            <p:nvPr/>
          </p:nvSpPr>
          <p:spPr>
            <a:xfrm>
              <a:off x="666750" y="46034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756883" y="4673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659511" y="500776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检查链首 6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660654" y="5307330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1：清 0，移到链尾</a:t>
              </a:r>
            </a:p>
          </p:txBody>
        </p:sp>
        <p:sp>
          <p:nvSpPr>
            <p:cNvPr id="203" name="Freeform 203"/>
            <p:cNvSpPr/>
            <p:nvPr/>
          </p:nvSpPr>
          <p:spPr>
            <a:xfrm>
              <a:off x="3176588" y="497300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4" name="Rectangle 204"/>
            <p:cNvSpPr/>
            <p:nvPr/>
          </p:nvSpPr>
          <p:spPr>
            <a:xfrm>
              <a:off x="3386138" y="4470082"/>
              <a:ext cx="2566988" cy="1177290"/>
            </a:xfrm>
            <a:prstGeom prst="roundRect">
              <a:avLst>
                <a:gd name="adj" fmla="val 970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5" name="Ellipse 205"/>
            <p:cNvSpPr/>
            <p:nvPr/>
          </p:nvSpPr>
          <p:spPr>
            <a:xfrm>
              <a:off x="3519488" y="46034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3609621" y="4673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3512248" y="500776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检查链首 3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3513392" y="5307330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1：清 0，移到链尾</a:t>
              </a:r>
            </a:p>
          </p:txBody>
        </p:sp>
        <p:sp>
          <p:nvSpPr>
            <p:cNvPr id="209" name="Freeform 209"/>
            <p:cNvSpPr/>
            <p:nvPr/>
          </p:nvSpPr>
          <p:spPr>
            <a:xfrm>
              <a:off x="6029325" y="497300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0" name="Rectangle 210"/>
            <p:cNvSpPr/>
            <p:nvPr/>
          </p:nvSpPr>
          <p:spPr>
            <a:xfrm>
              <a:off x="6238875" y="4470082"/>
              <a:ext cx="2566988" cy="1177290"/>
            </a:xfrm>
            <a:prstGeom prst="roundRect">
              <a:avLst>
                <a:gd name="adj" fmla="val 970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6372225" y="46034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6462358" y="4673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6364986" y="500776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检查链首 4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6366129" y="530733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0：淘汰页 4</a:t>
              </a:r>
            </a:p>
          </p:txBody>
        </p:sp>
        <p:sp>
          <p:nvSpPr>
            <p:cNvPr id="215" name="Freeform 215"/>
            <p:cNvSpPr/>
            <p:nvPr/>
          </p:nvSpPr>
          <p:spPr>
            <a:xfrm>
              <a:off x="8882062" y="497300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6" name="Rectangle 216"/>
            <p:cNvSpPr/>
            <p:nvPr/>
          </p:nvSpPr>
          <p:spPr>
            <a:xfrm>
              <a:off x="9091612" y="4470082"/>
              <a:ext cx="2566988" cy="1177290"/>
            </a:xfrm>
            <a:prstGeom prst="roundRect">
              <a:avLst>
                <a:gd name="adj" fmla="val 970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9224962" y="46034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15096" y="4673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17724" y="5007769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调入页 2</a:t>
              </a:r>
            </a:p>
          </p:txBody>
        </p:sp>
        <p:sp>
          <p:nvSpPr>
            <p:cNvPr id="220" name="TextBox 220"/>
            <p:cNvSpPr txBox="1"/>
            <p:nvPr/>
          </p:nvSpPr>
          <p:spPr>
            <a:xfrm>
              <a:off x="9218866" y="530733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挂到链尾，r = 1</a:t>
              </a:r>
            </a:p>
          </p:txBody>
        </p:sp>
      </p:grpSp>
      <p:grpSp>
        <p:nvGrpSpPr>
          <p:cNvPr id="22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22" name="Rectangle 22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6" name="Group 226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223" name="Freeform 223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4" name="Freeform 224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5" name="Freeform 225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7" name="TextBox 227"/>
            <p:cNvSpPr txBox="1"/>
            <p:nvPr/>
          </p:nvSpPr>
          <p:spPr>
            <a:xfrm>
              <a:off x="1040511" y="6011704"/>
              <a:ext cx="6362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所有页的 r 都为 1 时，转完一圈回到原链首将其淘汰，结果与 FIFO 相同。</a:t>
              </a:r>
            </a:p>
          </p:txBody>
        </p:sp>
      </p:grpSp>
      <p:grpSp>
        <p:nvGrpSpPr>
          <p:cNvPr id="2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9" name="TextBox 22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30" name="TextBox 2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79164" cy="909257"/>
            <a:chOff x="520446" y="342900"/>
            <a:chExt cx="86791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79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时钟算法：页面排成环，指针扫到访问位为 0 的页就替换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2607945"/>
            <a:chOff x="533400" y="1524000"/>
            <a:chExt cx="4977765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3850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006" y="1769269"/>
              <a:ext cx="2317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8. 时钟算法（clock algorithm）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页面组织成环形，指针指向当前位置。需要淘汰页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面时，从指针所指的页开始检查：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73177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访问位 r = 0：从上次检查到现在没被访问过，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替换该页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352800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1：清 0，指针顺时针移到下一页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6747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688080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重复，直到找到 r = 0 的页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4322445"/>
            <a:ext cx="4977765" cy="2022158"/>
            <a:chOff x="533400" y="4322445"/>
            <a:chExt cx="4977765" cy="2022158"/>
          </a:xfrm>
        </p:grpSpPr>
        <p:sp>
          <p:nvSpPr>
            <p:cNvPr id="22" name="Rectangle 22"/>
            <p:cNvSpPr/>
            <p:nvPr/>
          </p:nvSpPr>
          <p:spPr>
            <a:xfrm>
              <a:off x="533400" y="4322445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297" y="44581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48268" y="44581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二次机会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9463" y="44581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时钟算法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223" y="4906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淘汰效果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36598" y="4906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基本相同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77793" y="4906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基本相同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2149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21970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35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36598" y="5355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77793" y="5355431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 + 一个指针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66451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917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36598" y="58040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要额外存储空间，摘链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入链慢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77793" y="5804059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直接用页表中的访问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位，快且省空间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22445"/>
              <a:ext cx="497776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24012" y="432244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565208" y="432244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graph-1"/>
          <p:cNvGrpSpPr/>
          <p:nvPr/>
        </p:nvGrpSpPr>
        <p:grpSpPr>
          <a:xfrm>
            <a:off x="5810250" y="1553051"/>
            <a:ext cx="5744528" cy="4379119"/>
            <a:chOff x="5810250" y="1553051"/>
            <a:chExt cx="5744528" cy="4379119"/>
          </a:xfrm>
        </p:grpSpPr>
        <p:sp>
          <p:nvSpPr>
            <p:cNvPr id="42" name="Freeform 42"/>
            <p:cNvSpPr/>
            <p:nvPr/>
          </p:nvSpPr>
          <p:spPr>
            <a:xfrm>
              <a:off x="9177338" y="2447925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0" y="0"/>
                  </a:moveTo>
                  <a:lnTo>
                    <a:pt x="520065" y="1771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81210" y="258032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6200"/>
                  </a:moveTo>
                  <a:lnTo>
                    <a:pt x="0" y="90488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1288" y="2956560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0" y="0"/>
                  </a:moveTo>
                  <a:lnTo>
                    <a:pt x="421957" y="8486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681335" y="3783330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84772" y="106680"/>
                  </a:moveTo>
                  <a:lnTo>
                    <a:pt x="0" y="4286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344150" y="4190048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421957" y="0"/>
                  </a:moveTo>
                  <a:lnTo>
                    <a:pt x="0" y="8486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301288" y="501777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106680"/>
                  </a:moveTo>
                  <a:lnTo>
                    <a:pt x="0" y="0"/>
                  </a:lnTo>
                  <a:lnTo>
                    <a:pt x="85725" y="4191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266872" y="542448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52006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177338" y="555593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76200"/>
                  </a:moveTo>
                  <a:lnTo>
                    <a:pt x="74295" y="0"/>
                  </a:lnTo>
                  <a:lnTo>
                    <a:pt x="104775" y="9048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777162" y="545496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520065" y="1771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686675" y="540924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15240"/>
                  </a:moveTo>
                  <a:lnTo>
                    <a:pt x="105728" y="0"/>
                  </a:lnTo>
                  <a:lnTo>
                    <a:pt x="75247" y="9048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6750368" y="4275772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421957" y="8486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707505" y="419004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2" y="0"/>
                  </a:moveTo>
                  <a:lnTo>
                    <a:pt x="85725" y="63818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708458" y="3041332"/>
              <a:ext cx="421958" cy="848677"/>
            </a:xfrm>
            <a:custGeom>
              <a:avLst/>
              <a:gdLst/>
              <a:ahLst/>
              <a:cxnLst/>
              <a:rect l="l" t="t" r="r" b="b"/>
              <a:pathLst>
                <a:path w="421958" h="848677">
                  <a:moveTo>
                    <a:pt x="0" y="848677"/>
                  </a:moveTo>
                  <a:lnTo>
                    <a:pt x="42195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87552" y="2956560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84772" y="0"/>
                  </a:moveTo>
                  <a:lnTo>
                    <a:pt x="84772" y="106680"/>
                  </a:lnTo>
                  <a:lnTo>
                    <a:pt x="0" y="6381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686675" y="247935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0" y="177165"/>
                  </a:moveTo>
                  <a:lnTo>
                    <a:pt x="5200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191500" y="243363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4288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737282" y="2543175"/>
              <a:ext cx="9525" cy="1249680"/>
            </a:xfrm>
            <a:custGeom>
              <a:avLst/>
              <a:gdLst/>
              <a:ahLst/>
              <a:cxnLst/>
              <a:rect l="l" t="t" r="r" b="b"/>
              <a:pathLst>
                <a:path w="9525" h="1249680">
                  <a:moveTo>
                    <a:pt x="0" y="124968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689658" y="2447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22908" y="2147888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12618" y="2656522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126028" y="389001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512618" y="512445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22908" y="5632132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533198" y="512445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918835" y="389001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33198" y="2656522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500110" y="3803332"/>
              <a:ext cx="474345" cy="474345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72083" y="2228374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框12 页6 r=1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61793" y="273605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框23 页3 r=1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375203" y="397049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框51 页4 r=0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05329" y="5203984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 页8 r=0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28546" y="5711666"/>
              <a:ext cx="101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框81 页10 r=1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82373" y="5203984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框96 页9 r=0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68010" y="397049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框60 页0 r=0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25909" y="273605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 页1 r=1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80793" y="3970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810250" y="1553051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访问页 18 之前（指针指向框 12）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53262" cy="909257"/>
            <a:chOff x="520446" y="342900"/>
            <a:chExt cx="9453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53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时钟算法例：访问页 18，清掉页 6、页 3 的访问位后替换页 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4977765" cy="2364105"/>
            <a:chOff x="533400" y="1524000"/>
            <a:chExt cx="4977765" cy="2364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5134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772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指针所指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1907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4815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261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904" y="208502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 12：页 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2129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5762" y="208502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0，指针后移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926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904" y="251555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 23：页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2129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5762" y="251555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0，指针后移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26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904" y="294608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 51：页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2129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5762" y="2946082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替换为页 18，r 置 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9261" y="3482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6904" y="348234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 6：页 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5762" y="337566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指针停在这里，下次从这里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497776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2679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18448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1565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2"/>
          <p:cNvGrpSpPr/>
          <p:nvPr/>
        </p:nvGrpSpPr>
        <p:grpSpPr>
          <a:xfrm>
            <a:off x="533400" y="4073842"/>
            <a:ext cx="4977765" cy="756285"/>
            <a:chOff x="533400" y="4073842"/>
            <a:chExt cx="4977765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407384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351973"/>
              <a:ext cx="200026" cy="200025"/>
              <a:chOff x="738188" y="435197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3519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43964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45075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4221004"/>
              <a:ext cx="401802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替换后框 51 装入页 18。框 12、框 23 的页没有被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换出，只是用掉了“第二次机会”。</a:t>
              </a:r>
            </a:p>
          </p:txBody>
        </p:sp>
      </p:grpSp>
      <p:grpSp>
        <p:nvGrpSpPr>
          <p:cNvPr id="49" name="c1-card-3"/>
          <p:cNvGrpSpPr/>
          <p:nvPr/>
        </p:nvGrpSpPr>
        <p:grpSpPr>
          <a:xfrm>
            <a:off x="533400" y="5014912"/>
            <a:ext cx="4977765" cy="1274445"/>
            <a:chOff x="533400" y="5014912"/>
            <a:chExt cx="4977765" cy="1274445"/>
          </a:xfrm>
        </p:grpSpPr>
        <p:sp>
          <p:nvSpPr>
            <p:cNvPr id="44" name="Rectangle 44"/>
            <p:cNvSpPr/>
            <p:nvPr/>
          </p:nvSpPr>
          <p:spPr>
            <a:xfrm>
              <a:off x="533400" y="5014912"/>
              <a:ext cx="497776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514826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5335" y="52187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5543" y="52544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8096" y="5591651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 张分步图中页 6 仍画成 r=1。第 1 步已把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它清 0，应为 r=0，与前后两张图一致。</a:t>
              </a:r>
            </a:p>
          </p:txBody>
        </p:sp>
      </p:grpSp>
      <p:grpSp>
        <p:nvGrpSpPr>
          <p:cNvPr id="87" name="c2-graph-1"/>
          <p:cNvGrpSpPr/>
          <p:nvPr/>
        </p:nvGrpSpPr>
        <p:grpSpPr>
          <a:xfrm>
            <a:off x="5810250" y="1553051"/>
            <a:ext cx="5723573" cy="4379119"/>
            <a:chOff x="5810250" y="1553051"/>
            <a:chExt cx="5723573" cy="4379119"/>
          </a:xfrm>
        </p:grpSpPr>
        <p:sp>
          <p:nvSpPr>
            <p:cNvPr id="50" name="Freeform 50"/>
            <p:cNvSpPr/>
            <p:nvPr/>
          </p:nvSpPr>
          <p:spPr>
            <a:xfrm>
              <a:off x="9177338" y="2447925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0" y="0"/>
                  </a:moveTo>
                  <a:lnTo>
                    <a:pt x="520065" y="1771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681210" y="258032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6200"/>
                  </a:moveTo>
                  <a:lnTo>
                    <a:pt x="0" y="90488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301288" y="2956560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0" y="0"/>
                  </a:moveTo>
                  <a:lnTo>
                    <a:pt x="421957" y="8486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681335" y="3783330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84772" y="106680"/>
                  </a:moveTo>
                  <a:lnTo>
                    <a:pt x="0" y="4286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344150" y="4190048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421957" y="0"/>
                  </a:moveTo>
                  <a:lnTo>
                    <a:pt x="0" y="8486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301288" y="501777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106680"/>
                  </a:moveTo>
                  <a:lnTo>
                    <a:pt x="0" y="0"/>
                  </a:lnTo>
                  <a:lnTo>
                    <a:pt x="85725" y="4191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266872" y="542448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52006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177338" y="555593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76200"/>
                  </a:moveTo>
                  <a:lnTo>
                    <a:pt x="74295" y="0"/>
                  </a:lnTo>
                  <a:lnTo>
                    <a:pt x="104775" y="9048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777162" y="545496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520065" y="1771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686675" y="540924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15240"/>
                  </a:moveTo>
                  <a:lnTo>
                    <a:pt x="105728" y="0"/>
                  </a:lnTo>
                  <a:lnTo>
                    <a:pt x="75247" y="9048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750368" y="4275772"/>
              <a:ext cx="421957" cy="848678"/>
            </a:xfrm>
            <a:custGeom>
              <a:avLst/>
              <a:gdLst/>
              <a:ahLst/>
              <a:cxnLst/>
              <a:rect l="l" t="t" r="r" b="b"/>
              <a:pathLst>
                <a:path w="421957" h="848678">
                  <a:moveTo>
                    <a:pt x="421957" y="8486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707505" y="419004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2" y="0"/>
                  </a:moveTo>
                  <a:lnTo>
                    <a:pt x="85725" y="63818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708458" y="3041332"/>
              <a:ext cx="421958" cy="848677"/>
            </a:xfrm>
            <a:custGeom>
              <a:avLst/>
              <a:gdLst/>
              <a:ahLst/>
              <a:cxnLst/>
              <a:rect l="l" t="t" r="r" b="b"/>
              <a:pathLst>
                <a:path w="421958" h="848677">
                  <a:moveTo>
                    <a:pt x="0" y="848677"/>
                  </a:moveTo>
                  <a:lnTo>
                    <a:pt x="42195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087552" y="2956560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84772" y="0"/>
                  </a:moveTo>
                  <a:lnTo>
                    <a:pt x="84772" y="106680"/>
                  </a:lnTo>
                  <a:lnTo>
                    <a:pt x="0" y="6381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7686675" y="2479358"/>
              <a:ext cx="520065" cy="177165"/>
            </a:xfrm>
            <a:custGeom>
              <a:avLst/>
              <a:gdLst/>
              <a:ahLst/>
              <a:cxnLst/>
              <a:rect l="l" t="t" r="r" b="b"/>
              <a:pathLst>
                <a:path w="520065" h="177165">
                  <a:moveTo>
                    <a:pt x="0" y="177165"/>
                  </a:moveTo>
                  <a:lnTo>
                    <a:pt x="5200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191500" y="243363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4288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927782" y="4197668"/>
              <a:ext cx="1044893" cy="865823"/>
            </a:xfrm>
            <a:custGeom>
              <a:avLst/>
              <a:gdLst/>
              <a:ahLst/>
              <a:cxnLst/>
              <a:rect l="l" t="t" r="r" b="b"/>
              <a:pathLst>
                <a:path w="1044893" h="865823">
                  <a:moveTo>
                    <a:pt x="0" y="0"/>
                  </a:moveTo>
                  <a:lnTo>
                    <a:pt x="1044893" y="865823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942195" y="5026342"/>
              <a:ext cx="103823" cy="98107"/>
            </a:xfrm>
            <a:custGeom>
              <a:avLst/>
              <a:gdLst/>
              <a:ahLst/>
              <a:cxnLst/>
              <a:rect l="l" t="t" r="r" b="b"/>
              <a:pathLst>
                <a:path w="103823" h="98107">
                  <a:moveTo>
                    <a:pt x="103823" y="98107"/>
                  </a:moveTo>
                  <a:lnTo>
                    <a:pt x="0" y="7334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43862" y="2147888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534525" y="2656522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147935" y="3890010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534525" y="5124450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043862" y="5632132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554152" y="5124450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940742" y="3890010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554152" y="2656522"/>
              <a:ext cx="138588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8500110" y="3803332"/>
              <a:ext cx="474345" cy="474345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72083" y="2228374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框12 页6 r=0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61793" y="273605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框23 页3 r=0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331666" y="3970496"/>
              <a:ext cx="101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框51 页18 r=1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05329" y="5203984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 页8 r=0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28546" y="5711666"/>
              <a:ext cx="1017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框81 页10 r=1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782373" y="5203984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框96 页9 r=0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68010" y="397049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框60 页0 r=0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825909" y="273605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 页1 r=1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80793" y="3970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810250" y="1553051"/>
              <a:ext cx="1804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替换之后（指针指向框 6）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7945" cy="909257"/>
            <a:chOff x="520446" y="342900"/>
            <a:chExt cx="6997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7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改进的时钟算法：同时看访问位 r 和修改位 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4977765" cy="2335530"/>
            <a:chOff x="533400" y="1524000"/>
            <a:chExt cx="4977765" cy="2335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449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209" y="1652588"/>
              <a:ext cx="139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494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页面情况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769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49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39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2192" y="2076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最近没访问，也没修改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21989" y="20764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最佳淘汰页面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497776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496" y="2607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4392" y="26079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2192" y="260794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最近没访问，但修改过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1989" y="2501265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可以淘汰，淘汰前要写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06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4496" y="31394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4392" y="31394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2192" y="31394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最近访问过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1989" y="31394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不淘汰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299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3471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4496" y="35633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4392" y="35633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2192" y="356330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最近访问过，也修改过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21989" y="35633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不淘汰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4977765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76312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424940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14738" y="152400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039552"/>
            <a:ext cx="4977765" cy="503872"/>
            <a:chOff x="533400" y="4039552"/>
            <a:chExt cx="4977765" cy="503872"/>
          </a:xfrm>
        </p:grpSpPr>
        <p:sp>
          <p:nvSpPr>
            <p:cNvPr id="38" name="Rectangle 38"/>
            <p:cNvSpPr/>
            <p:nvPr/>
          </p:nvSpPr>
          <p:spPr>
            <a:xfrm>
              <a:off x="533400" y="4039552"/>
              <a:ext cx="4977765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191953"/>
              <a:ext cx="200026" cy="200025"/>
              <a:chOff x="738188" y="419195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1919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42364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43475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4192429"/>
              <a:ext cx="3847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优先淘汰 m = 0 的页，可以省掉一次写外存。</a:t>
              </a:r>
            </a:p>
          </p:txBody>
        </p:sp>
      </p:grpSp>
      <p:grpSp>
        <p:nvGrpSpPr>
          <p:cNvPr id="51" name="c1-callout-3"/>
          <p:cNvGrpSpPr/>
          <p:nvPr/>
        </p:nvGrpSpPr>
        <p:grpSpPr>
          <a:xfrm>
            <a:off x="533400" y="4723448"/>
            <a:ext cx="4977765" cy="1602105"/>
            <a:chOff x="533400" y="4723448"/>
            <a:chExt cx="4977765" cy="1602105"/>
          </a:xfrm>
        </p:grpSpPr>
        <p:sp>
          <p:nvSpPr>
            <p:cNvPr id="45" name="Rectangle 45"/>
            <p:cNvSpPr/>
            <p:nvPr/>
          </p:nvSpPr>
          <p:spPr>
            <a:xfrm>
              <a:off x="533400" y="4723448"/>
              <a:ext cx="4977765" cy="1602105"/>
            </a:xfrm>
            <a:prstGeom prst="roundRect">
              <a:avLst>
                <a:gd name="adj" fmla="val 713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424488"/>
              <a:ext cx="200026" cy="200026"/>
              <a:chOff x="738188" y="542448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4244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491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5245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293519"/>
              <a:ext cx="403606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第二轮一定成功：第一轮步骤 2 已把所有页的 r 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0，每页不是 (0,0) 就是 (0,1)。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5815965" y="1533525"/>
            <a:ext cx="5583936" cy="2444496"/>
            <a:chOff x="5815965" y="1533525"/>
            <a:chExt cx="5583936" cy="2444496"/>
          </a:xfrm>
        </p:grpSpPr>
        <p:sp>
          <p:nvSpPr>
            <p:cNvPr id="52" name="Rectangle 52"/>
            <p:cNvSpPr/>
            <p:nvPr/>
          </p:nvSpPr>
          <p:spPr>
            <a:xfrm>
              <a:off x="5949315" y="1676400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815965" y="23717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0958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15965" y="320897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9589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7826" y="156638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969" y="1846898"/>
              <a:ext cx="5148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从指针当前位置开始扫描一圈，把第一个 r=0 且 m=0 的页作为淘汰页；扫描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时不改变访问位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7826" y="2404586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8969" y="2685098"/>
              <a:ext cx="5170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1 失败，再从原位置开始扫描，把第一个 r=0 且 m=1 的页作为淘汰页；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同时把扫描过的页的 r 位清 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7826" y="3241834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8969" y="3522345"/>
              <a:ext cx="5170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2 也失败，指针回到原位置，重新执行步骤 1；还失败就再执行步骤 2，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这时一定能找到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5815965" y="4149090"/>
            <a:ext cx="5842635" cy="2175510"/>
            <a:chOff x="5815965" y="4149090"/>
            <a:chExt cx="5842635" cy="2175510"/>
          </a:xfrm>
        </p:grpSpPr>
        <p:sp>
          <p:nvSpPr>
            <p:cNvPr id="66" name="Rectangle 66"/>
            <p:cNvSpPr/>
            <p:nvPr/>
          </p:nvSpPr>
          <p:spPr>
            <a:xfrm>
              <a:off x="5815965" y="4149090"/>
              <a:ext cx="584263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5490" y="428244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52185" y="43472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35624" y="43815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02196" y="4382929"/>
              <a:ext cx="18338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所有页都是 (1,1) 时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059805" y="47863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16396" y="4725829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第一轮步骤 1 扫一圈失败；步骤 2 扫一圈也失败，但把 r 全部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0，各页变成 (0,1)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059805" y="537591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16396" y="5315426"/>
              <a:ext cx="2528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第二轮步骤 1 再扫一圈仍失败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059805" y="56930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216396" y="5633561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第二轮步骤 2 在指针所指的第一个页就成功，淘汰它并写回外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改进时钟例：访问页 15，第一轮步骤 2 选中页 9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8066" y="1524000"/>
            <a:ext cx="4765929" cy="2508504"/>
            <a:chOff x="528066" y="1524000"/>
            <a:chExt cx="4765929" cy="25085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9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5298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69724" y="1648301"/>
              <a:ext cx="52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(r, m)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54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0628" y="21540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7993" y="2054066"/>
              <a:ext cx="4168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8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5520" y="21540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8960" y="2054066"/>
              <a:ext cx="19103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(0,0) 的页，失败，访问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位不变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307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3555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0628" y="26598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9222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19668" y="26598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08960" y="265985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清 0，后移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365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0628" y="306562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87759" y="30656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19668" y="30656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08960" y="3065621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清 0，后移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423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4708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0628" y="347138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29222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19668" y="34713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08960" y="3471386"/>
              <a:ext cx="2042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选中：写回外存，再装入页 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4760595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290638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5168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00418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3827145"/>
              <a:ext cx="2795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 (r, m)。指针从框 6 开始顺时针扫描。</a:t>
              </a:r>
            </a:p>
          </p:txBody>
        </p:sp>
      </p:grpSp>
      <p:grpSp>
        <p:nvGrpSpPr>
          <p:cNvPr id="48" name="c1-card-2"/>
          <p:cNvGrpSpPr/>
          <p:nvPr/>
        </p:nvGrpSpPr>
        <p:grpSpPr>
          <a:xfrm>
            <a:off x="533400" y="4166235"/>
            <a:ext cx="4760595" cy="1725930"/>
            <a:chOff x="533400" y="4166235"/>
            <a:chExt cx="4760595" cy="1725930"/>
          </a:xfrm>
        </p:grpSpPr>
        <p:sp>
          <p:nvSpPr>
            <p:cNvPr id="39" name="Rectangle 39"/>
            <p:cNvSpPr/>
            <p:nvPr/>
          </p:nvSpPr>
          <p:spPr>
            <a:xfrm>
              <a:off x="533400" y="4166235"/>
              <a:ext cx="4760595" cy="1725930"/>
            </a:xfrm>
            <a:prstGeom prst="roundRect">
              <a:avLst>
                <a:gd name="adj" fmla="val 7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299585"/>
              <a:ext cx="47625" cy="14592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3905" y="43586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5345" y="43929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2478" y="47720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8497" y="4715828"/>
              <a:ext cx="418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 96 装入页 15，(r, m) = (1, 0)，指针移到框 60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2478" y="507396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497" y="5017770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8、页 10 的访问位被清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8190" y="5316379"/>
              <a:ext cx="40866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 9 虽然修改过，但全环没有 (0,0) 的页，它是步骤 2 遇到的第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 (0,1) 页。</a:t>
              </a:r>
            </a:p>
          </p:txBody>
        </p:sp>
      </p:grpSp>
      <p:grpSp>
        <p:nvGrpSpPr>
          <p:cNvPr id="86" name="c2-graph-1"/>
          <p:cNvGrpSpPr/>
          <p:nvPr/>
        </p:nvGrpSpPr>
        <p:grpSpPr>
          <a:xfrm>
            <a:off x="5593842" y="1549241"/>
            <a:ext cx="5875210" cy="1915001"/>
            <a:chOff x="5593842" y="1549241"/>
            <a:chExt cx="5875210" cy="1915001"/>
          </a:xfrm>
        </p:grpSpPr>
        <p:sp>
          <p:nvSpPr>
            <p:cNvPr id="49" name="Freeform 49"/>
            <p:cNvSpPr/>
            <p:nvPr/>
          </p:nvSpPr>
          <p:spPr>
            <a:xfrm>
              <a:off x="9226868" y="1863090"/>
              <a:ext cx="315277" cy="51435"/>
            </a:xfrm>
            <a:custGeom>
              <a:avLst/>
              <a:gdLst/>
              <a:ahLst/>
              <a:cxnLst/>
              <a:rect l="l" t="t" r="r" b="b"/>
              <a:pathLst>
                <a:path w="315277" h="51435">
                  <a:moveTo>
                    <a:pt x="0" y="0"/>
                  </a:moveTo>
                  <a:lnTo>
                    <a:pt x="315277" y="5143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534525" y="1866900"/>
              <a:ext cx="101918" cy="94298"/>
            </a:xfrm>
            <a:custGeom>
              <a:avLst/>
              <a:gdLst/>
              <a:ahLst/>
              <a:cxnLst/>
              <a:rect l="l" t="t" r="r" b="b"/>
              <a:pathLst>
                <a:path w="101918" h="94298">
                  <a:moveTo>
                    <a:pt x="101918" y="62865"/>
                  </a:moveTo>
                  <a:lnTo>
                    <a:pt x="0" y="94298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392728" y="2156460"/>
              <a:ext cx="246698" cy="202882"/>
            </a:xfrm>
            <a:custGeom>
              <a:avLst/>
              <a:gdLst/>
              <a:ahLst/>
              <a:cxnLst/>
              <a:rect l="l" t="t" r="r" b="b"/>
              <a:pathLst>
                <a:path w="246698" h="202882">
                  <a:moveTo>
                    <a:pt x="0" y="0"/>
                  </a:moveTo>
                  <a:lnTo>
                    <a:pt x="246698" y="20288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08945" y="2322195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97155"/>
                  </a:moveTo>
                  <a:lnTo>
                    <a:pt x="0" y="73342"/>
                  </a:lnTo>
                  <a:lnTo>
                    <a:pt x="60007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466070" y="2679382"/>
              <a:ext cx="246698" cy="202883"/>
            </a:xfrm>
            <a:custGeom>
              <a:avLst/>
              <a:gdLst/>
              <a:ahLst/>
              <a:cxnLst/>
              <a:rect l="l" t="t" r="r" b="b"/>
              <a:pathLst>
                <a:path w="246698" h="202883">
                  <a:moveTo>
                    <a:pt x="246698" y="0"/>
                  </a:moveTo>
                  <a:lnTo>
                    <a:pt x="0" y="20288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392728" y="2845118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3815" y="0"/>
                  </a:lnTo>
                  <a:lnTo>
                    <a:pt x="103823" y="73342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321165" y="3169920"/>
              <a:ext cx="315278" cy="51435"/>
            </a:xfrm>
            <a:custGeom>
              <a:avLst/>
              <a:gdLst/>
              <a:ahLst/>
              <a:cxnLst/>
              <a:rect l="l" t="t" r="r" b="b"/>
              <a:pathLst>
                <a:path w="315278" h="51435">
                  <a:moveTo>
                    <a:pt x="315278" y="0"/>
                  </a:moveTo>
                  <a:lnTo>
                    <a:pt x="0" y="5143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226868" y="3173730"/>
              <a:ext cx="101917" cy="94298"/>
            </a:xfrm>
            <a:custGeom>
              <a:avLst/>
              <a:gdLst/>
              <a:ahLst/>
              <a:cxnLst/>
              <a:rect l="l" t="t" r="r" b="b"/>
              <a:pathLst>
                <a:path w="101917" h="94298">
                  <a:moveTo>
                    <a:pt x="0" y="62865"/>
                  </a:moveTo>
                  <a:lnTo>
                    <a:pt x="86677" y="0"/>
                  </a:lnTo>
                  <a:lnTo>
                    <a:pt x="101917" y="9429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715250" y="3185160"/>
              <a:ext cx="315278" cy="51435"/>
            </a:xfrm>
            <a:custGeom>
              <a:avLst/>
              <a:gdLst/>
              <a:ahLst/>
              <a:cxnLst/>
              <a:rect l="l" t="t" r="r" b="b"/>
              <a:pathLst>
                <a:path w="315278" h="51435">
                  <a:moveTo>
                    <a:pt x="315278" y="514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620952" y="3138488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0" y="31433"/>
                  </a:moveTo>
                  <a:lnTo>
                    <a:pt x="101917" y="0"/>
                  </a:lnTo>
                  <a:lnTo>
                    <a:pt x="86678" y="9334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618922" y="2740342"/>
              <a:ext cx="245745" cy="201930"/>
            </a:xfrm>
            <a:custGeom>
              <a:avLst/>
              <a:gdLst/>
              <a:ahLst/>
              <a:cxnLst/>
              <a:rect l="l" t="t" r="r" b="b"/>
              <a:pathLst>
                <a:path w="245745" h="201930">
                  <a:moveTo>
                    <a:pt x="245745" y="2019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545580" y="267938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0"/>
                  </a:moveTo>
                  <a:lnTo>
                    <a:pt x="103822" y="23812"/>
                  </a:lnTo>
                  <a:lnTo>
                    <a:pt x="42862" y="9715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6545580" y="2217420"/>
              <a:ext cx="245745" cy="201930"/>
            </a:xfrm>
            <a:custGeom>
              <a:avLst/>
              <a:gdLst/>
              <a:ahLst/>
              <a:cxnLst/>
              <a:rect l="l" t="t" r="r" b="b"/>
              <a:pathLst>
                <a:path w="245745" h="201930">
                  <a:moveTo>
                    <a:pt x="0" y="201930"/>
                  </a:moveTo>
                  <a:lnTo>
                    <a:pt x="2457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760845" y="2156460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0"/>
                  </a:moveTo>
                  <a:lnTo>
                    <a:pt x="60960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620952" y="1878330"/>
              <a:ext cx="316230" cy="51435"/>
            </a:xfrm>
            <a:custGeom>
              <a:avLst/>
              <a:gdLst/>
              <a:ahLst/>
              <a:cxnLst/>
              <a:rect l="l" t="t" r="r" b="b"/>
              <a:pathLst>
                <a:path w="316230" h="51435">
                  <a:moveTo>
                    <a:pt x="0" y="51435"/>
                  </a:moveTo>
                  <a:lnTo>
                    <a:pt x="3162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929562" y="1830705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2385"/>
                  </a:moveTo>
                  <a:lnTo>
                    <a:pt x="1524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628698" y="1990725"/>
              <a:ext cx="9525" cy="359092"/>
            </a:xfrm>
            <a:custGeom>
              <a:avLst/>
              <a:gdLst/>
              <a:ahLst/>
              <a:cxnLst/>
              <a:rect l="l" t="t" r="r" b="b"/>
              <a:pathLst>
                <a:path w="9525" h="359092">
                  <a:moveTo>
                    <a:pt x="0" y="359092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581072" y="1895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30528" y="1635442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636442" y="189642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272712" y="2419350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636442" y="2942272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030528" y="3204210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24612" y="2942272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5789295" y="2419350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24612" y="189642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8438198" y="2359342"/>
              <a:ext cx="381000" cy="381000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183601" y="1704499"/>
              <a:ext cx="890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 页8 (1,0)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3328" y="1966436"/>
              <a:ext cx="1042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框81 页10 (1,0)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87692" y="2489359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框96 页9 (0,1)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51422" y="3011329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框60 页0 (0,1)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83601" y="3273266"/>
              <a:ext cx="890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 页1 (1,0)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39592" y="3011329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框12 页6 (1,1)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03322" y="2489359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框23 页3 (1,1)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501498" y="1966436"/>
              <a:ext cx="1042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框51 页18 (1,0)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91817" y="24893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593842" y="1549241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访问页 15 之前</a:t>
              </a:r>
            </a:p>
          </p:txBody>
        </p:sp>
      </p:grpSp>
      <p:grpSp>
        <p:nvGrpSpPr>
          <p:cNvPr id="124" name="c2-graph-2"/>
          <p:cNvGrpSpPr/>
          <p:nvPr/>
        </p:nvGrpSpPr>
        <p:grpSpPr>
          <a:xfrm>
            <a:off x="5593842" y="3734276"/>
            <a:ext cx="5875210" cy="2069973"/>
            <a:chOff x="5593842" y="3734276"/>
            <a:chExt cx="5875210" cy="2069973"/>
          </a:xfrm>
        </p:grpSpPr>
        <p:sp>
          <p:nvSpPr>
            <p:cNvPr id="87" name="Freeform 87"/>
            <p:cNvSpPr/>
            <p:nvPr/>
          </p:nvSpPr>
          <p:spPr>
            <a:xfrm>
              <a:off x="9226868" y="4077652"/>
              <a:ext cx="316230" cy="55245"/>
            </a:xfrm>
            <a:custGeom>
              <a:avLst/>
              <a:gdLst/>
              <a:ahLst/>
              <a:cxnLst/>
              <a:rect l="l" t="t" r="r" b="b"/>
              <a:pathLst>
                <a:path w="316230" h="55245">
                  <a:moveTo>
                    <a:pt x="0" y="0"/>
                  </a:moveTo>
                  <a:lnTo>
                    <a:pt x="316230" y="552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9534525" y="4086225"/>
              <a:ext cx="101918" cy="94297"/>
            </a:xfrm>
            <a:custGeom>
              <a:avLst/>
              <a:gdLst/>
              <a:ahLst/>
              <a:cxnLst/>
              <a:rect l="l" t="t" r="r" b="b"/>
              <a:pathLst>
                <a:path w="101918" h="94297">
                  <a:moveTo>
                    <a:pt x="101918" y="63817"/>
                  </a:moveTo>
                  <a:lnTo>
                    <a:pt x="0" y="94297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10380345" y="4385310"/>
              <a:ext cx="273368" cy="243840"/>
            </a:xfrm>
            <a:custGeom>
              <a:avLst/>
              <a:gdLst/>
              <a:ahLst/>
              <a:cxnLst/>
              <a:rect l="l" t="t" r="r" b="b"/>
              <a:pathLst>
                <a:path w="273368" h="243840">
                  <a:moveTo>
                    <a:pt x="0" y="0"/>
                  </a:moveTo>
                  <a:lnTo>
                    <a:pt x="273368" y="2438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0622280" y="4593908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1438"/>
                  </a:lnTo>
                  <a:lnTo>
                    <a:pt x="63818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10451782" y="4953000"/>
              <a:ext cx="273368" cy="243840"/>
            </a:xfrm>
            <a:custGeom>
              <a:avLst/>
              <a:gdLst/>
              <a:ahLst/>
              <a:cxnLst/>
              <a:rect l="l" t="t" r="r" b="b"/>
              <a:pathLst>
                <a:path w="273368" h="243840">
                  <a:moveTo>
                    <a:pt x="273368" y="0"/>
                  </a:moveTo>
                  <a:lnTo>
                    <a:pt x="0" y="2438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10380345" y="5161598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39053" y="0"/>
                  </a:lnTo>
                  <a:lnTo>
                    <a:pt x="102870" y="7048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9321165" y="5495925"/>
              <a:ext cx="315278" cy="55245"/>
            </a:xfrm>
            <a:custGeom>
              <a:avLst/>
              <a:gdLst/>
              <a:ahLst/>
              <a:cxnLst/>
              <a:rect l="l" t="t" r="r" b="b"/>
              <a:pathLst>
                <a:path w="315278" h="55245">
                  <a:moveTo>
                    <a:pt x="315278" y="0"/>
                  </a:moveTo>
                  <a:lnTo>
                    <a:pt x="0" y="552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226868" y="5504498"/>
              <a:ext cx="101917" cy="94297"/>
            </a:xfrm>
            <a:custGeom>
              <a:avLst/>
              <a:gdLst/>
              <a:ahLst/>
              <a:cxnLst/>
              <a:rect l="l" t="t" r="r" b="b"/>
              <a:pathLst>
                <a:path w="101917" h="94297">
                  <a:moveTo>
                    <a:pt x="0" y="63818"/>
                  </a:moveTo>
                  <a:lnTo>
                    <a:pt x="85725" y="0"/>
                  </a:lnTo>
                  <a:lnTo>
                    <a:pt x="101917" y="94297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5" name="Freeform 95"/>
            <p:cNvSpPr/>
            <p:nvPr/>
          </p:nvSpPr>
          <p:spPr>
            <a:xfrm>
              <a:off x="7715250" y="5512118"/>
              <a:ext cx="315278" cy="56197"/>
            </a:xfrm>
            <a:custGeom>
              <a:avLst/>
              <a:gdLst/>
              <a:ahLst/>
              <a:cxnLst/>
              <a:rect l="l" t="t" r="r" b="b"/>
              <a:pathLst>
                <a:path w="315278" h="56197">
                  <a:moveTo>
                    <a:pt x="315278" y="5619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7620952" y="5465445"/>
              <a:ext cx="101917" cy="94298"/>
            </a:xfrm>
            <a:custGeom>
              <a:avLst/>
              <a:gdLst/>
              <a:ahLst/>
              <a:cxnLst/>
              <a:rect l="l" t="t" r="r" b="b"/>
              <a:pathLst>
                <a:path w="101917" h="94298">
                  <a:moveTo>
                    <a:pt x="0" y="30480"/>
                  </a:moveTo>
                  <a:lnTo>
                    <a:pt x="101917" y="0"/>
                  </a:lnTo>
                  <a:lnTo>
                    <a:pt x="85725" y="9429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6603682" y="5015865"/>
              <a:ext cx="273368" cy="243840"/>
            </a:xfrm>
            <a:custGeom>
              <a:avLst/>
              <a:gdLst/>
              <a:ahLst/>
              <a:cxnLst/>
              <a:rect l="l" t="t" r="r" b="b"/>
              <a:pathLst>
                <a:path w="273368" h="243840">
                  <a:moveTo>
                    <a:pt x="273368" y="2438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6532245" y="495300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0" y="0"/>
                  </a:moveTo>
                  <a:lnTo>
                    <a:pt x="102870" y="27622"/>
                  </a:lnTo>
                  <a:lnTo>
                    <a:pt x="40005" y="9906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6532245" y="4449128"/>
              <a:ext cx="274320" cy="243840"/>
            </a:xfrm>
            <a:custGeom>
              <a:avLst/>
              <a:gdLst/>
              <a:ahLst/>
              <a:cxnLst/>
              <a:rect l="l" t="t" r="r" b="b"/>
              <a:pathLst>
                <a:path w="274320" h="243840">
                  <a:moveTo>
                    <a:pt x="0" y="243840"/>
                  </a:moveTo>
                  <a:lnTo>
                    <a:pt x="27432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6774180" y="438531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3817" y="99060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7620952" y="4093845"/>
              <a:ext cx="316230" cy="56197"/>
            </a:xfrm>
            <a:custGeom>
              <a:avLst/>
              <a:gdLst/>
              <a:ahLst/>
              <a:cxnLst/>
              <a:rect l="l" t="t" r="r" b="b"/>
              <a:pathLst>
                <a:path w="316230" h="56197">
                  <a:moveTo>
                    <a:pt x="0" y="56197"/>
                  </a:moveTo>
                  <a:lnTo>
                    <a:pt x="3162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7928610" y="4047172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30480"/>
                  </a:moveTo>
                  <a:lnTo>
                    <a:pt x="1714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8817292" y="4889182"/>
              <a:ext cx="959168" cy="339090"/>
            </a:xfrm>
            <a:custGeom>
              <a:avLst/>
              <a:gdLst/>
              <a:ahLst/>
              <a:cxnLst/>
              <a:rect l="l" t="t" r="r" b="b"/>
              <a:pathLst>
                <a:path w="959168" h="339090">
                  <a:moveTo>
                    <a:pt x="0" y="0"/>
                  </a:moveTo>
                  <a:lnTo>
                    <a:pt x="959168" y="33909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761220" y="518350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6200"/>
                  </a:moveTo>
                  <a:lnTo>
                    <a:pt x="0" y="89535"/>
                  </a:lnTo>
                  <a:lnTo>
                    <a:pt x="3143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030528" y="3841432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636442" y="412527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272712" y="469296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636442" y="5259705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030528" y="5543550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424612" y="5259705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789295" y="469296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24612" y="4125278"/>
              <a:ext cx="11963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13" name="Ellipse 113"/>
            <p:cNvSpPr/>
            <p:nvPr/>
          </p:nvSpPr>
          <p:spPr>
            <a:xfrm>
              <a:off x="8438198" y="4632008"/>
              <a:ext cx="381000" cy="381000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183601" y="3911441"/>
              <a:ext cx="890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框6 页8 (0,0)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713328" y="4195286"/>
              <a:ext cx="1042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框81 页10 (0,0)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349598" y="4762024"/>
              <a:ext cx="1042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框96 页15 (1,0)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751422" y="5329714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框60 页0 (0,1)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183601" y="5613559"/>
              <a:ext cx="890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 页1 (1,0)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539592" y="5329714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框12 页6 (1,1)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903322" y="4762024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框23 页3 (1,1)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501498" y="4195286"/>
              <a:ext cx="1042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框51 页18 (1,0)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491817" y="47620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5593842" y="37342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替换之后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92827" cy="909257"/>
            <a:chOff x="520446" y="342900"/>
            <a:chExt cx="78928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928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 年考研题：已知页表、装入时间和 Clock 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6492240" cy="2117408"/>
            <a:chOff x="533400" y="1524000"/>
            <a:chExt cx="6492240" cy="2117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6544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某虚拟页式系统，进程空间和内存空间都是 64K，页长 1K。某进程有 6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页，分配 4 个页框，局部置换。280 时刻的页表如下，Clock 结构见右图。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620327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632710"/>
              <a:ext cx="4043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 时刻访问逻辑地址 13B7H，逻辑页号是多少？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92322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961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935605"/>
              <a:ext cx="3813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FIFO 置换，页框号和物理地址各是多少？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322516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3264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3237548"/>
              <a:ext cx="3966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CLOCK 置换，页框号和物理地址各是多少？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33400" y="3815715"/>
            <a:ext cx="6492240" cy="2434590"/>
            <a:chOff x="533400" y="3815715"/>
            <a:chExt cx="6492240" cy="2434590"/>
          </a:xfrm>
        </p:grpSpPr>
        <p:sp>
          <p:nvSpPr>
            <p:cNvPr id="22" name="Rectangle 22"/>
            <p:cNvSpPr/>
            <p:nvPr/>
          </p:nvSpPr>
          <p:spPr>
            <a:xfrm>
              <a:off x="533400" y="3815715"/>
              <a:ext cx="649224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1946" y="39400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81833" y="39400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页框号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0946" y="39400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52566" y="39400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访问标志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49959" y="43457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66532" y="43457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8106" y="43457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2652" y="43457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6224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62724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49959" y="4751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25069" y="475154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8106" y="47515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12652" y="47515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0282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49959" y="5157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66532" y="51573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98106" y="5157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12652" y="51573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4340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43877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49959" y="55630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66532" y="5563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39569" y="55630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12652" y="5563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8397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31036" y="5968841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14209" y="5968841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—（不在内存）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81032" y="59688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2652" y="59688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815715"/>
              <a:ext cx="649224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060258" y="381571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57638" y="381571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89258" y="381571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graph-1"/>
          <p:cNvGrpSpPr/>
          <p:nvPr/>
        </p:nvGrpSpPr>
        <p:grpSpPr>
          <a:xfrm>
            <a:off x="7325106" y="1555432"/>
            <a:ext cx="3987737" cy="4280060"/>
            <a:chOff x="7325106" y="1555432"/>
            <a:chExt cx="3987737" cy="4280060"/>
          </a:xfrm>
        </p:grpSpPr>
        <p:sp>
          <p:nvSpPr>
            <p:cNvPr id="58" name="Freeform 58"/>
            <p:cNvSpPr/>
            <p:nvPr/>
          </p:nvSpPr>
          <p:spPr>
            <a:xfrm>
              <a:off x="9605010" y="2545080"/>
              <a:ext cx="934403" cy="1268730"/>
            </a:xfrm>
            <a:custGeom>
              <a:avLst/>
              <a:gdLst/>
              <a:ahLst/>
              <a:cxnLst/>
              <a:rect l="l" t="t" r="r" b="b"/>
              <a:pathLst>
                <a:path w="934403" h="1268730">
                  <a:moveTo>
                    <a:pt x="0" y="0"/>
                  </a:moveTo>
                  <a:lnTo>
                    <a:pt x="934403" y="12687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501312" y="3785235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94298" y="104775"/>
                  </a:moveTo>
                  <a:lnTo>
                    <a:pt x="0" y="56198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661208" y="4190048"/>
              <a:ext cx="934403" cy="1268730"/>
            </a:xfrm>
            <a:custGeom>
              <a:avLst/>
              <a:gdLst/>
              <a:ahLst/>
              <a:cxnLst/>
              <a:rect l="l" t="t" r="r" b="b"/>
              <a:pathLst>
                <a:path w="934403" h="1268730">
                  <a:moveTo>
                    <a:pt x="934403" y="0"/>
                  </a:moveTo>
                  <a:lnTo>
                    <a:pt x="0" y="12687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605010" y="5430202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104775"/>
                  </a:moveTo>
                  <a:lnTo>
                    <a:pt x="18097" y="0"/>
                  </a:lnTo>
                  <a:lnTo>
                    <a:pt x="95250" y="56197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8449628" y="4267200"/>
              <a:ext cx="934403" cy="1267778"/>
            </a:xfrm>
            <a:custGeom>
              <a:avLst/>
              <a:gdLst/>
              <a:ahLst/>
              <a:cxnLst/>
              <a:rect l="l" t="t" r="r" b="b"/>
              <a:pathLst>
                <a:path w="934403" h="1267778">
                  <a:moveTo>
                    <a:pt x="934403" y="12677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393430" y="4190048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0" y="0"/>
                  </a:moveTo>
                  <a:lnTo>
                    <a:pt x="94297" y="48578"/>
                  </a:lnTo>
                  <a:lnTo>
                    <a:pt x="18097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393430" y="2621280"/>
              <a:ext cx="934402" cy="1268730"/>
            </a:xfrm>
            <a:custGeom>
              <a:avLst/>
              <a:gdLst/>
              <a:ahLst/>
              <a:cxnLst/>
              <a:rect l="l" t="t" r="r" b="b"/>
              <a:pathLst>
                <a:path w="934402" h="1268730">
                  <a:moveTo>
                    <a:pt x="0" y="1268730"/>
                  </a:moveTo>
                  <a:lnTo>
                    <a:pt x="9344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288780" y="254508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0"/>
                  </a:moveTo>
                  <a:lnTo>
                    <a:pt x="77152" y="104775"/>
                  </a:lnTo>
                  <a:lnTo>
                    <a:pt x="0" y="4857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494520" y="2640330"/>
              <a:ext cx="9525" cy="1152525"/>
            </a:xfrm>
            <a:custGeom>
              <a:avLst/>
              <a:gdLst/>
              <a:ahLst/>
              <a:cxnLst/>
              <a:rect l="l" t="t" r="r" b="b"/>
              <a:pathLst>
                <a:path w="9525" h="1152525">
                  <a:moveTo>
                    <a:pt x="0" y="1152525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446895" y="25450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887778" y="2245042"/>
              <a:ext cx="121348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099358" y="3890010"/>
              <a:ext cx="121348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87778" y="5534978"/>
              <a:ext cx="121348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76198" y="3890010"/>
              <a:ext cx="121348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9257348" y="3803332"/>
              <a:ext cx="474345" cy="474345"/>
            </a:xfrm>
            <a:prstGeom prst="ellipse">
              <a:avLst/>
            </a:prstGeom>
            <a:solidFill>
              <a:srgbClr val="F26B3A"/>
            </a:solidFill>
            <a:ln w="17145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72856" y="232457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框5 页0 r=1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40900" y="3970496"/>
              <a:ext cx="93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框12 页2 r=1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72856" y="5615464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框8 页3 r=1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61276" y="3970496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框3 页5 r=1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338031" y="3970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25106" y="1555432"/>
              <a:ext cx="1279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Clock 环（顺时针）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90054" cy="909257"/>
            <a:chOff x="520446" y="342900"/>
            <a:chExt cx="101900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页面置换算法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900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2010 年考研题解答：页号 4，FIFO 得 0FB7H，CLOCK 得 17B7H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880235"/>
            <a:chOff x="533400" y="1524000"/>
            <a:chExt cx="5410200" cy="1880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544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884" y="1769269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拆分逻辑地址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4954" y="2221230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13B7H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54455" y="2085975"/>
              <a:ext cx="14287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82859" y="222123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000100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83205" y="2085975"/>
              <a:ext cx="1428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5026" y="2221230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1110110111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6879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625090"/>
              <a:ext cx="4154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页长 1K = 2¹⁰，低 10 位是页内地址 d = 3B7H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0232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60370"/>
              <a:ext cx="3113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 6 位 000100 = 4，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逻辑页号为 4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594735"/>
            <a:ext cx="5410200" cy="1701165"/>
            <a:chOff x="533400" y="3594735"/>
            <a:chExt cx="5410200" cy="1701165"/>
          </a:xfrm>
        </p:grpSpPr>
        <p:sp>
          <p:nvSpPr>
            <p:cNvPr id="21" name="Rectangle 21"/>
            <p:cNvSpPr/>
            <p:nvPr/>
          </p:nvSpPr>
          <p:spPr>
            <a:xfrm>
              <a:off x="533400" y="359473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72808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804285"/>
              <a:ext cx="8220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950" y="3840004"/>
              <a:ext cx="697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(2) FIFO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2443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18147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4 不在内存，发生缺页中断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96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6755"/>
              <a:ext cx="4790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装入时间最早的是页 5（80），淘汰页 5，得页框号 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9149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52035"/>
              <a:ext cx="4205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物理地址 = 000011 拼上 1110110111 =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0FB7H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486400"/>
            <a:ext cx="5410200" cy="782955"/>
            <a:chOff x="533400" y="5486400"/>
            <a:chExt cx="5410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4864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77865"/>
              <a:ext cx="200026" cy="200025"/>
              <a:chOff x="738188" y="577786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778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8223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9334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634990"/>
              <a:ext cx="4434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 64K，物理地址 16 位：高 6 位是页框号，低 10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位照抄页内地址。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248400" y="1524000"/>
            <a:ext cx="5410200" cy="4745355"/>
            <a:chOff x="6248400" y="1524000"/>
            <a:chExt cx="5410200" cy="474535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745355"/>
            </a:xfrm>
            <a:prstGeom prst="roundRect">
              <a:avLst>
                <a:gd name="adj" fmla="val 28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1657350"/>
              <a:ext cx="47625" cy="4478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1733550"/>
              <a:ext cx="9410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1048" y="1769269"/>
              <a:ext cx="831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(3) CLOCK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96050" y="2085975"/>
              <a:ext cx="49530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00596" y="22217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9906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指针所指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63027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29189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6997" y="26703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8233" y="2670334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0（框 5）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65397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74733" y="267033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0，后移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96050" y="297846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298323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36997" y="31189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98233" y="3118961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2（框 12）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65397" y="31189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4733" y="3118961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0，后移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96050" y="342804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6997" y="356758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98233" y="3567589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3（框 8）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5397" y="35675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74733" y="356758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0，后移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96050" y="387667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96050" y="3881438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36997" y="40162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98233" y="4016216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5（框 3）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65397" y="401621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74733" y="4016216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 0，后移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96050" y="432530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36997" y="446579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98233" y="4465796"/>
              <a:ext cx="995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0（框 5）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65397" y="44657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74733" y="446579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淘汰页 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96050" y="2085975"/>
              <a:ext cx="49530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085648" y="208597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066848" y="208597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562148" y="208597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6501765" y="496157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59880" y="4898708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四页的 r 都是 1，指针转一圈后回到页 0，淘汰它，得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页框号 5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501765" y="558260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59880" y="5519738"/>
              <a:ext cx="4205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物理地址 = 000101 拼上 1110110111 =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17B7H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颠簸与工作集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页框给少了会怎样，每个进程到底该给多少页框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颠簸的原因与处理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工作集模型与窗口尺寸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工作集大小的估算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页故障率反馈模型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颠簸与工作集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颠簸：页面在内存和外存之间频繁换入换出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274445"/>
            <a:chOff x="533400" y="1524000"/>
            <a:chExt cx="6059805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8018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128" y="1763554"/>
              <a:ext cx="1358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颠簸（thrashing）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页面在内存与外存之间频繁地换入换出，进程大部分时间在等缺页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处理，几乎没有进展。</a:t>
              </a:r>
            </a:p>
          </p:txBody>
        </p:sp>
      </p:grpSp>
      <p:grpSp>
        <p:nvGrpSpPr>
          <p:cNvPr id="24" name="c1-table-2"/>
          <p:cNvGrpSpPr/>
          <p:nvPr/>
        </p:nvGrpSpPr>
        <p:grpSpPr>
          <a:xfrm>
            <a:off x="533400" y="2984182"/>
            <a:ext cx="6059805" cy="1290638"/>
            <a:chOff x="533400" y="2984182"/>
            <a:chExt cx="6059805" cy="1290638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0235" y="31156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10138" y="31156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746" y="3545205"/>
              <a:ext cx="2026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分给进程的物理页框过少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68649" y="3545205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增加分给进程的物理页框数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395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44290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975735"/>
              <a:ext cx="1380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淘汰算法不合理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68649" y="3975735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改进淘汰算法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4182"/>
              <a:ext cx="605980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58540" y="298418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3"/>
          <p:cNvGrpSpPr/>
          <p:nvPr/>
        </p:nvGrpSpPr>
        <p:grpSpPr>
          <a:xfrm>
            <a:off x="533400" y="4459605"/>
            <a:ext cx="6059805" cy="1894522"/>
            <a:chOff x="533400" y="4459605"/>
            <a:chExt cx="6059805" cy="1894522"/>
          </a:xfrm>
        </p:grpSpPr>
        <p:sp>
          <p:nvSpPr>
            <p:cNvPr id="25" name="Rectangle 25"/>
            <p:cNvSpPr/>
            <p:nvPr/>
          </p:nvSpPr>
          <p:spPr>
            <a:xfrm>
              <a:off x="533400" y="4459605"/>
              <a:ext cx="6059805" cy="1894522"/>
            </a:xfrm>
            <a:prstGeom prst="roundRect">
              <a:avLst>
                <a:gd name="adj" fmla="val 70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592955"/>
              <a:ext cx="47625" cy="16278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466344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1593" y="46991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8666" y="470392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有的系统在内存中总保持一个空闲页框，好处是什么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2955" y="511587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546" y="505539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缺页时能立即把页读入这个空闲页框，不必先等淘汰完成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2955" y="543591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9546" y="537543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被淘汰页若修改过，写回外存可以在后台进行，不拖慢这次缺页处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9239" y="596360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读入之后再淘汰一页，补足空闲页框。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6898005" y="1524000"/>
            <a:ext cx="4760595" cy="4863942"/>
            <a:chOff x="6898005" y="1524000"/>
            <a:chExt cx="4760595" cy="4863942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10757" t="0" r="10757" b="0"/>
            <a:stretch>
              <a:fillRect/>
            </a:stretch>
          </p:blipFill>
          <p:spPr>
            <a:xfrm>
              <a:off x="6898005" y="1524000"/>
              <a:ext cx="4760595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463295" y="616791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灶台只放得下两只碗，厨师的时间都花在来回搬食材上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颠簸与工作集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工作集：进程在最近一段时间内访问的页面集合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18257" cy="264033"/>
            <a:chOff x="526542" y="1545907"/>
            <a:chExt cx="971825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1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工作集 WS(t, Δ) 是进程在时刻 t 之前最近 Δ 次访问用到的页面集合，Δ 叫窗口尺寸（window size）。下例取 Δ = 10。</a:t>
              </a:r>
            </a:p>
          </p:txBody>
        </p:sp>
      </p:grpSp>
      <p:grpSp>
        <p:nvGrpSpPr>
          <p:cNvPr id="98" name="c1-cells-1"/>
          <p:cNvGrpSpPr/>
          <p:nvPr/>
        </p:nvGrpSpPr>
        <p:grpSpPr>
          <a:xfrm>
            <a:off x="528066" y="1928812"/>
            <a:ext cx="11130534" cy="860584"/>
            <a:chOff x="528066" y="1928812"/>
            <a:chExt cx="11130534" cy="860584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7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7875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16355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6165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99260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456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82165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2842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66022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1132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48928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9423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31832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7713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14738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004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97642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4294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80548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585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3452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0970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47310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9261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30215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7551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13120" y="1928812"/>
              <a:ext cx="382905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5842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96025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4132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78930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2423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61835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713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44740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9004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828598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7390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11502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5680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94408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3971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7312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2261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60218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50552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43122" y="1928812"/>
              <a:ext cx="3829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88426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126028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271331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509885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5518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892790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038093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275695" y="1928812"/>
              <a:ext cx="3829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420998" y="2047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978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47268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8555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3945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22356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0526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388166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77107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153976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06524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89038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27328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5619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3909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2200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0490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8781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7071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54574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37479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720384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103289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486194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69099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52004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3586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01876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401671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4" name="Freeform 94"/>
            <p:cNvSpPr/>
            <p:nvPr/>
          </p:nvSpPr>
          <p:spPr>
            <a:xfrm>
              <a:off x="6066472" y="24974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036061" y="262747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96" name="Freeform 96"/>
            <p:cNvSpPr/>
            <p:nvPr/>
          </p:nvSpPr>
          <p:spPr>
            <a:xfrm>
              <a:off x="9896475" y="24974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866063" y="262747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</p:grpSp>
      <p:grpSp>
        <p:nvGrpSpPr>
          <p:cNvPr id="119" name="c1-table-2"/>
          <p:cNvGrpSpPr/>
          <p:nvPr/>
        </p:nvGrpSpPr>
        <p:grpSpPr>
          <a:xfrm>
            <a:off x="528447" y="2933700"/>
            <a:ext cx="11130153" cy="1863756"/>
            <a:chOff x="528447" y="2933700"/>
            <a:chExt cx="11130153" cy="1863756"/>
          </a:xfrm>
        </p:grpSpPr>
        <p:sp>
          <p:nvSpPr>
            <p:cNvPr id="99" name="Rectangle 99"/>
            <p:cNvSpPr/>
            <p:nvPr/>
          </p:nvSpPr>
          <p:spPr>
            <a:xfrm>
              <a:off x="533400" y="293370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822806" y="3055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05123" y="3055144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窗口内的 10 次访问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757943" y="30551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30555" y="3455194"/>
              <a:ext cx="166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t1（第 14 次访问之后）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249225" y="3455194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7 7 7 7 5 1 6 2 2 1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38890" y="3455194"/>
              <a:ext cx="2101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WS(t1, Δ) = {5, 7, 1, 6, 2}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533400" y="37290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33400" y="37338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30555" y="3855244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19 次访问之后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249225" y="3855244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1 6 2 2 1 2 3 4 4 4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211457" y="3855244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WS = {1, 6, 2, 3, 4}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33400" y="41290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30555" y="4255294"/>
              <a:ext cx="166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t2（第 24 次访问之后）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249225" y="4255294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2 3 4 4 4 3 4 3 4 4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58935" y="4255294"/>
              <a:ext cx="166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WS(t2, Δ) = {2, 3, 4}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33400" y="2933700"/>
              <a:ext cx="11125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3421380" y="29337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8316278" y="29337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28447" y="4606766"/>
              <a:ext cx="89401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蓝色格为 t1 的窗口，橙色格为 t2 的窗口，中间一行的窗口跨在两种颜色之间。原课件没有给出 Δ，按图中 t1、t2 的位置取 Δ = 10 得到这两个工作集。</a:t>
              </a:r>
            </a:p>
          </p:txBody>
        </p:sp>
      </p:grpSp>
      <p:grpSp>
        <p:nvGrpSpPr>
          <p:cNvPr id="126" name="c1-callout-3"/>
          <p:cNvGrpSpPr/>
          <p:nvPr/>
        </p:nvGrpSpPr>
        <p:grpSpPr>
          <a:xfrm>
            <a:off x="533400" y="4929188"/>
            <a:ext cx="11125200" cy="781050"/>
            <a:chOff x="533400" y="4929188"/>
            <a:chExt cx="11125200" cy="7810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4929188"/>
              <a:ext cx="11125200" cy="781050"/>
            </a:xfrm>
            <a:prstGeom prst="roundRect">
              <a:avLst>
                <a:gd name="adj" fmla="val 146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38188" y="5219700"/>
              <a:ext cx="200026" cy="200025"/>
              <a:chOff x="738188" y="5219700"/>
              <a:chExt cx="200026" cy="200025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38188" y="5219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77926" y="5264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812642" y="5375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1040892" y="5101590"/>
              <a:ext cx="97006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19 次访问之后程序正从一个阶段转到另一个阶段：旧阶段的 1、6、2 还没退出窗口，新阶段的 3、4 又要调入，工作集仍是 5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页，缺页也集中在这一段；等程序稳定在新阶段，3 个页框就够。</a:t>
              </a:r>
            </a:p>
          </p:txBody>
        </p:sp>
      </p:grpSp>
      <p:grpSp>
        <p:nvGrpSpPr>
          <p:cNvPr id="13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27" name="Rectangle 12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30" name="Group 13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1" name="TextBox 131"/>
            <p:cNvSpPr txBox="1"/>
            <p:nvPr/>
          </p:nvSpPr>
          <p:spPr>
            <a:xfrm>
              <a:off x="1040892" y="6028373"/>
              <a:ext cx="87910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Denning 认为：为使程序有效运行，工作集应能全部放入内存。工作集随时间 t 变化，也随窗口尺寸 Δ 变化。</a:t>
              </a:r>
            </a:p>
          </p:txBody>
        </p:sp>
      </p:grpSp>
      <p:grpSp>
        <p:nvGrpSpPr>
          <p:cNvPr id="1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3" name="TextBox 13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颠簸与工作集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窗口尺寸怎样定，工作集大小怎样估算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649597" y="1550670"/>
            <a:ext cx="5233878" cy="2190369"/>
            <a:chOff x="649597" y="1550670"/>
            <a:chExt cx="5233878" cy="2190369"/>
          </a:xfrm>
        </p:grpSpPr>
        <p:sp>
          <p:nvSpPr>
            <p:cNvPr id="7" name="Freeform 7"/>
            <p:cNvSpPr/>
            <p:nvPr/>
          </p:nvSpPr>
          <p:spPr>
            <a:xfrm>
              <a:off x="1093470" y="3408045"/>
              <a:ext cx="4627245" cy="9525"/>
            </a:xfrm>
            <a:custGeom>
              <a:avLst/>
              <a:gdLst/>
              <a:ahLst/>
              <a:cxnLst/>
              <a:rect l="l" t="t" r="r" b="b"/>
              <a:pathLst>
                <a:path w="4627245" h="9525">
                  <a:moveTo>
                    <a:pt x="0" y="0"/>
                  </a:moveTo>
                  <a:lnTo>
                    <a:pt x="46272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20715" y="33604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74420" y="1725930"/>
              <a:ext cx="9525" cy="1663065"/>
            </a:xfrm>
            <a:custGeom>
              <a:avLst/>
              <a:gdLst/>
              <a:ahLst/>
              <a:cxnLst/>
              <a:rect l="l" t="t" r="r" b="b"/>
              <a:pathLst>
                <a:path w="9525" h="1663065">
                  <a:moveTo>
                    <a:pt x="0" y="16630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26795" y="1630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93470" y="1830705"/>
              <a:ext cx="4614862" cy="9525"/>
            </a:xfrm>
            <a:custGeom>
              <a:avLst/>
              <a:gdLst/>
              <a:ahLst/>
              <a:cxnLst/>
              <a:rect l="l" t="t" r="r" b="b"/>
              <a:pathLst>
                <a:path w="4614862" h="9525">
                  <a:moveTo>
                    <a:pt x="0" y="0"/>
                  </a:moveTo>
                  <a:lnTo>
                    <a:pt x="461486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264920" y="2995612"/>
              <a:ext cx="106680" cy="148590"/>
            </a:xfrm>
            <a:custGeom>
              <a:avLst/>
              <a:gdLst/>
              <a:ahLst/>
              <a:cxnLst/>
              <a:rect l="l" t="t" r="r" b="b"/>
              <a:pathLst>
                <a:path w="106680" h="148590">
                  <a:moveTo>
                    <a:pt x="0" y="148590"/>
                  </a:moveTo>
                  <a:lnTo>
                    <a:pt x="10668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426845" y="2769870"/>
              <a:ext cx="106680" cy="148590"/>
            </a:xfrm>
            <a:custGeom>
              <a:avLst/>
              <a:gdLst/>
              <a:ahLst/>
              <a:cxnLst/>
              <a:rect l="l" t="t" r="r" b="b"/>
              <a:pathLst>
                <a:path w="106680" h="148590">
                  <a:moveTo>
                    <a:pt x="0" y="148590"/>
                  </a:moveTo>
                  <a:lnTo>
                    <a:pt x="10668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08772" y="2730818"/>
              <a:ext cx="1041082" cy="9525"/>
            </a:xfrm>
            <a:custGeom>
              <a:avLst/>
              <a:gdLst/>
              <a:ahLst/>
              <a:cxnLst/>
              <a:rect l="l" t="t" r="r" b="b"/>
              <a:pathLst>
                <a:path w="1041082" h="9525">
                  <a:moveTo>
                    <a:pt x="0" y="0"/>
                  </a:moveTo>
                  <a:lnTo>
                    <a:pt x="1041082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45105" y="2730818"/>
              <a:ext cx="391478" cy="9525"/>
            </a:xfrm>
            <a:custGeom>
              <a:avLst/>
              <a:gdLst/>
              <a:ahLst/>
              <a:cxnLst/>
              <a:rect l="l" t="t" r="r" b="b"/>
              <a:pathLst>
                <a:path w="391478" h="9525">
                  <a:moveTo>
                    <a:pt x="0" y="0"/>
                  </a:moveTo>
                  <a:lnTo>
                    <a:pt x="391478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12782" y="2546032"/>
              <a:ext cx="105727" cy="146685"/>
            </a:xfrm>
            <a:custGeom>
              <a:avLst/>
              <a:gdLst/>
              <a:ahLst/>
              <a:cxnLst/>
              <a:rect l="l" t="t" r="r" b="b"/>
              <a:pathLst>
                <a:path w="105727" h="146685">
                  <a:moveTo>
                    <a:pt x="0" y="146685"/>
                  </a:moveTo>
                  <a:lnTo>
                    <a:pt x="105727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94710" y="2507932"/>
              <a:ext cx="391478" cy="9525"/>
            </a:xfrm>
            <a:custGeom>
              <a:avLst/>
              <a:gdLst/>
              <a:ahLst/>
              <a:cxnLst/>
              <a:rect l="l" t="t" r="r" b="b"/>
              <a:pathLst>
                <a:path w="391478" h="9525">
                  <a:moveTo>
                    <a:pt x="0" y="0"/>
                  </a:moveTo>
                  <a:lnTo>
                    <a:pt x="391478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61435" y="2320290"/>
              <a:ext cx="106680" cy="148590"/>
            </a:xfrm>
            <a:custGeom>
              <a:avLst/>
              <a:gdLst/>
              <a:ahLst/>
              <a:cxnLst/>
              <a:rect l="l" t="t" r="r" b="b"/>
              <a:pathLst>
                <a:path w="106680" h="148590">
                  <a:moveTo>
                    <a:pt x="0" y="148590"/>
                  </a:moveTo>
                  <a:lnTo>
                    <a:pt x="10668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43362" y="2282190"/>
              <a:ext cx="67628" cy="9525"/>
            </a:xfrm>
            <a:custGeom>
              <a:avLst/>
              <a:gdLst/>
              <a:ahLst/>
              <a:cxnLst/>
              <a:rect l="l" t="t" r="r" b="b"/>
              <a:pathLst>
                <a:path w="67628" h="9525">
                  <a:moveTo>
                    <a:pt x="0" y="0"/>
                  </a:moveTo>
                  <a:lnTo>
                    <a:pt x="67628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86238" y="2094548"/>
              <a:ext cx="106680" cy="148590"/>
            </a:xfrm>
            <a:custGeom>
              <a:avLst/>
              <a:gdLst/>
              <a:ahLst/>
              <a:cxnLst/>
              <a:rect l="l" t="t" r="r" b="b"/>
              <a:pathLst>
                <a:path w="106680" h="148590">
                  <a:moveTo>
                    <a:pt x="0" y="148590"/>
                  </a:moveTo>
                  <a:lnTo>
                    <a:pt x="10668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48162" y="1869758"/>
              <a:ext cx="106680" cy="147638"/>
            </a:xfrm>
            <a:custGeom>
              <a:avLst/>
              <a:gdLst/>
              <a:ahLst/>
              <a:cxnLst/>
              <a:rect l="l" t="t" r="r" b="b"/>
              <a:pathLst>
                <a:path w="106680" h="147638">
                  <a:moveTo>
                    <a:pt x="0" y="147638"/>
                  </a:moveTo>
                  <a:lnTo>
                    <a:pt x="10668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530090" y="1830705"/>
              <a:ext cx="1041082" cy="9525"/>
            </a:xfrm>
            <a:custGeom>
              <a:avLst/>
              <a:gdLst/>
              <a:ahLst/>
              <a:cxnLst/>
              <a:rect l="l" t="t" r="r" b="b"/>
              <a:pathLst>
                <a:path w="1041082" h="9525">
                  <a:moveTo>
                    <a:pt x="0" y="0"/>
                  </a:moveTo>
                  <a:lnTo>
                    <a:pt x="1041082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64895" y="3398520"/>
              <a:ext cx="19050" cy="190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825490" y="3398520"/>
              <a:ext cx="19050" cy="190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64895" y="1602105"/>
              <a:ext cx="19050" cy="190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64895" y="1821180"/>
              <a:ext cx="19050" cy="190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717858" y="1821180"/>
              <a:ext cx="19050" cy="190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98245" y="3144202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361122" y="291846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523048" y="269271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59380" y="269271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146108" y="269271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308985" y="2469832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795712" y="2469832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957638" y="224409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120515" y="224409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282440" y="2018348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444365" y="17926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580698" y="17926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597" y="1550670"/>
              <a:ext cx="30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|WS|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86556" y="35356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99880" y="1594009"/>
              <a:ext cx="1441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程序的全部页数（7 页）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4414" y="31137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4414" y="17773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26081" y="3551873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49141" y="3551873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49" name="c1-text-2"/>
          <p:cNvGrpSpPr/>
          <p:nvPr/>
        </p:nvGrpSpPr>
        <p:grpSpPr>
          <a:xfrm>
            <a:off x="526923" y="3926681"/>
            <a:ext cx="5092954" cy="500824"/>
            <a:chOff x="526923" y="3926681"/>
            <a:chExt cx="5092954" cy="500824"/>
          </a:xfrm>
        </p:grpSpPr>
        <p:sp>
          <p:nvSpPr>
            <p:cNvPr id="48" name="TextBox 48"/>
            <p:cNvSpPr txBox="1"/>
            <p:nvPr/>
          </p:nvSpPr>
          <p:spPr>
            <a:xfrm>
              <a:off x="526923" y="3926681"/>
              <a:ext cx="50929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上例在第 28 次访问后，Δ 从 1 增大到 28 时工作集的大小：Δ 越大工作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集越大，最后等于程序用到的全部页。</a:t>
              </a:r>
            </a:p>
          </p:txBody>
        </p:sp>
      </p:grpSp>
      <p:grpSp>
        <p:nvGrpSpPr>
          <p:cNvPr id="59" name="c1-card-3"/>
          <p:cNvGrpSpPr/>
          <p:nvPr/>
        </p:nvGrpSpPr>
        <p:grpSpPr>
          <a:xfrm>
            <a:off x="533400" y="4567238"/>
            <a:ext cx="5410200" cy="1662112"/>
            <a:chOff x="533400" y="4567238"/>
            <a:chExt cx="5410200" cy="1662112"/>
          </a:xfrm>
        </p:grpSpPr>
        <p:sp>
          <p:nvSpPr>
            <p:cNvPr id="50" name="Rectangle 50"/>
            <p:cNvSpPr/>
            <p:nvPr/>
          </p:nvSpPr>
          <p:spPr>
            <a:xfrm>
              <a:off x="533400" y="4567238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4700588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1050" y="4776788"/>
              <a:ext cx="90582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5132" y="481250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窗口尺寸 Δ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86765" y="52168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4880" y="5153978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过小：活动页面不能全部装入，页故障率高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86765" y="555212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4880" y="548925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过大：内存浪费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4573" y="5820251"/>
              <a:ext cx="3456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Madnick 和 Donovan 建议 Δ 取 1 万次访内。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页表中增加访问位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97040" y="2129790"/>
              <a:ext cx="3259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Δ 周期开始时，访问位全部清 0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97040" y="2465070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访问某页时，把它的访问位置 1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97040" y="2800350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周期结束时，访问位为 1 的页就是这个周期的工作集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formula6"/>
              <p:cNvSpPr txBox="1">
                <a:spLocks noGrp="1"/>
              </p:cNvSpPr>
              <p:nvPr/>
            </p:nvSpPr>
            <p:spPr>
              <a:xfrm>
                <a:off x="6248400" y="3434715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τ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d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τ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84" name="c2-kv-3"/>
          <p:cNvGrpSpPr/>
          <p:nvPr/>
        </p:nvGrpSpPr>
        <p:grpSpPr>
          <a:xfrm>
            <a:off x="6240780" y="4107180"/>
            <a:ext cx="5417820" cy="1173480"/>
            <a:chOff x="6240780" y="4107180"/>
            <a:chExt cx="5417820" cy="1173480"/>
          </a:xfrm>
        </p:grpSpPr>
        <p:sp>
          <p:nvSpPr>
            <p:cNvPr id="76" name="TextBox 76"/>
            <p:cNvSpPr txBox="1"/>
            <p:nvPr/>
          </p:nvSpPr>
          <p:spPr>
            <a:xfrm>
              <a:off x="6240780" y="4107180"/>
              <a:ext cx="29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wₙ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758940" y="4107180"/>
              <a:ext cx="2915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 个 Δ 周期实际的工作集大小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4427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40780" y="454723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τₙ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58940" y="4547235"/>
              <a:ext cx="3117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 个 Δ 周期工作集大小的估算值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4867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40780" y="498729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758940" y="4987290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权重，通常取 0.5</a:t>
              </a:r>
            </a:p>
          </p:txBody>
        </p:sp>
      </p:grpSp>
      <p:grpSp>
        <p:nvGrpSpPr>
          <p:cNvPr id="90" name="c2-callout-4"/>
          <p:cNvGrpSpPr/>
          <p:nvPr/>
        </p:nvGrpSpPr>
        <p:grpSpPr>
          <a:xfrm>
            <a:off x="6248400" y="5412105"/>
            <a:ext cx="5410200" cy="817245"/>
            <a:chOff x="6248400" y="5412105"/>
            <a:chExt cx="5410200" cy="817245"/>
          </a:xfrm>
        </p:grpSpPr>
        <p:sp>
          <p:nvSpPr>
            <p:cNvPr id="85" name="Rectangle 85"/>
            <p:cNvSpPr/>
            <p:nvPr/>
          </p:nvSpPr>
          <p:spPr>
            <a:xfrm>
              <a:off x="6248400" y="5412105"/>
              <a:ext cx="5410200" cy="817245"/>
            </a:xfrm>
            <a:prstGeom prst="roundRect">
              <a:avLst>
                <a:gd name="adj" fmla="val 1398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453188" y="5720715"/>
              <a:ext cx="200026" cy="200026"/>
              <a:chOff x="6453188" y="5720715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453188" y="57207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519863" y="57985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755130" y="557784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例：α = 0.5，τₙ = 10，本周期实测 wₙ = 6，则下一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周期估算 τₙ₊₁ = 0.5 × 6 + 0.5 × 10 = 8。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颠簸与工作集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页故障率反馈模型：缺页率高就加页框，低就减页框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30568" y="1909762"/>
            <a:ext cx="5232082" cy="4067176"/>
            <a:chOff x="730568" y="1909762"/>
            <a:chExt cx="5232082" cy="4067176"/>
          </a:xfrm>
        </p:grpSpPr>
        <p:sp>
          <p:nvSpPr>
            <p:cNvPr id="7" name="Freeform 7"/>
            <p:cNvSpPr/>
            <p:nvPr/>
          </p:nvSpPr>
          <p:spPr>
            <a:xfrm>
              <a:off x="1940242" y="2347912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0"/>
                  </a:moveTo>
                  <a:lnTo>
                    <a:pt x="0" y="584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932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49918" y="3338512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38525" y="3286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639502"/>
              <a:ext cx="9525" cy="502920"/>
            </a:xfrm>
            <a:custGeom>
              <a:avLst/>
              <a:gdLst/>
              <a:ahLst/>
              <a:cxnLst/>
              <a:rect l="l" t="t" r="r" b="b"/>
              <a:pathLst>
                <a:path w="9525" h="502920">
                  <a:moveTo>
                    <a:pt x="0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41424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49918" y="4548188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38525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40242" y="4849178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0"/>
                  </a:moveTo>
                  <a:lnTo>
                    <a:pt x="0" y="5848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87855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0568" y="1909762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30568" y="3037522"/>
              <a:ext cx="2419350" cy="601980"/>
            </a:xfrm>
            <a:custGeom>
              <a:avLst/>
              <a:gdLst/>
              <a:ahLst/>
              <a:cxnLst/>
              <a:rect l="l" t="t" r="r" b="b"/>
              <a:pathLst>
                <a:path w="2419350" h="601980">
                  <a:moveTo>
                    <a:pt x="1209675" y="0"/>
                  </a:moveTo>
                  <a:lnTo>
                    <a:pt x="2419350" y="300990"/>
                  </a:lnTo>
                  <a:lnTo>
                    <a:pt x="120967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43300" y="3119438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30568" y="4247198"/>
              <a:ext cx="2419350" cy="601980"/>
            </a:xfrm>
            <a:custGeom>
              <a:avLst/>
              <a:gdLst/>
              <a:ahLst/>
              <a:cxnLst/>
              <a:rect l="l" t="t" r="r" b="b"/>
              <a:pathLst>
                <a:path w="2419350" h="601980">
                  <a:moveTo>
                    <a:pt x="1209675" y="0"/>
                  </a:moveTo>
                  <a:lnTo>
                    <a:pt x="2419350" y="300990"/>
                  </a:lnTo>
                  <a:lnTo>
                    <a:pt x="120967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43300" y="4329112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0568" y="5538788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58354" y="20397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统计进程的页故障率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0668" y="32494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达到上界阈值？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84930" y="324945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内存页面少，增加页框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0668" y="44591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达到下界阈值？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4930" y="445912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内存页面多，减少页框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2982" y="56688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页框数不变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32785" y="312229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71075" y="31489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68818" y="38509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92058" y="38776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32785" y="433197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71075" y="43586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68818" y="51015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92058" y="51282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1612582"/>
            <a:chOff x="6464618" y="1524000"/>
            <a:chExt cx="5193982" cy="1612582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12268" y="1733550"/>
              <a:ext cx="231648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27908" y="1769269"/>
              <a:ext cx="228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PFFB（Page Fault Feed Back）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思想：利用页故障率的反馈信息，动态调整分给进程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的页框数。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5791" y="2728436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页故障率 = 访问内存时的缺页次数 ÷ 访问内存的总次数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464618" y="3327082"/>
            <a:ext cx="5193982" cy="1573530"/>
            <a:chOff x="6464618" y="3327082"/>
            <a:chExt cx="5193982" cy="1573530"/>
          </a:xfrm>
        </p:grpSpPr>
        <p:sp>
          <p:nvSpPr>
            <p:cNvPr id="45" name="Rectangle 45"/>
            <p:cNvSpPr/>
            <p:nvPr/>
          </p:nvSpPr>
          <p:spPr>
            <a:xfrm>
              <a:off x="6464618" y="3327082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68794" y="3462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93948" y="34628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调整依据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72441" y="39114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工作集模型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8376" y="391144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估算工作集大小，按它分配页框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2205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422529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44734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页故障率反馈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8376" y="436006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直接看实测的缺页率，超出阈值就增减页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3327082"/>
              <a:ext cx="5193982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25790" y="332708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6464618" y="5091112"/>
            <a:ext cx="5193982" cy="1059180"/>
            <a:chOff x="6464618" y="5091112"/>
            <a:chExt cx="5193982" cy="1059180"/>
          </a:xfrm>
        </p:grpSpPr>
        <p:sp>
          <p:nvSpPr>
            <p:cNvPr id="57" name="Rectangle 57"/>
            <p:cNvSpPr/>
            <p:nvPr/>
          </p:nvSpPr>
          <p:spPr>
            <a:xfrm>
              <a:off x="6464618" y="509111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69405" y="5520690"/>
              <a:ext cx="200026" cy="200026"/>
              <a:chOff x="6669405" y="552069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5206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36080" y="559847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1348" y="5239702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例：LRU 例题 3 个页框时缺页率 60%。若上界阈值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定为 50%，就给该进程加一个页框；4 个页框时同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一序列只缺页 8 次（40%）。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虚拟段式与虚拟段页式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以段为单位调入淘汰，段可以在运行中动态连接和共享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缺段中断与地址映射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7.3.2 段的动态连接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 段页式的表目与地址映射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连接、缺页、越界、越权中断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 虚拟段式：访问的段不在内存就发缺段中断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544378" cy="1983105"/>
            <a:chOff x="533400" y="1524000"/>
            <a:chExt cx="4544378" cy="1983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基本原理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：进程全部装入外存，部分段装入内存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：访问的段不在内存，发生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缺段中断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，把该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段调入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2931319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段长不等，调入时要在内存找一块足够大的连续区，可能要先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紧凑或淘汰几个段。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704272"/>
            <a:ext cx="4551236" cy="1457516"/>
            <a:chOff x="526542" y="3704272"/>
            <a:chExt cx="4551236" cy="1457516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3704272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070" y="370427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段表长度（段表长度寄存器）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288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1024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070" y="4102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段表首址（段表首址寄存器）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39102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4499610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b′、l′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8070" y="44996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该段在内存的首址和段长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891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489775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18070" y="48977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该段在外存的首址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5377244" y="1524000"/>
            <a:ext cx="6281356" cy="1902714"/>
            <a:chOff x="5377244" y="1524000"/>
            <a:chExt cx="6281356" cy="1902714"/>
          </a:xfrm>
        </p:grpSpPr>
        <p:sp>
          <p:nvSpPr>
            <p:cNvPr id="29" name="Rectangle 29"/>
            <p:cNvSpPr/>
            <p:nvPr/>
          </p:nvSpPr>
          <p:spPr>
            <a:xfrm>
              <a:off x="5382578" y="1524000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823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938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9650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内存首址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282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外存首址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760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5686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内外标识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5317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89561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0315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5659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290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8540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1695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1326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233553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89561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0536" y="2459831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512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11444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04475" y="245983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{rwe}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88791" y="245983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85106" y="245983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2736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89561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0315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5659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5290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8540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1695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1326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1524000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8933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0180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9716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9348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66120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65752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77244" y="3221355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(1) 虚拟段式的段表</a:t>
              </a:r>
            </a:p>
          </p:txBody>
        </p:sp>
      </p:grpSp>
      <p:grpSp>
        <p:nvGrpSpPr>
          <p:cNvPr id="100" name="c2-table-2"/>
          <p:cNvGrpSpPr/>
          <p:nvPr/>
        </p:nvGrpSpPr>
        <p:grpSpPr>
          <a:xfrm>
            <a:off x="5377244" y="3560445"/>
            <a:ext cx="6281356" cy="1902714"/>
            <a:chOff x="5377244" y="3560445"/>
            <a:chExt cx="6281356" cy="1902714"/>
          </a:xfrm>
        </p:grpSpPr>
        <p:sp>
          <p:nvSpPr>
            <p:cNvPr id="70" name="Rectangle 70"/>
            <p:cNvSpPr/>
            <p:nvPr/>
          </p:nvSpPr>
          <p:spPr>
            <a:xfrm>
              <a:off x="5382578" y="3560445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768061" y="36847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52958" y="36847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29004" y="36847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内存首址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97746" y="36847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访问权限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66489" y="36847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修改标志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875299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62270" y="40905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89090" y="40905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557832" y="40905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926575" y="40905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82578" y="43672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382578" y="437197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875299" y="44962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39653" y="4496276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l′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147627" y="44962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76903" y="449627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{rwe}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798416" y="449627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82578" y="47729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875299" y="4902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962270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89090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557832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926575" y="4902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82578" y="3560445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462712" y="3560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7546658" y="3560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8916352" y="3560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10285095" y="3560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377244" y="5257800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(2) 虚拟段式的快表</a:t>
              </a:r>
            </a:p>
          </p:txBody>
        </p:sp>
      </p:grpSp>
      <p:grpSp>
        <p:nvGrpSpPr>
          <p:cNvPr id="107" name="c2-callout-3"/>
          <p:cNvGrpSpPr/>
          <p:nvPr/>
        </p:nvGrpSpPr>
        <p:grpSpPr>
          <a:xfrm>
            <a:off x="5382578" y="5596890"/>
            <a:ext cx="6276022" cy="729615"/>
            <a:chOff x="5382578" y="5596890"/>
            <a:chExt cx="6276022" cy="729615"/>
          </a:xfrm>
        </p:grpSpPr>
        <p:sp>
          <p:nvSpPr>
            <p:cNvPr id="101" name="Rectangle 101"/>
            <p:cNvSpPr/>
            <p:nvPr/>
          </p:nvSpPr>
          <p:spPr>
            <a:xfrm>
              <a:off x="5382578" y="559689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5587365" y="5861685"/>
              <a:ext cx="200026" cy="200026"/>
              <a:chOff x="5587365" y="5861685"/>
              <a:chExt cx="200026" cy="200026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5587365" y="58616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5687378" y="5928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5676265" y="59616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5890070" y="5743575"/>
              <a:ext cx="53543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和虚拟页式相比，段表、快表都多了段长 l′，映射时还要检查段内地址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是否越界。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虚拟段式地址映射：段号、段内地址各查一次越界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534933" cy="308039"/>
            <a:chOff x="525399" y="1550194"/>
            <a:chExt cx="753493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5349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逻辑地址 (s, d)。这一页的步骤由硬件完成，缺段中断转软件处理（下一页）。</a:t>
              </a:r>
            </a:p>
          </p:txBody>
        </p:sp>
      </p:grpSp>
      <p:grpSp>
        <p:nvGrpSpPr>
          <p:cNvPr id="81" name="c1-flow-1"/>
          <p:cNvGrpSpPr/>
          <p:nvPr/>
        </p:nvGrpSpPr>
        <p:grpSpPr>
          <a:xfrm>
            <a:off x="689610" y="2106930"/>
            <a:ext cx="10813732" cy="4021454"/>
            <a:chOff x="689610" y="2106930"/>
            <a:chExt cx="10813732" cy="4021454"/>
          </a:xfrm>
        </p:grpSpPr>
        <p:sp>
          <p:nvSpPr>
            <p:cNvPr id="9" name="Freeform 9"/>
            <p:cNvSpPr/>
            <p:nvPr/>
          </p:nvSpPr>
          <p:spPr>
            <a:xfrm>
              <a:off x="2602230" y="25165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9875" y="2464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7270" y="25165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34915" y="2464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52310" y="2516505"/>
              <a:ext cx="2432685" cy="9525"/>
            </a:xfrm>
            <a:custGeom>
              <a:avLst/>
              <a:gdLst/>
              <a:ahLst/>
              <a:cxnLst/>
              <a:rect l="l" t="t" r="r" b="b"/>
              <a:pathLst>
                <a:path w="2432685" h="9525">
                  <a:moveTo>
                    <a:pt x="0" y="0"/>
                  </a:moveTo>
                  <a:lnTo>
                    <a:pt x="24326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464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2817495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43612" y="3291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70960" y="2927032"/>
              <a:ext cx="9525" cy="282892"/>
            </a:xfrm>
            <a:custGeom>
              <a:avLst/>
              <a:gdLst/>
              <a:ahLst/>
              <a:cxnLst/>
              <a:rect l="l" t="t" r="r" b="b"/>
              <a:pathLst>
                <a:path w="9525" h="282892">
                  <a:moveTo>
                    <a:pt x="0" y="0"/>
                  </a:moveTo>
                  <a:lnTo>
                    <a:pt x="0" y="282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18572" y="3209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707005" y="361569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02230" y="3563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70960" y="3916680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18572" y="4391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827270" y="4714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034915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052310" y="4714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259955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096000" y="5014912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43612" y="5394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21040" y="5014912"/>
              <a:ext cx="9525" cy="474345"/>
            </a:xfrm>
            <a:custGeom>
              <a:avLst/>
              <a:gdLst/>
              <a:ahLst/>
              <a:cxnLst/>
              <a:rect l="l" t="t" r="r" b="b"/>
              <a:pathLst>
                <a:path w="9525" h="474345">
                  <a:moveTo>
                    <a:pt x="0" y="0"/>
                  </a:moveTo>
                  <a:lnTo>
                    <a:pt x="0" y="474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268652" y="5489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277350" y="4714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84995" y="4662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46080" y="2840355"/>
              <a:ext cx="9525" cy="1559242"/>
            </a:xfrm>
            <a:custGeom>
              <a:avLst/>
              <a:gdLst/>
              <a:ahLst/>
              <a:cxnLst/>
              <a:rect l="l" t="t" r="r" b="b"/>
              <a:pathLst>
                <a:path w="9525" h="1559242">
                  <a:moveTo>
                    <a:pt x="0" y="155924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493692" y="2735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610" y="2202180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914650" y="2106930"/>
              <a:ext cx="1912620" cy="820103"/>
            </a:xfrm>
            <a:custGeom>
              <a:avLst/>
              <a:gdLst/>
              <a:ahLst/>
              <a:cxnLst/>
              <a:rect l="l" t="t" r="r" b="b"/>
              <a:pathLst>
                <a:path w="1912620" h="820103">
                  <a:moveTo>
                    <a:pt x="956310" y="0"/>
                  </a:moveTo>
                  <a:lnTo>
                    <a:pt x="1912620" y="409575"/>
                  </a:lnTo>
                  <a:lnTo>
                    <a:pt x="956310" y="820103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139690" y="2216468"/>
              <a:ext cx="1912620" cy="601028"/>
            </a:xfrm>
            <a:custGeom>
              <a:avLst/>
              <a:gdLst/>
              <a:ahLst/>
              <a:cxnLst/>
              <a:rect l="l" t="t" r="r" b="b"/>
              <a:pathLst>
                <a:path w="1912620" h="601028">
                  <a:moveTo>
                    <a:pt x="956310" y="0"/>
                  </a:moveTo>
                  <a:lnTo>
                    <a:pt x="1912620" y="300038"/>
                  </a:lnTo>
                  <a:lnTo>
                    <a:pt x="95631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89770" y="2297430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610" y="3396615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914650" y="3314700"/>
              <a:ext cx="1912620" cy="601980"/>
            </a:xfrm>
            <a:custGeom>
              <a:avLst/>
              <a:gdLst/>
              <a:ahLst/>
              <a:cxnLst/>
              <a:rect l="l" t="t" r="r" b="b"/>
              <a:pathLst>
                <a:path w="1912620" h="601980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139690" y="3396615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14650" y="4495800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139690" y="4413885"/>
              <a:ext cx="1912620" cy="601028"/>
            </a:xfrm>
            <a:custGeom>
              <a:avLst/>
              <a:gdLst/>
              <a:ahLst/>
              <a:cxnLst/>
              <a:rect l="l" t="t" r="r" b="b"/>
              <a:pathLst>
                <a:path w="1912620" h="601028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364730" y="4413885"/>
              <a:ext cx="1912620" cy="601028"/>
            </a:xfrm>
            <a:custGeom>
              <a:avLst/>
              <a:gdLst/>
              <a:ahLst/>
              <a:cxnLst/>
              <a:rect l="l" t="t" r="r" b="b"/>
              <a:pathLst>
                <a:path w="1912620" h="601028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89770" y="4399598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39690" y="5498782"/>
              <a:ext cx="1913572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64730" y="5594032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9203" y="2318861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指令确定逻辑地址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(s, d)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99587" y="2318861"/>
              <a:ext cx="11427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 查快表得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b′、l′，查到？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42427" y="2427446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d ≤ l′−1？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28379" y="2427446"/>
              <a:ext cx="1435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b′ + d 得物理地址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94816" y="3526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364774" y="3526631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s ≤ l−1？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44896" y="3526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87232" y="462581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b、s 查段表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72582" y="46258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该段在内存？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67467" y="4625816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d ≤ l′−1？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40595" y="4516279"/>
              <a:ext cx="14109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(s, b′, l′) 写入快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表，满则淘汰一项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58003" y="561451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缺段中断，转软件处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69936" y="57240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802505" y="29746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36795" y="30013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206740" y="23002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45031" y="23269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124575" y="301466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47816" y="304133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899535" y="302895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922776" y="305562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644140" y="33994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682430" y="34261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899535" y="411384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922776" y="414051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094220" y="44986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32511" y="45253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124575" y="516445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47816" y="51911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不在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349615" y="52130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72856" y="52397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319260" y="44986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357550" y="45253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缺段中断处理：内存不够先试紧凑，还不够再淘汰段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flow-1"/>
          <p:cNvGrpSpPr/>
          <p:nvPr/>
        </p:nvGrpSpPr>
        <p:grpSpPr>
          <a:xfrm>
            <a:off x="1225868" y="1705928"/>
            <a:ext cx="6099809" cy="4385309"/>
            <a:chOff x="1225868" y="1705928"/>
            <a:chExt cx="6099809" cy="4385309"/>
          </a:xfrm>
        </p:grpSpPr>
        <p:sp>
          <p:nvSpPr>
            <p:cNvPr id="7" name="Freeform 7"/>
            <p:cNvSpPr/>
            <p:nvPr/>
          </p:nvSpPr>
          <p:spPr>
            <a:xfrm>
              <a:off x="3129915" y="2309812"/>
              <a:ext cx="9525" cy="163830"/>
            </a:xfrm>
            <a:custGeom>
              <a:avLst/>
              <a:gdLst/>
              <a:ahLst/>
              <a:cxnLst/>
              <a:rect l="l" t="t" r="r" b="b"/>
              <a:pathLst>
                <a:path w="9525" h="163830">
                  <a:moveTo>
                    <a:pt x="0" y="0"/>
                  </a:moveTo>
                  <a:lnTo>
                    <a:pt x="0" y="163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77528" y="2473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62388" y="29756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24312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594032" y="29756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755958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3372802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77528" y="34413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62388" y="394335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024312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61560" y="3292792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09172" y="31880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29915" y="4340542"/>
              <a:ext cx="9525" cy="253365"/>
            </a:xfrm>
            <a:custGeom>
              <a:avLst/>
              <a:gdLst/>
              <a:ahLst/>
              <a:cxnLst/>
              <a:rect l="l" t="t" r="r" b="b"/>
              <a:pathLst>
                <a:path w="9525" h="253365">
                  <a:moveTo>
                    <a:pt x="0" y="0"/>
                  </a:moveTo>
                  <a:lnTo>
                    <a:pt x="0" y="2533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77528" y="45939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62388" y="49110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24312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594032" y="49110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755958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861560" y="5308282"/>
              <a:ext cx="9525" cy="253365"/>
            </a:xfrm>
            <a:custGeom>
              <a:avLst/>
              <a:gdLst/>
              <a:ahLst/>
              <a:cxnLst/>
              <a:rect l="l" t="t" r="r" b="b"/>
              <a:pathLst>
                <a:path w="9525" h="253365">
                  <a:moveTo>
                    <a:pt x="0" y="0"/>
                  </a:moveTo>
                  <a:lnTo>
                    <a:pt x="0" y="2533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809172" y="5561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698808" y="5123498"/>
              <a:ext cx="894398" cy="755333"/>
            </a:xfrm>
            <a:custGeom>
              <a:avLst/>
              <a:gdLst/>
              <a:ahLst/>
              <a:cxnLst/>
              <a:rect l="l" t="t" r="r" b="b"/>
              <a:pathLst>
                <a:path w="894398" h="755333">
                  <a:moveTo>
                    <a:pt x="894398" y="0"/>
                  </a:moveTo>
                  <a:lnTo>
                    <a:pt x="894398" y="209550"/>
                  </a:lnTo>
                  <a:lnTo>
                    <a:pt x="894398" y="755333"/>
                  </a:lnTo>
                  <a:lnTo>
                    <a:pt x="104775" y="755333"/>
                  </a:lnTo>
                  <a:lnTo>
                    <a:pt x="0" y="755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594032" y="58264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225868" y="2975610"/>
              <a:ext cx="2903220" cy="2903220"/>
            </a:xfrm>
            <a:custGeom>
              <a:avLst/>
              <a:gdLst/>
              <a:ahLst/>
              <a:cxnLst/>
              <a:rect l="l" t="t" r="r" b="b"/>
              <a:pathLst>
                <a:path w="2903220" h="2903220">
                  <a:moveTo>
                    <a:pt x="2903220" y="2903220"/>
                  </a:moveTo>
                  <a:lnTo>
                    <a:pt x="2693670" y="2903220"/>
                  </a:lnTo>
                  <a:lnTo>
                    <a:pt x="0" y="2903220"/>
                  </a:lnTo>
                  <a:lnTo>
                    <a:pt x="0" y="0"/>
                  </a:lnTo>
                  <a:lnTo>
                    <a:pt x="962978" y="0"/>
                  </a:lnTo>
                  <a:lnTo>
                    <a:pt x="106775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293620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98395" y="1705928"/>
              <a:ext cx="1464945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398395" y="2578418"/>
              <a:ext cx="1463992" cy="794385"/>
            </a:xfrm>
            <a:custGeom>
              <a:avLst/>
              <a:gdLst/>
              <a:ahLst/>
              <a:cxnLst/>
              <a:rect l="l" t="t" r="r" b="b"/>
              <a:pathLst>
                <a:path w="1463992" h="794385">
                  <a:moveTo>
                    <a:pt x="731520" y="0"/>
                  </a:moveTo>
                  <a:lnTo>
                    <a:pt x="1463992" y="397192"/>
                  </a:lnTo>
                  <a:lnTo>
                    <a:pt x="731520" y="794385"/>
                  </a:lnTo>
                  <a:lnTo>
                    <a:pt x="0" y="39719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29088" y="276320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60732" y="2673668"/>
              <a:ext cx="1464945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398395" y="3546158"/>
              <a:ext cx="1463992" cy="794385"/>
            </a:xfrm>
            <a:custGeom>
              <a:avLst/>
              <a:gdLst/>
              <a:ahLst/>
              <a:cxnLst/>
              <a:rect l="l" t="t" r="r" b="b"/>
              <a:pathLst>
                <a:path w="1463992" h="794385">
                  <a:moveTo>
                    <a:pt x="731520" y="0"/>
                  </a:moveTo>
                  <a:lnTo>
                    <a:pt x="1463992" y="397192"/>
                  </a:lnTo>
                  <a:lnTo>
                    <a:pt x="731520" y="794385"/>
                  </a:lnTo>
                  <a:lnTo>
                    <a:pt x="0" y="39719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29088" y="373094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98395" y="469868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129088" y="4513898"/>
              <a:ext cx="1464945" cy="794385"/>
            </a:xfrm>
            <a:custGeom>
              <a:avLst/>
              <a:gdLst/>
              <a:ahLst/>
              <a:cxnLst/>
              <a:rect l="l" t="t" r="r" b="b"/>
              <a:pathLst>
                <a:path w="1464945" h="794385">
                  <a:moveTo>
                    <a:pt x="732472" y="0"/>
                  </a:moveTo>
                  <a:lnTo>
                    <a:pt x="1464945" y="397193"/>
                  </a:lnTo>
                  <a:lnTo>
                    <a:pt x="732472" y="794385"/>
                  </a:lnTo>
                  <a:lnTo>
                    <a:pt x="0" y="39719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60732" y="469868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129088" y="5666422"/>
              <a:ext cx="146494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90419" y="1821180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保存现场，找到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段的外存位置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19019" y="2788920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内存可满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32376" y="28917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读入该段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53709" y="2788920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改段表、快表，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恢复现场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19019" y="3756660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紧凑后够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93920" y="38595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19959" y="48272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选一段淘汰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50664" y="4724400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该段修改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64021" y="48272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写回外存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32376" y="5795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修改段表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81438" y="275939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19728" y="2786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919538" y="33670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961828" y="33937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81438" y="3727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919728" y="3753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158490" y="442722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181731" y="44538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613082" y="46948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51373" y="47215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890135" y="539496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13376" y="54216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254442" y="433482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277683" y="436149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再判断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7762875" y="1524000"/>
            <a:ext cx="3895725" cy="2457450"/>
            <a:chOff x="7762875" y="1524000"/>
            <a:chExt cx="3895725" cy="2457450"/>
          </a:xfrm>
        </p:grpSpPr>
        <p:sp>
          <p:nvSpPr>
            <p:cNvPr id="66" name="Rectangle 66"/>
            <p:cNvSpPr/>
            <p:nvPr/>
          </p:nvSpPr>
          <p:spPr>
            <a:xfrm>
              <a:off x="7762875" y="1524000"/>
              <a:ext cx="389572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72400" y="165735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0481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09597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012430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69021" y="2100739"/>
              <a:ext cx="30802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段长不等，淘汰一个段空出的区域不一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定够用，所以淘汰后要回到“内存可满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足？”再判断，可能连续淘汰几个段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012430" y="302418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169021" y="2963704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紧凑：移动内存中的段，把分散的空闲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区合成一块连续区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8012430" y="36156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69021" y="355520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被淘汰的段修改过才需要写回外存</a:t>
              </a:r>
            </a:p>
          </p:txBody>
        </p:sp>
      </p:grpSp>
      <p:grpSp>
        <p:nvGrpSpPr>
          <p:cNvPr id="97" name="c2-compare-2"/>
          <p:cNvGrpSpPr/>
          <p:nvPr/>
        </p:nvGrpSpPr>
        <p:grpSpPr>
          <a:xfrm>
            <a:off x="7762875" y="4167188"/>
            <a:ext cx="3895725" cy="2175510"/>
            <a:chOff x="7762875" y="4167188"/>
            <a:chExt cx="3895725" cy="2175510"/>
          </a:xfrm>
        </p:grpSpPr>
        <p:sp>
          <p:nvSpPr>
            <p:cNvPr id="77" name="Rectangle 77"/>
            <p:cNvSpPr/>
            <p:nvPr/>
          </p:nvSpPr>
          <p:spPr>
            <a:xfrm>
              <a:off x="7762875" y="4167188"/>
              <a:ext cx="1738312" cy="2175510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72400" y="4300538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997571" y="43943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8012430" y="479298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69021" y="473344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页长固定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012430" y="51130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69021" y="5053489"/>
              <a:ext cx="9161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有空闲页框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就能放下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8012430" y="57045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69021" y="5644991"/>
              <a:ext cx="9161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最多淘汰一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920288" y="4167188"/>
              <a:ext cx="1738312" cy="2175510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9929812" y="4300538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154984" y="43943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缺段中断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10169842" y="479298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326434" y="473344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段长不等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10169842" y="51130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326434" y="5053489"/>
              <a:ext cx="9161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要找够大的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连续区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10169842" y="57045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326434" y="5644991"/>
              <a:ext cx="9161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可能紧凑或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淘汰多个段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9548812" y="509301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619153" y="518922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4166" cy="909257"/>
            <a:chOff x="520446" y="342900"/>
            <a:chExt cx="83341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41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7.3.2 段的动态连接：运行中第一次用到某段时才连接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193982" cy="1800225"/>
            <a:chOff x="533400" y="1524000"/>
            <a:chExt cx="5193982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109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969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静态连接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99586" y="1659731"/>
              <a:ext cx="147436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动态连接（dynamic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linking）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什么时候连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4223" y="24484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3980" y="24484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由谁完成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84223" y="30103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连接程序 link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53980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19398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7163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4139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3514725"/>
            <a:ext cx="5193982" cy="1701165"/>
            <a:chOff x="533400" y="3514725"/>
            <a:chExt cx="5193982" cy="1701165"/>
          </a:xfrm>
        </p:grpSpPr>
        <p:sp>
          <p:nvSpPr>
            <p:cNvPr id="23" name="Rectangle 23"/>
            <p:cNvSpPr/>
            <p:nvPr/>
          </p:nvSpPr>
          <p:spPr>
            <a:xfrm>
              <a:off x="533400" y="351472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64807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72427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557" y="37599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静态连接的缺点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1050" y="40881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899" y="41304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2040" y="41014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连接时间长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1050" y="442341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899" y="44657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2040" y="44367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目标代码长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1050" y="47586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899" y="48009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040" y="47720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被连接的段可能根本不执行（用不到），白白连接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406390"/>
            <a:ext cx="5193982" cy="782955"/>
            <a:chOff x="533400" y="5406390"/>
            <a:chExt cx="5193982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40639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697855"/>
              <a:ext cx="200026" cy="200025"/>
              <a:chOff x="738188" y="569785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6978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7423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8534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55498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动态连接只连接真正执行到的外段，没用到的段不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读入、不分配段号。</a:t>
              </a:r>
            </a:p>
          </p:txBody>
        </p:sp>
      </p:grpSp>
      <p:grpSp>
        <p:nvGrpSpPr>
          <p:cNvPr id="45" name="c2-text-1"/>
          <p:cNvGrpSpPr/>
          <p:nvPr/>
        </p:nvGrpSpPr>
        <p:grpSpPr>
          <a:xfrm>
            <a:off x="6025706" y="1545431"/>
            <a:ext cx="5730932" cy="249364"/>
            <a:chOff x="6025706" y="1545431"/>
            <a:chExt cx="5730932" cy="249364"/>
          </a:xfrm>
        </p:grpSpPr>
        <p:sp>
          <p:nvSpPr>
            <p:cNvPr id="44" name="TextBox 44"/>
            <p:cNvSpPr txBox="1"/>
            <p:nvPr/>
          </p:nvSpPr>
          <p:spPr>
            <a:xfrm>
              <a:off x="6025706" y="1545431"/>
              <a:ext cx="5730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动态连接的实现（以 Multics 为例）需要两张表，段本身也要带上符号表：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032182" y="1934528"/>
            <a:ext cx="5626418" cy="1123950"/>
            <a:chOff x="6032182" y="1934528"/>
            <a:chExt cx="5626418" cy="1123950"/>
          </a:xfrm>
        </p:grpSpPr>
        <p:sp>
          <p:nvSpPr>
            <p:cNvPr id="46" name="Rectangle 46"/>
            <p:cNvSpPr/>
            <p:nvPr/>
          </p:nvSpPr>
          <p:spPr>
            <a:xfrm>
              <a:off x="6032182" y="1934528"/>
              <a:ext cx="5626418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28969" y="2070259"/>
              <a:ext cx="222011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段名-段号对照表（每个进程一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70022" y="21836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76864" y="21836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40006" y="27455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记录本进程已连接的段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88173" y="2745581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sname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42402" y="274558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snum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1934528"/>
              <a:ext cx="5626418" cy="11239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840152" y="1934528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246995" y="1934528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3"/>
          <p:cNvGrpSpPr/>
          <p:nvPr/>
        </p:nvGrpSpPr>
        <p:grpSpPr>
          <a:xfrm>
            <a:off x="6032182" y="3249930"/>
            <a:ext cx="5626418" cy="897255"/>
            <a:chOff x="6032182" y="3249930"/>
            <a:chExt cx="5626418" cy="897255"/>
          </a:xfrm>
        </p:grpSpPr>
        <p:sp>
          <p:nvSpPr>
            <p:cNvPr id="57" name="Rectangle 57"/>
            <p:cNvSpPr/>
            <p:nvPr/>
          </p:nvSpPr>
          <p:spPr>
            <a:xfrm>
              <a:off x="6032182" y="324993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7137" y="33847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符号表（每段一个）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83865" y="33847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04551" y="33847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段内位移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40006" y="38333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记录段内各入口的位置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52791" y="383333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07019" y="383333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3249930"/>
              <a:ext cx="562641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40152" y="324993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246995" y="324993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ells-4"/>
          <p:cNvGrpSpPr/>
          <p:nvPr/>
        </p:nvGrpSpPr>
        <p:grpSpPr>
          <a:xfrm>
            <a:off x="6025706" y="4337685"/>
            <a:ext cx="5632894" cy="419100"/>
            <a:chOff x="6025706" y="4337685"/>
            <a:chExt cx="5632894" cy="419100"/>
          </a:xfrm>
        </p:grpSpPr>
        <p:sp>
          <p:nvSpPr>
            <p:cNvPr id="68" name="TextBox 68"/>
            <p:cNvSpPr txBox="1"/>
            <p:nvPr/>
          </p:nvSpPr>
          <p:spPr>
            <a:xfrm>
              <a:off x="6025706" y="44677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段形式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653212" y="4337685"/>
              <a:ext cx="25031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39850" y="44677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符号表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155430" y="4337685"/>
              <a:ext cx="25031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97440" y="44677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目标代码或数据</a:t>
              </a:r>
            </a:p>
          </p:txBody>
        </p:sp>
      </p:grpSp>
      <p:grpSp>
        <p:nvGrpSpPr>
          <p:cNvPr id="75" name="c2-text-5"/>
          <p:cNvGrpSpPr/>
          <p:nvPr/>
        </p:nvGrpSpPr>
        <p:grpSpPr>
          <a:xfrm>
            <a:off x="6025706" y="4968716"/>
            <a:ext cx="5263642" cy="500824"/>
            <a:chOff x="6025706" y="4968716"/>
            <a:chExt cx="5263642" cy="500824"/>
          </a:xfrm>
        </p:grpSpPr>
        <p:sp>
          <p:nvSpPr>
            <p:cNvPr id="74" name="TextBox 74"/>
            <p:cNvSpPr txBox="1"/>
            <p:nvPr/>
          </p:nvSpPr>
          <p:spPr>
            <a:xfrm>
              <a:off x="6025706" y="4968716"/>
              <a:ext cx="526364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静态连接时符号表由 link 使用，连接完就不再需要；动态连接在运行时还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要查它。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9408" cy="909257"/>
            <a:chOff x="520446" y="342900"/>
            <a:chExt cx="75194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9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间接字与连接中断：L = 1 表示外段地址还没连接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760595" cy="2956560"/>
            <a:chOff x="533400" y="1524000"/>
            <a:chExt cx="4760595" cy="29565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956560"/>
            </a:xfrm>
            <a:prstGeom prst="roundRect">
              <a:avLst>
                <a:gd name="adj" fmla="val 45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898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9637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19" y="1763554"/>
              <a:ext cx="1375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(1) 编译（汇编）时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遇到访问外段的指令，改为间接寻址，指向一个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接字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7974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间接字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65885" y="2668905"/>
              <a:ext cx="110871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64858" y="279749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74595" y="2668905"/>
              <a:ext cx="110871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73568" y="279749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2518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191351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1：未连接，D 指向符号地址“[X]|&lt;Y&gt;”（段名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|入口名）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38433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3782854"/>
              <a:ext cx="36934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0：已连接，D 中是逻辑地址（段号|段内地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址）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666298"/>
            <a:ext cx="4760595" cy="1535430"/>
            <a:chOff x="533400" y="4666298"/>
            <a:chExt cx="4760595" cy="1535430"/>
          </a:xfrm>
        </p:grpSpPr>
        <p:sp>
          <p:nvSpPr>
            <p:cNvPr id="22" name="Rectangle 22"/>
            <p:cNvSpPr/>
            <p:nvPr/>
          </p:nvSpPr>
          <p:spPr>
            <a:xfrm>
              <a:off x="533400" y="4666298"/>
              <a:ext cx="4760595" cy="1535430"/>
            </a:xfrm>
            <a:prstGeom prst="roundRect">
              <a:avLst>
                <a:gd name="adj" fmla="val 744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334000"/>
              <a:ext cx="200026" cy="200025"/>
              <a:chOff x="738188" y="5334000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3340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3784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4895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203031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连接只发生一次：L 变成 0 之后，再执行这条指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令就直接按 D 中的逻辑地址间接访问。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5598795" y="1533525"/>
            <a:ext cx="5782056" cy="3473196"/>
            <a:chOff x="5598795" y="1533525"/>
            <a:chExt cx="5782056" cy="3473196"/>
          </a:xfrm>
        </p:grpSpPr>
        <p:sp>
          <p:nvSpPr>
            <p:cNvPr id="29" name="Rectangle 29"/>
            <p:cNvSpPr/>
            <p:nvPr/>
          </p:nvSpPr>
          <p:spPr>
            <a:xfrm>
              <a:off x="5732145" y="1676400"/>
              <a:ext cx="19050" cy="27041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598795" y="423767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92419" y="4311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0656" y="1566386"/>
              <a:ext cx="2126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执行时发生连接中断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799" y="1846898"/>
              <a:ext cx="4970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遇到间接指令且 L = 1，发生连接中断，由中断处理程序完成下面几步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0656" y="2187416"/>
              <a:ext cx="1361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(a) 取符号地址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799" y="2467927"/>
              <a:ext cx="2004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 取出符号地址 [X]|&lt;Y&gt;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0656" y="2808446"/>
              <a:ext cx="20455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 查段名-段号对照表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799" y="3088957"/>
              <a:ext cx="1823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看段 X 是否已经分配段号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0656" y="3429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已分配段号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799" y="3709988"/>
              <a:ext cx="5369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取出段号，查段表找到该段（在内存或外存），由入口名 Y 查该段的符号表得段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内地址；把 (段号|段内地址) 写入 D，L 置 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0656" y="42705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未分配段号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1799" y="4551045"/>
              <a:ext cx="5277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找到该段所在的文件，读入内存或外存，分配段号，填写段名-段号对照表和段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表，然后转 (b)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598795" y="5183505"/>
            <a:ext cx="6059805" cy="1018222"/>
            <a:chOff x="5598795" y="5183505"/>
            <a:chExt cx="6059805" cy="1018222"/>
          </a:xfrm>
        </p:grpSpPr>
        <p:sp>
          <p:nvSpPr>
            <p:cNvPr id="51" name="Rectangle 51"/>
            <p:cNvSpPr/>
            <p:nvPr/>
          </p:nvSpPr>
          <p:spPr>
            <a:xfrm>
              <a:off x="5598795" y="5183505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5593080"/>
              <a:ext cx="200026" cy="200026"/>
              <a:chOff x="5803583" y="559308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803583" y="55930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70258" y="56708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906" y="5330666"/>
              <a:ext cx="50820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例：下一页 [W] 段第一次执行 Load *1 时，对照表中没有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[X]，走“未分配段号”；读入 [X] 段、分配段号 3 后转 (b)，这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次走“已分配段号”，把 3|300 写入间接字。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动态连接例：汇编后、连接前各表的内容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358946" cy="278702"/>
            <a:chOff x="526161" y="1547336"/>
            <a:chExt cx="113589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358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[W] 段要取 [X] 段入口 Y、Z 处的数：汇编前写作 Load 1, [X]|&lt;Y&gt; 和 Load 2, [X]|&lt;Z&gt;，汇编后改为经两个间接字间接寻址（*）。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3995738" cy="2218372"/>
            <a:chOff x="533400" y="1941195"/>
            <a:chExt cx="3995738" cy="221837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3995738" cy="2218372"/>
            </a:xfrm>
            <a:prstGeom prst="roundRect">
              <a:avLst>
                <a:gd name="adj" fmla="val 42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101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[W] 段（段号 2）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816" y="2358676"/>
              <a:ext cx="1723796" cy="17414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Load *1, 2|100;</a:t>
              </a:r>
              <a:br/>
              <a:r>
                <a:rPr lang="en-US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Load *2, 2|150;</a:t>
              </a:r>
              <a:br/>
              <a:r>
                <a:rPr lang="zh-CN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...</a:t>
              </a:r>
              <a:br/>
              <a:r>
                <a:rPr lang="en-US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100:  L=1  D=2|200</a:t>
              </a:r>
              <a:br/>
              <a:r>
                <a:rPr lang="en-US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150:  L=1  D=2|250</a:t>
              </a:r>
              <a:br/>
              <a:r>
                <a:rPr lang="zh-CN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200:  </a:t>
              </a:r>
              <a:r>
                <a:rPr lang="en-US" sz="13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"7[X]|&lt;Y&gt;"</a:t>
              </a:r>
              <a:br/>
              <a:r>
                <a:rPr lang="zh-CN" sz="13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250:  </a:t>
              </a:r>
              <a:r>
                <a:rPr lang="en-US" sz="13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"7[X]|&lt;Z&gt;"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334828"/>
            <a:ext cx="3995738" cy="1910715"/>
            <a:chOff x="533400" y="4334828"/>
            <a:chExt cx="3995738" cy="1910715"/>
          </a:xfrm>
        </p:grpSpPr>
        <p:sp>
          <p:nvSpPr>
            <p:cNvPr id="13" name="Rectangle 13"/>
            <p:cNvSpPr/>
            <p:nvPr/>
          </p:nvSpPr>
          <p:spPr>
            <a:xfrm>
              <a:off x="533400" y="4334828"/>
              <a:ext cx="3995738" cy="1910715"/>
            </a:xfrm>
            <a:prstGeom prst="roundRect">
              <a:avLst>
                <a:gd name="adj" fmla="val 59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190173"/>
              <a:ext cx="200026" cy="200026"/>
              <a:chOff x="738188" y="519017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190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256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290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947285"/>
              <a:ext cx="313410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200、250 单元存的是符号地址字符串，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开头的 7 是字符串长度（[X]|&lt;Y&gt; 共 7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字符）。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4828604" y="1941195"/>
            <a:ext cx="3264789" cy="1903666"/>
            <a:chOff x="4828604" y="1941195"/>
            <a:chExt cx="3264789" cy="1903666"/>
          </a:xfrm>
        </p:grpSpPr>
        <p:sp>
          <p:nvSpPr>
            <p:cNvPr id="20" name="Rectangle 20"/>
            <p:cNvSpPr/>
            <p:nvPr/>
          </p:nvSpPr>
          <p:spPr>
            <a:xfrm>
              <a:off x="4833938" y="1941195"/>
              <a:ext cx="325945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4327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7299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33146" y="2471261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[Main]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8231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33938" y="274796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33938" y="2752725"/>
              <a:ext cx="325945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56044" y="287702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[A]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8231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33938" y="3153728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39316" y="328279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[W]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231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33938" y="1941195"/>
              <a:ext cx="325945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5986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28604" y="3639502"/>
              <a:ext cx="2075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段名-段号对照表（还没有 [X]）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4828604" y="3978592"/>
            <a:ext cx="3264789" cy="2308479"/>
            <a:chOff x="4828604" y="3978592"/>
            <a:chExt cx="3264789" cy="2308479"/>
          </a:xfrm>
        </p:grpSpPr>
        <p:sp>
          <p:nvSpPr>
            <p:cNvPr id="36" name="Rectangle 36"/>
            <p:cNvSpPr/>
            <p:nvPr/>
          </p:nvSpPr>
          <p:spPr>
            <a:xfrm>
              <a:off x="4833938" y="3978592"/>
              <a:ext cx="325945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41341" y="4102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5681" y="41028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段首址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48579" y="45086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0380" y="45086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833938" y="478536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833938" y="4790122"/>
              <a:ext cx="325945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48579" y="4914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0380" y="491442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833938" y="519112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48579" y="5320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49037" y="5320189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[W] 段的首址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833938" y="559689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833938" y="5601652"/>
              <a:ext cx="325945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48579" y="57259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6455" y="57259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833938" y="3978592"/>
              <a:ext cx="325945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156960" y="397859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28604" y="60817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段表</a:t>
              </a:r>
            </a:p>
          </p:txBody>
        </p:sp>
      </p:grpSp>
      <p:grpSp>
        <p:nvGrpSpPr>
          <p:cNvPr id="68" name="c3-table-1"/>
          <p:cNvGrpSpPr/>
          <p:nvPr/>
        </p:nvGrpSpPr>
        <p:grpSpPr>
          <a:xfrm>
            <a:off x="8393811" y="1941195"/>
            <a:ext cx="3264789" cy="1497902"/>
            <a:chOff x="8393811" y="1941195"/>
            <a:chExt cx="3264789" cy="1497902"/>
          </a:xfrm>
        </p:grpSpPr>
        <p:sp>
          <p:nvSpPr>
            <p:cNvPr id="56" name="Rectangle 56"/>
            <p:cNvSpPr/>
            <p:nvPr/>
          </p:nvSpPr>
          <p:spPr>
            <a:xfrm>
              <a:off x="8399145" y="1941195"/>
              <a:ext cx="325945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8655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6551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段内位移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99331" y="247126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&lt;Y&gt;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42671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99145" y="274796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399145" y="2752725"/>
              <a:ext cx="325945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999331" y="287702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&lt;Z&gt;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42671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99145" y="1941195"/>
              <a:ext cx="325945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881235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93811" y="3233738"/>
              <a:ext cx="1008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[X] 段的符号表</a:t>
              </a:r>
            </a:p>
          </p:txBody>
        </p:sp>
      </p:grpSp>
      <p:grpSp>
        <p:nvGrpSpPr>
          <p:cNvPr id="81" name="c3-table-2"/>
          <p:cNvGrpSpPr/>
          <p:nvPr/>
        </p:nvGrpSpPr>
        <p:grpSpPr>
          <a:xfrm>
            <a:off x="8393811" y="3572828"/>
            <a:ext cx="3264789" cy="1496949"/>
            <a:chOff x="8393811" y="3572828"/>
            <a:chExt cx="3264789" cy="1496949"/>
          </a:xfrm>
        </p:grpSpPr>
        <p:sp>
          <p:nvSpPr>
            <p:cNvPr id="69" name="Rectangle 69"/>
            <p:cNvSpPr/>
            <p:nvPr/>
          </p:nvSpPr>
          <p:spPr>
            <a:xfrm>
              <a:off x="8399145" y="3572828"/>
              <a:ext cx="325945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46566" y="36971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76293" y="36971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66732" y="41028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661216" y="4102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1234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99145" y="437959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399145" y="4384358"/>
              <a:ext cx="325945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66732" y="450865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661216" y="450865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5678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399145" y="3572828"/>
              <a:ext cx="325945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02202" y="357282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93811" y="4864418"/>
              <a:ext cx="3171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[X] 段的内容：两条指令要取的就是 1234 和 5678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两次连接中间接字、对照表和段表的变化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11125200" cy="2790825"/>
            <a:chOff x="533400" y="1524000"/>
            <a:chExt cx="11125200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015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726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36081" y="1655445"/>
              <a:ext cx="1078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单元 L | 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2929" y="1655445"/>
              <a:ext cx="1078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150 单元 L | 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83179" y="1655445"/>
              <a:ext cx="12362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段名-段号对照表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汇编后、连接前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07526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50062" y="20850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| 2|200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6910" y="20850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| 2|250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50349" y="2085022"/>
              <a:ext cx="1894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[Main] 0、[A] 1、[W]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51555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第一次连接：分配段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07526" y="2515552"/>
              <a:ext cx="4035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Load *1，间接字 L = 1，发生连接中断；[X] 还没有段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号：读入 [X] 段，分配段号 3，填对照表和段表 3 号表项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50062" y="262223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| 2|200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96910" y="262223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| 2|250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54528" y="2393632"/>
              <a:ext cx="209454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50349" y="2622232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[X] 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15944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第一次连接：改写间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07526" y="3159442"/>
              <a:ext cx="37612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再查对照表得 [X] 的段号 3，查 [X] 段符号表得 &lt;Y&gt; 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300；D 改为 3|300，L 置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61785" y="3037522"/>
              <a:ext cx="142684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34110" y="3266122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 | 3|300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96910" y="32661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| 2|250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50349" y="32661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61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093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909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第二次连接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07526" y="3802380"/>
              <a:ext cx="4012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Load *2，L = 1 发生连接中断；[X] 已有段号 3，直接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查符号表得 &lt;Z&gt; 为 400；D 改为 3|400，L 置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50062" y="39090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| 3|300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07680" y="3680460"/>
              <a:ext cx="142684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0957" y="3909060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 | 3|400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50349" y="3909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19741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4749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9339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4024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500562"/>
            <a:ext cx="11125200" cy="1862138"/>
            <a:chOff x="533400" y="4500562"/>
            <a:chExt cx="11125200" cy="1862138"/>
          </a:xfrm>
        </p:grpSpPr>
        <p:sp>
          <p:nvSpPr>
            <p:cNvPr id="47" name="Rectangle 47"/>
            <p:cNvSpPr/>
            <p:nvPr/>
          </p:nvSpPr>
          <p:spPr>
            <a:xfrm>
              <a:off x="533400" y="4500562"/>
              <a:ext cx="11125200" cy="1862138"/>
            </a:xfrm>
            <a:prstGeom prst="roundRect">
              <a:avLst>
                <a:gd name="adj" fmla="val 716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72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74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996" y="5077301"/>
              <a:ext cx="102397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Load *1 经间接字取到 3|300 单元的 1234，Load *2 取到 3|400 单元的 5678。以后再执行这两条指令，L 已为 0，不再发生连接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动态连接与段共享的矛盾：纯段共享，杂段私用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417445"/>
            <a:chOff x="533400" y="1524000"/>
            <a:chExt cx="5410200" cy="2417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17445"/>
            </a:xfrm>
            <a:prstGeom prst="roundRect">
              <a:avLst>
                <a:gd name="adj" fmla="val 55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0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动态连接要修改连接字（间接字），而间接字在代码里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段的共享要求纯代码（pure code），执行中不能被修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063716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段号由各进程自己的段名-段号对照表分配。一个进程连接时把自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己的段号写进共享段里的间接字，其他进程按这个段号访问就会找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错段。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131945"/>
            <a:ext cx="5410200" cy="1701165"/>
            <a:chOff x="533400" y="4131945"/>
            <a:chExt cx="5410200" cy="1701165"/>
          </a:xfrm>
        </p:grpSpPr>
        <p:sp>
          <p:nvSpPr>
            <p:cNvPr id="17" name="Rectangle 17"/>
            <p:cNvSpPr/>
            <p:nvPr/>
          </p:nvSpPr>
          <p:spPr>
            <a:xfrm>
              <a:off x="533400" y="413194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43414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5259" y="43772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7186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共享代码分成两部分：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51168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50539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纯段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：不会被修改的代码，所有进程共享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54521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53892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杂段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：间接字这类要修改的部分，每个进程私用一份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6699885" y="1827848"/>
            <a:ext cx="4747260" cy="3257930"/>
            <a:chOff x="6699885" y="1827848"/>
            <a:chExt cx="4747260" cy="3257930"/>
          </a:xfrm>
        </p:grpSpPr>
        <p:sp>
          <p:nvSpPr>
            <p:cNvPr id="26" name="Freeform 26"/>
            <p:cNvSpPr/>
            <p:nvPr/>
          </p:nvSpPr>
          <p:spPr>
            <a:xfrm>
              <a:off x="7418070" y="2170748"/>
              <a:ext cx="913448" cy="229552"/>
            </a:xfrm>
            <a:custGeom>
              <a:avLst/>
              <a:gdLst/>
              <a:ahLst/>
              <a:cxnLst/>
              <a:rect l="l" t="t" r="r" b="b"/>
              <a:pathLst>
                <a:path w="913448" h="229552">
                  <a:moveTo>
                    <a:pt x="0" y="229552"/>
                  </a:moveTo>
                  <a:lnTo>
                    <a:pt x="9134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320088" y="2125028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103822" y="22860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418070" y="4512945"/>
              <a:ext cx="913448" cy="229552"/>
            </a:xfrm>
            <a:custGeom>
              <a:avLst/>
              <a:gdLst/>
              <a:ahLst/>
              <a:cxnLst/>
              <a:rect l="l" t="t" r="r" b="b"/>
              <a:pathLst>
                <a:path w="913448" h="229552">
                  <a:moveTo>
                    <a:pt x="0" y="0"/>
                  </a:moveTo>
                  <a:lnTo>
                    <a:pt x="913448" y="229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320088" y="4695825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9533"/>
                  </a:moveTo>
                  <a:lnTo>
                    <a:pt x="0" y="92392"/>
                  </a:lnTo>
                  <a:lnTo>
                    <a:pt x="238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417118" y="2585085"/>
              <a:ext cx="2575560" cy="686753"/>
            </a:xfrm>
            <a:custGeom>
              <a:avLst/>
              <a:gdLst/>
              <a:ahLst/>
              <a:cxnLst/>
              <a:rect l="l" t="t" r="r" b="b"/>
              <a:pathLst>
                <a:path w="2575560" h="686753">
                  <a:moveTo>
                    <a:pt x="0" y="0"/>
                  </a:moveTo>
                  <a:lnTo>
                    <a:pt x="2575560" y="6867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980295" y="3226118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70485"/>
                  </a:moveTo>
                  <a:lnTo>
                    <a:pt x="0" y="92392"/>
                  </a:lnTo>
                  <a:lnTo>
                    <a:pt x="247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417118" y="3641408"/>
              <a:ext cx="2575560" cy="686752"/>
            </a:xfrm>
            <a:custGeom>
              <a:avLst/>
              <a:gdLst/>
              <a:ahLst/>
              <a:cxnLst/>
              <a:rect l="l" t="t" r="r" b="b"/>
              <a:pathLst>
                <a:path w="2575560" h="686752">
                  <a:moveTo>
                    <a:pt x="0" y="686752"/>
                  </a:moveTo>
                  <a:lnTo>
                    <a:pt x="25755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980295" y="3594735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1908"/>
                  </a:moveTo>
                  <a:lnTo>
                    <a:pt x="24765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699885" y="2129790"/>
              <a:ext cx="720090" cy="72009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699885" y="4063365"/>
              <a:ext cx="720090" cy="72009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47710" y="1827848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347710" y="4765358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923145" y="3296602"/>
              <a:ext cx="1524000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6834" y="2415540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P1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66834" y="4348162"/>
              <a:ext cx="586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P2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88217" y="1913572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的杂段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88217" y="4851082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的杂段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94417" y="338232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纯段（共享）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758112" y="218122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84109" y="22159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私用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58112" y="454628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84109" y="45810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私用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87740" y="284797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13737" y="28827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87740" y="387953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13737" y="39142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5579745"/>
            <a:ext cx="5410200" cy="782955"/>
            <a:chOff x="6248400" y="5579745"/>
            <a:chExt cx="5410200" cy="782955"/>
          </a:xfrm>
        </p:grpSpPr>
        <p:sp>
          <p:nvSpPr>
            <p:cNvPr id="53" name="Rectangle 53"/>
            <p:cNvSpPr/>
            <p:nvPr/>
          </p:nvSpPr>
          <p:spPr>
            <a:xfrm>
              <a:off x="6248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871210"/>
              <a:ext cx="200026" cy="200026"/>
              <a:chOff x="6453188" y="587121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53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42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130" y="572833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纯段只读、只有一份；各进程改写的是自己杂段里的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间接字，互不干扰。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 虚拟段页式：要考虑三件事，需要四种表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3895725" cy="1643062"/>
            <a:chOff x="533400" y="1524000"/>
            <a:chExt cx="3895725" cy="16430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5335" y="20888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68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228" y="210073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段的动态连接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5335" y="24088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680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228" y="2420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段的共享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272891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27682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274081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段长度的动态变化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352800"/>
            <a:ext cx="3895725" cy="2960370"/>
            <a:chOff x="533400" y="3352800"/>
            <a:chExt cx="3895725" cy="2960370"/>
          </a:xfrm>
        </p:grpSpPr>
        <p:sp>
          <p:nvSpPr>
            <p:cNvPr id="21" name="Rectangle 21"/>
            <p:cNvSpPr/>
            <p:nvPr/>
          </p:nvSpPr>
          <p:spPr>
            <a:xfrm>
              <a:off x="533400" y="3352800"/>
              <a:ext cx="3895725" cy="296037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486150"/>
              <a:ext cx="47625" cy="26936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5566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741" y="35923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所需寄存器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5335" y="39176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680" y="39570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6228" y="392953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段表长度寄存器：保存正运行进程的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段表长度 l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5335" y="450913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680" y="45485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228" y="452104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段表首址寄存器：保存正运行进程的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段表首址 b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5335" y="510063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680" y="51400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228" y="5112544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快表：段号、逻辑页号、页架号、访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问权限、修改标志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9239" y="5700712"/>
              <a:ext cx="3022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地址映射 σ：逻辑地址 (s, p, d) → 物理地址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(f, d)，失败时产生中断。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4733925" y="1524000"/>
            <a:ext cx="6924675" cy="2577465"/>
            <a:chOff x="4733925" y="1524000"/>
            <a:chExt cx="6924675" cy="2577465"/>
          </a:xfrm>
        </p:grpSpPr>
        <p:sp>
          <p:nvSpPr>
            <p:cNvPr id="36" name="Rectangle 36"/>
            <p:cNvSpPr/>
            <p:nvPr/>
          </p:nvSpPr>
          <p:spPr>
            <a:xfrm>
              <a:off x="4733925" y="1524000"/>
              <a:ext cx="692467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08104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214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每谁一个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8248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表项内容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9272" y="2085022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段表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2319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每进程一个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0076" y="2085022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页表长度、页表首址、访问权限、扩展标志、共享段入口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733925" y="2379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733925" y="2384108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39272" y="2622232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页表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2319" y="26222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每段一个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70076" y="2515552"/>
              <a:ext cx="3822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按逻辑页号索引：内存页号、外存块号、内外标志、修改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733925" y="302323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39272" y="3159442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共享段表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62319" y="31594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系统一个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70076" y="3159442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段名、页表长度、页表首址、扩充标志、共享计数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33925" y="34528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733925" y="3457575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39272" y="3589020"/>
              <a:ext cx="117424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段名-段号对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62319" y="3695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每进程一个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70076" y="3695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段名、段号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733925" y="1524000"/>
              <a:ext cx="6924675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2210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5996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2"/>
          <p:cNvGrpSpPr/>
          <p:nvPr/>
        </p:nvGrpSpPr>
        <p:grpSpPr>
          <a:xfrm>
            <a:off x="4733925" y="4287202"/>
            <a:ext cx="6924675" cy="756285"/>
            <a:chOff x="4733925" y="4287202"/>
            <a:chExt cx="6924675" cy="756285"/>
          </a:xfrm>
        </p:grpSpPr>
        <p:sp>
          <p:nvSpPr>
            <p:cNvPr id="61" name="Rectangle 61"/>
            <p:cNvSpPr/>
            <p:nvPr/>
          </p:nvSpPr>
          <p:spPr>
            <a:xfrm>
              <a:off x="4733925" y="4287202"/>
              <a:ext cx="692467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4938713" y="4565333"/>
              <a:ext cx="200026" cy="200025"/>
              <a:chOff x="4938713" y="456533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4938713" y="45653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978451" y="46097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013167" y="47209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5241036" y="4434364"/>
              <a:ext cx="59656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共享段的页表只有一份，登记在共享段表里；各进程段表中这个段的表项通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过“共享段入口”指向共享段表。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4733925" y="5228272"/>
            <a:ext cx="6924675" cy="1083945"/>
            <a:chOff x="4733925" y="5228272"/>
            <a:chExt cx="6924675" cy="1083945"/>
          </a:xfrm>
        </p:grpSpPr>
        <p:sp>
          <p:nvSpPr>
            <p:cNvPr id="68" name="Rectangle 68"/>
            <p:cNvSpPr/>
            <p:nvPr/>
          </p:nvSpPr>
          <p:spPr>
            <a:xfrm>
              <a:off x="4733925" y="5228272"/>
              <a:ext cx="6924675" cy="1083945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4938713" y="5670233"/>
              <a:ext cx="200026" cy="200026"/>
              <a:chOff x="4938713" y="5670233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4938713" y="56702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038725" y="57369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027613" y="57702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5241036" y="5670709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扩展标志表示段能否动态增长，页号越界时据此决定扩展还是报错。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私用段直接找到页表，共享段经共享段表找到页表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34378" y="1619726"/>
            <a:ext cx="6284595" cy="2421445"/>
            <a:chOff x="734378" y="1619726"/>
            <a:chExt cx="6284595" cy="2421445"/>
          </a:xfrm>
        </p:grpSpPr>
        <p:sp>
          <p:nvSpPr>
            <p:cNvPr id="7" name="Freeform 7"/>
            <p:cNvSpPr/>
            <p:nvPr/>
          </p:nvSpPr>
          <p:spPr>
            <a:xfrm>
              <a:off x="2077402" y="1925002"/>
              <a:ext cx="954405" cy="9525"/>
            </a:xfrm>
            <a:custGeom>
              <a:avLst/>
              <a:gdLst/>
              <a:ahLst/>
              <a:cxnLst/>
              <a:rect l="l" t="t" r="r" b="b"/>
              <a:pathLst>
                <a:path w="954405" h="9525">
                  <a:moveTo>
                    <a:pt x="0" y="0"/>
                  </a:moveTo>
                  <a:lnTo>
                    <a:pt x="954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31808" y="1877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380548" y="1925002"/>
              <a:ext cx="1423988" cy="9525"/>
            </a:xfrm>
            <a:custGeom>
              <a:avLst/>
              <a:gdLst/>
              <a:ahLst/>
              <a:cxnLst/>
              <a:rect l="l" t="t" r="r" b="b"/>
              <a:pathLst>
                <a:path w="1423988" h="9525">
                  <a:moveTo>
                    <a:pt x="0" y="0"/>
                  </a:moveTo>
                  <a:lnTo>
                    <a:pt x="14239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804535" y="1877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77402" y="2942272"/>
              <a:ext cx="762952" cy="130493"/>
            </a:xfrm>
            <a:custGeom>
              <a:avLst/>
              <a:gdLst/>
              <a:ahLst/>
              <a:cxnLst/>
              <a:rect l="l" t="t" r="r" b="b"/>
              <a:pathLst>
                <a:path w="762952" h="130493">
                  <a:moveTo>
                    <a:pt x="0" y="0"/>
                  </a:moveTo>
                  <a:lnTo>
                    <a:pt x="762952" y="1304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31782" y="3026092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2865"/>
                  </a:moveTo>
                  <a:lnTo>
                    <a:pt x="0" y="93345"/>
                  </a:lnTo>
                  <a:lnTo>
                    <a:pt x="161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77402" y="3385185"/>
              <a:ext cx="762952" cy="129540"/>
            </a:xfrm>
            <a:custGeom>
              <a:avLst/>
              <a:gdLst/>
              <a:ahLst/>
              <a:cxnLst/>
              <a:rect l="l" t="t" r="r" b="b"/>
              <a:pathLst>
                <a:path w="762952" h="129540">
                  <a:moveTo>
                    <a:pt x="0" y="129540"/>
                  </a:moveTo>
                  <a:lnTo>
                    <a:pt x="762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31782" y="3337560"/>
              <a:ext cx="101917" cy="94298"/>
            </a:xfrm>
            <a:custGeom>
              <a:avLst/>
              <a:gdLst/>
              <a:ahLst/>
              <a:cxnLst/>
              <a:rect l="l" t="t" r="r" b="b"/>
              <a:pathLst>
                <a:path w="101917" h="94298">
                  <a:moveTo>
                    <a:pt x="101917" y="31433"/>
                  </a:moveTo>
                  <a:lnTo>
                    <a:pt x="16192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604385" y="3228975"/>
              <a:ext cx="350520" cy="9525"/>
            </a:xfrm>
            <a:custGeom>
              <a:avLst/>
              <a:gdLst/>
              <a:ahLst/>
              <a:cxnLst/>
              <a:rect l="l" t="t" r="r" b="b"/>
              <a:pathLst>
                <a:path w="350520" h="9525">
                  <a:moveTo>
                    <a:pt x="0" y="0"/>
                  </a:moveTo>
                  <a:lnTo>
                    <a:pt x="3505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954905" y="3181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819775" y="3368992"/>
              <a:ext cx="353378" cy="264795"/>
            </a:xfrm>
            <a:custGeom>
              <a:avLst/>
              <a:gdLst/>
              <a:ahLst/>
              <a:cxnLst/>
              <a:rect l="l" t="t" r="r" b="b"/>
              <a:pathLst>
                <a:path w="353378" h="264795">
                  <a:moveTo>
                    <a:pt x="0" y="0"/>
                  </a:moveTo>
                  <a:lnTo>
                    <a:pt x="353378" y="2647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44578" y="359568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104775" y="94297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4378" y="1784985"/>
              <a:ext cx="134302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4378" y="2687955"/>
              <a:ext cx="134302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4378" y="3489960"/>
              <a:ext cx="134302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27058" y="1784985"/>
              <a:ext cx="1253490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03220" y="3088958"/>
              <a:ext cx="1701165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50155" y="3088958"/>
              <a:ext cx="116395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99785" y="1784985"/>
              <a:ext cx="107442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55018" y="3689985"/>
              <a:ext cx="1163955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1152" y="1860232"/>
              <a:ext cx="869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段表 si 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1152" y="2762250"/>
              <a:ext cx="869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段表 sj 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2600" y="3564255"/>
              <a:ext cx="906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段表 sk 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24416" y="186023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私用段的页表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41714" y="31632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共享段表中该段的表项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02746" y="31632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共享段的页表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34111" y="1860232"/>
              <a:ext cx="805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页架 16、18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81806" y="3765232"/>
              <a:ext cx="1110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页架 22、23、25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43188" y="16197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私用段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43188" y="38504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共享段</a:t>
              </a:r>
            </a:p>
          </p:txBody>
        </p:sp>
      </p:grpSp>
      <p:grpSp>
        <p:nvGrpSpPr>
          <p:cNvPr id="62" name="c1-table-2"/>
          <p:cNvGrpSpPr/>
          <p:nvPr/>
        </p:nvGrpSpPr>
        <p:grpSpPr>
          <a:xfrm>
            <a:off x="533400" y="4211002"/>
            <a:ext cx="6708458" cy="2123123"/>
            <a:chOff x="533400" y="4211002"/>
            <a:chExt cx="6708458" cy="2123123"/>
          </a:xfrm>
        </p:grpSpPr>
        <p:sp>
          <p:nvSpPr>
            <p:cNvPr id="38" name="Rectangle 38"/>
            <p:cNvSpPr/>
            <p:nvPr/>
          </p:nvSpPr>
          <p:spPr>
            <a:xfrm>
              <a:off x="533400" y="4211002"/>
              <a:ext cx="670845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4390" y="43395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段表项里的字段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70110" y="43395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私用段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52326" y="43395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889" y="47644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页表首址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79916" y="47644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本段页表的首址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61154" y="47644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空着不用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0549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059680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889" y="518826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共享段入口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79916" y="518826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空着不用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61154" y="5188267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指向共享段表中该段的表项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4797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889" y="5613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页表有几份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79916" y="5613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每个进程一份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61154" y="5613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全系统只有一份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90454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5909310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889" y="60369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什么时候撤销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79916" y="60369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进程结束就撤销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61154" y="6036945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共享计数减到 0 才撤销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211002"/>
              <a:ext cx="670845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72665" y="42110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53902" y="4211002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1"/>
          <p:cNvGrpSpPr/>
          <p:nvPr/>
        </p:nvGrpSpPr>
        <p:grpSpPr>
          <a:xfrm>
            <a:off x="7546658" y="1524000"/>
            <a:ext cx="4111942" cy="3561398"/>
            <a:chOff x="7546658" y="1524000"/>
            <a:chExt cx="4111942" cy="3561398"/>
          </a:xfrm>
        </p:grpSpPr>
        <p:sp>
          <p:nvSpPr>
            <p:cNvPr id="63" name="Rectangle 63"/>
            <p:cNvSpPr/>
            <p:nvPr/>
          </p:nvSpPr>
          <p:spPr>
            <a:xfrm>
              <a:off x="7546658" y="1524000"/>
              <a:ext cx="4111942" cy="3561398"/>
            </a:xfrm>
            <a:prstGeom prst="roundRect">
              <a:avLst>
                <a:gd name="adj" fmla="val 37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556182" y="1657350"/>
              <a:ext cx="47625" cy="32946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78287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7431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790498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47088" y="2082641"/>
              <a:ext cx="32335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的 si 是私用段：段表项直接指向它自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己的页表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790498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47088" y="2672239"/>
              <a:ext cx="330568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的 sj 和 P2 的 sk 是同一个共享段：两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个段表项都指向共享段表中的同一项，再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由它找到唯一的一份页表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790498" y="35928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47088" y="3532346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共享计数记录正在使用这个段的进程数，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减到 0 才能撤销该段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790498" y="41824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47088" y="4121944"/>
              <a:ext cx="33778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页架 16、18 是 si 段占的内存；页架 22、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23、25 只有一份，P1 和 P2 访问的是同一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批页架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7546658" y="5265420"/>
            <a:ext cx="4111942" cy="1067752"/>
            <a:chOff x="7546658" y="5265420"/>
            <a:chExt cx="4111942" cy="1067752"/>
          </a:xfrm>
        </p:grpSpPr>
        <p:sp>
          <p:nvSpPr>
            <p:cNvPr id="76" name="Rectangle 76"/>
            <p:cNvSpPr/>
            <p:nvPr/>
          </p:nvSpPr>
          <p:spPr>
            <a:xfrm>
              <a:off x="7546658" y="5265420"/>
              <a:ext cx="4111942" cy="1067752"/>
            </a:xfrm>
            <a:prstGeom prst="roundRect">
              <a:avLst>
                <a:gd name="adj" fmla="val 107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739387" y="5696068"/>
              <a:ext cx="224134" cy="192560"/>
              <a:chOff x="7739387" y="5696068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851458" y="57664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39387" y="56960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851458" y="58442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053768" y="5568791"/>
              <a:ext cx="317944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同一个共享段在 P1 中是 sj 号段，在 P2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中是 sk 号段，段号可以不同。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76568" cy="909257"/>
            <a:chOff x="520446" y="342900"/>
            <a:chExt cx="65765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765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虚拟段页式地址映射：(s, p, d) → (f, d)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16351" cy="308039"/>
            <a:chOff x="525399" y="1550194"/>
            <a:chExt cx="571635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163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l：段表长度；b：段表首址；l′：页表长度；b′：页表首址。</a:t>
              </a:r>
            </a:p>
          </p:txBody>
        </p:sp>
      </p:grpSp>
      <p:grpSp>
        <p:nvGrpSpPr>
          <p:cNvPr id="93" name="c1-flow-1"/>
          <p:cNvGrpSpPr/>
          <p:nvPr/>
        </p:nvGrpSpPr>
        <p:grpSpPr>
          <a:xfrm>
            <a:off x="689610" y="1997392"/>
            <a:ext cx="10813732" cy="4240530"/>
            <a:chOff x="689610" y="1997392"/>
            <a:chExt cx="10813732" cy="4240530"/>
          </a:xfrm>
        </p:grpSpPr>
        <p:sp>
          <p:nvSpPr>
            <p:cNvPr id="9" name="Freeform 9"/>
            <p:cNvSpPr/>
            <p:nvPr/>
          </p:nvSpPr>
          <p:spPr>
            <a:xfrm>
              <a:off x="2602230" y="24069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9875" y="2354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7270" y="24069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34915" y="2354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52310" y="24069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259955" y="2354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2707958"/>
              <a:ext cx="9525" cy="254317"/>
            </a:xfrm>
            <a:custGeom>
              <a:avLst/>
              <a:gdLst/>
              <a:ahLst/>
              <a:cxnLst/>
              <a:rect l="l" t="t" r="r" b="b"/>
              <a:pathLst>
                <a:path w="9525" h="254317">
                  <a:moveTo>
                    <a:pt x="0" y="0"/>
                  </a:moveTo>
                  <a:lnTo>
                    <a:pt x="0" y="254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43612" y="2962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277350" y="240696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484995" y="2354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546080" y="2816542"/>
              <a:ext cx="9525" cy="50483"/>
            </a:xfrm>
            <a:custGeom>
              <a:avLst/>
              <a:gdLst/>
              <a:ahLst/>
              <a:cxnLst/>
              <a:rect l="l" t="t" r="r" b="b"/>
              <a:pathLst>
                <a:path w="9525" h="50483">
                  <a:moveTo>
                    <a:pt x="0" y="0"/>
                  </a:moveTo>
                  <a:lnTo>
                    <a:pt x="0" y="504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493692" y="2867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870960" y="2816542"/>
              <a:ext cx="9525" cy="63817"/>
            </a:xfrm>
            <a:custGeom>
              <a:avLst/>
              <a:gdLst/>
              <a:ahLst/>
              <a:cxnLst/>
              <a:rect l="l" t="t" r="r" b="b"/>
              <a:pathLst>
                <a:path w="9525" h="63817">
                  <a:moveTo>
                    <a:pt x="0" y="0"/>
                  </a:moveTo>
                  <a:lnTo>
                    <a:pt x="0" y="63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818572" y="28803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707005" y="328612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602230" y="3233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870960" y="3587115"/>
              <a:ext cx="9525" cy="158115"/>
            </a:xfrm>
            <a:custGeom>
              <a:avLst/>
              <a:gdLst/>
              <a:ahLst/>
              <a:cxnLst/>
              <a:rect l="l" t="t" r="r" b="b"/>
              <a:pathLst>
                <a:path w="9525" h="158115">
                  <a:moveTo>
                    <a:pt x="0" y="0"/>
                  </a:moveTo>
                  <a:lnTo>
                    <a:pt x="0" y="1581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818572" y="37452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870960" y="4479608"/>
              <a:ext cx="9525" cy="159067"/>
            </a:xfrm>
            <a:custGeom>
              <a:avLst/>
              <a:gdLst/>
              <a:ahLst/>
              <a:cxnLst/>
              <a:rect l="l" t="t" r="r" b="b"/>
              <a:pathLst>
                <a:path w="9525" h="159067">
                  <a:moveTo>
                    <a:pt x="0" y="0"/>
                  </a:moveTo>
                  <a:lnTo>
                    <a:pt x="0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18572" y="4638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707005" y="504444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20764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602230" y="49920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870960" y="5344478"/>
              <a:ext cx="9525" cy="159067"/>
            </a:xfrm>
            <a:custGeom>
              <a:avLst/>
              <a:gdLst/>
              <a:ahLst/>
              <a:cxnLst/>
              <a:rect l="l" t="t" r="r" b="b"/>
              <a:pathLst>
                <a:path w="9525" h="159067">
                  <a:moveTo>
                    <a:pt x="0" y="0"/>
                  </a:moveTo>
                  <a:lnTo>
                    <a:pt x="0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818572" y="5503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827270" y="592359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034915" y="58712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096000" y="5368290"/>
              <a:ext cx="9525" cy="254317"/>
            </a:xfrm>
            <a:custGeom>
              <a:avLst/>
              <a:gdLst/>
              <a:ahLst/>
              <a:cxnLst/>
              <a:rect l="l" t="t" r="r" b="b"/>
              <a:pathLst>
                <a:path w="9525" h="254317">
                  <a:moveTo>
                    <a:pt x="0" y="25431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043612" y="52635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052310" y="592359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259955" y="58712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321040" y="2826068"/>
              <a:ext cx="9525" cy="2878455"/>
            </a:xfrm>
            <a:custGeom>
              <a:avLst/>
              <a:gdLst/>
              <a:ahLst/>
              <a:cxnLst/>
              <a:rect l="l" t="t" r="r" b="b"/>
              <a:pathLst>
                <a:path w="9525" h="2878455">
                  <a:moveTo>
                    <a:pt x="0" y="28784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268652" y="27212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610" y="2187892"/>
              <a:ext cx="19135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2914650" y="1997392"/>
              <a:ext cx="1912620" cy="819150"/>
            </a:xfrm>
            <a:custGeom>
              <a:avLst/>
              <a:gdLst/>
              <a:ahLst/>
              <a:cxnLst/>
              <a:rect l="l" t="t" r="r" b="b"/>
              <a:pathLst>
                <a:path w="1912620" h="819150">
                  <a:moveTo>
                    <a:pt x="956310" y="0"/>
                  </a:moveTo>
                  <a:lnTo>
                    <a:pt x="1912620" y="409575"/>
                  </a:lnTo>
                  <a:lnTo>
                    <a:pt x="95631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139690" y="2105978"/>
              <a:ext cx="1912620" cy="601980"/>
            </a:xfrm>
            <a:custGeom>
              <a:avLst/>
              <a:gdLst/>
              <a:ahLst/>
              <a:cxnLst/>
              <a:rect l="l" t="t" r="r" b="b"/>
              <a:pathLst>
                <a:path w="1912620" h="601980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64730" y="2092642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589770" y="1997392"/>
              <a:ext cx="1912620" cy="819150"/>
            </a:xfrm>
            <a:custGeom>
              <a:avLst/>
              <a:gdLst/>
              <a:ahLst/>
              <a:cxnLst/>
              <a:rect l="l" t="t" r="r" b="b"/>
              <a:pathLst>
                <a:path w="1912620" h="819150">
                  <a:moveTo>
                    <a:pt x="956310" y="0"/>
                  </a:moveTo>
                  <a:lnTo>
                    <a:pt x="1912620" y="409575"/>
                  </a:lnTo>
                  <a:lnTo>
                    <a:pt x="95631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610" y="3067050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2914650" y="2985135"/>
              <a:ext cx="1912620" cy="601980"/>
            </a:xfrm>
            <a:custGeom>
              <a:avLst/>
              <a:gdLst/>
              <a:ahLst/>
              <a:cxnLst/>
              <a:rect l="l" t="t" r="r" b="b"/>
              <a:pathLst>
                <a:path w="1912620" h="601980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139690" y="3067050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89770" y="2971800"/>
              <a:ext cx="1913572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914650" y="3850005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610" y="4825365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2914650" y="4743450"/>
              <a:ext cx="1912620" cy="601028"/>
            </a:xfrm>
            <a:custGeom>
              <a:avLst/>
              <a:gdLst/>
              <a:ahLst/>
              <a:cxnLst/>
              <a:rect l="l" t="t" r="r" b="b"/>
              <a:pathLst>
                <a:path w="1912620" h="601028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39690" y="4825365"/>
              <a:ext cx="19135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914650" y="560832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139690" y="5622608"/>
              <a:ext cx="1912620" cy="601028"/>
            </a:xfrm>
            <a:custGeom>
              <a:avLst/>
              <a:gdLst/>
              <a:ahLst/>
              <a:cxnLst/>
              <a:rect l="l" t="t" r="r" b="b"/>
              <a:pathLst>
                <a:path w="1912620" h="601028">
                  <a:moveTo>
                    <a:pt x="956310" y="0"/>
                  </a:moveTo>
                  <a:lnTo>
                    <a:pt x="1912620" y="300990"/>
                  </a:lnTo>
                  <a:lnTo>
                    <a:pt x="95631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64730" y="5704522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5109" y="2317909"/>
              <a:ext cx="1561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 (s, p, d)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07715" y="2208371"/>
              <a:ext cx="11264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(s, p) 查快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表得 f，查到？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58739" y="23179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访问合法？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60462" y="2208371"/>
              <a:ext cx="132115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形成物理地址 (f,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70643" y="2208371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是间址且有障碍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94816" y="3197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64774" y="3197066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s ≤ l−1？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44896" y="3197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越权中断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08083" y="3087529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是：连接中断；否：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继续执行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161411" y="3966686"/>
              <a:ext cx="141909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(s, b) 查段表得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b′、l′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94816" y="49553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越界中断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317387" y="4955381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≤ p ≤ l′−1？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44896" y="49553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145155" y="5725001"/>
              <a:ext cx="14516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b′ 和 p 查页表得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572582" y="583453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该页在内存？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60691" y="5834539"/>
              <a:ext cx="1520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(s, p, f) 写入快表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802505" y="219075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836795" y="22174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查到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094220" y="21907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32511" y="22174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124575" y="27955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47816" y="28222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884420" y="280892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926711" y="28355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查不到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644140" y="30699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682430" y="30965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899535" y="362616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922776" y="36528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644140" y="48282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682430" y="48548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899535" y="538448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922776" y="54111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124575" y="535114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47816" y="53778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094220" y="570738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32511" y="57340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段页式的四种中断：连接、缺页、越界、越权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6276022" cy="2928938"/>
            <a:chOff x="533400" y="1524000"/>
            <a:chExt cx="6276022" cy="2928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526" y="1659731"/>
              <a:ext cx="1817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连接中断的三种情况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218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89499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所有进程都没连接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过：共享段表、段名-段号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对照表中都没有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00553" y="2108359"/>
              <a:ext cx="35892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建立页表，由文件读入外存 swap 区，部分页读入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内存；分配段号，填段名-段号对照表；是共享段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还要填共享段表；填段表，形成逻辑地址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874645"/>
              <a:ext cx="627602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3010376"/>
              <a:ext cx="180883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其他进程连接过，本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进程没有：共享段表有，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对照表无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0553" y="3123724"/>
              <a:ext cx="35161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分配段号，填段名-段号对照表；填段表（指向共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享段表），共享计数加 1，形成逻辑地址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7728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912394"/>
              <a:ext cx="180883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本进程连接过：对照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表有，共享段表有或无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00553" y="40257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直接形成逻辑地址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276022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87968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flow-2"/>
          <p:cNvGrpSpPr/>
          <p:nvPr/>
        </p:nvGrpSpPr>
        <p:grpSpPr>
          <a:xfrm>
            <a:off x="680085" y="4663440"/>
            <a:ext cx="5982652" cy="1584007"/>
            <a:chOff x="680085" y="4663440"/>
            <a:chExt cx="5982652" cy="1584007"/>
          </a:xfrm>
        </p:grpSpPr>
        <p:sp>
          <p:nvSpPr>
            <p:cNvPr id="22" name="Freeform 22"/>
            <p:cNvSpPr/>
            <p:nvPr/>
          </p:nvSpPr>
          <p:spPr>
            <a:xfrm>
              <a:off x="2479358" y="5073015"/>
              <a:ext cx="187642" cy="9525"/>
            </a:xfrm>
            <a:custGeom>
              <a:avLst/>
              <a:gdLst/>
              <a:ahLst/>
              <a:cxnLst/>
              <a:rect l="l" t="t" r="r" b="b"/>
              <a:pathLst>
                <a:path w="187642" h="9525">
                  <a:moveTo>
                    <a:pt x="0" y="0"/>
                  </a:moveTo>
                  <a:lnTo>
                    <a:pt x="187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667000" y="5020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579245" y="5482590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526858" y="5513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670935" y="5482590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618548" y="5513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571048" y="5073015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758690" y="5020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80085" y="4663440"/>
              <a:ext cx="1799272" cy="819150"/>
            </a:xfrm>
            <a:custGeom>
              <a:avLst/>
              <a:gdLst/>
              <a:ahLst/>
              <a:cxnLst/>
              <a:rect l="l" t="t" r="r" b="b"/>
              <a:pathLst>
                <a:path w="1799272" h="819150">
                  <a:moveTo>
                    <a:pt x="899160" y="0"/>
                  </a:moveTo>
                  <a:lnTo>
                    <a:pt x="1799272" y="409575"/>
                  </a:lnTo>
                  <a:lnTo>
                    <a:pt x="89916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771775" y="4663440"/>
              <a:ext cx="1799272" cy="819150"/>
            </a:xfrm>
            <a:custGeom>
              <a:avLst/>
              <a:gdLst/>
              <a:ahLst/>
              <a:cxnLst/>
              <a:rect l="l" t="t" r="r" b="b"/>
              <a:pathLst>
                <a:path w="1799272" h="819150">
                  <a:moveTo>
                    <a:pt x="899160" y="0"/>
                  </a:moveTo>
                  <a:lnTo>
                    <a:pt x="1799272" y="409575"/>
                  </a:lnTo>
                  <a:lnTo>
                    <a:pt x="89916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63465" y="4758690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0085" y="5617845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71775" y="5617845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0384" y="4874419"/>
              <a:ext cx="10777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段名-段号对照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表中有？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58058" y="487441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共享段表中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92205" y="4874419"/>
              <a:ext cx="11427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建页表、读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入、分配段号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9152" y="5734526"/>
              <a:ext cx="9801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直接形成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18282" y="5734526"/>
              <a:ext cx="130530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分配段号，共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享计数加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10790" y="485679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49080" y="48834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536508" y="54587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578798" y="5485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628198" y="54587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70488" y="5485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603432" y="485679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41723" y="48834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</p:grpSp>
      <p:grpSp>
        <p:nvGrpSpPr>
          <p:cNvPr id="60" name="c2-kv-1"/>
          <p:cNvGrpSpPr/>
          <p:nvPr/>
        </p:nvGrpSpPr>
        <p:grpSpPr>
          <a:xfrm>
            <a:off x="7106602" y="1548765"/>
            <a:ext cx="4551998" cy="2459355"/>
            <a:chOff x="7106602" y="1548765"/>
            <a:chExt cx="4551998" cy="2459355"/>
          </a:xfrm>
        </p:grpSpPr>
        <p:sp>
          <p:nvSpPr>
            <p:cNvPr id="49" name="TextBox 49"/>
            <p:cNvSpPr txBox="1"/>
            <p:nvPr/>
          </p:nvSpPr>
          <p:spPr>
            <a:xfrm>
              <a:off x="7106602" y="1548765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 缺页中断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69630" y="1548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调入所需页面，更新页表和总页表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18688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6602" y="1988820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 越界中</a:t>
              </a:r>
              <a:br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断：段号越界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6963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错误处理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25908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06602" y="2710815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 越界中</a:t>
              </a:r>
              <a:br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断：页号越界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69630" y="2710815"/>
              <a:ext cx="2872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段可扩展：扩展该段（增加页），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修改页表和段表中的页表长度；不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可扩展：错误处理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359473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06602" y="3714750"/>
              <a:ext cx="1119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 越权中断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69630" y="3714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错误处理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7114222" y="4139565"/>
            <a:ext cx="4544378" cy="782955"/>
            <a:chOff x="7114222" y="4139565"/>
            <a:chExt cx="4544378" cy="782955"/>
          </a:xfrm>
        </p:grpSpPr>
        <p:sp>
          <p:nvSpPr>
            <p:cNvPr id="61" name="Rectangle 61"/>
            <p:cNvSpPr/>
            <p:nvPr/>
          </p:nvSpPr>
          <p:spPr>
            <a:xfrm>
              <a:off x="7114222" y="413956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19010" y="4431030"/>
              <a:ext cx="200026" cy="200025"/>
              <a:chOff x="7319010" y="4431030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19010" y="44310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358749" y="44754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393464" y="45866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620952" y="4288155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页号越界不一定是错误。段长可以动态增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长，这正是段页式要考虑的第三件事。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7114222" y="5113020"/>
            <a:ext cx="4544378" cy="1059180"/>
            <a:chOff x="7114222" y="5113020"/>
            <a:chExt cx="4544378" cy="1059180"/>
          </a:xfrm>
        </p:grpSpPr>
        <p:sp>
          <p:nvSpPr>
            <p:cNvPr id="68" name="Rectangle 68"/>
            <p:cNvSpPr/>
            <p:nvPr/>
          </p:nvSpPr>
          <p:spPr>
            <a:xfrm>
              <a:off x="7114222" y="511302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5542600"/>
              <a:ext cx="200023" cy="200023"/>
              <a:chOff x="7319010" y="554260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19010" y="55426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52360" y="5609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0952" y="526161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分三种情况是为了共享：共享段只读入一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次、只建一份页表，别的进程再连接时只登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记段号、计数加 1。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虚拟段式与虚拟段页式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三种虚拟存储管理方式的特性比较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33400" y="1524000"/>
            <a:ext cx="6276022" cy="3901440"/>
            <a:chOff x="533400" y="1524000"/>
            <a:chExt cx="6276022" cy="3901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489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411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虚拟页式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2525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虚拟段式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4068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虚拟段页式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0604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85210" y="2021205"/>
              <a:ext cx="1502092" cy="46863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27182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07305" y="2021205"/>
              <a:ext cx="1692592" cy="468630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43575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945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993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0604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85210" y="250888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27182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3575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82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存储碎片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07005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585210" y="299656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28148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44540" y="312610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699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747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008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存储共享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064068" y="348424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06040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27182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43575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576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08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存储保护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64068" y="397192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606040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7182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43575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453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45008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0080" y="45891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动态扩充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064068" y="445960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06040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27182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43575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932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0080" y="5076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64068" y="4947285"/>
              <a:ext cx="150209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606040" y="5076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127182" y="5076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43575" y="5076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6276022" cy="3901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049780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570922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093018" y="1524000"/>
              <a:ext cx="9525" cy="3901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1"/>
          <p:cNvGrpSpPr/>
          <p:nvPr/>
        </p:nvGrpSpPr>
        <p:grpSpPr>
          <a:xfrm>
            <a:off x="7114222" y="1524000"/>
            <a:ext cx="4544378" cy="2844165"/>
            <a:chOff x="7114222" y="1524000"/>
            <a:chExt cx="4544378" cy="2844165"/>
          </a:xfrm>
        </p:grpSpPr>
        <p:sp>
          <p:nvSpPr>
            <p:cNvPr id="62" name="Rectangle 62"/>
            <p:cNvSpPr/>
            <p:nvPr/>
          </p:nvSpPr>
          <p:spPr>
            <a:xfrm>
              <a:off x="7114222" y="1524000"/>
              <a:ext cx="4544378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23748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6187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3927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为什么这样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段式按段分配连续内存，段长不等，分配时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要找合适的空闲区，会留下外部碎片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段是有意义的逻辑单位（过程、数据），按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段设置共享和保护最自然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25702" y="335280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段页式对用户按段、对内存按页，兼有两者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的优点，代价是地址映射要查段表和页表两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7114222" y="4558665"/>
            <a:ext cx="4544378" cy="1059180"/>
            <a:chOff x="7114222" y="4558665"/>
            <a:chExt cx="4544378" cy="1059180"/>
          </a:xfrm>
        </p:grpSpPr>
        <p:sp>
          <p:nvSpPr>
            <p:cNvPr id="73" name="Rectangle 73"/>
            <p:cNvSpPr/>
            <p:nvPr/>
          </p:nvSpPr>
          <p:spPr>
            <a:xfrm>
              <a:off x="7114222" y="455866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06952" y="4984551"/>
              <a:ext cx="224134" cy="192560"/>
              <a:chOff x="7306952" y="4984551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419023" y="50549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306952" y="49845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419023" y="51327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620952" y="4707255"/>
              <a:ext cx="3653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表中的“无碎片”指没有外部碎片。页式和段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页式中每段（进程）的最后一页仍可能有页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内碎片。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92215" cy="3675697"/>
            <a:chOff x="667512" y="1835468"/>
            <a:chExt cx="629221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系统举例与计算题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8230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 的伙伴堆算法、Windows Vista 的虚拟页式管理，再做两道有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效访问时间题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027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7.5.1 Linux 页表、调页与伙伴堆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伙伴堆的空闲链、位图与分配释放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3901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7.5.2 Windows Vista 地址空间与二级页表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作业：最大缺页率与平均访问时间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7284" cy="909257"/>
            <a:chOff x="520446" y="342900"/>
            <a:chExt cx="93672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72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7.5.1 Linux 存储管理：多级页表、请求调页和两个守护进程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626418" cy="2165985"/>
            <a:chOff x="533400" y="1524000"/>
            <a:chExt cx="5626418" cy="21659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45376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0380" y="1769269"/>
              <a:ext cx="3455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物理存储管理（Physical memory management）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三级页表（three level page table），线性地址分成四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1050" y="2707005"/>
              <a:ext cx="129254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4968" y="28465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页目录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073592" y="2707005"/>
              <a:ext cx="129254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6736" y="28465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页中间目录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66135" y="2707005"/>
              <a:ext cx="129254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5441" y="28465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57725" y="2707005"/>
              <a:ext cx="1292542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97209" y="28465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页内偏移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33089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3246120"/>
              <a:ext cx="4901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用伙伴堆算法（buddy heap algorithm）管理内存页框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880485"/>
            <a:ext cx="5626418" cy="1651635"/>
            <a:chOff x="533400" y="3880485"/>
            <a:chExt cx="5626418" cy="1651635"/>
          </a:xfrm>
        </p:grpSpPr>
        <p:sp>
          <p:nvSpPr>
            <p:cNvPr id="24" name="Rectangle 24"/>
            <p:cNvSpPr/>
            <p:nvPr/>
          </p:nvSpPr>
          <p:spPr>
            <a:xfrm>
              <a:off x="533400" y="3880485"/>
              <a:ext cx="5626418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01383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090035"/>
              <a:ext cx="337089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2951" y="4125754"/>
              <a:ext cx="336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虚拟存储管理（Virtual memory management）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5300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467225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请求调页（demand paging）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8653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802505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不做预调（no pre-paging），不用工作集（no working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set）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464618" y="1524000"/>
            <a:ext cx="5193982" cy="1800225"/>
            <a:chOff x="6464618" y="1524000"/>
            <a:chExt cx="5193982" cy="180022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8084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页面置换的守护进程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176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72441" y="2221706"/>
              <a:ext cx="1562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kswapd 页守护进程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2198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每秒运行一次，保证内存中有足够的空闲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2441" y="2783681"/>
              <a:ext cx="149143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bdflush 刷新守护进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2198" y="2783681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定期唤醒，把修改过的脏页写回外存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（dirty page out）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2961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6464618" y="3514725"/>
            <a:ext cx="5193982" cy="2017395"/>
            <a:chOff x="6464618" y="3514725"/>
            <a:chExt cx="5193982" cy="2017395"/>
          </a:xfrm>
        </p:grpSpPr>
        <p:sp>
          <p:nvSpPr>
            <p:cNvPr id="45" name="Rectangle 45"/>
            <p:cNvSpPr/>
            <p:nvPr/>
          </p:nvSpPr>
          <p:spPr>
            <a:xfrm>
              <a:off x="6464618" y="3514725"/>
              <a:ext cx="5193982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3648075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12268" y="372427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7378" y="37599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4648" y="4101465"/>
              <a:ext cx="4539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课件描述的是早期 Linux（2.4 版前后）的做法。现在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64 位 Linux 使用四级页表（可选五级），bdflush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也已被按设备划分的回写线程取代。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伙伴堆：大块对半分给请求，相邻伙伴都空闲时再合并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graph-1"/>
          <p:cNvGrpSpPr/>
          <p:nvPr/>
        </p:nvGrpSpPr>
        <p:grpSpPr>
          <a:xfrm>
            <a:off x="562356" y="1684020"/>
            <a:ext cx="6680454" cy="4601147"/>
            <a:chOff x="562356" y="1684020"/>
            <a:chExt cx="6680454" cy="4601147"/>
          </a:xfrm>
        </p:grpSpPr>
        <p:sp>
          <p:nvSpPr>
            <p:cNvPr id="7" name="Rectangle 7"/>
            <p:cNvSpPr/>
            <p:nvPr/>
          </p:nvSpPr>
          <p:spPr>
            <a:xfrm>
              <a:off x="1917382" y="1684020"/>
              <a:ext cx="5195888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787842" y="2293620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662488" y="2293620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24025" y="2898458"/>
              <a:ext cx="127349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59442" y="2898458"/>
              <a:ext cx="127349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662488" y="2898458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91640" y="350805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09825" y="350805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59442" y="3508058"/>
              <a:ext cx="127349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62488" y="3508058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91640" y="4118610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09825" y="4118610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59442" y="4118610"/>
              <a:ext cx="127349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62488" y="4118610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91640" y="4728210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409825" y="4728210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11818" y="4728210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70910" y="4728210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46195" y="4728210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2488" y="4728210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1640" y="533304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09825" y="533304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11818" y="5333048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70910" y="5333048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46195" y="533304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62488" y="5333048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24025" y="5942648"/>
              <a:ext cx="1273492" cy="260032"/>
            </a:xfrm>
            <a:prstGeom prst="roundRect">
              <a:avLst>
                <a:gd name="adj" fmla="val 1465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111818" y="5942648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70910" y="5942648"/>
              <a:ext cx="292418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46195" y="5942648"/>
              <a:ext cx="619125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62488" y="5942648"/>
              <a:ext cx="2580322" cy="260032"/>
            </a:xfrm>
            <a:prstGeom prst="roundRect">
              <a:avLst>
                <a:gd name="adj" fmla="val 1465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27886" y="17487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91516" y="23583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65208" y="23583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73331" y="2963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09701" y="2963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65208" y="2963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55053" y="3572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73238" y="3572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09701" y="3572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65208" y="3572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55053" y="41824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73238" y="41824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09701" y="41824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65208" y="41824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55053" y="47929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73238" y="47929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11401" y="47929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571446" y="47929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09608" y="47929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65208" y="47929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55053" y="539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73238" y="539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211401" y="539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571446" y="539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09608" y="539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865208" y="53978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73331" y="60074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211401" y="6007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71446" y="6007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09608" y="6007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65208" y="60074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2356" y="18221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2356" y="2431732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分裂 64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62356" y="303657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分裂 32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2356" y="364617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req(8)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2356" y="425577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req(8)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2356" y="486537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req(4)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62356" y="547020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rel(8)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62356" y="607980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rel(8)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7762875" y="1524000"/>
            <a:ext cx="3895725" cy="2071688"/>
            <a:chOff x="7762875" y="1524000"/>
            <a:chExt cx="3895725" cy="2071688"/>
          </a:xfrm>
        </p:grpSpPr>
        <p:sp>
          <p:nvSpPr>
            <p:cNvPr id="78" name="Rectangle 78"/>
            <p:cNvSpPr/>
            <p:nvPr/>
          </p:nvSpPr>
          <p:spPr>
            <a:xfrm>
              <a:off x="7762875" y="1524000"/>
              <a:ext cx="3895725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772400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993380" y="1716405"/>
              <a:ext cx="161163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050885" y="1750695"/>
              <a:ext cx="1496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伙伴堆（buddy heap）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001952" y="2128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57972" y="2072640"/>
              <a:ext cx="31255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分配物理上连续的页，块长都是 2 的幂，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每块有一个相邻的伙伴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8001952" y="268890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57972" y="2632710"/>
              <a:ext cx="30998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小空闲区不够时，把大区域对半分成两个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001952" y="32489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157972" y="319278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两个伙伴都释放后，合并成一个大空闲区</a:t>
              </a:r>
            </a:p>
          </p:txBody>
        </p:sp>
      </p:grpSp>
      <p:grpSp>
        <p:nvGrpSpPr>
          <p:cNvPr id="98" name="c2-card-2"/>
          <p:cNvGrpSpPr/>
          <p:nvPr/>
        </p:nvGrpSpPr>
        <p:grpSpPr>
          <a:xfrm>
            <a:off x="7762875" y="3770948"/>
            <a:ext cx="3895725" cy="2240280"/>
            <a:chOff x="7762875" y="3770948"/>
            <a:chExt cx="3895725" cy="2240280"/>
          </a:xfrm>
        </p:grpSpPr>
        <p:sp>
          <p:nvSpPr>
            <p:cNvPr id="89" name="Rectangle 89"/>
            <p:cNvSpPr/>
            <p:nvPr/>
          </p:nvSpPr>
          <p:spPr>
            <a:xfrm>
              <a:off x="7762875" y="3770948"/>
              <a:ext cx="3895725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7772400" y="3904298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993380" y="3963352"/>
              <a:ext cx="22098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032814" y="399764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读图（深色已分配，低地址在左）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8001952" y="43757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157972" y="4319588"/>
              <a:ext cx="31426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req(4)：16 先分成 8、8，再把一个 8 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4、4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8001952" y="49358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157972" y="4879658"/>
              <a:ext cx="30140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 rel(8)：相邻的两个 8 都空闲，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合并成 16（绿色）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987665" y="5435441"/>
              <a:ext cx="30695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 的伙伴是右边的 4、4、8，其中一个 4 仍被占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用，不能继续合并。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伙伴堆的实现：相同长度的空闲块链成一组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cells-1"/>
          <p:cNvGrpSpPr/>
          <p:nvPr/>
        </p:nvGrpSpPr>
        <p:grpSpPr>
          <a:xfrm>
            <a:off x="527685" y="1524000"/>
            <a:ext cx="4442460" cy="2530792"/>
            <a:chOff x="527685" y="1524000"/>
            <a:chExt cx="4442460" cy="2530792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44491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10 组（2⁹）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466850" y="1524000"/>
              <a:ext cx="74199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8907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685" y="2181701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 组（2⁷）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466850" y="2061210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2002" y="218170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208848" y="2061210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285048" y="222313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13622" y="225171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56522" y="220884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42248" y="2061210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77399" y="218170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85198" y="2061210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48739" y="218932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685" y="2719864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 组（2³）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66850" y="2598420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5538" y="271986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08848" y="2598420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285048" y="276129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313622" y="278987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656522" y="274701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42248" y="2598420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20935" y="271986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485198" y="2598420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48739" y="272748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7685" y="3257074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 组（2¹）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66850" y="3136582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89074" y="3257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08848" y="3136582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285048" y="329850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313622" y="332708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656522" y="328422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742248" y="3136582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020935" y="32570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485198" y="3136582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3561398" y="329850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589972" y="332708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932872" y="328422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18598" y="3136582"/>
              <a:ext cx="7419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97285" y="32570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60595" y="3136582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824137" y="326469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7685" y="3794284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 组（2⁰）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466850" y="3673792"/>
              <a:ext cx="74199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78907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54" name="c1-text-2"/>
          <p:cNvGrpSpPr/>
          <p:nvPr/>
        </p:nvGrpSpPr>
        <p:grpSpPr>
          <a:xfrm>
            <a:off x="527685" y="4248626"/>
            <a:ext cx="4427982" cy="441008"/>
            <a:chOff x="527685" y="4248626"/>
            <a:chExt cx="4427982" cy="441008"/>
          </a:xfrm>
        </p:grpSpPr>
        <p:sp>
          <p:nvSpPr>
            <p:cNvPr id="53" name="TextBox 53"/>
            <p:cNvSpPr txBox="1"/>
            <p:nvPr/>
          </p:nvSpPr>
          <p:spPr>
            <a:xfrm>
              <a:off x="527685" y="4248626"/>
              <a:ext cx="442798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组号 1～10 对应块长 2⁰～2⁹ 页；链中数字是空闲块的起始页号，如第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组有从 256、512 开始的两块 128 页的空闲区。</a:t>
              </a:r>
            </a:p>
          </p:txBody>
        </p:sp>
      </p:grpSp>
      <p:grpSp>
        <p:nvGrpSpPr>
          <p:cNvPr id="60" name="c1-card-3"/>
          <p:cNvGrpSpPr/>
          <p:nvPr/>
        </p:nvGrpSpPr>
        <p:grpSpPr>
          <a:xfrm>
            <a:off x="533400" y="4820602"/>
            <a:ext cx="4760595" cy="1466850"/>
            <a:chOff x="533400" y="4820602"/>
            <a:chExt cx="4760595" cy="1466850"/>
          </a:xfrm>
        </p:grpSpPr>
        <p:sp>
          <p:nvSpPr>
            <p:cNvPr id="55" name="Rectangle 55"/>
            <p:cNvSpPr/>
            <p:nvPr/>
          </p:nvSpPr>
          <p:spPr>
            <a:xfrm>
              <a:off x="533400" y="4820602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2925" y="495395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3905" y="50130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5345" y="50472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047" y="5370195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原课件伙伴条件 (3) 写作“后面块的最后页面编号必须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2b 的整数倍”。页从 0 编号时应为“编号 + 1”，例如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12、13 互为伙伴，13 + 1 = 14 是 2 的倍数。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5598795" y="1524000"/>
            <a:ext cx="6059805" cy="2088832"/>
            <a:chOff x="5598795" y="1524000"/>
            <a:chExt cx="6059805" cy="2088832"/>
          </a:xfrm>
        </p:grpSpPr>
        <p:sp>
          <p:nvSpPr>
            <p:cNvPr id="61" name="Rectangle 61"/>
            <p:cNvSpPr/>
            <p:nvPr/>
          </p:nvSpPr>
          <p:spPr>
            <a:xfrm>
              <a:off x="5598795" y="1524000"/>
              <a:ext cx="605980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608320" y="165735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29300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24741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79642" y="1756410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申请长度为 128 的块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829300" y="207835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84978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10097" y="209073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8 组（块长 128）中取一块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829300" y="238029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884978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10097" y="2392680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 组已空：在第 9 组取一块 256 页，分配其中 128 页，剩余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页记入第 8 组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829300" y="294036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84978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10097" y="2952750"/>
              <a:ext cx="50457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组也空：在第 10 组取一块 512 页，分割两次，分配 128 页，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剩余 128 页、256 页分别记入第 8 组、第 9 组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5598795" y="3788092"/>
            <a:ext cx="6059805" cy="2499360"/>
            <a:chOff x="5598795" y="3788092"/>
            <a:chExt cx="6059805" cy="2499360"/>
          </a:xfrm>
        </p:grpSpPr>
        <p:sp>
          <p:nvSpPr>
            <p:cNvPr id="76" name="Rectangle 76"/>
            <p:cNvSpPr/>
            <p:nvPr/>
          </p:nvSpPr>
          <p:spPr>
            <a:xfrm>
              <a:off x="5598795" y="3788092"/>
              <a:ext cx="6059805" cy="2499360"/>
            </a:xfrm>
            <a:prstGeom prst="roundRect">
              <a:avLst>
                <a:gd name="adj" fmla="val 533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91200" y="39804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74639" y="40147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伙伴条件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784342" y="433673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释放是分配的逆过程，要考虑伙伴合并。两个块互为伙伴要同时满足：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791200" y="462724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46878" y="46656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071997" y="463962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大小相同，都是 b 个页面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791200" y="493014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846878" y="49685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71997" y="4942523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物理地址连续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791200" y="523208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846878" y="52714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071997" y="5244465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位于后面的块，最后一页的编号 + 1 是 2b 的整数倍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8445" cy="909257"/>
            <a:chOff x="520446" y="342900"/>
            <a:chExt cx="60284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84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的块组、free_area 与块组位图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161" y="1547336"/>
            <a:ext cx="5417439" cy="2347532"/>
            <a:chOff x="526161" y="1547336"/>
            <a:chExt cx="5417439" cy="234753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6348" y="1547336"/>
              <a:ext cx="1303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静态等长，4KB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6348" y="1969294"/>
              <a:ext cx="366636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连续的 2ⁱ 个页框（i = 0～9）构成一个块组；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长度为 2ⁱ 的叫块组 i，共 10 个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431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658904"/>
              <a:ext cx="12890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free_area[i]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26348" y="2658904"/>
              <a:ext cx="366636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页框数为 2ⁱ 的块组的空闲区表项，由“空闲块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组指针”和“块组位图指针”组成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3485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分配单位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6348" y="334851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2ⁱ 个页框为单位分配、释放，2ⁱ⁻¹ &lt; fn 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2ⁱ，fn 为申请的页框数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024312"/>
            <a:ext cx="5410200" cy="518160"/>
            <a:chOff x="533400" y="4024312"/>
            <a:chExt cx="5410200" cy="518160"/>
          </a:xfrm>
        </p:grpSpPr>
        <p:sp>
          <p:nvSpPr>
            <p:cNvPr id="19" name="Rectangle 19"/>
            <p:cNvSpPr/>
            <p:nvPr/>
          </p:nvSpPr>
          <p:spPr>
            <a:xfrm>
              <a:off x="533400" y="4024312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183380"/>
              <a:ext cx="200026" cy="200025"/>
              <a:chOff x="738188" y="418338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183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227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338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183856"/>
              <a:ext cx="40957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申请 3 个页框：2¹ &lt; 3 ≤ 2²，按 4 个页框分配。</a:t>
              </a:r>
            </a:p>
          </p:txBody>
        </p:sp>
      </p:grpSp>
      <p:grpSp>
        <p:nvGrpSpPr>
          <p:cNvPr id="51" name="c1-cells-3"/>
          <p:cNvGrpSpPr/>
          <p:nvPr/>
        </p:nvGrpSpPr>
        <p:grpSpPr>
          <a:xfrm>
            <a:off x="527685" y="4728210"/>
            <a:ext cx="5415915" cy="732472"/>
            <a:chOff x="527685" y="4728210"/>
            <a:chExt cx="5415915" cy="732472"/>
          </a:xfrm>
        </p:grpSpPr>
        <p:sp>
          <p:nvSpPr>
            <p:cNvPr id="26" name="TextBox 26"/>
            <p:cNvSpPr txBox="1"/>
            <p:nvPr/>
          </p:nvSpPr>
          <p:spPr>
            <a:xfrm>
              <a:off x="527685" y="486108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块长 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78230" y="4728210"/>
              <a:ext cx="608648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45754" y="48610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0-1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685925" y="4728210"/>
              <a:ext cx="608648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54402" y="48610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2-3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294572" y="4728210"/>
              <a:ext cx="60864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62097" y="48610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902268" y="4728210"/>
              <a:ext cx="60864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70744" y="48610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6-7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10915" y="4728210"/>
              <a:ext cx="608648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78439" y="48610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8-9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18610" y="4728210"/>
              <a:ext cx="608648" cy="4067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0014" y="486108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10-11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27258" y="4728210"/>
              <a:ext cx="60864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07709" y="486108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12-13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952" y="4728210"/>
              <a:ext cx="608648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16357" y="486108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14-15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343978" y="5153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21173" y="5284470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第1位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560320" y="5153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37515" y="5284470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第2位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3776662" y="5153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53858" y="5284470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第3位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93005" y="5153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870200" y="5284470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第4位</a:t>
              </a:r>
            </a:p>
          </p:txBody>
        </p:sp>
      </p:grpSp>
      <p:grpSp>
        <p:nvGrpSpPr>
          <p:cNvPr id="53" name="c1-text-4"/>
          <p:cNvGrpSpPr/>
          <p:nvPr/>
        </p:nvGrpSpPr>
        <p:grpSpPr>
          <a:xfrm>
            <a:off x="527304" y="5638800"/>
            <a:ext cx="4769663" cy="234696"/>
            <a:chOff x="527304" y="5638800"/>
            <a:chExt cx="4769663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27304" y="5638800"/>
              <a:ext cx="4769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块长 2 的位图共 4 位：相邻同色的两块是一对伙伴，各对应 1 位。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524000"/>
            <a:ext cx="5410200" cy="2196465"/>
            <a:chOff x="6248400" y="1524000"/>
            <a:chExt cx="5410200" cy="2196465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196465"/>
            </a:xfrm>
            <a:prstGeom prst="roundRect">
              <a:avLst>
                <a:gd name="adj" fmla="val 60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1657350"/>
              <a:ext cx="47625" cy="19297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0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2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块组位图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3096" y="2100739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2ⁱ 按前后顺序两两结成一对伙伴，位图中的 1 位表示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这一对的使用情况：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97955" y="27527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4546" y="2692241"/>
              <a:ext cx="342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一个空闲，另一个全部或部分占用：置 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97955" y="30727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4546" y="3012281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两个都空闲，或都被全部或部分占用：置 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4239" y="3328988"/>
              <a:ext cx="3905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例：块组 2¹ 中，页框 0、1 和页框 2、3 是一对伙伴。</a:t>
              </a:r>
            </a:p>
          </p:txBody>
        </p:sp>
      </p:grpSp>
      <p:grpSp>
        <p:nvGrpSpPr>
          <p:cNvPr id="85" name="c2-table-2"/>
          <p:cNvGrpSpPr/>
          <p:nvPr/>
        </p:nvGrpSpPr>
        <p:grpSpPr>
          <a:xfrm>
            <a:off x="6242685" y="3905250"/>
            <a:ext cx="5415915" cy="2443639"/>
            <a:chOff x="6242685" y="3905250"/>
            <a:chExt cx="5415915" cy="2443639"/>
          </a:xfrm>
        </p:grpSpPr>
        <p:sp>
          <p:nvSpPr>
            <p:cNvPr id="65" name="Rectangle 65"/>
            <p:cNvSpPr/>
            <p:nvPr/>
          </p:nvSpPr>
          <p:spPr>
            <a:xfrm>
              <a:off x="6248400" y="390525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42722" y="403669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一对伙伴的状态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63687" y="40366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18332" y="403669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释放其中一块时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53747" y="44672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都空闲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00034" y="44672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26412" y="446722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不会发生（空闲块不会再被释放）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4760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48400" y="476535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53747" y="50034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一个空闲、一个占用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00034" y="50034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26412" y="4896802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释放占用的那块，两块都空闲：合并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54044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53747" y="554069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两个都（全部或部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分）占用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00034" y="56473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26412" y="5540692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释放后一个空闲、一个占用：不合并，位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905250"/>
              <a:ext cx="5410200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975282" y="390525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516302" y="390525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242685" y="6128861"/>
              <a:ext cx="2921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释放时看位：为 1 可以合并，为 0 不能合并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例：16 个页框时的空闲链和三张位图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186585" cy="278702"/>
            <a:chOff x="526161" y="1547336"/>
            <a:chExt cx="818658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186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页框 0、2、6、7、13 已占用（深色），其余空闲。假设共 6 个块组，块组 3～5 的空闲链为空。</a:t>
              </a:r>
            </a:p>
          </p:txBody>
        </p:sp>
      </p:grpSp>
      <p:grpSp>
        <p:nvGrpSpPr>
          <p:cNvPr id="42" name="c1-cells-1"/>
          <p:cNvGrpSpPr/>
          <p:nvPr/>
        </p:nvGrpSpPr>
        <p:grpSpPr>
          <a:xfrm>
            <a:off x="528066" y="1941195"/>
            <a:ext cx="4982146" cy="381000"/>
            <a:chOff x="528066" y="1941195"/>
            <a:chExt cx="4982146" cy="381000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669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41195"/>
              <a:ext cx="285750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0176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19200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16878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05902" y="1941195"/>
              <a:ext cx="285750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02628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91652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8378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77402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75081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64105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460831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49855" y="1941195"/>
              <a:ext cx="285750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46581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935605" y="1941195"/>
              <a:ext cx="285750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33283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22308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19033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508058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4783" y="2066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93808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5067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80510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3642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366260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2217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52962" y="1941195"/>
              <a:ext cx="285750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8873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38712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94623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224462" y="1941195"/>
              <a:ext cx="2857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0373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76" name="c1-cells-2"/>
          <p:cNvGrpSpPr/>
          <p:nvPr/>
        </p:nvGrpSpPr>
        <p:grpSpPr>
          <a:xfrm>
            <a:off x="527685" y="2498408"/>
            <a:ext cx="4659630" cy="1455420"/>
            <a:chOff x="527685" y="2498408"/>
            <a:chExt cx="4659630" cy="1455420"/>
          </a:xfrm>
        </p:grpSpPr>
        <p:sp>
          <p:nvSpPr>
            <p:cNvPr id="43" name="TextBox 43"/>
            <p:cNvSpPr txBox="1"/>
            <p:nvPr/>
          </p:nvSpPr>
          <p:spPr>
            <a:xfrm>
              <a:off x="527685" y="2618899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free_area[2]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652588" y="249840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979574" y="26188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405062" y="249840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68604" y="262651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685" y="3156109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free_area[1]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652588" y="303561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79574" y="3156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405062" y="303561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2481262" y="319754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2509838" y="322611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2852738" y="31832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938462" y="303561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221913" y="31561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690938" y="303561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54479" y="316372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7685" y="3693319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free_area[0]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652588" y="357282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979574" y="3693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405062" y="357282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2481262" y="373475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2509838" y="376332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2852738" y="372046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938462" y="357282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265449" y="3693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690938" y="357282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3767138" y="373475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3795712" y="376332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4138612" y="372046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4224338" y="3572828"/>
              <a:ext cx="7524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507788" y="36933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977765" y="3572828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041307" y="37009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78" name="c1-text-3"/>
          <p:cNvGrpSpPr/>
          <p:nvPr/>
        </p:nvGrpSpPr>
        <p:grpSpPr>
          <a:xfrm>
            <a:off x="527685" y="4147661"/>
            <a:ext cx="4813595" cy="220028"/>
            <a:chOff x="527685" y="4147661"/>
            <a:chExt cx="4813595" cy="220028"/>
          </a:xfrm>
        </p:grpSpPr>
        <p:sp>
          <p:nvSpPr>
            <p:cNvPr id="77" name="TextBox 77"/>
            <p:cNvSpPr txBox="1"/>
            <p:nvPr/>
          </p:nvSpPr>
          <p:spPr>
            <a:xfrm>
              <a:off x="527685" y="4147661"/>
              <a:ext cx="4813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链中是空闲块的首页框号：块组 2 有 8～11，块组 1 有 4～5、14～15。</a:t>
              </a:r>
            </a:p>
          </p:txBody>
        </p:sp>
      </p:grpSp>
      <p:grpSp>
        <p:nvGrpSpPr>
          <p:cNvPr id="85" name="c1-callout-4"/>
          <p:cNvGrpSpPr/>
          <p:nvPr/>
        </p:nvGrpSpPr>
        <p:grpSpPr>
          <a:xfrm>
            <a:off x="533400" y="4498658"/>
            <a:ext cx="4977765" cy="1719262"/>
            <a:chOff x="533400" y="4498658"/>
            <a:chExt cx="4977765" cy="1719262"/>
          </a:xfrm>
        </p:grpSpPr>
        <p:sp>
          <p:nvSpPr>
            <p:cNvPr id="79" name="Rectangle 79"/>
            <p:cNvSpPr/>
            <p:nvPr/>
          </p:nvSpPr>
          <p:spPr>
            <a:xfrm>
              <a:off x="533400" y="4498658"/>
              <a:ext cx="4977765" cy="1719262"/>
            </a:xfrm>
            <a:prstGeom prst="roundRect">
              <a:avLst>
                <a:gd name="adj" fmla="val 664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258753"/>
              <a:ext cx="200026" cy="200025"/>
              <a:chOff x="738188" y="5258753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2587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53032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54143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5139690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4、5 两个页框都空闲，又互为伙伴，所以合成一块挂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free_area[1]，不会分别挂在 free_area[0]。</a:t>
              </a:r>
            </a:p>
          </p:txBody>
        </p:sp>
      </p:grpSp>
      <p:grpSp>
        <p:nvGrpSpPr>
          <p:cNvPr id="105" name="c2-table-1"/>
          <p:cNvGrpSpPr/>
          <p:nvPr/>
        </p:nvGrpSpPr>
        <p:grpSpPr>
          <a:xfrm>
            <a:off x="5815965" y="1941195"/>
            <a:ext cx="5842635" cy="2023110"/>
            <a:chOff x="5815965" y="1941195"/>
            <a:chExt cx="5842635" cy="2023110"/>
          </a:xfrm>
        </p:grpSpPr>
        <p:sp>
          <p:nvSpPr>
            <p:cNvPr id="86" name="Rectangle 86"/>
            <p:cNvSpPr/>
            <p:nvPr/>
          </p:nvSpPr>
          <p:spPr>
            <a:xfrm>
              <a:off x="5815965" y="1941195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12620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位图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518861" y="2065496"/>
              <a:ext cx="1852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伙伴对（低地址 → 高地址）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59219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各位的值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58918" y="25712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 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50380" y="2471261"/>
              <a:ext cx="27282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 (2,3) (4,5) (6,7) (8,9) (10,11)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(12,13) (14,15)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403726" y="2571274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1 1 0 0 0 0 1 0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815965" y="29479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815965" y="295275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058918" y="317706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 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850380" y="3077051"/>
              <a:ext cx="24935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(0-1, 2-3) (4-5, 6-7) (8-9, 10-11)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(12-13, 14-15)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660042" y="317706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815965" y="35537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058918" y="368284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 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850380" y="368284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(0-3, 4-7) (8-11, 12-15)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788200" y="368284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815965" y="1941195"/>
              <a:ext cx="584263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745605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0134600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7" name="c2-card-2"/>
          <p:cNvGrpSpPr/>
          <p:nvPr/>
        </p:nvGrpSpPr>
        <p:grpSpPr>
          <a:xfrm>
            <a:off x="5815965" y="4139565"/>
            <a:ext cx="5842635" cy="2078355"/>
            <a:chOff x="5815965" y="4139565"/>
            <a:chExt cx="5842635" cy="2078355"/>
          </a:xfrm>
        </p:grpSpPr>
        <p:sp>
          <p:nvSpPr>
            <p:cNvPr id="106" name="Rectangle 106"/>
            <p:cNvSpPr/>
            <p:nvPr/>
          </p:nvSpPr>
          <p:spPr>
            <a:xfrm>
              <a:off x="5815965" y="4139565"/>
              <a:ext cx="5842635" cy="2078355"/>
            </a:xfrm>
            <a:prstGeom prst="roundRect">
              <a:avLst>
                <a:gd name="adj" fmla="val 6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825490" y="4272915"/>
              <a:ext cx="47625" cy="1811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046470" y="433197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133910" y="436626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怎样读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6055042" y="47453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211062" y="4689158"/>
              <a:ext cx="4057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 12 空闲、13 占用：块长 1 位图的第 7 位为 1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6055042" y="50472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211062" y="4991100"/>
              <a:ext cx="400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4～5 空闲、6～7 占用：块长 2 位图的第 2 位为 1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6055042" y="53501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211062" y="5293995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8～11 整块空闲，伙伴 12～15 部分占用：块长 4 位图的第 2 位为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040755" y="5849779"/>
              <a:ext cx="5514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空闲的 1、3、12 各自的伙伴 0、2、13 都被占用，只能单独挂在 free_area[0]。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0663" cy="909257"/>
            <a:chOff x="520446" y="342900"/>
            <a:chExt cx="78106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06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 3 个页框、释放页框 13：空闲链和位图怎样变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2134552"/>
            <a:chOff x="533400" y="1524000"/>
            <a:chExt cx="5410200" cy="21345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4552"/>
            </a:xfrm>
            <a:prstGeom prst="roundRect">
              <a:avLst>
                <a:gd name="adj" fmla="val 62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78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分配例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968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 fn = 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07835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090738"/>
              <a:ext cx="3575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 &lt; 3 ≤ 2²，在块组 2 中分配 2² = 4 个页框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392680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free_area[2] 的第一个空闲块是 8，分配 8、9、10、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11，块组 2 的空闲链变空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294036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2952750"/>
              <a:ext cx="462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 4 位图 (8-11, 12-15)：两块都被占用，由 1 改为 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3905" y="324326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83" y="3281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702" y="3254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块长 1、块长 2 的位图不变</a:t>
              </a:r>
            </a:p>
          </p:txBody>
        </p:sp>
      </p:grpSp>
      <p:grpSp>
        <p:nvGrpSpPr>
          <p:cNvPr id="58" name="c1-cells-2"/>
          <p:cNvGrpSpPr/>
          <p:nvPr/>
        </p:nvGrpSpPr>
        <p:grpSpPr>
          <a:xfrm>
            <a:off x="528447" y="3833812"/>
            <a:ext cx="5415153" cy="381000"/>
            <a:chOff x="528447" y="3833812"/>
            <a:chExt cx="5415153" cy="38100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39638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分配后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0130" y="3833812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50435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346835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57140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653540" y="3833812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62893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59292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69598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265998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76303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572702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83008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879408" y="3833812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88760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185160" y="3833812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95465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491865" y="3833812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02170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98570" y="3833812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08875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105275" y="3833812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76534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11028" y="3833812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483239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717732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89944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024438" y="3833812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96649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1142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02401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636895" y="3833812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9106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67" name="c1-kv-3"/>
          <p:cNvGrpSpPr/>
          <p:nvPr/>
        </p:nvGrpSpPr>
        <p:grpSpPr>
          <a:xfrm>
            <a:off x="526542" y="4411980"/>
            <a:ext cx="5417058" cy="1313688"/>
            <a:chOff x="526542" y="4411980"/>
            <a:chExt cx="5417058" cy="1313688"/>
          </a:xfrm>
        </p:grpSpPr>
        <p:sp>
          <p:nvSpPr>
            <p:cNvPr id="59" name="TextBox 59"/>
            <p:cNvSpPr txBox="1"/>
            <p:nvPr/>
          </p:nvSpPr>
          <p:spPr>
            <a:xfrm>
              <a:off x="526542" y="4411980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块长 1 位图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03832" y="4411980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 0 0 1 0，分配前后都一样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701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6542" y="481012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块长 2 位图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03832" y="4810125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1，分配前后都一样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0987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6542" y="5208270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块长 4 位图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03832" y="5208270"/>
              <a:ext cx="3943350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 1 变成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：8～11 整块被拿走，它的伙伴 12～15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 13 本来就被占用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6248400" y="1524000"/>
            <a:ext cx="5410200" cy="2693670"/>
            <a:chOff x="6248400" y="1524000"/>
            <a:chExt cx="5410200" cy="2693670"/>
          </a:xfrm>
        </p:grpSpPr>
        <p:sp>
          <p:nvSpPr>
            <p:cNvPr id="68" name="Rectangle 68"/>
            <p:cNvSpPr/>
            <p:nvPr/>
          </p:nvSpPr>
          <p:spPr>
            <a:xfrm>
              <a:off x="6248400" y="1524000"/>
              <a:ext cx="5410200" cy="2693670"/>
            </a:xfrm>
            <a:prstGeom prst="roundRect">
              <a:avLst>
                <a:gd name="adj" fmla="val 4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57925" y="1657350"/>
              <a:ext cx="47625" cy="24269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78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66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释放例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95947" y="1756410"/>
              <a:ext cx="1371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接着释放页框 13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59702" y="2090738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空闲，12、13 是伙伴，合并成 12～13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78905" y="238029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34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59702" y="2392680"/>
              <a:ext cx="397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14～15 空闲，与 12～13 是伙伴，合并成 12～15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478905" y="268319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53458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59702" y="2695575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12～15 的伙伴 8～11 刚被占用，停止合并，把 12 挂到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free_area[2]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78905" y="324326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34583" y="3281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59702" y="3254692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free_area[0] 摘掉 12，从 free_area[1] 摘掉 14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478905" y="354520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34583" y="35835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59702" y="3557588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位图：块长 1 的 (12,13) 和块长 2 的 (12-13, 14-15) 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改为 0；块长 4 的 (8-11, 12-15) 由 0 改为 1</a:t>
              </a:r>
            </a:p>
          </p:txBody>
        </p:sp>
      </p:grpSp>
      <p:grpSp>
        <p:nvGrpSpPr>
          <p:cNvPr id="122" name="c2-cells-2"/>
          <p:cNvGrpSpPr/>
          <p:nvPr/>
        </p:nvGrpSpPr>
        <p:grpSpPr>
          <a:xfrm>
            <a:off x="6243447" y="4392930"/>
            <a:ext cx="5415153" cy="381000"/>
            <a:chOff x="6243447" y="4392930"/>
            <a:chExt cx="5415153" cy="381000"/>
          </a:xfrm>
        </p:grpSpPr>
        <p:sp>
          <p:nvSpPr>
            <p:cNvPr id="89" name="TextBox 89"/>
            <p:cNvSpPr txBox="1"/>
            <p:nvPr/>
          </p:nvSpPr>
          <p:spPr>
            <a:xfrm>
              <a:off x="6243447" y="45229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释放后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755130" y="4392930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65435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061835" y="4392930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72140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367588" y="4392930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477893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674292" y="4392930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784598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980998" y="4392930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091303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287702" y="4392930"/>
              <a:ext cx="30670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398008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593455" y="4392930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703760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900160" y="4392930"/>
              <a:ext cx="30670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010465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206865" y="4392930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317170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513570" y="4392930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623875" y="45229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819322" y="4392930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891534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0126028" y="4392930"/>
              <a:ext cx="30670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0198239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0432732" y="4392930"/>
              <a:ext cx="30670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504944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10739438" y="4392930"/>
              <a:ext cx="30670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811649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11045190" y="4392930"/>
              <a:ext cx="30670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11117401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11351895" y="4392930"/>
              <a:ext cx="30670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11424106" y="4522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2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23" name="Rectangle 12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26" name="Group 12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7" name="TextBox 127"/>
            <p:cNvSpPr txBox="1"/>
            <p:nvPr/>
          </p:nvSpPr>
          <p:spPr>
            <a:xfrm>
              <a:off x="1040892" y="6023610"/>
              <a:ext cx="6983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释放后空闲链：free_area[0] 为 1、3；free_area[1] 为 4；free_area[2] 为 12。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伙伴堆的分配与释放步骤，以及内部碎片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16169" cy="3233071"/>
            <a:chOff x="533400" y="1533525"/>
            <a:chExt cx="5416169" cy="323307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分配：定块组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 fn 个页框，取 2ⁱ⁻¹ &lt; fn ≤ 2ⁱ，从块组 i 起找到第一个空闲链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非空的块组 j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分配：取块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在块组 j 的第一个空闲块中分配 2ⁱ 个页框，调整块组 j 的空闲链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分配：挂回剩余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2ʲ &gt; 2ⁱ，剩下的 2ʲ − 2ⁱ 个页框拆成 2ⁱ、2ⁱ⁺¹、…、2ʲ⁻¹ 各一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块，挂到相应块组的空闲链；修改位图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50035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释放的 2ⁱ 个页框与相邻的空闲伙伴逐级合并成大空闲区，挂到相应块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组的空闲链；修改位图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945380"/>
            <a:ext cx="5626418" cy="1384935"/>
            <a:chOff x="533400" y="4945380"/>
            <a:chExt cx="5626418" cy="1384935"/>
          </a:xfrm>
        </p:grpSpPr>
        <p:sp>
          <p:nvSpPr>
            <p:cNvPr id="25" name="Rectangle 25"/>
            <p:cNvSpPr/>
            <p:nvPr/>
          </p:nvSpPr>
          <p:spPr>
            <a:xfrm>
              <a:off x="533400" y="4945380"/>
              <a:ext cx="5626418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07873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515493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7308" y="51906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拆分例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24000" y="5190172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只有块组 5 有空闲块时申请 fn =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551170"/>
              <a:ext cx="51038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 &lt; 3 ≤ 2²，i = 2，找到 j = 5；从 32 个页框中分配 4 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88645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 28 = 4 + 8 + 16，分别挂到块组 2、3、4 的空闲链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335405"/>
            <a:chOff x="6464618" y="1524000"/>
            <a:chExt cx="5193982" cy="133540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3295" y="1768792"/>
              <a:ext cx="36227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内部碎片（internal fragmentation）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212979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例：申请 17 个页框，2⁴ &lt; 17 ≤ 2⁵，要在块组 5 分配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个页框，浪费 15 个。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464618" y="3049905"/>
            <a:ext cx="5193982" cy="2026920"/>
            <a:chOff x="6464618" y="3049905"/>
            <a:chExt cx="5193982" cy="2026920"/>
          </a:xfrm>
        </p:grpSpPr>
        <p:sp>
          <p:nvSpPr>
            <p:cNvPr id="40" name="Rectangle 40"/>
            <p:cNvSpPr/>
            <p:nvPr/>
          </p:nvSpPr>
          <p:spPr>
            <a:xfrm>
              <a:off x="6464618" y="3049905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8868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解决办法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7697" y="31856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2441" y="3747611"/>
              <a:ext cx="125897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second memory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2198" y="3634264"/>
              <a:ext cx="287401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实际申请 fn &lt; 2ⁱ 时，把多出的 2ⁱ − fn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个页框按 2 的整数次幂切分（carves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slabs），单独管理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43957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44005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2441" y="4536281"/>
              <a:ext cx="11224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third memory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42198" y="4536281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进程的物理空间不要求连续时，由它分配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不连续的内存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049905"/>
              <a:ext cx="5193982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29612" y="3049905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3"/>
          <p:cNvGrpSpPr/>
          <p:nvPr/>
        </p:nvGrpSpPr>
        <p:grpSpPr>
          <a:xfrm>
            <a:off x="6464618" y="5267325"/>
            <a:ext cx="5193982" cy="1063942"/>
            <a:chOff x="6464618" y="5267325"/>
            <a:chExt cx="5193982" cy="1063942"/>
          </a:xfrm>
        </p:grpSpPr>
        <p:sp>
          <p:nvSpPr>
            <p:cNvPr id="52" name="Rectangle 52"/>
            <p:cNvSpPr/>
            <p:nvPr/>
          </p:nvSpPr>
          <p:spPr>
            <a:xfrm>
              <a:off x="6464618" y="5267325"/>
              <a:ext cx="5193982" cy="1063942"/>
            </a:xfrm>
            <a:prstGeom prst="roundRect">
              <a:avLst>
                <a:gd name="adj" fmla="val 1074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698808"/>
              <a:ext cx="200026" cy="200026"/>
              <a:chOff x="6669405" y="569880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6988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765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58305" y="57988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5417820"/>
              <a:ext cx="4272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现在的 Linux 中，slab 分配器把整页切成小对象供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内核数据结构使用；vmalloc 分配物理上不连续的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62996" cy="909257"/>
            <a:chOff x="520446" y="342900"/>
            <a:chExt cx="96629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629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7.5.2 Windows Vista：32 位地址空间，用户和系统各占 2GB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27685" y="1524000"/>
            <a:ext cx="5415915" cy="2296001"/>
            <a:chOff x="527685" y="1524000"/>
            <a:chExt cx="5415915" cy="229600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38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地址范围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29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65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02042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80000000H～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FFFFFFFFH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4283" y="2108359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系统空间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2GB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54908" y="210835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操作系统驻留代码、直接映射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区、页交换区、非交换区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02042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00000000H～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7FFFFFFFH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2783681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用户空间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2GB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4908" y="289702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用户代码和数据，页交换区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5169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4232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685" y="3399949"/>
              <a:ext cx="50325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 进程地址空间：虚拟地址 32 位，寻址范围 4GB；低端 2GB 为用户空间，高端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2GB 为系统空间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3966210"/>
            <a:ext cx="5410200" cy="782955"/>
            <a:chOff x="533400" y="3966210"/>
            <a:chExt cx="5410200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396621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257675"/>
              <a:ext cx="200026" cy="200025"/>
              <a:chOff x="738188" y="4257675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2576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3021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44132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114800"/>
              <a:ext cx="4491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每个进程有自己的 2GB 用户空间；高端 2GB 系统空间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在所有进程中映射的是同一份操作系统。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4939665"/>
            <a:ext cx="5410200" cy="782955"/>
            <a:chOff x="533400" y="4939665"/>
            <a:chExt cx="5410200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49396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231130"/>
              <a:ext cx="200026" cy="200026"/>
              <a:chOff x="738188" y="523113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2311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2978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3311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088255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7.5 节目录写作“Windows 10 存储管理”，正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文讲的是 Windows Vista，本讲义按正文整理。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1701165"/>
            <a:chOff x="6248400" y="1524000"/>
            <a:chExt cx="5410200" cy="1701165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1733550"/>
              <a:ext cx="368522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74099" y="1769269"/>
              <a:ext cx="3730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虚拟存储管理器（Virtual Memory Manager，VMM）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21107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负责存储管理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2446020"/>
              <a:ext cx="3459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Win32 提供一组与存储管理相关的调用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2781300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核心中有 6 个专门负责存储管理的线程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415665"/>
            <a:ext cx="5410200" cy="2306955"/>
            <a:chOff x="6248400" y="3415665"/>
            <a:chExt cx="5410200" cy="2306955"/>
          </a:xfrm>
        </p:grpSpPr>
        <p:sp>
          <p:nvSpPr>
            <p:cNvPr id="49" name="Rectangle 49"/>
            <p:cNvSpPr/>
            <p:nvPr/>
          </p:nvSpPr>
          <p:spPr>
            <a:xfrm>
              <a:off x="6248400" y="3415665"/>
              <a:ext cx="5410200" cy="2306955"/>
            </a:xfrm>
            <a:prstGeom prst="roundRect">
              <a:avLst>
                <a:gd name="adj" fmla="val 5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549015"/>
              <a:ext cx="47625" cy="20402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6050" y="3625215"/>
              <a:ext cx="198310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41809" y="3660934"/>
              <a:ext cx="1891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2. 存储管理方式：虚拟页式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8430" y="4002405"/>
              <a:ext cx="3855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页面尺寸：4KB～64KB，随处理器而定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8430" y="433768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可交换页面：用户空间 2GB 以页为单位都可交换；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系统空间只有部分页面（如动态链接库）可交换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8430" y="495871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页表结构：二级页表，见下一页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4811" cy="909257"/>
            <a:chOff x="520446" y="342900"/>
            <a:chExt cx="79448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48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Vista 的二级页表：虚拟地址按 10、10、12 位拆开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ells-1"/>
          <p:cNvGrpSpPr/>
          <p:nvPr/>
        </p:nvGrpSpPr>
        <p:grpSpPr>
          <a:xfrm>
            <a:off x="527304" y="1524000"/>
            <a:ext cx="5416296" cy="419100"/>
            <a:chOff x="527304" y="1524000"/>
            <a:chExt cx="5416296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592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76350" y="1524000"/>
              <a:ext cx="1555432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01069" y="1659255"/>
              <a:ext cx="906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PDE 31～22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31782" y="1524000"/>
              <a:ext cx="155543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56501" y="1659255"/>
              <a:ext cx="906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PTE 21～12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8168" y="1524000"/>
              <a:ext cx="155543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66513" y="1659255"/>
              <a:ext cx="597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11～0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5780" y="2158365"/>
            <a:ext cx="5417820" cy="1737360"/>
            <a:chOff x="525780" y="2158365"/>
            <a:chExt cx="5417820" cy="173736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2158365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页目录 PD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44028" y="2158365"/>
              <a:ext cx="3872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每个进程一个，最多 2¹⁰ 个表项，每个表项指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向一个页表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760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2880360"/>
              <a:ext cx="732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页表 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4028" y="2880360"/>
              <a:ext cx="3872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2¹⁰ 个表项，每个表项存该页分配的页框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号或原型页表表项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823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360235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页内偏移 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4028" y="3602355"/>
              <a:ext cx="1521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位，页长 4KB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027170"/>
            <a:ext cx="5410200" cy="1916430"/>
            <a:chOff x="533400" y="4027170"/>
            <a:chExt cx="5410200" cy="1916430"/>
          </a:xfrm>
        </p:grpSpPr>
        <p:sp>
          <p:nvSpPr>
            <p:cNvPr id="24" name="Rectangle 24"/>
            <p:cNvSpPr/>
            <p:nvPr/>
          </p:nvSpPr>
          <p:spPr>
            <a:xfrm>
              <a:off x="533400" y="4027170"/>
              <a:ext cx="5410200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16052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23672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6160" y="42724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39202" y="4271962"/>
              <a:ext cx="24029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拆分虚拟地址 00403A10H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6958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632960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 0000000001 0000000011 101000010000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0311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4968240"/>
              <a:ext cx="2665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PDE = 1，PTE = 3，d = A10H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573" y="530018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查页目录第 1 项得页表，查该页表第 3 项得页框号 f，物理地址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f × 4KB + A10H。</a:t>
              </a:r>
            </a:p>
          </p:txBody>
        </p:sp>
      </p:grpSp>
      <p:grpSp>
        <p:nvGrpSpPr>
          <p:cNvPr id="49" name="c2-flow-1"/>
          <p:cNvGrpSpPr/>
          <p:nvPr/>
        </p:nvGrpSpPr>
        <p:grpSpPr>
          <a:xfrm>
            <a:off x="6627495" y="1787842"/>
            <a:ext cx="4652962" cy="3337560"/>
            <a:chOff x="6627495" y="1787842"/>
            <a:chExt cx="4652962" cy="3337560"/>
          </a:xfrm>
        </p:grpSpPr>
        <p:sp>
          <p:nvSpPr>
            <p:cNvPr id="35" name="Freeform 35"/>
            <p:cNvSpPr/>
            <p:nvPr/>
          </p:nvSpPr>
          <p:spPr>
            <a:xfrm>
              <a:off x="8953500" y="2225992"/>
              <a:ext cx="9525" cy="423862"/>
            </a:xfrm>
            <a:custGeom>
              <a:avLst/>
              <a:gdLst/>
              <a:ahLst/>
              <a:cxnLst/>
              <a:rect l="l" t="t" r="r" b="b"/>
              <a:pathLst>
                <a:path w="9525" h="423862">
                  <a:moveTo>
                    <a:pt x="0" y="0"/>
                  </a:moveTo>
                  <a:lnTo>
                    <a:pt x="0" y="423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01112" y="2649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953500" y="3192780"/>
              <a:ext cx="9525" cy="422910"/>
            </a:xfrm>
            <a:custGeom>
              <a:avLst/>
              <a:gdLst/>
              <a:ahLst/>
              <a:cxnLst/>
              <a:rect l="l" t="t" r="r" b="b"/>
              <a:pathLst>
                <a:path w="9525" h="422910">
                  <a:moveTo>
                    <a:pt x="0" y="0"/>
                  </a:moveTo>
                  <a:lnTo>
                    <a:pt x="0" y="4229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901112" y="36156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953500" y="4158615"/>
              <a:ext cx="9525" cy="423862"/>
            </a:xfrm>
            <a:custGeom>
              <a:avLst/>
              <a:gdLst/>
              <a:ahLst/>
              <a:cxnLst/>
              <a:rect l="l" t="t" r="r" b="b"/>
              <a:pathLst>
                <a:path w="9525" h="423862">
                  <a:moveTo>
                    <a:pt x="0" y="0"/>
                  </a:moveTo>
                  <a:lnTo>
                    <a:pt x="0" y="423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1112" y="45824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27495" y="1787842"/>
              <a:ext cx="465296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27495" y="275463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27495" y="3720465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27495" y="4687252"/>
              <a:ext cx="465296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99064" y="1917859"/>
              <a:ext cx="2108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CR3 寄存器给出页目录首址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99777" y="2884646"/>
              <a:ext cx="3107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页目录首址 + PDE，查页目录得页表首址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85014" y="3850481"/>
              <a:ext cx="2736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页表首址 + PTE，查页表得页框号 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45821" y="4817269"/>
              <a:ext cx="2815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 与 d 合并得物理地址（页长 4KB）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248400" y="5579745"/>
            <a:ext cx="5410200" cy="782955"/>
            <a:chOff x="6248400" y="5579745"/>
            <a:chExt cx="5410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6248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871210"/>
              <a:ext cx="200026" cy="200025"/>
              <a:chOff x="6453188" y="587121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92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7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130" y="572833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不用快表时，一次访存要先访问页目录、页表各一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次，共三次访问内存。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55481" cy="909257"/>
            <a:chOff x="520446" y="342900"/>
            <a:chExt cx="82554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554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Vista 的原型页表、内存优先级和虚拟页面的三种状态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680210"/>
            <a:chOff x="533400" y="1524000"/>
            <a:chExt cx="4977765" cy="16802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3308032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967" y="1750695"/>
              <a:ext cx="3308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3. 存储共享：原型页表（Prototype Page Table）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对于共享页，进程页表的表项不直接指向物理页框，而是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指向原型页表；原型页表的表项指向实际的物理页框号。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9376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共享页换出、换入时只改原型页表这一处，不用逐个修改各进程的页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79470"/>
            <a:ext cx="4977765" cy="1209675"/>
            <a:chOff x="533400" y="3379470"/>
            <a:chExt cx="4977765" cy="1209675"/>
          </a:xfrm>
        </p:grpSpPr>
        <p:sp>
          <p:nvSpPr>
            <p:cNvPr id="14" name="Rectangle 14"/>
            <p:cNvSpPr/>
            <p:nvPr/>
          </p:nvSpPr>
          <p:spPr>
            <a:xfrm>
              <a:off x="533400" y="337947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5805" y="357187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9244" y="36061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存储保护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92811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以页为保护单位：只读、读写、执行、不可操作、写时复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制。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64405"/>
            <a:ext cx="4977765" cy="1466850"/>
            <a:chOff x="533400" y="4764405"/>
            <a:chExt cx="4977765" cy="1466850"/>
          </a:xfrm>
        </p:grpSpPr>
        <p:sp>
          <p:nvSpPr>
            <p:cNvPr id="19" name="Rectangle 19"/>
            <p:cNvSpPr/>
            <p:nvPr/>
          </p:nvSpPr>
          <p:spPr>
            <a:xfrm>
              <a:off x="533400" y="4764405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89775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956810"/>
              <a:ext cx="107251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58" y="4991100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 内存优先级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313045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待机列表（standby list）按内存优先级 0～7 分成 8 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链，每条链挂着该优先级的空闲页框；某一优先级没有页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框时链为空（∧）。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5965" y="1524000"/>
            <a:ext cx="5842635" cy="2423160"/>
            <a:chOff x="5815965" y="1524000"/>
            <a:chExt cx="5842635" cy="2423160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60579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92089" y="1648301"/>
              <a:ext cx="93172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 虚拟页面状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6478" y="1748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50423" y="17483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15978" y="2354104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闲置 free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0900" y="23541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未分配的页面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06012" y="225409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导致缺页中断，按非法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访问处理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27308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5965" y="273558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5978" y="2959894"/>
              <a:ext cx="1057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 reserved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0900" y="2859881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只保留了一段虚拟地址，还没有分配存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储；通常用来预留存储区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06012" y="285988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不能直接使用，要先提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交为确认状态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3366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5978" y="3465671"/>
              <a:ext cx="77312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committed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0900" y="3465671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已分配存储（物理内存或页文件）并且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可访问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06012" y="3465671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正常访问；页不在内存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时缺页调入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2423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96125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01238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5815965" y="4122420"/>
            <a:ext cx="5842635" cy="2107882"/>
            <a:chOff x="5815965" y="4122420"/>
            <a:chExt cx="5842635" cy="2107882"/>
          </a:xfrm>
        </p:grpSpPr>
        <p:sp>
          <p:nvSpPr>
            <p:cNvPr id="45" name="Rectangle 45"/>
            <p:cNvSpPr/>
            <p:nvPr/>
          </p:nvSpPr>
          <p:spPr>
            <a:xfrm>
              <a:off x="5815965" y="4122420"/>
              <a:ext cx="5842635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255770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6470" y="43148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37910" y="4349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9612" y="4671060"/>
              <a:ext cx="508006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原课件说预定状态“已分配内存，但不可立即使用，只有显式地解除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预定状态才可使用”。预定只占住一段虚拟地址，不分配物理内存，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也不占页文件空间；要显式提交（commit）变成确认状态后才能访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2300" cy="909257"/>
            <a:chOff x="520446" y="342900"/>
            <a:chExt cx="84423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23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1：有效访问时间不超过 12ns，缺页率最大是多少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2745105"/>
            <a:chOff x="533400" y="1524000"/>
            <a:chExt cx="4760595" cy="2745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745105"/>
            </a:xfrm>
            <a:prstGeom prst="roundRect">
              <a:avLst>
                <a:gd name="adj" fmla="val 48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78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49090" cy="2007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某请求分页管理系统中，页表保存在寄存器中。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若有一个可用的空页或被置换的页未被修改，处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理一个缺页中断需要 8ms；若被置换的页已被修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改，因增加写回外存的时间需要 20ms。一次内存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存取时间为 1ns。假设 70% 被置换的页被修改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过，为保证有效访问时间不超过 12ns，可接受的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最大缺页率是多少？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459605"/>
            <a:ext cx="4760595" cy="1512570"/>
            <a:chOff x="533400" y="4459605"/>
            <a:chExt cx="4760595" cy="1512570"/>
          </a:xfrm>
        </p:grpSpPr>
        <p:sp>
          <p:nvSpPr>
            <p:cNvPr id="13" name="Rectangle 13"/>
            <p:cNvSpPr/>
            <p:nvPr/>
          </p:nvSpPr>
          <p:spPr>
            <a:xfrm>
              <a:off x="533400" y="4459605"/>
              <a:ext cx="4760595" cy="1512570"/>
            </a:xfrm>
            <a:prstGeom prst="roundRect">
              <a:avLst>
                <a:gd name="adj" fmla="val 755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115878"/>
              <a:ext cx="200026" cy="200026"/>
              <a:chOff x="738188" y="511587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115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182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2158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97300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页表在寄存器中，查页表不花访存时间；不缺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页时一次访问只要 1ns。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5598795" y="1524000"/>
            <a:ext cx="6059805" cy="2501265"/>
            <a:chOff x="5598795" y="1524000"/>
            <a:chExt cx="6059805" cy="2501265"/>
          </a:xfrm>
        </p:grpSpPr>
        <p:sp>
          <p:nvSpPr>
            <p:cNvPr id="20" name="Rectangle 20"/>
            <p:cNvSpPr/>
            <p:nvPr/>
          </p:nvSpPr>
          <p:spPr>
            <a:xfrm>
              <a:off x="5598795" y="1524000"/>
              <a:ext cx="6059805" cy="2501265"/>
            </a:xfrm>
            <a:prstGeom prst="roundRect">
              <a:avLst>
                <a:gd name="adj" fmla="val 533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0834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345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808345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7019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09335" y="211074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平均缺页处理时间 = 0.3 × 8ms + 0.7 × 20ms = 16.4ms =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1.64 × 10⁷ ns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08345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7019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09335" y="2731770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设缺页率为 p，有效访问时间：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8"/>
                <p:cNvSpPr txBox="1">
                  <a:spLocks noGrp="1"/>
                </p:cNvSpPr>
                <p:nvPr/>
              </p:nvSpPr>
              <p:spPr>
                <a:xfrm>
                  <a:off x="5808345" y="3042285"/>
                  <a:ext cx="564070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EAT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1.64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Ellipse 30"/>
            <p:cNvSpPr/>
            <p:nvPr/>
          </p:nvSpPr>
          <p:spPr>
            <a:xfrm>
              <a:off x="5808345" y="35680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0194" y="36103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09335" y="3581400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解得 p ≤ 11 ÷ (1.64 × 10⁷ − 1) ≈ 6.7 × 10⁻⁷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598795" y="4215765"/>
            <a:ext cx="6059805" cy="782955"/>
            <a:chOff x="5598795" y="4215765"/>
            <a:chExt cx="6059805" cy="782955"/>
          </a:xfrm>
        </p:grpSpPr>
        <p:sp>
          <p:nvSpPr>
            <p:cNvPr id="34" name="Rectangle 34"/>
            <p:cNvSpPr/>
            <p:nvPr/>
          </p:nvSpPr>
          <p:spPr>
            <a:xfrm>
              <a:off x="5598795" y="421576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803583" y="4507230"/>
              <a:ext cx="200026" cy="200026"/>
              <a:chOff x="5803583" y="450723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803583" y="45072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870258" y="45850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105525" y="4364355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最大可接受的缺页率约为 6.7 × 10⁻⁷，大约每 150 万次访问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才允许缺页一次。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5598795" y="5189220"/>
            <a:ext cx="6059805" cy="782955"/>
            <a:chOff x="5598795" y="5189220"/>
            <a:chExt cx="6059805" cy="782955"/>
          </a:xfrm>
        </p:grpSpPr>
        <p:sp>
          <p:nvSpPr>
            <p:cNvPr id="40" name="Rectangle 40"/>
            <p:cNvSpPr/>
            <p:nvPr/>
          </p:nvSpPr>
          <p:spPr>
            <a:xfrm>
              <a:off x="5598795" y="518922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791524" y="5476993"/>
              <a:ext cx="224134" cy="192560"/>
              <a:chOff x="5791524" y="547699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903595" y="55473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791524" y="54769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903595" y="5625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105525" y="5337810"/>
              <a:ext cx="5025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易错：8ms、20ms 要换成纳秒（× 10⁶）再和 1ns 放进同一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个式子。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53393" cy="909257"/>
            <a:chOff x="520446" y="342900"/>
            <a:chExt cx="81533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533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2：LRU 缺页 12 次，平均有效访问时间约 15ms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2238375"/>
            <a:chOff x="533400" y="1524000"/>
            <a:chExt cx="5193982" cy="22383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38375"/>
            </a:xfrm>
            <a:prstGeom prst="roundRect">
              <a:avLst>
                <a:gd name="adj" fmla="val 59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16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531424" cy="15499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LRU 的请求分页系统，页长 4KB，访存 100ns/次，访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问快表 20ns/次，缺页中断处理 25ms/次。进程 P 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30KB，分到 3 个存储块，页面都在运行中动态装入，快表命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中率 20%。访问序列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7,0,1,2,0,3,0,4,2,3,0,3,2,1,2,0,1,7,0,1，求 20 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访问的平均有效访问时间。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3947160"/>
            <a:ext cx="5015895" cy="1313022"/>
            <a:chOff x="533400" y="3947160"/>
            <a:chExt cx="5015895" cy="1313022"/>
          </a:xfrm>
        </p:grpSpPr>
        <p:sp>
          <p:nvSpPr>
            <p:cNvPr id="13" name="Rectangle 13"/>
            <p:cNvSpPr/>
            <p:nvPr/>
          </p:nvSpPr>
          <p:spPr>
            <a:xfrm>
              <a:off x="666750" y="4090035"/>
              <a:ext cx="19050" cy="7943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94716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0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7405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814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9785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数缺页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4245769"/>
              <a:ext cx="44137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序列只是把 LRU 例题中的 6 换成 7，缺页位置完全相同：共缺页 12 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（含开头 3 次装入）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47729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分情况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5040154"/>
              <a:ext cx="4602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快表命中 20% 即 4 次；缺页 12 次；其余 4 次快表未命中但页在内存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429250"/>
            <a:ext cx="5193982" cy="729615"/>
            <a:chOff x="533400" y="5429250"/>
            <a:chExt cx="5193982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42925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694045"/>
              <a:ext cx="200026" cy="200025"/>
              <a:chOff x="738188" y="569404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6940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7384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8496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574983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30KB ÷ 4KB 取整为 8 页（页号 0～7），只分到 3 块，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运行中必然要置换。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032182" y="1524000"/>
            <a:ext cx="5626418" cy="1623060"/>
            <a:chOff x="6032182" y="1524000"/>
            <a:chExt cx="5626418" cy="1623060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025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访问情况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883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3493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3219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快表命中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9762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6755" y="2054066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+ 100 = 120ns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2195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快表未命中，在内存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9762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6755" y="2459831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+ 100 + 100 = 220ns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2195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56162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6755" y="2865596"/>
              <a:ext cx="298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+ 100 + 25ms + 20 + 100 = 25 000 240ns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1524000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5905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22198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032182" y="3322320"/>
            <a:ext cx="5626418" cy="1254442"/>
            <a:chOff x="6032182" y="3322320"/>
            <a:chExt cx="5626418" cy="1254442"/>
          </a:xfrm>
        </p:grpSpPr>
        <p:sp>
          <p:nvSpPr>
            <p:cNvPr id="50" name="Rectangle 50"/>
            <p:cNvSpPr/>
            <p:nvPr/>
          </p:nvSpPr>
          <p:spPr>
            <a:xfrm>
              <a:off x="6032182" y="3322320"/>
              <a:ext cx="5626418" cy="1254442"/>
            </a:xfrm>
            <a:prstGeom prst="roundRect">
              <a:avLst>
                <a:gd name="adj" fmla="val 1063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24588" y="3514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16028" y="3549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17730" y="387096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总时间 = 4 × 120 + 4 × 220 + 12 × 25 000 240 = 300 004 240ns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17730" y="4173855"/>
              <a:ext cx="3966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 = 300 004 240 ÷ 20 = 15 000 212ns ≈ 15ms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032182" y="4752022"/>
            <a:ext cx="5626418" cy="1406842"/>
            <a:chOff x="6032182" y="4752022"/>
            <a:chExt cx="5626418" cy="1406842"/>
          </a:xfrm>
        </p:grpSpPr>
        <p:sp>
          <p:nvSpPr>
            <p:cNvPr id="56" name="Rectangle 56"/>
            <p:cNvSpPr/>
            <p:nvPr/>
          </p:nvSpPr>
          <p:spPr>
            <a:xfrm>
              <a:off x="6032182" y="4752022"/>
              <a:ext cx="5626418" cy="1406842"/>
            </a:xfrm>
            <a:prstGeom prst="roundRect">
              <a:avLst>
                <a:gd name="adj" fmla="val 81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236970" y="5354955"/>
              <a:ext cx="200026" cy="200026"/>
              <a:chOff x="6236970" y="5354955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236970" y="53549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336983" y="54216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325870" y="54549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539674" y="5112068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缺页一行：查快表、查页表发现不在内存，处理 25ms；重新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执行时快表已更新，再查快表、访存一次。纳秒级的几项算法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各书略有不同，结果都约为 15ms。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69464" cy="909257"/>
            <a:chOff x="520446" y="342900"/>
            <a:chExt cx="2569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 · 系统举例与计算题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缺页中断处理完后返回到哪里？和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普通中断有什么不同？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重新执行发生缺页的那条指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令；普通中断返回后执行下一条指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77796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访问序列 2 3 4 4 4 3 4 3 4 4，Δ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5，最后时刻的工作集是什么？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948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 5 次访问为 3 4 3 4 4，工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作集为 {3, 4}。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736056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访问序列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1,2,3,4,1,2,5,1,2,3,4,5，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LRU、3 个页框，缺页几次？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3017520"/>
              <a:ext cx="2758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次（给 4 个页框时降为 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次，不会出现 Belady 异常）。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2223135"/>
            <a:chOff x="4343400" y="393763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910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动态连接中，间接字 L = 0 时 D 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929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逻辑地址（段号|段内地址），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指令直接按它间接访问，不再发生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连接中断。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23135"/>
            <a:chOff x="8153400" y="1524000"/>
            <a:chExt cx="3505200" cy="222313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522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时钟算法中所有页的访问位都是 1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时，淘汰哪一页？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787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指针转一圈把访问位全部清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0，回到起点淘汰起点处的页，此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时结果与 FIFO 相同。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37635"/>
            <a:ext cx="3505200" cy="2223135"/>
            <a:chOff x="8153400" y="3937635"/>
            <a:chExt cx="3505200" cy="22231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524375"/>
              <a:ext cx="29122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伙伴堆申请 5 个页框，若只有块组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非空，怎样分配？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 &lt; 5 ≤ 2³，要分配 8 个页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框；从块组 4 取 16 页分出 8 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 8 页挂到块组 3。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虚拟存储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276022" cy="4501515"/>
            <a:chOff x="533400" y="1524000"/>
            <a:chExt cx="6276022" cy="4501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51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827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虚拟页式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2348" y="2108359"/>
              <a:ext cx="4402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部分装入，缺页中断调入；页表增加外存块号、内外标识、访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问权限、修改标志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置换算法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22348" y="2783681"/>
              <a:ext cx="39062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同一序列 OPT 9 次、LRU 12 次、FIFO 15 次；FIFO 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Belady 异常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2348" y="3459004"/>
              <a:ext cx="3963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1 清 0 后移，r = 0 替换；改进版先找 (0,0)，再找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(0,1) 并清 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47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99954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颠簸与工作集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22348" y="4134326"/>
              <a:ext cx="4483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页框过少引起颠簸；工作集应能全部放入内存；PFFB 按缺页率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增减页框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701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9239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段式与段页式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22348" y="4810601"/>
              <a:ext cx="44670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缺段中断要找连续区；动态连接靠间接字 L、D；共享段经共享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段表找页表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3454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535019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485924"/>
              <a:ext cx="65344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与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Vista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22348" y="5599271"/>
              <a:ext cx="4757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伙伴堆按 2ⁱ 分配、伙伴逐级合并；Vista 二级页表、原型页表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276022" cy="45015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09762" y="1524000"/>
              <a:ext cx="9525" cy="4501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3179445"/>
            <a:chOff x="7114222" y="1524000"/>
            <a:chExt cx="4544378" cy="3179445"/>
          </a:xfrm>
        </p:grpSpPr>
        <p:sp>
          <p:nvSpPr>
            <p:cNvPr id="33" name="Rectangle 33"/>
            <p:cNvSpPr/>
            <p:nvPr/>
          </p:nvSpPr>
          <p:spPr>
            <a:xfrm>
              <a:off x="7114222" y="1524000"/>
              <a:ext cx="4544378" cy="3179445"/>
            </a:xfrm>
            <a:prstGeom prst="roundRect">
              <a:avLst>
                <a:gd name="adj" fmla="val 4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1657350"/>
              <a:ext cx="47625" cy="2912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1872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1762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110740"/>
              <a:ext cx="3510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虚拟页式地址映射中快表表项应为 (p, f)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7 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时钟算法分步图中页 6 的访问位应为 0（第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页）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35280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伙伴条件应为最后一页编号 + 1 是 2b 的倍数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49 页）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Vista 预定状态只保留虚拟地址，不分配内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存（第 56 页）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7114222" y="4893945"/>
            <a:ext cx="4544378" cy="1131570"/>
            <a:chOff x="7114222" y="4893945"/>
            <a:chExt cx="4544378" cy="1131570"/>
          </a:xfrm>
        </p:grpSpPr>
        <p:sp>
          <p:nvSpPr>
            <p:cNvPr id="46" name="Rectangle 46"/>
            <p:cNvSpPr/>
            <p:nvPr/>
          </p:nvSpPr>
          <p:spPr>
            <a:xfrm>
              <a:off x="7114222" y="4893945"/>
              <a:ext cx="4544378" cy="1131570"/>
            </a:xfrm>
            <a:prstGeom prst="roundRect">
              <a:avLst>
                <a:gd name="adj" fmla="val 1010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19010" y="5359720"/>
              <a:ext cx="200023" cy="200023"/>
              <a:chOff x="7319010" y="535972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19010" y="53597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452360" y="5426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620952" y="507873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复习时重点手算：置换算法表格、时钟与改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进时钟的扫描过程、工作集、伙伴堆的分配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与合并、含缺页的有效访问时间。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第7章 虚拟存储管理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7">
  <a:themeElements>
    <a:clrScheme name="os_ch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2026-09-22T13:45:23Z</dcterms:created>
  <dcterms:modified xsi:type="dcterms:W3CDTF">2026-09-22T13:45:23Z</dcterms:modified>
  <cp:category/>
  <cp:contentStatus/>
</cp:coreProperties>
</file>