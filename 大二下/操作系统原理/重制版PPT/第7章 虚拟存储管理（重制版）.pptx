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os_ch7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os_ch7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700f4d42501242e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66ed1a395c8cfea8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415ab39948b2707.png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116830" cy="3437763"/>
            <a:chOff x="666750" y="1619250"/>
            <a:chExt cx="511683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操作系统原理 · 第七章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3430524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虚拟存储管理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只装入一部分，用到时再调入，内存不够就淘汰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外存管理与缺页中断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页面置换算法与工作集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虚拟段式、段页式与动态连接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9163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Linux 与 Windows 实例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13752" cy="205359"/>
            <a:chOff x="680466" y="6192202"/>
            <a:chExt cx="441375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13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自学复习版｜据吉林大学《操作系统原理》第七章课件整理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外存管理与虚拟存储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外存的划分与分配、进程与外存的对应、为什么需要虚拟存储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虚拟页式存储管理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地址映射、缺页中断处理、页表扩充、页框分配与调入时机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页面置换算法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51810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OPT、FIFO、LRU、NUR、LFU/MFU、二次机会、时钟算法、考研题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颠簸与工作集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颠簸的成因、工作集模型、窗口尺寸、页故障率反馈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虚拟段式与段页式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缺段中断、段的动态连接、共享段表与四种中断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系统举例与计算题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50098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Linux 伙伴堆、Windows Vista 虚拟页式、含缺页的有效访问时间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画出虚拟页式的地址映射和缺页中断处理流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25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OPT、FIFO、LRU、时钟、改进时钟算法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手算缺页次数和淘汰页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说出颠簸的原因，写出给定窗口尺寸下的工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作集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739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跟踪动态连接时间接字和段名-段号对照表的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手算伙伴堆的分配与合并，计算含缺页的有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效访问时间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246114" cy="2997517"/>
            <a:chOff x="667512" y="1835468"/>
            <a:chExt cx="624611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外存管理与虚拟存储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内存装不下的部分放在外存哪里，为什么只装入一部分就能运行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283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7.1 外存空间的划分与分配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进程与外存块的对应关系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8321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 没有虚拟存储时的两个问题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外存管理与虚拟存储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外存空间：按块划分，用三种方式记录空闲块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ells-1"/>
          <p:cNvGrpSpPr/>
          <p:nvPr/>
        </p:nvGrpSpPr>
        <p:grpSpPr>
          <a:xfrm>
            <a:off x="526923" y="1524000"/>
            <a:ext cx="4599431" cy="419100"/>
            <a:chOff x="526923" y="1524000"/>
            <a:chExt cx="4599431" cy="419100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6540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外存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991552" y="1524000"/>
              <a:ext cx="103346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82258" y="1654016"/>
              <a:ext cx="8530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Swap 空间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025968" y="1524000"/>
              <a:ext cx="10334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79942" y="1654016"/>
              <a:ext cx="7245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File 空间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059430" y="1524000"/>
              <a:ext cx="10334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10738" y="165401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092892" y="1524000"/>
              <a:ext cx="10334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344200" y="165401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输出井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2133600"/>
            <a:ext cx="4977765" cy="4073842"/>
            <a:chOff x="533400" y="2133600"/>
            <a:chExt cx="4977765" cy="4073842"/>
          </a:xfrm>
        </p:grpSpPr>
        <p:sp>
          <p:nvSpPr>
            <p:cNvPr id="17" name="Rectangle 17"/>
            <p:cNvSpPr/>
            <p:nvPr/>
          </p:nvSpPr>
          <p:spPr>
            <a:xfrm>
              <a:off x="533400" y="2133600"/>
              <a:ext cx="4977765" cy="4073842"/>
            </a:xfrm>
            <a:prstGeom prst="roundRect">
              <a:avLst>
                <a:gd name="adj" fmla="val 32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2266950"/>
              <a:ext cx="47625" cy="380714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81050" y="2343150"/>
              <a:ext cx="135445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5884" y="2378869"/>
              <a:ext cx="12247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7.1 外存空间划分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42185" y="2378392"/>
              <a:ext cx="11510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块（block）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3430" y="2739390"/>
              <a:ext cx="43971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外存空间静态划分为等长的块，块长为 2ⁱ 字节。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6765" y="31375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4880" y="307467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块是外存分配的基本单位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6765" y="34728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4880" y="3409950"/>
              <a:ext cx="25039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块也是 I/O 传输的基本单位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4573" y="3741896"/>
              <a:ext cx="43533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Swap 空间存放从内存换出的页面，File 空间存放文件，输入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井和输出井供 SPOOLing 使用。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5815965" y="1524000"/>
            <a:ext cx="5842635" cy="2248852"/>
            <a:chOff x="5815965" y="1524000"/>
            <a:chExt cx="5842635" cy="2248852"/>
          </a:xfrm>
        </p:grpSpPr>
        <p:sp>
          <p:nvSpPr>
            <p:cNvPr id="29" name="Rectangle 29"/>
            <p:cNvSpPr/>
            <p:nvPr/>
          </p:nvSpPr>
          <p:spPr>
            <a:xfrm>
              <a:off x="5815965" y="1524000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93587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外存空间分配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20797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42824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23788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空闲块链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25868" y="222170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空闲块用指针串成一条链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663303" y="2108359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分配回收要逐块读写链指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针，速度慢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15965" y="2643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15965" y="2647950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23788" y="27836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空闲块表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25868" y="278368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用表登记空闲块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663303" y="2783681"/>
              <a:ext cx="7672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采用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309276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23788" y="33456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字位映像图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25868" y="3232309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每块对应一位，记录空闲或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663303" y="334565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位图占空间小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1524000"/>
              <a:ext cx="5842635" cy="2248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213282" y="1524000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550718" y="1524000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c2-table-2"/>
          <p:cNvGrpSpPr/>
          <p:nvPr/>
        </p:nvGrpSpPr>
        <p:grpSpPr>
          <a:xfrm>
            <a:off x="5815965" y="3963352"/>
            <a:ext cx="5842635" cy="2244091"/>
            <a:chOff x="5815965" y="3963352"/>
            <a:chExt cx="5842635" cy="2244091"/>
          </a:xfrm>
        </p:grpSpPr>
        <p:sp>
          <p:nvSpPr>
            <p:cNvPr id="49" name="Rectangle 49"/>
            <p:cNvSpPr/>
            <p:nvPr/>
          </p:nvSpPr>
          <p:spPr>
            <a:xfrm>
              <a:off x="5815965" y="3963352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65901" y="40981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管理方式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84121" y="40981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进程与外存块的对应关系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923788" y="454771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界地址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325868" y="454771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每个进程占一组外存连续块；双对界时占两组连续块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815965" y="48558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15965" y="4860608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923788" y="499633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325868" y="499633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内存一页对应外存一块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15965" y="53044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923788" y="544496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325868" y="544496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每段占外存若干连续块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815965" y="57540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815965" y="575881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923788" y="58935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325868" y="589359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内存一页对应外存一块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815965" y="3963352"/>
              <a:ext cx="5842635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7213282" y="3963352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外存管理与虚拟存储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为什么要虚拟存储：进程只装一部分，缺的时候再调入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compare-1"/>
          <p:cNvGrpSpPr/>
          <p:nvPr/>
        </p:nvGrpSpPr>
        <p:grpSpPr>
          <a:xfrm>
            <a:off x="533400" y="1524000"/>
            <a:ext cx="5951220" cy="2560320"/>
            <a:chOff x="533400" y="1524000"/>
            <a:chExt cx="5951220" cy="25603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804160" cy="256032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没有虚拟存储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不能运行比内存大的程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654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367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进程全部装入内存，浪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费空间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680460" y="1524000"/>
              <a:ext cx="2804160" cy="256032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689985" y="1657350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920490" y="1758315"/>
              <a:ext cx="12364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 虚拟存储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3933825" y="217551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091940" y="211264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进程部分装入内存，部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分或全部放在外存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933825" y="279654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091940" y="273367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运行时访问到外存部分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就动态调入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933825" y="341757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091940" y="335470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内存不够时淘汰暂时不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用的部分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347085" y="264223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417425" y="273843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7" name="c1-card-2"/>
          <p:cNvGrpSpPr/>
          <p:nvPr/>
        </p:nvGrpSpPr>
        <p:grpSpPr>
          <a:xfrm>
            <a:off x="533400" y="4274820"/>
            <a:ext cx="5951220" cy="2016442"/>
            <a:chOff x="533400" y="4274820"/>
            <a:chExt cx="5951220" cy="2016442"/>
          </a:xfrm>
        </p:grpSpPr>
        <p:sp>
          <p:nvSpPr>
            <p:cNvPr id="26" name="Rectangle 26"/>
            <p:cNvSpPr/>
            <p:nvPr/>
          </p:nvSpPr>
          <p:spPr>
            <a:xfrm>
              <a:off x="533400" y="4274820"/>
              <a:ext cx="5951220" cy="2016442"/>
            </a:xfrm>
            <a:prstGeom prst="roundRect">
              <a:avLst>
                <a:gd name="adj" fmla="val 66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4408170"/>
              <a:ext cx="47625" cy="174974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81050" y="4484370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41705" y="452008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为什么能只装一部分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77440" y="451961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进程活动具有局部性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3430" y="488061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一段时间内，进程只集中访问程序和数据的一小部分。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86765" y="527875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4880" y="521589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单控制流的进程只需要较少部分在内存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86765" y="56140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44880" y="555117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多控制流（多线程）的进程需要较多部分在内存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4573" y="588311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全部装入会让大量暂时不用的页面白占内存。</a:t>
              </a:r>
            </a:p>
          </p:txBody>
        </p:sp>
      </p:grpSp>
      <p:grpSp>
        <p:nvGrpSpPr>
          <p:cNvPr id="40" name="c2-image-1"/>
          <p:cNvGrpSpPr/>
          <p:nvPr/>
        </p:nvGrpSpPr>
        <p:grpSpPr>
          <a:xfrm>
            <a:off x="6789420" y="1524000"/>
            <a:ext cx="4869180" cy="4863942"/>
            <a:chOff x="6789420" y="1524000"/>
            <a:chExt cx="4869180" cy="4863942"/>
          </a:xfrm>
        </p:grpSpPr>
        <p:pic>
          <p:nvPicPr>
            <p:cNvPr id="38" name="Image 38"/>
            <p:cNvPicPr>
              <a:picLocks noChangeAspect="1"/>
            </p:cNvPicPr>
            <p:nvPr/>
          </p:nvPicPr>
          <p:blipFill>
            <a:blip r:embed="rId2"/>
            <a:srcRect l="9862" t="0" r="9862" b="0"/>
            <a:stretch>
              <a:fillRect/>
            </a:stretch>
          </p:blipFill>
          <p:spPr>
            <a:xfrm>
              <a:off x="6789420" y="1524000"/>
              <a:ext cx="4869180" cy="4549140"/>
            </a:xfrm>
            <a:prstGeom prst="roundRect">
              <a:avLst>
                <a:gd name="adj" fmla="val 2931"/>
              </a:avLst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7409002" y="6167914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书桌只放正在读的几本，其余留在书架上，要用时再换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913632" cy="3351847"/>
            <a:chOff x="667512" y="1835468"/>
            <a:chExt cx="391363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虚拟页式存储管理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页式管理加上缺页中断和页面淘汰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地址映射：硬件完成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缺页中断处理：软件完成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页表、快表增加的字段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页框分配、外存块分配与调入时机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1080414" cy="909257"/>
            <a:chOff x="520446" y="342900"/>
            <a:chExt cx="110804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10804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7.2.1 地址映射：查快表、查页表由硬件完成，页不在内存就发缺页中断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087328" cy="308039"/>
            <a:chOff x="525399" y="1550194"/>
            <a:chExt cx="1008732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08732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逻辑地址 (p, d)：p 为逻辑页号，d 为页内地址。l 为页表长度寄存器，b 为页表首址寄存器，f 为页框号。</a:t>
              </a:r>
            </a:p>
          </p:txBody>
        </p:sp>
      </p:grpSp>
      <p:grpSp>
        <p:nvGrpSpPr>
          <p:cNvPr id="57" name="c1-flow-1"/>
          <p:cNvGrpSpPr/>
          <p:nvPr/>
        </p:nvGrpSpPr>
        <p:grpSpPr>
          <a:xfrm>
            <a:off x="689610" y="2086928"/>
            <a:ext cx="10813732" cy="2840354"/>
            <a:chOff x="689610" y="2086928"/>
            <a:chExt cx="10813732" cy="2840354"/>
          </a:xfrm>
        </p:grpSpPr>
        <p:sp>
          <p:nvSpPr>
            <p:cNvPr id="9" name="Freeform 9"/>
            <p:cNvSpPr/>
            <p:nvPr/>
          </p:nvSpPr>
          <p:spPr>
            <a:xfrm>
              <a:off x="2602230" y="2496502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09875" y="24441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827270" y="2496502"/>
              <a:ext cx="4657725" cy="9525"/>
            </a:xfrm>
            <a:custGeom>
              <a:avLst/>
              <a:gdLst/>
              <a:ahLst/>
              <a:cxnLst/>
              <a:rect l="l" t="t" r="r" b="b"/>
              <a:pathLst>
                <a:path w="4657725" h="9525">
                  <a:moveTo>
                    <a:pt x="0" y="0"/>
                  </a:moveTo>
                  <a:lnTo>
                    <a:pt x="46577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9484995" y="24441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870960" y="2906078"/>
              <a:ext cx="9525" cy="242888"/>
            </a:xfrm>
            <a:custGeom>
              <a:avLst/>
              <a:gdLst/>
              <a:ahLst/>
              <a:cxnLst/>
              <a:rect l="l" t="t" r="r" b="b"/>
              <a:pathLst>
                <a:path w="9525" h="242888">
                  <a:moveTo>
                    <a:pt x="0" y="0"/>
                  </a:moveTo>
                  <a:lnTo>
                    <a:pt x="0" y="2428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818572" y="31489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707005" y="355473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02230" y="35023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827270" y="355473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034915" y="35023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7052310" y="355473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259955" y="35023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9277350" y="355473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9484995" y="35023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10546080" y="2820352"/>
              <a:ext cx="9525" cy="419100"/>
            </a:xfrm>
            <a:custGeom>
              <a:avLst/>
              <a:gdLst/>
              <a:ahLst/>
              <a:cxnLst/>
              <a:rect l="l" t="t" r="r" b="b"/>
              <a:pathLst>
                <a:path w="9525" h="419100">
                  <a:moveTo>
                    <a:pt x="0" y="41910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0493692" y="27155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8321040" y="3854768"/>
              <a:ext cx="9525" cy="338138"/>
            </a:xfrm>
            <a:custGeom>
              <a:avLst/>
              <a:gdLst/>
              <a:ahLst/>
              <a:cxnLst/>
              <a:rect l="l" t="t" r="r" b="b"/>
              <a:pathLst>
                <a:path w="9525" h="338138">
                  <a:moveTo>
                    <a:pt x="0" y="0"/>
                  </a:moveTo>
                  <a:lnTo>
                    <a:pt x="0" y="3381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268652" y="41929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89610" y="2182178"/>
              <a:ext cx="1913572" cy="629602"/>
            </a:xfrm>
            <a:prstGeom prst="roundRect">
              <a:avLst>
                <a:gd name="adj" fmla="val 49924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2914650" y="2086928"/>
              <a:ext cx="1912620" cy="819150"/>
            </a:xfrm>
            <a:custGeom>
              <a:avLst/>
              <a:gdLst/>
              <a:ahLst/>
              <a:cxnLst/>
              <a:rect l="l" t="t" r="r" b="b"/>
              <a:pathLst>
                <a:path w="1912620" h="819150">
                  <a:moveTo>
                    <a:pt x="956310" y="0"/>
                  </a:moveTo>
                  <a:lnTo>
                    <a:pt x="1912620" y="409575"/>
                  </a:lnTo>
                  <a:lnTo>
                    <a:pt x="956310" y="819150"/>
                  </a:lnTo>
                  <a:lnTo>
                    <a:pt x="0" y="40957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9589770" y="2277428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89610" y="3335655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2914650" y="3253740"/>
              <a:ext cx="1912620" cy="601027"/>
            </a:xfrm>
            <a:custGeom>
              <a:avLst/>
              <a:gdLst/>
              <a:ahLst/>
              <a:cxnLst/>
              <a:rect l="l" t="t" r="r" b="b"/>
              <a:pathLst>
                <a:path w="1912620" h="601027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027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139690" y="3335655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364730" y="3253740"/>
              <a:ext cx="1912620" cy="601027"/>
            </a:xfrm>
            <a:custGeom>
              <a:avLst/>
              <a:gdLst/>
              <a:ahLst/>
              <a:cxnLst/>
              <a:rect l="l" t="t" r="r" b="b"/>
              <a:pathLst>
                <a:path w="1912620" h="601027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027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9589770" y="3239452"/>
              <a:ext cx="1913572" cy="629602"/>
            </a:xfrm>
            <a:prstGeom prst="roundRect">
              <a:avLst>
                <a:gd name="adj" fmla="val 1512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364730" y="4297680"/>
              <a:ext cx="1913572" cy="629602"/>
            </a:xfrm>
            <a:prstGeom prst="roundRect">
              <a:avLst>
                <a:gd name="adj" fmla="val 1210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9203" y="2297906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指令给出逻辑地址</a:t>
              </a:r>
              <a:br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(p, d)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283331" y="2297906"/>
              <a:ext cx="117525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p 查快表，查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到？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669419" y="2407444"/>
              <a:ext cx="17533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 与 d 合并得物理地址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94816" y="34656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364774" y="3465671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p ≤ l−1？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352882" y="3465671"/>
              <a:ext cx="14862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b、p 查页表得 f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97622" y="346567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该页在内存？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79635" y="3356134"/>
              <a:ext cx="153289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(p, f) 写入快表，快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表满则淘汰一项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01763" y="4414361"/>
              <a:ext cx="16385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缺页中断，转软件处理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（下一页）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027545" y="2280285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61835" y="230695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查到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899535" y="2987992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922776" y="301466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查不到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644140" y="333851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682430" y="336518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869180" y="333851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907471" y="336518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319260" y="333851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57550" y="336518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349615" y="398430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372856" y="40109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不在</a:t>
              </a:r>
            </a:p>
          </p:txBody>
        </p:sp>
      </p:grpSp>
      <p:grpSp>
        <p:nvGrpSpPr>
          <p:cNvPr id="63" name="c1-card-2"/>
          <p:cNvGrpSpPr/>
          <p:nvPr/>
        </p:nvGrpSpPr>
        <p:grpSpPr>
          <a:xfrm>
            <a:off x="533400" y="5332095"/>
            <a:ext cx="11129200" cy="1030605"/>
            <a:chOff x="533400" y="5332095"/>
            <a:chExt cx="11129200" cy="1030605"/>
          </a:xfrm>
        </p:grpSpPr>
        <p:sp>
          <p:nvSpPr>
            <p:cNvPr id="58" name="Rectangle 58"/>
            <p:cNvSpPr/>
            <p:nvPr/>
          </p:nvSpPr>
          <p:spPr>
            <a:xfrm>
              <a:off x="533400" y="5332095"/>
              <a:ext cx="11125200" cy="1030605"/>
            </a:xfrm>
            <a:prstGeom prst="roundRect">
              <a:avLst>
                <a:gd name="adj" fmla="val 129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542925" y="5465445"/>
              <a:ext cx="47625" cy="7639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81050" y="554164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71258" y="55773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73430" y="5918835"/>
              <a:ext cx="10889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原课件流程图把写入快表的表项写作 (f, p)。快表按逻辑页号查找页框号，表项应为 (p, f)，与第 9 页的快表格式一致。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缺页中断处理：有空闲页框就直接读入，没有就先淘汰一页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flow-1"/>
          <p:cNvGrpSpPr/>
          <p:nvPr/>
        </p:nvGrpSpPr>
        <p:grpSpPr>
          <a:xfrm>
            <a:off x="2771775" y="1625918"/>
            <a:ext cx="3890962" cy="4635817"/>
            <a:chOff x="2771775" y="1625918"/>
            <a:chExt cx="3890962" cy="4635817"/>
          </a:xfrm>
        </p:grpSpPr>
        <p:sp>
          <p:nvSpPr>
            <p:cNvPr id="7" name="Freeform 7"/>
            <p:cNvSpPr/>
            <p:nvPr/>
          </p:nvSpPr>
          <p:spPr>
            <a:xfrm>
              <a:off x="3670935" y="2228850"/>
              <a:ext cx="9525" cy="105727"/>
            </a:xfrm>
            <a:custGeom>
              <a:avLst/>
              <a:gdLst/>
              <a:ahLst/>
              <a:cxnLst/>
              <a:rect l="l" t="t" r="r" b="b"/>
              <a:pathLst>
                <a:path w="9525" h="105727">
                  <a:moveTo>
                    <a:pt x="0" y="0"/>
                  </a:moveTo>
                  <a:lnTo>
                    <a:pt x="0" y="10572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618548" y="23345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670935" y="3027998"/>
              <a:ext cx="9525" cy="1007745"/>
            </a:xfrm>
            <a:custGeom>
              <a:avLst/>
              <a:gdLst/>
              <a:ahLst/>
              <a:cxnLst/>
              <a:rect l="l" t="t" r="r" b="b"/>
              <a:pathLst>
                <a:path w="9525" h="1007745">
                  <a:moveTo>
                    <a:pt x="0" y="0"/>
                  </a:moveTo>
                  <a:lnTo>
                    <a:pt x="0" y="10077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618548" y="40357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571048" y="2733675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0" y="0"/>
                  </a:moveTo>
                  <a:lnTo>
                    <a:pt x="1876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758690" y="26812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5763578" y="2939415"/>
              <a:ext cx="9525" cy="201930"/>
            </a:xfrm>
            <a:custGeom>
              <a:avLst/>
              <a:gdLst/>
              <a:ahLst/>
              <a:cxnLst/>
              <a:rect l="l" t="t" r="r" b="b"/>
              <a:pathLst>
                <a:path w="9525" h="201930">
                  <a:moveTo>
                    <a:pt x="0" y="0"/>
                  </a:moveTo>
                  <a:lnTo>
                    <a:pt x="0" y="2019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711190" y="31413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763578" y="3833812"/>
              <a:ext cx="9525" cy="201930"/>
            </a:xfrm>
            <a:custGeom>
              <a:avLst/>
              <a:gdLst/>
              <a:ahLst/>
              <a:cxnLst/>
              <a:rect l="l" t="t" r="r" b="b"/>
              <a:pathLst>
                <a:path w="9525" h="201930">
                  <a:moveTo>
                    <a:pt x="0" y="0"/>
                  </a:moveTo>
                  <a:lnTo>
                    <a:pt x="0" y="2019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711190" y="40357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670935" y="3833812"/>
              <a:ext cx="2092643" cy="201930"/>
            </a:xfrm>
            <a:custGeom>
              <a:avLst/>
              <a:gdLst/>
              <a:ahLst/>
              <a:cxnLst/>
              <a:rect l="l" t="t" r="r" b="b"/>
              <a:pathLst>
                <a:path w="2092643" h="201930">
                  <a:moveTo>
                    <a:pt x="2092643" y="0"/>
                  </a:moveTo>
                  <a:lnTo>
                    <a:pt x="2092643" y="153353"/>
                  </a:lnTo>
                  <a:lnTo>
                    <a:pt x="0" y="153353"/>
                  </a:lnTo>
                  <a:lnTo>
                    <a:pt x="0" y="2019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618548" y="40357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675822" y="4346258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18764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571048" y="42938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3670935" y="4552950"/>
              <a:ext cx="9525" cy="289560"/>
            </a:xfrm>
            <a:custGeom>
              <a:avLst/>
              <a:gdLst/>
              <a:ahLst/>
              <a:cxnLst/>
              <a:rect l="l" t="t" r="r" b="b"/>
              <a:pathLst>
                <a:path w="9525" h="289560">
                  <a:moveTo>
                    <a:pt x="0" y="0"/>
                  </a:moveTo>
                  <a:lnTo>
                    <a:pt x="0" y="2895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618548" y="48425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3670935" y="5358765"/>
              <a:ext cx="9525" cy="194310"/>
            </a:xfrm>
            <a:custGeom>
              <a:avLst/>
              <a:gdLst/>
              <a:ahLst/>
              <a:cxnLst/>
              <a:rect l="l" t="t" r="r" b="b"/>
              <a:pathLst>
                <a:path w="9525" h="194310">
                  <a:moveTo>
                    <a:pt x="0" y="0"/>
                  </a:moveTo>
                  <a:lnTo>
                    <a:pt x="0" y="1943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3618548" y="55530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771775" y="1625918"/>
              <a:ext cx="1799272" cy="6038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771775" y="2439352"/>
              <a:ext cx="1799272" cy="588645"/>
            </a:xfrm>
            <a:custGeom>
              <a:avLst/>
              <a:gdLst/>
              <a:ahLst/>
              <a:cxnLst/>
              <a:rect l="l" t="t" r="r" b="b"/>
              <a:pathLst>
                <a:path w="1799272" h="588645">
                  <a:moveTo>
                    <a:pt x="899160" y="0"/>
                  </a:moveTo>
                  <a:lnTo>
                    <a:pt x="1799272" y="294322"/>
                  </a:lnTo>
                  <a:lnTo>
                    <a:pt x="899160" y="588645"/>
                  </a:lnTo>
                  <a:lnTo>
                    <a:pt x="0" y="29432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63465" y="2527935"/>
              <a:ext cx="179927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863465" y="3246120"/>
              <a:ext cx="1799272" cy="587692"/>
            </a:xfrm>
            <a:custGeom>
              <a:avLst/>
              <a:gdLst/>
              <a:ahLst/>
              <a:cxnLst/>
              <a:rect l="l" t="t" r="r" b="b"/>
              <a:pathLst>
                <a:path w="1799272" h="587692">
                  <a:moveTo>
                    <a:pt x="900112" y="0"/>
                  </a:moveTo>
                  <a:lnTo>
                    <a:pt x="1799272" y="294322"/>
                  </a:lnTo>
                  <a:lnTo>
                    <a:pt x="900112" y="587692"/>
                  </a:lnTo>
                  <a:lnTo>
                    <a:pt x="0" y="29432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863465" y="4140518"/>
              <a:ext cx="1799272" cy="411480"/>
            </a:xfrm>
            <a:prstGeom prst="roundRect">
              <a:avLst>
                <a:gd name="adj" fmla="val 23148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2771775" y="4140518"/>
              <a:ext cx="179927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771775" y="4947285"/>
              <a:ext cx="179927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771775" y="5657850"/>
              <a:ext cx="1799272" cy="6038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902839" y="1740218"/>
              <a:ext cx="15361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保存现场，由页表找到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该页在外存的位置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180207" y="264985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有空闲页框？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949762" y="264985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按淘汰算法选一页淘汰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272850" y="345662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该页修改过？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434394" y="42624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写回外存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80207" y="426243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读入所需页面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99435" y="506920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更新页表和快表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902839" y="5773102"/>
              <a:ext cx="15361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恢复现场，重新执行被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中断的指令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699510" y="3498532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723132" y="352377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607242" y="2527935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646816" y="255222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792152" y="3902392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815774" y="392668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607242" y="3781425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646816" y="3805714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59" name="c2-card-1"/>
          <p:cNvGrpSpPr/>
          <p:nvPr/>
        </p:nvGrpSpPr>
        <p:grpSpPr>
          <a:xfrm>
            <a:off x="7114222" y="1524000"/>
            <a:ext cx="4544378" cy="2068830"/>
            <a:chOff x="7114222" y="1524000"/>
            <a:chExt cx="4544378" cy="2068830"/>
          </a:xfrm>
        </p:grpSpPr>
        <p:sp>
          <p:nvSpPr>
            <p:cNvPr id="50" name="Rectangle 50"/>
            <p:cNvSpPr/>
            <p:nvPr/>
          </p:nvSpPr>
          <p:spPr>
            <a:xfrm>
              <a:off x="7114222" y="1524000"/>
              <a:ext cx="4544378" cy="2068830"/>
            </a:xfrm>
            <a:prstGeom prst="roundRect">
              <a:avLst>
                <a:gd name="adj" fmla="val 64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123748" y="1657350"/>
              <a:ext cx="47625" cy="180213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350442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433882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基本原理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358062" y="214312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514654" y="2082641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进程运行前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：全部装入外存，部分装入内存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358062" y="246030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514654" y="2400776"/>
              <a:ext cx="36212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进程运行时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：访问的页不在内存，发生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缺页中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断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，由中断处理程序调入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344347" y="2986088"/>
              <a:ext cx="38221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淘汰页面时还要修改页表和总页表。读盘期间进程阻塞，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CPU 切换给其他进程。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7114222" y="3772852"/>
            <a:ext cx="4544378" cy="1522095"/>
            <a:chOff x="7114222" y="3772852"/>
            <a:chExt cx="4544378" cy="1522095"/>
          </a:xfrm>
        </p:grpSpPr>
        <p:sp>
          <p:nvSpPr>
            <p:cNvPr id="60" name="Rectangle 60"/>
            <p:cNvSpPr/>
            <p:nvPr/>
          </p:nvSpPr>
          <p:spPr>
            <a:xfrm>
              <a:off x="7114222" y="3772852"/>
              <a:ext cx="4544378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123748" y="3906202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350442" y="3970972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417880" y="400526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和普通中断的区别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343204" y="4331494"/>
              <a:ext cx="38016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缺页中断发生在一条指令执行的过程中，处理完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重新执行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这条指令；普通中断处理完接着执行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下一条指令。</a:t>
              </a:r>
            </a:p>
          </p:txBody>
        </p:sp>
      </p:grpSp>
      <p:grpSp>
        <p:nvGrpSpPr>
          <p:cNvPr id="72" name="c2-callout-3"/>
          <p:cNvGrpSpPr/>
          <p:nvPr/>
        </p:nvGrpSpPr>
        <p:grpSpPr>
          <a:xfrm>
            <a:off x="7114222" y="5475922"/>
            <a:ext cx="4544378" cy="756285"/>
            <a:chOff x="7114222" y="5475922"/>
            <a:chExt cx="4544378" cy="756285"/>
          </a:xfrm>
        </p:grpSpPr>
        <p:sp>
          <p:nvSpPr>
            <p:cNvPr id="66" name="Rectangle 66"/>
            <p:cNvSpPr/>
            <p:nvPr/>
          </p:nvSpPr>
          <p:spPr>
            <a:xfrm>
              <a:off x="7114222" y="5475922"/>
              <a:ext cx="454437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19010" y="5754053"/>
              <a:ext cx="200026" cy="200025"/>
              <a:chOff x="7319010" y="5754053"/>
              <a:chExt cx="200026" cy="20002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19010" y="575405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358749" y="579850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7393464" y="590962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7621334" y="5623084"/>
              <a:ext cx="36212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淘汰页已修改时要先写盘再读盘，处理时间明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显变长，作业 1 就用到这两种时间。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页表和快表要增加外存地址、访问权限和修改标志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able-1"/>
          <p:cNvGrpSpPr/>
          <p:nvPr/>
        </p:nvGrpSpPr>
        <p:grpSpPr>
          <a:xfrm>
            <a:off x="527685" y="1524000"/>
            <a:ext cx="6281737" cy="2091214"/>
            <a:chOff x="527685" y="1524000"/>
            <a:chExt cx="6281737" cy="209121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0712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逻辑页号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6102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页框号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4260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外存块号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9130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内外标识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1239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访问权限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3349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修改标志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01995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7210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93984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88547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09639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30732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421255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01995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972104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92458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42080" y="2556986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56396" y="2556986"/>
              <a:ext cx="8142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{r, w, e}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84265" y="2556986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1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86607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01995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97210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3984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988547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109639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30732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1524000"/>
              <a:ext cx="6276022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577340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464118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351377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56247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75500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7685" y="339518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虚拟页式的页表（每个进程一张，按逻辑页号索引）</a:t>
              </a:r>
            </a:p>
          </p:txBody>
        </p:sp>
      </p:grpSp>
      <p:grpSp>
        <p:nvGrpSpPr>
          <p:cNvPr id="68" name="c1-table-2"/>
          <p:cNvGrpSpPr/>
          <p:nvPr/>
        </p:nvGrpSpPr>
        <p:grpSpPr>
          <a:xfrm>
            <a:off x="527685" y="3761422"/>
            <a:ext cx="6281737" cy="2091215"/>
            <a:chOff x="527685" y="3761422"/>
            <a:chExt cx="6281737" cy="2091215"/>
          </a:xfrm>
        </p:grpSpPr>
        <p:sp>
          <p:nvSpPr>
            <p:cNvPr id="43" name="Rectangle 43"/>
            <p:cNvSpPr/>
            <p:nvPr/>
          </p:nvSpPr>
          <p:spPr>
            <a:xfrm>
              <a:off x="533400" y="3761422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69061" y="38962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逻辑页号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47785" y="38962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页框号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025633" y="38962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访问权限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671553" y="38962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修改标志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263932" y="43457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758869" y="43457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322874" y="43457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968794" y="434578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465391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33400" y="4658678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263932" y="479440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2758869" y="47944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969631" y="4794409"/>
              <a:ext cx="8142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{r, w, e}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822328" y="4794409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1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510254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263932" y="524303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758869" y="52430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4322874" y="52430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968794" y="52430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33400" y="3761422"/>
              <a:ext cx="6276022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2102168" y="376142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3513772" y="376142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231130" y="3761422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27685" y="5632609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虚拟页式的快表（只存已在内存的页）</a:t>
              </a:r>
            </a:p>
          </p:txBody>
        </p:sp>
      </p:grpSp>
      <p:grpSp>
        <p:nvGrpSpPr>
          <p:cNvPr id="80" name="c2-kv-1"/>
          <p:cNvGrpSpPr/>
          <p:nvPr/>
        </p:nvGrpSpPr>
        <p:grpSpPr>
          <a:xfrm>
            <a:off x="7106602" y="1548765"/>
            <a:ext cx="4578668" cy="2177415"/>
            <a:chOff x="7106602" y="1548765"/>
            <a:chExt cx="4578668" cy="2177415"/>
          </a:xfrm>
        </p:grpSpPr>
        <p:sp>
          <p:nvSpPr>
            <p:cNvPr id="69" name="TextBox 69"/>
            <p:cNvSpPr txBox="1"/>
            <p:nvPr/>
          </p:nvSpPr>
          <p:spPr>
            <a:xfrm>
              <a:off x="7106602" y="1548765"/>
              <a:ext cx="1119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外存块号 b′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439150" y="154876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该页在外存的位置，缺页时据此读入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114222" y="186880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106602" y="19888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内外标识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439150" y="1988820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标明该页当前在内存还是只在外存，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不在内存就发缺页中断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114222" y="25908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106602" y="2710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访问权限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439150" y="2710815"/>
              <a:ext cx="29937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允许的操作：读 r、写 w、执行 e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7114222" y="303085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106602" y="315087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修改标志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439150" y="3150870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调入内存后是否被写过；修改过的页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淘汰时必须写回外存</a:t>
              </a:r>
            </a:p>
          </p:txBody>
        </p:sp>
      </p:grpSp>
      <p:grpSp>
        <p:nvGrpSpPr>
          <p:cNvPr id="87" name="c2-callout-2"/>
          <p:cNvGrpSpPr/>
          <p:nvPr/>
        </p:nvGrpSpPr>
        <p:grpSpPr>
          <a:xfrm>
            <a:off x="7114222" y="3857625"/>
            <a:ext cx="4544378" cy="782955"/>
            <a:chOff x="7114222" y="3857625"/>
            <a:chExt cx="4544378" cy="782955"/>
          </a:xfrm>
        </p:grpSpPr>
        <p:sp>
          <p:nvSpPr>
            <p:cNvPr id="81" name="Rectangle 81"/>
            <p:cNvSpPr/>
            <p:nvPr/>
          </p:nvSpPr>
          <p:spPr>
            <a:xfrm>
              <a:off x="7114222" y="3857625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319010" y="4149090"/>
              <a:ext cx="200026" cy="200026"/>
              <a:chOff x="7319010" y="4149090"/>
              <a:chExt cx="200026" cy="200026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7319010" y="414909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7419023" y="42157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7407910" y="424910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7620952" y="4006215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快表里的页都在内存中，所以快表不需要外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存块号和内外标识。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页框分配的静态策略：按什么比例给每个进程分页框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table-1"/>
          <p:cNvGrpSpPr/>
          <p:nvPr/>
        </p:nvGrpSpPr>
        <p:grpSpPr>
          <a:xfrm>
            <a:off x="533400" y="1524000"/>
            <a:ext cx="5626418" cy="2470786"/>
            <a:chOff x="533400" y="1524000"/>
            <a:chExt cx="5626418" cy="247078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3860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静态策略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5229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分配方法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221706"/>
              <a:ext cx="955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平均分配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553843" y="2108359"/>
              <a:ext cx="32072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 128 个页框、25 个进程时，每个进程分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个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64795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783681"/>
              <a:ext cx="14724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 按进程长度比例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53843" y="278368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进程越长分得越多，见右边公式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92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232309"/>
              <a:ext cx="16447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 按进程优先级比例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53843" y="323230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优先级越高分得越多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4139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546158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680936"/>
              <a:ext cx="14724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 按长度和优先级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553843" y="368093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两个因素按比例综合决定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626418" cy="24707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441258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rd-2"/>
          <p:cNvGrpSpPr/>
          <p:nvPr/>
        </p:nvGrpSpPr>
        <p:grpSpPr>
          <a:xfrm>
            <a:off x="533400" y="4185285"/>
            <a:ext cx="5626418" cy="1897380"/>
            <a:chOff x="533400" y="4185285"/>
            <a:chExt cx="5626418" cy="1897380"/>
          </a:xfrm>
        </p:grpSpPr>
        <p:sp>
          <p:nvSpPr>
            <p:cNvPr id="26" name="Rectangle 26"/>
            <p:cNvSpPr/>
            <p:nvPr/>
          </p:nvSpPr>
          <p:spPr>
            <a:xfrm>
              <a:off x="533400" y="4185285"/>
              <a:ext cx="5626418" cy="1897380"/>
            </a:xfrm>
            <a:prstGeom prst="roundRect">
              <a:avLst>
                <a:gd name="adj" fmla="val 70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4318635"/>
              <a:ext cx="47625" cy="163068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81050" y="439483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45655" y="443055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静态策略没有反映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1050" y="475869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2899" y="48009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2040" y="47720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程序的结构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81050" y="509397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42899" y="51362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2040" y="510730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程序在不同时刻的行为特性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4573" y="5439251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进程运行中需要的页框数是变化的。后面的工作集模型和页故障率反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馈模型按运行情况动态调整。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formula3"/>
              <p:cNvSpPr txBox="1">
                <a:spLocks noGrp="1"/>
              </p:cNvSpPr>
              <p:nvPr/>
            </p:nvSpPr>
            <p:spPr>
              <a:xfrm>
                <a:off x="6464618" y="1524000"/>
                <a:ext cx="5193982" cy="7086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m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/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47" name="c2-kv-2"/>
          <p:cNvGrpSpPr/>
          <p:nvPr/>
        </p:nvGrpSpPr>
        <p:grpSpPr>
          <a:xfrm>
            <a:off x="6456998" y="2447925"/>
            <a:ext cx="5201602" cy="1173480"/>
            <a:chOff x="6456998" y="2447925"/>
            <a:chExt cx="5201602" cy="1173480"/>
          </a:xfrm>
        </p:grpSpPr>
        <p:sp>
          <p:nvSpPr>
            <p:cNvPr id="39" name="TextBox 39"/>
            <p:cNvSpPr txBox="1"/>
            <p:nvPr/>
          </p:nvSpPr>
          <p:spPr>
            <a:xfrm>
              <a:off x="6456998" y="24479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sᵢ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934200" y="2447925"/>
              <a:ext cx="15701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pᵢ 的页面数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276796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56998" y="2887980"/>
              <a:ext cx="174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934200" y="288798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内存的页框总数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320802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56998" y="332803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aᵢ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34200" y="3328035"/>
              <a:ext cx="19739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分给进程 pᵢ 的页框数</a:t>
              </a:r>
            </a:p>
          </p:txBody>
        </p:sp>
      </p:grpSp>
      <p:grpSp>
        <p:nvGrpSpPr>
          <p:cNvPr id="60" name="c2-card-3"/>
          <p:cNvGrpSpPr/>
          <p:nvPr/>
        </p:nvGrpSpPr>
        <p:grpSpPr>
          <a:xfrm>
            <a:off x="6464618" y="3752850"/>
            <a:ext cx="5193982" cy="2329815"/>
            <a:chOff x="6464618" y="3752850"/>
            <a:chExt cx="5193982" cy="2329815"/>
          </a:xfrm>
        </p:grpSpPr>
        <p:sp>
          <p:nvSpPr>
            <p:cNvPr id="48" name="Rectangle 48"/>
            <p:cNvSpPr/>
            <p:nvPr/>
          </p:nvSpPr>
          <p:spPr>
            <a:xfrm>
              <a:off x="6464618" y="3752850"/>
              <a:ext cx="5193982" cy="2329815"/>
            </a:xfrm>
            <a:prstGeom prst="roundRect">
              <a:avLst>
                <a:gd name="adj" fmla="val 57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74142" y="3886200"/>
              <a:ext cx="47625" cy="20631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712268" y="396240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07378" y="39981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71373" y="399764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按进程长度比例分配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717983" y="44215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76098" y="4358640"/>
              <a:ext cx="4272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 m = 62 个页框，进程 p1 有 10 页，p2 有 127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页，S = 137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717983" y="50425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76098" y="4979670"/>
              <a:ext cx="28523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a1 = 10 / 137 × 62 ≈ 4.5，取 4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717983" y="53778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876098" y="5314950"/>
              <a:ext cx="31855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a2 = 127 / 137 × 62 ≈ 57.5，取 57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705791" y="5646896"/>
              <a:ext cx="39503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向下取整后共分出 61 个，剩下 1 个页框留作空闲。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外存块怎样分配，页面什么时候调入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626418" cy="2026920"/>
            <a:chOff x="533400" y="1524000"/>
            <a:chExt cx="5626418" cy="20269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6689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外存块分配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03733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外存中保存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4266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3057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335054"/>
              <a:ext cx="955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静态分配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23275" y="233505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进程的全部页面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341560" y="2108359"/>
              <a:ext cx="115087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速度快：未修改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的页淘汰时不必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写回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16996" y="23350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外存浪费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988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74645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123724"/>
              <a:ext cx="955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 动态分配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23275" y="3010376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只保存不在内存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的页面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41560" y="312372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节省外存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16996" y="3010376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速度慢：淘汰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时必须写回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1524000"/>
              <a:ext cx="5626418" cy="20269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1710690" y="1524000"/>
              <a:ext cx="9525" cy="20269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3228975" y="1524000"/>
              <a:ext cx="9525" cy="20269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804410" y="1524000"/>
              <a:ext cx="9525" cy="20269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llout-2"/>
          <p:cNvGrpSpPr/>
          <p:nvPr/>
        </p:nvGrpSpPr>
        <p:grpSpPr>
          <a:xfrm>
            <a:off x="533400" y="3741420"/>
            <a:ext cx="5626418" cy="782955"/>
            <a:chOff x="533400" y="3741420"/>
            <a:chExt cx="5626418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3741420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4032885"/>
              <a:ext cx="200026" cy="200026"/>
              <a:chOff x="738188" y="4032885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40328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38200" y="40995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27088" y="41328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3890010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静态分配时外存始终留着每一页的副本，页面调入后没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被修改，淘汰时直接丢弃内存中的这一份即可。</a:t>
              </a:r>
            </a:p>
          </p:txBody>
        </p:sp>
      </p:grpSp>
      <p:grpSp>
        <p:nvGrpSpPr>
          <p:cNvPr id="40" name="c1-callout-3"/>
          <p:cNvGrpSpPr/>
          <p:nvPr/>
        </p:nvGrpSpPr>
        <p:grpSpPr>
          <a:xfrm>
            <a:off x="533400" y="4714875"/>
            <a:ext cx="5626418" cy="782955"/>
            <a:chOff x="533400" y="4714875"/>
            <a:chExt cx="5626418" cy="782955"/>
          </a:xfrm>
        </p:grpSpPr>
        <p:sp>
          <p:nvSpPr>
            <p:cNvPr id="34" name="Rectangle 34"/>
            <p:cNvSpPr/>
            <p:nvPr/>
          </p:nvSpPr>
          <p:spPr>
            <a:xfrm>
              <a:off x="533400" y="4714875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26129" y="5002648"/>
              <a:ext cx="224134" cy="192560"/>
              <a:chOff x="726129" y="5002648"/>
              <a:chExt cx="224134" cy="19256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838200" y="507301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26129" y="500264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38200" y="51508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486346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动态分配下页面调入内存后外存不再保留它，所以淘汰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任何页都要写回。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464618" y="1524000"/>
            <a:ext cx="5193982" cy="1345882"/>
            <a:chOff x="6464618" y="1524000"/>
            <a:chExt cx="5193982" cy="1345882"/>
          </a:xfrm>
        </p:grpSpPr>
        <p:sp>
          <p:nvSpPr>
            <p:cNvPr id="41" name="Rectangle 41"/>
            <p:cNvSpPr/>
            <p:nvPr/>
          </p:nvSpPr>
          <p:spPr>
            <a:xfrm>
              <a:off x="6464618" y="1524000"/>
              <a:ext cx="5193982" cy="1345882"/>
            </a:xfrm>
            <a:prstGeom prst="roundRect">
              <a:avLst>
                <a:gd name="adj" fmla="val 99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74142" y="1657350"/>
              <a:ext cx="47625" cy="107918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712268" y="1733550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96431" y="1769269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1. 请调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21892" y="1768792"/>
              <a:ext cx="26792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请求调页（demand paging）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04648" y="2129790"/>
              <a:ext cx="41548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发生缺页中断时才调入（upon page fault）。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705791" y="246173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调入的一定是马上要用的页，不会白调。</a:t>
              </a:r>
            </a:p>
          </p:txBody>
        </p:sp>
      </p:grpSp>
      <p:grpSp>
        <p:nvGrpSpPr>
          <p:cNvPr id="56" name="c2-card-2"/>
          <p:cNvGrpSpPr/>
          <p:nvPr/>
        </p:nvGrpSpPr>
        <p:grpSpPr>
          <a:xfrm>
            <a:off x="6464618" y="3060382"/>
            <a:ext cx="5193982" cy="2436495"/>
            <a:chOff x="6464618" y="3060382"/>
            <a:chExt cx="5193982" cy="2436495"/>
          </a:xfrm>
        </p:grpSpPr>
        <p:sp>
          <p:nvSpPr>
            <p:cNvPr id="49" name="Rectangle 49"/>
            <p:cNvSpPr/>
            <p:nvPr/>
          </p:nvSpPr>
          <p:spPr>
            <a:xfrm>
              <a:off x="6464618" y="3060382"/>
              <a:ext cx="5193982" cy="2436495"/>
            </a:xfrm>
            <a:prstGeom prst="roundRect">
              <a:avLst>
                <a:gd name="adj" fmla="val 54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74142" y="3193732"/>
              <a:ext cx="47625" cy="216979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712268" y="3269932"/>
              <a:ext cx="7029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96431" y="3305651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 预调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21892" y="3305175"/>
              <a:ext cx="20214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预调页（prepaging）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704648" y="3666172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缺页之前，根据程序的顺序行为预计将要访问的页，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提前调入（before page fault）。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705791" y="428386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预计不一定准，所以预调必须辅以请调。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913376" cy="3351847"/>
            <a:chOff x="667512" y="1835468"/>
            <a:chExt cx="491337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页面置换算法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内存满了又发生缺页，淘汰哪一页能让缺页率最低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844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OPT、FIFO 与 Belady 异常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569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 与近似算法 NUR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二次机会与时钟算法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801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改进的时钟算法与 2010 考研题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置换算法一览：各自淘汰哪一页，依据和代价是什么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495854" cy="293370"/>
            <a:chOff x="525780" y="1548765"/>
            <a:chExt cx="949585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495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置换算法（replacement algorithm）用于页淘汰、段淘汰和快表淘汰，目标是页故障率（缺页率）最低。</a:t>
              </a:r>
            </a:p>
          </p:txBody>
        </p:sp>
      </p:grpSp>
      <p:grpSp>
        <p:nvGrpSpPr>
          <p:cNvPr id="61" name="c1-table-1"/>
          <p:cNvGrpSpPr/>
          <p:nvPr/>
        </p:nvGrpSpPr>
        <p:grpSpPr>
          <a:xfrm>
            <a:off x="533400" y="1954530"/>
            <a:ext cx="11125200" cy="4247197"/>
            <a:chOff x="533400" y="1954530"/>
            <a:chExt cx="11125200" cy="4247197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66838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461004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淘汰哪一页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65189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依据或实现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91306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问题与评价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5889" y="2506980"/>
              <a:ext cx="971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OPT 最佳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638044" y="250698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将来最长时间以后才用到的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308854" y="250698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需要预知以后的访问序列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646414" y="250698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缺页率最低，无法实现，只作比较基准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98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03208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3038475"/>
              <a:ext cx="13483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 FIFO 先进先出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38044" y="303847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最先调入的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08854" y="3038475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依据是先进入的可能已用完；用队列实现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6414" y="2931795"/>
              <a:ext cx="2602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整个运行中都要用的页也会被换出；有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Belady 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4366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569970"/>
              <a:ext cx="15818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 LRU 最近最少使用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38044" y="356997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最近一次访问距今最长的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308854" y="356997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用栈实现，栈底就是淘汰页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646414" y="3569970"/>
              <a:ext cx="26407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效果接近 OPT，每次访问都要维护栈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8604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86524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5889" y="3993832"/>
              <a:ext cx="12587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 NUR 最近不用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638044" y="399383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最近一段时间未用到的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08854" y="3993832"/>
              <a:ext cx="2225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访问标志：访问置 1，定时清 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646414" y="3993832"/>
              <a:ext cx="1637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 的近似，实现简单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285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889" y="4525328"/>
              <a:ext cx="15818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 LFU 最不经常使用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638044" y="452532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使用次数最少的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308854" y="4525328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计数器：调入清 0，访问加 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46414" y="4418648"/>
              <a:ext cx="2755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前期常用、后来不用的页难换出；刚调入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的页易被换出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9234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492823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5889" y="5055870"/>
              <a:ext cx="1456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 MFU 最频繁使用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638044" y="505587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使用次数最多的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308854" y="505587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依据是用得多的可能已经用完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46414" y="505587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贯穿全程都要用的页会被换出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34733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5889" y="5480685"/>
              <a:ext cx="8958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 二次机会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638044" y="5480685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装入最久且最近未被访问的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308854" y="5480685"/>
              <a:ext cx="2225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链表：r = 1 的清 0 后移到链尾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646414" y="5480685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摘链入链慢，要额外空间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57721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33400" y="5776912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5889" y="5905500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 时钟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638044" y="59055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与二次机会相同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308854" y="590550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页面排成环，指针循环扫描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646414" y="590550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直接用页表访问位，快且省空间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1954530"/>
              <a:ext cx="11125200" cy="42462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2530792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201602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539162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10608" cy="909257"/>
            <a:chOff x="520446" y="342900"/>
            <a:chExt cx="80106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106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OPT：淘汰将来最久才用到的页，同一序列缺页 9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583609" cy="512636"/>
            <a:chOff x="526542" y="1545907"/>
            <a:chExt cx="10583609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583609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访问序列 6,0,1,2,0,3,0,4,2,3,0,3,2,1,2,0,1,6,0,1，3 个页框，开始为空。橙色格是本次调入的页，“×6”表示缺页并淘汰 6。缺页率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45%。</a:t>
              </a:r>
            </a:p>
          </p:txBody>
        </p:sp>
      </p:grpSp>
      <p:grpSp>
        <p:nvGrpSpPr>
          <p:cNvPr id="134" name="c1-table-1"/>
          <p:cNvGrpSpPr/>
          <p:nvPr/>
        </p:nvGrpSpPr>
        <p:grpSpPr>
          <a:xfrm>
            <a:off x="533400" y="2177415"/>
            <a:ext cx="11125200" cy="2000250"/>
            <a:chOff x="533400" y="2177415"/>
            <a:chExt cx="11125200" cy="2000250"/>
          </a:xfrm>
        </p:grpSpPr>
        <p:sp>
          <p:nvSpPr>
            <p:cNvPr id="9" name="Rectangle 9"/>
            <p:cNvSpPr/>
            <p:nvPr/>
          </p:nvSpPr>
          <p:spPr>
            <a:xfrm>
              <a:off x="533400" y="2177415"/>
              <a:ext cx="11125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8416" y="22988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55761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50109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45409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40709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36009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30356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25656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20956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16256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11556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05904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01204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96504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91804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86151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81451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76751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72051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866399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361699" y="2298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4879" y="2698909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766888" y="258699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957835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52182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47482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251835" y="258699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442782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38082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32430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927730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423030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918330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13630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07977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03277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898577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93877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88225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383525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878825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10183178" y="258699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0374125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868472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363772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29727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44879" y="3098959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页框2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2262188" y="298704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452182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947482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442782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938082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432430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927730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232082" y="298704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423030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918330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413630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717030" y="298704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907977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403277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898577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393877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888225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383525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878825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374125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868472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363772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533400" y="33728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944879" y="3499009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页框3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2756535" y="338709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2947482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3442782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3938082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4242435" y="338709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4432430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4927730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5423030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5918330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413630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907977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403277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898577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8202930" y="3387090"/>
              <a:ext cx="476250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8393877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8888225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9383525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9878825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374125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0868472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11363772" y="34990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533400" y="37728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746611" y="3899059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 / 淘汰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957835" y="38990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2452182" y="38990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2947482" y="38990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3397173" y="389905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×6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4386820" y="389905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×1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5377420" y="389905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×0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6862368" y="389905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×4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8348268" y="389905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×3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10328515" y="389905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×2</a:t>
              </a:r>
            </a:p>
          </p:txBody>
        </p:sp>
        <p:sp>
          <p:nvSpPr>
            <p:cNvPr id="113" name="Rectangle 113"/>
            <p:cNvSpPr/>
            <p:nvPr/>
          </p:nvSpPr>
          <p:spPr>
            <a:xfrm>
              <a:off x="533400" y="2177415"/>
              <a:ext cx="11125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4" name="Rectangle 114"/>
            <p:cNvSpPr/>
            <p:nvPr/>
          </p:nvSpPr>
          <p:spPr>
            <a:xfrm>
              <a:off x="1752600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2247900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2742248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7" name="Rectangle 117"/>
            <p:cNvSpPr/>
            <p:nvPr/>
          </p:nvSpPr>
          <p:spPr>
            <a:xfrm>
              <a:off x="3237548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3732848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9" name="Rectangle 119"/>
            <p:cNvSpPr/>
            <p:nvPr/>
          </p:nvSpPr>
          <p:spPr>
            <a:xfrm>
              <a:off x="4228148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0" name="Rectangle 120"/>
            <p:cNvSpPr/>
            <p:nvPr/>
          </p:nvSpPr>
          <p:spPr>
            <a:xfrm>
              <a:off x="4722495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1" name="Rectangle 121"/>
            <p:cNvSpPr/>
            <p:nvPr/>
          </p:nvSpPr>
          <p:spPr>
            <a:xfrm>
              <a:off x="5217795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5713095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3" name="Rectangle 123"/>
            <p:cNvSpPr/>
            <p:nvPr/>
          </p:nvSpPr>
          <p:spPr>
            <a:xfrm>
              <a:off x="6208395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4" name="Rectangle 124"/>
            <p:cNvSpPr/>
            <p:nvPr/>
          </p:nvSpPr>
          <p:spPr>
            <a:xfrm>
              <a:off x="6702742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5" name="Rectangle 125"/>
            <p:cNvSpPr/>
            <p:nvPr/>
          </p:nvSpPr>
          <p:spPr>
            <a:xfrm>
              <a:off x="7198042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6" name="Rectangle 126"/>
            <p:cNvSpPr/>
            <p:nvPr/>
          </p:nvSpPr>
          <p:spPr>
            <a:xfrm>
              <a:off x="7693342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7" name="Rectangle 127"/>
            <p:cNvSpPr/>
            <p:nvPr/>
          </p:nvSpPr>
          <p:spPr>
            <a:xfrm>
              <a:off x="8188642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8" name="Rectangle 128"/>
            <p:cNvSpPr/>
            <p:nvPr/>
          </p:nvSpPr>
          <p:spPr>
            <a:xfrm>
              <a:off x="8682990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9" name="Rectangle 129"/>
            <p:cNvSpPr/>
            <p:nvPr/>
          </p:nvSpPr>
          <p:spPr>
            <a:xfrm>
              <a:off x="9178290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0" name="Rectangle 130"/>
            <p:cNvSpPr/>
            <p:nvPr/>
          </p:nvSpPr>
          <p:spPr>
            <a:xfrm>
              <a:off x="9673590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1" name="Rectangle 131"/>
            <p:cNvSpPr/>
            <p:nvPr/>
          </p:nvSpPr>
          <p:spPr>
            <a:xfrm>
              <a:off x="10168890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2" name="Rectangle 132"/>
            <p:cNvSpPr/>
            <p:nvPr/>
          </p:nvSpPr>
          <p:spPr>
            <a:xfrm>
              <a:off x="10663238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3" name="Rectangle 133"/>
            <p:cNvSpPr/>
            <p:nvPr/>
          </p:nvSpPr>
          <p:spPr>
            <a:xfrm>
              <a:off x="11158538" y="217741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60" name="c1-table-2"/>
          <p:cNvGrpSpPr/>
          <p:nvPr/>
        </p:nvGrpSpPr>
        <p:grpSpPr>
          <a:xfrm>
            <a:off x="528447" y="4347210"/>
            <a:ext cx="11130153" cy="1864709"/>
            <a:chOff x="528447" y="4347210"/>
            <a:chExt cx="11130153" cy="1864709"/>
          </a:xfrm>
        </p:grpSpPr>
        <p:sp>
          <p:nvSpPr>
            <p:cNvPr id="135" name="Rectangle 135"/>
            <p:cNvSpPr/>
            <p:nvPr/>
          </p:nvSpPr>
          <p:spPr>
            <a:xfrm>
              <a:off x="533400" y="4347210"/>
              <a:ext cx="11125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6" name="TextBox 136"/>
            <p:cNvSpPr txBox="1"/>
            <p:nvPr/>
          </p:nvSpPr>
          <p:spPr>
            <a:xfrm>
              <a:off x="1040384" y="44686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第几次访问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2932049" y="44686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内存中的页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6488265" y="446865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各页下一次被访问</a:t>
              </a:r>
            </a:p>
          </p:txBody>
        </p:sp>
        <p:sp>
          <p:nvSpPr>
            <p:cNvPr id="139" name="TextBox 139"/>
            <p:cNvSpPr txBox="1"/>
            <p:nvPr/>
          </p:nvSpPr>
          <p:spPr>
            <a:xfrm>
              <a:off x="10612476" y="44686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淘汰</a:t>
              </a:r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957458" y="4868704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次访问 2</a:t>
              </a:r>
            </a:p>
          </p:txBody>
        </p:sp>
        <p:sp>
          <p:nvSpPr>
            <p:cNvPr id="141" name="TextBox 141"/>
            <p:cNvSpPr txBox="1"/>
            <p:nvPr/>
          </p:nvSpPr>
          <p:spPr>
            <a:xfrm>
              <a:off x="3033822" y="4868704"/>
              <a:ext cx="56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6、0、1</a:t>
              </a:r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4412932" y="486870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在第 5 次，1 在第 14 次，6 在第 18 次</a:t>
              </a:r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10721787" y="486870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44" name="Rectangle 144"/>
            <p:cNvSpPr/>
            <p:nvPr/>
          </p:nvSpPr>
          <p:spPr>
            <a:xfrm>
              <a:off x="533400" y="514254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5" name="Rectangle 145"/>
            <p:cNvSpPr/>
            <p:nvPr/>
          </p:nvSpPr>
          <p:spPr>
            <a:xfrm>
              <a:off x="533400" y="514731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6" name="TextBox 146"/>
            <p:cNvSpPr txBox="1"/>
            <p:nvPr/>
          </p:nvSpPr>
          <p:spPr>
            <a:xfrm>
              <a:off x="957458" y="5268754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8 次访问 4</a:t>
              </a:r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3033822" y="5268754"/>
              <a:ext cx="56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2、0、3</a:t>
              </a:r>
            </a:p>
          </p:txBody>
        </p:sp>
        <p:sp>
          <p:nvSpPr>
            <p:cNvPr id="148" name="TextBox 148"/>
            <p:cNvSpPr txBox="1"/>
            <p:nvPr/>
          </p:nvSpPr>
          <p:spPr>
            <a:xfrm>
              <a:off x="4412932" y="526875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在第 9 次，3 在第 10 次，0 在第 11 次</a:t>
              </a:r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10721787" y="526875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0" name="Rectangle 150"/>
            <p:cNvSpPr/>
            <p:nvPr/>
          </p:nvSpPr>
          <p:spPr>
            <a:xfrm>
              <a:off x="533400" y="55425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1" name="TextBox 151"/>
            <p:cNvSpPr txBox="1"/>
            <p:nvPr/>
          </p:nvSpPr>
          <p:spPr>
            <a:xfrm>
              <a:off x="913922" y="5668804"/>
              <a:ext cx="101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18 次访问 6</a:t>
              </a:r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3033822" y="5668804"/>
              <a:ext cx="561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2、0、1</a:t>
              </a:r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4412932" y="5668804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在第 19 次，1 在第 20 次，2 以后不再访问</a:t>
              </a:r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0721787" y="566880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5" name="Rectangle 155"/>
            <p:cNvSpPr/>
            <p:nvPr/>
          </p:nvSpPr>
          <p:spPr>
            <a:xfrm>
              <a:off x="533400" y="4347210"/>
              <a:ext cx="11125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56" name="Rectangle 156"/>
            <p:cNvSpPr/>
            <p:nvPr/>
          </p:nvSpPr>
          <p:spPr>
            <a:xfrm>
              <a:off x="2308860" y="434721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7" name="Rectangle 157"/>
            <p:cNvSpPr/>
            <p:nvPr/>
          </p:nvSpPr>
          <p:spPr>
            <a:xfrm>
              <a:off x="4311015" y="434721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8" name="Rectangle 158"/>
            <p:cNvSpPr/>
            <p:nvPr/>
          </p:nvSpPr>
          <p:spPr>
            <a:xfrm>
              <a:off x="9873615" y="434721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9" name="TextBox 159"/>
            <p:cNvSpPr txBox="1"/>
            <p:nvPr/>
          </p:nvSpPr>
          <p:spPr>
            <a:xfrm>
              <a:off x="528447" y="6021229"/>
              <a:ext cx="47951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OPT 要预知整个访问序列，实际系统做不到，只用来衡量其他算法离最优有多远。</a:t>
              </a:r>
            </a:p>
          </p:txBody>
        </p:sp>
      </p:grpSp>
      <p:grpSp>
        <p:nvGrpSpPr>
          <p:cNvPr id="1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61" name="TextBox 16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93264" cy="909257"/>
            <a:chOff x="520446" y="342900"/>
            <a:chExt cx="72932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932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FIFO：淘汰最先调入的页，同一序列缺页 15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181023" cy="293370"/>
            <a:chOff x="525780" y="1548765"/>
            <a:chExt cx="818102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1810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同一访问序列、3 个页框。FIFO 按调入先后排成队列，缺页时淘汰队首（最早调入的页）。</a:t>
              </a:r>
            </a:p>
          </p:txBody>
        </p:sp>
      </p:grpSp>
      <p:grpSp>
        <p:nvGrpSpPr>
          <p:cNvPr id="146" name="c1-table-1"/>
          <p:cNvGrpSpPr/>
          <p:nvPr/>
        </p:nvGrpSpPr>
        <p:grpSpPr>
          <a:xfrm>
            <a:off x="533400" y="1954530"/>
            <a:ext cx="11125200" cy="2122170"/>
            <a:chOff x="533400" y="1954530"/>
            <a:chExt cx="11125200" cy="212217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77265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52271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46618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41918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37218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32518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26866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22166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17466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12766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08066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02413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97713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93013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88313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82661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77961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73261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68561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862908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358208" y="20831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30619" y="2506980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766888" y="2388870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954492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48839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44139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251835" y="2388870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439439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34739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29087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924387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232082" y="2388870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419687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914987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10287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717030" y="2388870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04634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99934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95234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390534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84882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380182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875482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0183178" y="2388870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370782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865129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60429" y="25069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2798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30619" y="2931795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页框2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262188" y="281273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2448839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944139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439439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934739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4242435" y="281273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4429087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924387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419687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5727382" y="281273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914987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410287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904634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399934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895234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8202930" y="281273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8390534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884882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380182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875482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370782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10677525" y="281273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10865129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360429" y="293179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533400" y="322326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930619" y="3356610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页框3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2756535" y="323754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2944139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3439439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934739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429087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4736782" y="323754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4924387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5419687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5914987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6222682" y="323754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410287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6904634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7399934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7895234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390534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8697278" y="323754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8884882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9380182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9875482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0370782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10865129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11172825" y="323754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11360429" y="3356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533400" y="36471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718189" y="3780472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 / 淘汰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954492" y="378047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2448839" y="378047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944139" y="378047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3390572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×6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4380220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×0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4875520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×1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5370820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×2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5866120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×3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6361420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×0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6855767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×4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8341667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×2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8836015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×3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10321915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×0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10816262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×1</a:t>
              </a:r>
            </a:p>
          </p:txBody>
        </p:sp>
        <p:sp>
          <p:nvSpPr>
            <p:cNvPr id="124" name="TextBox 124"/>
            <p:cNvSpPr txBox="1"/>
            <p:nvPr/>
          </p:nvSpPr>
          <p:spPr>
            <a:xfrm>
              <a:off x="11311562" y="37804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×2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533400" y="1954530"/>
              <a:ext cx="11125200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26" name="Rectangle 126"/>
            <p:cNvSpPr/>
            <p:nvPr/>
          </p:nvSpPr>
          <p:spPr>
            <a:xfrm>
              <a:off x="1752600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7" name="Rectangle 127"/>
            <p:cNvSpPr/>
            <p:nvPr/>
          </p:nvSpPr>
          <p:spPr>
            <a:xfrm>
              <a:off x="2247900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8" name="Rectangle 128"/>
            <p:cNvSpPr/>
            <p:nvPr/>
          </p:nvSpPr>
          <p:spPr>
            <a:xfrm>
              <a:off x="274224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9" name="Rectangle 129"/>
            <p:cNvSpPr/>
            <p:nvPr/>
          </p:nvSpPr>
          <p:spPr>
            <a:xfrm>
              <a:off x="323754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0" name="Rectangle 130"/>
            <p:cNvSpPr/>
            <p:nvPr/>
          </p:nvSpPr>
          <p:spPr>
            <a:xfrm>
              <a:off x="373284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1" name="Rectangle 131"/>
            <p:cNvSpPr/>
            <p:nvPr/>
          </p:nvSpPr>
          <p:spPr>
            <a:xfrm>
              <a:off x="422814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2" name="Rectangle 132"/>
            <p:cNvSpPr/>
            <p:nvPr/>
          </p:nvSpPr>
          <p:spPr>
            <a:xfrm>
              <a:off x="4722495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3" name="Rectangle 133"/>
            <p:cNvSpPr/>
            <p:nvPr/>
          </p:nvSpPr>
          <p:spPr>
            <a:xfrm>
              <a:off x="5217795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4" name="Rectangle 134"/>
            <p:cNvSpPr/>
            <p:nvPr/>
          </p:nvSpPr>
          <p:spPr>
            <a:xfrm>
              <a:off x="5713095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5" name="Rectangle 135"/>
            <p:cNvSpPr/>
            <p:nvPr/>
          </p:nvSpPr>
          <p:spPr>
            <a:xfrm>
              <a:off x="6208395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6" name="Rectangle 136"/>
            <p:cNvSpPr/>
            <p:nvPr/>
          </p:nvSpPr>
          <p:spPr>
            <a:xfrm>
              <a:off x="6702742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7" name="Rectangle 137"/>
            <p:cNvSpPr/>
            <p:nvPr/>
          </p:nvSpPr>
          <p:spPr>
            <a:xfrm>
              <a:off x="7198042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8" name="Rectangle 138"/>
            <p:cNvSpPr/>
            <p:nvPr/>
          </p:nvSpPr>
          <p:spPr>
            <a:xfrm>
              <a:off x="7693342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9" name="Rectangle 139"/>
            <p:cNvSpPr/>
            <p:nvPr/>
          </p:nvSpPr>
          <p:spPr>
            <a:xfrm>
              <a:off x="8188642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0" name="Rectangle 140"/>
            <p:cNvSpPr/>
            <p:nvPr/>
          </p:nvSpPr>
          <p:spPr>
            <a:xfrm>
              <a:off x="8682990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1" name="Rectangle 141"/>
            <p:cNvSpPr/>
            <p:nvPr/>
          </p:nvSpPr>
          <p:spPr>
            <a:xfrm>
              <a:off x="9178290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2" name="Rectangle 142"/>
            <p:cNvSpPr/>
            <p:nvPr/>
          </p:nvSpPr>
          <p:spPr>
            <a:xfrm>
              <a:off x="9673590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3" name="Rectangle 143"/>
            <p:cNvSpPr/>
            <p:nvPr/>
          </p:nvSpPr>
          <p:spPr>
            <a:xfrm>
              <a:off x="10168890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4" name="Rectangle 144"/>
            <p:cNvSpPr/>
            <p:nvPr/>
          </p:nvSpPr>
          <p:spPr>
            <a:xfrm>
              <a:off x="1066323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5" name="Rectangle 145"/>
            <p:cNvSpPr/>
            <p:nvPr/>
          </p:nvSpPr>
          <p:spPr>
            <a:xfrm>
              <a:off x="1115853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67" name="c1-compare-2"/>
          <p:cNvGrpSpPr/>
          <p:nvPr/>
        </p:nvGrpSpPr>
        <p:grpSpPr>
          <a:xfrm>
            <a:off x="533400" y="4256722"/>
            <a:ext cx="11125200" cy="1884998"/>
            <a:chOff x="533400" y="4256722"/>
            <a:chExt cx="11125200" cy="1884998"/>
          </a:xfrm>
        </p:grpSpPr>
        <p:sp>
          <p:nvSpPr>
            <p:cNvPr id="147" name="Rectangle 147"/>
            <p:cNvSpPr/>
            <p:nvPr/>
          </p:nvSpPr>
          <p:spPr>
            <a:xfrm>
              <a:off x="533400" y="4256722"/>
              <a:ext cx="5391150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8" name="Rectangle 148"/>
            <p:cNvSpPr/>
            <p:nvPr/>
          </p:nvSpPr>
          <p:spPr>
            <a:xfrm>
              <a:off x="542925" y="4390072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49" name="TextBox 149"/>
            <p:cNvSpPr txBox="1"/>
            <p:nvPr/>
          </p:nvSpPr>
          <p:spPr>
            <a:xfrm>
              <a:off x="762381" y="4478179"/>
              <a:ext cx="17745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跟踪队列（旧 → 新）</a:t>
              </a:r>
            </a:p>
          </p:txBody>
        </p:sp>
        <p:sp>
          <p:nvSpPr>
            <p:cNvPr id="150" name="Ellipse 150"/>
            <p:cNvSpPr/>
            <p:nvPr/>
          </p:nvSpPr>
          <p:spPr>
            <a:xfrm>
              <a:off x="777240" y="487394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1" name="TextBox 151"/>
            <p:cNvSpPr txBox="1"/>
            <p:nvPr/>
          </p:nvSpPr>
          <p:spPr>
            <a:xfrm>
              <a:off x="933831" y="4814411"/>
              <a:ext cx="3799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6 次访问 3：队列为 0、1、2，淘汰队首 0</a:t>
              </a:r>
            </a:p>
          </p:txBody>
        </p:sp>
        <p:sp>
          <p:nvSpPr>
            <p:cNvPr id="152" name="Ellipse 152"/>
            <p:cNvSpPr/>
            <p:nvPr/>
          </p:nvSpPr>
          <p:spPr>
            <a:xfrm>
              <a:off x="777240" y="5192077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3" name="TextBox 153"/>
            <p:cNvSpPr txBox="1"/>
            <p:nvPr/>
          </p:nvSpPr>
          <p:spPr>
            <a:xfrm>
              <a:off x="933831" y="5131594"/>
              <a:ext cx="444182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7 次访问 0：刚淘汰的 0 马上又要用，队列为 1、2、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3，淘汰 1</a:t>
              </a:r>
            </a:p>
          </p:txBody>
        </p:sp>
        <p:sp>
          <p:nvSpPr>
            <p:cNvPr id="154" name="Ellipse 154"/>
            <p:cNvSpPr/>
            <p:nvPr/>
          </p:nvSpPr>
          <p:spPr>
            <a:xfrm>
              <a:off x="777240" y="578072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5" name="TextBox 155"/>
            <p:cNvSpPr txBox="1"/>
            <p:nvPr/>
          </p:nvSpPr>
          <p:spPr>
            <a:xfrm>
              <a:off x="933831" y="5721191"/>
              <a:ext cx="32259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8 次访问 4：队列 2、3、0，淘汰 2</a:t>
              </a:r>
            </a:p>
          </p:txBody>
        </p:sp>
        <p:sp>
          <p:nvSpPr>
            <p:cNvPr id="156" name="Rectangle 156"/>
            <p:cNvSpPr/>
            <p:nvPr/>
          </p:nvSpPr>
          <p:spPr>
            <a:xfrm>
              <a:off x="6267450" y="4256722"/>
              <a:ext cx="5391150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7" name="Rectangle 157"/>
            <p:cNvSpPr/>
            <p:nvPr/>
          </p:nvSpPr>
          <p:spPr>
            <a:xfrm>
              <a:off x="6276975" y="4390072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58" name="TextBox 158"/>
            <p:cNvSpPr txBox="1"/>
            <p:nvPr/>
          </p:nvSpPr>
          <p:spPr>
            <a:xfrm>
              <a:off x="6496431" y="44781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59" name="Ellipse 159"/>
            <p:cNvSpPr/>
            <p:nvPr/>
          </p:nvSpPr>
          <p:spPr>
            <a:xfrm>
              <a:off x="6511290" y="487394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0" name="TextBox 160"/>
            <p:cNvSpPr txBox="1"/>
            <p:nvPr/>
          </p:nvSpPr>
          <p:spPr>
            <a:xfrm>
              <a:off x="6667881" y="4814411"/>
              <a:ext cx="27098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依据是“先进入的可能已经用完”</a:t>
              </a:r>
            </a:p>
          </p:txBody>
        </p:sp>
        <p:sp>
          <p:nvSpPr>
            <p:cNvPr id="161" name="Ellipse 161"/>
            <p:cNvSpPr/>
            <p:nvPr/>
          </p:nvSpPr>
          <p:spPr>
            <a:xfrm>
              <a:off x="6511290" y="5192077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2" name="TextBox 162"/>
            <p:cNvSpPr txBox="1"/>
            <p:nvPr/>
          </p:nvSpPr>
          <p:spPr>
            <a:xfrm>
              <a:off x="6667881" y="5131594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有些代码和数据在整个运行中都要用，照样按调入先后被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换出</a:t>
              </a:r>
            </a:p>
          </p:txBody>
        </p:sp>
        <p:sp>
          <p:nvSpPr>
            <p:cNvPr id="163" name="Ellipse 163"/>
            <p:cNvSpPr/>
            <p:nvPr/>
          </p:nvSpPr>
          <p:spPr>
            <a:xfrm>
              <a:off x="6511290" y="578072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4" name="TextBox 164"/>
            <p:cNvSpPr txBox="1"/>
            <p:nvPr/>
          </p:nvSpPr>
          <p:spPr>
            <a:xfrm>
              <a:off x="6667881" y="5721191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增加页框数，缺页次数不一定减少（下一页）</a:t>
              </a:r>
            </a:p>
          </p:txBody>
        </p:sp>
        <p:sp>
          <p:nvSpPr>
            <p:cNvPr id="165" name="Ellipse 165"/>
            <p:cNvSpPr/>
            <p:nvPr/>
          </p:nvSpPr>
          <p:spPr>
            <a:xfrm>
              <a:off x="5934075" y="503777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6" name="TextBox 166"/>
            <p:cNvSpPr txBox="1"/>
            <p:nvPr/>
          </p:nvSpPr>
          <p:spPr>
            <a:xfrm>
              <a:off x="6019991" y="51339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</a:t>
              </a:r>
            </a:p>
          </p:txBody>
        </p:sp>
      </p:grpSp>
      <p:grpSp>
        <p:nvGrpSpPr>
          <p:cNvPr id="1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68" name="TextBox 16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69" name="TextBox 1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70363" cy="909257"/>
            <a:chOff x="520446" y="342900"/>
            <a:chExt cx="76703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703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Belady 异常：FIFO 多给一个页框，缺页反而更多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706296" cy="308039"/>
            <a:chOff x="525399" y="1550194"/>
            <a:chExt cx="770629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7062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访问序列 1,2,3,4,1,2,5,1,2,3,4,5，分别给 3 个和 4 个页框，用 FIFO 置换。</a:t>
              </a:r>
            </a:p>
          </p:txBody>
        </p:sp>
      </p:grpSp>
      <p:grpSp>
        <p:nvGrpSpPr>
          <p:cNvPr id="95" name="c1-table-1"/>
          <p:cNvGrpSpPr/>
          <p:nvPr/>
        </p:nvGrpSpPr>
        <p:grpSpPr>
          <a:xfrm>
            <a:off x="527685" y="1967865"/>
            <a:ext cx="5415915" cy="2539842"/>
            <a:chOff x="527685" y="1967865"/>
            <a:chExt cx="5415915" cy="253984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8704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3253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10680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89775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6791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47012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42610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04250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83345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6148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940582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1967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697820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7289" y="255127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408748" y="2426018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3490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13049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92144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545080" y="2426018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67028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4938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42847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680460" y="2426018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806619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185714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6385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4295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32204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700189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28603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37289" y="300085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页框2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786890" y="2874645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913049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292144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67028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2923222" y="2874645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04938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42847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806619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185714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56385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816792" y="2874645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94295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32204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700189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33089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37289" y="3449479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页框3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2165985" y="3323272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2292144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67028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049382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302318" y="3323272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42847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806619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4185714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456385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942952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195888" y="3323272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32204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700189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533400" y="37576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87044" y="38981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53490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913049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2292144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267028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3049382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342847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3806619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942952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32204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533400" y="1967865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1394460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1772602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2151698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2530792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2908935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3288030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3666172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4045268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4424362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4802505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5181600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5559742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527685" y="4287679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 个页框：缺页 9 次，页故障率 9/12</a:t>
              </a:r>
            </a:p>
          </p:txBody>
        </p:sp>
      </p:grpSp>
      <p:grpSp>
        <p:nvGrpSpPr>
          <p:cNvPr id="195" name="c2-table-1"/>
          <p:cNvGrpSpPr/>
          <p:nvPr/>
        </p:nvGrpSpPr>
        <p:grpSpPr>
          <a:xfrm>
            <a:off x="6242685" y="1967865"/>
            <a:ext cx="5415915" cy="2988469"/>
            <a:chOff x="6242685" y="1967865"/>
            <a:chExt cx="5415915" cy="2988469"/>
          </a:xfrm>
        </p:grpSpPr>
        <p:sp>
          <p:nvSpPr>
            <p:cNvPr id="96" name="Rectangle 96"/>
            <p:cNvSpPr/>
            <p:nvPr/>
          </p:nvSpPr>
          <p:spPr>
            <a:xfrm>
              <a:off x="6248400" y="1967865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650204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724753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625680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8004775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838291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8762012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914110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9519250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9898345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027648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0655582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1034677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11412820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6452289" y="255127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页框1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7123748" y="2426018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2" name="TextBox 112"/>
            <p:cNvSpPr txBox="1"/>
            <p:nvPr/>
          </p:nvSpPr>
          <p:spPr>
            <a:xfrm>
              <a:off x="724990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7628049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8007144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838528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876438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914347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8" name="Rectangle 118"/>
            <p:cNvSpPr/>
            <p:nvPr/>
          </p:nvSpPr>
          <p:spPr>
            <a:xfrm>
              <a:off x="9395460" y="2426018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9521619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9900714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1027885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1065795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23" name="Rectangle 123"/>
            <p:cNvSpPr/>
            <p:nvPr/>
          </p:nvSpPr>
          <p:spPr>
            <a:xfrm>
              <a:off x="10910888" y="2426018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11037047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11415189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6" name="Rectangle 126"/>
            <p:cNvSpPr/>
            <p:nvPr/>
          </p:nvSpPr>
          <p:spPr>
            <a:xfrm>
              <a:off x="6248400" y="28603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7" name="TextBox 127"/>
            <p:cNvSpPr txBox="1"/>
            <p:nvPr/>
          </p:nvSpPr>
          <p:spPr>
            <a:xfrm>
              <a:off x="6452289" y="3000851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页框2</a:t>
              </a:r>
            </a:p>
          </p:txBody>
        </p:sp>
        <p:sp>
          <p:nvSpPr>
            <p:cNvPr id="128" name="Rectangle 128"/>
            <p:cNvSpPr/>
            <p:nvPr/>
          </p:nvSpPr>
          <p:spPr>
            <a:xfrm>
              <a:off x="7501890" y="2874645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9" name="TextBox 129"/>
            <p:cNvSpPr txBox="1"/>
            <p:nvPr/>
          </p:nvSpPr>
          <p:spPr>
            <a:xfrm>
              <a:off x="7628049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8007144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838528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876438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914347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9521619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5" name="Rectangle 135"/>
            <p:cNvSpPr/>
            <p:nvPr/>
          </p:nvSpPr>
          <p:spPr>
            <a:xfrm>
              <a:off x="9774555" y="2874645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6" name="TextBox 136"/>
            <p:cNvSpPr txBox="1"/>
            <p:nvPr/>
          </p:nvSpPr>
          <p:spPr>
            <a:xfrm>
              <a:off x="9900714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1027885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1065795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9" name="TextBox 139"/>
            <p:cNvSpPr txBox="1"/>
            <p:nvPr/>
          </p:nvSpPr>
          <p:spPr>
            <a:xfrm>
              <a:off x="11037047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0" name="Rectangle 140"/>
            <p:cNvSpPr/>
            <p:nvPr/>
          </p:nvSpPr>
          <p:spPr>
            <a:xfrm>
              <a:off x="11289030" y="2874645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1" name="TextBox 141"/>
            <p:cNvSpPr txBox="1"/>
            <p:nvPr/>
          </p:nvSpPr>
          <p:spPr>
            <a:xfrm>
              <a:off x="11415189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42" name="Rectangle 142"/>
            <p:cNvSpPr/>
            <p:nvPr/>
          </p:nvSpPr>
          <p:spPr>
            <a:xfrm>
              <a:off x="6248400" y="33089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3" name="TextBox 143"/>
            <p:cNvSpPr txBox="1"/>
            <p:nvPr/>
          </p:nvSpPr>
          <p:spPr>
            <a:xfrm>
              <a:off x="6452289" y="3449479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页框3</a:t>
              </a:r>
            </a:p>
          </p:txBody>
        </p:sp>
        <p:sp>
          <p:nvSpPr>
            <p:cNvPr id="144" name="Rectangle 144"/>
            <p:cNvSpPr/>
            <p:nvPr/>
          </p:nvSpPr>
          <p:spPr>
            <a:xfrm>
              <a:off x="7880985" y="3323272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5" name="TextBox 145"/>
            <p:cNvSpPr txBox="1"/>
            <p:nvPr/>
          </p:nvSpPr>
          <p:spPr>
            <a:xfrm>
              <a:off x="8007144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6" name="TextBox 146"/>
            <p:cNvSpPr txBox="1"/>
            <p:nvPr/>
          </p:nvSpPr>
          <p:spPr>
            <a:xfrm>
              <a:off x="838528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8764382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8" name="TextBox 148"/>
            <p:cNvSpPr txBox="1"/>
            <p:nvPr/>
          </p:nvSpPr>
          <p:spPr>
            <a:xfrm>
              <a:off x="914347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9521619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9900714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1" name="Rectangle 151"/>
            <p:cNvSpPr/>
            <p:nvPr/>
          </p:nvSpPr>
          <p:spPr>
            <a:xfrm>
              <a:off x="10153650" y="3323272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1027885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10657952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1037047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5" name="TextBox 155"/>
            <p:cNvSpPr txBox="1"/>
            <p:nvPr/>
          </p:nvSpPr>
          <p:spPr>
            <a:xfrm>
              <a:off x="11415189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6" name="Rectangle 156"/>
            <p:cNvSpPr/>
            <p:nvPr/>
          </p:nvSpPr>
          <p:spPr>
            <a:xfrm>
              <a:off x="6248400" y="375761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7" name="TextBox 157"/>
            <p:cNvSpPr txBox="1"/>
            <p:nvPr/>
          </p:nvSpPr>
          <p:spPr>
            <a:xfrm>
              <a:off x="6452289" y="3898106"/>
              <a:ext cx="457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页框4</a:t>
              </a:r>
            </a:p>
          </p:txBody>
        </p:sp>
        <p:sp>
          <p:nvSpPr>
            <p:cNvPr id="158" name="Rectangle 158"/>
            <p:cNvSpPr/>
            <p:nvPr/>
          </p:nvSpPr>
          <p:spPr>
            <a:xfrm>
              <a:off x="8260080" y="3771900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59" name="TextBox 159"/>
            <p:cNvSpPr txBox="1"/>
            <p:nvPr/>
          </p:nvSpPr>
          <p:spPr>
            <a:xfrm>
              <a:off x="838528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8764382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914347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9521619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9900714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1027885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5" name="Rectangle 165"/>
            <p:cNvSpPr/>
            <p:nvPr/>
          </p:nvSpPr>
          <p:spPr>
            <a:xfrm>
              <a:off x="10531792" y="3771900"/>
              <a:ext cx="36004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6" name="TextBox 166"/>
            <p:cNvSpPr txBox="1"/>
            <p:nvPr/>
          </p:nvSpPr>
          <p:spPr>
            <a:xfrm>
              <a:off x="10657952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11037047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11415189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9" name="Rectangle 169"/>
            <p:cNvSpPr/>
            <p:nvPr/>
          </p:nvSpPr>
          <p:spPr>
            <a:xfrm>
              <a:off x="6248400" y="42071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0" name="TextBox 170"/>
            <p:cNvSpPr txBox="1"/>
            <p:nvPr/>
          </p:nvSpPr>
          <p:spPr>
            <a:xfrm>
              <a:off x="6502044" y="43467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7249907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7628049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8007144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8385287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9521619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9900714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10278857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8" name="TextBox 178"/>
            <p:cNvSpPr txBox="1"/>
            <p:nvPr/>
          </p:nvSpPr>
          <p:spPr>
            <a:xfrm>
              <a:off x="10657952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79" name="TextBox 179"/>
            <p:cNvSpPr txBox="1"/>
            <p:nvPr/>
          </p:nvSpPr>
          <p:spPr>
            <a:xfrm>
              <a:off x="11037047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80" name="TextBox 180"/>
            <p:cNvSpPr txBox="1"/>
            <p:nvPr/>
          </p:nvSpPr>
          <p:spPr>
            <a:xfrm>
              <a:off x="11415189" y="43467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81" name="Rectangle 181"/>
            <p:cNvSpPr/>
            <p:nvPr/>
          </p:nvSpPr>
          <p:spPr>
            <a:xfrm>
              <a:off x="6248400" y="1967865"/>
              <a:ext cx="5410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82" name="Rectangle 182"/>
            <p:cNvSpPr/>
            <p:nvPr/>
          </p:nvSpPr>
          <p:spPr>
            <a:xfrm>
              <a:off x="710946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3" name="Rectangle 183"/>
            <p:cNvSpPr/>
            <p:nvPr/>
          </p:nvSpPr>
          <p:spPr>
            <a:xfrm>
              <a:off x="748760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4" name="Rectangle 184"/>
            <p:cNvSpPr/>
            <p:nvPr/>
          </p:nvSpPr>
          <p:spPr>
            <a:xfrm>
              <a:off x="7866698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5" name="Rectangle 185"/>
            <p:cNvSpPr/>
            <p:nvPr/>
          </p:nvSpPr>
          <p:spPr>
            <a:xfrm>
              <a:off x="824579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6" name="Rectangle 186"/>
            <p:cNvSpPr/>
            <p:nvPr/>
          </p:nvSpPr>
          <p:spPr>
            <a:xfrm>
              <a:off x="862393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7" name="Rectangle 187"/>
            <p:cNvSpPr/>
            <p:nvPr/>
          </p:nvSpPr>
          <p:spPr>
            <a:xfrm>
              <a:off x="900303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8" name="Rectangle 188"/>
            <p:cNvSpPr/>
            <p:nvPr/>
          </p:nvSpPr>
          <p:spPr>
            <a:xfrm>
              <a:off x="938117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9" name="Rectangle 189"/>
            <p:cNvSpPr/>
            <p:nvPr/>
          </p:nvSpPr>
          <p:spPr>
            <a:xfrm>
              <a:off x="9760268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0" name="Rectangle 190"/>
            <p:cNvSpPr/>
            <p:nvPr/>
          </p:nvSpPr>
          <p:spPr>
            <a:xfrm>
              <a:off x="1013936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1" name="Rectangle 191"/>
            <p:cNvSpPr/>
            <p:nvPr/>
          </p:nvSpPr>
          <p:spPr>
            <a:xfrm>
              <a:off x="10517505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2" name="Rectangle 192"/>
            <p:cNvSpPr/>
            <p:nvPr/>
          </p:nvSpPr>
          <p:spPr>
            <a:xfrm>
              <a:off x="10896600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3" name="Rectangle 193"/>
            <p:cNvSpPr/>
            <p:nvPr/>
          </p:nvSpPr>
          <p:spPr>
            <a:xfrm>
              <a:off x="11274742" y="196786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4" name="TextBox 194"/>
            <p:cNvSpPr txBox="1"/>
            <p:nvPr/>
          </p:nvSpPr>
          <p:spPr>
            <a:xfrm>
              <a:off x="6242685" y="4736306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 个页框：缺页 10 次，页故障率 10/12</a:t>
              </a:r>
            </a:p>
          </p:txBody>
        </p:sp>
      </p:grpSp>
      <p:grpSp>
        <p:nvGrpSpPr>
          <p:cNvPr id="201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196" name="Rectangle 196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199" name="Group 199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98" name="Freeform 198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00" name="TextBox 200"/>
            <p:cNvSpPr txBox="1"/>
            <p:nvPr/>
          </p:nvSpPr>
          <p:spPr>
            <a:xfrm>
              <a:off x="1040130" y="5728335"/>
              <a:ext cx="9883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LRU、OPT 不会出现 Belady 异常：任何时刻 n 个页框中的页集合都包含在 n+1 个页框的页集合里。本例 LRU 由 10 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降为 8 次，OPT 由 7 次降为 6 次。</a:t>
              </a:r>
            </a:p>
          </p:txBody>
        </p:sp>
      </p:grpSp>
      <p:grpSp>
        <p:nvGrpSpPr>
          <p:cNvPr id="20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02" name="TextBox 20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63208" cy="909257"/>
            <a:chOff x="520446" y="342900"/>
            <a:chExt cx="78632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632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LRU：淘汰最久没有被访问的页，用栈记录访问先后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760595" cy="2558415"/>
            <a:chOff x="533400" y="1524000"/>
            <a:chExt cx="4760595" cy="25584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36124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1585" y="1769269"/>
              <a:ext cx="23192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3. LRU（least recently used）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8538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淘汰最近一次访问距当前时间最长的页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（Replace page that hasn't been used for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longest period of time）。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30803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301752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实现：栈。页面被访问时从栈中取出，压到栈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顶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7014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638550"/>
              <a:ext cx="31203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栈底就是 LRU 页，缺页时淘汰栈底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4272915"/>
            <a:ext cx="4760595" cy="782955"/>
            <a:chOff x="533400" y="4272915"/>
            <a:chExt cx="4760595" cy="782955"/>
          </a:xfrm>
        </p:grpSpPr>
        <p:sp>
          <p:nvSpPr>
            <p:cNvPr id="17" name="Rectangle 17"/>
            <p:cNvSpPr/>
            <p:nvPr/>
          </p:nvSpPr>
          <p:spPr>
            <a:xfrm>
              <a:off x="533400" y="427291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4564380"/>
              <a:ext cx="200026" cy="200026"/>
              <a:chOff x="738188" y="4564380"/>
              <a:chExt cx="200026" cy="20002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45643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38200" y="46310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27088" y="46643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4421505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依据是局部性：最近用过的页很可能马上又要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用，很久没用的页短期内也不太会用。</a:t>
              </a:r>
            </a:p>
          </p:txBody>
        </p:sp>
      </p:grpSp>
      <p:grpSp>
        <p:nvGrpSpPr>
          <p:cNvPr id="25" name="c2-text-1"/>
          <p:cNvGrpSpPr/>
          <p:nvPr/>
        </p:nvGrpSpPr>
        <p:grpSpPr>
          <a:xfrm>
            <a:off x="5592318" y="1545431"/>
            <a:ext cx="5572506" cy="500824"/>
            <a:chOff x="5592318" y="1545431"/>
            <a:chExt cx="5572506" cy="500824"/>
          </a:xfrm>
        </p:grpSpPr>
        <p:sp>
          <p:nvSpPr>
            <p:cNvPr id="24" name="TextBox 24"/>
            <p:cNvSpPr txBox="1"/>
            <p:nvPr/>
          </p:nvSpPr>
          <p:spPr>
            <a:xfrm>
              <a:off x="5592318" y="1545431"/>
              <a:ext cx="5572506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例：访问序列 4, 7, 0, 7, 1, 0, 1, 2, 1, 2, 7, 1, 2。a 为第 11 次访问（页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7）之前，b 为这次访问之后。</a:t>
              </a:r>
            </a:p>
          </p:txBody>
        </p:sp>
      </p:grpSp>
      <p:grpSp>
        <p:nvGrpSpPr>
          <p:cNvPr id="52" name="c2-cells-2"/>
          <p:cNvGrpSpPr/>
          <p:nvPr/>
        </p:nvGrpSpPr>
        <p:grpSpPr>
          <a:xfrm>
            <a:off x="5592318" y="2234565"/>
            <a:ext cx="2727217" cy="1275397"/>
            <a:chOff x="5592318" y="2234565"/>
            <a:chExt cx="2727217" cy="1275397"/>
          </a:xfrm>
        </p:grpSpPr>
        <p:sp>
          <p:nvSpPr>
            <p:cNvPr id="26" name="TextBox 26"/>
            <p:cNvSpPr txBox="1"/>
            <p:nvPr/>
          </p:nvSpPr>
          <p:spPr>
            <a:xfrm>
              <a:off x="5592318" y="2630329"/>
              <a:ext cx="339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栈 a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39802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193120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58902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12220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878002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031320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297102" y="2500312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50420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716202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869520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02668" y="22345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栈顶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211252" y="240506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531970" y="2234565"/>
              <a:ext cx="7875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栈底 LRU 页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7887652" y="240506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592318" y="3220879"/>
              <a:ext cx="3390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栈 b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39802" y="3090862"/>
              <a:ext cx="4191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93120" y="322087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58902" y="309086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12220" y="322087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878002" y="309086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31320" y="322087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297102" y="309086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50420" y="322087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7716202" y="309086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869520" y="322087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  <p:grpSp>
        <p:nvGrpSpPr>
          <p:cNvPr id="61" name="c2-card-3"/>
          <p:cNvGrpSpPr/>
          <p:nvPr/>
        </p:nvGrpSpPr>
        <p:grpSpPr>
          <a:xfrm>
            <a:off x="5598795" y="3700462"/>
            <a:ext cx="6059805" cy="1937385"/>
            <a:chOff x="5598795" y="3700462"/>
            <a:chExt cx="6059805" cy="1937385"/>
          </a:xfrm>
        </p:grpSpPr>
        <p:sp>
          <p:nvSpPr>
            <p:cNvPr id="53" name="Rectangle 53"/>
            <p:cNvSpPr/>
            <p:nvPr/>
          </p:nvSpPr>
          <p:spPr>
            <a:xfrm>
              <a:off x="5598795" y="3700462"/>
              <a:ext cx="6059805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608320" y="3833812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46445" y="391001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937606" y="39457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5852160" y="435006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010275" y="4287202"/>
              <a:ext cx="5130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 7：7 在栈中第 4 个位置，取出后压到栈顶，原来在它上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面的 2、1、0 各下移一位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5852160" y="497109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010275" y="4908232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此时若缺页，淘汰栈底的 4：它的最近一次访问是第 1 次，距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今最久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54221" cy="909257"/>
            <a:chOff x="520446" y="342900"/>
            <a:chExt cx="88542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542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 例题：同一序列缺页 12 次，介于 OPT 和 FIFO 之间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511790" cy="569595"/>
            <a:chOff x="525780" y="1548765"/>
            <a:chExt cx="10511790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511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访问序列同 OPT 例题，3 个页框，淘汰最近一次访问最早的页。同一序列 OPT 缺页 9 次（45%），LRU 12 次（60%），FIFO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 次（75%）。</a:t>
              </a:r>
            </a:p>
          </p:txBody>
        </p:sp>
      </p:grpSp>
      <p:grpSp>
        <p:nvGrpSpPr>
          <p:cNvPr id="140" name="c1-table-1"/>
          <p:cNvGrpSpPr/>
          <p:nvPr/>
        </p:nvGrpSpPr>
        <p:grpSpPr>
          <a:xfrm>
            <a:off x="533400" y="2230755"/>
            <a:ext cx="11125200" cy="2122170"/>
            <a:chOff x="533400" y="2230755"/>
            <a:chExt cx="11125200" cy="2122170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11125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77265" y="23593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52271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46618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41918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37218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32518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26866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22166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17466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12766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08066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02413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97713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93013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88313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82661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77961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73261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68561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862908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358208" y="23593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30619" y="2783205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766888" y="2665095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954492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48839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44139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251835" y="2665095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439439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34739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29087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924387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232082" y="2665095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419687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914987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10287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717030" y="2665095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04634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99934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95234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202930" y="2665095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390534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84882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380182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75482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370782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865129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360429" y="27832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307467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30619" y="3208020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页框2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262188" y="308895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2448839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944139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439439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934739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4429087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4924387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419687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914987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222682" y="308895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410287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904634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99934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895234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390534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884882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9192578" y="3088958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380182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875482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370782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865129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360429" y="32080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533400" y="34994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930619" y="3632835"/>
              <a:ext cx="4285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页框3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2756535" y="351377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2944139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3439439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3934739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4242435" y="351377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4429087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924387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5419687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5727382" y="351377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5914987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6410287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6904634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7399934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7895234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8390534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884882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9380182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9875482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10183178" y="3513772"/>
              <a:ext cx="476250" cy="40576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10370782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10865129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1360429" y="36328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5" name="Rectangle 105"/>
            <p:cNvSpPr/>
            <p:nvPr/>
          </p:nvSpPr>
          <p:spPr>
            <a:xfrm>
              <a:off x="533400" y="392334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718189" y="4056698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 / 淘汰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954492" y="405669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2448839" y="405669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2944139" y="405669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3390572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×6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4380220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×1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5370820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×2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5866120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×3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6361420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×0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6855767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×4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8341667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×0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9331315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×3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10321915" y="40566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×2</a:t>
              </a:r>
            </a:p>
          </p:txBody>
        </p:sp>
        <p:sp>
          <p:nvSpPr>
            <p:cNvPr id="119" name="Rectangle 119"/>
            <p:cNvSpPr/>
            <p:nvPr/>
          </p:nvSpPr>
          <p:spPr>
            <a:xfrm>
              <a:off x="533400" y="2230755"/>
              <a:ext cx="11125200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20" name="Rectangle 120"/>
            <p:cNvSpPr/>
            <p:nvPr/>
          </p:nvSpPr>
          <p:spPr>
            <a:xfrm>
              <a:off x="1752600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1" name="Rectangle 121"/>
            <p:cNvSpPr/>
            <p:nvPr/>
          </p:nvSpPr>
          <p:spPr>
            <a:xfrm>
              <a:off x="2247900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2742248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3" name="Rectangle 123"/>
            <p:cNvSpPr/>
            <p:nvPr/>
          </p:nvSpPr>
          <p:spPr>
            <a:xfrm>
              <a:off x="3237548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4" name="Rectangle 124"/>
            <p:cNvSpPr/>
            <p:nvPr/>
          </p:nvSpPr>
          <p:spPr>
            <a:xfrm>
              <a:off x="3732848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5" name="Rectangle 125"/>
            <p:cNvSpPr/>
            <p:nvPr/>
          </p:nvSpPr>
          <p:spPr>
            <a:xfrm>
              <a:off x="4228148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6" name="Rectangle 126"/>
            <p:cNvSpPr/>
            <p:nvPr/>
          </p:nvSpPr>
          <p:spPr>
            <a:xfrm>
              <a:off x="4722495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7" name="Rectangle 127"/>
            <p:cNvSpPr/>
            <p:nvPr/>
          </p:nvSpPr>
          <p:spPr>
            <a:xfrm>
              <a:off x="5217795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8" name="Rectangle 128"/>
            <p:cNvSpPr/>
            <p:nvPr/>
          </p:nvSpPr>
          <p:spPr>
            <a:xfrm>
              <a:off x="5713095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9" name="Rectangle 129"/>
            <p:cNvSpPr/>
            <p:nvPr/>
          </p:nvSpPr>
          <p:spPr>
            <a:xfrm>
              <a:off x="6208395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0" name="Rectangle 130"/>
            <p:cNvSpPr/>
            <p:nvPr/>
          </p:nvSpPr>
          <p:spPr>
            <a:xfrm>
              <a:off x="6702742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1" name="Rectangle 131"/>
            <p:cNvSpPr/>
            <p:nvPr/>
          </p:nvSpPr>
          <p:spPr>
            <a:xfrm>
              <a:off x="7198042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2" name="Rectangle 132"/>
            <p:cNvSpPr/>
            <p:nvPr/>
          </p:nvSpPr>
          <p:spPr>
            <a:xfrm>
              <a:off x="7693342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3" name="Rectangle 133"/>
            <p:cNvSpPr/>
            <p:nvPr/>
          </p:nvSpPr>
          <p:spPr>
            <a:xfrm>
              <a:off x="8188642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4" name="Rectangle 134"/>
            <p:cNvSpPr/>
            <p:nvPr/>
          </p:nvSpPr>
          <p:spPr>
            <a:xfrm>
              <a:off x="8682990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5" name="Rectangle 135"/>
            <p:cNvSpPr/>
            <p:nvPr/>
          </p:nvSpPr>
          <p:spPr>
            <a:xfrm>
              <a:off x="9178290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6" name="Rectangle 136"/>
            <p:cNvSpPr/>
            <p:nvPr/>
          </p:nvSpPr>
          <p:spPr>
            <a:xfrm>
              <a:off x="9673590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7" name="Rectangle 137"/>
            <p:cNvSpPr/>
            <p:nvPr/>
          </p:nvSpPr>
          <p:spPr>
            <a:xfrm>
              <a:off x="10168890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8" name="Rectangle 138"/>
            <p:cNvSpPr/>
            <p:nvPr/>
          </p:nvSpPr>
          <p:spPr>
            <a:xfrm>
              <a:off x="10663238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9" name="Rectangle 139"/>
            <p:cNvSpPr/>
            <p:nvPr/>
          </p:nvSpPr>
          <p:spPr>
            <a:xfrm>
              <a:off x="11158538" y="223075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65" name="c1-table-2"/>
          <p:cNvGrpSpPr/>
          <p:nvPr/>
        </p:nvGrpSpPr>
        <p:grpSpPr>
          <a:xfrm>
            <a:off x="533400" y="4532948"/>
            <a:ext cx="11125200" cy="1697355"/>
            <a:chOff x="533400" y="4532948"/>
            <a:chExt cx="11125200" cy="1697355"/>
          </a:xfrm>
        </p:grpSpPr>
        <p:sp>
          <p:nvSpPr>
            <p:cNvPr id="141" name="Rectangle 141"/>
            <p:cNvSpPr/>
            <p:nvPr/>
          </p:nvSpPr>
          <p:spPr>
            <a:xfrm>
              <a:off x="533400" y="4532948"/>
              <a:ext cx="11125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2" name="TextBox 142"/>
            <p:cNvSpPr txBox="1"/>
            <p:nvPr/>
          </p:nvSpPr>
          <p:spPr>
            <a:xfrm>
              <a:off x="1013079" y="46615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第几次访问</a:t>
              </a:r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2904744" y="46615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内存中的页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6364034" y="466153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各页最近一次被访问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0601325" y="466153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淘汰</a:t>
              </a:r>
            </a:p>
          </p:txBody>
        </p:sp>
        <p:sp>
          <p:nvSpPr>
            <p:cNvPr id="146" name="TextBox 146"/>
            <p:cNvSpPr txBox="1"/>
            <p:nvPr/>
          </p:nvSpPr>
          <p:spPr>
            <a:xfrm>
              <a:off x="924230" y="5086350"/>
              <a:ext cx="9976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8 次访问 4</a:t>
              </a:r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3013786" y="5086350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2、0、3</a:t>
              </a:r>
            </a:p>
          </p:txBody>
        </p:sp>
        <p:sp>
          <p:nvSpPr>
            <p:cNvPr id="148" name="TextBox 148"/>
            <p:cNvSpPr txBox="1"/>
            <p:nvPr/>
          </p:nvSpPr>
          <p:spPr>
            <a:xfrm>
              <a:off x="4418266" y="5086350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在第 4 次，0 在第 7 次，3 在第 6 次</a:t>
              </a:r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10718444" y="50863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0" name="Rectangle 150"/>
            <p:cNvSpPr/>
            <p:nvPr/>
          </p:nvSpPr>
          <p:spPr>
            <a:xfrm>
              <a:off x="533400" y="53768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1" name="Rectangle 151"/>
            <p:cNvSpPr/>
            <p:nvPr/>
          </p:nvSpPr>
          <p:spPr>
            <a:xfrm>
              <a:off x="533400" y="538162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877584" y="5510212"/>
              <a:ext cx="10909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14 次访问 1</a:t>
              </a:r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3013786" y="5510212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0、3、2</a:t>
              </a:r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4418266" y="5510212"/>
              <a:ext cx="3024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在第 11 次，3 在第 12 次，2 在第 13 次</a:t>
              </a:r>
            </a:p>
          </p:txBody>
        </p:sp>
        <p:sp>
          <p:nvSpPr>
            <p:cNvPr id="155" name="TextBox 155"/>
            <p:cNvSpPr txBox="1"/>
            <p:nvPr/>
          </p:nvSpPr>
          <p:spPr>
            <a:xfrm>
              <a:off x="10718444" y="55102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56" name="Rectangle 156"/>
            <p:cNvSpPr/>
            <p:nvPr/>
          </p:nvSpPr>
          <p:spPr>
            <a:xfrm>
              <a:off x="533400" y="58016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7" name="TextBox 157"/>
            <p:cNvSpPr txBox="1"/>
            <p:nvPr/>
          </p:nvSpPr>
          <p:spPr>
            <a:xfrm>
              <a:off x="877584" y="5935028"/>
              <a:ext cx="10909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16 次访问 0</a:t>
              </a:r>
            </a:p>
          </p:txBody>
        </p:sp>
        <p:sp>
          <p:nvSpPr>
            <p:cNvPr id="158" name="TextBox 158"/>
            <p:cNvSpPr txBox="1"/>
            <p:nvPr/>
          </p:nvSpPr>
          <p:spPr>
            <a:xfrm>
              <a:off x="3013786" y="5935028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1、3、2</a:t>
              </a:r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4418266" y="5935028"/>
              <a:ext cx="3024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在第 14 次，3 在第 12 次，2 在第 15 次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0718444" y="593502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1" name="Rectangle 161"/>
            <p:cNvSpPr/>
            <p:nvPr/>
          </p:nvSpPr>
          <p:spPr>
            <a:xfrm>
              <a:off x="533400" y="4532948"/>
              <a:ext cx="1112520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62" name="Rectangle 162"/>
            <p:cNvSpPr/>
            <p:nvPr/>
          </p:nvSpPr>
          <p:spPr>
            <a:xfrm>
              <a:off x="2308860" y="4532948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3" name="Rectangle 163"/>
            <p:cNvSpPr/>
            <p:nvPr/>
          </p:nvSpPr>
          <p:spPr>
            <a:xfrm>
              <a:off x="4311015" y="4532948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4" name="Rectangle 164"/>
            <p:cNvSpPr/>
            <p:nvPr/>
          </p:nvSpPr>
          <p:spPr>
            <a:xfrm>
              <a:off x="9873615" y="4532948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66" name="TextBox 166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77907" cy="909257"/>
            <a:chOff x="520446" y="342900"/>
            <a:chExt cx="947790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779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NUR：定时清零访问标志，淘汰标志为 0 的页，是 LRU 的近似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2232660"/>
            <a:chOff x="533400" y="1524000"/>
            <a:chExt cx="4760595" cy="22326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232660"/>
            </a:xfrm>
            <a:prstGeom prst="roundRect">
              <a:avLst>
                <a:gd name="adj" fmla="val 59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6596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23361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6003" y="1769269"/>
              <a:ext cx="21846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 NUR（not used recently）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淘汰最近一段时间内没有用到的页。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446020"/>
              <a:ext cx="41951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每页增加一个访问标志：访问时置 1，定时清 0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8441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781300"/>
              <a:ext cx="2872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淘汰时从标志为 0 的页中选一个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4573" y="3113246"/>
              <a:ext cx="41094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只能分出“这段时间用过”和“没用过”两档，分不出没用过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的页里谁更久，所以是 LRU 的近似。</a:t>
              </a:r>
            </a:p>
          </p:txBody>
        </p:sp>
      </p:grpSp>
      <p:grpSp>
        <p:nvGrpSpPr>
          <p:cNvPr id="34" name="c1-compare-2"/>
          <p:cNvGrpSpPr/>
          <p:nvPr/>
        </p:nvGrpSpPr>
        <p:grpSpPr>
          <a:xfrm>
            <a:off x="533400" y="3947160"/>
            <a:ext cx="4760596" cy="1939290"/>
            <a:chOff x="533400" y="3947160"/>
            <a:chExt cx="4760596" cy="1939290"/>
          </a:xfrm>
        </p:grpSpPr>
        <p:sp>
          <p:nvSpPr>
            <p:cNvPr id="18" name="Rectangle 18"/>
            <p:cNvSpPr/>
            <p:nvPr/>
          </p:nvSpPr>
          <p:spPr>
            <a:xfrm>
              <a:off x="533400" y="3947160"/>
              <a:ext cx="2208848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4080510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73430" y="4181475"/>
              <a:ext cx="10578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 要记录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459867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453580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每次访问的先后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次序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6765" y="521970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4880" y="515683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每访问一次都要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085148" y="3947160"/>
              <a:ext cx="2208848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094672" y="4080510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325177" y="4181475"/>
              <a:ext cx="8559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NUR 只要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3338512" y="459867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496627" y="453580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每页一个访问位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3338512" y="493395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496627" y="4871085"/>
              <a:ext cx="1377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一个定时清 0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2751772" y="475488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822113" y="4851083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6" name="c2-text-1"/>
          <p:cNvGrpSpPr/>
          <p:nvPr/>
        </p:nvGrpSpPr>
        <p:grpSpPr>
          <a:xfrm>
            <a:off x="5592318" y="1545431"/>
            <a:ext cx="5726938" cy="500824"/>
            <a:chOff x="5592318" y="1545431"/>
            <a:chExt cx="5726938" cy="500824"/>
          </a:xfrm>
        </p:grpSpPr>
        <p:sp>
          <p:nvSpPr>
            <p:cNvPr id="35" name="TextBox 35"/>
            <p:cNvSpPr txBox="1"/>
            <p:nvPr/>
          </p:nvSpPr>
          <p:spPr>
            <a:xfrm>
              <a:off x="5592318" y="1545431"/>
              <a:ext cx="5726938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例：设内存 6 个页框（前 11 次访问恰好装入 6 个不同的页），第 6 次访问之后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访问标志全部清 0，第 12 次访问页 8 时缺页。</a:t>
              </a:r>
            </a:p>
          </p:txBody>
        </p:sp>
      </p:grpSp>
      <p:grpSp>
        <p:nvGrpSpPr>
          <p:cNvPr id="78" name="c2-cells-2"/>
          <p:cNvGrpSpPr/>
          <p:nvPr/>
        </p:nvGrpSpPr>
        <p:grpSpPr>
          <a:xfrm>
            <a:off x="5592318" y="2234565"/>
            <a:ext cx="5494782" cy="932211"/>
            <a:chOff x="5592318" y="2234565"/>
            <a:chExt cx="5494782" cy="932211"/>
          </a:xfrm>
        </p:grpSpPr>
        <p:sp>
          <p:nvSpPr>
            <p:cNvPr id="37" name="TextBox 37"/>
            <p:cNvSpPr txBox="1"/>
            <p:nvPr/>
          </p:nvSpPr>
          <p:spPr>
            <a:xfrm>
              <a:off x="5592318" y="263032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57900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112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77000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303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896100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494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315200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4685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734300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8876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53400" y="2500312"/>
              <a:ext cx="4191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067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572500" y="2500312"/>
              <a:ext cx="41910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7258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991600" y="2500312"/>
              <a:ext cx="41910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1449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410700" y="2500312"/>
              <a:ext cx="41910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5640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829800" y="2500312"/>
              <a:ext cx="41910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9831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248900" y="2500312"/>
              <a:ext cx="41910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4022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0668000" y="2500312"/>
              <a:ext cx="41910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0821317" y="263032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2262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6453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644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835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9026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3217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7408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1599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579017" y="29760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961837" y="2976086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380937" y="2976086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800037" y="2976086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82512" y="2234565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之后清 0</a:t>
              </a:r>
            </a:p>
          </p:txBody>
        </p:sp>
        <p:sp>
          <p:nvSpPr>
            <p:cNvPr id="75" name="Freeform 75"/>
            <p:cNvSpPr/>
            <p:nvPr/>
          </p:nvSpPr>
          <p:spPr>
            <a:xfrm>
              <a:off x="8324850" y="240506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10730865" y="22345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77" name="Freeform 77"/>
            <p:cNvSpPr/>
            <p:nvPr/>
          </p:nvSpPr>
          <p:spPr>
            <a:xfrm>
              <a:off x="10839450" y="240506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114" name="c2-table-3"/>
          <p:cNvGrpSpPr/>
          <p:nvPr/>
        </p:nvGrpSpPr>
        <p:grpSpPr>
          <a:xfrm>
            <a:off x="5598795" y="3309938"/>
            <a:ext cx="6059805" cy="1573530"/>
            <a:chOff x="5598795" y="3309938"/>
            <a:chExt cx="6059805" cy="1573530"/>
          </a:xfrm>
        </p:grpSpPr>
        <p:sp>
          <p:nvSpPr>
            <p:cNvPr id="79" name="Rectangle 79"/>
            <p:cNvSpPr/>
            <p:nvPr/>
          </p:nvSpPr>
          <p:spPr>
            <a:xfrm>
              <a:off x="5598795" y="3309938"/>
              <a:ext cx="605980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773039" y="344471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内存中的页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152287" y="34447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928575" y="34447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703910" y="34447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9524965" y="34447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0392692" y="34447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214700" y="34447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5797423" y="3894296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最近一次访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7051675" y="3894296"/>
              <a:ext cx="3136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6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7606665" y="3768090"/>
              <a:ext cx="756285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7827962" y="3894296"/>
              <a:ext cx="3136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603298" y="3894296"/>
              <a:ext cx="3136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9379648" y="3894296"/>
              <a:ext cx="40309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10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247376" y="3894296"/>
              <a:ext cx="40309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11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114088" y="3894296"/>
              <a:ext cx="3136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9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5598795" y="442912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5598795" y="4433888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5859196" y="45696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访问标志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6830378" y="4443412"/>
              <a:ext cx="756285" cy="429578"/>
            </a:xfrm>
            <a:prstGeom prst="rect">
              <a:avLst/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7154657" y="45696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7606665" y="4443412"/>
              <a:ext cx="756285" cy="429578"/>
            </a:xfrm>
            <a:prstGeom prst="rect">
              <a:avLst/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7930944" y="45696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8382000" y="4443412"/>
              <a:ext cx="756285" cy="429578"/>
            </a:xfrm>
            <a:prstGeom prst="rect">
              <a:avLst/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8706279" y="45696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9527334" y="45696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10395062" y="45696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11217069" y="45696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5598795" y="3309938"/>
              <a:ext cx="6059805" cy="1573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6816090" y="3309938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7592378" y="3309938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8367712" y="3309938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1" name="Rectangle 111"/>
            <p:cNvSpPr/>
            <p:nvPr/>
          </p:nvSpPr>
          <p:spPr>
            <a:xfrm>
              <a:off x="9143048" y="3309938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2" name="Rectangle 112"/>
            <p:cNvSpPr/>
            <p:nvPr/>
          </p:nvSpPr>
          <p:spPr>
            <a:xfrm>
              <a:off x="10010775" y="3309938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3" name="Rectangle 113"/>
            <p:cNvSpPr/>
            <p:nvPr/>
          </p:nvSpPr>
          <p:spPr>
            <a:xfrm>
              <a:off x="10878502" y="3309938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20" name="c2-callout-4"/>
          <p:cNvGrpSpPr/>
          <p:nvPr/>
        </p:nvGrpSpPr>
        <p:grpSpPr>
          <a:xfrm>
            <a:off x="5598795" y="5073015"/>
            <a:ext cx="6059805" cy="782955"/>
            <a:chOff x="5598795" y="5073015"/>
            <a:chExt cx="6059805" cy="782955"/>
          </a:xfrm>
        </p:grpSpPr>
        <p:sp>
          <p:nvSpPr>
            <p:cNvPr id="115" name="Rectangle 115"/>
            <p:cNvSpPr/>
            <p:nvPr/>
          </p:nvSpPr>
          <p:spPr>
            <a:xfrm>
              <a:off x="5598795" y="507301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18" name="Group 118"/>
            <p:cNvGrpSpPr/>
            <p:nvPr/>
          </p:nvGrpSpPr>
          <p:grpSpPr>
            <a:xfrm>
              <a:off x="5803583" y="5364480"/>
              <a:ext cx="200026" cy="200026"/>
              <a:chOff x="5803583" y="5364480"/>
              <a:chExt cx="200026" cy="200026"/>
            </a:xfrm>
          </p:grpSpPr>
          <p:sp>
            <p:nvSpPr>
              <p:cNvPr id="116" name="Freeform 116"/>
              <p:cNvSpPr/>
              <p:nvPr/>
            </p:nvSpPr>
            <p:spPr>
              <a:xfrm>
                <a:off x="5803583" y="53644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17" name="Freeform 117"/>
              <p:cNvSpPr/>
              <p:nvPr/>
            </p:nvSpPr>
            <p:spPr>
              <a:xfrm>
                <a:off x="5870258" y="544226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19" name="TextBox 119"/>
            <p:cNvSpPr txBox="1"/>
            <p:nvPr/>
          </p:nvSpPr>
          <p:spPr>
            <a:xfrm>
              <a:off x="6105525" y="5221605"/>
              <a:ext cx="49777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LRU 淘汰页 3（第 2 次以后再没用过）；NUR 在标志为 0 的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2、3、4 中任选一个。</a:t>
              </a:r>
            </a:p>
          </p:txBody>
        </p:sp>
      </p:grpSp>
      <p:grpSp>
        <p:nvGrpSpPr>
          <p:cNvPr id="1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1" name="TextBox 12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22445" cy="909257"/>
            <a:chOff x="520446" y="342900"/>
            <a:chExt cx="90224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224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二次机会：访问位为 1 的页清零后移到链尾，再给一次机会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616565" cy="569595"/>
            <a:chOff x="525780" y="1548765"/>
            <a:chExt cx="10616565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6165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淘汰装入最久且最近未被访问的页。页面按装入先后链成一串，链首最老；6/1 表示页 6 的访问位 r = 1。例：缺页，要调入页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2。</a:t>
              </a:r>
            </a:p>
          </p:txBody>
        </p:sp>
      </p:grpSp>
      <p:grpSp>
        <p:nvGrpSpPr>
          <p:cNvPr id="197" name="c1-cells-1"/>
          <p:cNvGrpSpPr/>
          <p:nvPr/>
        </p:nvGrpSpPr>
        <p:grpSpPr>
          <a:xfrm>
            <a:off x="527304" y="2230755"/>
            <a:ext cx="8481441" cy="2059305"/>
            <a:chOff x="527304" y="2230755"/>
            <a:chExt cx="8481441" cy="2059305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23526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230755"/>
              <a:ext cx="51149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1739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6/1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483042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559242" y="239934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587818" y="242792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930718" y="238506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016442" y="223075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126632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3/1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527935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2604135" y="239934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2632710" y="242792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2975610" y="238506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3061335" y="223075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171524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4/0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573780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3649980" y="239934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3678555" y="242792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021455" y="238506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107180" y="223075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216417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8/0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618672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4694872" y="239934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4723448" y="242792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066348" y="238506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152072" y="223075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61309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5/1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663565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5739765" y="239934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5768340" y="242792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111240" y="238506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196965" y="223075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07154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9/0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708458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6784658" y="239934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6813232" y="242792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156132" y="238506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241858" y="223075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352047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0/0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753350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7829550" y="239934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7858125" y="242792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201025" y="238506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286750" y="223075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396939" y="235267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1/1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799195" y="223075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859764" y="236029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27304" y="2907982"/>
              <a:ext cx="317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查 6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971550" y="2786062"/>
              <a:ext cx="511492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81739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3/1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1483042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1559242" y="295465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1587818" y="298323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1930718" y="294036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2016442" y="2786062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2126632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4/0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2527935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6" name="Ellipse 66"/>
            <p:cNvSpPr/>
            <p:nvPr/>
          </p:nvSpPr>
          <p:spPr>
            <a:xfrm>
              <a:off x="2604135" y="295465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67" name="Freeform 67"/>
            <p:cNvSpPr/>
            <p:nvPr/>
          </p:nvSpPr>
          <p:spPr>
            <a:xfrm>
              <a:off x="2632710" y="298323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2975610" y="294036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3061335" y="2786062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3171524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8/0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3573780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72" name="Ellipse 72"/>
            <p:cNvSpPr/>
            <p:nvPr/>
          </p:nvSpPr>
          <p:spPr>
            <a:xfrm>
              <a:off x="3649980" y="295465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73" name="Freeform 73"/>
            <p:cNvSpPr/>
            <p:nvPr/>
          </p:nvSpPr>
          <p:spPr>
            <a:xfrm>
              <a:off x="3678555" y="298323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4021455" y="294036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4107180" y="2786062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4216417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5/1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4618672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78" name="Ellipse 78"/>
            <p:cNvSpPr/>
            <p:nvPr/>
          </p:nvSpPr>
          <p:spPr>
            <a:xfrm>
              <a:off x="4694872" y="295465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79" name="Freeform 79"/>
            <p:cNvSpPr/>
            <p:nvPr/>
          </p:nvSpPr>
          <p:spPr>
            <a:xfrm>
              <a:off x="4723448" y="298323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5066348" y="294036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5152072" y="2786062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5261309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9/0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5663565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84" name="Ellipse 84"/>
            <p:cNvSpPr/>
            <p:nvPr/>
          </p:nvSpPr>
          <p:spPr>
            <a:xfrm>
              <a:off x="5739765" y="295465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85" name="Freeform 85"/>
            <p:cNvSpPr/>
            <p:nvPr/>
          </p:nvSpPr>
          <p:spPr>
            <a:xfrm>
              <a:off x="5768340" y="298323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6111240" y="294036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6196965" y="2786062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307154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0/0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708458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90" name="Ellipse 90"/>
            <p:cNvSpPr/>
            <p:nvPr/>
          </p:nvSpPr>
          <p:spPr>
            <a:xfrm>
              <a:off x="6784658" y="295465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91" name="Freeform 91"/>
            <p:cNvSpPr/>
            <p:nvPr/>
          </p:nvSpPr>
          <p:spPr>
            <a:xfrm>
              <a:off x="6813232" y="298323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7156132" y="294036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7241858" y="2786062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7352047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1/1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7753350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96" name="Ellipse 96"/>
            <p:cNvSpPr/>
            <p:nvPr/>
          </p:nvSpPr>
          <p:spPr>
            <a:xfrm>
              <a:off x="7829550" y="295465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97" name="Freeform 97"/>
            <p:cNvSpPr/>
            <p:nvPr/>
          </p:nvSpPr>
          <p:spPr>
            <a:xfrm>
              <a:off x="7858125" y="298323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8201025" y="294036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8286750" y="2786062"/>
              <a:ext cx="511492" cy="39433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8396939" y="2907982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6/0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8799195" y="278606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8859764" y="291560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527304" y="3463290"/>
              <a:ext cx="317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查 3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971550" y="3341370"/>
              <a:ext cx="511492" cy="3943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1081739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4/0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1483042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07" name="Ellipse 107"/>
            <p:cNvSpPr/>
            <p:nvPr/>
          </p:nvSpPr>
          <p:spPr>
            <a:xfrm>
              <a:off x="1559242" y="350901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08" name="Freeform 108"/>
            <p:cNvSpPr/>
            <p:nvPr/>
          </p:nvSpPr>
          <p:spPr>
            <a:xfrm>
              <a:off x="1587818" y="353758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9" name="Freeform 109"/>
            <p:cNvSpPr/>
            <p:nvPr/>
          </p:nvSpPr>
          <p:spPr>
            <a:xfrm>
              <a:off x="1930718" y="349472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2016442" y="3341370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2126632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8/0</a:t>
              </a:r>
            </a:p>
          </p:txBody>
        </p:sp>
        <p:sp>
          <p:nvSpPr>
            <p:cNvPr id="112" name="Rectangle 112"/>
            <p:cNvSpPr/>
            <p:nvPr/>
          </p:nvSpPr>
          <p:spPr>
            <a:xfrm>
              <a:off x="2527935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13" name="Ellipse 113"/>
            <p:cNvSpPr/>
            <p:nvPr/>
          </p:nvSpPr>
          <p:spPr>
            <a:xfrm>
              <a:off x="2604135" y="350901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14" name="Freeform 114"/>
            <p:cNvSpPr/>
            <p:nvPr/>
          </p:nvSpPr>
          <p:spPr>
            <a:xfrm>
              <a:off x="2632710" y="353758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5" name="Freeform 115"/>
            <p:cNvSpPr/>
            <p:nvPr/>
          </p:nvSpPr>
          <p:spPr>
            <a:xfrm>
              <a:off x="2975610" y="349472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3061335" y="3341370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3171524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5/1</a:t>
              </a:r>
            </a:p>
          </p:txBody>
        </p:sp>
        <p:sp>
          <p:nvSpPr>
            <p:cNvPr id="118" name="Rectangle 118"/>
            <p:cNvSpPr/>
            <p:nvPr/>
          </p:nvSpPr>
          <p:spPr>
            <a:xfrm>
              <a:off x="3573780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19" name="Ellipse 119"/>
            <p:cNvSpPr/>
            <p:nvPr/>
          </p:nvSpPr>
          <p:spPr>
            <a:xfrm>
              <a:off x="3649980" y="350901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20" name="Freeform 120"/>
            <p:cNvSpPr/>
            <p:nvPr/>
          </p:nvSpPr>
          <p:spPr>
            <a:xfrm>
              <a:off x="3678555" y="353758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1" name="Freeform 121"/>
            <p:cNvSpPr/>
            <p:nvPr/>
          </p:nvSpPr>
          <p:spPr>
            <a:xfrm>
              <a:off x="4021455" y="349472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4107180" y="3341370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4216417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9/0</a:t>
              </a:r>
            </a:p>
          </p:txBody>
        </p:sp>
        <p:sp>
          <p:nvSpPr>
            <p:cNvPr id="124" name="Rectangle 124"/>
            <p:cNvSpPr/>
            <p:nvPr/>
          </p:nvSpPr>
          <p:spPr>
            <a:xfrm>
              <a:off x="4618672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25" name="Ellipse 125"/>
            <p:cNvSpPr/>
            <p:nvPr/>
          </p:nvSpPr>
          <p:spPr>
            <a:xfrm>
              <a:off x="4694872" y="350901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26" name="Freeform 126"/>
            <p:cNvSpPr/>
            <p:nvPr/>
          </p:nvSpPr>
          <p:spPr>
            <a:xfrm>
              <a:off x="4723448" y="353758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7" name="Freeform 127"/>
            <p:cNvSpPr/>
            <p:nvPr/>
          </p:nvSpPr>
          <p:spPr>
            <a:xfrm>
              <a:off x="5066348" y="349472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8" name="Rectangle 128"/>
            <p:cNvSpPr/>
            <p:nvPr/>
          </p:nvSpPr>
          <p:spPr>
            <a:xfrm>
              <a:off x="5152072" y="3341370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29" name="TextBox 129"/>
            <p:cNvSpPr txBox="1"/>
            <p:nvPr/>
          </p:nvSpPr>
          <p:spPr>
            <a:xfrm>
              <a:off x="5261309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0/0</a:t>
              </a:r>
            </a:p>
          </p:txBody>
        </p:sp>
        <p:sp>
          <p:nvSpPr>
            <p:cNvPr id="130" name="Rectangle 130"/>
            <p:cNvSpPr/>
            <p:nvPr/>
          </p:nvSpPr>
          <p:spPr>
            <a:xfrm>
              <a:off x="5663565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31" name="Ellipse 131"/>
            <p:cNvSpPr/>
            <p:nvPr/>
          </p:nvSpPr>
          <p:spPr>
            <a:xfrm>
              <a:off x="5739765" y="350901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32" name="Freeform 132"/>
            <p:cNvSpPr/>
            <p:nvPr/>
          </p:nvSpPr>
          <p:spPr>
            <a:xfrm>
              <a:off x="5768340" y="353758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3" name="Freeform 133"/>
            <p:cNvSpPr/>
            <p:nvPr/>
          </p:nvSpPr>
          <p:spPr>
            <a:xfrm>
              <a:off x="6111240" y="349472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4" name="Rectangle 134"/>
            <p:cNvSpPr/>
            <p:nvPr/>
          </p:nvSpPr>
          <p:spPr>
            <a:xfrm>
              <a:off x="6196965" y="3341370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5" name="TextBox 135"/>
            <p:cNvSpPr txBox="1"/>
            <p:nvPr/>
          </p:nvSpPr>
          <p:spPr>
            <a:xfrm>
              <a:off x="6307154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1/1</a:t>
              </a:r>
            </a:p>
          </p:txBody>
        </p:sp>
        <p:sp>
          <p:nvSpPr>
            <p:cNvPr id="136" name="Rectangle 136"/>
            <p:cNvSpPr/>
            <p:nvPr/>
          </p:nvSpPr>
          <p:spPr>
            <a:xfrm>
              <a:off x="6708458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37" name="Ellipse 137"/>
            <p:cNvSpPr/>
            <p:nvPr/>
          </p:nvSpPr>
          <p:spPr>
            <a:xfrm>
              <a:off x="6784658" y="350901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38" name="Freeform 138"/>
            <p:cNvSpPr/>
            <p:nvPr/>
          </p:nvSpPr>
          <p:spPr>
            <a:xfrm>
              <a:off x="6813232" y="353758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9" name="Freeform 139"/>
            <p:cNvSpPr/>
            <p:nvPr/>
          </p:nvSpPr>
          <p:spPr>
            <a:xfrm>
              <a:off x="7156132" y="349472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0" name="Rectangle 140"/>
            <p:cNvSpPr/>
            <p:nvPr/>
          </p:nvSpPr>
          <p:spPr>
            <a:xfrm>
              <a:off x="7241858" y="3341370"/>
              <a:ext cx="511492" cy="39433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141" name="TextBox 141"/>
            <p:cNvSpPr txBox="1"/>
            <p:nvPr/>
          </p:nvSpPr>
          <p:spPr>
            <a:xfrm>
              <a:off x="7352047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6/0</a:t>
              </a:r>
            </a:p>
          </p:txBody>
        </p:sp>
        <p:sp>
          <p:nvSpPr>
            <p:cNvPr id="142" name="Rectangle 142"/>
            <p:cNvSpPr/>
            <p:nvPr/>
          </p:nvSpPr>
          <p:spPr>
            <a:xfrm>
              <a:off x="7753350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43" name="Ellipse 143"/>
            <p:cNvSpPr/>
            <p:nvPr/>
          </p:nvSpPr>
          <p:spPr>
            <a:xfrm>
              <a:off x="7829550" y="350901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44" name="Freeform 144"/>
            <p:cNvSpPr/>
            <p:nvPr/>
          </p:nvSpPr>
          <p:spPr>
            <a:xfrm>
              <a:off x="7858125" y="353758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5" name="Freeform 145"/>
            <p:cNvSpPr/>
            <p:nvPr/>
          </p:nvSpPr>
          <p:spPr>
            <a:xfrm>
              <a:off x="8201025" y="349472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6" name="Rectangle 146"/>
            <p:cNvSpPr/>
            <p:nvPr/>
          </p:nvSpPr>
          <p:spPr>
            <a:xfrm>
              <a:off x="8286750" y="3341370"/>
              <a:ext cx="511492" cy="394335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147" name="TextBox 147"/>
            <p:cNvSpPr txBox="1"/>
            <p:nvPr/>
          </p:nvSpPr>
          <p:spPr>
            <a:xfrm>
              <a:off x="8396939" y="34632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3/0</a:t>
              </a:r>
            </a:p>
          </p:txBody>
        </p:sp>
        <p:sp>
          <p:nvSpPr>
            <p:cNvPr id="148" name="Rectangle 148"/>
            <p:cNvSpPr/>
            <p:nvPr/>
          </p:nvSpPr>
          <p:spPr>
            <a:xfrm>
              <a:off x="8799195" y="3341370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49" name="TextBox 149"/>
            <p:cNvSpPr txBox="1"/>
            <p:nvPr/>
          </p:nvSpPr>
          <p:spPr>
            <a:xfrm>
              <a:off x="8859764" y="346995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527304" y="401859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51" name="Rectangle 151"/>
            <p:cNvSpPr/>
            <p:nvPr/>
          </p:nvSpPr>
          <p:spPr>
            <a:xfrm>
              <a:off x="971550" y="389572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1081739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8/0</a:t>
              </a:r>
            </a:p>
          </p:txBody>
        </p:sp>
        <p:sp>
          <p:nvSpPr>
            <p:cNvPr id="153" name="Rectangle 153"/>
            <p:cNvSpPr/>
            <p:nvPr/>
          </p:nvSpPr>
          <p:spPr>
            <a:xfrm>
              <a:off x="1483042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54" name="Ellipse 154"/>
            <p:cNvSpPr/>
            <p:nvPr/>
          </p:nvSpPr>
          <p:spPr>
            <a:xfrm>
              <a:off x="1559242" y="406431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55" name="Freeform 155"/>
            <p:cNvSpPr/>
            <p:nvPr/>
          </p:nvSpPr>
          <p:spPr>
            <a:xfrm>
              <a:off x="1587818" y="409289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6" name="Freeform 156"/>
            <p:cNvSpPr/>
            <p:nvPr/>
          </p:nvSpPr>
          <p:spPr>
            <a:xfrm>
              <a:off x="1930718" y="405003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7" name="Rectangle 157"/>
            <p:cNvSpPr/>
            <p:nvPr/>
          </p:nvSpPr>
          <p:spPr>
            <a:xfrm>
              <a:off x="2016442" y="389572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8" name="TextBox 158"/>
            <p:cNvSpPr txBox="1"/>
            <p:nvPr/>
          </p:nvSpPr>
          <p:spPr>
            <a:xfrm>
              <a:off x="2126632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5/1</a:t>
              </a:r>
            </a:p>
          </p:txBody>
        </p:sp>
        <p:sp>
          <p:nvSpPr>
            <p:cNvPr id="159" name="Rectangle 159"/>
            <p:cNvSpPr/>
            <p:nvPr/>
          </p:nvSpPr>
          <p:spPr>
            <a:xfrm>
              <a:off x="2527935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60" name="Ellipse 160"/>
            <p:cNvSpPr/>
            <p:nvPr/>
          </p:nvSpPr>
          <p:spPr>
            <a:xfrm>
              <a:off x="2604135" y="406431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61" name="Freeform 161"/>
            <p:cNvSpPr/>
            <p:nvPr/>
          </p:nvSpPr>
          <p:spPr>
            <a:xfrm>
              <a:off x="2632710" y="409289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2" name="Freeform 162"/>
            <p:cNvSpPr/>
            <p:nvPr/>
          </p:nvSpPr>
          <p:spPr>
            <a:xfrm>
              <a:off x="2975610" y="405003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3" name="Rectangle 163"/>
            <p:cNvSpPr/>
            <p:nvPr/>
          </p:nvSpPr>
          <p:spPr>
            <a:xfrm>
              <a:off x="3061335" y="389572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64" name="TextBox 164"/>
            <p:cNvSpPr txBox="1"/>
            <p:nvPr/>
          </p:nvSpPr>
          <p:spPr>
            <a:xfrm>
              <a:off x="3171524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9/0</a:t>
              </a:r>
            </a:p>
          </p:txBody>
        </p:sp>
        <p:sp>
          <p:nvSpPr>
            <p:cNvPr id="165" name="Rectangle 165"/>
            <p:cNvSpPr/>
            <p:nvPr/>
          </p:nvSpPr>
          <p:spPr>
            <a:xfrm>
              <a:off x="3573780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66" name="Ellipse 166"/>
            <p:cNvSpPr/>
            <p:nvPr/>
          </p:nvSpPr>
          <p:spPr>
            <a:xfrm>
              <a:off x="3649980" y="406431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67" name="Freeform 167"/>
            <p:cNvSpPr/>
            <p:nvPr/>
          </p:nvSpPr>
          <p:spPr>
            <a:xfrm>
              <a:off x="3678555" y="409289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8" name="Freeform 168"/>
            <p:cNvSpPr/>
            <p:nvPr/>
          </p:nvSpPr>
          <p:spPr>
            <a:xfrm>
              <a:off x="4021455" y="405003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9" name="Rectangle 169"/>
            <p:cNvSpPr/>
            <p:nvPr/>
          </p:nvSpPr>
          <p:spPr>
            <a:xfrm>
              <a:off x="4107180" y="389572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0" name="TextBox 170"/>
            <p:cNvSpPr txBox="1"/>
            <p:nvPr/>
          </p:nvSpPr>
          <p:spPr>
            <a:xfrm>
              <a:off x="4216417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0/0</a:t>
              </a:r>
            </a:p>
          </p:txBody>
        </p:sp>
        <p:sp>
          <p:nvSpPr>
            <p:cNvPr id="171" name="Rectangle 171"/>
            <p:cNvSpPr/>
            <p:nvPr/>
          </p:nvSpPr>
          <p:spPr>
            <a:xfrm>
              <a:off x="4618672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72" name="Ellipse 172"/>
            <p:cNvSpPr/>
            <p:nvPr/>
          </p:nvSpPr>
          <p:spPr>
            <a:xfrm>
              <a:off x="4694872" y="406431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3" name="Freeform 173"/>
            <p:cNvSpPr/>
            <p:nvPr/>
          </p:nvSpPr>
          <p:spPr>
            <a:xfrm>
              <a:off x="4723448" y="409289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4" name="Freeform 174"/>
            <p:cNvSpPr/>
            <p:nvPr/>
          </p:nvSpPr>
          <p:spPr>
            <a:xfrm>
              <a:off x="5066348" y="405003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5" name="Rectangle 175"/>
            <p:cNvSpPr/>
            <p:nvPr/>
          </p:nvSpPr>
          <p:spPr>
            <a:xfrm>
              <a:off x="5152072" y="389572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6" name="TextBox 176"/>
            <p:cNvSpPr txBox="1"/>
            <p:nvPr/>
          </p:nvSpPr>
          <p:spPr>
            <a:xfrm>
              <a:off x="5261309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1/1</a:t>
              </a:r>
            </a:p>
          </p:txBody>
        </p:sp>
        <p:sp>
          <p:nvSpPr>
            <p:cNvPr id="177" name="Rectangle 177"/>
            <p:cNvSpPr/>
            <p:nvPr/>
          </p:nvSpPr>
          <p:spPr>
            <a:xfrm>
              <a:off x="5663565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78" name="Ellipse 178"/>
            <p:cNvSpPr/>
            <p:nvPr/>
          </p:nvSpPr>
          <p:spPr>
            <a:xfrm>
              <a:off x="5739765" y="406431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79" name="Freeform 179"/>
            <p:cNvSpPr/>
            <p:nvPr/>
          </p:nvSpPr>
          <p:spPr>
            <a:xfrm>
              <a:off x="5768340" y="409289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80" name="Freeform 180"/>
            <p:cNvSpPr/>
            <p:nvPr/>
          </p:nvSpPr>
          <p:spPr>
            <a:xfrm>
              <a:off x="6111240" y="405003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1" name="Rectangle 181"/>
            <p:cNvSpPr/>
            <p:nvPr/>
          </p:nvSpPr>
          <p:spPr>
            <a:xfrm>
              <a:off x="6196965" y="389572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82" name="TextBox 182"/>
            <p:cNvSpPr txBox="1"/>
            <p:nvPr/>
          </p:nvSpPr>
          <p:spPr>
            <a:xfrm>
              <a:off x="6307154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6/0</a:t>
              </a:r>
            </a:p>
          </p:txBody>
        </p:sp>
        <p:sp>
          <p:nvSpPr>
            <p:cNvPr id="183" name="Rectangle 183"/>
            <p:cNvSpPr/>
            <p:nvPr/>
          </p:nvSpPr>
          <p:spPr>
            <a:xfrm>
              <a:off x="6708458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84" name="Ellipse 184"/>
            <p:cNvSpPr/>
            <p:nvPr/>
          </p:nvSpPr>
          <p:spPr>
            <a:xfrm>
              <a:off x="6784658" y="406431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85" name="Freeform 185"/>
            <p:cNvSpPr/>
            <p:nvPr/>
          </p:nvSpPr>
          <p:spPr>
            <a:xfrm>
              <a:off x="6813232" y="409289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86" name="Freeform 186"/>
            <p:cNvSpPr/>
            <p:nvPr/>
          </p:nvSpPr>
          <p:spPr>
            <a:xfrm>
              <a:off x="7156132" y="405003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7" name="Rectangle 187"/>
            <p:cNvSpPr/>
            <p:nvPr/>
          </p:nvSpPr>
          <p:spPr>
            <a:xfrm>
              <a:off x="7241858" y="3895725"/>
              <a:ext cx="511492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88" name="TextBox 188"/>
            <p:cNvSpPr txBox="1"/>
            <p:nvPr/>
          </p:nvSpPr>
          <p:spPr>
            <a:xfrm>
              <a:off x="7352047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3/0</a:t>
              </a:r>
            </a:p>
          </p:txBody>
        </p:sp>
        <p:sp>
          <p:nvSpPr>
            <p:cNvPr id="189" name="Rectangle 189"/>
            <p:cNvSpPr/>
            <p:nvPr/>
          </p:nvSpPr>
          <p:spPr>
            <a:xfrm>
              <a:off x="7753350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90" name="Ellipse 190"/>
            <p:cNvSpPr/>
            <p:nvPr/>
          </p:nvSpPr>
          <p:spPr>
            <a:xfrm>
              <a:off x="7829550" y="406431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91" name="Freeform 191"/>
            <p:cNvSpPr/>
            <p:nvPr/>
          </p:nvSpPr>
          <p:spPr>
            <a:xfrm>
              <a:off x="7858125" y="409289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92" name="Freeform 192"/>
            <p:cNvSpPr/>
            <p:nvPr/>
          </p:nvSpPr>
          <p:spPr>
            <a:xfrm>
              <a:off x="8201025" y="405003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3" name="Rectangle 193"/>
            <p:cNvSpPr/>
            <p:nvPr/>
          </p:nvSpPr>
          <p:spPr>
            <a:xfrm>
              <a:off x="8286750" y="3895725"/>
              <a:ext cx="511492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94" name="TextBox 194"/>
            <p:cNvSpPr txBox="1"/>
            <p:nvPr/>
          </p:nvSpPr>
          <p:spPr>
            <a:xfrm>
              <a:off x="8396939" y="40185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2/1</a:t>
              </a:r>
            </a:p>
          </p:txBody>
        </p:sp>
        <p:sp>
          <p:nvSpPr>
            <p:cNvPr id="195" name="Rectangle 195"/>
            <p:cNvSpPr/>
            <p:nvPr/>
          </p:nvSpPr>
          <p:spPr>
            <a:xfrm>
              <a:off x="8799195" y="3895725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96" name="TextBox 196"/>
            <p:cNvSpPr txBox="1"/>
            <p:nvPr/>
          </p:nvSpPr>
          <p:spPr>
            <a:xfrm>
              <a:off x="8859764" y="402526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</p:grpSp>
      <p:grpSp>
        <p:nvGrpSpPr>
          <p:cNvPr id="221" name="c1-steps-2"/>
          <p:cNvGrpSpPr/>
          <p:nvPr/>
        </p:nvGrpSpPr>
        <p:grpSpPr>
          <a:xfrm>
            <a:off x="533400" y="4470082"/>
            <a:ext cx="11125200" cy="1177290"/>
            <a:chOff x="533400" y="4470082"/>
            <a:chExt cx="11125200" cy="1177290"/>
          </a:xfrm>
        </p:grpSpPr>
        <p:sp>
          <p:nvSpPr>
            <p:cNvPr id="198" name="Rectangle 198"/>
            <p:cNvSpPr/>
            <p:nvPr/>
          </p:nvSpPr>
          <p:spPr>
            <a:xfrm>
              <a:off x="533400" y="4470082"/>
              <a:ext cx="2566988" cy="1177290"/>
            </a:xfrm>
            <a:prstGeom prst="roundRect">
              <a:avLst>
                <a:gd name="adj" fmla="val 970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9" name="Ellipse 199"/>
            <p:cNvSpPr/>
            <p:nvPr/>
          </p:nvSpPr>
          <p:spPr>
            <a:xfrm>
              <a:off x="666750" y="46034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0" name="TextBox 200"/>
            <p:cNvSpPr txBox="1"/>
            <p:nvPr/>
          </p:nvSpPr>
          <p:spPr>
            <a:xfrm>
              <a:off x="756883" y="46739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1" name="TextBox 201"/>
            <p:cNvSpPr txBox="1"/>
            <p:nvPr/>
          </p:nvSpPr>
          <p:spPr>
            <a:xfrm>
              <a:off x="659511" y="5007769"/>
              <a:ext cx="9497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检查链首 6</a:t>
              </a:r>
            </a:p>
          </p:txBody>
        </p:sp>
        <p:sp>
          <p:nvSpPr>
            <p:cNvPr id="202" name="TextBox 202"/>
            <p:cNvSpPr txBox="1"/>
            <p:nvPr/>
          </p:nvSpPr>
          <p:spPr>
            <a:xfrm>
              <a:off x="660654" y="5307330"/>
              <a:ext cx="16437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1：清 0，移到链尾</a:t>
              </a:r>
            </a:p>
          </p:txBody>
        </p:sp>
        <p:sp>
          <p:nvSpPr>
            <p:cNvPr id="203" name="Freeform 203"/>
            <p:cNvSpPr/>
            <p:nvPr/>
          </p:nvSpPr>
          <p:spPr>
            <a:xfrm>
              <a:off x="3176588" y="497300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04" name="Rectangle 204"/>
            <p:cNvSpPr/>
            <p:nvPr/>
          </p:nvSpPr>
          <p:spPr>
            <a:xfrm>
              <a:off x="3386138" y="4470082"/>
              <a:ext cx="2566988" cy="1177290"/>
            </a:xfrm>
            <a:prstGeom prst="roundRect">
              <a:avLst>
                <a:gd name="adj" fmla="val 970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5" name="Ellipse 205"/>
            <p:cNvSpPr/>
            <p:nvPr/>
          </p:nvSpPr>
          <p:spPr>
            <a:xfrm>
              <a:off x="3519488" y="46034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6" name="TextBox 206"/>
            <p:cNvSpPr txBox="1"/>
            <p:nvPr/>
          </p:nvSpPr>
          <p:spPr>
            <a:xfrm>
              <a:off x="3609621" y="46739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3512248" y="5007769"/>
              <a:ext cx="9497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检查链首 3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3513392" y="5307330"/>
              <a:ext cx="16437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1：清 0，移到链尾</a:t>
              </a:r>
            </a:p>
          </p:txBody>
        </p:sp>
        <p:sp>
          <p:nvSpPr>
            <p:cNvPr id="209" name="Freeform 209"/>
            <p:cNvSpPr/>
            <p:nvPr/>
          </p:nvSpPr>
          <p:spPr>
            <a:xfrm>
              <a:off x="6029325" y="497300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0" name="Rectangle 210"/>
            <p:cNvSpPr/>
            <p:nvPr/>
          </p:nvSpPr>
          <p:spPr>
            <a:xfrm>
              <a:off x="6238875" y="4470082"/>
              <a:ext cx="2566988" cy="1177290"/>
            </a:xfrm>
            <a:prstGeom prst="roundRect">
              <a:avLst>
                <a:gd name="adj" fmla="val 970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1" name="Ellipse 211"/>
            <p:cNvSpPr/>
            <p:nvPr/>
          </p:nvSpPr>
          <p:spPr>
            <a:xfrm>
              <a:off x="6372225" y="46034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2" name="TextBox 212"/>
            <p:cNvSpPr txBox="1"/>
            <p:nvPr/>
          </p:nvSpPr>
          <p:spPr>
            <a:xfrm>
              <a:off x="6462358" y="46739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3" name="TextBox 213"/>
            <p:cNvSpPr txBox="1"/>
            <p:nvPr/>
          </p:nvSpPr>
          <p:spPr>
            <a:xfrm>
              <a:off x="6364986" y="5007769"/>
              <a:ext cx="9497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检查链首 4</a:t>
              </a:r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6366129" y="5307330"/>
              <a:ext cx="11591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0：淘汰页 4</a:t>
              </a:r>
            </a:p>
          </p:txBody>
        </p:sp>
        <p:sp>
          <p:nvSpPr>
            <p:cNvPr id="215" name="Freeform 215"/>
            <p:cNvSpPr/>
            <p:nvPr/>
          </p:nvSpPr>
          <p:spPr>
            <a:xfrm>
              <a:off x="8882062" y="497300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6" name="Rectangle 216"/>
            <p:cNvSpPr/>
            <p:nvPr/>
          </p:nvSpPr>
          <p:spPr>
            <a:xfrm>
              <a:off x="9091612" y="4470082"/>
              <a:ext cx="2566988" cy="1177290"/>
            </a:xfrm>
            <a:prstGeom prst="roundRect">
              <a:avLst>
                <a:gd name="adj" fmla="val 970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7" name="Ellipse 217"/>
            <p:cNvSpPr/>
            <p:nvPr/>
          </p:nvSpPr>
          <p:spPr>
            <a:xfrm>
              <a:off x="9224962" y="46034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8" name="TextBox 218"/>
            <p:cNvSpPr txBox="1"/>
            <p:nvPr/>
          </p:nvSpPr>
          <p:spPr>
            <a:xfrm>
              <a:off x="9315096" y="46739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9" name="TextBox 219"/>
            <p:cNvSpPr txBox="1"/>
            <p:nvPr/>
          </p:nvSpPr>
          <p:spPr>
            <a:xfrm>
              <a:off x="9217724" y="5007769"/>
              <a:ext cx="7585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调入页 2</a:t>
              </a:r>
            </a:p>
          </p:txBody>
        </p:sp>
        <p:sp>
          <p:nvSpPr>
            <p:cNvPr id="220" name="TextBox 220"/>
            <p:cNvSpPr txBox="1"/>
            <p:nvPr/>
          </p:nvSpPr>
          <p:spPr>
            <a:xfrm>
              <a:off x="9218866" y="5307330"/>
              <a:ext cx="1183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挂到链尾，r = 1</a:t>
              </a:r>
            </a:p>
          </p:txBody>
        </p:sp>
      </p:grpSp>
      <p:grpSp>
        <p:nvGrpSpPr>
          <p:cNvPr id="228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222" name="Rectangle 222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26" name="Group 226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223" name="Freeform 223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4" name="Freeform 224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5" name="Freeform 225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27" name="TextBox 227"/>
            <p:cNvSpPr txBox="1"/>
            <p:nvPr/>
          </p:nvSpPr>
          <p:spPr>
            <a:xfrm>
              <a:off x="1040511" y="6011704"/>
              <a:ext cx="63620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所有页的 r 都为 1 时，转完一圈回到原链首将其淘汰，结果与 FIFO 相同。</a:t>
              </a:r>
            </a:p>
          </p:txBody>
        </p:sp>
      </p:grpSp>
      <p:grpSp>
        <p:nvGrpSpPr>
          <p:cNvPr id="2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9" name="TextBox 22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230" name="TextBox 2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79164" cy="909257"/>
            <a:chOff x="520446" y="342900"/>
            <a:chExt cx="86791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791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时钟算法：页面排成环，指针扫到访问位为 0 的页就替换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4977765" cy="2607945"/>
            <a:chOff x="533400" y="1524000"/>
            <a:chExt cx="4977765" cy="26079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607945"/>
            </a:xfrm>
            <a:prstGeom prst="roundRect">
              <a:avLst>
                <a:gd name="adj" fmla="val 5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4124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3850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5006" y="1769269"/>
              <a:ext cx="23171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8. 时钟算法（clock algorithm）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页面组织成环形，指针指向当前位置。需要淘汰页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面时，从指针所指的页开始检查：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1050" y="271843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2899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2040" y="2731770"/>
              <a:ext cx="3930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访问位 r = 0：从上次检查到现在没被访问过，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替换该页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1050" y="333946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899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2040" y="3352800"/>
              <a:ext cx="3266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1：清 0，指针顺时针移到下一页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1050" y="367474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2899" y="37170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82040" y="3688080"/>
              <a:ext cx="2408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重复，直到找到 r = 0 的页</a:t>
              </a:r>
            </a:p>
          </p:txBody>
        </p:sp>
      </p:grpSp>
      <p:grpSp>
        <p:nvGrpSpPr>
          <p:cNvPr id="41" name="c1-table-2"/>
          <p:cNvGrpSpPr/>
          <p:nvPr/>
        </p:nvGrpSpPr>
        <p:grpSpPr>
          <a:xfrm>
            <a:off x="533400" y="4322445"/>
            <a:ext cx="4977765" cy="2022158"/>
            <a:chOff x="533400" y="4322445"/>
            <a:chExt cx="4977765" cy="2022158"/>
          </a:xfrm>
        </p:grpSpPr>
        <p:sp>
          <p:nvSpPr>
            <p:cNvPr id="22" name="Rectangle 22"/>
            <p:cNvSpPr/>
            <p:nvPr/>
          </p:nvSpPr>
          <p:spPr>
            <a:xfrm>
              <a:off x="533400" y="4322445"/>
              <a:ext cx="497776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2297" y="445817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48268" y="44581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二次机会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9463" y="44581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时钟算法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1223" y="49068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淘汰效果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36598" y="49068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基本相同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677793" y="49068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基本相同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21493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5219700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53554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数据结构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36598" y="53554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677793" y="5355431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 + 一个指针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66451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1223" y="59174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开销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736598" y="580405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要额外存储空间，摘链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入链慢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677793" y="5804059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直接用页表中的访问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位，快且省空间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322445"/>
              <a:ext cx="4977765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624012" y="432244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565208" y="432244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9" name="c2-graph-1"/>
          <p:cNvGrpSpPr/>
          <p:nvPr/>
        </p:nvGrpSpPr>
        <p:grpSpPr>
          <a:xfrm>
            <a:off x="5810250" y="1553051"/>
            <a:ext cx="5744528" cy="4379119"/>
            <a:chOff x="5810250" y="1553051"/>
            <a:chExt cx="5744528" cy="4379119"/>
          </a:xfrm>
        </p:grpSpPr>
        <p:sp>
          <p:nvSpPr>
            <p:cNvPr id="42" name="Freeform 42"/>
            <p:cNvSpPr/>
            <p:nvPr/>
          </p:nvSpPr>
          <p:spPr>
            <a:xfrm>
              <a:off x="9177338" y="2447925"/>
              <a:ext cx="520065" cy="177165"/>
            </a:xfrm>
            <a:custGeom>
              <a:avLst/>
              <a:gdLst/>
              <a:ahLst/>
              <a:cxnLst/>
              <a:rect l="l" t="t" r="r" b="b"/>
              <a:pathLst>
                <a:path w="520065" h="177165">
                  <a:moveTo>
                    <a:pt x="0" y="0"/>
                  </a:moveTo>
                  <a:lnTo>
                    <a:pt x="520065" y="17716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681210" y="2580322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76200"/>
                  </a:moveTo>
                  <a:lnTo>
                    <a:pt x="0" y="90488"/>
                  </a:lnTo>
                  <a:lnTo>
                    <a:pt x="31433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10301288" y="2956560"/>
              <a:ext cx="421957" cy="848678"/>
            </a:xfrm>
            <a:custGeom>
              <a:avLst/>
              <a:gdLst/>
              <a:ahLst/>
              <a:cxnLst/>
              <a:rect l="l" t="t" r="r" b="b"/>
              <a:pathLst>
                <a:path w="421957" h="848678">
                  <a:moveTo>
                    <a:pt x="0" y="0"/>
                  </a:moveTo>
                  <a:lnTo>
                    <a:pt x="421957" y="848678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681335" y="3783330"/>
              <a:ext cx="84772" cy="106680"/>
            </a:xfrm>
            <a:custGeom>
              <a:avLst/>
              <a:gdLst/>
              <a:ahLst/>
              <a:cxnLst/>
              <a:rect l="l" t="t" r="r" b="b"/>
              <a:pathLst>
                <a:path w="84772" h="106680">
                  <a:moveTo>
                    <a:pt x="84772" y="106680"/>
                  </a:moveTo>
                  <a:lnTo>
                    <a:pt x="0" y="42862"/>
                  </a:lnTo>
                  <a:lnTo>
                    <a:pt x="84772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10344150" y="4190048"/>
              <a:ext cx="421957" cy="848678"/>
            </a:xfrm>
            <a:custGeom>
              <a:avLst/>
              <a:gdLst/>
              <a:ahLst/>
              <a:cxnLst/>
              <a:rect l="l" t="t" r="r" b="b"/>
              <a:pathLst>
                <a:path w="421957" h="848678">
                  <a:moveTo>
                    <a:pt x="421957" y="0"/>
                  </a:moveTo>
                  <a:lnTo>
                    <a:pt x="0" y="848678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301288" y="5017770"/>
              <a:ext cx="85725" cy="106680"/>
            </a:xfrm>
            <a:custGeom>
              <a:avLst/>
              <a:gdLst/>
              <a:ahLst/>
              <a:cxnLst/>
              <a:rect l="l" t="t" r="r" b="b"/>
              <a:pathLst>
                <a:path w="85725" h="106680">
                  <a:moveTo>
                    <a:pt x="0" y="106680"/>
                  </a:moveTo>
                  <a:lnTo>
                    <a:pt x="0" y="0"/>
                  </a:lnTo>
                  <a:lnTo>
                    <a:pt x="85725" y="4191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9266872" y="5424488"/>
              <a:ext cx="520065" cy="177165"/>
            </a:xfrm>
            <a:custGeom>
              <a:avLst/>
              <a:gdLst/>
              <a:ahLst/>
              <a:cxnLst/>
              <a:rect l="l" t="t" r="r" b="b"/>
              <a:pathLst>
                <a:path w="520065" h="177165">
                  <a:moveTo>
                    <a:pt x="520065" y="0"/>
                  </a:moveTo>
                  <a:lnTo>
                    <a:pt x="0" y="177165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9177338" y="5555932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0" y="76200"/>
                  </a:moveTo>
                  <a:lnTo>
                    <a:pt x="74295" y="0"/>
                  </a:lnTo>
                  <a:lnTo>
                    <a:pt x="104775" y="90488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7777162" y="5454968"/>
              <a:ext cx="520065" cy="177165"/>
            </a:xfrm>
            <a:custGeom>
              <a:avLst/>
              <a:gdLst/>
              <a:ahLst/>
              <a:cxnLst/>
              <a:rect l="l" t="t" r="r" b="b"/>
              <a:pathLst>
                <a:path w="520065" h="177165">
                  <a:moveTo>
                    <a:pt x="520065" y="17716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7686675" y="5409248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0" y="15240"/>
                  </a:moveTo>
                  <a:lnTo>
                    <a:pt x="105728" y="0"/>
                  </a:lnTo>
                  <a:lnTo>
                    <a:pt x="75247" y="90488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6750368" y="4275772"/>
              <a:ext cx="421957" cy="848678"/>
            </a:xfrm>
            <a:custGeom>
              <a:avLst/>
              <a:gdLst/>
              <a:ahLst/>
              <a:cxnLst/>
              <a:rect l="l" t="t" r="r" b="b"/>
              <a:pathLst>
                <a:path w="421957" h="848678">
                  <a:moveTo>
                    <a:pt x="421957" y="84867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6707505" y="4190048"/>
              <a:ext cx="85725" cy="106680"/>
            </a:xfrm>
            <a:custGeom>
              <a:avLst/>
              <a:gdLst/>
              <a:ahLst/>
              <a:cxnLst/>
              <a:rect l="l" t="t" r="r" b="b"/>
              <a:pathLst>
                <a:path w="85725" h="106680">
                  <a:moveTo>
                    <a:pt x="952" y="0"/>
                  </a:moveTo>
                  <a:lnTo>
                    <a:pt x="85725" y="63818"/>
                  </a:lnTo>
                  <a:lnTo>
                    <a:pt x="0" y="10668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6708458" y="3041332"/>
              <a:ext cx="421958" cy="848677"/>
            </a:xfrm>
            <a:custGeom>
              <a:avLst/>
              <a:gdLst/>
              <a:ahLst/>
              <a:cxnLst/>
              <a:rect l="l" t="t" r="r" b="b"/>
              <a:pathLst>
                <a:path w="421958" h="848677">
                  <a:moveTo>
                    <a:pt x="0" y="848677"/>
                  </a:moveTo>
                  <a:lnTo>
                    <a:pt x="421958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7087552" y="2956560"/>
              <a:ext cx="84772" cy="106680"/>
            </a:xfrm>
            <a:custGeom>
              <a:avLst/>
              <a:gdLst/>
              <a:ahLst/>
              <a:cxnLst/>
              <a:rect l="l" t="t" r="r" b="b"/>
              <a:pathLst>
                <a:path w="84772" h="106680">
                  <a:moveTo>
                    <a:pt x="84772" y="0"/>
                  </a:moveTo>
                  <a:lnTo>
                    <a:pt x="84772" y="106680"/>
                  </a:lnTo>
                  <a:lnTo>
                    <a:pt x="0" y="63818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7686675" y="2479358"/>
              <a:ext cx="520065" cy="177165"/>
            </a:xfrm>
            <a:custGeom>
              <a:avLst/>
              <a:gdLst/>
              <a:ahLst/>
              <a:cxnLst/>
              <a:rect l="l" t="t" r="r" b="b"/>
              <a:pathLst>
                <a:path w="520065" h="177165">
                  <a:moveTo>
                    <a:pt x="0" y="177165"/>
                  </a:moveTo>
                  <a:lnTo>
                    <a:pt x="520065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8191500" y="2433638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14288"/>
                  </a:moveTo>
                  <a:lnTo>
                    <a:pt x="30480" y="904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8737282" y="2543175"/>
              <a:ext cx="9525" cy="1249680"/>
            </a:xfrm>
            <a:custGeom>
              <a:avLst/>
              <a:gdLst/>
              <a:ahLst/>
              <a:cxnLst/>
              <a:rect l="l" t="t" r="r" b="b"/>
              <a:pathLst>
                <a:path w="9525" h="1249680">
                  <a:moveTo>
                    <a:pt x="0" y="124968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8689658" y="24479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022908" y="2147888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9512618" y="2656522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10126028" y="3890010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9512618" y="5124450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8022908" y="5632132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533198" y="5124450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5918835" y="3890010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533198" y="2656522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8" name="Ellipse 68"/>
            <p:cNvSpPr/>
            <p:nvPr/>
          </p:nvSpPr>
          <p:spPr>
            <a:xfrm>
              <a:off x="8500110" y="3803332"/>
              <a:ext cx="474345" cy="474345"/>
            </a:xfrm>
            <a:prstGeom prst="ellipse">
              <a:avLst/>
            </a:prstGeom>
            <a:solidFill>
              <a:srgbClr val="F26B3A"/>
            </a:solidFill>
            <a:ln w="17145">
              <a:solidFill>
                <a:srgbClr val="F26B3A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272083" y="2228374"/>
              <a:ext cx="930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框12 页6 r=1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761793" y="2736056"/>
              <a:ext cx="930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框23 页3 r=1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375203" y="3970496"/>
              <a:ext cx="930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框51 页4 r=0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805329" y="5203984"/>
              <a:ext cx="8433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框6 页8 r=0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28546" y="5711666"/>
              <a:ext cx="1017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框81 页10 r=1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782373" y="5203984"/>
              <a:ext cx="930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框96 页9 r=0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168010" y="3970496"/>
              <a:ext cx="930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框60 页0 r=0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825909" y="2736056"/>
              <a:ext cx="8433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 页1 r=1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8580793" y="3970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5810250" y="1553051"/>
              <a:ext cx="23114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访问页 18 之前（指针指向框 12）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53262" cy="909257"/>
            <a:chOff x="520446" y="342900"/>
            <a:chExt cx="94532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532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时钟算法例：访问页 18，清掉页 6、页 3 的访问位后替换页 4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table-1"/>
          <p:cNvGrpSpPr/>
          <p:nvPr/>
        </p:nvGrpSpPr>
        <p:grpSpPr>
          <a:xfrm>
            <a:off x="533400" y="1524000"/>
            <a:ext cx="4977765" cy="2335530"/>
            <a:chOff x="533400" y="1524000"/>
            <a:chExt cx="4977765" cy="23355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95134" y="165258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97724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指针所指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19071" y="165258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24815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29261" y="20764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4046" y="207645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 12：页 6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21292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422904" y="2076450"/>
              <a:ext cx="11187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 0，指针后移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6791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72678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29261" y="25012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4046" y="2501265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 23：页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021292" y="250126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22904" y="2501265"/>
              <a:ext cx="11187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 0，指针后移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79273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29261" y="2926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34046" y="2926080"/>
              <a:ext cx="86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 51：页 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21292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422904" y="2926080"/>
              <a:ext cx="15072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替换为页 18，r 置 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165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221355"/>
              <a:ext cx="497776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29261" y="345662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34046" y="3456622"/>
              <a:ext cx="7714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 6：页 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422904" y="3349942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指针停在这里，下次从这里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4977765" cy="2335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26795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818448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315652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1-callout-2"/>
          <p:cNvGrpSpPr/>
          <p:nvPr/>
        </p:nvGrpSpPr>
        <p:grpSpPr>
          <a:xfrm>
            <a:off x="533400" y="4039552"/>
            <a:ext cx="4977765" cy="756285"/>
            <a:chOff x="533400" y="4039552"/>
            <a:chExt cx="4977765" cy="756285"/>
          </a:xfrm>
        </p:grpSpPr>
        <p:sp>
          <p:nvSpPr>
            <p:cNvPr id="37" name="Rectangle 37"/>
            <p:cNvSpPr/>
            <p:nvPr/>
          </p:nvSpPr>
          <p:spPr>
            <a:xfrm>
              <a:off x="533400" y="4039552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4317683"/>
              <a:ext cx="200026" cy="200025"/>
              <a:chOff x="738188" y="4317683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43176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77926" y="43621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12642" y="44732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511" y="4186714"/>
              <a:ext cx="401802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替换后框 51 装入页 18。框 12、框 23 的页没有被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换出，只是用掉了“第二次机会”。</a:t>
              </a:r>
            </a:p>
          </p:txBody>
        </p:sp>
      </p:grpSp>
      <p:grpSp>
        <p:nvGrpSpPr>
          <p:cNvPr id="49" name="c1-card-3"/>
          <p:cNvGrpSpPr/>
          <p:nvPr/>
        </p:nvGrpSpPr>
        <p:grpSpPr>
          <a:xfrm>
            <a:off x="533400" y="4975860"/>
            <a:ext cx="4977765" cy="1250632"/>
            <a:chOff x="533400" y="4975860"/>
            <a:chExt cx="4977765" cy="1250632"/>
          </a:xfrm>
        </p:grpSpPr>
        <p:sp>
          <p:nvSpPr>
            <p:cNvPr id="44" name="Rectangle 44"/>
            <p:cNvSpPr/>
            <p:nvPr/>
          </p:nvSpPr>
          <p:spPr>
            <a:xfrm>
              <a:off x="533400" y="4975860"/>
              <a:ext cx="497776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542925" y="510921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69620" y="517398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61060" y="52082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381" y="5534501"/>
              <a:ext cx="423443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3 张分步图中页 6 仍画成 r=1。第 1 步已把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它清 0，应为 r=0，与前后两张图一致。</a:t>
              </a:r>
            </a:p>
          </p:txBody>
        </p:sp>
      </p:grpSp>
      <p:grpSp>
        <p:nvGrpSpPr>
          <p:cNvPr id="87" name="c2-graph-1"/>
          <p:cNvGrpSpPr/>
          <p:nvPr/>
        </p:nvGrpSpPr>
        <p:grpSpPr>
          <a:xfrm>
            <a:off x="5810631" y="1555432"/>
            <a:ext cx="5701284" cy="4366832"/>
            <a:chOff x="5810631" y="1555432"/>
            <a:chExt cx="5701284" cy="4366832"/>
          </a:xfrm>
        </p:grpSpPr>
        <p:sp>
          <p:nvSpPr>
            <p:cNvPr id="50" name="Freeform 50"/>
            <p:cNvSpPr/>
            <p:nvPr/>
          </p:nvSpPr>
          <p:spPr>
            <a:xfrm>
              <a:off x="9147810" y="2438400"/>
              <a:ext cx="578168" cy="197167"/>
            </a:xfrm>
            <a:custGeom>
              <a:avLst/>
              <a:gdLst/>
              <a:ahLst/>
              <a:cxnLst/>
              <a:rect l="l" t="t" r="r" b="b"/>
              <a:pathLst>
                <a:path w="578168" h="197167">
                  <a:moveTo>
                    <a:pt x="0" y="0"/>
                  </a:moveTo>
                  <a:lnTo>
                    <a:pt x="578168" y="197167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9710738" y="2590800"/>
              <a:ext cx="105727" cy="89535"/>
            </a:xfrm>
            <a:custGeom>
              <a:avLst/>
              <a:gdLst/>
              <a:ahLst/>
              <a:cxnLst/>
              <a:rect l="l" t="t" r="r" b="b"/>
              <a:pathLst>
                <a:path w="105727" h="89535">
                  <a:moveTo>
                    <a:pt x="105727" y="75247"/>
                  </a:moveTo>
                  <a:lnTo>
                    <a:pt x="0" y="89535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10296525" y="2946082"/>
              <a:ext cx="432435" cy="868680"/>
            </a:xfrm>
            <a:custGeom>
              <a:avLst/>
              <a:gdLst/>
              <a:ahLst/>
              <a:cxnLst/>
              <a:rect l="l" t="t" r="r" b="b"/>
              <a:pathLst>
                <a:path w="432435" h="868680">
                  <a:moveTo>
                    <a:pt x="0" y="0"/>
                  </a:moveTo>
                  <a:lnTo>
                    <a:pt x="432435" y="86868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0686098" y="3793808"/>
              <a:ext cx="84772" cy="106680"/>
            </a:xfrm>
            <a:custGeom>
              <a:avLst/>
              <a:gdLst/>
              <a:ahLst/>
              <a:cxnLst/>
              <a:rect l="l" t="t" r="r" b="b"/>
              <a:pathLst>
                <a:path w="84772" h="106680">
                  <a:moveTo>
                    <a:pt x="84772" y="106680"/>
                  </a:moveTo>
                  <a:lnTo>
                    <a:pt x="0" y="41910"/>
                  </a:lnTo>
                  <a:lnTo>
                    <a:pt x="84772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10339388" y="4180522"/>
              <a:ext cx="431482" cy="867728"/>
            </a:xfrm>
            <a:custGeom>
              <a:avLst/>
              <a:gdLst/>
              <a:ahLst/>
              <a:cxnLst/>
              <a:rect l="l" t="t" r="r" b="b"/>
              <a:pathLst>
                <a:path w="431482" h="867728">
                  <a:moveTo>
                    <a:pt x="431482" y="0"/>
                  </a:moveTo>
                  <a:lnTo>
                    <a:pt x="0" y="867728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10296525" y="5027295"/>
              <a:ext cx="84773" cy="106680"/>
            </a:xfrm>
            <a:custGeom>
              <a:avLst/>
              <a:gdLst/>
              <a:ahLst/>
              <a:cxnLst/>
              <a:rect l="l" t="t" r="r" b="b"/>
              <a:pathLst>
                <a:path w="84773" h="106680">
                  <a:moveTo>
                    <a:pt x="0" y="106680"/>
                  </a:moveTo>
                  <a:lnTo>
                    <a:pt x="0" y="0"/>
                  </a:lnTo>
                  <a:lnTo>
                    <a:pt x="84773" y="42862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9238298" y="5414010"/>
              <a:ext cx="578167" cy="197168"/>
            </a:xfrm>
            <a:custGeom>
              <a:avLst/>
              <a:gdLst/>
              <a:ahLst/>
              <a:cxnLst/>
              <a:rect l="l" t="t" r="r" b="b"/>
              <a:pathLst>
                <a:path w="578167" h="197168">
                  <a:moveTo>
                    <a:pt x="578167" y="0"/>
                  </a:moveTo>
                  <a:lnTo>
                    <a:pt x="0" y="197168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9147810" y="5566410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0" y="75247"/>
                  </a:moveTo>
                  <a:lnTo>
                    <a:pt x="74295" y="0"/>
                  </a:lnTo>
                  <a:lnTo>
                    <a:pt x="105728" y="8953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7747635" y="5444490"/>
              <a:ext cx="579120" cy="197167"/>
            </a:xfrm>
            <a:custGeom>
              <a:avLst/>
              <a:gdLst/>
              <a:ahLst/>
              <a:cxnLst/>
              <a:rect l="l" t="t" r="r" b="b"/>
              <a:pathLst>
                <a:path w="579120" h="197167">
                  <a:moveTo>
                    <a:pt x="579120" y="197167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7658100" y="5399722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0" y="14288"/>
                  </a:moveTo>
                  <a:lnTo>
                    <a:pt x="104775" y="0"/>
                  </a:lnTo>
                  <a:lnTo>
                    <a:pt x="74295" y="90488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0" name="Freeform 60"/>
            <p:cNvSpPr/>
            <p:nvPr/>
          </p:nvSpPr>
          <p:spPr>
            <a:xfrm>
              <a:off x="6745605" y="4265295"/>
              <a:ext cx="431482" cy="868680"/>
            </a:xfrm>
            <a:custGeom>
              <a:avLst/>
              <a:gdLst/>
              <a:ahLst/>
              <a:cxnLst/>
              <a:rect l="l" t="t" r="r" b="b"/>
              <a:pathLst>
                <a:path w="431482" h="868680">
                  <a:moveTo>
                    <a:pt x="431482" y="86868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6702742" y="4180522"/>
              <a:ext cx="85725" cy="105728"/>
            </a:xfrm>
            <a:custGeom>
              <a:avLst/>
              <a:gdLst/>
              <a:ahLst/>
              <a:cxnLst/>
              <a:rect l="l" t="t" r="r" b="b"/>
              <a:pathLst>
                <a:path w="85725" h="105728">
                  <a:moveTo>
                    <a:pt x="952" y="0"/>
                  </a:moveTo>
                  <a:lnTo>
                    <a:pt x="85725" y="63818"/>
                  </a:lnTo>
                  <a:lnTo>
                    <a:pt x="0" y="105728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6703695" y="3031808"/>
              <a:ext cx="431483" cy="868680"/>
            </a:xfrm>
            <a:custGeom>
              <a:avLst/>
              <a:gdLst/>
              <a:ahLst/>
              <a:cxnLst/>
              <a:rect l="l" t="t" r="r" b="b"/>
              <a:pathLst>
                <a:path w="431483" h="868680">
                  <a:moveTo>
                    <a:pt x="0" y="868680"/>
                  </a:moveTo>
                  <a:lnTo>
                    <a:pt x="431483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7092315" y="2946082"/>
              <a:ext cx="85725" cy="106680"/>
            </a:xfrm>
            <a:custGeom>
              <a:avLst/>
              <a:gdLst/>
              <a:ahLst/>
              <a:cxnLst/>
              <a:rect l="l" t="t" r="r" b="b"/>
              <a:pathLst>
                <a:path w="85725" h="106680">
                  <a:moveTo>
                    <a:pt x="84772" y="0"/>
                  </a:moveTo>
                  <a:lnTo>
                    <a:pt x="85725" y="106680"/>
                  </a:lnTo>
                  <a:lnTo>
                    <a:pt x="0" y="63817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4" name="Freeform 64"/>
            <p:cNvSpPr/>
            <p:nvPr/>
          </p:nvSpPr>
          <p:spPr>
            <a:xfrm>
              <a:off x="7658100" y="2468880"/>
              <a:ext cx="578168" cy="197167"/>
            </a:xfrm>
            <a:custGeom>
              <a:avLst/>
              <a:gdLst/>
              <a:ahLst/>
              <a:cxnLst/>
              <a:rect l="l" t="t" r="r" b="b"/>
              <a:pathLst>
                <a:path w="578168" h="197167">
                  <a:moveTo>
                    <a:pt x="0" y="197167"/>
                  </a:moveTo>
                  <a:lnTo>
                    <a:pt x="578168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8221028" y="2424112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105728" y="14288"/>
                  </a:moveTo>
                  <a:lnTo>
                    <a:pt x="30480" y="89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6" name="Freeform 66"/>
            <p:cNvSpPr/>
            <p:nvPr/>
          </p:nvSpPr>
          <p:spPr>
            <a:xfrm>
              <a:off x="8920162" y="4191952"/>
              <a:ext cx="1064895" cy="881062"/>
            </a:xfrm>
            <a:custGeom>
              <a:avLst/>
              <a:gdLst/>
              <a:ahLst/>
              <a:cxnLst/>
              <a:rect l="l" t="t" r="r" b="b"/>
              <a:pathLst>
                <a:path w="1064895" h="881062">
                  <a:moveTo>
                    <a:pt x="0" y="0"/>
                  </a:moveTo>
                  <a:lnTo>
                    <a:pt x="1064895" y="881062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9954578" y="5036820"/>
              <a:ext cx="103823" cy="97155"/>
            </a:xfrm>
            <a:custGeom>
              <a:avLst/>
              <a:gdLst/>
              <a:ahLst/>
              <a:cxnLst/>
              <a:rect l="l" t="t" r="r" b="b"/>
              <a:pathLst>
                <a:path w="103823" h="97155">
                  <a:moveTo>
                    <a:pt x="103823" y="97155"/>
                  </a:moveTo>
                  <a:lnTo>
                    <a:pt x="0" y="73343"/>
                  </a:lnTo>
                  <a:lnTo>
                    <a:pt x="60008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8065770" y="2158365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9555480" y="2666048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10168890" y="3900488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9555480" y="5133975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8065770" y="5641658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6576060" y="5133975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5961698" y="3900488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6576060" y="2666048"/>
              <a:ext cx="1343025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6" name="Ellipse 76"/>
            <p:cNvSpPr/>
            <p:nvPr/>
          </p:nvSpPr>
          <p:spPr>
            <a:xfrm>
              <a:off x="8508682" y="3811905"/>
              <a:ext cx="457200" cy="457200"/>
            </a:xfrm>
            <a:prstGeom prst="ellipse">
              <a:avLst/>
            </a:prstGeom>
            <a:solidFill>
              <a:srgbClr val="F26B3A"/>
            </a:solidFill>
            <a:ln w="17145">
              <a:solidFill>
                <a:srgbClr val="F26B3A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8301181" y="2232660"/>
              <a:ext cx="8722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框12 页6 r=0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790891" y="2741295"/>
              <a:ext cx="8722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框23 页3 r=0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363486" y="3974782"/>
              <a:ext cx="9538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框51 页18 r=1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831706" y="5208270"/>
              <a:ext cx="790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框6 页8 r=0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260366" y="5716905"/>
              <a:ext cx="9538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框81 页10 r=1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811471" y="5208270"/>
              <a:ext cx="8722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框96 页9 r=0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197109" y="3974782"/>
              <a:ext cx="8722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框60 页0 r=0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852286" y="2741295"/>
              <a:ext cx="790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 页1 r=1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590598" y="39747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5810631" y="1555432"/>
              <a:ext cx="16916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替换之后（指针指向框 6）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97945" cy="909257"/>
            <a:chOff x="520446" y="342900"/>
            <a:chExt cx="69979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979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改进的时钟算法：同时看访问位 r 和修改位 m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table-1"/>
          <p:cNvGrpSpPr/>
          <p:nvPr/>
        </p:nvGrpSpPr>
        <p:grpSpPr>
          <a:xfrm>
            <a:off x="533400" y="1524000"/>
            <a:ext cx="4977765" cy="2335530"/>
            <a:chOff x="533400" y="1524000"/>
            <a:chExt cx="4977765" cy="23355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04496" y="165258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35209" y="1652588"/>
              <a:ext cx="1394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194941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页面情况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397692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4496" y="20764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54392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32192" y="207645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最近没访问，也没修改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21989" y="207645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最佳淘汰页面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6791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72678"/>
              <a:ext cx="497776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04496" y="26079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54392" y="260794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32192" y="260794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最近没访问，但修改过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21989" y="2501265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可以淘汰，淘汰前要写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00609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04496" y="313944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54392" y="313944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32192" y="313944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最近访问过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21989" y="313944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不淘汰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42995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434715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04496" y="356330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4392" y="356330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532192" y="356330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最近访问过，也修改过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21989" y="356330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不淘汰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4977765" cy="2335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976312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424940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614738" y="1524000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1-callout-2"/>
          <p:cNvGrpSpPr/>
          <p:nvPr/>
        </p:nvGrpSpPr>
        <p:grpSpPr>
          <a:xfrm>
            <a:off x="533400" y="4039552"/>
            <a:ext cx="4977765" cy="503872"/>
            <a:chOff x="533400" y="4039552"/>
            <a:chExt cx="4977765" cy="503872"/>
          </a:xfrm>
        </p:grpSpPr>
        <p:sp>
          <p:nvSpPr>
            <p:cNvPr id="38" name="Rectangle 38"/>
            <p:cNvSpPr/>
            <p:nvPr/>
          </p:nvSpPr>
          <p:spPr>
            <a:xfrm>
              <a:off x="533400" y="4039552"/>
              <a:ext cx="4977765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4191953"/>
              <a:ext cx="200026" cy="200025"/>
              <a:chOff x="738188" y="4191953"/>
              <a:chExt cx="200026" cy="200025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419195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77926" y="423640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12642" y="434752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511" y="4192429"/>
              <a:ext cx="38472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优先淘汰 m = 0 的页，可以省掉一次写外存。</a:t>
              </a:r>
            </a:p>
          </p:txBody>
        </p:sp>
      </p:grpSp>
      <p:grpSp>
        <p:nvGrpSpPr>
          <p:cNvPr id="51" name="c1-callout-3"/>
          <p:cNvGrpSpPr/>
          <p:nvPr/>
        </p:nvGrpSpPr>
        <p:grpSpPr>
          <a:xfrm>
            <a:off x="533400" y="4723448"/>
            <a:ext cx="4977765" cy="756285"/>
            <a:chOff x="533400" y="4723448"/>
            <a:chExt cx="4977765" cy="756285"/>
          </a:xfrm>
        </p:grpSpPr>
        <p:sp>
          <p:nvSpPr>
            <p:cNvPr id="45" name="Rectangle 45"/>
            <p:cNvSpPr/>
            <p:nvPr/>
          </p:nvSpPr>
          <p:spPr>
            <a:xfrm>
              <a:off x="533400" y="4723448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5001578"/>
              <a:ext cx="200026" cy="200026"/>
              <a:chOff x="738188" y="5001578"/>
              <a:chExt cx="200026" cy="20002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0015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50682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27088" y="51015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511" y="4870609"/>
              <a:ext cx="403606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第二轮一定成功：第一轮步骤 2 已把所有页的 r 清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0，每页不是 (0,0) 就是 (0,1)。</a:t>
              </a:r>
            </a:p>
          </p:txBody>
        </p:sp>
      </p:grpSp>
      <p:grpSp>
        <p:nvGrpSpPr>
          <p:cNvPr id="65" name="c2-steps-1"/>
          <p:cNvGrpSpPr/>
          <p:nvPr/>
        </p:nvGrpSpPr>
        <p:grpSpPr>
          <a:xfrm>
            <a:off x="5815965" y="1533525"/>
            <a:ext cx="5583936" cy="2444496"/>
            <a:chOff x="5815965" y="1533525"/>
            <a:chExt cx="5583936" cy="2444496"/>
          </a:xfrm>
        </p:grpSpPr>
        <p:sp>
          <p:nvSpPr>
            <p:cNvPr id="52" name="Rectangle 52"/>
            <p:cNvSpPr/>
            <p:nvPr/>
          </p:nvSpPr>
          <p:spPr>
            <a:xfrm>
              <a:off x="5949315" y="1676400"/>
              <a:ext cx="19050" cy="16754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5815965" y="23717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909589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5815965" y="320897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909589" y="32827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227826" y="1566386"/>
              <a:ext cx="567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28969" y="1846898"/>
              <a:ext cx="51480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从指针当前位置开始扫描一圈，把第一个 r=0 且 m=0 的页作为淘汰页；扫描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时不改变访问位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227826" y="2404586"/>
              <a:ext cx="567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228969" y="2685098"/>
              <a:ext cx="51709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1 失败，再从原位置开始扫描，把第一个 r=0 且 m=1 的页作为淘汰页；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同时把扫描过的页的 r 位清 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227826" y="3241834"/>
              <a:ext cx="567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228969" y="3522345"/>
              <a:ext cx="51709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2 也失败，指针回到原位置，重新执行步骤 1；还失败就再执行步骤 2，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这时一定能找到</a:t>
              </a:r>
            </a:p>
          </p:txBody>
        </p:sp>
      </p:grpSp>
      <p:grpSp>
        <p:nvGrpSpPr>
          <p:cNvPr id="77" name="c2-card-2"/>
          <p:cNvGrpSpPr/>
          <p:nvPr/>
        </p:nvGrpSpPr>
        <p:grpSpPr>
          <a:xfrm>
            <a:off x="5815965" y="4149090"/>
            <a:ext cx="5842635" cy="2175510"/>
            <a:chOff x="5815965" y="4149090"/>
            <a:chExt cx="5842635" cy="2175510"/>
          </a:xfrm>
        </p:grpSpPr>
        <p:sp>
          <p:nvSpPr>
            <p:cNvPr id="66" name="Rectangle 66"/>
            <p:cNvSpPr/>
            <p:nvPr/>
          </p:nvSpPr>
          <p:spPr>
            <a:xfrm>
              <a:off x="5815965" y="4149090"/>
              <a:ext cx="5842635" cy="217551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5825490" y="4282440"/>
              <a:ext cx="47625" cy="19088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052185" y="434721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135624" y="438150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最坏情况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902196" y="4382929"/>
              <a:ext cx="18338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所有页都是 (1,1) 时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6059805" y="478631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216396" y="4725829"/>
              <a:ext cx="496481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第一轮步骤 1 扫一圈失败；步骤 2 扫一圈也失败，但把 r 全部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 0，各页变成 (0,1)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6059805" y="537591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216396" y="5315426"/>
              <a:ext cx="25282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第二轮步骤 1 再扫一圈仍失败</a:t>
              </a:r>
            </a:p>
          </p:txBody>
        </p:sp>
        <p:sp>
          <p:nvSpPr>
            <p:cNvPr id="75" name="Ellipse 75"/>
            <p:cNvSpPr/>
            <p:nvPr/>
          </p:nvSpPr>
          <p:spPr>
            <a:xfrm>
              <a:off x="6059805" y="569309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216396" y="5633561"/>
              <a:ext cx="491070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第二轮步骤 2 在指针所指的第一个页就成功，淘汰它并写回外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30479" cy="909257"/>
            <a:chOff x="520446" y="342900"/>
            <a:chExt cx="74304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304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改进时钟例：访问页 15，第一轮步骤 2 选中页 9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28447" y="1524000"/>
            <a:ext cx="4765548" cy="2463831"/>
            <a:chOff x="528447" y="1524000"/>
            <a:chExt cx="4765548" cy="246383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791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扫描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95298" y="16454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69724" y="1645444"/>
              <a:ext cx="525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(r, m)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545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90628" y="214550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67993" y="2045494"/>
              <a:ext cx="41681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 8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85520" y="21455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06102" y="2045494"/>
              <a:ext cx="191033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 (0,0) 的页，失败，访问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位不变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51936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524125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0628" y="26455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629222" y="26455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19668" y="264556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06102" y="2645569"/>
              <a:ext cx="870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清 0，后移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91941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90628" y="304561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87759" y="304561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19668" y="304561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106102" y="3045619"/>
              <a:ext cx="870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清 0，后移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31946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324225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0628" y="34456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步骤 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29222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319668" y="344566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06102" y="3445669"/>
              <a:ext cx="20423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选中：写回外存，再装入页 15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4760595" cy="2200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290638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2051685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3004185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8447" y="3797141"/>
              <a:ext cx="26088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记法 (r, m)。指针从框 6 开始顺时针扫描。</a:t>
              </a:r>
            </a:p>
          </p:txBody>
        </p:sp>
      </p:grpSp>
      <p:grpSp>
        <p:nvGrpSpPr>
          <p:cNvPr id="48" name="c1-card-2"/>
          <p:cNvGrpSpPr/>
          <p:nvPr/>
        </p:nvGrpSpPr>
        <p:grpSpPr>
          <a:xfrm>
            <a:off x="533400" y="4119562"/>
            <a:ext cx="4760595" cy="1993582"/>
            <a:chOff x="533400" y="4119562"/>
            <a:chExt cx="4760595" cy="1993582"/>
          </a:xfrm>
        </p:grpSpPr>
        <p:sp>
          <p:nvSpPr>
            <p:cNvPr id="39" name="Rectangle 39"/>
            <p:cNvSpPr/>
            <p:nvPr/>
          </p:nvSpPr>
          <p:spPr>
            <a:xfrm>
              <a:off x="533400" y="4119562"/>
              <a:ext cx="4760595" cy="1993582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4252912"/>
              <a:ext cx="47625" cy="17268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58190" y="430625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50862" y="43391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66762" y="470725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782" y="4651058"/>
              <a:ext cx="4184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 96 装入页 15，(r, m) = (1, 0)，指针移到框 60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66762" y="500729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2782" y="4951095"/>
              <a:ext cx="22672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8、页 10 的访问位被清 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2475" y="5247799"/>
              <a:ext cx="408660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 9 虽然修改过，但全环没有 (0,0) 的页，它是步骤 2 遇到的第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 (0,1) 页。</a:t>
              </a:r>
            </a:p>
          </p:txBody>
        </p:sp>
      </p:grpSp>
      <p:grpSp>
        <p:nvGrpSpPr>
          <p:cNvPr id="86" name="c2-graph-1"/>
          <p:cNvGrpSpPr/>
          <p:nvPr/>
        </p:nvGrpSpPr>
        <p:grpSpPr>
          <a:xfrm>
            <a:off x="5594032" y="1546860"/>
            <a:ext cx="5855018" cy="2085975"/>
            <a:chOff x="5594032" y="1546860"/>
            <a:chExt cx="5855018" cy="2085975"/>
          </a:xfrm>
        </p:grpSpPr>
        <p:sp>
          <p:nvSpPr>
            <p:cNvPr id="49" name="Freeform 49"/>
            <p:cNvSpPr/>
            <p:nvPr/>
          </p:nvSpPr>
          <p:spPr>
            <a:xfrm>
              <a:off x="9206865" y="1892618"/>
              <a:ext cx="355282" cy="63818"/>
            </a:xfrm>
            <a:custGeom>
              <a:avLst/>
              <a:gdLst/>
              <a:ahLst/>
              <a:cxnLst/>
              <a:rect l="l" t="t" r="r" b="b"/>
              <a:pathLst>
                <a:path w="355282" h="63818">
                  <a:moveTo>
                    <a:pt x="0" y="0"/>
                  </a:moveTo>
                  <a:lnTo>
                    <a:pt x="355282" y="63818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9554528" y="1909762"/>
              <a:ext cx="101917" cy="93345"/>
            </a:xfrm>
            <a:custGeom>
              <a:avLst/>
              <a:gdLst/>
              <a:ahLst/>
              <a:cxnLst/>
              <a:rect l="l" t="t" r="r" b="b"/>
              <a:pathLst>
                <a:path w="101917" h="93345">
                  <a:moveTo>
                    <a:pt x="101917" y="62865"/>
                  </a:moveTo>
                  <a:lnTo>
                    <a:pt x="0" y="93345"/>
                  </a:lnTo>
                  <a:lnTo>
                    <a:pt x="16192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10367962" y="2196465"/>
              <a:ext cx="299085" cy="270510"/>
            </a:xfrm>
            <a:custGeom>
              <a:avLst/>
              <a:gdLst/>
              <a:ahLst/>
              <a:cxnLst/>
              <a:rect l="l" t="t" r="r" b="b"/>
              <a:pathLst>
                <a:path w="299085" h="270510">
                  <a:moveTo>
                    <a:pt x="0" y="0"/>
                  </a:moveTo>
                  <a:lnTo>
                    <a:pt x="299085" y="27051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0635615" y="2431732"/>
              <a:ext cx="101918" cy="99060"/>
            </a:xfrm>
            <a:custGeom>
              <a:avLst/>
              <a:gdLst/>
              <a:ahLst/>
              <a:cxnLst/>
              <a:rect l="l" t="t" r="r" b="b"/>
              <a:pathLst>
                <a:path w="101918" h="99060">
                  <a:moveTo>
                    <a:pt x="101918" y="99060"/>
                  </a:moveTo>
                  <a:lnTo>
                    <a:pt x="0" y="70485"/>
                  </a:lnTo>
                  <a:lnTo>
                    <a:pt x="63818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10438448" y="2770822"/>
              <a:ext cx="299085" cy="270510"/>
            </a:xfrm>
            <a:custGeom>
              <a:avLst/>
              <a:gdLst/>
              <a:ahLst/>
              <a:cxnLst/>
              <a:rect l="l" t="t" r="r" b="b"/>
              <a:pathLst>
                <a:path w="299085" h="270510">
                  <a:moveTo>
                    <a:pt x="299085" y="0"/>
                  </a:moveTo>
                  <a:lnTo>
                    <a:pt x="0" y="27051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10367962" y="3006090"/>
              <a:ext cx="101918" cy="99060"/>
            </a:xfrm>
            <a:custGeom>
              <a:avLst/>
              <a:gdLst/>
              <a:ahLst/>
              <a:cxnLst/>
              <a:rect l="l" t="t" r="r" b="b"/>
              <a:pathLst>
                <a:path w="101918" h="99060">
                  <a:moveTo>
                    <a:pt x="0" y="99060"/>
                  </a:moveTo>
                  <a:lnTo>
                    <a:pt x="38100" y="0"/>
                  </a:lnTo>
                  <a:lnTo>
                    <a:pt x="101918" y="7048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9301162" y="3328988"/>
              <a:ext cx="355282" cy="63817"/>
            </a:xfrm>
            <a:custGeom>
              <a:avLst/>
              <a:gdLst/>
              <a:ahLst/>
              <a:cxnLst/>
              <a:rect l="l" t="t" r="r" b="b"/>
              <a:pathLst>
                <a:path w="355282" h="63817">
                  <a:moveTo>
                    <a:pt x="355282" y="0"/>
                  </a:moveTo>
                  <a:lnTo>
                    <a:pt x="0" y="63817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9206865" y="3346132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0" y="62865"/>
                  </a:moveTo>
                  <a:lnTo>
                    <a:pt x="85725" y="0"/>
                  </a:lnTo>
                  <a:lnTo>
                    <a:pt x="102870" y="9334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7695248" y="3346132"/>
              <a:ext cx="355283" cy="62865"/>
            </a:xfrm>
            <a:custGeom>
              <a:avLst/>
              <a:gdLst/>
              <a:ahLst/>
              <a:cxnLst/>
              <a:rect l="l" t="t" r="r" b="b"/>
              <a:pathLst>
                <a:path w="355283" h="62865">
                  <a:moveTo>
                    <a:pt x="355283" y="6286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7601902" y="3298508"/>
              <a:ext cx="101917" cy="94297"/>
            </a:xfrm>
            <a:custGeom>
              <a:avLst/>
              <a:gdLst/>
              <a:ahLst/>
              <a:cxnLst/>
              <a:rect l="l" t="t" r="r" b="b"/>
              <a:pathLst>
                <a:path w="101917" h="94297">
                  <a:moveTo>
                    <a:pt x="0" y="30480"/>
                  </a:moveTo>
                  <a:lnTo>
                    <a:pt x="101917" y="0"/>
                  </a:lnTo>
                  <a:lnTo>
                    <a:pt x="84772" y="94297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6590348" y="2834640"/>
              <a:ext cx="300038" cy="270510"/>
            </a:xfrm>
            <a:custGeom>
              <a:avLst/>
              <a:gdLst/>
              <a:ahLst/>
              <a:cxnLst/>
              <a:rect l="l" t="t" r="r" b="b"/>
              <a:pathLst>
                <a:path w="300038" h="270510">
                  <a:moveTo>
                    <a:pt x="300038" y="27051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6519862" y="2770822"/>
              <a:ext cx="102870" cy="99060"/>
            </a:xfrm>
            <a:custGeom>
              <a:avLst/>
              <a:gdLst/>
              <a:ahLst/>
              <a:cxnLst/>
              <a:rect l="l" t="t" r="r" b="b"/>
              <a:pathLst>
                <a:path w="102870" h="99060">
                  <a:moveTo>
                    <a:pt x="0" y="0"/>
                  </a:moveTo>
                  <a:lnTo>
                    <a:pt x="102870" y="28575"/>
                  </a:lnTo>
                  <a:lnTo>
                    <a:pt x="39053" y="9906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6519862" y="2260282"/>
              <a:ext cx="300038" cy="270510"/>
            </a:xfrm>
            <a:custGeom>
              <a:avLst/>
              <a:gdLst/>
              <a:ahLst/>
              <a:cxnLst/>
              <a:rect l="l" t="t" r="r" b="b"/>
              <a:pathLst>
                <a:path w="300038" h="270510">
                  <a:moveTo>
                    <a:pt x="0" y="270510"/>
                  </a:moveTo>
                  <a:lnTo>
                    <a:pt x="300038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6787515" y="2196465"/>
              <a:ext cx="102870" cy="99060"/>
            </a:xfrm>
            <a:custGeom>
              <a:avLst/>
              <a:gdLst/>
              <a:ahLst/>
              <a:cxnLst/>
              <a:rect l="l" t="t" r="r" b="b"/>
              <a:pathLst>
                <a:path w="102870" h="99060">
                  <a:moveTo>
                    <a:pt x="102870" y="0"/>
                  </a:moveTo>
                  <a:lnTo>
                    <a:pt x="63817" y="99060"/>
                  </a:lnTo>
                  <a:lnTo>
                    <a:pt x="0" y="285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3" name="Freeform 63"/>
            <p:cNvSpPr/>
            <p:nvPr/>
          </p:nvSpPr>
          <p:spPr>
            <a:xfrm>
              <a:off x="7601902" y="1909762"/>
              <a:ext cx="355282" cy="62865"/>
            </a:xfrm>
            <a:custGeom>
              <a:avLst/>
              <a:gdLst/>
              <a:ahLst/>
              <a:cxnLst/>
              <a:rect l="l" t="t" r="r" b="b"/>
              <a:pathLst>
                <a:path w="355282" h="62865">
                  <a:moveTo>
                    <a:pt x="0" y="62865"/>
                  </a:moveTo>
                  <a:lnTo>
                    <a:pt x="35528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7948612" y="1862138"/>
              <a:ext cx="101918" cy="94298"/>
            </a:xfrm>
            <a:custGeom>
              <a:avLst/>
              <a:gdLst/>
              <a:ahLst/>
              <a:cxnLst/>
              <a:rect l="l" t="t" r="r" b="b"/>
              <a:pathLst>
                <a:path w="101918" h="94298">
                  <a:moveTo>
                    <a:pt x="101918" y="30480"/>
                  </a:moveTo>
                  <a:lnTo>
                    <a:pt x="16193" y="94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5" name="Freeform 65"/>
            <p:cNvSpPr/>
            <p:nvPr/>
          </p:nvSpPr>
          <p:spPr>
            <a:xfrm>
              <a:off x="8628698" y="2004060"/>
              <a:ext cx="9525" cy="446723"/>
            </a:xfrm>
            <a:custGeom>
              <a:avLst/>
              <a:gdLst/>
              <a:ahLst/>
              <a:cxnLst/>
              <a:rect l="l" t="t" r="r" b="b"/>
              <a:pathLst>
                <a:path w="9525" h="446723">
                  <a:moveTo>
                    <a:pt x="0" y="446723"/>
                  </a:moveTo>
                  <a:lnTo>
                    <a:pt x="0" y="0"/>
                  </a:lnTo>
                </a:path>
              </a:pathLst>
            </a:custGeom>
            <a:noFill/>
            <a:ln w="22860">
              <a:solidFill>
                <a:srgbClr val="F26B3A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581072" y="19088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8050530" y="166878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9656445" y="1956435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10292715" y="2530792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9656445" y="310515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050530" y="3392805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6444615" y="310515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5808345" y="2530792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6444615" y="1956435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5" name="Ellipse 75"/>
            <p:cNvSpPr/>
            <p:nvPr/>
          </p:nvSpPr>
          <p:spPr>
            <a:xfrm>
              <a:off x="8438198" y="2460308"/>
              <a:ext cx="381000" cy="381000"/>
            </a:xfrm>
            <a:prstGeom prst="ellipse">
              <a:avLst/>
            </a:prstGeom>
            <a:solidFill>
              <a:srgbClr val="F26B3A"/>
            </a:solidFill>
            <a:ln w="17145">
              <a:solidFill>
                <a:srgbClr val="F26B3A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219722" y="1733550"/>
              <a:ext cx="8179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框6 页8 (1,0)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755668" y="2020253"/>
              <a:ext cx="9578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框81 页10 (1,0)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426922" y="2594610"/>
              <a:ext cx="8879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框96 页9 (0,1)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790652" y="3169920"/>
              <a:ext cx="8879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框60 页0 (0,1)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219722" y="3456623"/>
              <a:ext cx="8179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 页1 (1,0)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578822" y="3169920"/>
              <a:ext cx="8879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框12 页6 (1,1)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5942552" y="2594610"/>
              <a:ext cx="8879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框23 页3 (1,1)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543838" y="2020253"/>
              <a:ext cx="9578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框51 页18 (1,0)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502777" y="259461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5594032" y="1546860"/>
              <a:ext cx="83158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访问页 15 之前</a:t>
              </a:r>
            </a:p>
          </p:txBody>
        </p:sp>
      </p:grpSp>
      <p:grpSp>
        <p:nvGrpSpPr>
          <p:cNvPr id="124" name="c2-graph-2"/>
          <p:cNvGrpSpPr/>
          <p:nvPr/>
        </p:nvGrpSpPr>
        <p:grpSpPr>
          <a:xfrm>
            <a:off x="5594032" y="3926205"/>
            <a:ext cx="5855018" cy="2086927"/>
            <a:chOff x="5594032" y="3926205"/>
            <a:chExt cx="5855018" cy="2086927"/>
          </a:xfrm>
        </p:grpSpPr>
        <p:sp>
          <p:nvSpPr>
            <p:cNvPr id="87" name="Freeform 87"/>
            <p:cNvSpPr/>
            <p:nvPr/>
          </p:nvSpPr>
          <p:spPr>
            <a:xfrm>
              <a:off x="9206865" y="4271962"/>
              <a:ext cx="355282" cy="63817"/>
            </a:xfrm>
            <a:custGeom>
              <a:avLst/>
              <a:gdLst/>
              <a:ahLst/>
              <a:cxnLst/>
              <a:rect l="l" t="t" r="r" b="b"/>
              <a:pathLst>
                <a:path w="355282" h="63817">
                  <a:moveTo>
                    <a:pt x="0" y="0"/>
                  </a:moveTo>
                  <a:lnTo>
                    <a:pt x="355282" y="63817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9554528" y="4289108"/>
              <a:ext cx="101917" cy="93345"/>
            </a:xfrm>
            <a:custGeom>
              <a:avLst/>
              <a:gdLst/>
              <a:ahLst/>
              <a:cxnLst/>
              <a:rect l="l" t="t" r="r" b="b"/>
              <a:pathLst>
                <a:path w="101917" h="93345">
                  <a:moveTo>
                    <a:pt x="101917" y="63817"/>
                  </a:moveTo>
                  <a:lnTo>
                    <a:pt x="0" y="93345"/>
                  </a:lnTo>
                  <a:lnTo>
                    <a:pt x="16192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89" name="Freeform 89"/>
            <p:cNvSpPr/>
            <p:nvPr/>
          </p:nvSpPr>
          <p:spPr>
            <a:xfrm>
              <a:off x="10367962" y="4575810"/>
              <a:ext cx="299085" cy="271462"/>
            </a:xfrm>
            <a:custGeom>
              <a:avLst/>
              <a:gdLst/>
              <a:ahLst/>
              <a:cxnLst/>
              <a:rect l="l" t="t" r="r" b="b"/>
              <a:pathLst>
                <a:path w="299085" h="271462">
                  <a:moveTo>
                    <a:pt x="0" y="0"/>
                  </a:moveTo>
                  <a:lnTo>
                    <a:pt x="299085" y="271462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0635615" y="4811078"/>
              <a:ext cx="101918" cy="100012"/>
            </a:xfrm>
            <a:custGeom>
              <a:avLst/>
              <a:gdLst/>
              <a:ahLst/>
              <a:cxnLst/>
              <a:rect l="l" t="t" r="r" b="b"/>
              <a:pathLst>
                <a:path w="101918" h="100012">
                  <a:moveTo>
                    <a:pt x="101918" y="100012"/>
                  </a:moveTo>
                  <a:lnTo>
                    <a:pt x="0" y="71438"/>
                  </a:lnTo>
                  <a:lnTo>
                    <a:pt x="63818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1" name="Freeform 91"/>
            <p:cNvSpPr/>
            <p:nvPr/>
          </p:nvSpPr>
          <p:spPr>
            <a:xfrm>
              <a:off x="10438448" y="5151120"/>
              <a:ext cx="299085" cy="270510"/>
            </a:xfrm>
            <a:custGeom>
              <a:avLst/>
              <a:gdLst/>
              <a:ahLst/>
              <a:cxnLst/>
              <a:rect l="l" t="t" r="r" b="b"/>
              <a:pathLst>
                <a:path w="299085" h="270510">
                  <a:moveTo>
                    <a:pt x="299085" y="0"/>
                  </a:moveTo>
                  <a:lnTo>
                    <a:pt x="0" y="27051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10367962" y="5386388"/>
              <a:ext cx="101918" cy="99060"/>
            </a:xfrm>
            <a:custGeom>
              <a:avLst/>
              <a:gdLst/>
              <a:ahLst/>
              <a:cxnLst/>
              <a:rect l="l" t="t" r="r" b="b"/>
              <a:pathLst>
                <a:path w="101918" h="99060">
                  <a:moveTo>
                    <a:pt x="0" y="99060"/>
                  </a:moveTo>
                  <a:lnTo>
                    <a:pt x="38100" y="0"/>
                  </a:lnTo>
                  <a:lnTo>
                    <a:pt x="101918" y="7048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3" name="Freeform 93"/>
            <p:cNvSpPr/>
            <p:nvPr/>
          </p:nvSpPr>
          <p:spPr>
            <a:xfrm>
              <a:off x="9301162" y="5708332"/>
              <a:ext cx="355282" cy="63818"/>
            </a:xfrm>
            <a:custGeom>
              <a:avLst/>
              <a:gdLst/>
              <a:ahLst/>
              <a:cxnLst/>
              <a:rect l="l" t="t" r="r" b="b"/>
              <a:pathLst>
                <a:path w="355282" h="63818">
                  <a:moveTo>
                    <a:pt x="355282" y="0"/>
                  </a:moveTo>
                  <a:lnTo>
                    <a:pt x="0" y="63818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9206865" y="5725478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0" y="63817"/>
                  </a:moveTo>
                  <a:lnTo>
                    <a:pt x="85725" y="0"/>
                  </a:lnTo>
                  <a:lnTo>
                    <a:pt x="102870" y="9334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5" name="Freeform 95"/>
            <p:cNvSpPr/>
            <p:nvPr/>
          </p:nvSpPr>
          <p:spPr>
            <a:xfrm>
              <a:off x="7695248" y="5725478"/>
              <a:ext cx="355283" cy="63817"/>
            </a:xfrm>
            <a:custGeom>
              <a:avLst/>
              <a:gdLst/>
              <a:ahLst/>
              <a:cxnLst/>
              <a:rect l="l" t="t" r="r" b="b"/>
              <a:pathLst>
                <a:path w="355283" h="63817">
                  <a:moveTo>
                    <a:pt x="355283" y="63817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7601902" y="5678805"/>
              <a:ext cx="101917" cy="93345"/>
            </a:xfrm>
            <a:custGeom>
              <a:avLst/>
              <a:gdLst/>
              <a:ahLst/>
              <a:cxnLst/>
              <a:rect l="l" t="t" r="r" b="b"/>
              <a:pathLst>
                <a:path w="101917" h="93345">
                  <a:moveTo>
                    <a:pt x="0" y="29527"/>
                  </a:moveTo>
                  <a:lnTo>
                    <a:pt x="101917" y="0"/>
                  </a:lnTo>
                  <a:lnTo>
                    <a:pt x="84772" y="9334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7" name="Freeform 97"/>
            <p:cNvSpPr/>
            <p:nvPr/>
          </p:nvSpPr>
          <p:spPr>
            <a:xfrm>
              <a:off x="6590348" y="5214938"/>
              <a:ext cx="300038" cy="270510"/>
            </a:xfrm>
            <a:custGeom>
              <a:avLst/>
              <a:gdLst/>
              <a:ahLst/>
              <a:cxnLst/>
              <a:rect l="l" t="t" r="r" b="b"/>
              <a:pathLst>
                <a:path w="300038" h="270510">
                  <a:moveTo>
                    <a:pt x="300038" y="27051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6519862" y="5151120"/>
              <a:ext cx="102870" cy="99060"/>
            </a:xfrm>
            <a:custGeom>
              <a:avLst/>
              <a:gdLst/>
              <a:ahLst/>
              <a:cxnLst/>
              <a:rect l="l" t="t" r="r" b="b"/>
              <a:pathLst>
                <a:path w="102870" h="99060">
                  <a:moveTo>
                    <a:pt x="0" y="0"/>
                  </a:moveTo>
                  <a:lnTo>
                    <a:pt x="102870" y="28575"/>
                  </a:lnTo>
                  <a:lnTo>
                    <a:pt x="39053" y="9906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9" name="Freeform 99"/>
            <p:cNvSpPr/>
            <p:nvPr/>
          </p:nvSpPr>
          <p:spPr>
            <a:xfrm>
              <a:off x="6519862" y="4639628"/>
              <a:ext cx="300038" cy="271462"/>
            </a:xfrm>
            <a:custGeom>
              <a:avLst/>
              <a:gdLst/>
              <a:ahLst/>
              <a:cxnLst/>
              <a:rect l="l" t="t" r="r" b="b"/>
              <a:pathLst>
                <a:path w="300038" h="271462">
                  <a:moveTo>
                    <a:pt x="0" y="271462"/>
                  </a:moveTo>
                  <a:lnTo>
                    <a:pt x="300038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00" name="Freeform 100"/>
            <p:cNvSpPr/>
            <p:nvPr/>
          </p:nvSpPr>
          <p:spPr>
            <a:xfrm>
              <a:off x="6787515" y="4575810"/>
              <a:ext cx="102870" cy="100012"/>
            </a:xfrm>
            <a:custGeom>
              <a:avLst/>
              <a:gdLst/>
              <a:ahLst/>
              <a:cxnLst/>
              <a:rect l="l" t="t" r="r" b="b"/>
              <a:pathLst>
                <a:path w="102870" h="100012">
                  <a:moveTo>
                    <a:pt x="102870" y="0"/>
                  </a:moveTo>
                  <a:lnTo>
                    <a:pt x="63817" y="100012"/>
                  </a:lnTo>
                  <a:lnTo>
                    <a:pt x="0" y="285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01" name="Freeform 101"/>
            <p:cNvSpPr/>
            <p:nvPr/>
          </p:nvSpPr>
          <p:spPr>
            <a:xfrm>
              <a:off x="7601902" y="4289108"/>
              <a:ext cx="355282" cy="63817"/>
            </a:xfrm>
            <a:custGeom>
              <a:avLst/>
              <a:gdLst/>
              <a:ahLst/>
              <a:cxnLst/>
              <a:rect l="l" t="t" r="r" b="b"/>
              <a:pathLst>
                <a:path w="355282" h="63817">
                  <a:moveTo>
                    <a:pt x="0" y="63817"/>
                  </a:moveTo>
                  <a:lnTo>
                    <a:pt x="35528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02" name="Freeform 102"/>
            <p:cNvSpPr/>
            <p:nvPr/>
          </p:nvSpPr>
          <p:spPr>
            <a:xfrm>
              <a:off x="7948612" y="4242435"/>
              <a:ext cx="101918" cy="93345"/>
            </a:xfrm>
            <a:custGeom>
              <a:avLst/>
              <a:gdLst/>
              <a:ahLst/>
              <a:cxnLst/>
              <a:rect l="l" t="t" r="r" b="b"/>
              <a:pathLst>
                <a:path w="101918" h="93345">
                  <a:moveTo>
                    <a:pt x="101918" y="29528"/>
                  </a:moveTo>
                  <a:lnTo>
                    <a:pt x="16193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03" name="Freeform 103"/>
            <p:cNvSpPr/>
            <p:nvPr/>
          </p:nvSpPr>
          <p:spPr>
            <a:xfrm>
              <a:off x="8817292" y="5097780"/>
              <a:ext cx="992505" cy="355282"/>
            </a:xfrm>
            <a:custGeom>
              <a:avLst/>
              <a:gdLst/>
              <a:ahLst/>
              <a:cxnLst/>
              <a:rect l="l" t="t" r="r" b="b"/>
              <a:pathLst>
                <a:path w="992505" h="355282">
                  <a:moveTo>
                    <a:pt x="0" y="0"/>
                  </a:moveTo>
                  <a:lnTo>
                    <a:pt x="992505" y="355282"/>
                  </a:lnTo>
                </a:path>
              </a:pathLst>
            </a:custGeom>
            <a:noFill/>
            <a:ln w="22860">
              <a:solidFill>
                <a:srgbClr val="F26B3A"/>
              </a:solidFill>
            </a:ln>
          </p:spPr>
        </p:sp>
        <p:sp>
          <p:nvSpPr>
            <p:cNvPr id="104" name="Freeform 104"/>
            <p:cNvSpPr/>
            <p:nvPr/>
          </p:nvSpPr>
          <p:spPr>
            <a:xfrm>
              <a:off x="9793605" y="5408295"/>
              <a:ext cx="105727" cy="89535"/>
            </a:xfrm>
            <a:custGeom>
              <a:avLst/>
              <a:gdLst/>
              <a:ahLst/>
              <a:cxnLst/>
              <a:rect l="l" t="t" r="r" b="b"/>
              <a:pathLst>
                <a:path w="105727" h="89535">
                  <a:moveTo>
                    <a:pt x="105727" y="77153"/>
                  </a:moveTo>
                  <a:lnTo>
                    <a:pt x="0" y="89535"/>
                  </a:lnTo>
                  <a:lnTo>
                    <a:pt x="32385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8050530" y="4049078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9656445" y="433578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10292715" y="491109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9656445" y="5485448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8050530" y="577215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6444615" y="5485448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11" name="Rectangle 111"/>
            <p:cNvSpPr/>
            <p:nvPr/>
          </p:nvSpPr>
          <p:spPr>
            <a:xfrm>
              <a:off x="5808345" y="491109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12" name="Rectangle 112"/>
            <p:cNvSpPr/>
            <p:nvPr/>
          </p:nvSpPr>
          <p:spPr>
            <a:xfrm>
              <a:off x="6444615" y="4335780"/>
              <a:ext cx="1156335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13" name="Ellipse 113"/>
            <p:cNvSpPr/>
            <p:nvPr/>
          </p:nvSpPr>
          <p:spPr>
            <a:xfrm>
              <a:off x="8438198" y="4840605"/>
              <a:ext cx="381000" cy="381000"/>
            </a:xfrm>
            <a:prstGeom prst="ellipse">
              <a:avLst/>
            </a:prstGeom>
            <a:solidFill>
              <a:srgbClr val="F26B3A"/>
            </a:solidFill>
            <a:ln w="17145">
              <a:solidFill>
                <a:srgbClr val="F26B3A"/>
              </a:solidFill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8219722" y="4112895"/>
              <a:ext cx="8179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框6 页8 (0,0)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9755668" y="4400550"/>
              <a:ext cx="9578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框81 页10 (0,0)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10391938" y="4974908"/>
              <a:ext cx="9578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框96 页15 (1,0)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9790652" y="5549265"/>
              <a:ext cx="8879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框60 页0 (0,1)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8219722" y="5836920"/>
              <a:ext cx="8179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 页1 (1,0)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6578822" y="5549265"/>
              <a:ext cx="8879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框12 页6 (1,1)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5942552" y="4974908"/>
              <a:ext cx="8879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框23 页3 (1,1)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6543838" y="4400550"/>
              <a:ext cx="9578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框51 页18 (1,0)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8502777" y="497490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5594032" y="392620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替换之后</a:t>
              </a:r>
            </a:p>
          </p:txBody>
        </p:sp>
      </p:grpSp>
      <p:grpSp>
        <p:nvGrpSpPr>
          <p:cNvPr id="12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5" name="TextBox 125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92827" cy="909257"/>
            <a:chOff x="520446" y="342900"/>
            <a:chExt cx="78928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928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2010 年考研题：已知页表、装入时间和 Clock 指针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6492240" cy="2085975"/>
            <a:chOff x="533400" y="1524000"/>
            <a:chExt cx="6492240" cy="20859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2085975"/>
            </a:xfrm>
            <a:prstGeom prst="roundRect">
              <a:avLst>
                <a:gd name="adj" fmla="val 63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192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56544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某虚拟页式系统，进程空间和内存空间都是 64K，页长 1K。某进程有 6 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页，分配 4 个页框，局部置换。280 时刻的页表如下，Clock 结构见右图。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58190" y="2600325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3868" y="263871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38987" y="2612708"/>
              <a:ext cx="40433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280 时刻访问逻辑地址 13B7H，逻辑页号是多少？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58190" y="2900362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3868" y="293874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8987" y="2912745"/>
              <a:ext cx="38130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 FIFO 置换，页框号和物理地址各是多少？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58190" y="3200400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3868" y="323878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987" y="3212782"/>
              <a:ext cx="3966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 CLOCK 置换，页框号和物理地址各是多少？</a:t>
              </a:r>
            </a:p>
          </p:txBody>
        </p:sp>
      </p:grpSp>
      <p:grpSp>
        <p:nvGrpSpPr>
          <p:cNvPr id="57" name="c1-table-2"/>
          <p:cNvGrpSpPr/>
          <p:nvPr/>
        </p:nvGrpSpPr>
        <p:grpSpPr>
          <a:xfrm>
            <a:off x="533400" y="3780472"/>
            <a:ext cx="6492240" cy="2400300"/>
            <a:chOff x="533400" y="3780472"/>
            <a:chExt cx="6492240" cy="2400300"/>
          </a:xfrm>
        </p:grpSpPr>
        <p:sp>
          <p:nvSpPr>
            <p:cNvPr id="22" name="Rectangle 22"/>
            <p:cNvSpPr/>
            <p:nvPr/>
          </p:nvSpPr>
          <p:spPr>
            <a:xfrm>
              <a:off x="533400" y="3780472"/>
              <a:ext cx="649224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91946" y="390191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逻辑页号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81833" y="390191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页框号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20946" y="390191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装入时间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52566" y="390191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访问标志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49959" y="4301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66532" y="43019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98106" y="43019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12652" y="43019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57581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4580572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49959" y="47020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25069" y="470201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98106" y="470201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12652" y="47020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97586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249959" y="5102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66532" y="5102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98106" y="5102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12652" y="5102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537591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3400" y="5380672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249959" y="55021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966532" y="55021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639569" y="550211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12652" y="550211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577596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31036" y="5902166"/>
              <a:ext cx="336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1、4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514209" y="5902166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—（不在内存）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81032" y="59021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212652" y="59021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3780472"/>
              <a:ext cx="6492240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2060258" y="378047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3957638" y="378047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489258" y="378047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9" name="c2-graph-1"/>
          <p:cNvGrpSpPr/>
          <p:nvPr/>
        </p:nvGrpSpPr>
        <p:grpSpPr>
          <a:xfrm>
            <a:off x="7325487" y="1563529"/>
            <a:ext cx="3967353" cy="4261961"/>
            <a:chOff x="7325487" y="1563529"/>
            <a:chExt cx="3967353" cy="4261961"/>
          </a:xfrm>
        </p:grpSpPr>
        <p:sp>
          <p:nvSpPr>
            <p:cNvPr id="58" name="Freeform 58"/>
            <p:cNvSpPr/>
            <p:nvPr/>
          </p:nvSpPr>
          <p:spPr>
            <a:xfrm>
              <a:off x="9597390" y="2534602"/>
              <a:ext cx="949642" cy="1288732"/>
            </a:xfrm>
            <a:custGeom>
              <a:avLst/>
              <a:gdLst/>
              <a:ahLst/>
              <a:cxnLst/>
              <a:rect l="l" t="t" r="r" b="b"/>
              <a:pathLst>
                <a:path w="949642" h="1288732">
                  <a:moveTo>
                    <a:pt x="0" y="0"/>
                  </a:moveTo>
                  <a:lnTo>
                    <a:pt x="949642" y="1288732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507980" y="3794760"/>
              <a:ext cx="95250" cy="105728"/>
            </a:xfrm>
            <a:custGeom>
              <a:avLst/>
              <a:gdLst/>
              <a:ahLst/>
              <a:cxnLst/>
              <a:rect l="l" t="t" r="r" b="b"/>
              <a:pathLst>
                <a:path w="95250" h="105728">
                  <a:moveTo>
                    <a:pt x="95250" y="105728"/>
                  </a:moveTo>
                  <a:lnTo>
                    <a:pt x="0" y="57150"/>
                  </a:lnTo>
                  <a:lnTo>
                    <a:pt x="77152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0" name="Freeform 60"/>
            <p:cNvSpPr/>
            <p:nvPr/>
          </p:nvSpPr>
          <p:spPr>
            <a:xfrm>
              <a:off x="9654540" y="4180522"/>
              <a:ext cx="948690" cy="1287780"/>
            </a:xfrm>
            <a:custGeom>
              <a:avLst/>
              <a:gdLst/>
              <a:ahLst/>
              <a:cxnLst/>
              <a:rect l="l" t="t" r="r" b="b"/>
              <a:pathLst>
                <a:path w="948690" h="1287780">
                  <a:moveTo>
                    <a:pt x="948690" y="0"/>
                  </a:moveTo>
                  <a:lnTo>
                    <a:pt x="0" y="128778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9597390" y="5440680"/>
              <a:ext cx="95250" cy="104775"/>
            </a:xfrm>
            <a:custGeom>
              <a:avLst/>
              <a:gdLst/>
              <a:ahLst/>
              <a:cxnLst/>
              <a:rect l="l" t="t" r="r" b="b"/>
              <a:pathLst>
                <a:path w="95250" h="104775">
                  <a:moveTo>
                    <a:pt x="0" y="104775"/>
                  </a:moveTo>
                  <a:lnTo>
                    <a:pt x="18097" y="0"/>
                  </a:lnTo>
                  <a:lnTo>
                    <a:pt x="95250" y="56197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8442008" y="4256722"/>
              <a:ext cx="949643" cy="1288733"/>
            </a:xfrm>
            <a:custGeom>
              <a:avLst/>
              <a:gdLst/>
              <a:ahLst/>
              <a:cxnLst/>
              <a:rect l="l" t="t" r="r" b="b"/>
              <a:pathLst>
                <a:path w="949643" h="1288733">
                  <a:moveTo>
                    <a:pt x="949643" y="1288733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8385810" y="4180522"/>
              <a:ext cx="95250" cy="104775"/>
            </a:xfrm>
            <a:custGeom>
              <a:avLst/>
              <a:gdLst/>
              <a:ahLst/>
              <a:cxnLst/>
              <a:rect l="l" t="t" r="r" b="b"/>
              <a:pathLst>
                <a:path w="95250" h="104775">
                  <a:moveTo>
                    <a:pt x="0" y="0"/>
                  </a:moveTo>
                  <a:lnTo>
                    <a:pt x="95250" y="47625"/>
                  </a:lnTo>
                  <a:lnTo>
                    <a:pt x="18097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4" name="Freeform 64"/>
            <p:cNvSpPr/>
            <p:nvPr/>
          </p:nvSpPr>
          <p:spPr>
            <a:xfrm>
              <a:off x="8385810" y="2611755"/>
              <a:ext cx="948690" cy="1288732"/>
            </a:xfrm>
            <a:custGeom>
              <a:avLst/>
              <a:gdLst/>
              <a:ahLst/>
              <a:cxnLst/>
              <a:rect l="l" t="t" r="r" b="b"/>
              <a:pathLst>
                <a:path w="948690" h="1288732">
                  <a:moveTo>
                    <a:pt x="0" y="1288732"/>
                  </a:moveTo>
                  <a:lnTo>
                    <a:pt x="94869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9296400" y="2534602"/>
              <a:ext cx="95250" cy="105727"/>
            </a:xfrm>
            <a:custGeom>
              <a:avLst/>
              <a:gdLst/>
              <a:ahLst/>
              <a:cxnLst/>
              <a:rect l="l" t="t" r="r" b="b"/>
              <a:pathLst>
                <a:path w="95250" h="105727">
                  <a:moveTo>
                    <a:pt x="95250" y="0"/>
                  </a:moveTo>
                  <a:lnTo>
                    <a:pt x="77153" y="105727"/>
                  </a:lnTo>
                  <a:lnTo>
                    <a:pt x="0" y="48577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6" name="Freeform 66"/>
            <p:cNvSpPr/>
            <p:nvPr/>
          </p:nvSpPr>
          <p:spPr>
            <a:xfrm>
              <a:off x="9494520" y="2629852"/>
              <a:ext cx="9525" cy="1172527"/>
            </a:xfrm>
            <a:custGeom>
              <a:avLst/>
              <a:gdLst/>
              <a:ahLst/>
              <a:cxnLst/>
              <a:rect l="l" t="t" r="r" b="b"/>
              <a:pathLst>
                <a:path w="9525" h="1172527">
                  <a:moveTo>
                    <a:pt x="0" y="1172527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9446895" y="253460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8907780" y="2254568"/>
              <a:ext cx="11734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10119360" y="3900488"/>
              <a:ext cx="11734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8907780" y="5545455"/>
              <a:ext cx="11734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7696200" y="3900488"/>
              <a:ext cx="11734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2" name="Ellipse 72"/>
            <p:cNvSpPr/>
            <p:nvPr/>
          </p:nvSpPr>
          <p:spPr>
            <a:xfrm>
              <a:off x="9265920" y="3811905"/>
              <a:ext cx="457200" cy="457200"/>
            </a:xfrm>
            <a:prstGeom prst="ellipse">
              <a:avLst/>
            </a:prstGeom>
            <a:solidFill>
              <a:srgbClr val="F26B3A"/>
            </a:solidFill>
            <a:ln w="17145">
              <a:solidFill>
                <a:srgbClr val="F26B3A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099234" y="2329815"/>
              <a:ext cx="790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框5 页0 r=1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269999" y="3974782"/>
              <a:ext cx="8722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框12 页2 r=1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099234" y="5619750"/>
              <a:ext cx="790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框8 页3 r=1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887654" y="3974782"/>
              <a:ext cx="790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框3 页5 r=1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347835" y="39747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325487" y="1563529"/>
              <a:ext cx="11937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Clock 环（顺时针）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190054" cy="909257"/>
            <a:chOff x="520446" y="342900"/>
            <a:chExt cx="101900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页面置换算法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1900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2010 年考研题解答：页号 4，FIFO 得 0FB7H，CLOCK 得 17B7H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410200" cy="1880235"/>
            <a:chOff x="533400" y="1524000"/>
            <a:chExt cx="5410200" cy="18802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80235"/>
            </a:xfrm>
            <a:prstGeom prst="roundRect">
              <a:avLst>
                <a:gd name="adj" fmla="val 70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135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5445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884" y="1769269"/>
              <a:ext cx="12247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(1) 拆分逻辑地址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4954" y="2221230"/>
              <a:ext cx="5050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13B7H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354455" y="2085975"/>
              <a:ext cx="142875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82859" y="222123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000100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783205" y="2085975"/>
              <a:ext cx="1428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25026" y="2221230"/>
              <a:ext cx="9451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1110110111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268795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2625090"/>
              <a:ext cx="41540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页长 1K = 2¹⁰，低 10 位是页内地址 d = 3B7H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30232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2960370"/>
              <a:ext cx="31133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 6 位 000100 = 4，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逻辑页号为 4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3594735"/>
            <a:ext cx="5410200" cy="1701165"/>
            <a:chOff x="533400" y="3594735"/>
            <a:chExt cx="5410200" cy="1701165"/>
          </a:xfrm>
        </p:grpSpPr>
        <p:sp>
          <p:nvSpPr>
            <p:cNvPr id="21" name="Rectangle 21"/>
            <p:cNvSpPr/>
            <p:nvPr/>
          </p:nvSpPr>
          <p:spPr>
            <a:xfrm>
              <a:off x="533400" y="3594735"/>
              <a:ext cx="5410200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728085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81050" y="3804285"/>
              <a:ext cx="82200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2950" y="3840004"/>
              <a:ext cx="6972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(2) FIFO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6765" y="424434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4880" y="4181475"/>
              <a:ext cx="2670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4 不在内存，发生缺页中断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86765" y="457962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4880" y="4516755"/>
              <a:ext cx="4790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装入时间最早的是页 5（80），淘汰页 5，得页框号 3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86765" y="491490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44880" y="4852035"/>
              <a:ext cx="4205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物理地址 = 000011 拼上 1110110111 =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0FB7H</a:t>
              </a:r>
            </a:p>
          </p:txBody>
        </p:sp>
      </p:grpSp>
      <p:grpSp>
        <p:nvGrpSpPr>
          <p:cNvPr id="38" name="c1-callout-3"/>
          <p:cNvGrpSpPr/>
          <p:nvPr/>
        </p:nvGrpSpPr>
        <p:grpSpPr>
          <a:xfrm>
            <a:off x="533400" y="5486400"/>
            <a:ext cx="5410200" cy="782955"/>
            <a:chOff x="533400" y="5486400"/>
            <a:chExt cx="5410200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548640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777865"/>
              <a:ext cx="200026" cy="200025"/>
              <a:chOff x="738188" y="5777865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7778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58223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59334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634990"/>
              <a:ext cx="44348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内存 64K，物理地址 16 位：高 6 位是页框号，低 10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位照抄页内地址。</a:t>
              </a:r>
            </a:p>
          </p:txBody>
        </p:sp>
      </p:grpSp>
      <p:grpSp>
        <p:nvGrpSpPr>
          <p:cNvPr id="82" name="c2-card-1"/>
          <p:cNvGrpSpPr/>
          <p:nvPr/>
        </p:nvGrpSpPr>
        <p:grpSpPr>
          <a:xfrm>
            <a:off x="6248400" y="1524000"/>
            <a:ext cx="5410200" cy="4745355"/>
            <a:chOff x="6248400" y="1524000"/>
            <a:chExt cx="5410200" cy="4745355"/>
          </a:xfrm>
        </p:grpSpPr>
        <p:sp>
          <p:nvSpPr>
            <p:cNvPr id="39" name="Rectangle 39"/>
            <p:cNvSpPr/>
            <p:nvPr/>
          </p:nvSpPr>
          <p:spPr>
            <a:xfrm>
              <a:off x="6248400" y="1524000"/>
              <a:ext cx="5410200" cy="4745355"/>
            </a:xfrm>
            <a:prstGeom prst="roundRect">
              <a:avLst>
                <a:gd name="adj" fmla="val 28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1657350"/>
              <a:ext cx="47625" cy="44786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96050" y="1733550"/>
              <a:ext cx="9410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51048" y="1769269"/>
              <a:ext cx="8310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(3) CLOCK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96050" y="2085975"/>
              <a:ext cx="49530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00596" y="22217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29906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指针所指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63027" y="22217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29189" y="2221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36997" y="267033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98233" y="2670334"/>
              <a:ext cx="995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0（框 5）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265397" y="267033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674733" y="2670334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 0，后移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496050" y="297846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96050" y="2983230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736997" y="311896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198233" y="3118961"/>
              <a:ext cx="10899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2（框 12）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265397" y="311896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74733" y="3118961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 0，后移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496050" y="342804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36997" y="356758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198233" y="3567589"/>
              <a:ext cx="995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3（框 8）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265397" y="356758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674733" y="3567589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 0，后移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496050" y="3876675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96050" y="3881438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736997" y="401621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198233" y="4016216"/>
              <a:ext cx="995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5（框 3）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265397" y="401621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674733" y="4016216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 0，后移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496050" y="4325302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736997" y="446579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198233" y="4465796"/>
              <a:ext cx="995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0（框 5）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265397" y="446579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674733" y="4465796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淘汰页 0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496050" y="2085975"/>
              <a:ext cx="49530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7085648" y="208597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066848" y="208597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9562148" y="208597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Ellipse 78"/>
            <p:cNvSpPr/>
            <p:nvPr/>
          </p:nvSpPr>
          <p:spPr>
            <a:xfrm>
              <a:off x="6501765" y="496157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659880" y="4898708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四页的 r 都是 1，指针转一圈后回到页 0，淘汰它，得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页框号 5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6501765" y="558260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659880" y="5519738"/>
              <a:ext cx="4205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物理地址 = 000101 拼上 1110110111 =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17B7H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691253" cy="3351847"/>
            <a:chOff x="667512" y="1835468"/>
            <a:chExt cx="469125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颠簸与工作集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页框给少了会怎样，每个进程到底该给多少页框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颠簸的原因与处理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工作集模型与窗口尺寸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工作集大小的估算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页故障率反馈模型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颠簸与工作集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颠簸：页面在内存和外存之间频繁换入换出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6059805" cy="1250632"/>
            <a:chOff x="533400" y="1524000"/>
            <a:chExt cx="6059805" cy="12506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40112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2888" y="1756410"/>
              <a:ext cx="12736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颠簸（thrashing）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页面在内存与外存之间频繁地换入换出，进程大部分时间在等缺页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处理，几乎没有进展。</a:t>
              </a:r>
            </a:p>
          </p:txBody>
        </p:sp>
      </p:grpSp>
      <p:grpSp>
        <p:nvGrpSpPr>
          <p:cNvPr id="24" name="c1-table-2"/>
          <p:cNvGrpSpPr/>
          <p:nvPr/>
        </p:nvGrpSpPr>
        <p:grpSpPr>
          <a:xfrm>
            <a:off x="533400" y="2955608"/>
            <a:ext cx="6059805" cy="1273492"/>
            <a:chOff x="533400" y="2955608"/>
            <a:chExt cx="6059805" cy="127349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5608"/>
              <a:ext cx="605980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880235" y="30832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10138" y="30832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5889" y="3508057"/>
              <a:ext cx="20266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分给进程的物理页框过少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65792" y="3508057"/>
              <a:ext cx="21768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增加分给进程的物理页框数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7995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804285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3932872"/>
              <a:ext cx="13804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 淘汰算法不合理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65792" y="3932872"/>
              <a:ext cx="12076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 改进淘汰算法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955608"/>
              <a:ext cx="6059805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558540" y="2955608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5" name="c1-card-3"/>
          <p:cNvGrpSpPr/>
          <p:nvPr/>
        </p:nvGrpSpPr>
        <p:grpSpPr>
          <a:xfrm>
            <a:off x="533400" y="4409122"/>
            <a:ext cx="6059805" cy="1865948"/>
            <a:chOff x="533400" y="4409122"/>
            <a:chExt cx="6059805" cy="1865948"/>
          </a:xfrm>
        </p:grpSpPr>
        <p:sp>
          <p:nvSpPr>
            <p:cNvPr id="25" name="Rectangle 25"/>
            <p:cNvSpPr/>
            <p:nvPr/>
          </p:nvSpPr>
          <p:spPr>
            <a:xfrm>
              <a:off x="533400" y="4409122"/>
              <a:ext cx="6059805" cy="1865948"/>
            </a:xfrm>
            <a:prstGeom prst="roundRect">
              <a:avLst>
                <a:gd name="adj" fmla="val 71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4542472"/>
              <a:ext cx="47625" cy="159924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9620" y="4607242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7059" y="464153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思考题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86281" y="4642009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有的系统在内存中总保持一个空闲页框，好处是什么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77240" y="504539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33831" y="4985861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缺页时能立即把页读入这个空闲页框，不必先等淘汰完成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77240" y="5363527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831" y="5303044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被淘汰页若修改过，写回外存可以在后台进行，不拖慢这次缺页处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3524" y="5888355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读入之后再淘汰一页，补足空闲页框。</a:t>
              </a:r>
            </a:p>
          </p:txBody>
        </p:sp>
      </p:grpSp>
      <p:grpSp>
        <p:nvGrpSpPr>
          <p:cNvPr id="38" name="c2-image-1"/>
          <p:cNvGrpSpPr/>
          <p:nvPr/>
        </p:nvGrpSpPr>
        <p:grpSpPr>
          <a:xfrm>
            <a:off x="6898005" y="1524000"/>
            <a:ext cx="4760595" cy="4861179"/>
            <a:chOff x="6898005" y="1524000"/>
            <a:chExt cx="4760595" cy="4861179"/>
          </a:xfrm>
        </p:grpSpPr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2"/>
            <a:srcRect l="10872" t="0" r="10871" b="0"/>
            <a:stretch>
              <a:fillRect/>
            </a:stretch>
          </p:blipFill>
          <p:spPr>
            <a:xfrm>
              <a:off x="6898005" y="1524000"/>
              <a:ext cx="4760595" cy="4562475"/>
            </a:xfrm>
            <a:prstGeom prst="roundRect">
              <a:avLst>
                <a:gd name="adj" fmla="val 2922"/>
              </a:avLst>
            </a:prstGeom>
          </p:spPr>
        </p:pic>
        <p:sp>
          <p:nvSpPr>
            <p:cNvPr id="37" name="TextBox 37"/>
            <p:cNvSpPr txBox="1"/>
            <p:nvPr/>
          </p:nvSpPr>
          <p:spPr>
            <a:xfrm>
              <a:off x="7576756" y="6179820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灶台只放得下两只碗，厨师的时间都花在来回搬食材上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颠簸与工作集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工作集：进程在最近一段时间内访问的页面集合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1373910" cy="308039"/>
            <a:chOff x="525399" y="1550194"/>
            <a:chExt cx="1137391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137391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工作集 WS(t, Δ) 是进程在时刻 t 之前最近 Δ 次访问用到的页面集合，Δ 叫窗口尺寸（window size）。下例取 Δ = 10。</a:t>
              </a:r>
            </a:p>
          </p:txBody>
        </p:sp>
      </p:grpSp>
      <p:grpSp>
        <p:nvGrpSpPr>
          <p:cNvPr id="98" name="c1-cells-1"/>
          <p:cNvGrpSpPr/>
          <p:nvPr/>
        </p:nvGrpSpPr>
        <p:grpSpPr>
          <a:xfrm>
            <a:off x="527304" y="1967865"/>
            <a:ext cx="11131296" cy="952214"/>
            <a:chOff x="527304" y="1967865"/>
            <a:chExt cx="11131296" cy="952214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210216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09308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353502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491261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734502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873213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116455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254213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498408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636166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880360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018118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261360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400071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43312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781071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025265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163023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406265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44976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788218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925976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170170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307928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552122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689881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933122" y="1967865"/>
              <a:ext cx="38195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071833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15075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52833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697028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34786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078028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16738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459980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97738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841932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979691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223885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61643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604885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743596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986838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124596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368790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506548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749790" y="1967865"/>
              <a:ext cx="3819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888501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131742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269501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0513695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0651453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0895648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1033406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11276648" y="1967865"/>
              <a:ext cx="3819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1415358" y="2102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3969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505922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887874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2268874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2650827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3032779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3414732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3795732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4177684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4526318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4907318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289271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5671223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053176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434176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816128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198081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579081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961033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342986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724938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9105938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9487891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869843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0250843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0632796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014748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396701" y="24422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94" name="Freeform 94"/>
            <p:cNvSpPr/>
            <p:nvPr/>
          </p:nvSpPr>
          <p:spPr>
            <a:xfrm>
              <a:off x="6086475" y="25965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043434" y="272938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96" name="Freeform 96"/>
            <p:cNvSpPr/>
            <p:nvPr/>
          </p:nvSpPr>
          <p:spPr>
            <a:xfrm>
              <a:off x="9903142" y="25965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9860101" y="272938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</p:grpSp>
      <p:grpSp>
        <p:nvGrpSpPr>
          <p:cNvPr id="115" name="c1-table-2"/>
          <p:cNvGrpSpPr/>
          <p:nvPr/>
        </p:nvGrpSpPr>
        <p:grpSpPr>
          <a:xfrm>
            <a:off x="527685" y="3044190"/>
            <a:ext cx="11130915" cy="1641634"/>
            <a:chOff x="527685" y="3044190"/>
            <a:chExt cx="11130915" cy="1641634"/>
          </a:xfrm>
        </p:grpSpPr>
        <p:sp>
          <p:nvSpPr>
            <p:cNvPr id="99" name="Rectangle 99"/>
            <p:cNvSpPr/>
            <p:nvPr/>
          </p:nvSpPr>
          <p:spPr>
            <a:xfrm>
              <a:off x="533400" y="3044190"/>
              <a:ext cx="11125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1800504" y="317896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时刻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5109751" y="3178969"/>
              <a:ext cx="15267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窗口内的 10 次访问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9724873" y="317896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工作集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641223" y="3627596"/>
              <a:ext cx="18980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t1（第 14 次访问之后）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5160152" y="3627596"/>
              <a:ext cx="14259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7 7 7 7 5 1 6 2 2 1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8788811" y="3627596"/>
              <a:ext cx="24020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WS(t1, Δ) = {5, 7, 1, 6, 2}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533400" y="39366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533400" y="394144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641223" y="4077176"/>
              <a:ext cx="18980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t2（第 24 次访问之后）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5160152" y="4077176"/>
              <a:ext cx="14259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2 3 4 4 4 3 4 3 4 4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9040292" y="4077176"/>
              <a:ext cx="18990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WS(t2, Δ) = {2, 3, 4}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533400" y="3044190"/>
              <a:ext cx="11125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2" name="Rectangle 112"/>
            <p:cNvSpPr/>
            <p:nvPr/>
          </p:nvSpPr>
          <p:spPr>
            <a:xfrm>
              <a:off x="3421380" y="304419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3" name="Rectangle 113"/>
            <p:cNvSpPr/>
            <p:nvPr/>
          </p:nvSpPr>
          <p:spPr>
            <a:xfrm>
              <a:off x="8316278" y="304419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527685" y="4465796"/>
              <a:ext cx="780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蓝色格为 t1 的窗口，橙色格为 t2 的窗口。原课件没有给出 Δ，按图中 t1、t2 的位置取 Δ = 10 得到这两个工作集。</a:t>
              </a:r>
            </a:p>
          </p:txBody>
        </p:sp>
      </p:grpSp>
      <p:grpSp>
        <p:nvGrpSpPr>
          <p:cNvPr id="12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116" name="Rectangle 11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119" name="Group 119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18" name="Freeform 118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20" name="TextBox 120"/>
            <p:cNvSpPr txBox="1"/>
            <p:nvPr/>
          </p:nvSpPr>
          <p:spPr>
            <a:xfrm>
              <a:off x="1040130" y="5991225"/>
              <a:ext cx="97677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Denning 认为：为使程序有效运行，工作集应能全部放入内存。工作集随时间 t 变化，也随窗口尺寸 Δ 变化。</a:t>
              </a:r>
            </a:p>
          </p:txBody>
        </p:sp>
      </p:grpSp>
      <p:grpSp>
        <p:nvGrpSpPr>
          <p:cNvPr id="12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2" name="TextBox 12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颠簸与工作集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窗口尺寸怎样定，工作集大小怎样估算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7" name="c1-graph-1"/>
          <p:cNvGrpSpPr/>
          <p:nvPr/>
        </p:nvGrpSpPr>
        <p:grpSpPr>
          <a:xfrm>
            <a:off x="649597" y="1550670"/>
            <a:ext cx="5233878" cy="2190369"/>
            <a:chOff x="649597" y="1550670"/>
            <a:chExt cx="5233878" cy="2190369"/>
          </a:xfrm>
        </p:grpSpPr>
        <p:sp>
          <p:nvSpPr>
            <p:cNvPr id="7" name="Freeform 7"/>
            <p:cNvSpPr/>
            <p:nvPr/>
          </p:nvSpPr>
          <p:spPr>
            <a:xfrm>
              <a:off x="1093470" y="3408045"/>
              <a:ext cx="4627245" cy="9525"/>
            </a:xfrm>
            <a:custGeom>
              <a:avLst/>
              <a:gdLst/>
              <a:ahLst/>
              <a:cxnLst/>
              <a:rect l="l" t="t" r="r" b="b"/>
              <a:pathLst>
                <a:path w="4627245" h="9525">
                  <a:moveTo>
                    <a:pt x="0" y="0"/>
                  </a:moveTo>
                  <a:lnTo>
                    <a:pt x="4627245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5720715" y="33604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074420" y="1725930"/>
              <a:ext cx="9525" cy="1663065"/>
            </a:xfrm>
            <a:custGeom>
              <a:avLst/>
              <a:gdLst/>
              <a:ahLst/>
              <a:cxnLst/>
              <a:rect l="l" t="t" r="r" b="b"/>
              <a:pathLst>
                <a:path w="9525" h="1663065">
                  <a:moveTo>
                    <a:pt x="0" y="166306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026795" y="163068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093470" y="1830705"/>
              <a:ext cx="4614862" cy="9525"/>
            </a:xfrm>
            <a:custGeom>
              <a:avLst/>
              <a:gdLst/>
              <a:ahLst/>
              <a:cxnLst/>
              <a:rect l="l" t="t" r="r" b="b"/>
              <a:pathLst>
                <a:path w="4614862" h="9525">
                  <a:moveTo>
                    <a:pt x="0" y="0"/>
                  </a:moveTo>
                  <a:lnTo>
                    <a:pt x="4614862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  <a:custDash>
                <a:ds d="333333" sp="222222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1264920" y="2995612"/>
              <a:ext cx="106680" cy="148590"/>
            </a:xfrm>
            <a:custGeom>
              <a:avLst/>
              <a:gdLst/>
              <a:ahLst/>
              <a:cxnLst/>
              <a:rect l="l" t="t" r="r" b="b"/>
              <a:pathLst>
                <a:path w="106680" h="148590">
                  <a:moveTo>
                    <a:pt x="0" y="148590"/>
                  </a:moveTo>
                  <a:lnTo>
                    <a:pt x="106680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426845" y="2769870"/>
              <a:ext cx="106680" cy="148590"/>
            </a:xfrm>
            <a:custGeom>
              <a:avLst/>
              <a:gdLst/>
              <a:ahLst/>
              <a:cxnLst/>
              <a:rect l="l" t="t" r="r" b="b"/>
              <a:pathLst>
                <a:path w="106680" h="148590">
                  <a:moveTo>
                    <a:pt x="0" y="148590"/>
                  </a:moveTo>
                  <a:lnTo>
                    <a:pt x="106680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608772" y="2730818"/>
              <a:ext cx="1041082" cy="9525"/>
            </a:xfrm>
            <a:custGeom>
              <a:avLst/>
              <a:gdLst/>
              <a:ahLst/>
              <a:cxnLst/>
              <a:rect l="l" t="t" r="r" b="b"/>
              <a:pathLst>
                <a:path w="1041082" h="9525">
                  <a:moveTo>
                    <a:pt x="0" y="0"/>
                  </a:moveTo>
                  <a:lnTo>
                    <a:pt x="1041082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745105" y="2730818"/>
              <a:ext cx="391478" cy="9525"/>
            </a:xfrm>
            <a:custGeom>
              <a:avLst/>
              <a:gdLst/>
              <a:ahLst/>
              <a:cxnLst/>
              <a:rect l="l" t="t" r="r" b="b"/>
              <a:pathLst>
                <a:path w="391478" h="9525">
                  <a:moveTo>
                    <a:pt x="0" y="0"/>
                  </a:moveTo>
                  <a:lnTo>
                    <a:pt x="391478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212782" y="2546032"/>
              <a:ext cx="105727" cy="146685"/>
            </a:xfrm>
            <a:custGeom>
              <a:avLst/>
              <a:gdLst/>
              <a:ahLst/>
              <a:cxnLst/>
              <a:rect l="l" t="t" r="r" b="b"/>
              <a:pathLst>
                <a:path w="105727" h="146685">
                  <a:moveTo>
                    <a:pt x="0" y="146685"/>
                  </a:moveTo>
                  <a:lnTo>
                    <a:pt x="105727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394710" y="2507932"/>
              <a:ext cx="391478" cy="9525"/>
            </a:xfrm>
            <a:custGeom>
              <a:avLst/>
              <a:gdLst/>
              <a:ahLst/>
              <a:cxnLst/>
              <a:rect l="l" t="t" r="r" b="b"/>
              <a:pathLst>
                <a:path w="391478" h="9525">
                  <a:moveTo>
                    <a:pt x="0" y="0"/>
                  </a:moveTo>
                  <a:lnTo>
                    <a:pt x="391478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861435" y="2320290"/>
              <a:ext cx="106680" cy="148590"/>
            </a:xfrm>
            <a:custGeom>
              <a:avLst/>
              <a:gdLst/>
              <a:ahLst/>
              <a:cxnLst/>
              <a:rect l="l" t="t" r="r" b="b"/>
              <a:pathLst>
                <a:path w="106680" h="148590">
                  <a:moveTo>
                    <a:pt x="0" y="148590"/>
                  </a:moveTo>
                  <a:lnTo>
                    <a:pt x="106680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4043362" y="2282190"/>
              <a:ext cx="67628" cy="9525"/>
            </a:xfrm>
            <a:custGeom>
              <a:avLst/>
              <a:gdLst/>
              <a:ahLst/>
              <a:cxnLst/>
              <a:rect l="l" t="t" r="r" b="b"/>
              <a:pathLst>
                <a:path w="67628" h="9525">
                  <a:moveTo>
                    <a:pt x="0" y="0"/>
                  </a:moveTo>
                  <a:lnTo>
                    <a:pt x="67628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186238" y="2094548"/>
              <a:ext cx="106680" cy="148590"/>
            </a:xfrm>
            <a:custGeom>
              <a:avLst/>
              <a:gdLst/>
              <a:ahLst/>
              <a:cxnLst/>
              <a:rect l="l" t="t" r="r" b="b"/>
              <a:pathLst>
                <a:path w="106680" h="148590">
                  <a:moveTo>
                    <a:pt x="0" y="148590"/>
                  </a:moveTo>
                  <a:lnTo>
                    <a:pt x="106680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348162" y="1869758"/>
              <a:ext cx="106680" cy="147638"/>
            </a:xfrm>
            <a:custGeom>
              <a:avLst/>
              <a:gdLst/>
              <a:ahLst/>
              <a:cxnLst/>
              <a:rect l="l" t="t" r="r" b="b"/>
              <a:pathLst>
                <a:path w="106680" h="147638">
                  <a:moveTo>
                    <a:pt x="0" y="147638"/>
                  </a:moveTo>
                  <a:lnTo>
                    <a:pt x="106680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530090" y="1830705"/>
              <a:ext cx="1041082" cy="9525"/>
            </a:xfrm>
            <a:custGeom>
              <a:avLst/>
              <a:gdLst/>
              <a:ahLst/>
              <a:cxnLst/>
              <a:rect l="l" t="t" r="r" b="b"/>
              <a:pathLst>
                <a:path w="1041082" h="9525">
                  <a:moveTo>
                    <a:pt x="0" y="0"/>
                  </a:moveTo>
                  <a:lnTo>
                    <a:pt x="1041082" y="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1064895" y="3398520"/>
              <a:ext cx="19050" cy="190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5825490" y="3398520"/>
              <a:ext cx="19050" cy="190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064895" y="1602105"/>
              <a:ext cx="19050" cy="190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064895" y="1821180"/>
              <a:ext cx="19050" cy="190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5717858" y="1821180"/>
              <a:ext cx="19050" cy="190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1198245" y="3144202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1361122" y="2918460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1523048" y="2692718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2659380" y="2692718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3146108" y="2692718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3308985" y="2469832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3795712" y="2469832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3957638" y="2244090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4120515" y="2244090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4282440" y="2018348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4444365" y="17926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5580698" y="17926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597" y="1550670"/>
              <a:ext cx="3086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|WS|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786556" y="3535680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Δ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599880" y="1594009"/>
              <a:ext cx="14413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程序的全部页数（7 页）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74414" y="3113723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74414" y="177736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26081" y="3551873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249141" y="3551873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  <p:grpSp>
        <p:nvGrpSpPr>
          <p:cNvPr id="49" name="c1-text-2"/>
          <p:cNvGrpSpPr/>
          <p:nvPr/>
        </p:nvGrpSpPr>
        <p:grpSpPr>
          <a:xfrm>
            <a:off x="526923" y="3926681"/>
            <a:ext cx="5092954" cy="500824"/>
            <a:chOff x="526923" y="3926681"/>
            <a:chExt cx="5092954" cy="500824"/>
          </a:xfrm>
        </p:grpSpPr>
        <p:sp>
          <p:nvSpPr>
            <p:cNvPr id="48" name="TextBox 48"/>
            <p:cNvSpPr txBox="1"/>
            <p:nvPr/>
          </p:nvSpPr>
          <p:spPr>
            <a:xfrm>
              <a:off x="526923" y="3926681"/>
              <a:ext cx="509295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上例在第 28 次访问后，Δ 从 1 增大到 28 时工作集的大小：Δ 越大工作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集越大，最后等于程序用到的全部页。</a:t>
              </a:r>
            </a:p>
          </p:txBody>
        </p:sp>
      </p:grpSp>
      <p:grpSp>
        <p:nvGrpSpPr>
          <p:cNvPr id="59" name="c1-card-3"/>
          <p:cNvGrpSpPr/>
          <p:nvPr/>
        </p:nvGrpSpPr>
        <p:grpSpPr>
          <a:xfrm>
            <a:off x="533400" y="4567238"/>
            <a:ext cx="5410200" cy="1662112"/>
            <a:chOff x="533400" y="4567238"/>
            <a:chExt cx="5410200" cy="1662112"/>
          </a:xfrm>
        </p:grpSpPr>
        <p:sp>
          <p:nvSpPr>
            <p:cNvPr id="50" name="Rectangle 50"/>
            <p:cNvSpPr/>
            <p:nvPr/>
          </p:nvSpPr>
          <p:spPr>
            <a:xfrm>
              <a:off x="533400" y="4567238"/>
              <a:ext cx="5410200" cy="1662112"/>
            </a:xfrm>
            <a:prstGeom prst="roundRect">
              <a:avLst>
                <a:gd name="adj" fmla="val 80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42925" y="4700588"/>
              <a:ext cx="47625" cy="139541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81050" y="4776788"/>
              <a:ext cx="90582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55132" y="4812506"/>
              <a:ext cx="7567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窗口尺寸 Δ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86765" y="521684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44880" y="5153978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过小：活动页面不能全部装入，页故障率高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86765" y="5552122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44880" y="548925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过大：内存浪费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74573" y="5820251"/>
              <a:ext cx="3456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Madnick 和 Donovan 建议 Δ 取 1 万次访内。</a:t>
              </a:r>
            </a:p>
          </p:txBody>
        </p:sp>
      </p:grpSp>
      <p:grpSp>
        <p:nvGrpSpPr>
          <p:cNvPr id="74" name="c2-card-1"/>
          <p:cNvGrpSpPr/>
          <p:nvPr/>
        </p:nvGrpSpPr>
        <p:grpSpPr>
          <a:xfrm>
            <a:off x="6248400" y="1524000"/>
            <a:ext cx="5410200" cy="1720215"/>
            <a:chOff x="6248400" y="1524000"/>
            <a:chExt cx="5410200" cy="1720215"/>
          </a:xfrm>
        </p:grpSpPr>
        <p:sp>
          <p:nvSpPr>
            <p:cNvPr id="60" name="Rectangle 60"/>
            <p:cNvSpPr/>
            <p:nvPr/>
          </p:nvSpPr>
          <p:spPr>
            <a:xfrm>
              <a:off x="6248400" y="1524000"/>
              <a:ext cx="5410200" cy="1720215"/>
            </a:xfrm>
            <a:prstGeom prst="roundRect">
              <a:avLst>
                <a:gd name="adj" fmla="val 77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57925" y="1657350"/>
              <a:ext cx="47625" cy="145351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97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页表中增加访问位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6496050" y="211645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557899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797040" y="2129790"/>
              <a:ext cx="32592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 Δ 周期开始时，访问位全部清 0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496050" y="245173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557899" y="24940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797040" y="2465070"/>
              <a:ext cx="281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访问某页时，把它的访问位置 1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6496050" y="278701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557899" y="28293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797040" y="2800350"/>
              <a:ext cx="4689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周期结束时，访问位为 1 的页就是这个周期的工作集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formula6"/>
              <p:cNvSpPr txBox="1">
                <a:spLocks noGrp="1"/>
              </p:cNvSpPr>
              <p:nvPr/>
            </p:nvSpPr>
            <p:spPr>
              <a:xfrm>
                <a:off x="6248400" y="3434715"/>
                <a:ext cx="5410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τ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</m:d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b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τ</m:t>
                          </m:r>
                        </m:e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grpSp>
        <p:nvGrpSpPr>
          <p:cNvPr id="84" name="c2-kv-3"/>
          <p:cNvGrpSpPr/>
          <p:nvPr/>
        </p:nvGrpSpPr>
        <p:grpSpPr>
          <a:xfrm>
            <a:off x="6240780" y="4107180"/>
            <a:ext cx="5417820" cy="1173480"/>
            <a:chOff x="6240780" y="4107180"/>
            <a:chExt cx="5417820" cy="1173480"/>
          </a:xfrm>
        </p:grpSpPr>
        <p:sp>
          <p:nvSpPr>
            <p:cNvPr id="76" name="TextBox 76"/>
            <p:cNvSpPr txBox="1"/>
            <p:nvPr/>
          </p:nvSpPr>
          <p:spPr>
            <a:xfrm>
              <a:off x="6240780" y="4107180"/>
              <a:ext cx="290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wₙ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758940" y="4107180"/>
              <a:ext cx="29159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n 个 Δ 周期实际的工作集大小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248400" y="44272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240780" y="454723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τₙ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758940" y="4547235"/>
              <a:ext cx="31179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n 个 Δ 周期工作集大小的估算值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248400" y="48672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240780" y="498729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α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758940" y="4987290"/>
              <a:ext cx="1620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权重，通常取 0.5</a:t>
              </a:r>
            </a:p>
          </p:txBody>
        </p:sp>
      </p:grpSp>
      <p:grpSp>
        <p:nvGrpSpPr>
          <p:cNvPr id="90" name="c2-callout-4"/>
          <p:cNvGrpSpPr/>
          <p:nvPr/>
        </p:nvGrpSpPr>
        <p:grpSpPr>
          <a:xfrm>
            <a:off x="6248400" y="5412105"/>
            <a:ext cx="5410200" cy="782955"/>
            <a:chOff x="6248400" y="5412105"/>
            <a:chExt cx="5410200" cy="782955"/>
          </a:xfrm>
        </p:grpSpPr>
        <p:sp>
          <p:nvSpPr>
            <p:cNvPr id="85" name="Rectangle 85"/>
            <p:cNvSpPr/>
            <p:nvPr/>
          </p:nvSpPr>
          <p:spPr>
            <a:xfrm>
              <a:off x="6248400" y="541210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6453188" y="5703570"/>
              <a:ext cx="200026" cy="200026"/>
              <a:chOff x="6453188" y="5703570"/>
              <a:chExt cx="200026" cy="200026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6453188" y="57035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6519863" y="578135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89" name="TextBox 89"/>
            <p:cNvSpPr txBox="1"/>
            <p:nvPr/>
          </p:nvSpPr>
          <p:spPr>
            <a:xfrm>
              <a:off x="6755130" y="556069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例：α = 0.5，τₙ = 10，本周期实测 wₙ = 6，则下一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周期估算 τₙ₊₁ = 0.5 × 6 + 0.5 × 10 = 8。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颠簸与工作集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页故障率反馈模型：缺页率高就加页框，低就减页框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flow-1"/>
          <p:cNvGrpSpPr/>
          <p:nvPr/>
        </p:nvGrpSpPr>
        <p:grpSpPr>
          <a:xfrm>
            <a:off x="730568" y="1909762"/>
            <a:ext cx="5232082" cy="4067176"/>
            <a:chOff x="730568" y="1909762"/>
            <a:chExt cx="5232082" cy="4067176"/>
          </a:xfrm>
        </p:grpSpPr>
        <p:sp>
          <p:nvSpPr>
            <p:cNvPr id="7" name="Freeform 7"/>
            <p:cNvSpPr/>
            <p:nvPr/>
          </p:nvSpPr>
          <p:spPr>
            <a:xfrm>
              <a:off x="1940242" y="2347912"/>
              <a:ext cx="9525" cy="584835"/>
            </a:xfrm>
            <a:custGeom>
              <a:avLst/>
              <a:gdLst/>
              <a:ahLst/>
              <a:cxnLst/>
              <a:rect l="l" t="t" r="r" b="b"/>
              <a:pathLst>
                <a:path w="9525" h="584835">
                  <a:moveTo>
                    <a:pt x="0" y="0"/>
                  </a:moveTo>
                  <a:lnTo>
                    <a:pt x="0" y="5848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887855" y="29327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149918" y="3338512"/>
              <a:ext cx="288608" cy="9525"/>
            </a:xfrm>
            <a:custGeom>
              <a:avLst/>
              <a:gdLst/>
              <a:ahLst/>
              <a:cxnLst/>
              <a:rect l="l" t="t" r="r" b="b"/>
              <a:pathLst>
                <a:path w="288608" h="9525">
                  <a:moveTo>
                    <a:pt x="0" y="0"/>
                  </a:moveTo>
                  <a:lnTo>
                    <a:pt x="28860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438525" y="32861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940242" y="3639502"/>
              <a:ext cx="9525" cy="502920"/>
            </a:xfrm>
            <a:custGeom>
              <a:avLst/>
              <a:gdLst/>
              <a:ahLst/>
              <a:cxnLst/>
              <a:rect l="l" t="t" r="r" b="b"/>
              <a:pathLst>
                <a:path w="9525" h="502920">
                  <a:moveTo>
                    <a:pt x="0" y="0"/>
                  </a:moveTo>
                  <a:lnTo>
                    <a:pt x="0" y="50292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87855" y="41424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149918" y="4548188"/>
              <a:ext cx="288608" cy="9525"/>
            </a:xfrm>
            <a:custGeom>
              <a:avLst/>
              <a:gdLst/>
              <a:ahLst/>
              <a:cxnLst/>
              <a:rect l="l" t="t" r="r" b="b"/>
              <a:pathLst>
                <a:path w="288608" h="9525">
                  <a:moveTo>
                    <a:pt x="0" y="0"/>
                  </a:moveTo>
                  <a:lnTo>
                    <a:pt x="28860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438525" y="44958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940242" y="4849178"/>
              <a:ext cx="9525" cy="584835"/>
            </a:xfrm>
            <a:custGeom>
              <a:avLst/>
              <a:gdLst/>
              <a:ahLst/>
              <a:cxnLst/>
              <a:rect l="l" t="t" r="r" b="b"/>
              <a:pathLst>
                <a:path w="9525" h="584835">
                  <a:moveTo>
                    <a:pt x="0" y="0"/>
                  </a:moveTo>
                  <a:lnTo>
                    <a:pt x="0" y="5848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887855" y="54340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0568" y="1909762"/>
              <a:ext cx="2419350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730568" y="3037522"/>
              <a:ext cx="2419350" cy="601980"/>
            </a:xfrm>
            <a:custGeom>
              <a:avLst/>
              <a:gdLst/>
              <a:ahLst/>
              <a:cxnLst/>
              <a:rect l="l" t="t" r="r" b="b"/>
              <a:pathLst>
                <a:path w="2419350" h="601980">
                  <a:moveTo>
                    <a:pt x="1209675" y="0"/>
                  </a:moveTo>
                  <a:lnTo>
                    <a:pt x="2419350" y="300990"/>
                  </a:lnTo>
                  <a:lnTo>
                    <a:pt x="1209675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543300" y="3119438"/>
              <a:ext cx="2419350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30568" y="4247198"/>
              <a:ext cx="2419350" cy="601980"/>
            </a:xfrm>
            <a:custGeom>
              <a:avLst/>
              <a:gdLst/>
              <a:ahLst/>
              <a:cxnLst/>
              <a:rect l="l" t="t" r="r" b="b"/>
              <a:pathLst>
                <a:path w="2419350" h="601980">
                  <a:moveTo>
                    <a:pt x="1209675" y="0"/>
                  </a:moveTo>
                  <a:lnTo>
                    <a:pt x="2419350" y="300990"/>
                  </a:lnTo>
                  <a:lnTo>
                    <a:pt x="1209675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543300" y="4329112"/>
              <a:ext cx="2419350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30568" y="5538788"/>
              <a:ext cx="2419350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158354" y="203977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统计进程的页故障率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30668" y="324945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达到上界阈值？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84930" y="324945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内存页面少，增加页框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30668" y="445912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达到下界阈值？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884930" y="445912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内存页面多，减少页框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02982" y="56688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页框数不变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232785" y="312229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271075" y="314896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968818" y="385095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992058" y="387762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232785" y="433197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271075" y="435864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968818" y="510159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992058" y="512826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464618" y="1524000"/>
            <a:ext cx="5193982" cy="1612582"/>
            <a:chOff x="6464618" y="1524000"/>
            <a:chExt cx="5193982" cy="1612582"/>
          </a:xfrm>
        </p:grpSpPr>
        <p:sp>
          <p:nvSpPr>
            <p:cNvPr id="38" name="Rectangle 38"/>
            <p:cNvSpPr/>
            <p:nvPr/>
          </p:nvSpPr>
          <p:spPr>
            <a:xfrm>
              <a:off x="6464618" y="1524000"/>
              <a:ext cx="5193982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4142" y="165735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712268" y="1733550"/>
              <a:ext cx="231648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27908" y="1769269"/>
              <a:ext cx="2285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PFFB（Page Fault Feed Back）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04648" y="211074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思想：利用页故障率的反馈信息，动态调整分给进程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的页框数。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05791" y="2728436"/>
              <a:ext cx="42001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页故障率 = 访问内存时的缺页次数 ÷ 访问内存的总次数</a:t>
              </a:r>
            </a:p>
          </p:txBody>
        </p:sp>
      </p:grpSp>
      <p:grpSp>
        <p:nvGrpSpPr>
          <p:cNvPr id="56" name="c2-table-2"/>
          <p:cNvGrpSpPr/>
          <p:nvPr/>
        </p:nvGrpSpPr>
        <p:grpSpPr>
          <a:xfrm>
            <a:off x="6464618" y="3327082"/>
            <a:ext cx="5193982" cy="1573530"/>
            <a:chOff x="6464618" y="3327082"/>
            <a:chExt cx="5193982" cy="1573530"/>
          </a:xfrm>
        </p:grpSpPr>
        <p:sp>
          <p:nvSpPr>
            <p:cNvPr id="45" name="Rectangle 45"/>
            <p:cNvSpPr/>
            <p:nvPr/>
          </p:nvSpPr>
          <p:spPr>
            <a:xfrm>
              <a:off x="6464618" y="3327082"/>
              <a:ext cx="519398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168794" y="34628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593948" y="34628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调整依据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72441" y="391144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工作集模型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338376" y="391144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估算工作集大小，按它分配页框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64618" y="42205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64618" y="422529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72441" y="447341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页故障率反馈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338376" y="4360069"/>
              <a:ext cx="2939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直接看实测的缺页率，超出阈值就增减页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3327082"/>
              <a:ext cx="5193982" cy="1573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8225790" y="3327082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allout-3"/>
          <p:cNvGrpSpPr/>
          <p:nvPr/>
        </p:nvGrpSpPr>
        <p:grpSpPr>
          <a:xfrm>
            <a:off x="6464618" y="5091112"/>
            <a:ext cx="5193982" cy="1059180"/>
            <a:chOff x="6464618" y="5091112"/>
            <a:chExt cx="5193982" cy="1059180"/>
          </a:xfrm>
        </p:grpSpPr>
        <p:sp>
          <p:nvSpPr>
            <p:cNvPr id="57" name="Rectangle 57"/>
            <p:cNvSpPr/>
            <p:nvPr/>
          </p:nvSpPr>
          <p:spPr>
            <a:xfrm>
              <a:off x="6464618" y="5091112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669405" y="5520690"/>
              <a:ext cx="200026" cy="200026"/>
              <a:chOff x="6669405" y="5520690"/>
              <a:chExt cx="200026" cy="20002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6669405" y="552069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736080" y="559847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971348" y="5239702"/>
              <a:ext cx="42538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例：LRU 例题 3 个页框时缺页率 60%。若上界阈值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定为 50%，就给该进程加一个页框；4 个页框时同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一序列只缺页 8 次（40%）。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357622" cy="3351847"/>
            <a:chOff x="667512" y="1835468"/>
            <a:chExt cx="535762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虚拟段式与虚拟段页式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477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以段为单位调入淘汰，段可以在运行中动态连接和共享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263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7.3 缺段中断与地址映射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427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7.3.2 段的动态连接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7.4 段页式的表目与地址映射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连接、缺页、越界、越权中断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51115" cy="909257"/>
            <a:chOff x="520446" y="342900"/>
            <a:chExt cx="725111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5111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7.3 虚拟段式：访问的段不在内存就发缺段中断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544378" cy="1954530"/>
            <a:chOff x="533400" y="1524000"/>
            <a:chExt cx="4544378" cy="19545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1954530"/>
            </a:xfrm>
            <a:prstGeom prst="roundRect">
              <a:avLst>
                <a:gd name="adj" fmla="val 68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783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基本原理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6762" y="211074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2782" y="2054542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运行前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：进程全部装入外存，部分段装入内存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4117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355532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：访问的段不在内存，发生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缺段中断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，把该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段调入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2475" y="2908459"/>
              <a:ext cx="38519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段长不等，调入时要在内存找一块足够大的连续区，可能要先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紧凑或淘汰几个段。</a:t>
              </a:r>
            </a:p>
          </p:txBody>
        </p:sp>
      </p:grpSp>
      <p:grpSp>
        <p:nvGrpSpPr>
          <p:cNvPr id="28" name="c1-kv-2"/>
          <p:cNvGrpSpPr/>
          <p:nvPr/>
        </p:nvGrpSpPr>
        <p:grpSpPr>
          <a:xfrm>
            <a:off x="526542" y="3670935"/>
            <a:ext cx="4551236" cy="1441323"/>
            <a:chOff x="526542" y="3670935"/>
            <a:chExt cx="4551236" cy="1441323"/>
          </a:xfrm>
        </p:grpSpPr>
        <p:sp>
          <p:nvSpPr>
            <p:cNvPr id="17" name="TextBox 17"/>
            <p:cNvSpPr txBox="1"/>
            <p:nvPr/>
          </p:nvSpPr>
          <p:spPr>
            <a:xfrm>
              <a:off x="526542" y="3670935"/>
              <a:ext cx="709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8070" y="367093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段表长度（段表长度寄存器）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95668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542" y="406336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18070" y="406336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段表首址（段表首址寄存器）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34911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542" y="4455795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b′、l′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18070" y="445579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该段在内存的首址和段长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74154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542" y="4848225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b″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18070" y="4848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该段在外存的首址</a:t>
              </a:r>
            </a:p>
          </p:txBody>
        </p:sp>
      </p:grpSp>
      <p:grpSp>
        <p:nvGrpSpPr>
          <p:cNvPr id="69" name="c2-table-1"/>
          <p:cNvGrpSpPr/>
          <p:nvPr/>
        </p:nvGrpSpPr>
        <p:grpSpPr>
          <a:xfrm>
            <a:off x="5377624" y="1524000"/>
            <a:ext cx="6280976" cy="1863756"/>
            <a:chOff x="5377624" y="1524000"/>
            <a:chExt cx="6280976" cy="1863756"/>
          </a:xfrm>
        </p:grpSpPr>
        <p:sp>
          <p:nvSpPr>
            <p:cNvPr id="29" name="Rectangle 29"/>
            <p:cNvSpPr/>
            <p:nvPr/>
          </p:nvSpPr>
          <p:spPr>
            <a:xfrm>
              <a:off x="5382578" y="1524000"/>
              <a:ext cx="6276022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58232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9384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段长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96506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内存首址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92821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外存首址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7609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权限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56864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内外标识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5317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修改标志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689561" y="20454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03152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256592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52907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18540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16950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11326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82578" y="23193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82578" y="2324100"/>
              <a:ext cx="62760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689561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80536" y="2445544"/>
              <a:ext cx="139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l′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215129" y="24455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11444" y="24455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004475" y="2445544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{rwe}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988791" y="2445544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985106" y="2445544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1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82578" y="27193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689561" y="28455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03152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256592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52907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185405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116950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113265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82578" y="1524000"/>
              <a:ext cx="6276022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89332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801802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797165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8793480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661208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10657522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377624" y="3197066"/>
              <a:ext cx="11906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(1) 虚拟段式的段表</a:t>
              </a:r>
            </a:p>
          </p:txBody>
        </p:sp>
      </p:grpSp>
      <p:grpSp>
        <p:nvGrpSpPr>
          <p:cNvPr id="100" name="c2-table-2"/>
          <p:cNvGrpSpPr/>
          <p:nvPr/>
        </p:nvGrpSpPr>
        <p:grpSpPr>
          <a:xfrm>
            <a:off x="5377624" y="3519488"/>
            <a:ext cx="6280976" cy="1864708"/>
            <a:chOff x="5377624" y="3519488"/>
            <a:chExt cx="6280976" cy="1864708"/>
          </a:xfrm>
        </p:grpSpPr>
        <p:sp>
          <p:nvSpPr>
            <p:cNvPr id="70" name="Rectangle 70"/>
            <p:cNvSpPr/>
            <p:nvPr/>
          </p:nvSpPr>
          <p:spPr>
            <a:xfrm>
              <a:off x="5382578" y="3519488"/>
              <a:ext cx="6276022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768061" y="36409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852958" y="36409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段长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929004" y="36409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内存首址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297746" y="36409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访问权限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666489" y="36409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修改标志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875299" y="40409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962270" y="40409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189090" y="40409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557832" y="40409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926575" y="40409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5382578" y="431482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5382578" y="4319588"/>
              <a:ext cx="62760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5875299" y="44410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939653" y="4441031"/>
              <a:ext cx="139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l′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147627" y="44410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376903" y="4441031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{rwe}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798416" y="444103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1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5382578" y="471487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5875299" y="4841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962270" y="48410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189090" y="48410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9557832" y="48410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926575" y="48410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5382578" y="3519488"/>
              <a:ext cx="6276022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6462712" y="351948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7546658" y="351948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8916352" y="351948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10285095" y="351948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5377624" y="5193506"/>
              <a:ext cx="11906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(2) 虚拟段式的快表</a:t>
              </a:r>
            </a:p>
          </p:txBody>
        </p:sp>
      </p:grpSp>
      <p:grpSp>
        <p:nvGrpSpPr>
          <p:cNvPr id="107" name="c2-callout-3"/>
          <p:cNvGrpSpPr/>
          <p:nvPr/>
        </p:nvGrpSpPr>
        <p:grpSpPr>
          <a:xfrm>
            <a:off x="5382578" y="5514975"/>
            <a:ext cx="6276022" cy="729615"/>
            <a:chOff x="5382578" y="5514975"/>
            <a:chExt cx="6276022" cy="729615"/>
          </a:xfrm>
        </p:grpSpPr>
        <p:sp>
          <p:nvSpPr>
            <p:cNvPr id="101" name="Rectangle 101"/>
            <p:cNvSpPr/>
            <p:nvPr/>
          </p:nvSpPr>
          <p:spPr>
            <a:xfrm>
              <a:off x="5382578" y="5514975"/>
              <a:ext cx="6276022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05" name="Group 105"/>
            <p:cNvGrpSpPr/>
            <p:nvPr/>
          </p:nvGrpSpPr>
          <p:grpSpPr>
            <a:xfrm>
              <a:off x="5587365" y="5779770"/>
              <a:ext cx="200026" cy="200026"/>
              <a:chOff x="5587365" y="5779770"/>
              <a:chExt cx="200026" cy="200026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5587365" y="57797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03" name="Freeform 103"/>
              <p:cNvSpPr/>
              <p:nvPr/>
            </p:nvSpPr>
            <p:spPr>
              <a:xfrm>
                <a:off x="5687378" y="58464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04" name="Freeform 104"/>
              <p:cNvSpPr/>
              <p:nvPr/>
            </p:nvSpPr>
            <p:spPr>
              <a:xfrm>
                <a:off x="5676265" y="587978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06" name="TextBox 106"/>
            <p:cNvSpPr txBox="1"/>
            <p:nvPr/>
          </p:nvSpPr>
          <p:spPr>
            <a:xfrm>
              <a:off x="5890070" y="5661660"/>
              <a:ext cx="53543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和虚拟页式相比，段表、快表都多了段长 l′，映射时还要检查段内地址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是否越界。</a:t>
              </a:r>
            </a:p>
          </p:txBody>
        </p:sp>
      </p:grpSp>
      <p:grpSp>
        <p:nvGrpSpPr>
          <p:cNvPr id="11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8" name="TextBox 10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虚拟段式地址映射：段号、段内地址各查一次越界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534933" cy="308039"/>
            <a:chOff x="525399" y="1550194"/>
            <a:chExt cx="753493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53493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逻辑地址 (s, d)。这一页的步骤由硬件完成，缺段中断转软件处理（下一页）。</a:t>
              </a:r>
            </a:p>
          </p:txBody>
        </p:sp>
      </p:grpSp>
      <p:grpSp>
        <p:nvGrpSpPr>
          <p:cNvPr id="81" name="c1-flow-1"/>
          <p:cNvGrpSpPr/>
          <p:nvPr/>
        </p:nvGrpSpPr>
        <p:grpSpPr>
          <a:xfrm>
            <a:off x="689610" y="2106930"/>
            <a:ext cx="10813732" cy="3925252"/>
            <a:chOff x="689610" y="2106930"/>
            <a:chExt cx="10813732" cy="3925252"/>
          </a:xfrm>
        </p:grpSpPr>
        <p:sp>
          <p:nvSpPr>
            <p:cNvPr id="9" name="Freeform 9"/>
            <p:cNvSpPr/>
            <p:nvPr/>
          </p:nvSpPr>
          <p:spPr>
            <a:xfrm>
              <a:off x="2602230" y="2516505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09875" y="24641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827270" y="2516505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034915" y="24641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7052310" y="2516505"/>
              <a:ext cx="2432685" cy="9525"/>
            </a:xfrm>
            <a:custGeom>
              <a:avLst/>
              <a:gdLst/>
              <a:ahLst/>
              <a:cxnLst/>
              <a:rect l="l" t="t" r="r" b="b"/>
              <a:pathLst>
                <a:path w="2432685" h="9525">
                  <a:moveTo>
                    <a:pt x="0" y="0"/>
                  </a:moveTo>
                  <a:lnTo>
                    <a:pt x="243268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9484995" y="24641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6096000" y="2817495"/>
              <a:ext cx="9525" cy="474345"/>
            </a:xfrm>
            <a:custGeom>
              <a:avLst/>
              <a:gdLst/>
              <a:ahLst/>
              <a:cxnLst/>
              <a:rect l="l" t="t" r="r" b="b"/>
              <a:pathLst>
                <a:path w="9525" h="474345">
                  <a:moveTo>
                    <a:pt x="0" y="0"/>
                  </a:moveTo>
                  <a:lnTo>
                    <a:pt x="0" y="4743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043612" y="32918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870960" y="2927032"/>
              <a:ext cx="9525" cy="282892"/>
            </a:xfrm>
            <a:custGeom>
              <a:avLst/>
              <a:gdLst/>
              <a:ahLst/>
              <a:cxnLst/>
              <a:rect l="l" t="t" r="r" b="b"/>
              <a:pathLst>
                <a:path w="9525" h="282892">
                  <a:moveTo>
                    <a:pt x="0" y="0"/>
                  </a:moveTo>
                  <a:lnTo>
                    <a:pt x="0" y="28289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818572" y="32099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707005" y="361569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602230" y="35633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3870960" y="3916680"/>
              <a:ext cx="9525" cy="474345"/>
            </a:xfrm>
            <a:custGeom>
              <a:avLst/>
              <a:gdLst/>
              <a:ahLst/>
              <a:cxnLst/>
              <a:rect l="l" t="t" r="r" b="b"/>
              <a:pathLst>
                <a:path w="9525" h="474345">
                  <a:moveTo>
                    <a:pt x="0" y="0"/>
                  </a:moveTo>
                  <a:lnTo>
                    <a:pt x="0" y="4743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818572" y="43910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4827270" y="4714875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5034915" y="4662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7052310" y="4714875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259955" y="4662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6096000" y="5014912"/>
              <a:ext cx="9525" cy="474345"/>
            </a:xfrm>
            <a:custGeom>
              <a:avLst/>
              <a:gdLst/>
              <a:ahLst/>
              <a:cxnLst/>
              <a:rect l="l" t="t" r="r" b="b"/>
              <a:pathLst>
                <a:path w="9525" h="474345">
                  <a:moveTo>
                    <a:pt x="0" y="0"/>
                  </a:moveTo>
                  <a:lnTo>
                    <a:pt x="0" y="4743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043612" y="54892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8321040" y="5014912"/>
              <a:ext cx="9525" cy="474345"/>
            </a:xfrm>
            <a:custGeom>
              <a:avLst/>
              <a:gdLst/>
              <a:ahLst/>
              <a:cxnLst/>
              <a:rect l="l" t="t" r="r" b="b"/>
              <a:pathLst>
                <a:path w="9525" h="474345">
                  <a:moveTo>
                    <a:pt x="0" y="0"/>
                  </a:moveTo>
                  <a:lnTo>
                    <a:pt x="0" y="4743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8268652" y="54892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9277350" y="4714875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484995" y="4662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10546080" y="2840355"/>
              <a:ext cx="9525" cy="1559242"/>
            </a:xfrm>
            <a:custGeom>
              <a:avLst/>
              <a:gdLst/>
              <a:ahLst/>
              <a:cxnLst/>
              <a:rect l="l" t="t" r="r" b="b"/>
              <a:pathLst>
                <a:path w="9525" h="1559242">
                  <a:moveTo>
                    <a:pt x="0" y="155924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493692" y="27355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9610" y="2202180"/>
              <a:ext cx="1913572" cy="629602"/>
            </a:xfrm>
            <a:prstGeom prst="roundRect">
              <a:avLst>
                <a:gd name="adj" fmla="val 49924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2914650" y="2106930"/>
              <a:ext cx="1912620" cy="820103"/>
            </a:xfrm>
            <a:custGeom>
              <a:avLst/>
              <a:gdLst/>
              <a:ahLst/>
              <a:cxnLst/>
              <a:rect l="l" t="t" r="r" b="b"/>
              <a:pathLst>
                <a:path w="1912620" h="820103">
                  <a:moveTo>
                    <a:pt x="956310" y="0"/>
                  </a:moveTo>
                  <a:lnTo>
                    <a:pt x="1912620" y="409575"/>
                  </a:lnTo>
                  <a:lnTo>
                    <a:pt x="956310" y="820103"/>
                  </a:lnTo>
                  <a:lnTo>
                    <a:pt x="0" y="40957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139690" y="2216468"/>
              <a:ext cx="1912620" cy="601028"/>
            </a:xfrm>
            <a:custGeom>
              <a:avLst/>
              <a:gdLst/>
              <a:ahLst/>
              <a:cxnLst/>
              <a:rect l="l" t="t" r="r" b="b"/>
              <a:pathLst>
                <a:path w="1912620" h="601028">
                  <a:moveTo>
                    <a:pt x="956310" y="0"/>
                  </a:moveTo>
                  <a:lnTo>
                    <a:pt x="1912620" y="300038"/>
                  </a:lnTo>
                  <a:lnTo>
                    <a:pt x="956310" y="601028"/>
                  </a:lnTo>
                  <a:lnTo>
                    <a:pt x="0" y="30003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589770" y="2297430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9610" y="3396615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2914650" y="3314700"/>
              <a:ext cx="1912620" cy="601980"/>
            </a:xfrm>
            <a:custGeom>
              <a:avLst/>
              <a:gdLst/>
              <a:ahLst/>
              <a:cxnLst/>
              <a:rect l="l" t="t" r="r" b="b"/>
              <a:pathLst>
                <a:path w="1912620" h="601980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139690" y="3396615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2914650" y="4495800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5139690" y="4413885"/>
              <a:ext cx="1912620" cy="601028"/>
            </a:xfrm>
            <a:custGeom>
              <a:avLst/>
              <a:gdLst/>
              <a:ahLst/>
              <a:cxnLst/>
              <a:rect l="l" t="t" r="r" b="b"/>
              <a:pathLst>
                <a:path w="1912620" h="601028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364730" y="4413885"/>
              <a:ext cx="1912620" cy="601028"/>
            </a:xfrm>
            <a:custGeom>
              <a:avLst/>
              <a:gdLst/>
              <a:ahLst/>
              <a:cxnLst/>
              <a:rect l="l" t="t" r="r" b="b"/>
              <a:pathLst>
                <a:path w="1912620" h="601028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589770" y="4399598"/>
              <a:ext cx="1913572" cy="629602"/>
            </a:xfrm>
            <a:prstGeom prst="roundRect">
              <a:avLst>
                <a:gd name="adj" fmla="val 1512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139690" y="5594032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364730" y="5594032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89203" y="2318861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指令确定逻辑地址</a:t>
              </a:r>
              <a:br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(s, d)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299587" y="2318861"/>
              <a:ext cx="114274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s 查快表得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b′、l′，查到？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542427" y="2427446"/>
              <a:ext cx="11071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d ≤ l′−1？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828379" y="2427446"/>
              <a:ext cx="1435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b′ + d 得物理地址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294816" y="35266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64774" y="3526631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s ≤ l−1？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744896" y="35266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287232" y="4625816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b、s 查段表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572582" y="462581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该段在内存？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67467" y="4625816"/>
              <a:ext cx="11071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d ≤ l′−1？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840595" y="4516279"/>
              <a:ext cx="141097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(s, b′, l′) 写入快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表，满则淘汰一项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227955" y="572404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缺段中断，转软件处理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969936" y="572404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4802505" y="230028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4836795" y="232695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查到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206740" y="230028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245031" y="232695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124575" y="301466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147816" y="304133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3899535" y="3028950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3922776" y="305562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查不到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2644140" y="339947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682430" y="342614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3899535" y="411384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3922776" y="414051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7094220" y="449865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132511" y="452532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124575" y="521303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147816" y="52397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不在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8349615" y="521303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372856" y="523970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319260" y="449865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9357550" y="452532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缺段中断处理：内存不够先试紧凑，还不够再淘汰段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5" name="c1-flow-1"/>
          <p:cNvGrpSpPr/>
          <p:nvPr/>
        </p:nvGrpSpPr>
        <p:grpSpPr>
          <a:xfrm>
            <a:off x="1225868" y="1705928"/>
            <a:ext cx="6099809" cy="4378642"/>
            <a:chOff x="1225868" y="1705928"/>
            <a:chExt cx="6099809" cy="4378642"/>
          </a:xfrm>
        </p:grpSpPr>
        <p:sp>
          <p:nvSpPr>
            <p:cNvPr id="7" name="Freeform 7"/>
            <p:cNvSpPr/>
            <p:nvPr/>
          </p:nvSpPr>
          <p:spPr>
            <a:xfrm>
              <a:off x="3129915" y="2309812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077528" y="25765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862388" y="297561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024312" y="29232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5594032" y="297561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755958" y="29232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129915" y="3269932"/>
              <a:ext cx="9525" cy="274320"/>
            </a:xfrm>
            <a:custGeom>
              <a:avLst/>
              <a:gdLst/>
              <a:ahLst/>
              <a:cxnLst/>
              <a:rect l="l" t="t" r="r" b="b"/>
              <a:pathLst>
                <a:path w="9525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077528" y="35442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862388" y="394335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024312" y="38909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861560" y="3286125"/>
              <a:ext cx="9525" cy="451485"/>
            </a:xfrm>
            <a:custGeom>
              <a:avLst/>
              <a:gdLst/>
              <a:ahLst/>
              <a:cxnLst/>
              <a:rect l="l" t="t" r="r" b="b"/>
              <a:pathLst>
                <a:path w="9525" h="451485">
                  <a:moveTo>
                    <a:pt x="0" y="45148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809172" y="31813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129915" y="4237672"/>
              <a:ext cx="9525" cy="362903"/>
            </a:xfrm>
            <a:custGeom>
              <a:avLst/>
              <a:gdLst/>
              <a:ahLst/>
              <a:cxnLst/>
              <a:rect l="l" t="t" r="r" b="b"/>
              <a:pathLst>
                <a:path w="9525" h="362903">
                  <a:moveTo>
                    <a:pt x="0" y="0"/>
                  </a:moveTo>
                  <a:lnTo>
                    <a:pt x="0" y="36290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077528" y="46005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3862388" y="491109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024312" y="48587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5594032" y="4911090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5755958" y="48587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4861560" y="5205412"/>
              <a:ext cx="9525" cy="362903"/>
            </a:xfrm>
            <a:custGeom>
              <a:avLst/>
              <a:gdLst/>
              <a:ahLst/>
              <a:cxnLst/>
              <a:rect l="l" t="t" r="r" b="b"/>
              <a:pathLst>
                <a:path w="9525" h="362903">
                  <a:moveTo>
                    <a:pt x="0" y="0"/>
                  </a:moveTo>
                  <a:lnTo>
                    <a:pt x="0" y="36290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809172" y="55683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5698808" y="5116830"/>
              <a:ext cx="894398" cy="762000"/>
            </a:xfrm>
            <a:custGeom>
              <a:avLst/>
              <a:gdLst/>
              <a:ahLst/>
              <a:cxnLst/>
              <a:rect l="l" t="t" r="r" b="b"/>
              <a:pathLst>
                <a:path w="894398" h="762000">
                  <a:moveTo>
                    <a:pt x="894398" y="0"/>
                  </a:moveTo>
                  <a:lnTo>
                    <a:pt x="894398" y="209550"/>
                  </a:lnTo>
                  <a:lnTo>
                    <a:pt x="894398" y="762000"/>
                  </a:lnTo>
                  <a:lnTo>
                    <a:pt x="104775" y="762000"/>
                  </a:lnTo>
                  <a:lnTo>
                    <a:pt x="0" y="7620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5594032" y="58264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1225868" y="2975610"/>
              <a:ext cx="2903220" cy="2903220"/>
            </a:xfrm>
            <a:custGeom>
              <a:avLst/>
              <a:gdLst/>
              <a:ahLst/>
              <a:cxnLst/>
              <a:rect l="l" t="t" r="r" b="b"/>
              <a:pathLst>
                <a:path w="2903220" h="2903220">
                  <a:moveTo>
                    <a:pt x="2903220" y="2903220"/>
                  </a:moveTo>
                  <a:lnTo>
                    <a:pt x="2693670" y="2903220"/>
                  </a:lnTo>
                  <a:lnTo>
                    <a:pt x="0" y="2903220"/>
                  </a:lnTo>
                  <a:lnTo>
                    <a:pt x="0" y="0"/>
                  </a:lnTo>
                  <a:lnTo>
                    <a:pt x="962978" y="0"/>
                  </a:lnTo>
                  <a:lnTo>
                    <a:pt x="106775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293620" y="29232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2398395" y="1705928"/>
              <a:ext cx="1464945" cy="6038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2398395" y="2681288"/>
              <a:ext cx="1463992" cy="588645"/>
            </a:xfrm>
            <a:custGeom>
              <a:avLst/>
              <a:gdLst/>
              <a:ahLst/>
              <a:cxnLst/>
              <a:rect l="l" t="t" r="r" b="b"/>
              <a:pathLst>
                <a:path w="1463992" h="588645">
                  <a:moveTo>
                    <a:pt x="731520" y="0"/>
                  </a:moveTo>
                  <a:lnTo>
                    <a:pt x="1463992" y="294322"/>
                  </a:lnTo>
                  <a:lnTo>
                    <a:pt x="731520" y="588645"/>
                  </a:lnTo>
                  <a:lnTo>
                    <a:pt x="0" y="29432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4129088" y="2769870"/>
              <a:ext cx="1464945" cy="411480"/>
            </a:xfrm>
            <a:prstGeom prst="roundRect">
              <a:avLst>
                <a:gd name="adj" fmla="val 23148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860732" y="2673668"/>
              <a:ext cx="1464945" cy="6038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2398395" y="3649028"/>
              <a:ext cx="1463992" cy="588645"/>
            </a:xfrm>
            <a:custGeom>
              <a:avLst/>
              <a:gdLst/>
              <a:ahLst/>
              <a:cxnLst/>
              <a:rect l="l" t="t" r="r" b="b"/>
              <a:pathLst>
                <a:path w="1463992" h="588645">
                  <a:moveTo>
                    <a:pt x="731520" y="0"/>
                  </a:moveTo>
                  <a:lnTo>
                    <a:pt x="1463992" y="294322"/>
                  </a:lnTo>
                  <a:lnTo>
                    <a:pt x="731520" y="588645"/>
                  </a:lnTo>
                  <a:lnTo>
                    <a:pt x="0" y="29432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129088" y="3737610"/>
              <a:ext cx="146494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398395" y="4705350"/>
              <a:ext cx="146494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4129088" y="4616768"/>
              <a:ext cx="1464945" cy="588645"/>
            </a:xfrm>
            <a:custGeom>
              <a:avLst/>
              <a:gdLst/>
              <a:ahLst/>
              <a:cxnLst/>
              <a:rect l="l" t="t" r="r" b="b"/>
              <a:pathLst>
                <a:path w="1464945" h="588645">
                  <a:moveTo>
                    <a:pt x="732472" y="0"/>
                  </a:moveTo>
                  <a:lnTo>
                    <a:pt x="1464945" y="294323"/>
                  </a:lnTo>
                  <a:lnTo>
                    <a:pt x="732472" y="588645"/>
                  </a:lnTo>
                  <a:lnTo>
                    <a:pt x="0" y="294323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860732" y="4705350"/>
              <a:ext cx="146494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4129088" y="5673090"/>
              <a:ext cx="146494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2514219" y="1821180"/>
              <a:ext cx="12313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保存现场，找到段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的外存位置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639187" y="289179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内存可满足？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532376" y="28917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读入该段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977509" y="2788920"/>
              <a:ext cx="12313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改段表、快表，恢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复现场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39187" y="385953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紧凑后够用？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693920" y="385953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紧凑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719959" y="482727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选一段淘汰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370832" y="482727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该段修改过？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64021" y="482727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写回外存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532376" y="57950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修改段表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3886200" y="2769870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3924821" y="279415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3158490" y="3373755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182112" y="339899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3886200" y="3737610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924821" y="376189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158490" y="4386262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182112" y="44105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616892" y="4704398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656466" y="472963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4890135" y="5354002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4913757" y="537829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1254442" y="4341495"/>
              <a:ext cx="46863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278064" y="43667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再判断</a:t>
              </a:r>
            </a:p>
          </p:txBody>
        </p:sp>
      </p:grpSp>
      <p:grpSp>
        <p:nvGrpSpPr>
          <p:cNvPr id="76" name="c2-card-1"/>
          <p:cNvGrpSpPr/>
          <p:nvPr/>
        </p:nvGrpSpPr>
        <p:grpSpPr>
          <a:xfrm>
            <a:off x="7762875" y="1524000"/>
            <a:ext cx="3895725" cy="2429828"/>
            <a:chOff x="7762875" y="1524000"/>
            <a:chExt cx="3895725" cy="2429828"/>
          </a:xfrm>
        </p:grpSpPr>
        <p:sp>
          <p:nvSpPr>
            <p:cNvPr id="66" name="Rectangle 66"/>
            <p:cNvSpPr/>
            <p:nvPr/>
          </p:nvSpPr>
          <p:spPr>
            <a:xfrm>
              <a:off x="7762875" y="1524000"/>
              <a:ext cx="3895725" cy="2429828"/>
            </a:xfrm>
            <a:prstGeom prst="roundRect">
              <a:avLst>
                <a:gd name="adj" fmla="val 54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7772400" y="1657350"/>
              <a:ext cx="47625" cy="216312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999095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090535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8006715" y="214312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163306" y="2082641"/>
              <a:ext cx="30802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段长不等，淘汰一个段空出的区域不一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定够用，所以淘汰后要回到“内存可满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足？”再判断，可能连续淘汰几个段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8006715" y="300323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163306" y="2943701"/>
              <a:ext cx="30802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紧凑：移动内存中的段，把分散的空闲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区合成一块连续区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8006715" y="359283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8163306" y="3532346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被淘汰的段修改过才需要写回外存</a:t>
              </a:r>
            </a:p>
          </p:txBody>
        </p:sp>
      </p:grpSp>
      <p:grpSp>
        <p:nvGrpSpPr>
          <p:cNvPr id="97" name="c2-compare-2"/>
          <p:cNvGrpSpPr/>
          <p:nvPr/>
        </p:nvGrpSpPr>
        <p:grpSpPr>
          <a:xfrm>
            <a:off x="7762875" y="4133850"/>
            <a:ext cx="3895725" cy="2156460"/>
            <a:chOff x="7762875" y="4133850"/>
            <a:chExt cx="3895725" cy="2156460"/>
          </a:xfrm>
        </p:grpSpPr>
        <p:sp>
          <p:nvSpPr>
            <p:cNvPr id="77" name="Rectangle 77"/>
            <p:cNvSpPr/>
            <p:nvPr/>
          </p:nvSpPr>
          <p:spPr>
            <a:xfrm>
              <a:off x="7762875" y="4133850"/>
              <a:ext cx="1776412" cy="2156460"/>
            </a:xfrm>
            <a:prstGeom prst="roundRect">
              <a:avLst>
                <a:gd name="adj" fmla="val 75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7772400" y="4267200"/>
              <a:ext cx="47625" cy="188976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7991856" y="435530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缺页中断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8006715" y="475107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8163306" y="46905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页长固定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8006715" y="506920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8163306" y="5008721"/>
              <a:ext cx="10965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有空闲页框就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能放下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8006715" y="565785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8163306" y="559831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最多淘汰一页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9882188" y="4133850"/>
              <a:ext cx="1776412" cy="2156460"/>
            </a:xfrm>
            <a:prstGeom prst="roundRect">
              <a:avLst>
                <a:gd name="adj" fmla="val 75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9891712" y="4267200"/>
              <a:ext cx="47625" cy="188976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10111168" y="435530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缺段中断</a:t>
              </a:r>
            </a:p>
          </p:txBody>
        </p:sp>
        <p:sp>
          <p:nvSpPr>
            <p:cNvPr id="89" name="Ellipse 89"/>
            <p:cNvSpPr/>
            <p:nvPr/>
          </p:nvSpPr>
          <p:spPr>
            <a:xfrm>
              <a:off x="10126028" y="475107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10282618" y="46905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段长不等</a:t>
              </a:r>
            </a:p>
          </p:txBody>
        </p:sp>
        <p:sp>
          <p:nvSpPr>
            <p:cNvPr id="91" name="Ellipse 91"/>
            <p:cNvSpPr/>
            <p:nvPr/>
          </p:nvSpPr>
          <p:spPr>
            <a:xfrm>
              <a:off x="10126028" y="506920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10282618" y="5008721"/>
              <a:ext cx="10965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要找够大的连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续区</a:t>
              </a:r>
            </a:p>
          </p:txBody>
        </p:sp>
        <p:sp>
          <p:nvSpPr>
            <p:cNvPr id="93" name="Ellipse 93"/>
            <p:cNvSpPr/>
            <p:nvPr/>
          </p:nvSpPr>
          <p:spPr>
            <a:xfrm>
              <a:off x="10126028" y="565785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10282618" y="5598319"/>
              <a:ext cx="10965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可能紧凑或淘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汰多个段</a:t>
              </a:r>
            </a:p>
          </p:txBody>
        </p:sp>
        <p:sp>
          <p:nvSpPr>
            <p:cNvPr id="95" name="Ellipse 95"/>
            <p:cNvSpPr/>
            <p:nvPr/>
          </p:nvSpPr>
          <p:spPr>
            <a:xfrm>
              <a:off x="9548812" y="505015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9619153" y="514635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8" name="TextBox 9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34166" cy="909257"/>
            <a:chOff x="520446" y="342900"/>
            <a:chExt cx="83341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341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7.3.2 段的动态连接：运行中第一次用到某段时才连接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5193982" cy="1800225"/>
            <a:chOff x="533400" y="1524000"/>
            <a:chExt cx="5193982" cy="1800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67532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26109" y="17730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59698" y="17730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静态连接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99586" y="1659731"/>
              <a:ext cx="147436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动态连接（dynamic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linking）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335054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什么时候连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84223" y="24484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3980" y="24484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6988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7464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0103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由谁完成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84223" y="301037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连接程序 link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53980" y="30103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193982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671638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541395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6" name="c1-card-2"/>
          <p:cNvGrpSpPr/>
          <p:nvPr/>
        </p:nvGrpSpPr>
        <p:grpSpPr>
          <a:xfrm>
            <a:off x="533400" y="3514725"/>
            <a:ext cx="5193982" cy="1701165"/>
            <a:chOff x="533400" y="3514725"/>
            <a:chExt cx="5193982" cy="1701165"/>
          </a:xfrm>
        </p:grpSpPr>
        <p:sp>
          <p:nvSpPr>
            <p:cNvPr id="23" name="Rectangle 23"/>
            <p:cNvSpPr/>
            <p:nvPr/>
          </p:nvSpPr>
          <p:spPr>
            <a:xfrm>
              <a:off x="533400" y="3514725"/>
              <a:ext cx="5193982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648075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1050" y="372427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0557" y="375999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静态连接的缺点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81050" y="408813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2899" y="41304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82040" y="41014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连接时间长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1050" y="442341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2899" y="446570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2040" y="44367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目标代码长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81050" y="475869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42899" y="48009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2040" y="477202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被连接的段可能根本不执行（用不到），白白连接</a:t>
              </a:r>
            </a:p>
          </p:txBody>
        </p:sp>
      </p:grpSp>
      <p:grpSp>
        <p:nvGrpSpPr>
          <p:cNvPr id="43" name="c1-callout-3"/>
          <p:cNvGrpSpPr/>
          <p:nvPr/>
        </p:nvGrpSpPr>
        <p:grpSpPr>
          <a:xfrm>
            <a:off x="533400" y="5406390"/>
            <a:ext cx="5193982" cy="782955"/>
            <a:chOff x="533400" y="5406390"/>
            <a:chExt cx="5193982" cy="782955"/>
          </a:xfrm>
        </p:grpSpPr>
        <p:sp>
          <p:nvSpPr>
            <p:cNvPr id="37" name="Rectangle 37"/>
            <p:cNvSpPr/>
            <p:nvPr/>
          </p:nvSpPr>
          <p:spPr>
            <a:xfrm>
              <a:off x="533400" y="5406390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697855"/>
              <a:ext cx="200026" cy="200025"/>
              <a:chOff x="738188" y="5697855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6978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77926" y="57423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12642" y="58534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554980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动态连接只连接真正执行到的外段，没用到的段不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读入、不分配段号。</a:t>
              </a:r>
            </a:p>
          </p:txBody>
        </p:sp>
      </p:grpSp>
      <p:grpSp>
        <p:nvGrpSpPr>
          <p:cNvPr id="45" name="c2-text-1"/>
          <p:cNvGrpSpPr/>
          <p:nvPr/>
        </p:nvGrpSpPr>
        <p:grpSpPr>
          <a:xfrm>
            <a:off x="6025706" y="1545431"/>
            <a:ext cx="5730932" cy="249364"/>
            <a:chOff x="6025706" y="1545431"/>
            <a:chExt cx="5730932" cy="249364"/>
          </a:xfrm>
        </p:grpSpPr>
        <p:sp>
          <p:nvSpPr>
            <p:cNvPr id="44" name="TextBox 44"/>
            <p:cNvSpPr txBox="1"/>
            <p:nvPr/>
          </p:nvSpPr>
          <p:spPr>
            <a:xfrm>
              <a:off x="6025706" y="1545431"/>
              <a:ext cx="5730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动态连接的实现（以 Multics 为例）需要两张表，段本身也要带上符号表：</a:t>
              </a:r>
            </a:p>
          </p:txBody>
        </p:sp>
      </p:grpSp>
      <p:grpSp>
        <p:nvGrpSpPr>
          <p:cNvPr id="56" name="c2-table-2"/>
          <p:cNvGrpSpPr/>
          <p:nvPr/>
        </p:nvGrpSpPr>
        <p:grpSpPr>
          <a:xfrm>
            <a:off x="6032182" y="1934528"/>
            <a:ext cx="5626418" cy="1123950"/>
            <a:chOff x="6032182" y="1934528"/>
            <a:chExt cx="5626418" cy="1123950"/>
          </a:xfrm>
        </p:grpSpPr>
        <p:sp>
          <p:nvSpPr>
            <p:cNvPr id="46" name="Rectangle 46"/>
            <p:cNvSpPr/>
            <p:nvPr/>
          </p:nvSpPr>
          <p:spPr>
            <a:xfrm>
              <a:off x="6032182" y="1934528"/>
              <a:ext cx="5626418" cy="67532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28969" y="2070259"/>
              <a:ext cx="222011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段名-段号对照表（每个进程一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70022" y="21836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段名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776864" y="21836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140006" y="274558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记录本进程已连接的段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288173" y="2745581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sname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742402" y="2745581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snum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032182" y="1934528"/>
              <a:ext cx="5626418" cy="11239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840152" y="1934528"/>
              <a:ext cx="9525" cy="11239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246995" y="1934528"/>
              <a:ext cx="9525" cy="11239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c2-table-3"/>
          <p:cNvGrpSpPr/>
          <p:nvPr/>
        </p:nvGrpSpPr>
        <p:grpSpPr>
          <a:xfrm>
            <a:off x="6032182" y="3249930"/>
            <a:ext cx="5626418" cy="897255"/>
            <a:chOff x="6032182" y="3249930"/>
            <a:chExt cx="5626418" cy="897255"/>
          </a:xfrm>
        </p:grpSpPr>
        <p:sp>
          <p:nvSpPr>
            <p:cNvPr id="57" name="Rectangle 57"/>
            <p:cNvSpPr/>
            <p:nvPr/>
          </p:nvSpPr>
          <p:spPr>
            <a:xfrm>
              <a:off x="6032182" y="3249930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57137" y="338470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符号表（每段一个）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283865" y="338470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符号名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604551" y="33847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段内位移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140006" y="383333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记录段内各入口的位置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352791" y="383333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func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807019" y="383333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032182" y="3249930"/>
              <a:ext cx="5626418" cy="8972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8840152" y="324993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10246995" y="324993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2-cells-4"/>
          <p:cNvGrpSpPr/>
          <p:nvPr/>
        </p:nvGrpSpPr>
        <p:grpSpPr>
          <a:xfrm>
            <a:off x="6025706" y="4337685"/>
            <a:ext cx="3398330" cy="419100"/>
            <a:chOff x="6025706" y="4337685"/>
            <a:chExt cx="3398330" cy="419100"/>
          </a:xfrm>
        </p:grpSpPr>
        <p:sp>
          <p:nvSpPr>
            <p:cNvPr id="68" name="TextBox 68"/>
            <p:cNvSpPr txBox="1"/>
            <p:nvPr/>
          </p:nvSpPr>
          <p:spPr>
            <a:xfrm>
              <a:off x="6025706" y="44677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段形式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653212" y="4337685"/>
              <a:ext cx="138588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080733" y="44677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符号表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038148" y="4337685"/>
              <a:ext cx="13858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121993" y="446770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目标代码或数据</a:t>
              </a:r>
            </a:p>
          </p:txBody>
        </p:sp>
      </p:grpSp>
      <p:grpSp>
        <p:nvGrpSpPr>
          <p:cNvPr id="75" name="c2-text-5"/>
          <p:cNvGrpSpPr/>
          <p:nvPr/>
        </p:nvGrpSpPr>
        <p:grpSpPr>
          <a:xfrm>
            <a:off x="6025706" y="4968716"/>
            <a:ext cx="5263642" cy="500824"/>
            <a:chOff x="6025706" y="4968716"/>
            <a:chExt cx="5263642" cy="500824"/>
          </a:xfrm>
        </p:grpSpPr>
        <p:sp>
          <p:nvSpPr>
            <p:cNvPr id="74" name="TextBox 74"/>
            <p:cNvSpPr txBox="1"/>
            <p:nvPr/>
          </p:nvSpPr>
          <p:spPr>
            <a:xfrm>
              <a:off x="6025706" y="4968716"/>
              <a:ext cx="5263642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静态连接时符号表由 link 使用，连接完就不再需要；动态连接在运行时还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要查它。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19408" cy="909257"/>
            <a:chOff x="520446" y="342900"/>
            <a:chExt cx="75194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194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间接字与连接中断：L = 1 表示外段地址还没连接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4760595" cy="2912745"/>
            <a:chOff x="533400" y="1524000"/>
            <a:chExt cx="4760595" cy="29127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912745"/>
            </a:xfrm>
            <a:prstGeom prst="roundRect">
              <a:avLst>
                <a:gd name="adj" fmla="val 45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4604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41636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2557" y="1756410"/>
              <a:ext cx="12895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(1) 编译（汇编）时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遇到访问外段的指令，改为间接寻址，指向一个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间接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字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3524" y="277082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间接字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360170" y="2648902"/>
              <a:ext cx="1074420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841998" y="277082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434590" y="2648902"/>
              <a:ext cx="107442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16418" y="277082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7240" y="321564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3831" y="3155156"/>
              <a:ext cx="399999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= 1：未连接，D 指向符号地址“[X]|&lt;Y&gt;”（段名|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入口名）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77240" y="380523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33831" y="3744754"/>
              <a:ext cx="369341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 = 0：已连接，D 中是逻辑地址（段号|段内地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址）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4616768"/>
            <a:ext cx="4760595" cy="756285"/>
            <a:chOff x="533400" y="4616768"/>
            <a:chExt cx="4760595" cy="756285"/>
          </a:xfrm>
        </p:grpSpPr>
        <p:sp>
          <p:nvSpPr>
            <p:cNvPr id="22" name="Rectangle 22"/>
            <p:cNvSpPr/>
            <p:nvPr/>
          </p:nvSpPr>
          <p:spPr>
            <a:xfrm>
              <a:off x="533400" y="4616768"/>
              <a:ext cx="476059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4894898"/>
              <a:ext cx="200026" cy="200025"/>
              <a:chOff x="738188" y="4894898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48948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49393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0504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511" y="4764881"/>
              <a:ext cx="38016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连接只发生一次：L 变成 0 之后，再执行这条指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令就直接按 D 中的逻辑地址间接访问。</a:t>
              </a:r>
            </a:p>
          </p:txBody>
        </p:sp>
      </p:grpSp>
      <p:grpSp>
        <p:nvGrpSpPr>
          <p:cNvPr id="50" name="c2-steps-1"/>
          <p:cNvGrpSpPr/>
          <p:nvPr/>
        </p:nvGrpSpPr>
        <p:grpSpPr>
          <a:xfrm>
            <a:off x="5598795" y="1533525"/>
            <a:ext cx="5782056" cy="3457956"/>
            <a:chOff x="5598795" y="1533525"/>
            <a:chExt cx="5782056" cy="3457956"/>
          </a:xfrm>
        </p:grpSpPr>
        <p:sp>
          <p:nvSpPr>
            <p:cNvPr id="29" name="Rectangle 29"/>
            <p:cNvSpPr/>
            <p:nvPr/>
          </p:nvSpPr>
          <p:spPr>
            <a:xfrm>
              <a:off x="5732145" y="1676400"/>
              <a:ext cx="19050" cy="26879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598795" y="21507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692419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5598795" y="27670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692419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598795" y="33842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692419" y="34580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5598795" y="422148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692419" y="42952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010656" y="1566386"/>
              <a:ext cx="21263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执行时发生连接中断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11799" y="1846898"/>
              <a:ext cx="49706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遇到间接指令且 L = 1，发生连接中断，由中断处理程序完成下面几步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10656" y="2183606"/>
              <a:ext cx="13616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(a) 取符号地址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11799" y="2464118"/>
              <a:ext cx="20049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D 取出符号地址 [X]|&lt;Y&gt;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10656" y="2799874"/>
              <a:ext cx="20455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(b) 查段名-段号对照表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11799" y="3080385"/>
              <a:ext cx="18239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看段 X 是否已经分配段号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010656" y="341709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已分配段号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011799" y="3697605"/>
              <a:ext cx="53690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取出段号，查段表找到该段（在内存或外存），由入口名 Y 查该段的符号表得段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内地址；把 (段号|段内地址) 写入 D，L 置 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010656" y="425529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未分配段号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11799" y="4535805"/>
              <a:ext cx="52776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找到该段所在的文件，读入内存或外存，分配段号，填写段名-段号对照表和段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表，然后转 (b)</a:t>
              </a:r>
            </a:p>
          </p:txBody>
        </p:sp>
      </p:grpSp>
      <p:grpSp>
        <p:nvGrpSpPr>
          <p:cNvPr id="56" name="c2-callout-2"/>
          <p:cNvGrpSpPr/>
          <p:nvPr/>
        </p:nvGrpSpPr>
        <p:grpSpPr>
          <a:xfrm>
            <a:off x="5598795" y="5162550"/>
            <a:ext cx="6059805" cy="1018222"/>
            <a:chOff x="5598795" y="5162550"/>
            <a:chExt cx="6059805" cy="1018222"/>
          </a:xfrm>
        </p:grpSpPr>
        <p:sp>
          <p:nvSpPr>
            <p:cNvPr id="51" name="Rectangle 51"/>
            <p:cNvSpPr/>
            <p:nvPr/>
          </p:nvSpPr>
          <p:spPr>
            <a:xfrm>
              <a:off x="5598795" y="5162550"/>
              <a:ext cx="6059805" cy="1018222"/>
            </a:xfrm>
            <a:prstGeom prst="roundRect">
              <a:avLst>
                <a:gd name="adj" fmla="val 11225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5803583" y="5571173"/>
              <a:ext cx="200026" cy="200026"/>
              <a:chOff x="5803583" y="5571173"/>
              <a:chExt cx="200026" cy="200026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5803583" y="55711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870258" y="564896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105906" y="5309711"/>
              <a:ext cx="5082032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例：下一页 [W] 段第一次执行 Load *1 时，对照表中没有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[X]，走“未分配段号”；读入 [X] 段、分配段号 3 后转 (b)，这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次走“已分配段号”，把 3|300 写入间接字。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动态连接例：汇编后、连接前各表的内容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798950" cy="264033"/>
            <a:chOff x="526542" y="1545907"/>
            <a:chExt cx="1079895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798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[W] 段要取 [X] 段入口 Y、Z 处的数：汇编前写作 Load 1, [X]|&lt;Y&gt; 和 Load 2, [X]|&lt;Z&gt;，汇编后改为经两个间接字间接寻址（*）。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3995738" cy="2163128"/>
            <a:chOff x="533400" y="1928812"/>
            <a:chExt cx="3995738" cy="216312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3995738" cy="2163128"/>
            </a:xfrm>
            <a:prstGeom prst="roundRect">
              <a:avLst>
                <a:gd name="adj" fmla="val 44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1019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[W] 段（段号 2）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0044" y="2345436"/>
              <a:ext cx="1673047" cy="1686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n-US" sz="13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Load *1, 2|100;</a:t>
              </a:r>
              <a:br/>
              <a:r>
                <a:rPr lang="en-US" sz="13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Load *2, 2|150;</a:t>
              </a:r>
              <a:br/>
              <a:r>
                <a:rPr lang="zh-CN" sz="13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...</a:t>
              </a:r>
              <a:br/>
              <a:r>
                <a:rPr lang="en-US" sz="13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100:  L=1  D=2|200</a:t>
              </a:r>
              <a:br/>
              <a:r>
                <a:rPr lang="en-US" sz="13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150:  L=1  D=2|250</a:t>
              </a:r>
              <a:br/>
              <a:r>
                <a:rPr lang="zh-CN" sz="13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200:  </a:t>
              </a:r>
              <a:r>
                <a:rPr lang="en-US" sz="13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"7[X]|&lt;Y&gt;"</a:t>
              </a:r>
              <a:br/>
              <a:r>
                <a:rPr lang="zh-CN" sz="13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250:  </a:t>
              </a:r>
              <a:r>
                <a:rPr lang="en-US" sz="13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"7[X]|&lt;Z&gt;"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261485"/>
            <a:ext cx="3995738" cy="978218"/>
            <a:chOff x="533400" y="4261485"/>
            <a:chExt cx="3995738" cy="978218"/>
          </a:xfrm>
        </p:grpSpPr>
        <p:sp>
          <p:nvSpPr>
            <p:cNvPr id="13" name="Rectangle 13"/>
            <p:cNvSpPr/>
            <p:nvPr/>
          </p:nvSpPr>
          <p:spPr>
            <a:xfrm>
              <a:off x="533400" y="4261485"/>
              <a:ext cx="3995738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4650105"/>
              <a:ext cx="200026" cy="200026"/>
              <a:chOff x="738188" y="4650105"/>
              <a:chExt cx="200026" cy="20002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465010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38200" y="47167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27088" y="475011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892" y="4407218"/>
              <a:ext cx="313410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200、250 单元存的是符号地址字符串，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开头的 7 是字符串长度（[X]|&lt;Y&gt; 共 7 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字符）。</a:t>
              </a:r>
            </a:p>
          </p:txBody>
        </p:sp>
      </p:grpSp>
      <p:grpSp>
        <p:nvGrpSpPr>
          <p:cNvPr id="35" name="c2-table-1"/>
          <p:cNvGrpSpPr/>
          <p:nvPr/>
        </p:nvGrpSpPr>
        <p:grpSpPr>
          <a:xfrm>
            <a:off x="4828984" y="1928812"/>
            <a:ext cx="3264409" cy="1863757"/>
            <a:chOff x="4828984" y="1928812"/>
            <a:chExt cx="3264409" cy="1863757"/>
          </a:xfrm>
        </p:grpSpPr>
        <p:sp>
          <p:nvSpPr>
            <p:cNvPr id="20" name="Rectangle 20"/>
            <p:cNvSpPr/>
            <p:nvPr/>
          </p:nvSpPr>
          <p:spPr>
            <a:xfrm>
              <a:off x="4833938" y="1928812"/>
              <a:ext cx="325945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543271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7299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33146" y="2450306"/>
              <a:ext cx="5332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[Main]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82310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833938" y="2724150"/>
              <a:ext cx="32594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833938" y="2728912"/>
              <a:ext cx="325945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556044" y="2850356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[A]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82310" y="28503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833938" y="3124200"/>
              <a:ext cx="32594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539316" y="3250406"/>
              <a:ext cx="320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[W]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82310" y="32504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833938" y="1928812"/>
              <a:ext cx="325945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559868" y="192881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828984" y="3601879"/>
              <a:ext cx="19374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段名-段号对照表（还没有 [X]）</a:t>
              </a:r>
            </a:p>
          </p:txBody>
        </p:sp>
      </p:grpSp>
      <p:grpSp>
        <p:nvGrpSpPr>
          <p:cNvPr id="55" name="c2-table-2"/>
          <p:cNvGrpSpPr/>
          <p:nvPr/>
        </p:nvGrpSpPr>
        <p:grpSpPr>
          <a:xfrm>
            <a:off x="4828984" y="3924300"/>
            <a:ext cx="3264409" cy="2263806"/>
            <a:chOff x="4828984" y="3924300"/>
            <a:chExt cx="3264409" cy="2263806"/>
          </a:xfrm>
        </p:grpSpPr>
        <p:sp>
          <p:nvSpPr>
            <p:cNvPr id="36" name="Rectangle 36"/>
            <p:cNvSpPr/>
            <p:nvPr/>
          </p:nvSpPr>
          <p:spPr>
            <a:xfrm>
              <a:off x="4833938" y="3924300"/>
              <a:ext cx="325945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341341" y="40457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95681" y="40457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段首址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48579" y="44457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80380" y="44457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833938" y="4719638"/>
              <a:ext cx="32594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833938" y="4724400"/>
              <a:ext cx="325945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448579" y="48458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80380" y="48458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833938" y="5119688"/>
              <a:ext cx="32594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448579" y="52458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49037" y="5245894"/>
              <a:ext cx="9570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[W] 段的首址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833938" y="5519738"/>
              <a:ext cx="32594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833938" y="5524500"/>
              <a:ext cx="325945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448579" y="56459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46455" y="56459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833938" y="3924300"/>
              <a:ext cx="325945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156960" y="39243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828984" y="599741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段表</a:t>
              </a:r>
            </a:p>
          </p:txBody>
        </p:sp>
      </p:grpSp>
      <p:grpSp>
        <p:nvGrpSpPr>
          <p:cNvPr id="68" name="c3-table-1"/>
          <p:cNvGrpSpPr/>
          <p:nvPr/>
        </p:nvGrpSpPr>
        <p:grpSpPr>
          <a:xfrm>
            <a:off x="8394192" y="1928812"/>
            <a:ext cx="3264408" cy="1463707"/>
            <a:chOff x="8394192" y="1928812"/>
            <a:chExt cx="3264408" cy="1463707"/>
          </a:xfrm>
        </p:grpSpPr>
        <p:sp>
          <p:nvSpPr>
            <p:cNvPr id="56" name="Rectangle 56"/>
            <p:cNvSpPr/>
            <p:nvPr/>
          </p:nvSpPr>
          <p:spPr>
            <a:xfrm>
              <a:off x="8399145" y="1928812"/>
              <a:ext cx="325945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98655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符号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465511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段内位移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999331" y="2450306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&lt;Y&gt;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642671" y="245030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99145" y="2724150"/>
              <a:ext cx="32594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399145" y="2728912"/>
              <a:ext cx="325945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999331" y="2850356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&lt;Z&gt;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642671" y="28503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399145" y="1928812"/>
              <a:ext cx="3259455" cy="12001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9881235" y="1928812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94192" y="3201829"/>
              <a:ext cx="9413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[X] 段的符号表</a:t>
              </a:r>
            </a:p>
          </p:txBody>
        </p:sp>
      </p:grpSp>
      <p:grpSp>
        <p:nvGrpSpPr>
          <p:cNvPr id="81" name="c3-table-2"/>
          <p:cNvGrpSpPr/>
          <p:nvPr/>
        </p:nvGrpSpPr>
        <p:grpSpPr>
          <a:xfrm>
            <a:off x="8394192" y="3524250"/>
            <a:ext cx="3264408" cy="1463706"/>
            <a:chOff x="8394192" y="3524250"/>
            <a:chExt cx="3264408" cy="1463706"/>
          </a:xfrm>
        </p:grpSpPr>
        <p:sp>
          <p:nvSpPr>
            <p:cNvPr id="69" name="Rectangle 69"/>
            <p:cNvSpPr/>
            <p:nvPr/>
          </p:nvSpPr>
          <p:spPr>
            <a:xfrm>
              <a:off x="8399145" y="3524250"/>
              <a:ext cx="325945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046566" y="36456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单元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676293" y="36456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066732" y="4045744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661216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1234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8399145" y="4319588"/>
              <a:ext cx="32594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8399145" y="4324350"/>
              <a:ext cx="325945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066732" y="4445794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661216" y="44457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5678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8399145" y="3524250"/>
              <a:ext cx="3259455" cy="12001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002202" y="3524250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394192" y="4797266"/>
              <a:ext cx="29598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[X] 段的内容：两条指令要取的就是 1234 和 5678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两次连接中间接字、对照表和段表的变化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6" name="c1-table-1"/>
          <p:cNvGrpSpPr/>
          <p:nvPr/>
        </p:nvGrpSpPr>
        <p:grpSpPr>
          <a:xfrm>
            <a:off x="533400" y="1524000"/>
            <a:ext cx="11125200" cy="2762250"/>
            <a:chOff x="533400" y="1524000"/>
            <a:chExt cx="11125200" cy="27622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0015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017264" y="165258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发生了什么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836081" y="1652588"/>
              <a:ext cx="10782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100 单元 L | D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82929" y="1652588"/>
              <a:ext cx="10782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150 单元 L | D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983179" y="1652588"/>
              <a:ext cx="12362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段名-段号对照表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889" y="207645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汇编后、连接前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04669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50062" y="207645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| 2|200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496910" y="207645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| 2|250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47492" y="2076450"/>
              <a:ext cx="18945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[Main] 0、[A] 1、[W] 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3679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372678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2501265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第一次连接：分配段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04669" y="2501265"/>
              <a:ext cx="40355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 Load *1，间接字 L = 1，发生连接中断；[X] 还没有段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号：读入 [X] 段，分配段号 3，填对照表和段表 3 号表项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50062" y="2607945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| 2|200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96910" y="2607945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| 2|250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554528" y="2382202"/>
              <a:ext cx="2094548" cy="61912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7492" y="2607945"/>
              <a:ext cx="813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[X] 3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00609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5889" y="3139440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第一次连接：改写间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304669" y="3139440"/>
              <a:ext cx="37612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再查对照表得 [X] 的段号 3，查 [X] 段符号表得 &lt;Y&gt; 为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300；D 改为 3|300，L 置 0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661785" y="3020378"/>
              <a:ext cx="1426845" cy="6191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34110" y="3246120"/>
              <a:ext cx="6821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 | 3|300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96910" y="3246120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| 2|250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47492" y="324612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不变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6433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648075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889" y="388334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第二次连接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304669" y="3776662"/>
              <a:ext cx="40126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 Load *2，L = 1 发生连接中断；[X] 已有段号 3，直接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查符号表得 &lt;Z&gt; 为 400；D 改为 3|400，L 置 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50062" y="3883342"/>
              <a:ext cx="65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| 3|300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07680" y="3657600"/>
              <a:ext cx="1426845" cy="6191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80957" y="3883342"/>
              <a:ext cx="6821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 | 3|400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647492" y="38833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524000"/>
              <a:ext cx="11125200" cy="2762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197418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47498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093392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540240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1-card-2"/>
          <p:cNvGrpSpPr/>
          <p:nvPr/>
        </p:nvGrpSpPr>
        <p:grpSpPr>
          <a:xfrm>
            <a:off x="533400" y="4466272"/>
            <a:ext cx="11125200" cy="1250632"/>
            <a:chOff x="533400" y="4466272"/>
            <a:chExt cx="11125200" cy="1250632"/>
          </a:xfrm>
        </p:grpSpPr>
        <p:sp>
          <p:nvSpPr>
            <p:cNvPr id="47" name="Rectangle 47"/>
            <p:cNvSpPr/>
            <p:nvPr/>
          </p:nvSpPr>
          <p:spPr>
            <a:xfrm>
              <a:off x="533400" y="4466272"/>
              <a:ext cx="11125200" cy="1250632"/>
            </a:xfrm>
            <a:prstGeom prst="roundRect">
              <a:avLst>
                <a:gd name="adj" fmla="val 10663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1520" y="46643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22960" y="46986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4281" y="5024914"/>
              <a:ext cx="1023975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Load *1 经间接字取到 3|300 单元的 1234，Load *2 取到 3|400 单元的 5678。以后再执行这两条指令，L 已为 0，不再发生连接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中断。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动态连接与段共享的矛盾：纯段共享，杂段私用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2417445"/>
            <a:chOff x="533400" y="1524000"/>
            <a:chExt cx="5410200" cy="24174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417445"/>
            </a:xfrm>
            <a:prstGeom prst="roundRect">
              <a:avLst>
                <a:gd name="adj" fmla="val 55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5074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矛盾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动态连接要修改连接字（间接字），而间接字在代码里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46020"/>
              <a:ext cx="4530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段的共享要求纯代码（pure code），执行中不能被修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4573" y="3063716"/>
              <a:ext cx="472719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段号由各进程自己的段名-段号对照表分配。一个进程连接时把自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己的段号写进共享段里的间接字，其他进程按这个段号访问就会找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错段。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4131945"/>
            <a:ext cx="5410200" cy="1701165"/>
            <a:chOff x="533400" y="4131945"/>
            <a:chExt cx="5410200" cy="1701165"/>
          </a:xfrm>
        </p:grpSpPr>
        <p:sp>
          <p:nvSpPr>
            <p:cNvPr id="17" name="Rectangle 17"/>
            <p:cNvSpPr/>
            <p:nvPr/>
          </p:nvSpPr>
          <p:spPr>
            <a:xfrm>
              <a:off x="533400" y="4131945"/>
              <a:ext cx="5410200" cy="1701165"/>
            </a:xfrm>
            <a:prstGeom prst="roundRect">
              <a:avLst>
                <a:gd name="adj" fmla="val 7839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42950" y="434149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5259" y="437721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解决方法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5330" y="47186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共享代码分成两部分：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48665" y="511683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780" y="505396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纯段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：不会被修改的代码，所有进程共享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48665" y="545211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6780" y="538924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杂段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：间接字这类要修改的部分，每个进程私用一份</a:t>
              </a:r>
            </a:p>
          </p:txBody>
        </p:sp>
      </p:grpSp>
      <p:grpSp>
        <p:nvGrpSpPr>
          <p:cNvPr id="52" name="c2-graph-1"/>
          <p:cNvGrpSpPr/>
          <p:nvPr/>
        </p:nvGrpSpPr>
        <p:grpSpPr>
          <a:xfrm>
            <a:off x="6699885" y="1827848"/>
            <a:ext cx="4747260" cy="3257930"/>
            <a:chOff x="6699885" y="1827848"/>
            <a:chExt cx="4747260" cy="3257930"/>
          </a:xfrm>
        </p:grpSpPr>
        <p:sp>
          <p:nvSpPr>
            <p:cNvPr id="26" name="Freeform 26"/>
            <p:cNvSpPr/>
            <p:nvPr/>
          </p:nvSpPr>
          <p:spPr>
            <a:xfrm>
              <a:off x="7418070" y="2170748"/>
              <a:ext cx="913448" cy="229552"/>
            </a:xfrm>
            <a:custGeom>
              <a:avLst/>
              <a:gdLst/>
              <a:ahLst/>
              <a:cxnLst/>
              <a:rect l="l" t="t" r="r" b="b"/>
              <a:pathLst>
                <a:path w="913448" h="229552">
                  <a:moveTo>
                    <a:pt x="0" y="229552"/>
                  </a:moveTo>
                  <a:lnTo>
                    <a:pt x="91344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320088" y="2125028"/>
              <a:ext cx="103822" cy="92393"/>
            </a:xfrm>
            <a:custGeom>
              <a:avLst/>
              <a:gdLst/>
              <a:ahLst/>
              <a:cxnLst/>
              <a:rect l="l" t="t" r="r" b="b"/>
              <a:pathLst>
                <a:path w="103822" h="92393">
                  <a:moveTo>
                    <a:pt x="103822" y="22860"/>
                  </a:moveTo>
                  <a:lnTo>
                    <a:pt x="23812" y="92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7418070" y="4512945"/>
              <a:ext cx="913448" cy="229552"/>
            </a:xfrm>
            <a:custGeom>
              <a:avLst/>
              <a:gdLst/>
              <a:ahLst/>
              <a:cxnLst/>
              <a:rect l="l" t="t" r="r" b="b"/>
              <a:pathLst>
                <a:path w="913448" h="229552">
                  <a:moveTo>
                    <a:pt x="0" y="0"/>
                  </a:moveTo>
                  <a:lnTo>
                    <a:pt x="913448" y="22955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320088" y="4695825"/>
              <a:ext cx="103822" cy="92392"/>
            </a:xfrm>
            <a:custGeom>
              <a:avLst/>
              <a:gdLst/>
              <a:ahLst/>
              <a:cxnLst/>
              <a:rect l="l" t="t" r="r" b="b"/>
              <a:pathLst>
                <a:path w="103822" h="92392">
                  <a:moveTo>
                    <a:pt x="103822" y="69533"/>
                  </a:moveTo>
                  <a:lnTo>
                    <a:pt x="0" y="92392"/>
                  </a:lnTo>
                  <a:lnTo>
                    <a:pt x="238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417118" y="2585085"/>
              <a:ext cx="2575560" cy="686753"/>
            </a:xfrm>
            <a:custGeom>
              <a:avLst/>
              <a:gdLst/>
              <a:ahLst/>
              <a:cxnLst/>
              <a:rect l="l" t="t" r="r" b="b"/>
              <a:pathLst>
                <a:path w="2575560" h="686753">
                  <a:moveTo>
                    <a:pt x="0" y="0"/>
                  </a:moveTo>
                  <a:lnTo>
                    <a:pt x="2575560" y="68675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980295" y="3226118"/>
              <a:ext cx="103823" cy="92392"/>
            </a:xfrm>
            <a:custGeom>
              <a:avLst/>
              <a:gdLst/>
              <a:ahLst/>
              <a:cxnLst/>
              <a:rect l="l" t="t" r="r" b="b"/>
              <a:pathLst>
                <a:path w="103823" h="92392">
                  <a:moveTo>
                    <a:pt x="103823" y="70485"/>
                  </a:moveTo>
                  <a:lnTo>
                    <a:pt x="0" y="92392"/>
                  </a:lnTo>
                  <a:lnTo>
                    <a:pt x="2476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7417118" y="3641408"/>
              <a:ext cx="2575560" cy="686752"/>
            </a:xfrm>
            <a:custGeom>
              <a:avLst/>
              <a:gdLst/>
              <a:ahLst/>
              <a:cxnLst/>
              <a:rect l="l" t="t" r="r" b="b"/>
              <a:pathLst>
                <a:path w="2575560" h="686752">
                  <a:moveTo>
                    <a:pt x="0" y="686752"/>
                  </a:moveTo>
                  <a:lnTo>
                    <a:pt x="257556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980295" y="3594735"/>
              <a:ext cx="103823" cy="92393"/>
            </a:xfrm>
            <a:custGeom>
              <a:avLst/>
              <a:gdLst/>
              <a:ahLst/>
              <a:cxnLst/>
              <a:rect l="l" t="t" r="r" b="b"/>
              <a:pathLst>
                <a:path w="103823" h="92393">
                  <a:moveTo>
                    <a:pt x="103823" y="21908"/>
                  </a:moveTo>
                  <a:lnTo>
                    <a:pt x="24765" y="92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6699885" y="2129790"/>
              <a:ext cx="720090" cy="72009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699885" y="4063365"/>
              <a:ext cx="720090" cy="72009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347710" y="1827848"/>
              <a:ext cx="1428750" cy="320040"/>
            </a:xfrm>
            <a:prstGeom prst="roundRect">
              <a:avLst>
                <a:gd name="adj" fmla="val 2976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347710" y="4765358"/>
              <a:ext cx="1428750" cy="320040"/>
            </a:xfrm>
            <a:prstGeom prst="roundRect">
              <a:avLst>
                <a:gd name="adj" fmla="val 2976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923145" y="3296602"/>
              <a:ext cx="1524000" cy="320040"/>
            </a:xfrm>
            <a:prstGeom prst="roundRect">
              <a:avLst>
                <a:gd name="adj" fmla="val 2976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66834" y="2415540"/>
              <a:ext cx="5861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 P1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66834" y="4348162"/>
              <a:ext cx="5861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 P2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688217" y="1913572"/>
              <a:ext cx="7477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的杂段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688217" y="4851082"/>
              <a:ext cx="7477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的杂段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94417" y="3382327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纯段（共享）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758112" y="2181225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784109" y="22159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私用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758112" y="4546282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784109" y="45810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私用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87740" y="2847975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613737" y="288274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共享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587740" y="3879532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613737" y="39142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共享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248400" y="5579745"/>
            <a:ext cx="5410200" cy="782955"/>
            <a:chOff x="6248400" y="5579745"/>
            <a:chExt cx="5410200" cy="782955"/>
          </a:xfrm>
        </p:grpSpPr>
        <p:sp>
          <p:nvSpPr>
            <p:cNvPr id="53" name="Rectangle 53"/>
            <p:cNvSpPr/>
            <p:nvPr/>
          </p:nvSpPr>
          <p:spPr>
            <a:xfrm>
              <a:off x="6248400" y="5579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453188" y="5871210"/>
              <a:ext cx="200026" cy="200026"/>
              <a:chOff x="6453188" y="5871210"/>
              <a:chExt cx="200026" cy="20002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453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53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542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755130" y="572833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纯段只读、只有一份；各进程改写的是自己杂段里的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间接字，互不干扰。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07834" cy="909257"/>
            <a:chOff x="520446" y="342900"/>
            <a:chExt cx="690783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0783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7.4 虚拟段页式：要考虑三件事，需要四种表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3895725" cy="1615440"/>
            <a:chOff x="533400" y="1524000"/>
            <a:chExt cx="3895725" cy="16154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895725" cy="1615440"/>
            </a:xfrm>
            <a:prstGeom prst="roundRect">
              <a:avLst>
                <a:gd name="adj" fmla="val 82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487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考虑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9620" y="2070735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27965" y="21101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0514" y="208264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段的动态连接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9620" y="2387918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7965" y="242825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0514" y="24007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段的共享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9620" y="270605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27965" y="274639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0514" y="271795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段长度的动态变化</a:t>
              </a:r>
            </a:p>
          </p:txBody>
        </p:sp>
      </p:grpSp>
      <p:grpSp>
        <p:nvGrpSpPr>
          <p:cNvPr id="35" name="c1-card-2"/>
          <p:cNvGrpSpPr/>
          <p:nvPr/>
        </p:nvGrpSpPr>
        <p:grpSpPr>
          <a:xfrm>
            <a:off x="533400" y="3319462"/>
            <a:ext cx="3895725" cy="2928938"/>
            <a:chOff x="533400" y="3319462"/>
            <a:chExt cx="3895725" cy="2928938"/>
          </a:xfrm>
        </p:grpSpPr>
        <p:sp>
          <p:nvSpPr>
            <p:cNvPr id="21" name="Rectangle 21"/>
            <p:cNvSpPr/>
            <p:nvPr/>
          </p:nvSpPr>
          <p:spPr>
            <a:xfrm>
              <a:off x="533400" y="3319462"/>
              <a:ext cx="3895725" cy="2928938"/>
            </a:xfrm>
            <a:prstGeom prst="roundRect">
              <a:avLst>
                <a:gd name="adj" fmla="val 45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452812"/>
              <a:ext cx="47625" cy="266223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9620" y="3517582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9058" y="355187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所需寄存器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69620" y="3866198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7965" y="390558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60514" y="3878104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段表长度寄存器：保存正运行进程的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段表长度 l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69620" y="445484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7965" y="449518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0514" y="4467701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段表首址寄存器：保存正运行进程的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段表首址 b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69620" y="5044440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7965" y="508382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60514" y="5056346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快表：段号、逻辑页号、页架号、访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问权限、修改标志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3524" y="5641658"/>
              <a:ext cx="30220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地址映射 σ：逻辑地址 (s, p, d) → 物理地址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(f, d)，失败时产生中断。</a:t>
              </a:r>
            </a:p>
          </p:txBody>
        </p:sp>
      </p:grpSp>
      <p:grpSp>
        <p:nvGrpSpPr>
          <p:cNvPr id="60" name="c2-table-1"/>
          <p:cNvGrpSpPr/>
          <p:nvPr/>
        </p:nvGrpSpPr>
        <p:grpSpPr>
          <a:xfrm>
            <a:off x="4733925" y="1524000"/>
            <a:ext cx="6924675" cy="2548890"/>
            <a:chOff x="4733925" y="1524000"/>
            <a:chExt cx="6924675" cy="2548890"/>
          </a:xfrm>
        </p:grpSpPr>
        <p:sp>
          <p:nvSpPr>
            <p:cNvPr id="36" name="Rectangle 36"/>
            <p:cNvSpPr/>
            <p:nvPr/>
          </p:nvSpPr>
          <p:spPr>
            <a:xfrm>
              <a:off x="4733925" y="1524000"/>
              <a:ext cx="692467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408104" y="165258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82144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每谁一个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82481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表项内容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36414" y="2076450"/>
              <a:ext cx="666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段表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59462" y="207645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每进程一个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67219" y="207645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页表长度、页表首址、访问权限、扩展标志、共享段入口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733925" y="236791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4733925" y="2372678"/>
              <a:ext cx="692467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836414" y="2607945"/>
              <a:ext cx="666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页表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359462" y="26079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每段一个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67219" y="2501265"/>
              <a:ext cx="3822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按逻辑页号索引：内存页号、外存块号、内外标志、修改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标志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733925" y="300609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836414" y="3139440"/>
              <a:ext cx="9891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共享段表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359462" y="313944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系统一个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67219" y="3139440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段名、页表长度、页表首址、扩充标志、共享计数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733925" y="342995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4733925" y="3434715"/>
              <a:ext cx="692467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836414" y="3563302"/>
              <a:ext cx="117424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(4) 段名-段号对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照表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359462" y="366998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每进程一个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67219" y="366998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段名、段号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4733925" y="1524000"/>
              <a:ext cx="6924675" cy="25488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252210" y="1524000"/>
              <a:ext cx="9525" cy="25488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359968" y="1524000"/>
              <a:ext cx="9525" cy="25488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c2-callout-2"/>
          <p:cNvGrpSpPr/>
          <p:nvPr/>
        </p:nvGrpSpPr>
        <p:grpSpPr>
          <a:xfrm>
            <a:off x="4733925" y="4252912"/>
            <a:ext cx="6924675" cy="756285"/>
            <a:chOff x="4733925" y="4252912"/>
            <a:chExt cx="6924675" cy="756285"/>
          </a:xfrm>
        </p:grpSpPr>
        <p:sp>
          <p:nvSpPr>
            <p:cNvPr id="61" name="Rectangle 61"/>
            <p:cNvSpPr/>
            <p:nvPr/>
          </p:nvSpPr>
          <p:spPr>
            <a:xfrm>
              <a:off x="4733925" y="4252912"/>
              <a:ext cx="692467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4938713" y="4531043"/>
              <a:ext cx="200026" cy="200025"/>
              <a:chOff x="4938713" y="4531043"/>
              <a:chExt cx="200026" cy="20002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4938713" y="453104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4978451" y="457549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5013167" y="468661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5241036" y="4400074"/>
              <a:ext cx="59656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共享段的页表只有一份，登记在共享段表里；各进程段表中这个段的表项通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过“共享段入口”指向共享段表。</a:t>
              </a:r>
            </a:p>
          </p:txBody>
        </p:sp>
      </p:grpSp>
      <p:grpSp>
        <p:nvGrpSpPr>
          <p:cNvPr id="74" name="c2-callout-3"/>
          <p:cNvGrpSpPr/>
          <p:nvPr/>
        </p:nvGrpSpPr>
        <p:grpSpPr>
          <a:xfrm>
            <a:off x="4733925" y="5189220"/>
            <a:ext cx="6924675" cy="503872"/>
            <a:chOff x="4733925" y="5189220"/>
            <a:chExt cx="6924675" cy="503872"/>
          </a:xfrm>
        </p:grpSpPr>
        <p:sp>
          <p:nvSpPr>
            <p:cNvPr id="68" name="Rectangle 68"/>
            <p:cNvSpPr/>
            <p:nvPr/>
          </p:nvSpPr>
          <p:spPr>
            <a:xfrm>
              <a:off x="4733925" y="5189220"/>
              <a:ext cx="6924675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4938713" y="5341620"/>
              <a:ext cx="200026" cy="200026"/>
              <a:chOff x="4938713" y="5341620"/>
              <a:chExt cx="200026" cy="200026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938713" y="53416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5038725" y="54082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5027613" y="54416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5241036" y="5342096"/>
              <a:ext cx="5749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扩展标志表示段能否动态增长，页号越界时据此决定扩展还是报错。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私用段直接找到页表，共享段经共享段表找到页表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graph-1"/>
          <p:cNvGrpSpPr/>
          <p:nvPr/>
        </p:nvGrpSpPr>
        <p:grpSpPr>
          <a:xfrm>
            <a:off x="691515" y="1797368"/>
            <a:ext cx="6364605" cy="4512563"/>
            <a:chOff x="691515" y="1797368"/>
            <a:chExt cx="6364605" cy="4512563"/>
          </a:xfrm>
        </p:grpSpPr>
        <p:sp>
          <p:nvSpPr>
            <p:cNvPr id="7" name="Freeform 7"/>
            <p:cNvSpPr/>
            <p:nvPr/>
          </p:nvSpPr>
          <p:spPr>
            <a:xfrm>
              <a:off x="2120265" y="2298382"/>
              <a:ext cx="871538" cy="9525"/>
            </a:xfrm>
            <a:custGeom>
              <a:avLst/>
              <a:gdLst/>
              <a:ahLst/>
              <a:cxnLst/>
              <a:rect l="l" t="t" r="r" b="b"/>
              <a:pathLst>
                <a:path w="871538" h="9525">
                  <a:moveTo>
                    <a:pt x="0" y="0"/>
                  </a:moveTo>
                  <a:lnTo>
                    <a:pt x="8715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991802" y="22507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420552" y="2298382"/>
              <a:ext cx="1349692" cy="9525"/>
            </a:xfrm>
            <a:custGeom>
              <a:avLst/>
              <a:gdLst/>
              <a:ahLst/>
              <a:cxnLst/>
              <a:rect l="l" t="t" r="r" b="b"/>
              <a:pathLst>
                <a:path w="1349692" h="9525">
                  <a:moveTo>
                    <a:pt x="0" y="0"/>
                  </a:moveTo>
                  <a:lnTo>
                    <a:pt x="134969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770245" y="22507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860232" y="4190048"/>
              <a:ext cx="1347788" cy="444818"/>
            </a:xfrm>
            <a:custGeom>
              <a:avLst/>
              <a:gdLst/>
              <a:ahLst/>
              <a:cxnLst/>
              <a:rect l="l" t="t" r="r" b="b"/>
              <a:pathLst>
                <a:path w="1347788" h="444818">
                  <a:moveTo>
                    <a:pt x="0" y="0"/>
                  </a:moveTo>
                  <a:lnTo>
                    <a:pt x="1347788" y="44481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192780" y="4589145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75247"/>
                  </a:moveTo>
                  <a:lnTo>
                    <a:pt x="0" y="90488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860232" y="4993958"/>
              <a:ext cx="1347788" cy="444818"/>
            </a:xfrm>
            <a:custGeom>
              <a:avLst/>
              <a:gdLst/>
              <a:ahLst/>
              <a:cxnLst/>
              <a:rect l="l" t="t" r="r" b="b"/>
              <a:pathLst>
                <a:path w="1347788" h="444818">
                  <a:moveTo>
                    <a:pt x="0" y="444818"/>
                  </a:moveTo>
                  <a:lnTo>
                    <a:pt x="13477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192780" y="4949190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15240"/>
                  </a:moveTo>
                  <a:lnTo>
                    <a:pt x="30480" y="904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658678" y="4813935"/>
              <a:ext cx="259080" cy="9525"/>
            </a:xfrm>
            <a:custGeom>
              <a:avLst/>
              <a:gdLst/>
              <a:ahLst/>
              <a:cxnLst/>
              <a:rect l="l" t="t" r="r" b="b"/>
              <a:pathLst>
                <a:path w="259080" h="9525">
                  <a:moveTo>
                    <a:pt x="0" y="0"/>
                  </a:moveTo>
                  <a:lnTo>
                    <a:pt x="2590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917758" y="47663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735955" y="4964430"/>
              <a:ext cx="542925" cy="782955"/>
            </a:xfrm>
            <a:custGeom>
              <a:avLst/>
              <a:gdLst/>
              <a:ahLst/>
              <a:cxnLst/>
              <a:rect l="l" t="t" r="r" b="b"/>
              <a:pathLst>
                <a:path w="542925" h="782955">
                  <a:moveTo>
                    <a:pt x="0" y="0"/>
                  </a:moveTo>
                  <a:lnTo>
                    <a:pt x="542925" y="7829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6239828" y="5719762"/>
              <a:ext cx="93345" cy="105728"/>
            </a:xfrm>
            <a:custGeom>
              <a:avLst/>
              <a:gdLst/>
              <a:ahLst/>
              <a:cxnLst/>
              <a:rect l="l" t="t" r="r" b="b"/>
              <a:pathLst>
                <a:path w="93345" h="105728">
                  <a:moveTo>
                    <a:pt x="93345" y="105728"/>
                  </a:moveTo>
                  <a:lnTo>
                    <a:pt x="0" y="54293"/>
                  </a:lnTo>
                  <a:lnTo>
                    <a:pt x="7810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91515" y="2147888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1515" y="3890010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91515" y="5438775"/>
              <a:ext cx="14287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3087052" y="2147888"/>
              <a:ext cx="13335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848928" y="4664392"/>
              <a:ext cx="180975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013008" y="4664392"/>
              <a:ext cx="123825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865495" y="2147888"/>
              <a:ext cx="1143000" cy="300038"/>
            </a:xfrm>
            <a:prstGeom prst="roundRect">
              <a:avLst>
                <a:gd name="adj" fmla="val 31746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817870" y="5825490"/>
              <a:ext cx="1238250" cy="300038"/>
            </a:xfrm>
            <a:prstGeom prst="roundRect">
              <a:avLst>
                <a:gd name="adj" fmla="val 31746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2144" y="2228374"/>
              <a:ext cx="9274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段表 si 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2144" y="3970496"/>
              <a:ext cx="9274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段表 sj 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22355" y="5518309"/>
              <a:ext cx="9670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段表 sk 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95764" y="222837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私用段的页表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94216" y="474392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共享段表中该段的表项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74094" y="474392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共享段的页表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007227" y="2228374"/>
              <a:ext cx="8595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页架 16、18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844768" y="5905976"/>
              <a:ext cx="11844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页架 22、23、25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328672" y="179736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私用段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328672" y="610457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共享段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7546658" y="1524000"/>
            <a:ext cx="4111942" cy="2844165"/>
            <a:chOff x="7546658" y="1524000"/>
            <a:chExt cx="4111942" cy="2844165"/>
          </a:xfrm>
        </p:grpSpPr>
        <p:sp>
          <p:nvSpPr>
            <p:cNvPr id="38" name="Rectangle 38"/>
            <p:cNvSpPr/>
            <p:nvPr/>
          </p:nvSpPr>
          <p:spPr>
            <a:xfrm>
              <a:off x="7546658" y="1524000"/>
              <a:ext cx="4111942" cy="2844165"/>
            </a:xfrm>
            <a:prstGeom prst="roundRect">
              <a:avLst>
                <a:gd name="adj" fmla="val 46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556182" y="1657350"/>
              <a:ext cx="47625" cy="25774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79430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88546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800022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958138" y="2110740"/>
              <a:ext cx="3225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的 si 是私用段：段表项直接指向它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自己的页表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800022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958138" y="2731770"/>
              <a:ext cx="33013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的 sj 和 P2 的 sk 是同一个共享段：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两个段表项都指向共享段表中的同一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项，再由它找到唯一的一份页表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800022" y="37014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958138" y="3638550"/>
              <a:ext cx="3063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共享计数记录正在使用这个段的进程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数，减到 0 才能撤销该段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7546658" y="4558665"/>
            <a:ext cx="4111942" cy="782955"/>
            <a:chOff x="7546658" y="4558665"/>
            <a:chExt cx="4111942" cy="782955"/>
          </a:xfrm>
        </p:grpSpPr>
        <p:sp>
          <p:nvSpPr>
            <p:cNvPr id="49" name="Rectangle 49"/>
            <p:cNvSpPr/>
            <p:nvPr/>
          </p:nvSpPr>
          <p:spPr>
            <a:xfrm>
              <a:off x="7546658" y="4558665"/>
              <a:ext cx="411194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739387" y="4846438"/>
              <a:ext cx="224134" cy="192560"/>
              <a:chOff x="7739387" y="4846438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851458" y="491680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739387" y="484643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7851458" y="49945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8053388" y="4707255"/>
              <a:ext cx="3091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同一个共享段在 P1 中是 sj 号段，在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P2 中是 sk 号段，段号可以不同。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76568" cy="909257"/>
            <a:chOff x="520446" y="342900"/>
            <a:chExt cx="657656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7656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虚拟段页式地址映射：(s, p, d) → (f, d)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716351" cy="308039"/>
            <a:chOff x="525399" y="1550194"/>
            <a:chExt cx="571635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71635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l：段表长度；b：段表首址；l′：页表长度；b′：页表首址。</a:t>
              </a:r>
            </a:p>
          </p:txBody>
        </p:sp>
      </p:grpSp>
      <p:grpSp>
        <p:nvGrpSpPr>
          <p:cNvPr id="93" name="c1-flow-1"/>
          <p:cNvGrpSpPr/>
          <p:nvPr/>
        </p:nvGrpSpPr>
        <p:grpSpPr>
          <a:xfrm>
            <a:off x="689610" y="1997392"/>
            <a:ext cx="10813732" cy="4226244"/>
            <a:chOff x="689610" y="1997392"/>
            <a:chExt cx="10813732" cy="4226244"/>
          </a:xfrm>
        </p:grpSpPr>
        <p:sp>
          <p:nvSpPr>
            <p:cNvPr id="9" name="Freeform 9"/>
            <p:cNvSpPr/>
            <p:nvPr/>
          </p:nvSpPr>
          <p:spPr>
            <a:xfrm>
              <a:off x="2602230" y="2406968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09875" y="23545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827270" y="2406968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034915" y="23545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7052310" y="2406968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7259955" y="23545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6096000" y="2707958"/>
              <a:ext cx="9525" cy="254317"/>
            </a:xfrm>
            <a:custGeom>
              <a:avLst/>
              <a:gdLst/>
              <a:ahLst/>
              <a:cxnLst/>
              <a:rect l="l" t="t" r="r" b="b"/>
              <a:pathLst>
                <a:path w="9525" h="254317">
                  <a:moveTo>
                    <a:pt x="0" y="0"/>
                  </a:moveTo>
                  <a:lnTo>
                    <a:pt x="0" y="254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043612" y="29622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9277350" y="2406968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9484995" y="23545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10546080" y="2816542"/>
              <a:ext cx="9525" cy="50483"/>
            </a:xfrm>
            <a:custGeom>
              <a:avLst/>
              <a:gdLst/>
              <a:ahLst/>
              <a:cxnLst/>
              <a:rect l="l" t="t" r="r" b="b"/>
              <a:pathLst>
                <a:path w="9525" h="50483">
                  <a:moveTo>
                    <a:pt x="0" y="0"/>
                  </a:moveTo>
                  <a:lnTo>
                    <a:pt x="0" y="504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493692" y="28670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3870960" y="2816542"/>
              <a:ext cx="9525" cy="63817"/>
            </a:xfrm>
            <a:custGeom>
              <a:avLst/>
              <a:gdLst/>
              <a:ahLst/>
              <a:cxnLst/>
              <a:rect l="l" t="t" r="r" b="b"/>
              <a:pathLst>
                <a:path w="9525" h="63817">
                  <a:moveTo>
                    <a:pt x="0" y="0"/>
                  </a:moveTo>
                  <a:lnTo>
                    <a:pt x="0" y="638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818572" y="28803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2707005" y="3286125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602230" y="32337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3870960" y="3587115"/>
              <a:ext cx="9525" cy="158115"/>
            </a:xfrm>
            <a:custGeom>
              <a:avLst/>
              <a:gdLst/>
              <a:ahLst/>
              <a:cxnLst/>
              <a:rect l="l" t="t" r="r" b="b"/>
              <a:pathLst>
                <a:path w="9525" h="158115">
                  <a:moveTo>
                    <a:pt x="0" y="0"/>
                  </a:moveTo>
                  <a:lnTo>
                    <a:pt x="0" y="1581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3818572" y="37452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3870960" y="4479608"/>
              <a:ext cx="9525" cy="159067"/>
            </a:xfrm>
            <a:custGeom>
              <a:avLst/>
              <a:gdLst/>
              <a:ahLst/>
              <a:cxnLst/>
              <a:rect l="l" t="t" r="r" b="b"/>
              <a:pathLst>
                <a:path w="9525" h="159067">
                  <a:moveTo>
                    <a:pt x="0" y="0"/>
                  </a:moveTo>
                  <a:lnTo>
                    <a:pt x="0" y="15906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818572" y="46386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2707005" y="5044440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20764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602230" y="49920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3870960" y="5344478"/>
              <a:ext cx="9525" cy="255270"/>
            </a:xfrm>
            <a:custGeom>
              <a:avLst/>
              <a:gdLst/>
              <a:ahLst/>
              <a:cxnLst/>
              <a:rect l="l" t="t" r="r" b="b"/>
              <a:pathLst>
                <a:path w="9525" h="255270">
                  <a:moveTo>
                    <a:pt x="0" y="0"/>
                  </a:moveTo>
                  <a:lnTo>
                    <a:pt x="0" y="25527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3818572" y="55997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4827270" y="5923598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034915" y="58712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6096000" y="5368290"/>
              <a:ext cx="9525" cy="254317"/>
            </a:xfrm>
            <a:custGeom>
              <a:avLst/>
              <a:gdLst/>
              <a:ahLst/>
              <a:cxnLst/>
              <a:rect l="l" t="t" r="r" b="b"/>
              <a:pathLst>
                <a:path w="9525" h="254317">
                  <a:moveTo>
                    <a:pt x="0" y="25431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6043612" y="52635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7052310" y="5923598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259955" y="58712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8321040" y="2730818"/>
              <a:ext cx="9525" cy="2973705"/>
            </a:xfrm>
            <a:custGeom>
              <a:avLst/>
              <a:gdLst/>
              <a:ahLst/>
              <a:cxnLst/>
              <a:rect l="l" t="t" r="r" b="b"/>
              <a:pathLst>
                <a:path w="9525" h="2973705">
                  <a:moveTo>
                    <a:pt x="0" y="297370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268652" y="26260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89610" y="2187892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2914650" y="1997392"/>
              <a:ext cx="1912620" cy="819150"/>
            </a:xfrm>
            <a:custGeom>
              <a:avLst/>
              <a:gdLst/>
              <a:ahLst/>
              <a:cxnLst/>
              <a:rect l="l" t="t" r="r" b="b"/>
              <a:pathLst>
                <a:path w="1912620" h="819150">
                  <a:moveTo>
                    <a:pt x="956310" y="0"/>
                  </a:moveTo>
                  <a:lnTo>
                    <a:pt x="1912620" y="409575"/>
                  </a:lnTo>
                  <a:lnTo>
                    <a:pt x="956310" y="819150"/>
                  </a:lnTo>
                  <a:lnTo>
                    <a:pt x="0" y="40957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5139690" y="2105978"/>
              <a:ext cx="1912620" cy="601980"/>
            </a:xfrm>
            <a:custGeom>
              <a:avLst/>
              <a:gdLst/>
              <a:ahLst/>
              <a:cxnLst/>
              <a:rect l="l" t="t" r="r" b="b"/>
              <a:pathLst>
                <a:path w="1912620" h="601980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364730" y="2187892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9589770" y="1997392"/>
              <a:ext cx="1912620" cy="819150"/>
            </a:xfrm>
            <a:custGeom>
              <a:avLst/>
              <a:gdLst/>
              <a:ahLst/>
              <a:cxnLst/>
              <a:rect l="l" t="t" r="r" b="b"/>
              <a:pathLst>
                <a:path w="1912620" h="819150">
                  <a:moveTo>
                    <a:pt x="956310" y="0"/>
                  </a:moveTo>
                  <a:lnTo>
                    <a:pt x="1912620" y="409575"/>
                  </a:lnTo>
                  <a:lnTo>
                    <a:pt x="956310" y="819150"/>
                  </a:lnTo>
                  <a:lnTo>
                    <a:pt x="0" y="40957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89610" y="3067050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2914650" y="2985135"/>
              <a:ext cx="1912620" cy="601980"/>
            </a:xfrm>
            <a:custGeom>
              <a:avLst/>
              <a:gdLst/>
              <a:ahLst/>
              <a:cxnLst/>
              <a:rect l="l" t="t" r="r" b="b"/>
              <a:pathLst>
                <a:path w="1912620" h="601980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139690" y="3067050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589770" y="2971800"/>
              <a:ext cx="1913572" cy="629602"/>
            </a:xfrm>
            <a:prstGeom prst="roundRect">
              <a:avLst>
                <a:gd name="adj" fmla="val 1210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2914650" y="3850005"/>
              <a:ext cx="19135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9610" y="4825365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2914650" y="4743450"/>
              <a:ext cx="1912620" cy="601028"/>
            </a:xfrm>
            <a:custGeom>
              <a:avLst/>
              <a:gdLst/>
              <a:ahLst/>
              <a:cxnLst/>
              <a:rect l="l" t="t" r="r" b="b"/>
              <a:pathLst>
                <a:path w="1912620" h="601028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5139690" y="4825365"/>
              <a:ext cx="19135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2914650" y="5704522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5139690" y="5622608"/>
              <a:ext cx="1912620" cy="601028"/>
            </a:xfrm>
            <a:custGeom>
              <a:avLst/>
              <a:gdLst/>
              <a:ahLst/>
              <a:cxnLst/>
              <a:rect l="l" t="t" r="r" b="b"/>
              <a:pathLst>
                <a:path w="1912620" h="601028">
                  <a:moveTo>
                    <a:pt x="956310" y="0"/>
                  </a:moveTo>
                  <a:lnTo>
                    <a:pt x="1912620" y="300990"/>
                  </a:lnTo>
                  <a:lnTo>
                    <a:pt x="956310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364730" y="5704522"/>
              <a:ext cx="1913572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65109" y="2317909"/>
              <a:ext cx="15616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 (s, p, d)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242691" y="2208371"/>
              <a:ext cx="125653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(s, p) 查快表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 f，查到？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658739" y="231790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访问合法？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494566" y="2317909"/>
              <a:ext cx="1652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形成物理地址 (f, d)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70643" y="2208371"/>
              <a:ext cx="115087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是间址且有障碍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位？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294816" y="31970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364774" y="3197066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s ≤ l−1？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744896" y="31970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越权中断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726803" y="3087529"/>
              <a:ext cx="16385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是：连接中断；否：继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续执行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161411" y="3966686"/>
              <a:ext cx="141909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(s, b) 查段表得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b′、l′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294816" y="49553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317387" y="4955381"/>
              <a:ext cx="11071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p ≤ l′−1？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744896" y="49553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缺页中断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3028762" y="5834539"/>
              <a:ext cx="16843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b′ 和 p 查页表得 f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572582" y="583453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该页在内存？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560691" y="5834539"/>
              <a:ext cx="15206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(s, p, f) 写入快表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4802505" y="219075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4836795" y="221742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查到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7094220" y="219075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132511" y="221742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124575" y="279558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147816" y="282225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3899535" y="2808922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3922776" y="2835593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查不到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2644140" y="306990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2682430" y="309657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3899535" y="362616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3922776" y="365283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2644140" y="482822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2682430" y="485489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3899535" y="543210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3922776" y="545877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124575" y="535114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147816" y="537781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7094220" y="570738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7132511" y="573405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</p:grpSp>
      <p:grpSp>
        <p:nvGrpSpPr>
          <p:cNvPr id="9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4" name="TextBox 94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段页式的四种中断：连接、缺页、越界、越权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table-1"/>
          <p:cNvGrpSpPr/>
          <p:nvPr/>
        </p:nvGrpSpPr>
        <p:grpSpPr>
          <a:xfrm>
            <a:off x="533400" y="1524000"/>
            <a:ext cx="6276022" cy="2928938"/>
            <a:chOff x="533400" y="1524000"/>
            <a:chExt cx="6276022" cy="29289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4526" y="1659731"/>
              <a:ext cx="18170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 连接中断的三种情况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62180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108359"/>
              <a:ext cx="1894992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所有进程都没连接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过：共享段表、段名-段号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对照表中都没有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00553" y="2108359"/>
              <a:ext cx="358927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建立页表，由文件读入外存 swap 区，部分页读入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内存；分配段号，填段名-段号对照表；是共享段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还要填共享段表；填段表，形成逻辑地址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86988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874645"/>
              <a:ext cx="6276022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3010376"/>
              <a:ext cx="1808836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其他进程连接过，本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进程没有：共享段表有，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对照表无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00553" y="3123724"/>
              <a:ext cx="35161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分配段号，填段名-段号对照表；填段表（指向共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享段表），共享计数加 1，形成逻辑地址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77285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912394"/>
              <a:ext cx="180883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本进程连接过：对照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表有，共享段表有或无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00553" y="402574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直接形成逻辑地址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6276022" cy="29289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787968" y="1524000"/>
              <a:ext cx="9525" cy="29289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flow-2"/>
          <p:cNvGrpSpPr/>
          <p:nvPr/>
        </p:nvGrpSpPr>
        <p:grpSpPr>
          <a:xfrm>
            <a:off x="680085" y="4663440"/>
            <a:ext cx="5982652" cy="1584007"/>
            <a:chOff x="680085" y="4663440"/>
            <a:chExt cx="5982652" cy="1584007"/>
          </a:xfrm>
        </p:grpSpPr>
        <p:sp>
          <p:nvSpPr>
            <p:cNvPr id="22" name="Freeform 22"/>
            <p:cNvSpPr/>
            <p:nvPr/>
          </p:nvSpPr>
          <p:spPr>
            <a:xfrm>
              <a:off x="2479358" y="5073015"/>
              <a:ext cx="187642" cy="9525"/>
            </a:xfrm>
            <a:custGeom>
              <a:avLst/>
              <a:gdLst/>
              <a:ahLst/>
              <a:cxnLst/>
              <a:rect l="l" t="t" r="r" b="b"/>
              <a:pathLst>
                <a:path w="187642" h="9525">
                  <a:moveTo>
                    <a:pt x="0" y="0"/>
                  </a:moveTo>
                  <a:lnTo>
                    <a:pt x="18764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667000" y="50206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1579245" y="5482590"/>
              <a:ext cx="9525" cy="30480"/>
            </a:xfrm>
            <a:custGeom>
              <a:avLst/>
              <a:gdLst/>
              <a:ahLst/>
              <a:cxnLst/>
              <a:rect l="l" t="t" r="r" b="b"/>
              <a:pathLst>
                <a:path w="9525" h="30480">
                  <a:moveTo>
                    <a:pt x="0" y="0"/>
                  </a:moveTo>
                  <a:lnTo>
                    <a:pt x="0" y="304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1526858" y="55130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3670935" y="5374005"/>
              <a:ext cx="9525" cy="139065"/>
            </a:xfrm>
            <a:custGeom>
              <a:avLst/>
              <a:gdLst/>
              <a:ahLst/>
              <a:cxnLst/>
              <a:rect l="l" t="t" r="r" b="b"/>
              <a:pathLst>
                <a:path w="9525" h="139065">
                  <a:moveTo>
                    <a:pt x="0" y="0"/>
                  </a:moveTo>
                  <a:lnTo>
                    <a:pt x="0" y="13906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618548" y="55130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4571048" y="5073015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0" y="0"/>
                  </a:moveTo>
                  <a:lnTo>
                    <a:pt x="1876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4758690" y="50206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680085" y="4663440"/>
              <a:ext cx="1799272" cy="819150"/>
            </a:xfrm>
            <a:custGeom>
              <a:avLst/>
              <a:gdLst/>
              <a:ahLst/>
              <a:cxnLst/>
              <a:rect l="l" t="t" r="r" b="b"/>
              <a:pathLst>
                <a:path w="1799272" h="819150">
                  <a:moveTo>
                    <a:pt x="899160" y="0"/>
                  </a:moveTo>
                  <a:lnTo>
                    <a:pt x="1799272" y="409575"/>
                  </a:lnTo>
                  <a:lnTo>
                    <a:pt x="899160" y="819150"/>
                  </a:lnTo>
                  <a:lnTo>
                    <a:pt x="0" y="40957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771775" y="4772978"/>
              <a:ext cx="1799272" cy="601028"/>
            </a:xfrm>
            <a:custGeom>
              <a:avLst/>
              <a:gdLst/>
              <a:ahLst/>
              <a:cxnLst/>
              <a:rect l="l" t="t" r="r" b="b"/>
              <a:pathLst>
                <a:path w="1799272" h="601028">
                  <a:moveTo>
                    <a:pt x="899160" y="0"/>
                  </a:moveTo>
                  <a:lnTo>
                    <a:pt x="1799272" y="300038"/>
                  </a:lnTo>
                  <a:lnTo>
                    <a:pt x="899160" y="601028"/>
                  </a:lnTo>
                  <a:lnTo>
                    <a:pt x="0" y="30003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863465" y="4758690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80085" y="5617845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771775" y="5617845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40384" y="4874419"/>
              <a:ext cx="1077722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段名-段号对照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表中有？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061360" y="498395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共享段表中有？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029645" y="4874419"/>
              <a:ext cx="146786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建页表、读入、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分配段号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89152" y="5734526"/>
              <a:ext cx="98018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直接形成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37002" y="5734526"/>
              <a:ext cx="146786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分配段号，共享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计数加 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2510790" y="48567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2549080" y="48834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607820" y="545877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631061" y="548544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3699510" y="540353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722751" y="543020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603432" y="48567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641723" y="48834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</p:grpSp>
      <p:grpSp>
        <p:nvGrpSpPr>
          <p:cNvPr id="60" name="c2-kv-1"/>
          <p:cNvGrpSpPr/>
          <p:nvPr/>
        </p:nvGrpSpPr>
        <p:grpSpPr>
          <a:xfrm>
            <a:off x="7106602" y="1548765"/>
            <a:ext cx="4551998" cy="2459355"/>
            <a:chOff x="7106602" y="1548765"/>
            <a:chExt cx="4551998" cy="2459355"/>
          </a:xfrm>
        </p:grpSpPr>
        <p:sp>
          <p:nvSpPr>
            <p:cNvPr id="49" name="TextBox 49"/>
            <p:cNvSpPr txBox="1"/>
            <p:nvPr/>
          </p:nvSpPr>
          <p:spPr>
            <a:xfrm>
              <a:off x="7106602" y="1548765"/>
              <a:ext cx="1119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 缺页中断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469630" y="154876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调入所需页面，更新页表和总页表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114222" y="186880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106602" y="1988820"/>
              <a:ext cx="1158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3. 越界中</a:t>
              </a:r>
              <a:br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断：段号越界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469630" y="19888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错误处理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114222" y="25908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106602" y="2710815"/>
              <a:ext cx="1158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3. 越界中</a:t>
              </a:r>
              <a:br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断：页号越界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469630" y="2710815"/>
              <a:ext cx="30632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段可扩展：扩展该段（增加页），修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改页表和段表中的页表长度；不可扩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展：错误处理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114222" y="359473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106602" y="3714750"/>
              <a:ext cx="1119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 越权中断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469630" y="37147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错误处理</a:t>
              </a:r>
            </a:p>
          </p:txBody>
        </p:sp>
      </p:grpSp>
      <p:grpSp>
        <p:nvGrpSpPr>
          <p:cNvPr id="67" name="c2-callout-2"/>
          <p:cNvGrpSpPr/>
          <p:nvPr/>
        </p:nvGrpSpPr>
        <p:grpSpPr>
          <a:xfrm>
            <a:off x="7114222" y="4139565"/>
            <a:ext cx="4544378" cy="782955"/>
            <a:chOff x="7114222" y="4139565"/>
            <a:chExt cx="4544378" cy="782955"/>
          </a:xfrm>
        </p:grpSpPr>
        <p:sp>
          <p:nvSpPr>
            <p:cNvPr id="61" name="Rectangle 61"/>
            <p:cNvSpPr/>
            <p:nvPr/>
          </p:nvSpPr>
          <p:spPr>
            <a:xfrm>
              <a:off x="7114222" y="4139565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19010" y="4431030"/>
              <a:ext cx="200026" cy="200025"/>
              <a:chOff x="7319010" y="4431030"/>
              <a:chExt cx="200026" cy="20002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19010" y="44310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7358749" y="44754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7393464" y="45866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7620952" y="4288155"/>
              <a:ext cx="3444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页号越界不一定是错误。段长可以动态增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长，这正是段页式要考虑的第三件事。</a:t>
              </a:r>
            </a:p>
          </p:txBody>
        </p:sp>
      </p:grpSp>
      <p:grpSp>
        <p:nvGrpSpPr>
          <p:cNvPr id="73" name="c2-callout-3"/>
          <p:cNvGrpSpPr/>
          <p:nvPr/>
        </p:nvGrpSpPr>
        <p:grpSpPr>
          <a:xfrm>
            <a:off x="7114222" y="5113020"/>
            <a:ext cx="4544378" cy="1059180"/>
            <a:chOff x="7114222" y="5113020"/>
            <a:chExt cx="4544378" cy="1059180"/>
          </a:xfrm>
        </p:grpSpPr>
        <p:sp>
          <p:nvSpPr>
            <p:cNvPr id="68" name="Rectangle 68"/>
            <p:cNvSpPr/>
            <p:nvPr/>
          </p:nvSpPr>
          <p:spPr>
            <a:xfrm>
              <a:off x="7114222" y="511302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19010" y="5542600"/>
              <a:ext cx="200023" cy="200023"/>
              <a:chOff x="7319010" y="5542600"/>
              <a:chExt cx="200023" cy="200023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19010" y="554260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452360" y="56092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7620952" y="526161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分三种情况是为了共享：共享段只读入一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次、只建一份页表，别的进程再连接时只登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记段号、计数加 1。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虚拟段式与虚拟段页式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三种虚拟存储管理方式的特性比较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1" name="c1-table-1"/>
          <p:cNvGrpSpPr/>
          <p:nvPr/>
        </p:nvGrpSpPr>
        <p:grpSpPr>
          <a:xfrm>
            <a:off x="533400" y="1524000"/>
            <a:ext cx="6276022" cy="3901440"/>
            <a:chOff x="533400" y="1524000"/>
            <a:chExt cx="6276022" cy="39014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84898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特性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04110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虚拟页式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925252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虚拟段式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440680" y="16630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虚拟段页式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0080" y="21507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地址空间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06040" y="21507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585210" y="2021205"/>
              <a:ext cx="1502092" cy="468630"/>
            </a:xfrm>
            <a:prstGeom prst="rect">
              <a:avLst/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127182" y="21507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107305" y="2021205"/>
              <a:ext cx="1692592" cy="468630"/>
            </a:xfrm>
            <a:prstGeom prst="rect">
              <a:avLst/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743575" y="21507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49459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499360"/>
              <a:ext cx="6276022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26384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存储分配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06040" y="2638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585210" y="2508885"/>
              <a:ext cx="1502092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127182" y="2638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43575" y="2638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98227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0080" y="312610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存储碎片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07005" y="312610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585210" y="2996565"/>
              <a:ext cx="1502092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228148" y="312610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844540" y="312610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46995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474720"/>
              <a:ext cx="6276022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0080" y="36137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存储共享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064068" y="3484245"/>
              <a:ext cx="1502092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606040" y="361378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不便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27182" y="361378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743575" y="361378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9576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0080" y="41014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存储保护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2064068" y="3971925"/>
              <a:ext cx="1502092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2606040" y="41014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不便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127182" y="41014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743575" y="41014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44531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4450080"/>
              <a:ext cx="6276022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0080" y="45891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动态扩充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2064068" y="4459605"/>
              <a:ext cx="1502092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606040" y="45891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127182" y="45891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743575" y="45891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493299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0080" y="50768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动态连接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064068" y="4947285"/>
              <a:ext cx="1502092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606040" y="50768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127182" y="50768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743575" y="50768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1524000"/>
              <a:ext cx="6276022" cy="39014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2049780" y="1524000"/>
              <a:ext cx="9525" cy="39014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3570922" y="1524000"/>
              <a:ext cx="9525" cy="39014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093018" y="1524000"/>
              <a:ext cx="9525" cy="39014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2" name="c2-card-1"/>
          <p:cNvGrpSpPr/>
          <p:nvPr/>
        </p:nvGrpSpPr>
        <p:grpSpPr>
          <a:xfrm>
            <a:off x="7114222" y="1524000"/>
            <a:ext cx="4544378" cy="2844165"/>
            <a:chOff x="7114222" y="1524000"/>
            <a:chExt cx="4544378" cy="2844165"/>
          </a:xfrm>
        </p:grpSpPr>
        <p:sp>
          <p:nvSpPr>
            <p:cNvPr id="62" name="Rectangle 62"/>
            <p:cNvSpPr/>
            <p:nvPr/>
          </p:nvSpPr>
          <p:spPr>
            <a:xfrm>
              <a:off x="7114222" y="1524000"/>
              <a:ext cx="4544378" cy="2844165"/>
            </a:xfrm>
            <a:prstGeom prst="roundRect">
              <a:avLst>
                <a:gd name="adj" fmla="val 46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7123748" y="1657350"/>
              <a:ext cx="47625" cy="25774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361872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439279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为什么这样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段式按段分配连续内存，段长不等，分配时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要找合适的空闲区，会留下外部碎片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段是有意义的逻辑单位（过程、数据），按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段设置共享和保护最自然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525702" y="3352800"/>
              <a:ext cx="3634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段页式对用户按段、对内存按页，兼有两者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的优点，代价是地址映射要查段表和页表两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</p:grpSp>
      <p:grpSp>
        <p:nvGrpSpPr>
          <p:cNvPr id="79" name="c2-callout-2"/>
          <p:cNvGrpSpPr/>
          <p:nvPr/>
        </p:nvGrpSpPr>
        <p:grpSpPr>
          <a:xfrm>
            <a:off x="7114222" y="4558665"/>
            <a:ext cx="4544378" cy="1059180"/>
            <a:chOff x="7114222" y="4558665"/>
            <a:chExt cx="4544378" cy="1059180"/>
          </a:xfrm>
        </p:grpSpPr>
        <p:sp>
          <p:nvSpPr>
            <p:cNvPr id="73" name="Rectangle 73"/>
            <p:cNvSpPr/>
            <p:nvPr/>
          </p:nvSpPr>
          <p:spPr>
            <a:xfrm>
              <a:off x="7114222" y="4558665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306952" y="4984551"/>
              <a:ext cx="224134" cy="192560"/>
              <a:chOff x="7306952" y="4984551"/>
              <a:chExt cx="224134" cy="19256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7419023" y="505491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7306952" y="498455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7419023" y="513270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7620952" y="4707255"/>
              <a:ext cx="36537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表中的“无碎片”指没有外部碎片。页式和段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页式中每段（进程）的最后一页仍可能有页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内碎片。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292215" cy="3675697"/>
            <a:chOff x="667512" y="1835468"/>
            <a:chExt cx="6292215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系统举例与计算题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82309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Linux 的伙伴堆算法、Windows Vista 的虚拟页式管理，再做两道有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效访问时间题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30272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7.5.1 Linux 页表、调页与伙伴堆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伙伴堆的空闲链、位图与分配释放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39015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7.5.2 Windows Vista 地址空间与二级页表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作业：最大缺页率与平均访问时间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67284" cy="909257"/>
            <a:chOff x="520446" y="342900"/>
            <a:chExt cx="93672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672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7.5.1 Linux 存储管理：多级页表、请求调页和两个守护进程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ard-1"/>
          <p:cNvGrpSpPr/>
          <p:nvPr/>
        </p:nvGrpSpPr>
        <p:grpSpPr>
          <a:xfrm>
            <a:off x="533400" y="1524000"/>
            <a:ext cx="5626418" cy="2165985"/>
            <a:chOff x="533400" y="1524000"/>
            <a:chExt cx="5626418" cy="21659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165985"/>
            </a:xfrm>
            <a:prstGeom prst="roundRect">
              <a:avLst>
                <a:gd name="adj" fmla="val 61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992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345376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80380" y="1769269"/>
              <a:ext cx="34551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物理存储管理（Physical memory management）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701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三级页表（three level page table），线性地址分成四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段：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81050" y="2707005"/>
              <a:ext cx="95916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28281" y="284654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页目录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740218" y="2707005"/>
              <a:ext cx="95916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836674" y="284654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页中间目录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698432" y="2707005"/>
              <a:ext cx="95916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022003" y="284654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57600" y="2707005"/>
              <a:ext cx="959168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29444" y="28465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页内偏移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33089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3246120"/>
              <a:ext cx="49019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用伙伴堆算法（buddy heap algorithm）管理内存页框</a:t>
              </a:r>
            </a:p>
          </p:txBody>
        </p:sp>
      </p:grpSp>
      <p:grpSp>
        <p:nvGrpSpPr>
          <p:cNvPr id="32" name="c1-card-2"/>
          <p:cNvGrpSpPr/>
          <p:nvPr/>
        </p:nvGrpSpPr>
        <p:grpSpPr>
          <a:xfrm>
            <a:off x="533400" y="3880485"/>
            <a:ext cx="5626418" cy="1651635"/>
            <a:chOff x="533400" y="3880485"/>
            <a:chExt cx="5626418" cy="1651635"/>
          </a:xfrm>
        </p:grpSpPr>
        <p:sp>
          <p:nvSpPr>
            <p:cNvPr id="24" name="Rectangle 24"/>
            <p:cNvSpPr/>
            <p:nvPr/>
          </p:nvSpPr>
          <p:spPr>
            <a:xfrm>
              <a:off x="533400" y="3880485"/>
              <a:ext cx="5626418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013835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81050" y="4090035"/>
              <a:ext cx="337089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82951" y="4125754"/>
              <a:ext cx="3368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虚拟存储管理（Virtual memory management）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86765" y="453009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4880" y="4467225"/>
              <a:ext cx="26100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请求调页（demand paging）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6765" y="486537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4880" y="4802505"/>
              <a:ext cx="4749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不做预调（no pre-paging），不用工作集（no working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set）</a:t>
              </a:r>
            </a:p>
          </p:txBody>
        </p:sp>
      </p:grpSp>
      <p:grpSp>
        <p:nvGrpSpPr>
          <p:cNvPr id="44" name="c2-table-1"/>
          <p:cNvGrpSpPr/>
          <p:nvPr/>
        </p:nvGrpSpPr>
        <p:grpSpPr>
          <a:xfrm>
            <a:off x="6464618" y="1524000"/>
            <a:ext cx="5193982" cy="1800225"/>
            <a:chOff x="6464618" y="1524000"/>
            <a:chExt cx="5193982" cy="1800225"/>
          </a:xfrm>
        </p:grpSpPr>
        <p:sp>
          <p:nvSpPr>
            <p:cNvPr id="33" name="Rectangle 33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18084" y="16597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页面置换的守护进程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1769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72441" y="2221706"/>
              <a:ext cx="15620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kswapd 页守护进程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42198" y="2108359"/>
              <a:ext cx="2939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每秒运行一次，保证内存中有足够的空闲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64618" y="26431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64618" y="264795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72441" y="2783681"/>
              <a:ext cx="1491437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bdflush 刷新守护进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42198" y="2783681"/>
              <a:ext cx="26139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定期唤醒，把修改过的脏页写回外存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（dirty page out）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64618" y="1524000"/>
              <a:ext cx="5193982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8329612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rd-2"/>
          <p:cNvGrpSpPr/>
          <p:nvPr/>
        </p:nvGrpSpPr>
        <p:grpSpPr>
          <a:xfrm>
            <a:off x="6464618" y="3514725"/>
            <a:ext cx="5193982" cy="2017395"/>
            <a:chOff x="6464618" y="3514725"/>
            <a:chExt cx="5193982" cy="2017395"/>
          </a:xfrm>
        </p:grpSpPr>
        <p:sp>
          <p:nvSpPr>
            <p:cNvPr id="45" name="Rectangle 45"/>
            <p:cNvSpPr/>
            <p:nvPr/>
          </p:nvSpPr>
          <p:spPr>
            <a:xfrm>
              <a:off x="6464618" y="3514725"/>
              <a:ext cx="5193982" cy="2017395"/>
            </a:xfrm>
            <a:prstGeom prst="roundRect">
              <a:avLst>
                <a:gd name="adj" fmla="val 66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74142" y="3648075"/>
              <a:ext cx="47625" cy="17506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712268" y="372427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07378" y="37599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04648" y="4101465"/>
              <a:ext cx="45396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课件描述的是早期 Linux（2.4 版前后）的做法。现在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64 位 Linux 使用四级页表（可选五级），bdflush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也已被按设备划分的回写线程取代。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伙伴堆：大块对半分给请求，相邻伙伴都空闲时再合并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7" name="c1-graph-1"/>
          <p:cNvGrpSpPr/>
          <p:nvPr/>
        </p:nvGrpSpPr>
        <p:grpSpPr>
          <a:xfrm>
            <a:off x="562737" y="1688782"/>
            <a:ext cx="6637211" cy="4589812"/>
            <a:chOff x="562737" y="1688782"/>
            <a:chExt cx="6637211" cy="4589812"/>
          </a:xfrm>
        </p:grpSpPr>
        <p:sp>
          <p:nvSpPr>
            <p:cNvPr id="7" name="Rectangle 7"/>
            <p:cNvSpPr/>
            <p:nvPr/>
          </p:nvSpPr>
          <p:spPr>
            <a:xfrm>
              <a:off x="2003108" y="1688782"/>
              <a:ext cx="5024438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830705" y="2298382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4704398" y="2298382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744980" y="2903220"/>
              <a:ext cx="1231582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180398" y="2903220"/>
              <a:ext cx="1231582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704398" y="2903220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701165" y="3512820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419350" y="3512820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180398" y="3512820"/>
              <a:ext cx="1231582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704398" y="3512820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701165" y="4122420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419350" y="4122420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180398" y="4122420"/>
              <a:ext cx="1231582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704398" y="4122420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1701165" y="4732020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419350" y="4732020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116580" y="4732020"/>
              <a:ext cx="282892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475672" y="4732020"/>
              <a:ext cx="282892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856672" y="4732020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704398" y="4732020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701165" y="5336858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2419350" y="5336858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116580" y="5336858"/>
              <a:ext cx="282892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475672" y="5336858"/>
              <a:ext cx="282892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856672" y="5336858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704398" y="5336858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744980" y="5946458"/>
              <a:ext cx="1231582" cy="251460"/>
            </a:xfrm>
            <a:prstGeom prst="roundRect">
              <a:avLst>
                <a:gd name="adj" fmla="val 1515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3116580" y="5946458"/>
              <a:ext cx="282892" cy="251460"/>
            </a:xfrm>
            <a:prstGeom prst="roundRect">
              <a:avLst>
                <a:gd name="adj" fmla="val 1515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3475672" y="5946458"/>
              <a:ext cx="282892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3856672" y="5946458"/>
              <a:ext cx="59817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4704398" y="5946458"/>
              <a:ext cx="2495550" cy="251460"/>
            </a:xfrm>
            <a:prstGeom prst="roundRect">
              <a:avLst>
                <a:gd name="adj" fmla="val 1515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433709" y="175402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97339" y="236362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871031" y="2363629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279154" y="29684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715524" y="29684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871031" y="29684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958155" y="35780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76340" y="35780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715524" y="35780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871031" y="35780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958155" y="41876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676340" y="41876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715524" y="41876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871031" y="41876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958155" y="47972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676340" y="47972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214503" y="47972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574548" y="47972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112710" y="479726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871031" y="4797266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958155" y="54021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676340" y="54021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214503" y="54021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574548" y="54021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12710" y="54021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871031" y="540210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2279154" y="601170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3214503" y="60117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574548" y="60117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112710" y="601170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871031" y="601170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62737" y="18302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62737" y="2439829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分裂 64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62737" y="3044666"/>
              <a:ext cx="4676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分裂 32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562737" y="3654266"/>
              <a:ext cx="4670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req(8)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562737" y="4263866"/>
              <a:ext cx="4670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req(8)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562737" y="4873466"/>
              <a:ext cx="4670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req(4)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562737" y="5478304"/>
              <a:ext cx="4324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rel(8)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562737" y="6087904"/>
              <a:ext cx="4324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rel(8)</a:t>
              </a:r>
            </a:p>
          </p:txBody>
        </p:sp>
      </p:grpSp>
      <p:grpSp>
        <p:nvGrpSpPr>
          <p:cNvPr id="88" name="c2-card-1"/>
          <p:cNvGrpSpPr/>
          <p:nvPr/>
        </p:nvGrpSpPr>
        <p:grpSpPr>
          <a:xfrm>
            <a:off x="7762875" y="1524000"/>
            <a:ext cx="3895725" cy="2043112"/>
            <a:chOff x="7762875" y="1524000"/>
            <a:chExt cx="3895725" cy="2043112"/>
          </a:xfrm>
        </p:grpSpPr>
        <p:sp>
          <p:nvSpPr>
            <p:cNvPr id="78" name="Rectangle 78"/>
            <p:cNvSpPr/>
            <p:nvPr/>
          </p:nvSpPr>
          <p:spPr>
            <a:xfrm>
              <a:off x="7762875" y="1524000"/>
              <a:ext cx="3895725" cy="2043112"/>
            </a:xfrm>
            <a:prstGeom prst="roundRect">
              <a:avLst>
                <a:gd name="adj" fmla="val 65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9" name="Rectangle 79"/>
            <p:cNvSpPr/>
            <p:nvPr/>
          </p:nvSpPr>
          <p:spPr>
            <a:xfrm>
              <a:off x="7772400" y="1657350"/>
              <a:ext cx="47625" cy="177641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7987665" y="1710690"/>
              <a:ext cx="151828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8048410" y="1743551"/>
              <a:ext cx="13967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伙伴堆（buddy heap）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7996238" y="211074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8152257" y="2054542"/>
              <a:ext cx="31255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分配物理上连续的页，块长都是 2 的幂，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每块有一个相邻的伙伴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7996238" y="266890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8152257" y="2612708"/>
              <a:ext cx="30998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小空闲区不够时，把大区域对半分成两个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7996238" y="322611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8152257" y="316992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两个伙伴都释放后，合并成一个大空闲区</a:t>
              </a:r>
            </a:p>
          </p:txBody>
        </p:sp>
      </p:grpSp>
      <p:grpSp>
        <p:nvGrpSpPr>
          <p:cNvPr id="98" name="c2-card-2"/>
          <p:cNvGrpSpPr/>
          <p:nvPr/>
        </p:nvGrpSpPr>
        <p:grpSpPr>
          <a:xfrm>
            <a:off x="7762875" y="3737610"/>
            <a:ext cx="3895725" cy="2211705"/>
            <a:chOff x="7762875" y="3737610"/>
            <a:chExt cx="3895725" cy="2211705"/>
          </a:xfrm>
        </p:grpSpPr>
        <p:sp>
          <p:nvSpPr>
            <p:cNvPr id="89" name="Rectangle 89"/>
            <p:cNvSpPr/>
            <p:nvPr/>
          </p:nvSpPr>
          <p:spPr>
            <a:xfrm>
              <a:off x="7762875" y="3737610"/>
              <a:ext cx="3895725" cy="2211705"/>
            </a:xfrm>
            <a:prstGeom prst="roundRect">
              <a:avLst>
                <a:gd name="adj" fmla="val 6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0" name="Rectangle 90"/>
            <p:cNvSpPr/>
            <p:nvPr/>
          </p:nvSpPr>
          <p:spPr>
            <a:xfrm>
              <a:off x="7772400" y="3870960"/>
              <a:ext cx="47625" cy="19450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7987665" y="3924300"/>
              <a:ext cx="207645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8031480" y="3957161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读图（深色已分配，低地址在左）</a:t>
              </a:r>
            </a:p>
          </p:txBody>
        </p:sp>
        <p:sp>
          <p:nvSpPr>
            <p:cNvPr id="93" name="Ellipse 93"/>
            <p:cNvSpPr/>
            <p:nvPr/>
          </p:nvSpPr>
          <p:spPr>
            <a:xfrm>
              <a:off x="7996238" y="432435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8152257" y="4268152"/>
              <a:ext cx="31426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req(4)：16 先分成 8、8，再把一个 8 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 4、4</a:t>
              </a:r>
            </a:p>
          </p:txBody>
        </p:sp>
        <p:sp>
          <p:nvSpPr>
            <p:cNvPr id="95" name="Ellipse 95"/>
            <p:cNvSpPr/>
            <p:nvPr/>
          </p:nvSpPr>
          <p:spPr>
            <a:xfrm>
              <a:off x="7996238" y="488156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8152257" y="4825365"/>
              <a:ext cx="31855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第二次 rel(8)：相邻的两个 8 都空闲，合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并成 16（绿色）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7981950" y="5379244"/>
              <a:ext cx="33540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 的伙伴是右边的 4、4、8，其中一个 4 仍被占用，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不能继续合并。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9" name="TextBox 9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伙伴堆的实现：相同长度的空闲块链成一组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2" name="c1-cells-1"/>
          <p:cNvGrpSpPr/>
          <p:nvPr/>
        </p:nvGrpSpPr>
        <p:grpSpPr>
          <a:xfrm>
            <a:off x="528066" y="1524000"/>
            <a:ext cx="3422904" cy="2446973"/>
            <a:chOff x="528066" y="1524000"/>
            <a:chExt cx="3422904" cy="2446973"/>
          </a:xfrm>
        </p:grpSpPr>
        <p:sp>
          <p:nvSpPr>
            <p:cNvPr id="7" name="TextBox 7"/>
            <p:cNvSpPr txBox="1"/>
            <p:nvPr/>
          </p:nvSpPr>
          <p:spPr>
            <a:xfrm>
              <a:off x="528066" y="1643062"/>
              <a:ext cx="8057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10 组（2⁹）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417320" y="1524000"/>
              <a:ext cx="41910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80721" y="16430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8066" y="2163128"/>
              <a:ext cx="7241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8 组（2⁷）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417320" y="2044065"/>
              <a:ext cx="4791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528618" y="216312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895475" y="204406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1971675" y="2199322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000250" y="2227898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343150" y="2185035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428875" y="2044065"/>
              <a:ext cx="479108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540173" y="216312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907982" y="204406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974677" y="217074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8066" y="2682240"/>
              <a:ext cx="7241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 组（2³）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417320" y="25631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539906" y="268224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836420" y="2563178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1912620" y="271938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1941195" y="274796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2284095" y="270510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2369820" y="25631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492406" y="268224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788920" y="2563178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855614" y="2690812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28066" y="3202305"/>
              <a:ext cx="7241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 组（2¹）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417320" y="3083242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580721" y="32023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836420" y="3083242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1912620" y="32385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1941195" y="32670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2284095" y="32242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369820" y="3083242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492406" y="320230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788920" y="3083242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2865120" y="32385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2893695" y="32670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3236595" y="32242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3322320" y="3083242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444906" y="320230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741420" y="3083242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808114" y="320992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8066" y="3721418"/>
              <a:ext cx="7241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 组（2⁰）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417320" y="3602355"/>
              <a:ext cx="419100" cy="368618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580721" y="372141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</p:grpSp>
      <p:grpSp>
        <p:nvGrpSpPr>
          <p:cNvPr id="54" name="c1-text-2"/>
          <p:cNvGrpSpPr/>
          <p:nvPr/>
        </p:nvGrpSpPr>
        <p:grpSpPr>
          <a:xfrm>
            <a:off x="527685" y="4160044"/>
            <a:ext cx="4427982" cy="441008"/>
            <a:chOff x="527685" y="4160044"/>
            <a:chExt cx="4427982" cy="441008"/>
          </a:xfrm>
        </p:grpSpPr>
        <p:sp>
          <p:nvSpPr>
            <p:cNvPr id="53" name="TextBox 53"/>
            <p:cNvSpPr txBox="1"/>
            <p:nvPr/>
          </p:nvSpPr>
          <p:spPr>
            <a:xfrm>
              <a:off x="527685" y="4160044"/>
              <a:ext cx="4427982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组号 1～10 对应块长 2⁰～2⁹ 页；链中数字是空闲块的起始页号，如第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 组有从 256、512 开始的两块 128 页的空闲区。</a:t>
              </a:r>
            </a:p>
          </p:txBody>
        </p:sp>
      </p:grpSp>
      <p:grpSp>
        <p:nvGrpSpPr>
          <p:cNvPr id="60" name="c1-card-3"/>
          <p:cNvGrpSpPr/>
          <p:nvPr/>
        </p:nvGrpSpPr>
        <p:grpSpPr>
          <a:xfrm>
            <a:off x="533400" y="4727258"/>
            <a:ext cx="4760595" cy="1443038"/>
            <a:chOff x="533400" y="4727258"/>
            <a:chExt cx="4760595" cy="1443038"/>
          </a:xfrm>
        </p:grpSpPr>
        <p:sp>
          <p:nvSpPr>
            <p:cNvPr id="55" name="Rectangle 55"/>
            <p:cNvSpPr/>
            <p:nvPr/>
          </p:nvSpPr>
          <p:spPr>
            <a:xfrm>
              <a:off x="533400" y="4727258"/>
              <a:ext cx="4760595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42925" y="4860608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58190" y="49139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50862" y="49468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51332" y="5257800"/>
              <a:ext cx="416280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原课件伙伴条件 (3) 写作“后面块的最后页面编号必须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2b 的整数倍”。页从 0 编号时应为“编号 + 1”，例如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 12、13 互为伙伴，13 + 1 = 14 是 2 的倍数。</a:t>
              </a:r>
            </a:p>
          </p:txBody>
        </p:sp>
      </p:grpSp>
      <p:grpSp>
        <p:nvGrpSpPr>
          <p:cNvPr id="75" name="c2-card-1"/>
          <p:cNvGrpSpPr/>
          <p:nvPr/>
        </p:nvGrpSpPr>
        <p:grpSpPr>
          <a:xfrm>
            <a:off x="5598795" y="1524000"/>
            <a:ext cx="6059805" cy="2060258"/>
            <a:chOff x="5598795" y="1524000"/>
            <a:chExt cx="6059805" cy="2060258"/>
          </a:xfrm>
        </p:grpSpPr>
        <p:sp>
          <p:nvSpPr>
            <p:cNvPr id="61" name="Rectangle 61"/>
            <p:cNvSpPr/>
            <p:nvPr/>
          </p:nvSpPr>
          <p:spPr>
            <a:xfrm>
              <a:off x="5598795" y="1524000"/>
              <a:ext cx="6059805" cy="2060258"/>
            </a:xfrm>
            <a:prstGeom prst="roundRect">
              <a:avLst>
                <a:gd name="adj" fmla="val 64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5608320" y="1657350"/>
              <a:ext cx="47625" cy="17935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5823585" y="1710690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920308" y="17435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265354" y="1745932"/>
              <a:ext cx="1715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申请长度为 128 的块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5823585" y="2059305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879263" y="209769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104382" y="2071688"/>
              <a:ext cx="25762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在第 8 组（块长 128）中取一块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5823585" y="2359342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879263" y="239868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104382" y="2371725"/>
              <a:ext cx="51143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8 组已空：在第 9 组取一块 256 页，分配其中 128 页，剩余 128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页记入第 8 组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5823585" y="2917507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5879263" y="29558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104382" y="2928938"/>
              <a:ext cx="50457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9 组也空：在第 10 组取一块 512 页，分割两次，分配 128 页，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剩余 128 页、256 页分别记入第 8 组、第 9 组</a:t>
              </a:r>
            </a:p>
          </p:txBody>
        </p:sp>
      </p:grpSp>
      <p:grpSp>
        <p:nvGrpSpPr>
          <p:cNvPr id="89" name="c2-card-2"/>
          <p:cNvGrpSpPr/>
          <p:nvPr/>
        </p:nvGrpSpPr>
        <p:grpSpPr>
          <a:xfrm>
            <a:off x="5598795" y="3753802"/>
            <a:ext cx="6059805" cy="2416492"/>
            <a:chOff x="5598795" y="3753802"/>
            <a:chExt cx="6059805" cy="2416492"/>
          </a:xfrm>
        </p:grpSpPr>
        <p:sp>
          <p:nvSpPr>
            <p:cNvPr id="76" name="Rectangle 76"/>
            <p:cNvSpPr/>
            <p:nvPr/>
          </p:nvSpPr>
          <p:spPr>
            <a:xfrm>
              <a:off x="5598795" y="3753802"/>
              <a:ext cx="6059805" cy="2416492"/>
            </a:xfrm>
            <a:prstGeom prst="roundRect">
              <a:avLst>
                <a:gd name="adj" fmla="val 5518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5785485" y="394049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5871007" y="397335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伙伴条件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778627" y="4285298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释放是分配的逆过程，要考虑伙伴合并。两个块互为伙伴要同时满足：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5785485" y="4572952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5841163" y="46113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066282" y="4585335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大小相同，都是 b 个页面</a:t>
              </a:r>
            </a:p>
          </p:txBody>
        </p:sp>
        <p:sp>
          <p:nvSpPr>
            <p:cNvPr id="83" name="Ellipse 83"/>
            <p:cNvSpPr/>
            <p:nvPr/>
          </p:nvSpPr>
          <p:spPr>
            <a:xfrm>
              <a:off x="5785485" y="4872990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5841163" y="491137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066282" y="4885373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物理地址连续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5785485" y="517302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5841163" y="52123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6066282" y="5185410"/>
              <a:ext cx="41391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位于后面的块，最后一页的编号 + 1 是 2b 的整数倍</a:t>
              </a:r>
            </a:p>
          </p:txBody>
        </p:sp>
      </p:grpSp>
      <p:grpSp>
        <p:nvGrpSpPr>
          <p:cNvPr id="9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0" name="TextBox 9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28445" cy="909257"/>
            <a:chOff x="520446" y="342900"/>
            <a:chExt cx="60284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284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Linux 的块组、free_area 与块组位图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kv-1"/>
          <p:cNvGrpSpPr/>
          <p:nvPr/>
        </p:nvGrpSpPr>
        <p:grpSpPr>
          <a:xfrm>
            <a:off x="526161" y="1547336"/>
            <a:ext cx="5417439" cy="2331339"/>
            <a:chOff x="526161" y="1547336"/>
            <a:chExt cx="5417439" cy="2331339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页框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026348" y="1547336"/>
              <a:ext cx="13035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静态等长，4KB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507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161" y="19635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26348" y="1963579"/>
              <a:ext cx="3666363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连续的 2ⁱ 个页框（i = 0～9）构成一个块组；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长度为 2ⁱ 的叫块组 i，共 10 个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346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161" y="2647474"/>
              <a:ext cx="12890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free_area[i]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26348" y="2647474"/>
              <a:ext cx="3666363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页框数为 2ⁱ 的块组的空闲区表项，由“空闲块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组指针”和“块组位图指针”组成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2184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161" y="33323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分配单位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26348" y="3332321"/>
              <a:ext cx="362127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2ⁱ 个页框为单位分配、释放，2ⁱ⁻¹ &lt; fn 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2ⁱ，fn 为申请的页框数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002405"/>
            <a:ext cx="5410200" cy="503872"/>
            <a:chOff x="533400" y="4002405"/>
            <a:chExt cx="5410200" cy="503872"/>
          </a:xfrm>
        </p:grpSpPr>
        <p:sp>
          <p:nvSpPr>
            <p:cNvPr id="19" name="Rectangle 19"/>
            <p:cNvSpPr/>
            <p:nvPr/>
          </p:nvSpPr>
          <p:spPr>
            <a:xfrm>
              <a:off x="533400" y="4002405"/>
              <a:ext cx="5410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154805"/>
              <a:ext cx="200026" cy="200025"/>
              <a:chOff x="738188" y="4154805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15480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419925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431038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511" y="4155281"/>
              <a:ext cx="40957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申请 3 个页框：2¹ &lt; 3 ≤ 2²，按 4 个页框分配。</a:t>
              </a:r>
            </a:p>
          </p:txBody>
        </p:sp>
      </p:grpSp>
      <p:grpSp>
        <p:nvGrpSpPr>
          <p:cNvPr id="51" name="c1-cells-3"/>
          <p:cNvGrpSpPr/>
          <p:nvPr/>
        </p:nvGrpSpPr>
        <p:grpSpPr>
          <a:xfrm>
            <a:off x="528066" y="4686300"/>
            <a:ext cx="5415534" cy="705326"/>
            <a:chOff x="528066" y="4686300"/>
            <a:chExt cx="5415534" cy="705326"/>
          </a:xfrm>
        </p:grpSpPr>
        <p:sp>
          <p:nvSpPr>
            <p:cNvPr id="26" name="TextBox 26"/>
            <p:cNvSpPr txBox="1"/>
            <p:nvPr/>
          </p:nvSpPr>
          <p:spPr>
            <a:xfrm>
              <a:off x="528066" y="4817745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块长 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052512" y="4686300"/>
              <a:ext cx="611505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30486" y="48177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0-1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664018" y="4686300"/>
              <a:ext cx="611505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841991" y="48177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2-3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275522" y="4686300"/>
              <a:ext cx="6115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453496" y="48177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4-5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887028" y="4686300"/>
              <a:ext cx="6115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065001" y="48177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6-7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497580" y="4686300"/>
              <a:ext cx="611505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675553" y="48177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8-9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09085" y="4686300"/>
              <a:ext cx="611505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205428" y="4817745"/>
              <a:ext cx="418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10-11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720590" y="4686300"/>
              <a:ext cx="6115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816933" y="4817745"/>
              <a:ext cx="418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12-13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2095" y="4686300"/>
              <a:ext cx="6115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428438" y="4817745"/>
              <a:ext cx="418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14-15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1320165" y="509968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211239" y="5229701"/>
              <a:ext cx="29405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第1位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2543175" y="509968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434249" y="5229701"/>
              <a:ext cx="29405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第2位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3765232" y="509968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656307" y="5229701"/>
              <a:ext cx="29405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第3位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4988242" y="509968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879317" y="5229701"/>
              <a:ext cx="29405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第4位</a:t>
              </a:r>
            </a:p>
          </p:txBody>
        </p:sp>
      </p:grpSp>
      <p:grpSp>
        <p:nvGrpSpPr>
          <p:cNvPr id="53" name="c1-text-4"/>
          <p:cNvGrpSpPr/>
          <p:nvPr/>
        </p:nvGrpSpPr>
        <p:grpSpPr>
          <a:xfrm>
            <a:off x="527304" y="5537835"/>
            <a:ext cx="4769663" cy="234696"/>
            <a:chOff x="527304" y="5537835"/>
            <a:chExt cx="4769663" cy="234696"/>
          </a:xfrm>
        </p:grpSpPr>
        <p:sp>
          <p:nvSpPr>
            <p:cNvPr id="52" name="TextBox 52"/>
            <p:cNvSpPr txBox="1"/>
            <p:nvPr/>
          </p:nvSpPr>
          <p:spPr>
            <a:xfrm>
              <a:off x="527304" y="5537835"/>
              <a:ext cx="47696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块长 2 的位图共 4 位：相邻同色的两块是一对伙伴，各对应 1 位。</a:t>
              </a:r>
            </a:p>
          </p:txBody>
        </p:sp>
      </p:grpSp>
      <p:grpSp>
        <p:nvGrpSpPr>
          <p:cNvPr id="64" name="c2-card-1"/>
          <p:cNvGrpSpPr/>
          <p:nvPr/>
        </p:nvGrpSpPr>
        <p:grpSpPr>
          <a:xfrm>
            <a:off x="6248400" y="1524000"/>
            <a:ext cx="5410200" cy="2165032"/>
            <a:chOff x="6248400" y="1524000"/>
            <a:chExt cx="5410200" cy="2165032"/>
          </a:xfrm>
        </p:grpSpPr>
        <p:sp>
          <p:nvSpPr>
            <p:cNvPr id="54" name="Rectangle 54"/>
            <p:cNvSpPr/>
            <p:nvPr/>
          </p:nvSpPr>
          <p:spPr>
            <a:xfrm>
              <a:off x="6248400" y="1524000"/>
              <a:ext cx="5410200" cy="2165032"/>
            </a:xfrm>
            <a:prstGeom prst="roundRect">
              <a:avLst>
                <a:gd name="adj" fmla="val 61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57925" y="1657350"/>
              <a:ext cx="47625" cy="189833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84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68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块组位图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77381" y="2082641"/>
              <a:ext cx="46762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块组 2ⁱ 按前后顺序两两结成一对伙伴，位图中的 1 位表示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这一对的使用情况：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492240" y="273177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648831" y="2672239"/>
              <a:ext cx="34266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一个空闲，另一个全部或部分占用：置 1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492240" y="304990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648831" y="2989421"/>
              <a:ext cx="36178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两个都空闲，或都被全部或部分占用：置 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78524" y="3304222"/>
              <a:ext cx="39054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例：块组 2¹ 中，页框 0、1 和页框 2、3 是一对伙伴。</a:t>
              </a:r>
            </a:p>
          </p:txBody>
        </p:sp>
      </p:grpSp>
      <p:grpSp>
        <p:nvGrpSpPr>
          <p:cNvPr id="85" name="c2-table-2"/>
          <p:cNvGrpSpPr/>
          <p:nvPr/>
        </p:nvGrpSpPr>
        <p:grpSpPr>
          <a:xfrm>
            <a:off x="6243066" y="3870008"/>
            <a:ext cx="5415534" cy="2403729"/>
            <a:chOff x="6243066" y="3870008"/>
            <a:chExt cx="5415534" cy="2403729"/>
          </a:xfrm>
        </p:grpSpPr>
        <p:sp>
          <p:nvSpPr>
            <p:cNvPr id="65" name="Rectangle 65"/>
            <p:cNvSpPr/>
            <p:nvPr/>
          </p:nvSpPr>
          <p:spPr>
            <a:xfrm>
              <a:off x="6248400" y="3870008"/>
              <a:ext cx="5410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542722" y="399764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一对伙伴的状态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163687" y="399764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518332" y="399764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释放其中一块时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350889" y="442245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都空闲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00034" y="442245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623554" y="4422458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不会发生（空闲块不会再被释放）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248400" y="47139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6248400" y="4718685"/>
              <a:ext cx="5410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350889" y="495395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一个空闲、一个占用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200034" y="49539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623554" y="4847272"/>
              <a:ext cx="2755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释放占用的那块，两块都空闲：合并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，位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改为 0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248400" y="53511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350889" y="5484495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两个都（全部或部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分）占用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200034" y="559117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623554" y="5484495"/>
              <a:ext cx="2755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释放后一个空闲、一个占用：不合并，位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改为 1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248400" y="3870008"/>
              <a:ext cx="5410200" cy="21240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7975282" y="3870008"/>
              <a:ext cx="9525" cy="21240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8516302" y="3870008"/>
              <a:ext cx="9525" cy="21240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243066" y="6068378"/>
              <a:ext cx="27387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释放时看位：为 1 可以合并，为 0 不能合并</a:t>
              </a:r>
            </a:p>
          </p:txBody>
        </p:sp>
      </p:grpSp>
      <p:grpSp>
        <p:nvGrpSpPr>
          <p:cNvPr id="8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6" name="TextBox 86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79746" cy="909257"/>
            <a:chOff x="520446" y="342900"/>
            <a:chExt cx="56797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797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例：16 个页框时的空闲链和三张位图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782973" cy="264033"/>
            <a:chOff x="526542" y="1545907"/>
            <a:chExt cx="778297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7829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页框 0、2、6、7、13 已占用（深色），其余空闲。假设共 6 个块组，块组 3～5 的空闲链为空。</a:t>
              </a:r>
            </a:p>
          </p:txBody>
        </p:sp>
      </p:grpSp>
      <p:grpSp>
        <p:nvGrpSpPr>
          <p:cNvPr id="42" name="c1-cells-1"/>
          <p:cNvGrpSpPr/>
          <p:nvPr/>
        </p:nvGrpSpPr>
        <p:grpSpPr>
          <a:xfrm>
            <a:off x="528447" y="1928812"/>
            <a:ext cx="4982718" cy="368618"/>
            <a:chOff x="528447" y="1928812"/>
            <a:chExt cx="4982718" cy="368618"/>
          </a:xfrm>
        </p:grpSpPr>
        <p:sp>
          <p:nvSpPr>
            <p:cNvPr id="9" name="TextBox 9"/>
            <p:cNvSpPr txBox="1"/>
            <p:nvPr/>
          </p:nvSpPr>
          <p:spPr>
            <a:xfrm>
              <a:off x="528447" y="20521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15352" y="1928812"/>
              <a:ext cx="287655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16133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203008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03788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489710" y="1928812"/>
              <a:ext cx="287655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90490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777365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878145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064068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164848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351722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452503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638425" y="1928812"/>
              <a:ext cx="287655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739205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2926080" y="1928812"/>
              <a:ext cx="287655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026860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212782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313563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500438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601218" y="205216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787140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849826" y="205216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074795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137481" y="205216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362450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424184" y="205216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649152" y="1928812"/>
              <a:ext cx="287655" cy="368618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711839" y="205216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936808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998541" y="205216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223510" y="1928812"/>
              <a:ext cx="287655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86196" y="205216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  <p:grpSp>
        <p:nvGrpSpPr>
          <p:cNvPr id="76" name="c1-cells-2"/>
          <p:cNvGrpSpPr/>
          <p:nvPr/>
        </p:nvGrpSpPr>
        <p:grpSpPr>
          <a:xfrm>
            <a:off x="528066" y="2466975"/>
            <a:ext cx="3596259" cy="1408748"/>
            <a:chOff x="528066" y="2466975"/>
            <a:chExt cx="3596259" cy="1408748"/>
          </a:xfrm>
        </p:grpSpPr>
        <p:sp>
          <p:nvSpPr>
            <p:cNvPr id="43" name="TextBox 43"/>
            <p:cNvSpPr txBox="1"/>
            <p:nvPr/>
          </p:nvSpPr>
          <p:spPr>
            <a:xfrm>
              <a:off x="528066" y="2586038"/>
              <a:ext cx="9902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free_area[2]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590675" y="2466975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754076" y="258603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2009775" y="246697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076469" y="25946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28066" y="3106102"/>
              <a:ext cx="9902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free_area[1]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590675" y="298704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754076" y="310610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009775" y="2987040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2085975" y="314325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2114550" y="317182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2457450" y="312896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2543175" y="298704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2665761" y="31061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2962275" y="2987040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028969" y="3114675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28066" y="3626168"/>
              <a:ext cx="9902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free_area[0]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590675" y="3507105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754076" y="36261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2009775" y="350710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2085975" y="3662362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64" name="Freeform 64"/>
            <p:cNvSpPr/>
            <p:nvPr/>
          </p:nvSpPr>
          <p:spPr>
            <a:xfrm>
              <a:off x="2114550" y="3690938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2457450" y="3648075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2543175" y="3507105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2706576" y="362616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2962275" y="350710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Ellipse 69"/>
            <p:cNvSpPr/>
            <p:nvPr/>
          </p:nvSpPr>
          <p:spPr>
            <a:xfrm>
              <a:off x="3038475" y="3662362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70" name="Freeform 70"/>
            <p:cNvSpPr/>
            <p:nvPr/>
          </p:nvSpPr>
          <p:spPr>
            <a:xfrm>
              <a:off x="3067050" y="3690938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3409950" y="3648075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3495675" y="3507105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3618261" y="362616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3914775" y="3507105"/>
              <a:ext cx="20955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3981469" y="363378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</p:grpSp>
      <p:grpSp>
        <p:nvGrpSpPr>
          <p:cNvPr id="78" name="c1-text-3"/>
          <p:cNvGrpSpPr/>
          <p:nvPr/>
        </p:nvGrpSpPr>
        <p:grpSpPr>
          <a:xfrm>
            <a:off x="527685" y="4063841"/>
            <a:ext cx="4813595" cy="220028"/>
            <a:chOff x="527685" y="4063841"/>
            <a:chExt cx="4813595" cy="220028"/>
          </a:xfrm>
        </p:grpSpPr>
        <p:sp>
          <p:nvSpPr>
            <p:cNvPr id="77" name="TextBox 77"/>
            <p:cNvSpPr txBox="1"/>
            <p:nvPr/>
          </p:nvSpPr>
          <p:spPr>
            <a:xfrm>
              <a:off x="527685" y="4063841"/>
              <a:ext cx="4813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链中是空闲块的首页框号：块组 2 有 8～11，块组 1 有 4～5、14～15。</a:t>
              </a:r>
            </a:p>
          </p:txBody>
        </p:sp>
      </p:grpSp>
      <p:grpSp>
        <p:nvGrpSpPr>
          <p:cNvPr id="85" name="c1-callout-4"/>
          <p:cNvGrpSpPr/>
          <p:nvPr/>
        </p:nvGrpSpPr>
        <p:grpSpPr>
          <a:xfrm>
            <a:off x="533400" y="4410075"/>
            <a:ext cx="4977765" cy="729615"/>
            <a:chOff x="533400" y="4410075"/>
            <a:chExt cx="4977765" cy="729615"/>
          </a:xfrm>
        </p:grpSpPr>
        <p:sp>
          <p:nvSpPr>
            <p:cNvPr id="79" name="Rectangle 79"/>
            <p:cNvSpPr/>
            <p:nvPr/>
          </p:nvSpPr>
          <p:spPr>
            <a:xfrm>
              <a:off x="533400" y="4410075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38188" y="4674870"/>
              <a:ext cx="200026" cy="200025"/>
              <a:chOff x="738188" y="4674870"/>
              <a:chExt cx="200026" cy="20002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738188" y="46748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777926" y="47193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812642" y="48304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1040892" y="4555808"/>
              <a:ext cx="40256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4、5 两个页框都空闲，又互为伙伴，所以合成一块挂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 free_area[1]，不会分别挂在 free_area[0]。</a:t>
              </a:r>
            </a:p>
          </p:txBody>
        </p:sp>
      </p:grpSp>
      <p:grpSp>
        <p:nvGrpSpPr>
          <p:cNvPr id="105" name="c2-table-1"/>
          <p:cNvGrpSpPr/>
          <p:nvPr/>
        </p:nvGrpSpPr>
        <p:grpSpPr>
          <a:xfrm>
            <a:off x="5815965" y="1928812"/>
            <a:ext cx="5842635" cy="2000250"/>
            <a:chOff x="5815965" y="1928812"/>
            <a:chExt cx="5842635" cy="2000250"/>
          </a:xfrm>
        </p:grpSpPr>
        <p:sp>
          <p:nvSpPr>
            <p:cNvPr id="86" name="Rectangle 86"/>
            <p:cNvSpPr/>
            <p:nvPr/>
          </p:nvSpPr>
          <p:spPr>
            <a:xfrm>
              <a:off x="5815965" y="1928812"/>
              <a:ext cx="584263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126201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位图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7518861" y="2050256"/>
              <a:ext cx="18520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伙伴对（低地址 → 高地址）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0592194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各位的值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058918" y="255031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块长 1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6847522" y="2450306"/>
              <a:ext cx="272821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(0,1) (2,3) (4,5) (6,7) (8,9) (10,11)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(12,13) (14,15)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0403726" y="2550319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1 1 0 0 0 0 1 0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5815965" y="29241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5815965" y="2928938"/>
              <a:ext cx="584263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6058918" y="3150394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块长 2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6847522" y="3050381"/>
              <a:ext cx="249351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(0-1, 2-3) (4-5, 6-7) (8-9, 10-11)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(12-13, 14-15)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0660042" y="3150394"/>
              <a:ext cx="478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0 1 0 1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5815965" y="352425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6058918" y="365045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块长 4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6847522" y="3650456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(0-3, 4-7) (8-11, 12-15)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10788200" y="3650456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0 1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5815965" y="1928812"/>
              <a:ext cx="584263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6745605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10134600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17" name="c2-card-2"/>
          <p:cNvGrpSpPr/>
          <p:nvPr/>
        </p:nvGrpSpPr>
        <p:grpSpPr>
          <a:xfrm>
            <a:off x="5815965" y="4098608"/>
            <a:ext cx="5842635" cy="2047875"/>
            <a:chOff x="5815965" y="4098608"/>
            <a:chExt cx="5842635" cy="2047875"/>
          </a:xfrm>
        </p:grpSpPr>
        <p:sp>
          <p:nvSpPr>
            <p:cNvPr id="106" name="Rectangle 106"/>
            <p:cNvSpPr/>
            <p:nvPr/>
          </p:nvSpPr>
          <p:spPr>
            <a:xfrm>
              <a:off x="5815965" y="4098608"/>
              <a:ext cx="5842635" cy="2047875"/>
            </a:xfrm>
            <a:prstGeom prst="roundRect">
              <a:avLst>
                <a:gd name="adj" fmla="val 65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5825490" y="4231958"/>
              <a:ext cx="47625" cy="17811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6040755" y="428529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6129376" y="431815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怎样读</a:t>
              </a:r>
            </a:p>
          </p:txBody>
        </p:sp>
        <p:sp>
          <p:nvSpPr>
            <p:cNvPr id="110" name="Ellipse 110"/>
            <p:cNvSpPr/>
            <p:nvPr/>
          </p:nvSpPr>
          <p:spPr>
            <a:xfrm>
              <a:off x="6049328" y="468630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205347" y="4630102"/>
              <a:ext cx="4057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 12 空闲、13 占用：块长 1 位图的第 7 位为 1</a:t>
              </a:r>
            </a:p>
          </p:txBody>
        </p:sp>
        <p:sp>
          <p:nvSpPr>
            <p:cNvPr id="112" name="Ellipse 112"/>
            <p:cNvSpPr/>
            <p:nvPr/>
          </p:nvSpPr>
          <p:spPr>
            <a:xfrm>
              <a:off x="6049328" y="498633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6205347" y="4930140"/>
              <a:ext cx="40028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4～5 空闲、6～7 占用：块长 2 位图的第 2 位为 1</a:t>
              </a:r>
            </a:p>
          </p:txBody>
        </p:sp>
        <p:sp>
          <p:nvSpPr>
            <p:cNvPr id="114" name="Ellipse 114"/>
            <p:cNvSpPr/>
            <p:nvPr/>
          </p:nvSpPr>
          <p:spPr>
            <a:xfrm>
              <a:off x="6049328" y="528637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6205347" y="5230178"/>
              <a:ext cx="499433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8～11 整块空闲，伙伴 12～15 部分占用：块长 4 位图的第 2 位为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6035040" y="5784056"/>
              <a:ext cx="5514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空闲的 1、3、12 各自的伙伴 0、2、13 都被占用，只能单独挂在 free_area[0]。</a:t>
              </a:r>
            </a:p>
          </p:txBody>
        </p:sp>
      </p:grpSp>
      <p:grpSp>
        <p:nvGrpSpPr>
          <p:cNvPr id="12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8" name="TextBox 118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10663" cy="909257"/>
            <a:chOff x="520446" y="342900"/>
            <a:chExt cx="78106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106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 3 个页框、释放页框 13：空闲链和位图怎样变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card-1"/>
          <p:cNvGrpSpPr/>
          <p:nvPr/>
        </p:nvGrpSpPr>
        <p:grpSpPr>
          <a:xfrm>
            <a:off x="533400" y="1524000"/>
            <a:ext cx="5410200" cy="2493645"/>
            <a:chOff x="533400" y="1524000"/>
            <a:chExt cx="5410200" cy="24936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493645"/>
            </a:xfrm>
            <a:prstGeom prst="roundRect">
              <a:avLst>
                <a:gd name="adj" fmla="val 53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269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059" y="175641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分配例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86281" y="1756886"/>
              <a:ext cx="10190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 fn = 3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9620" y="208883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27965" y="2128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60514" y="2100739"/>
              <a:ext cx="37612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2¹ &lt; 3 ≤ 2²，在块组 2 中分配 2² = 4 个页框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9620" y="2406015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27965" y="244635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0514" y="2418874"/>
              <a:ext cx="438772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free_area[2] 的第一个空闲块是 8，分配 8、9、10、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11，块组 2 的空闲链变空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69620" y="299561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7965" y="30349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0514" y="3007519"/>
              <a:ext cx="443280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块长 4 位图 (8-11, 12-15)：两块都被占用，由 1 改为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69620" y="3584257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27965" y="362459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0514" y="3597116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块长 1、块长 2 的位图不变</a:t>
              </a:r>
            </a:p>
          </p:txBody>
        </p:sp>
      </p:grpSp>
      <p:grpSp>
        <p:nvGrpSpPr>
          <p:cNvPr id="58" name="c1-cells-2"/>
          <p:cNvGrpSpPr/>
          <p:nvPr/>
        </p:nvGrpSpPr>
        <p:grpSpPr>
          <a:xfrm>
            <a:off x="528447" y="4197668"/>
            <a:ext cx="5415153" cy="394335"/>
            <a:chOff x="528447" y="4197668"/>
            <a:chExt cx="5415153" cy="394335"/>
          </a:xfrm>
        </p:grpSpPr>
        <p:sp>
          <p:nvSpPr>
            <p:cNvPr id="25" name="TextBox 25"/>
            <p:cNvSpPr txBox="1"/>
            <p:nvPr/>
          </p:nvSpPr>
          <p:spPr>
            <a:xfrm>
              <a:off x="528447" y="433435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分配后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40130" y="4197668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150435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346835" y="4197668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457140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653540" y="4197668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762893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959292" y="4197668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069598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265998" y="4197668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376303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572702" y="4197668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2683008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2879408" y="4197668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988760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185160" y="4197668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295465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3491865" y="4197668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602170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3798570" y="4197668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908875" y="4334351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105275" y="4197668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176534" y="433435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411028" y="4197668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483239" y="433435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4717732" y="4197668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789944" y="433435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024438" y="4197668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096649" y="433435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31142" y="4197668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402401" y="433435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636895" y="4197668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709106" y="433435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  <p:grpSp>
        <p:nvGrpSpPr>
          <p:cNvPr id="79" name="c2-card-1"/>
          <p:cNvGrpSpPr/>
          <p:nvPr/>
        </p:nvGrpSpPr>
        <p:grpSpPr>
          <a:xfrm>
            <a:off x="6248400" y="1524000"/>
            <a:ext cx="5410200" cy="2811780"/>
            <a:chOff x="6248400" y="1524000"/>
            <a:chExt cx="5410200" cy="2811780"/>
          </a:xfrm>
        </p:grpSpPr>
        <p:sp>
          <p:nvSpPr>
            <p:cNvPr id="59" name="Rectangle 59"/>
            <p:cNvSpPr/>
            <p:nvPr/>
          </p:nvSpPr>
          <p:spPr>
            <a:xfrm>
              <a:off x="6248400" y="1524000"/>
              <a:ext cx="5410200" cy="2811780"/>
            </a:xfrm>
            <a:prstGeom prst="roundRect">
              <a:avLst>
                <a:gd name="adj" fmla="val 47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257925" y="1657350"/>
              <a:ext cx="47625" cy="25450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484620" y="172212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572060" y="175641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释放例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201281" y="1756886"/>
              <a:ext cx="14424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接着释放页框 13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484620" y="208883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42965" y="2128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775514" y="2100739"/>
              <a:ext cx="35318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空闲，12、13 是伙伴，合并成 12～13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484620" y="2406015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542965" y="244635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775514" y="2418874"/>
              <a:ext cx="41817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14～15 空闲，与 12～13 是伙伴，合并成 12～15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484620" y="2724150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542965" y="276353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775514" y="2736056"/>
              <a:ext cx="442379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12～15 的伙伴 8～11 刚被占用，停止合并，把 12 挂到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free_area[2]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6484620" y="3312795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542965" y="335313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775514" y="3325654"/>
              <a:ext cx="46405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free_area[0] 摘掉 12，从 free_area[1] 摘掉 14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6484620" y="3630930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542965" y="367126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775514" y="3642836"/>
              <a:ext cx="443280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位图：块长 1 的 (12,13) 和块长 2 的 (12-13, 14-15)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1 改为 0；块长 4 的 (8-11, 12-15) 由 0 改为 1</a:t>
              </a:r>
            </a:p>
          </p:txBody>
        </p:sp>
      </p:grpSp>
      <p:grpSp>
        <p:nvGrpSpPr>
          <p:cNvPr id="113" name="c2-cells-2"/>
          <p:cNvGrpSpPr/>
          <p:nvPr/>
        </p:nvGrpSpPr>
        <p:grpSpPr>
          <a:xfrm>
            <a:off x="6243447" y="4515802"/>
            <a:ext cx="5415153" cy="394335"/>
            <a:chOff x="6243447" y="4515802"/>
            <a:chExt cx="5415153" cy="394335"/>
          </a:xfrm>
        </p:grpSpPr>
        <p:sp>
          <p:nvSpPr>
            <p:cNvPr id="80" name="TextBox 80"/>
            <p:cNvSpPr txBox="1"/>
            <p:nvPr/>
          </p:nvSpPr>
          <p:spPr>
            <a:xfrm>
              <a:off x="6243447" y="465153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释放后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755130" y="4515802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865435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7061835" y="4515802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7172140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367588" y="4515802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477893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7674292" y="4515802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7784598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7980998" y="4515802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8091303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8287702" y="4515802"/>
              <a:ext cx="30670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8398008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8593455" y="4515802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8703760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8900160" y="4515802"/>
              <a:ext cx="306705" cy="394335"/>
            </a:xfrm>
            <a:prstGeom prst="rect">
              <a:avLst/>
            </a:prstGeom>
            <a:solidFill>
              <a:srgbClr val="0E7C86"/>
            </a:solidFill>
            <a:ln w="15240">
              <a:solidFill>
                <a:srgbClr val="0E7C86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9010465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9206865" y="4515802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9317170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9513570" y="4515802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9623875" y="465153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9819322" y="4515802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9891534" y="465153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10126028" y="4515802"/>
              <a:ext cx="306705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10198239" y="465153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105" name="Rectangle 105"/>
            <p:cNvSpPr/>
            <p:nvPr/>
          </p:nvSpPr>
          <p:spPr>
            <a:xfrm>
              <a:off x="10432732" y="4515802"/>
              <a:ext cx="306705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10504944" y="465153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107" name="Rectangle 107"/>
            <p:cNvSpPr/>
            <p:nvPr/>
          </p:nvSpPr>
          <p:spPr>
            <a:xfrm>
              <a:off x="10739438" y="4515802"/>
              <a:ext cx="306705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10811649" y="465153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109" name="Rectangle 109"/>
            <p:cNvSpPr/>
            <p:nvPr/>
          </p:nvSpPr>
          <p:spPr>
            <a:xfrm>
              <a:off x="11045190" y="4515802"/>
              <a:ext cx="306705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11117401" y="465153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11351895" y="4515802"/>
              <a:ext cx="306705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12" name="TextBox 112"/>
            <p:cNvSpPr txBox="1"/>
            <p:nvPr/>
          </p:nvSpPr>
          <p:spPr>
            <a:xfrm>
              <a:off x="11424106" y="4651534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  <p:grpSp>
        <p:nvGrpSpPr>
          <p:cNvPr id="11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114" name="Rectangle 11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117" name="Group 117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16" name="Freeform 116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18" name="TextBox 118"/>
            <p:cNvSpPr txBox="1"/>
            <p:nvPr/>
          </p:nvSpPr>
          <p:spPr>
            <a:xfrm>
              <a:off x="1040511" y="6011704"/>
              <a:ext cx="73454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释放后空闲链：free_area[0] 为 1、3；free_area[1] 为 4；free_area[2] 为 12。</a:t>
              </a:r>
            </a:p>
          </p:txBody>
        </p:sp>
      </p:grpSp>
      <p:grpSp>
        <p:nvGrpSpPr>
          <p:cNvPr id="12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0" name="TextBox 120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伙伴堆的分配与释放步骤，以及内部碎片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416169" cy="3233071"/>
            <a:chOff x="533400" y="1533525"/>
            <a:chExt cx="5416169" cy="3233071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422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9557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40295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分配：定块组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48247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 fn 个页框，取 2ⁱ⁻¹ &lt; fn ≤ 2ⁱ，从块组 i 起找到第一个空闲链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非空的块组 j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4536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分配：取块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746534"/>
              <a:ext cx="49238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在块组 j 的第一个空闲块中分配 2ⁱ 个页框，调整块组 j 的空闲链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10419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分配：挂回剩余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397091"/>
              <a:ext cx="47678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2ʲ &gt; 2ⁱ，剩下的 2ʲ − 2ⁱ 个页框拆成 2ⁱ、2ⁱ⁺¹、…、2ʲ⁻¹ 各一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块，挂到相应块组的空闲链；修改位图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99002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282916"/>
              <a:ext cx="50035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释放的 2ⁱ 个页框与相邻的空闲伙伴逐级合并成大空闲区，挂到相应块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组的空闲链；修改位图</a:t>
              </a:r>
            </a:p>
          </p:txBody>
        </p:sp>
      </p:grpSp>
      <p:grpSp>
        <p:nvGrpSpPr>
          <p:cNvPr id="32" name="c1-card-2"/>
          <p:cNvGrpSpPr/>
          <p:nvPr/>
        </p:nvGrpSpPr>
        <p:grpSpPr>
          <a:xfrm>
            <a:off x="533400" y="4945380"/>
            <a:ext cx="5626418" cy="1384935"/>
            <a:chOff x="533400" y="4945380"/>
            <a:chExt cx="5626418" cy="1384935"/>
          </a:xfrm>
        </p:grpSpPr>
        <p:sp>
          <p:nvSpPr>
            <p:cNvPr id="25" name="Rectangle 25"/>
            <p:cNvSpPr/>
            <p:nvPr/>
          </p:nvSpPr>
          <p:spPr>
            <a:xfrm>
              <a:off x="533400" y="4945380"/>
              <a:ext cx="5626418" cy="1384935"/>
            </a:xfrm>
            <a:prstGeom prst="roundRect">
              <a:avLst>
                <a:gd name="adj" fmla="val 96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5078730"/>
              <a:ext cx="47625" cy="11182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81050" y="515493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67308" y="519064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拆分例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524000" y="5190172"/>
              <a:ext cx="3137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只有块组 5 有空闲块时申请 fn = 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3430" y="5551170"/>
              <a:ext cx="51038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2¹ &lt; 3 ≤ 2²，i = 2，找到 j = 5；从 32 个页框中分配 4 个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3430" y="5886450"/>
              <a:ext cx="49221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剩下 28 = 4 + 8 + 16，分别挂到块组 2、3、4 的空闲链</a:t>
              </a:r>
            </a:p>
          </p:txBody>
        </p:sp>
      </p:grpSp>
      <p:grpSp>
        <p:nvGrpSpPr>
          <p:cNvPr id="39" name="c2-card-1"/>
          <p:cNvGrpSpPr/>
          <p:nvPr/>
        </p:nvGrpSpPr>
        <p:grpSpPr>
          <a:xfrm>
            <a:off x="6464618" y="1524000"/>
            <a:ext cx="5193982" cy="1335405"/>
            <a:chOff x="6464618" y="1524000"/>
            <a:chExt cx="5193982" cy="1335405"/>
          </a:xfrm>
        </p:grpSpPr>
        <p:sp>
          <p:nvSpPr>
            <p:cNvPr id="33" name="Rectangle 33"/>
            <p:cNvSpPr/>
            <p:nvPr/>
          </p:nvSpPr>
          <p:spPr>
            <a:xfrm>
              <a:off x="6464618" y="1524000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74142" y="165735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13295" y="1768792"/>
              <a:ext cx="36227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内部碎片（internal fragmentation）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04648" y="2129790"/>
              <a:ext cx="4482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例：申请 17 个页框，2⁴ &lt; 17 ≤ 2⁵，要在块组 5 分配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个页框，浪费 15 个。</a:t>
              </a:r>
            </a:p>
          </p:txBody>
        </p:sp>
      </p:grpSp>
      <p:grpSp>
        <p:nvGrpSpPr>
          <p:cNvPr id="51" name="c2-table-2"/>
          <p:cNvGrpSpPr/>
          <p:nvPr/>
        </p:nvGrpSpPr>
        <p:grpSpPr>
          <a:xfrm>
            <a:off x="6464618" y="3049905"/>
            <a:ext cx="5193982" cy="2026920"/>
            <a:chOff x="6464618" y="3049905"/>
            <a:chExt cx="5193982" cy="2026920"/>
          </a:xfrm>
        </p:grpSpPr>
        <p:sp>
          <p:nvSpPr>
            <p:cNvPr id="40" name="Rectangle 40"/>
            <p:cNvSpPr/>
            <p:nvPr/>
          </p:nvSpPr>
          <p:spPr>
            <a:xfrm>
              <a:off x="6464618" y="3049905"/>
              <a:ext cx="519398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48868" y="31856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解决办法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17697" y="31856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72441" y="3747611"/>
              <a:ext cx="125897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second memory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allocator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42198" y="3634264"/>
              <a:ext cx="2874010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实际申请 fn &lt; 2ⁱ 时，把多出的 2ⁱ − fn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个页框按 2 的整数次幂切分（carves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slabs），单独管理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464618" y="43957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64618" y="440055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72441" y="4536281"/>
              <a:ext cx="112242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third memory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allocator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442198" y="4536281"/>
              <a:ext cx="2939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进程的物理空间不要求连续时，由它分配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不连续的内存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3049905"/>
              <a:ext cx="5193982" cy="20269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329612" y="3049905"/>
              <a:ext cx="9525" cy="20269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callout-3"/>
          <p:cNvGrpSpPr/>
          <p:nvPr/>
        </p:nvGrpSpPr>
        <p:grpSpPr>
          <a:xfrm>
            <a:off x="6464618" y="5267325"/>
            <a:ext cx="5193982" cy="1059180"/>
            <a:chOff x="6464618" y="5267325"/>
            <a:chExt cx="5193982" cy="1059180"/>
          </a:xfrm>
        </p:grpSpPr>
        <p:sp>
          <p:nvSpPr>
            <p:cNvPr id="52" name="Rectangle 52"/>
            <p:cNvSpPr/>
            <p:nvPr/>
          </p:nvSpPr>
          <p:spPr>
            <a:xfrm>
              <a:off x="6464618" y="5267325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669405" y="5696903"/>
              <a:ext cx="200026" cy="200026"/>
              <a:chOff x="6669405" y="5696903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669405" y="56969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769418" y="57635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758305" y="57969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971348" y="5415915"/>
              <a:ext cx="42729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现在的 Linux 中，slab 分配器把整页切成小对象供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内核数据结构使用；vmalloc 分配物理上不连续的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62996" cy="909257"/>
            <a:chOff x="520446" y="342900"/>
            <a:chExt cx="96629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629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7.5.2 Windows Vista：32 位地址空间，用户和系统各占 2GB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table-1"/>
          <p:cNvGrpSpPr/>
          <p:nvPr/>
        </p:nvGrpSpPr>
        <p:grpSpPr>
          <a:xfrm>
            <a:off x="527685" y="1524000"/>
            <a:ext cx="5415915" cy="2296001"/>
            <a:chOff x="527685" y="1524000"/>
            <a:chExt cx="5415915" cy="229600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9382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地址范围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7298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46655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02042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80000000H～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FFFFFFFFH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64283" y="2108359"/>
              <a:ext cx="6631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系统空间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2GB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454908" y="2108359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操作系统驻留代码、直接映射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区、页交换区、非交换区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02042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00000000H～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7FFFFFFFH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64283" y="2783681"/>
              <a:ext cx="6631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用户空间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2GB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54908" y="289702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用户代码和数据，页交换区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41020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151698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342322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7685" y="3399949"/>
              <a:ext cx="503250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1. 进程地址空间：虚拟地址 32 位，寻址范围 4GB；低端 2GB 为用户空间，高端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2GB 为系统空间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3966210"/>
            <a:ext cx="5410200" cy="782955"/>
            <a:chOff x="533400" y="3966210"/>
            <a:chExt cx="5410200" cy="782955"/>
          </a:xfrm>
        </p:grpSpPr>
        <p:sp>
          <p:nvSpPr>
            <p:cNvPr id="24" name="Rectangle 24"/>
            <p:cNvSpPr/>
            <p:nvPr/>
          </p:nvSpPr>
          <p:spPr>
            <a:xfrm>
              <a:off x="533400" y="396621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257675"/>
              <a:ext cx="200026" cy="200025"/>
              <a:chOff x="738188" y="4257675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42576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77926" y="43021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2642" y="44132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4114800"/>
              <a:ext cx="44919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每个进程有自己的 2GB 用户空间；高端 2GB 系统空间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在所有进程中映射的是同一份操作系统。</a:t>
              </a:r>
            </a:p>
          </p:txBody>
        </p:sp>
      </p:grpSp>
      <p:grpSp>
        <p:nvGrpSpPr>
          <p:cNvPr id="37" name="c1-callout-3"/>
          <p:cNvGrpSpPr/>
          <p:nvPr/>
        </p:nvGrpSpPr>
        <p:grpSpPr>
          <a:xfrm>
            <a:off x="533400" y="4939665"/>
            <a:ext cx="5410200" cy="782955"/>
            <a:chOff x="533400" y="4939665"/>
            <a:chExt cx="5410200" cy="782955"/>
          </a:xfrm>
        </p:grpSpPr>
        <p:sp>
          <p:nvSpPr>
            <p:cNvPr id="31" name="Rectangle 31"/>
            <p:cNvSpPr/>
            <p:nvPr/>
          </p:nvSpPr>
          <p:spPr>
            <a:xfrm>
              <a:off x="533400" y="493966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231130"/>
              <a:ext cx="200026" cy="200026"/>
              <a:chOff x="738188" y="5231130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2311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8200" y="52978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27088" y="533114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088255"/>
              <a:ext cx="44062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 7.5 节目录写作“Windows 10 存储管理”，正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文讲的是 Windows Vista，本讲义按正文整理。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248400" y="1524000"/>
            <a:ext cx="5410200" cy="1701165"/>
            <a:chOff x="6248400" y="1524000"/>
            <a:chExt cx="5410200" cy="1701165"/>
          </a:xfrm>
        </p:grpSpPr>
        <p:sp>
          <p:nvSpPr>
            <p:cNvPr id="38" name="Rectangle 38"/>
            <p:cNvSpPr/>
            <p:nvPr/>
          </p:nvSpPr>
          <p:spPr>
            <a:xfrm>
              <a:off x="6248400" y="1524000"/>
              <a:ext cx="5410200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57925" y="1657350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96050" y="1733550"/>
              <a:ext cx="368522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74099" y="1769269"/>
              <a:ext cx="3730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虚拟存储管理器（Virtual Memory Manager，VMM）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59880" y="211074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负责存储管理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01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59880" y="2446020"/>
              <a:ext cx="34594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Win32 提供一组与存储管理相关的调用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501765" y="28441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59880" y="2781300"/>
              <a:ext cx="34783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核心中有 6 个专门负责存储管理的线程</a:t>
              </a:r>
            </a:p>
          </p:txBody>
        </p:sp>
      </p:grpSp>
      <p:grpSp>
        <p:nvGrpSpPr>
          <p:cNvPr id="56" name="c2-card-2"/>
          <p:cNvGrpSpPr/>
          <p:nvPr/>
        </p:nvGrpSpPr>
        <p:grpSpPr>
          <a:xfrm>
            <a:off x="6248400" y="3415665"/>
            <a:ext cx="5410200" cy="2306955"/>
            <a:chOff x="6248400" y="3415665"/>
            <a:chExt cx="5410200" cy="2306955"/>
          </a:xfrm>
        </p:grpSpPr>
        <p:sp>
          <p:nvSpPr>
            <p:cNvPr id="49" name="Rectangle 49"/>
            <p:cNvSpPr/>
            <p:nvPr/>
          </p:nvSpPr>
          <p:spPr>
            <a:xfrm>
              <a:off x="6248400" y="3415665"/>
              <a:ext cx="5410200" cy="2306955"/>
            </a:xfrm>
            <a:prstGeom prst="roundRect">
              <a:avLst>
                <a:gd name="adj" fmla="val 57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57925" y="3549015"/>
              <a:ext cx="47625" cy="20402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96050" y="3625215"/>
              <a:ext cx="198310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41809" y="3660934"/>
              <a:ext cx="18915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 存储管理方式：虚拟页式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88430" y="4002405"/>
              <a:ext cx="38555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页面尺寸：4KB～64KB，随处理器而定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88430" y="4337685"/>
              <a:ext cx="4625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可交换页面：用户空间 2GB 以页为单位都可交换；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系统空间只有部分页面（如动态链接库）可交换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88430" y="4958715"/>
              <a:ext cx="32360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页表结构：二级页表，见下一页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44811" cy="909257"/>
            <a:chOff x="520446" y="342900"/>
            <a:chExt cx="79448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448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Vista 的二级页表：虚拟地址按 10、10、12 位拆开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ells-1"/>
          <p:cNvGrpSpPr/>
          <p:nvPr/>
        </p:nvGrpSpPr>
        <p:grpSpPr>
          <a:xfrm>
            <a:off x="527304" y="1524000"/>
            <a:ext cx="3940873" cy="419100"/>
            <a:chOff x="527304" y="1524000"/>
            <a:chExt cx="3940873" cy="419100"/>
          </a:xfrm>
        </p:grpSpPr>
        <p:sp>
          <p:nvSpPr>
            <p:cNvPr id="7" name="TextBox 7"/>
            <p:cNvSpPr txBox="1"/>
            <p:nvPr/>
          </p:nvSpPr>
          <p:spPr>
            <a:xfrm>
              <a:off x="527304" y="16592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虚拟地址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276350" y="1524000"/>
              <a:ext cx="1063942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55324" y="1659255"/>
              <a:ext cx="9069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PDE 31～22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340292" y="1524000"/>
              <a:ext cx="106394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419266" y="1659255"/>
              <a:ext cx="9069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PTE 21～12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04235" y="1524000"/>
              <a:ext cx="106394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637788" y="1659255"/>
              <a:ext cx="5977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11～0</a:t>
              </a:r>
            </a:p>
          </p:txBody>
        </p:sp>
      </p:grpSp>
      <p:grpSp>
        <p:nvGrpSpPr>
          <p:cNvPr id="23" name="c1-kv-2"/>
          <p:cNvGrpSpPr/>
          <p:nvPr/>
        </p:nvGrpSpPr>
        <p:grpSpPr>
          <a:xfrm>
            <a:off x="525780" y="2158365"/>
            <a:ext cx="5417820" cy="1737360"/>
            <a:chOff x="525780" y="2158365"/>
            <a:chExt cx="5417820" cy="1737360"/>
          </a:xfrm>
        </p:grpSpPr>
        <p:sp>
          <p:nvSpPr>
            <p:cNvPr id="15" name="TextBox 15"/>
            <p:cNvSpPr txBox="1"/>
            <p:nvPr/>
          </p:nvSpPr>
          <p:spPr>
            <a:xfrm>
              <a:off x="525780" y="2158365"/>
              <a:ext cx="9346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页目录 PD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44028" y="2158365"/>
              <a:ext cx="38728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每个进程一个，最多 2¹⁰ 个表项，每个表项指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向一个页表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7603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5780" y="2880360"/>
              <a:ext cx="7327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页表 PT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44028" y="2880360"/>
              <a:ext cx="38728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 2¹⁰ 个表项，每个表项存该页分配的页框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号或原型页表表项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4823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5780" y="3602355"/>
              <a:ext cx="1003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页内偏移 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44028" y="3602355"/>
              <a:ext cx="15217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 位，页长 4KB</a:t>
              </a:r>
            </a:p>
          </p:txBody>
        </p:sp>
      </p:grpSp>
      <p:grpSp>
        <p:nvGrpSpPr>
          <p:cNvPr id="34" name="c1-card-3"/>
          <p:cNvGrpSpPr/>
          <p:nvPr/>
        </p:nvGrpSpPr>
        <p:grpSpPr>
          <a:xfrm>
            <a:off x="533400" y="4027170"/>
            <a:ext cx="5410200" cy="1916430"/>
            <a:chOff x="533400" y="4027170"/>
            <a:chExt cx="5410200" cy="1916430"/>
          </a:xfrm>
        </p:grpSpPr>
        <p:sp>
          <p:nvSpPr>
            <p:cNvPr id="24" name="Rectangle 24"/>
            <p:cNvSpPr/>
            <p:nvPr/>
          </p:nvSpPr>
          <p:spPr>
            <a:xfrm>
              <a:off x="533400" y="4027170"/>
              <a:ext cx="5410200" cy="1916430"/>
            </a:xfrm>
            <a:prstGeom prst="roundRect">
              <a:avLst>
                <a:gd name="adj" fmla="val 69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160520"/>
              <a:ext cx="47625" cy="16497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81050" y="423672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6160" y="427243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239202" y="4271962"/>
              <a:ext cx="24029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拆分虚拟地址 00403A10H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86765" y="46958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44880" y="4632960"/>
              <a:ext cx="43567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 0000000001 0000000011 101000010000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86765" y="50311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44880" y="4968240"/>
              <a:ext cx="26658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PDE = 1，PTE = 3，d = A10H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4573" y="5300186"/>
              <a:ext cx="45890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查页目录第 1 项得页表，查该页表第 3 项得页框号 f，物理地址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= f × 4KB + A10H。</a:t>
              </a:r>
            </a:p>
          </p:txBody>
        </p:sp>
      </p:grpSp>
      <p:grpSp>
        <p:nvGrpSpPr>
          <p:cNvPr id="49" name="c2-flow-1"/>
          <p:cNvGrpSpPr/>
          <p:nvPr/>
        </p:nvGrpSpPr>
        <p:grpSpPr>
          <a:xfrm>
            <a:off x="6627495" y="1787842"/>
            <a:ext cx="4652962" cy="3337560"/>
            <a:chOff x="6627495" y="1787842"/>
            <a:chExt cx="4652962" cy="3337560"/>
          </a:xfrm>
        </p:grpSpPr>
        <p:sp>
          <p:nvSpPr>
            <p:cNvPr id="35" name="Freeform 35"/>
            <p:cNvSpPr/>
            <p:nvPr/>
          </p:nvSpPr>
          <p:spPr>
            <a:xfrm>
              <a:off x="8953500" y="2225992"/>
              <a:ext cx="9525" cy="423862"/>
            </a:xfrm>
            <a:custGeom>
              <a:avLst/>
              <a:gdLst/>
              <a:ahLst/>
              <a:cxnLst/>
              <a:rect l="l" t="t" r="r" b="b"/>
              <a:pathLst>
                <a:path w="9525" h="423862">
                  <a:moveTo>
                    <a:pt x="0" y="0"/>
                  </a:moveTo>
                  <a:lnTo>
                    <a:pt x="0" y="423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901112" y="26498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953500" y="3192780"/>
              <a:ext cx="9525" cy="422910"/>
            </a:xfrm>
            <a:custGeom>
              <a:avLst/>
              <a:gdLst/>
              <a:ahLst/>
              <a:cxnLst/>
              <a:rect l="l" t="t" r="r" b="b"/>
              <a:pathLst>
                <a:path w="9525" h="422910">
                  <a:moveTo>
                    <a:pt x="0" y="0"/>
                  </a:moveTo>
                  <a:lnTo>
                    <a:pt x="0" y="4229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8901112" y="36156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8953500" y="4158615"/>
              <a:ext cx="9525" cy="423862"/>
            </a:xfrm>
            <a:custGeom>
              <a:avLst/>
              <a:gdLst/>
              <a:ahLst/>
              <a:cxnLst/>
              <a:rect l="l" t="t" r="r" b="b"/>
              <a:pathLst>
                <a:path w="9525" h="423862">
                  <a:moveTo>
                    <a:pt x="0" y="0"/>
                  </a:moveTo>
                  <a:lnTo>
                    <a:pt x="0" y="4238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901112" y="45824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627495" y="1787842"/>
              <a:ext cx="465296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627495" y="2754630"/>
              <a:ext cx="465296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27495" y="3720465"/>
              <a:ext cx="465296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27495" y="4687252"/>
              <a:ext cx="465296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99064" y="1917859"/>
              <a:ext cx="21088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CR3 寄存器给出页目录首址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99777" y="2884646"/>
              <a:ext cx="31074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页目录首址 + PDE，查页目录得页表首址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85014" y="3850481"/>
              <a:ext cx="2736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页表首址 + PTE，查页表得页框号 f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45821" y="4817269"/>
              <a:ext cx="28153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 与 d 合并得物理地址（页长 4KB）</a:t>
              </a:r>
            </a:p>
          </p:txBody>
        </p:sp>
      </p:grpSp>
      <p:grpSp>
        <p:nvGrpSpPr>
          <p:cNvPr id="56" name="c2-callout-2"/>
          <p:cNvGrpSpPr/>
          <p:nvPr/>
        </p:nvGrpSpPr>
        <p:grpSpPr>
          <a:xfrm>
            <a:off x="6248400" y="5579745"/>
            <a:ext cx="5410200" cy="782955"/>
            <a:chOff x="6248400" y="5579745"/>
            <a:chExt cx="5410200" cy="782955"/>
          </a:xfrm>
        </p:grpSpPr>
        <p:sp>
          <p:nvSpPr>
            <p:cNvPr id="50" name="Rectangle 50"/>
            <p:cNvSpPr/>
            <p:nvPr/>
          </p:nvSpPr>
          <p:spPr>
            <a:xfrm>
              <a:off x="6248400" y="5579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453188" y="5871210"/>
              <a:ext cx="200026" cy="200025"/>
              <a:chOff x="6453188" y="5871210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453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492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527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755130" y="572833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不用快表时，一次访存要先访问页目录、页表各一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次，共三次访问内存。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55481" cy="909257"/>
            <a:chOff x="520446" y="342900"/>
            <a:chExt cx="82554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554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Vista 的原型页表、内存优先级和虚拟页面的三种状态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654492"/>
            <a:chOff x="533400" y="1524000"/>
            <a:chExt cx="4977765" cy="16544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654492"/>
            </a:xfrm>
            <a:prstGeom prst="roundRect">
              <a:avLst>
                <a:gd name="adj" fmla="val 80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8779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310134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4706" y="1743551"/>
              <a:ext cx="30883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3. 存储共享：原型页表（Prototype Page Table）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对于共享页，进程页表的表项不直接指向物理页框，而是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指向原型页表；原型页表的表项指向实际的物理页框号。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2475" y="2608421"/>
              <a:ext cx="42786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共享页换出、换入时只改原型页表这一处，不用逐个修改各进程的页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348038"/>
            <a:ext cx="4977765" cy="1185862"/>
            <a:chOff x="533400" y="3348038"/>
            <a:chExt cx="4977765" cy="1185862"/>
          </a:xfrm>
        </p:grpSpPr>
        <p:sp>
          <p:nvSpPr>
            <p:cNvPr id="14" name="Rectangle 14"/>
            <p:cNvSpPr/>
            <p:nvPr/>
          </p:nvSpPr>
          <p:spPr>
            <a:xfrm>
              <a:off x="533400" y="3348038"/>
              <a:ext cx="4977765" cy="1185862"/>
            </a:xfrm>
            <a:prstGeom prst="roundRect">
              <a:avLst>
                <a:gd name="adj" fmla="val 11245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20090" y="353472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4659" y="356758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存储保护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3879532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以页为保护单位：只读、读写、执行、不可操作、写时复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制。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703445"/>
            <a:ext cx="4977765" cy="1443038"/>
            <a:chOff x="533400" y="4703445"/>
            <a:chExt cx="4977765" cy="1443038"/>
          </a:xfrm>
        </p:grpSpPr>
        <p:sp>
          <p:nvSpPr>
            <p:cNvPr id="19" name="Rectangle 19"/>
            <p:cNvSpPr/>
            <p:nvPr/>
          </p:nvSpPr>
          <p:spPr>
            <a:xfrm>
              <a:off x="533400" y="4703445"/>
              <a:ext cx="4977765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836795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58190" y="4890135"/>
              <a:ext cx="101441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4134" y="4922996"/>
              <a:ext cx="8634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4. 内存优先级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1332" y="5234940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待机列表（standby list）按内存优先级 0～7 分成 8 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链，每条链挂着该优先级的空闲页框；某一优先级没有页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框时链为空（∧）。</a:t>
              </a:r>
            </a:p>
          </p:txBody>
        </p:sp>
      </p:grpSp>
      <p:grpSp>
        <p:nvGrpSpPr>
          <p:cNvPr id="44" name="c2-table-1"/>
          <p:cNvGrpSpPr/>
          <p:nvPr/>
        </p:nvGrpSpPr>
        <p:grpSpPr>
          <a:xfrm>
            <a:off x="5815965" y="1524000"/>
            <a:ext cx="5842635" cy="2400300"/>
            <a:chOff x="5815965" y="1524000"/>
            <a:chExt cx="5842635" cy="2400300"/>
          </a:xfrm>
        </p:grpSpPr>
        <p:sp>
          <p:nvSpPr>
            <p:cNvPr id="25" name="Rectangle 25"/>
            <p:cNvSpPr/>
            <p:nvPr/>
          </p:nvSpPr>
          <p:spPr>
            <a:xfrm>
              <a:off x="5815965" y="1524000"/>
              <a:ext cx="5842635" cy="60007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92089" y="1645444"/>
              <a:ext cx="931723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5. 虚拟页面状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46478" y="17454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550423" y="17454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13120" y="2345531"/>
              <a:ext cx="7087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闲置 free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98042" y="23455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未分配的页面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003155" y="2245519"/>
              <a:ext cx="1433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导致缺页中断，按非法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访问处理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815965" y="27193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815965" y="2724150"/>
              <a:ext cx="584263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913120" y="2945606"/>
              <a:ext cx="1057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预定 reserved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98042" y="2845594"/>
              <a:ext cx="24295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只保留了一段虚拟地址，还没有分配存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储；通常用来预留存储区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003155" y="2845594"/>
              <a:ext cx="1433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不能直接使用，要先提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交为确认状态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815965" y="33194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13120" y="3445669"/>
              <a:ext cx="773125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committed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198042" y="3445669"/>
              <a:ext cx="24295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已分配存储（物理内存或页文件）并且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可访问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003155" y="3445669"/>
              <a:ext cx="1433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正常访问；页不在内存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时缺页调入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1524000"/>
              <a:ext cx="5842635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096125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901238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rd-2"/>
          <p:cNvGrpSpPr/>
          <p:nvPr/>
        </p:nvGrpSpPr>
        <p:grpSpPr>
          <a:xfrm>
            <a:off x="5815965" y="4093845"/>
            <a:ext cx="5842635" cy="2052638"/>
            <a:chOff x="5815965" y="4093845"/>
            <a:chExt cx="5842635" cy="2052638"/>
          </a:xfrm>
        </p:grpSpPr>
        <p:sp>
          <p:nvSpPr>
            <p:cNvPr id="45" name="Rectangle 45"/>
            <p:cNvSpPr/>
            <p:nvPr/>
          </p:nvSpPr>
          <p:spPr>
            <a:xfrm>
              <a:off x="5815965" y="4093845"/>
              <a:ext cx="5842635" cy="2052638"/>
            </a:xfrm>
            <a:prstGeom prst="roundRect">
              <a:avLst>
                <a:gd name="adj" fmla="val 64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825490" y="4227195"/>
              <a:ext cx="47625" cy="17859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40755" y="42805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32474" y="43133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33897" y="4625340"/>
              <a:ext cx="508006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原课件说预定状态“已分配内存，但不可立即使用，只有显式地解除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预定状态才可使用”。预定只占住一段虚拟地址，不分配物理内存，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也不占页文件空间；要显式提交（commit）变成确认状态后才能访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42300" cy="909257"/>
            <a:chOff x="520446" y="342900"/>
            <a:chExt cx="844230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4230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 1：有效访问时间不超过 12ns，缺页率最大是多少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760595" cy="2745105"/>
            <a:chOff x="533400" y="1524000"/>
            <a:chExt cx="4760595" cy="2745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745105"/>
            </a:xfrm>
            <a:prstGeom prst="roundRect">
              <a:avLst>
                <a:gd name="adj" fmla="val 48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784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149090" cy="2007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某请求分页管理系统中，页表保存在寄存器中。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若有一个可用的空页或被置换的页未被修改，处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理一个缺页中断需要 8ms；若被置换的页已被修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改，因增加写回外存的时间需要 20ms。一次内存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存取时间为 1ns。假设 70% 被置换的页被修改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过，为保证有效访问时间不超过 12ns，可接受的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最大缺页率是多少？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459605"/>
            <a:ext cx="4760595" cy="782955"/>
            <a:chOff x="533400" y="4459605"/>
            <a:chExt cx="4760595" cy="782955"/>
          </a:xfrm>
        </p:grpSpPr>
        <p:sp>
          <p:nvSpPr>
            <p:cNvPr id="13" name="Rectangle 13"/>
            <p:cNvSpPr/>
            <p:nvPr/>
          </p:nvSpPr>
          <p:spPr>
            <a:xfrm>
              <a:off x="533400" y="445960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4751070"/>
              <a:ext cx="200026" cy="200026"/>
              <a:chOff x="738188" y="4751070"/>
              <a:chExt cx="200026" cy="20002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47510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38200" y="48177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27088" y="485108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4608195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页表在寄存器中，查页表不花访存时间；不缺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页时一次访问只要 1ns。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5598795" y="1524000"/>
            <a:ext cx="6059805" cy="2501265"/>
            <a:chOff x="5598795" y="1524000"/>
            <a:chExt cx="6059805" cy="2501265"/>
          </a:xfrm>
        </p:grpSpPr>
        <p:sp>
          <p:nvSpPr>
            <p:cNvPr id="20" name="Rectangle 20"/>
            <p:cNvSpPr/>
            <p:nvPr/>
          </p:nvSpPr>
          <p:spPr>
            <a:xfrm>
              <a:off x="5598795" y="1524000"/>
              <a:ext cx="6059805" cy="2501265"/>
            </a:xfrm>
            <a:prstGeom prst="roundRect">
              <a:avLst>
                <a:gd name="adj" fmla="val 5331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808345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03455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808345" y="209740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870194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09335" y="2110740"/>
              <a:ext cx="4901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平均缺页处理时间 = 0.3 × 8ms + 0.7 × 20ms = 16.4ms =</a:t>
              </a:r>
              <a:br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1.64 × 10⁷ ns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808345" y="271843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70194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09335" y="2731770"/>
              <a:ext cx="281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设缺页率为 p，有效访问时间：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formula8"/>
                <p:cNvSpPr txBox="1">
                  <a:spLocks noGrp="1"/>
                </p:cNvSpPr>
                <p:nvPr/>
              </p:nvSpPr>
              <p:spPr>
                <a:xfrm>
                  <a:off x="5808345" y="3042285"/>
                  <a:ext cx="5640705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EAT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1.64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7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12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0" name="Ellipse 30"/>
            <p:cNvSpPr/>
            <p:nvPr/>
          </p:nvSpPr>
          <p:spPr>
            <a:xfrm>
              <a:off x="5808345" y="356806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70194" y="36103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09335" y="3581400"/>
              <a:ext cx="40942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解得 p ≤ 11 ÷ (1.64 × 10⁷ − 1) ≈ 6.7 × 10⁻⁷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5598795" y="4215765"/>
            <a:ext cx="6059805" cy="782955"/>
            <a:chOff x="5598795" y="4215765"/>
            <a:chExt cx="6059805" cy="782955"/>
          </a:xfrm>
        </p:grpSpPr>
        <p:sp>
          <p:nvSpPr>
            <p:cNvPr id="34" name="Rectangle 34"/>
            <p:cNvSpPr/>
            <p:nvPr/>
          </p:nvSpPr>
          <p:spPr>
            <a:xfrm>
              <a:off x="5598795" y="421576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5803583" y="4507230"/>
              <a:ext cx="200026" cy="200026"/>
              <a:chOff x="5803583" y="4507230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803583" y="45072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870258" y="458501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105525" y="4364355"/>
              <a:ext cx="5073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最大可接受的缺页率约为 6.7 × 10⁻⁷，大约每 150 万次访问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才允许缺页一次。</a:t>
              </a:r>
            </a:p>
          </p:txBody>
        </p:sp>
      </p:grpSp>
      <p:grpSp>
        <p:nvGrpSpPr>
          <p:cNvPr id="46" name="c2-callout-3"/>
          <p:cNvGrpSpPr/>
          <p:nvPr/>
        </p:nvGrpSpPr>
        <p:grpSpPr>
          <a:xfrm>
            <a:off x="5598795" y="5189220"/>
            <a:ext cx="6059805" cy="782955"/>
            <a:chOff x="5598795" y="5189220"/>
            <a:chExt cx="6059805" cy="782955"/>
          </a:xfrm>
        </p:grpSpPr>
        <p:sp>
          <p:nvSpPr>
            <p:cNvPr id="40" name="Rectangle 40"/>
            <p:cNvSpPr/>
            <p:nvPr/>
          </p:nvSpPr>
          <p:spPr>
            <a:xfrm>
              <a:off x="5598795" y="518922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791524" y="5476993"/>
              <a:ext cx="224134" cy="192560"/>
              <a:chOff x="5791524" y="5476993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903595" y="554736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5791524" y="547699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5903595" y="56251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105525" y="5337810"/>
              <a:ext cx="50253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易错：8ms、20ms 要换成纳秒（× 10⁶）再和 1ns 放进同一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个式子。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53393" cy="909257"/>
            <a:chOff x="520446" y="342900"/>
            <a:chExt cx="815339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5339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 2：LRU 缺页 12 次，平均有效访问时间约 15ms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193982" cy="2214562"/>
            <a:chOff x="533400" y="1524000"/>
            <a:chExt cx="5193982" cy="22145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214562"/>
            </a:xfrm>
            <a:prstGeom prst="roundRect">
              <a:avLst>
                <a:gd name="adj" fmla="val 60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478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608576" cy="15499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 LRU 的请求分页系统，页长 4KB，访存 100ns/次，访问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 20ns/次，缺页中断处理 25ms/次。进程 P 长 30KB，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分到 3 个存储块，页面都在运行中动态装入，快表命中率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20%。访问序列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7,0,1,2,0,3,0,4,2,3,0,3,2,1,2,0,1,7,0,1，求 20 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访问的平均有效访问时间。</a:t>
              </a:r>
            </a:p>
          </p:txBody>
        </p:sp>
      </p:grpSp>
      <p:grpSp>
        <p:nvGrpSpPr>
          <p:cNvPr id="22" name="c1-steps-2"/>
          <p:cNvGrpSpPr/>
          <p:nvPr/>
        </p:nvGrpSpPr>
        <p:grpSpPr>
          <a:xfrm>
            <a:off x="533400" y="3917632"/>
            <a:ext cx="5015895" cy="1310165"/>
            <a:chOff x="533400" y="3917632"/>
            <a:chExt cx="5015895" cy="1310165"/>
          </a:xfrm>
        </p:grpSpPr>
        <p:sp>
          <p:nvSpPr>
            <p:cNvPr id="13" name="Rectangle 13"/>
            <p:cNvSpPr/>
            <p:nvPr/>
          </p:nvSpPr>
          <p:spPr>
            <a:xfrm>
              <a:off x="666750" y="4060508"/>
              <a:ext cx="19050" cy="7896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39176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9914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7082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7820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39500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数缺页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4217194"/>
              <a:ext cx="441375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序列只是把 LRU 例题中的 6 换成 7，缺页位置完全相同：共缺页 12 次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（含开头 3 次装入）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473964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分情况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5007769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快表命中 20% 即 4 次；缺页 12 次；其余 4 次快表未命中但页在内存</a:t>
              </a:r>
            </a:p>
          </p:txBody>
        </p:sp>
      </p:grpSp>
      <p:grpSp>
        <p:nvGrpSpPr>
          <p:cNvPr id="29" name="c1-callout-3"/>
          <p:cNvGrpSpPr/>
          <p:nvPr/>
        </p:nvGrpSpPr>
        <p:grpSpPr>
          <a:xfrm>
            <a:off x="533400" y="5391150"/>
            <a:ext cx="5193982" cy="729615"/>
            <a:chOff x="533400" y="5391150"/>
            <a:chExt cx="5193982" cy="729615"/>
          </a:xfrm>
        </p:grpSpPr>
        <p:sp>
          <p:nvSpPr>
            <p:cNvPr id="23" name="Rectangle 23"/>
            <p:cNvSpPr/>
            <p:nvPr/>
          </p:nvSpPr>
          <p:spPr>
            <a:xfrm>
              <a:off x="533400" y="5391150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5655945"/>
              <a:ext cx="200026" cy="200025"/>
              <a:chOff x="738188" y="5655945"/>
              <a:chExt cx="200026" cy="200025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6559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77926" y="57003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12642" y="58115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892" y="5536883"/>
              <a:ext cx="41285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30KB ÷ 4KB 取整为 8 页（页号 0～7），只分到 3 块，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运行中必然要置换。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6032182" y="1524000"/>
            <a:ext cx="5626418" cy="1600200"/>
            <a:chOff x="6032182" y="1524000"/>
            <a:chExt cx="5626418" cy="1600200"/>
          </a:xfrm>
        </p:grpSpPr>
        <p:sp>
          <p:nvSpPr>
            <p:cNvPr id="30" name="Rectangle 30"/>
            <p:cNvSpPr/>
            <p:nvPr/>
          </p:nvSpPr>
          <p:spPr>
            <a:xfrm>
              <a:off x="6032182" y="1524000"/>
              <a:ext cx="5626418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025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访问情况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78831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34931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每次时间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29338" y="2045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快表命中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9762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3898" y="2045494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+ 100 = 120ns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32182" y="23193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032182" y="2324100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29338" y="24455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快表未命中，在内存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97625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23898" y="2445544"/>
              <a:ext cx="16096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+ 100 + 100 = 220ns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32182" y="27193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29338" y="28455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56162" y="28455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23898" y="2845594"/>
              <a:ext cx="29892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+ 100 + 25ms + 20 + 100 = 25 000 240ns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032182" y="1524000"/>
              <a:ext cx="562641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659052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221980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rd-2"/>
          <p:cNvGrpSpPr/>
          <p:nvPr/>
        </p:nvGrpSpPr>
        <p:grpSpPr>
          <a:xfrm>
            <a:off x="6032182" y="3293745"/>
            <a:ext cx="5626418" cy="1228725"/>
            <a:chOff x="6032182" y="3293745"/>
            <a:chExt cx="5626418" cy="1228725"/>
          </a:xfrm>
        </p:grpSpPr>
        <p:sp>
          <p:nvSpPr>
            <p:cNvPr id="50" name="Rectangle 50"/>
            <p:cNvSpPr/>
            <p:nvPr/>
          </p:nvSpPr>
          <p:spPr>
            <a:xfrm>
              <a:off x="6032182" y="3293745"/>
              <a:ext cx="5626418" cy="1228725"/>
            </a:xfrm>
            <a:prstGeom prst="roundRect">
              <a:avLst>
                <a:gd name="adj" fmla="val 10853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218872" y="34804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10592" y="35132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212014" y="3825240"/>
              <a:ext cx="51386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总时间 = 4 × 120 + 4 × 220 + 12 × 25 000 240 = 300 004 240ns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212014" y="4125277"/>
              <a:ext cx="39664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 = 300 004 240 ÷ 20 = 15 000 212ns ≈ 15ms</a:t>
              </a:r>
            </a:p>
          </p:txBody>
        </p:sp>
      </p:grpSp>
      <p:grpSp>
        <p:nvGrpSpPr>
          <p:cNvPr id="62" name="c2-callout-3"/>
          <p:cNvGrpSpPr/>
          <p:nvPr/>
        </p:nvGrpSpPr>
        <p:grpSpPr>
          <a:xfrm>
            <a:off x="6032182" y="4692968"/>
            <a:ext cx="5626418" cy="978218"/>
            <a:chOff x="6032182" y="4692968"/>
            <a:chExt cx="5626418" cy="978218"/>
          </a:xfrm>
        </p:grpSpPr>
        <p:sp>
          <p:nvSpPr>
            <p:cNvPr id="56" name="Rectangle 56"/>
            <p:cNvSpPr/>
            <p:nvPr/>
          </p:nvSpPr>
          <p:spPr>
            <a:xfrm>
              <a:off x="6032182" y="4692968"/>
              <a:ext cx="5626418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236970" y="5081588"/>
              <a:ext cx="200026" cy="200026"/>
              <a:chOff x="6236970" y="5081588"/>
              <a:chExt cx="200026" cy="200026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236970" y="50815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336983" y="51482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325870" y="51816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539674" y="4838700"/>
              <a:ext cx="464286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缺页一行：查快表、查页表发现不在内存，处理 25ms；重新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执行时快表已更新，再查快表、访存一次。纳秒级的几项算法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各书略有不同，结果都约为 15ms。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69464" cy="909257"/>
            <a:chOff x="520446" y="342900"/>
            <a:chExt cx="25694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223135"/>
            <a:chOff x="533400" y="1524000"/>
            <a:chExt cx="3505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2872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缺页中断处理完后返回到哪里？和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普通中断有什么不同？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2872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重新执行发生缺页的那条指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令；普通中断返回后执行下一条指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3505200" cy="2223135"/>
            <a:chOff x="533400" y="3937635"/>
            <a:chExt cx="3505200" cy="222313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2777966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访问序列 2 3 4 4 4 3 4 3 4 4，Δ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5，最后时刻的工作集是什么？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5145405"/>
              <a:ext cx="2948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最近 5 次访问为 3 4 3 4 4，工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作集为 {3, 4}。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223135"/>
            <a:chOff x="4343400" y="1524000"/>
            <a:chExt cx="3505200" cy="2223135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5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4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45330" y="2110740"/>
              <a:ext cx="2736056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访问序列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1,2,3,4,1,2,5,1,2,3,4,5，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LRU、3 个页框，缺页几次？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45330" y="3017520"/>
              <a:ext cx="2758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次（给 4 个页框时降为 8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次，不会出现 Belady 异常）。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937635"/>
            <a:ext cx="3505200" cy="2223135"/>
            <a:chOff x="4343400" y="3937635"/>
            <a:chExt cx="3505200" cy="2223135"/>
          </a:xfrm>
        </p:grpSpPr>
        <p:sp>
          <p:nvSpPr>
            <p:cNvPr id="25" name="Rectangle 25"/>
            <p:cNvSpPr/>
            <p:nvPr/>
          </p:nvSpPr>
          <p:spPr>
            <a:xfrm>
              <a:off x="4343400" y="3937635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5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4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45330" y="4524375"/>
              <a:ext cx="2910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动态连接中，间接字 L = 0 时 D 里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存的是什么？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45330" y="5145405"/>
              <a:ext cx="29298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逻辑地址（段号|段内地址），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指令直接按它间接访问，不再发生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连接中断。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223135"/>
            <a:chOff x="8153400" y="1524000"/>
            <a:chExt cx="3505200" cy="2223135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6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5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55330" y="2110740"/>
              <a:ext cx="285226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时钟算法中所有页的访问位都是 1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时，淘汰哪一页？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55330" y="2731770"/>
              <a:ext cx="27870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指针转一圈把访问位全部清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0，回到起点淘汰起点处的页，此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时结果与 FIFO 相同。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937635"/>
            <a:ext cx="3505200" cy="2223135"/>
            <a:chOff x="8153400" y="3937635"/>
            <a:chExt cx="3505200" cy="2223135"/>
          </a:xfrm>
        </p:grpSpPr>
        <p:sp>
          <p:nvSpPr>
            <p:cNvPr id="37" name="Rectangle 37"/>
            <p:cNvSpPr/>
            <p:nvPr/>
          </p:nvSpPr>
          <p:spPr>
            <a:xfrm>
              <a:off x="8153400" y="3937635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6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5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55330" y="4524375"/>
              <a:ext cx="291226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伙伴堆申请 5 个页框，若只有块组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非空，怎样分配？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55330" y="5145405"/>
              <a:ext cx="2872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2² &lt; 5 ≤ 2³，要分配 8 个页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框；从块组 4 取 16 页分出 8 页，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剩下 8 页挂到块组 3。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569464" cy="909257"/>
            <a:chOff x="520446" y="342900"/>
            <a:chExt cx="25694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第7章 虚拟存储 · 系统举例与计算题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6276022" cy="4501515"/>
            <a:chOff x="533400" y="1524000"/>
            <a:chExt cx="6276022" cy="45015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4517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270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虚拟页式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22348" y="2108359"/>
              <a:ext cx="44020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部分装入，缺页中断调入；页表增加外存块号、内外标识、访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问权限、修改标志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6431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647950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8970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置换算法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22348" y="2783681"/>
              <a:ext cx="390626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同一序列 OPT 9 次、LRU 12 次、FIFO 15 次；FIFO 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Belady 异常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3194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5723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时钟算法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22348" y="3459004"/>
              <a:ext cx="39631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= 1 清 0 后移，r = 0 替换；改进版先找 (0,0)，再找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(0,1) 并清 r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99478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999548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424767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颠簸与工作集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22348" y="4134326"/>
              <a:ext cx="4483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页框过少引起颠簸；工作集应能全部放入内存；PFFB 按缺页率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增减页框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67010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492394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段式与段页式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22348" y="4810601"/>
              <a:ext cx="446709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缺段中断要找连续区；动态连接靠间接字 L、D；共享段经共享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段表找页表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534543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5350192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5485924"/>
              <a:ext cx="65344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Linux 与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Vista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22348" y="5599271"/>
              <a:ext cx="47570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伙伴堆按 2ⁱ 分配、伙伴逐级合并；Vista 二级页表、原型页表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524000"/>
              <a:ext cx="6276022" cy="45015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909762" y="1524000"/>
              <a:ext cx="9525" cy="45015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3179445"/>
            <a:chOff x="7114222" y="1524000"/>
            <a:chExt cx="4544378" cy="3179445"/>
          </a:xfrm>
        </p:grpSpPr>
        <p:sp>
          <p:nvSpPr>
            <p:cNvPr id="33" name="Rectangle 33"/>
            <p:cNvSpPr/>
            <p:nvPr/>
          </p:nvSpPr>
          <p:spPr>
            <a:xfrm>
              <a:off x="7114222" y="1524000"/>
              <a:ext cx="4544378" cy="3179445"/>
            </a:xfrm>
            <a:prstGeom prst="roundRect">
              <a:avLst>
                <a:gd name="adj" fmla="val 41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123748" y="1657350"/>
              <a:ext cx="47625" cy="29127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361872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17626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110740"/>
              <a:ext cx="3510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虚拟页式地址映射中快表表项应为 (p, f)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（第 7 页）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时钟算法分步图中页 6 的访问位应为 0（第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 页）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35280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伙伴条件应为最后一页编号 + 1 是 2b 的倍数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（第 49 页）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397383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Vista 预定状态只保留虚拟地址，不分配内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存（第 56 页）</a:t>
              </a:r>
            </a:p>
          </p:txBody>
        </p:sp>
      </p:grpSp>
      <p:grpSp>
        <p:nvGrpSpPr>
          <p:cNvPr id="51" name="c2-callout-2"/>
          <p:cNvGrpSpPr/>
          <p:nvPr/>
        </p:nvGrpSpPr>
        <p:grpSpPr>
          <a:xfrm>
            <a:off x="7114222" y="4893945"/>
            <a:ext cx="4544378" cy="1059180"/>
            <a:chOff x="7114222" y="4893945"/>
            <a:chExt cx="4544378" cy="1059180"/>
          </a:xfrm>
        </p:grpSpPr>
        <p:sp>
          <p:nvSpPr>
            <p:cNvPr id="46" name="Rectangle 46"/>
            <p:cNvSpPr/>
            <p:nvPr/>
          </p:nvSpPr>
          <p:spPr>
            <a:xfrm>
              <a:off x="7114222" y="4893945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19010" y="5323525"/>
              <a:ext cx="200023" cy="200023"/>
              <a:chOff x="7319010" y="5323525"/>
              <a:chExt cx="200023" cy="20002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19010" y="53235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452360" y="53901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7620952" y="5042535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复习时重点手算：置换算法表格、时钟与改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进时钟的扫描过程、工作集、伙伴堆的分配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与合并、含缺页的有效访问时间。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第7章 虚拟存储管理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s_ch7">
  <a:themeElements>
    <a:clrScheme name="os_ch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_ch7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_ch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2026-09-17T07:10:33Z</dcterms:created>
  <dcterms:modified xsi:type="dcterms:W3CDTF">2026-09-17T07:10:33Z</dcterms:modified>
  <cp:category/>
  <cp:contentStatus/>
</cp:coreProperties>
</file>