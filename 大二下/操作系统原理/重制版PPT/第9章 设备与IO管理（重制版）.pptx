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s_ch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s_ch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ba61f755d4bbd4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52bea4afd515c9a.png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fdeb0bfebbdfa42.png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879743" cy="3437763"/>
            <a:chOff x="666750" y="1619250"/>
            <a:chExt cx="4879743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898332" cy="3429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4866" y="17183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操作系统原理 · 第九章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42451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设备与 I/O 管理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869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从磁盘寻道到 SPOOLing，设备怎样被管起来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20718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设备分类与 I/O 传输方式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设备分配、驱动与磁盘调度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9572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缓冲技术与 UNIX 块缓冲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22055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RAID、虚拟设备与稳定存储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413752" cy="205359"/>
            <a:chOff x="680466" y="6192202"/>
            <a:chExt cx="44137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41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自学复习版｜据吉林大学《操作系统原理》第九章课件整理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4397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1159" y="407194"/>
              <a:ext cx="1167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4" name="c1-agenda-1"/>
          <p:cNvGrpSpPr/>
          <p:nvPr/>
        </p:nvGrpSpPr>
        <p:grpSpPr>
          <a:xfrm>
            <a:off x="523494" y="1519238"/>
            <a:ext cx="6285928" cy="4605814"/>
            <a:chOff x="523494" y="1519238"/>
            <a:chExt cx="6285928" cy="4605814"/>
          </a:xfrm>
        </p:grpSpPr>
        <p:sp>
          <p:nvSpPr>
            <p:cNvPr id="7" name="TextBox 7"/>
            <p:cNvSpPr txBox="1"/>
            <p:nvPr/>
          </p:nvSpPr>
          <p:spPr>
            <a:xfrm>
              <a:off x="523494" y="151923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21461" y="154733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设备与物理特性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22985" y="1826419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设备分类；磁带、磁盘、光盘上数据怎样编址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28700" y="210312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3494" y="219932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461" y="2227421"/>
              <a:ext cx="11820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传输方式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2985" y="2506504"/>
              <a:ext cx="1964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程序查询、中断、DMA、通道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28700" y="278320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3494" y="287845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21461" y="290655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设备分配与驱动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22985" y="3186589"/>
              <a:ext cx="3061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SDT、UCB、CCB，独占与共享设备，通道程序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28700" y="3462338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3494" y="3558540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1461" y="358663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设备调度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2985" y="386572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引臂调度算法，磁盘访问时间计算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28700" y="4142422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3494" y="4238625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461" y="426672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缓冲技术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2985" y="4545806"/>
              <a:ext cx="27822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缓冲池，输入输出缓冲流程，UNIX 块缓冲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28700" y="4821555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3494" y="4917758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1461" y="4945856"/>
              <a:ext cx="14680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进程与 RAID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2985" y="5224939"/>
              <a:ext cx="23390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服务模式，RAID 0–5 的组织与比较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028700" y="5501640"/>
              <a:ext cx="57807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494" y="5597842"/>
              <a:ext cx="323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1461" y="562594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虚拟设备与稳定存储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2985" y="5905024"/>
              <a:ext cx="3484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与作业调度，稳定存储器，Windows I/O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7114222" y="1524000"/>
            <a:ext cx="4544378" cy="4556760"/>
            <a:chOff x="7114222" y="1524000"/>
            <a:chExt cx="4544378" cy="4556760"/>
          </a:xfrm>
        </p:grpSpPr>
        <p:sp>
          <p:nvSpPr>
            <p:cNvPr id="35" name="Rectangle 35"/>
            <p:cNvSpPr/>
            <p:nvPr/>
          </p:nvSpPr>
          <p:spPr>
            <a:xfrm>
              <a:off x="7114222" y="1524000"/>
              <a:ext cx="4544378" cy="4556760"/>
            </a:xfrm>
            <a:prstGeom prst="roundRect">
              <a:avLst>
                <a:gd name="adj" fmla="val 293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23748" y="1657350"/>
              <a:ext cx="47625" cy="429006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9012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423582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03604" y="205454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在（柱面，盘面，扇区）与块号之间互相换算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03604" y="2355532"/>
              <a:ext cx="38027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说出查询、中断、DMA、通道四种方式里 CPU 各做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哪些事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7585" y="29689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03604" y="2912745"/>
              <a:ext cx="37856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手算各种引臂调度算法的移动序列、移动量和访问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7585" y="352615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503604" y="3469958"/>
              <a:ext cx="372560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写出缓冲池的申请释放过程，说清 getblk 的五种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347585" y="40833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503604" y="4027170"/>
              <a:ext cx="31855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用异或计算和恢复 RAID 4/5 的数据，讲清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的工作过程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023991" cy="3351847"/>
            <a:chOff x="667512" y="1835468"/>
            <a:chExt cx="6023991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设备与物理特性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01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先分清设备的类型，再看数据在磁带、磁盘、光盘上怎样编址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 设备及其分类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225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9.2 磁带：一维地址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83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9.2 磁盘：三维地址与扇区编号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9.2 光盘：螺旋线与扇区格式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设备按用途分三类，按管理方式分共享与独占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533400" y="1640205"/>
            <a:ext cx="4328160" cy="4606291"/>
            <a:chOff x="533400" y="1640205"/>
            <a:chExt cx="4328160" cy="4606291"/>
          </a:xfrm>
        </p:grpSpPr>
        <p:sp>
          <p:nvSpPr>
            <p:cNvPr id="7" name="Freeform 7"/>
            <p:cNvSpPr/>
            <p:nvPr/>
          </p:nvSpPr>
          <p:spPr>
            <a:xfrm>
              <a:off x="3279458" y="1826895"/>
              <a:ext cx="419100" cy="603885"/>
            </a:xfrm>
            <a:custGeom>
              <a:avLst/>
              <a:gdLst/>
              <a:ahLst/>
              <a:cxnLst/>
              <a:rect l="l" t="t" r="r" b="b"/>
              <a:pathLst>
                <a:path w="419100" h="603885">
                  <a:moveTo>
                    <a:pt x="0" y="603885"/>
                  </a:moveTo>
                  <a:lnTo>
                    <a:pt x="209550" y="6038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79458" y="243078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79458" y="2430780"/>
              <a:ext cx="419100" cy="605790"/>
            </a:xfrm>
            <a:custGeom>
              <a:avLst/>
              <a:gdLst/>
              <a:ahLst/>
              <a:cxnLst/>
              <a:rect l="l" t="t" r="r" b="b"/>
              <a:pathLst>
                <a:path w="419100" h="605790">
                  <a:moveTo>
                    <a:pt x="0" y="0"/>
                  </a:moveTo>
                  <a:lnTo>
                    <a:pt x="209550" y="0"/>
                  </a:lnTo>
                  <a:lnTo>
                    <a:pt x="209550" y="605790"/>
                  </a:lnTo>
                  <a:lnTo>
                    <a:pt x="419100" y="60579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279458" y="3640455"/>
              <a:ext cx="419100" cy="605790"/>
            </a:xfrm>
            <a:custGeom>
              <a:avLst/>
              <a:gdLst/>
              <a:ahLst/>
              <a:cxnLst/>
              <a:rect l="l" t="t" r="r" b="b"/>
              <a:pathLst>
                <a:path w="419100" h="605790">
                  <a:moveTo>
                    <a:pt x="0" y="605790"/>
                  </a:moveTo>
                  <a:lnTo>
                    <a:pt x="209550" y="60579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79458" y="424624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279458" y="4246245"/>
              <a:ext cx="419100" cy="603885"/>
            </a:xfrm>
            <a:custGeom>
              <a:avLst/>
              <a:gdLst/>
              <a:ahLst/>
              <a:cxnLst/>
              <a:rect l="l" t="t" r="r" b="b"/>
              <a:pathLst>
                <a:path w="419100" h="603885">
                  <a:moveTo>
                    <a:pt x="0" y="0"/>
                  </a:moveTo>
                  <a:lnTo>
                    <a:pt x="209550" y="0"/>
                  </a:lnTo>
                  <a:lnTo>
                    <a:pt x="209550" y="603885"/>
                  </a:lnTo>
                  <a:lnTo>
                    <a:pt x="419100" y="60388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79458" y="5455920"/>
              <a:ext cx="419100" cy="301943"/>
            </a:xfrm>
            <a:custGeom>
              <a:avLst/>
              <a:gdLst/>
              <a:ahLst/>
              <a:cxnLst/>
              <a:rect l="l" t="t" r="r" b="b"/>
              <a:pathLst>
                <a:path w="419100" h="301943">
                  <a:moveTo>
                    <a:pt x="0" y="301943"/>
                  </a:moveTo>
                  <a:lnTo>
                    <a:pt x="209550" y="30194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279458" y="5757862"/>
              <a:ext cx="419100" cy="301943"/>
            </a:xfrm>
            <a:custGeom>
              <a:avLst/>
              <a:gdLst/>
              <a:ahLst/>
              <a:cxnLst/>
              <a:rect l="l" t="t" r="r" b="b"/>
              <a:pathLst>
                <a:path w="419100" h="301943">
                  <a:moveTo>
                    <a:pt x="0" y="0"/>
                  </a:moveTo>
                  <a:lnTo>
                    <a:pt x="209550" y="0"/>
                  </a:lnTo>
                  <a:lnTo>
                    <a:pt x="209550" y="301943"/>
                  </a:lnTo>
                  <a:lnTo>
                    <a:pt x="419100" y="30194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96402" y="2430780"/>
              <a:ext cx="419100" cy="1664018"/>
            </a:xfrm>
            <a:custGeom>
              <a:avLst/>
              <a:gdLst/>
              <a:ahLst/>
              <a:cxnLst/>
              <a:rect l="l" t="t" r="r" b="b"/>
              <a:pathLst>
                <a:path w="419100" h="1664018">
                  <a:moveTo>
                    <a:pt x="0" y="1664018"/>
                  </a:moveTo>
                  <a:lnTo>
                    <a:pt x="209550" y="1664018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96402" y="4094798"/>
              <a:ext cx="419100" cy="151448"/>
            </a:xfrm>
            <a:custGeom>
              <a:avLst/>
              <a:gdLst/>
              <a:ahLst/>
              <a:cxnLst/>
              <a:rect l="l" t="t" r="r" b="b"/>
              <a:pathLst>
                <a:path w="419100" h="151448">
                  <a:moveTo>
                    <a:pt x="0" y="0"/>
                  </a:moveTo>
                  <a:lnTo>
                    <a:pt x="209550" y="0"/>
                  </a:lnTo>
                  <a:lnTo>
                    <a:pt x="209550" y="151448"/>
                  </a:lnTo>
                  <a:lnTo>
                    <a:pt x="419100" y="151448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6402" y="4094798"/>
              <a:ext cx="419100" cy="1663065"/>
            </a:xfrm>
            <a:custGeom>
              <a:avLst/>
              <a:gdLst/>
              <a:ahLst/>
              <a:cxnLst/>
              <a:rect l="l" t="t" r="r" b="b"/>
              <a:pathLst>
                <a:path w="419100" h="1663065">
                  <a:moveTo>
                    <a:pt x="0" y="0"/>
                  </a:moveTo>
                  <a:lnTo>
                    <a:pt x="209550" y="0"/>
                  </a:lnTo>
                  <a:lnTo>
                    <a:pt x="209550" y="1663065"/>
                  </a:lnTo>
                  <a:lnTo>
                    <a:pt x="419100" y="16630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698558" y="1640205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98558" y="2245042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98558" y="2849880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15502" y="2245042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98558" y="3348990"/>
              <a:ext cx="1163002" cy="582930"/>
            </a:xfrm>
            <a:prstGeom prst="roundRect">
              <a:avLst>
                <a:gd name="adj" fmla="val 16340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98558" y="4059555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98558" y="4664392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15502" y="4059555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698558" y="5269230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698558" y="5874068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15502" y="5571172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908108"/>
              <a:ext cx="1163002" cy="372428"/>
            </a:xfrm>
            <a:prstGeom prst="roundRect">
              <a:avLst>
                <a:gd name="adj" fmla="val 25575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787330" y="17368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87330" y="23426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87330" y="29475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光盘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04276" y="234267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存储型设备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87330" y="3446621"/>
              <a:ext cx="825754" cy="4598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扫描仪、打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印机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87330" y="415718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鼠标、键盘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87330" y="476202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显示器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204276" y="4157186"/>
              <a:ext cx="8931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I/O 型设备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87330" y="53668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87330" y="597169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交换机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04276" y="56688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网络设备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173" y="40057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按用途分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5160645" y="1524000"/>
            <a:ext cx="6497955" cy="2317909"/>
            <a:chOff x="5160645" y="1524000"/>
            <a:chExt cx="6497955" cy="2317909"/>
          </a:xfrm>
        </p:grpSpPr>
        <p:sp>
          <p:nvSpPr>
            <p:cNvPr id="43" name="Rectangle 43"/>
            <p:cNvSpPr/>
            <p:nvPr/>
          </p:nvSpPr>
          <p:spPr>
            <a:xfrm>
              <a:off x="5166360" y="1524000"/>
              <a:ext cx="649224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551627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按管理方式分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20304" y="1659731"/>
              <a:ext cx="1984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多个进程的 I/O 能否交叉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398811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典型设备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274183" y="21083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共享型设备（块型）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91553" y="210835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以块为单位，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可以交叉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49053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166360" y="241649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166360" y="2421255"/>
              <a:ext cx="649224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274183" y="255698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独占型设备（块型）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1553" y="255698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以块为单位，不宜交叉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949053" y="25569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286607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74183" y="3005614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独占型设备（字符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型）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91553" y="31189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以字符为单位，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不能交叉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949053" y="31189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166360" y="1524000"/>
              <a:ext cx="6492240" cy="20221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97896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36468" y="1524000"/>
              <a:ext cx="9525" cy="20221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60645" y="362188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典型设备一列是本讲义补充的例子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5166360" y="3988118"/>
            <a:ext cx="6492240" cy="2036445"/>
            <a:chOff x="5166360" y="3988118"/>
            <a:chExt cx="6492240" cy="2036445"/>
          </a:xfrm>
        </p:grpSpPr>
        <p:sp>
          <p:nvSpPr>
            <p:cNvPr id="64" name="Rectangle 64"/>
            <p:cNvSpPr/>
            <p:nvPr/>
          </p:nvSpPr>
          <p:spPr>
            <a:xfrm>
              <a:off x="5166360" y="3988118"/>
              <a:ext cx="6492240" cy="2036445"/>
            </a:xfrm>
            <a:prstGeom prst="roundRect">
              <a:avLst>
                <a:gd name="adj" fmla="val 65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5175885" y="4121468"/>
              <a:ext cx="47625" cy="1769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414010" y="4197668"/>
              <a:ext cx="122682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482310" y="4233386"/>
              <a:ext cx="1090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怎样理解“交叉”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406390" y="4574858"/>
              <a:ext cx="5755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 A 读写一块，进程 B 读写一块，A 再读写一块……就是交叉。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419725" y="497300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5577840" y="4910138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磁盘：每块都能直接定位，交叉只是多几次寻道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5419725" y="5308283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577840" y="5245418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磁带：只能顺序读写，交叉要来回倒带，效率很低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5419725" y="56435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577840" y="5580698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打印机：两个进程的字符交错印在同一张纸上，结果没法用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58419" cy="909257"/>
            <a:chOff x="520446" y="342900"/>
            <a:chExt cx="7958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58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设备每字节一次中断；磁带按一维地址顺序存放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cells-1"/>
          <p:cNvGrpSpPr/>
          <p:nvPr/>
        </p:nvGrpSpPr>
        <p:grpSpPr>
          <a:xfrm>
            <a:off x="527685" y="1524000"/>
            <a:ext cx="5956935" cy="745807"/>
            <a:chOff x="527685" y="1524000"/>
            <a:chExt cx="5956935" cy="745807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磁带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1548" y="1524000"/>
              <a:ext cx="614362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1763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头标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65910" y="1524000"/>
              <a:ext cx="6143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1691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81225" y="1524000"/>
              <a:ext cx="61436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2795588" y="1524000"/>
              <a:ext cx="6143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871368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信息块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410902" y="1524000"/>
              <a:ext cx="61436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025265" y="1524000"/>
              <a:ext cx="6143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101046" y="166354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信息块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640580" y="1524000"/>
              <a:ext cx="614362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54942" y="1524000"/>
              <a:ext cx="6143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469813" y="166354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870258" y="1524000"/>
              <a:ext cx="614362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20473" y="166354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尾标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2449830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62010" y="20935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间隙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3679508" y="19621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0"/>
                  </a:move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591687" y="209359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间隙</a:t>
              </a:r>
            </a:p>
          </p:txBody>
        </p:sp>
      </p:grpSp>
      <p:grpSp>
        <p:nvGrpSpPr>
          <p:cNvPr id="39" name="c1-card-2"/>
          <p:cNvGrpSpPr/>
          <p:nvPr/>
        </p:nvGrpSpPr>
        <p:grpSpPr>
          <a:xfrm>
            <a:off x="533400" y="2400300"/>
            <a:ext cx="5951220" cy="3099435"/>
            <a:chOff x="533400" y="2400300"/>
            <a:chExt cx="5951220" cy="3099435"/>
          </a:xfrm>
        </p:grpSpPr>
        <p:sp>
          <p:nvSpPr>
            <p:cNvPr id="28" name="Rectangle 28"/>
            <p:cNvSpPr/>
            <p:nvPr/>
          </p:nvSpPr>
          <p:spPr>
            <a:xfrm>
              <a:off x="533400" y="2400300"/>
              <a:ext cx="5951220" cy="3099435"/>
            </a:xfrm>
            <a:prstGeom prst="roundRect">
              <a:avLst>
                <a:gd name="adj" fmla="val 43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2533650"/>
              <a:ext cx="47625" cy="283273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2609850"/>
              <a:ext cx="149637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41934" y="2645569"/>
              <a:ext cx="13755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9.2 磁带的物理特性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30499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2987040"/>
              <a:ext cx="40740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：反绕、正向查找、反向查找、读、写……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33851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33223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：一维，即块在带上的顺序号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37204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365760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：顺序结构，一个文件占若干连续块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573" y="3989546"/>
              <a:ext cx="55183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要读第 100 块，磁头必须先经过前面 99 块，所以磁带只适合顺序存取。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789420" y="1524000"/>
            <a:ext cx="4869180" cy="1847850"/>
            <a:chOff x="6789420" y="1524000"/>
            <a:chExt cx="4869180" cy="1847850"/>
          </a:xfrm>
        </p:grpSpPr>
        <p:sp>
          <p:nvSpPr>
            <p:cNvPr id="40" name="Rectangle 40"/>
            <p:cNvSpPr/>
            <p:nvPr/>
          </p:nvSpPr>
          <p:spPr>
            <a:xfrm>
              <a:off x="6789420" y="1524000"/>
              <a:ext cx="4869180" cy="1847850"/>
            </a:xfrm>
            <a:prstGeom prst="roundRect">
              <a:avLst>
                <a:gd name="adj" fmla="val 721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98970" y="1733550"/>
              <a:ext cx="148875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051489" y="1769269"/>
              <a:ext cx="1384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I/O 设备的物理特性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1350" y="211074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键盘、打印机这类字符设备，每传输一个字节就发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生一次中断。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992493" y="2728436"/>
              <a:ext cx="42476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设备一多，CPU 就被频繁打断。9.3 的 DMA、通道方式就是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为减少中断而出现的。</a:t>
              </a:r>
            </a:p>
          </p:txBody>
        </p:sp>
      </p:grpSp>
      <p:grpSp>
        <p:nvGrpSpPr>
          <p:cNvPr id="52" name="c2-card-2"/>
          <p:cNvGrpSpPr/>
          <p:nvPr/>
        </p:nvGrpSpPr>
        <p:grpSpPr>
          <a:xfrm>
            <a:off x="6789420" y="3562350"/>
            <a:ext cx="4869180" cy="1937385"/>
            <a:chOff x="6789420" y="3562350"/>
            <a:chExt cx="4869180" cy="1937385"/>
          </a:xfrm>
        </p:grpSpPr>
        <p:sp>
          <p:nvSpPr>
            <p:cNvPr id="46" name="Rectangle 46"/>
            <p:cNvSpPr/>
            <p:nvPr/>
          </p:nvSpPr>
          <p:spPr>
            <a:xfrm>
              <a:off x="6789420" y="3562350"/>
              <a:ext cx="486918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798945" y="369570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037070" y="3771900"/>
              <a:ext cx="177450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88873" y="3807619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块与块之间为什么留间隙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29450" y="414909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磁带机启动和停止都需要一小段加速、减速的距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离。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29450" y="4770120"/>
              <a:ext cx="4206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块之间留出空白的间隙，读写完一块后磁带可以停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在间隙里，下次再从间隙起步。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3" name="Rectangle 5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130" y="5991225"/>
              <a:ext cx="10515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对比下一页的磁盘：磁带只能顺序存取，地址是一维块号；磁盘能直接定位到任一块，地址是（柱面，盘面，扇区）。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磁盘组：柱面、盘面、扇区构成三维地址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c1-image-1"/>
          <p:cNvGrpSpPr/>
          <p:nvPr/>
        </p:nvGrpSpPr>
        <p:grpSpPr>
          <a:xfrm>
            <a:off x="533400" y="1524000"/>
            <a:ext cx="4869180" cy="4858416"/>
            <a:chOff x="533400" y="1524000"/>
            <a:chExt cx="4869180" cy="4858416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rcRect l="10088" t="0" r="10087" b="0"/>
            <a:stretch>
              <a:fillRect/>
            </a:stretch>
          </p:blipFill>
          <p:spPr>
            <a:xfrm>
              <a:off x="533400" y="1524000"/>
              <a:ext cx="4869180" cy="4574858"/>
            </a:xfrm>
            <a:prstGeom prst="roundRect">
              <a:avLst>
                <a:gd name="adj" fmla="val 2914"/>
              </a:avLst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984123" y="6191726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各盘面同一半径上的磁道合成一个柱面，引臂带动全部磁头一起移动</a:t>
              </a:r>
            </a:p>
          </p:txBody>
        </p:sp>
      </p:grpSp>
      <p:grpSp>
        <p:nvGrpSpPr>
          <p:cNvPr id="21" name="c2-kv-1"/>
          <p:cNvGrpSpPr/>
          <p:nvPr/>
        </p:nvGrpSpPr>
        <p:grpSpPr>
          <a:xfrm>
            <a:off x="5700522" y="1545907"/>
            <a:ext cx="5958078" cy="1441324"/>
            <a:chOff x="5700522" y="1545907"/>
            <a:chExt cx="5958078" cy="1441324"/>
          </a:xfrm>
        </p:grpSpPr>
        <p:sp>
          <p:nvSpPr>
            <p:cNvPr id="10" name="TextBox 10"/>
            <p:cNvSpPr txBox="1"/>
            <p:nvPr/>
          </p:nvSpPr>
          <p:spPr>
            <a:xfrm>
              <a:off x="5700522" y="1545907"/>
              <a:ext cx="673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柱面号 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43497" y="1545907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引臂停在哪个半径；共 l 个柱面，编号 0 … l−1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07380" y="183261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00522" y="1938338"/>
              <a:ext cx="673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盘面号 j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43497" y="1938338"/>
              <a:ext cx="3684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用哪个磁头读写；共 m 个盘面，编号 0 … m−1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07380" y="222504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00522" y="2330768"/>
              <a:ext cx="7211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扇区号 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43497" y="2330768"/>
              <a:ext cx="37938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磁道上的哪一段；每道 n 个扇区，编号 0 … n−1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07380" y="261747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700522" y="2723198"/>
              <a:ext cx="539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块号 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43497" y="27231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把三维地址排成一维后的编号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5707380" y="3104198"/>
            <a:ext cx="5951220" cy="2101215"/>
            <a:chOff x="5707380" y="3104198"/>
            <a:chExt cx="5951220" cy="2101215"/>
          </a:xfrm>
        </p:grpSpPr>
        <p:sp>
          <p:nvSpPr>
            <p:cNvPr id="22" name="Rectangle 22"/>
            <p:cNvSpPr/>
            <p:nvPr/>
          </p:nvSpPr>
          <p:spPr>
            <a:xfrm>
              <a:off x="5707380" y="3104198"/>
              <a:ext cx="5951220" cy="2101215"/>
            </a:xfrm>
            <a:prstGeom prst="roundRect">
              <a:avLst>
                <a:gd name="adj" fmla="val 6346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894070" y="3290888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945035" y="3323749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编址方法：相邻块物理上最近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887212" y="3635692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三维地址 ⇒ 块号：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formula8"/>
                <p:cNvSpPr txBox="1">
                  <a:spLocks noGrp="1"/>
                </p:cNvSpPr>
                <p:nvPr/>
              </p:nvSpPr>
              <p:spPr>
                <a:xfrm>
                  <a:off x="5894070" y="3912870"/>
                  <a:ext cx="5577840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7" name="TextBox 27"/>
            <p:cNvSpPr txBox="1"/>
            <p:nvPr/>
          </p:nvSpPr>
          <p:spPr>
            <a:xfrm>
              <a:off x="5887212" y="438150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块号 ⇒ 三维地址（÷ 表示整除）：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formula9"/>
                <p:cNvSpPr txBox="1">
                  <a:spLocks noGrp="1"/>
                </p:cNvSpPr>
                <p:nvPr/>
              </p:nvSpPr>
              <p:spPr>
                <a:xfrm>
                  <a:off x="5894070" y="4659630"/>
                  <a:ext cx="557784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i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÷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j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mod</m:t>
                                </m:r>
                              </m:fName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func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÷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,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 xml:space="preserve"> </m:t>
                        </m:r>
                        <m: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k</m:t>
                        </m:r>
                        <m:r>
                          <m:rPr>
                            <m:sty m:val="p"/>
                          </m:rPr>
                          <a:rPr lang="zh-CN" sz="135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  <m:func>
                              <m:funcPr/>
                              <m:fName>
                                <m:r>
                                  <m:rPr>
                                    <m:sty m:val="p"/>
                                  </m:rP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mod</m:t>
                                </m:r>
                              </m:fName>
                              <m:e>
                                <m:r>
                                  <a:rPr lang="zh-CN" sz="135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m</m:t>
                                </m:r>
                              </m:e>
                            </m:func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d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mod</m:t>
                            </m:r>
                          </m:fName>
                          <m:e>
                            <m:r>
                              <a:rPr lang="zh-CN" sz="135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n</m:t>
                            </m:r>
                          </m:e>
                        </m:func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36" name="c2-callout-3"/>
          <p:cNvGrpSpPr/>
          <p:nvPr/>
        </p:nvGrpSpPr>
        <p:grpSpPr>
          <a:xfrm>
            <a:off x="5707380" y="5375910"/>
            <a:ext cx="5951220" cy="729615"/>
            <a:chOff x="5707380" y="5375910"/>
            <a:chExt cx="5951220" cy="729615"/>
          </a:xfrm>
        </p:grpSpPr>
        <p:sp>
          <p:nvSpPr>
            <p:cNvPr id="30" name="Rectangle 30"/>
            <p:cNvSpPr/>
            <p:nvPr/>
          </p:nvSpPr>
          <p:spPr>
            <a:xfrm>
              <a:off x="5707380" y="5375910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912168" y="5640705"/>
              <a:ext cx="200026" cy="200025"/>
              <a:chOff x="5912168" y="5640705"/>
              <a:chExt cx="200026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12168" y="56407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51906" y="56851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86622" y="57962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214872" y="5521642"/>
              <a:ext cx="49857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先按柱面、再按盘面、最后按扇区编号：同一柱面上换盘面只需切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换磁头，不用移动引臂，最省时间。</a:t>
              </a:r>
            </a:p>
          </p:txBody>
        </p:sp>
      </p:grpSp>
      <p:grpSp>
        <p:nvGrpSpPr>
          <p:cNvPr id="3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5114" cy="909257"/>
            <a:chOff x="520446" y="342900"/>
            <a:chExt cx="632511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511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例：l = 2，m = 3，n = 3 时的块号与换算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5" name="c1-cells-1"/>
          <p:cNvGrpSpPr/>
          <p:nvPr/>
        </p:nvGrpSpPr>
        <p:grpSpPr>
          <a:xfrm>
            <a:off x="527304" y="1524000"/>
            <a:ext cx="8223313" cy="1847850"/>
            <a:chOff x="527304" y="1524000"/>
            <a:chExt cx="8223313" cy="184785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6592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柱面号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239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07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430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998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621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189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812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380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003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71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194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762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385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953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576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144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767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335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958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526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149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717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340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908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531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099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722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290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91350" y="15240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481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4104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5672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829550" y="15240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863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48650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05458" y="16592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304" y="213550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盘面号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1239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2807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5430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998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621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1189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3812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380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8003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571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2194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3762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6385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7953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0576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144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4767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6335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8958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0526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149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717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7340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8908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1531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099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5722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7290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6991350" y="200025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481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74104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5672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829550" y="200025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863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8248650" y="20002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05458" y="21355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27304" y="26117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扇区号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11239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2807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5430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6998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9621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1189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3812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5380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8003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9571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2194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3762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6385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7953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144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4767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6335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8958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50526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3149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4717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57340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58908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61531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3099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65722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67290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6991350" y="247650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71481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4104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5672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829550" y="247650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9863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8248650" y="24765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405458" y="261175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527304" y="308800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块号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1123950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282663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1547812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706526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197167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2130388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239458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2554251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7" name="Rectangle 127"/>
            <p:cNvSpPr/>
            <p:nvPr/>
          </p:nvSpPr>
          <p:spPr>
            <a:xfrm>
              <a:off x="2818448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2978113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9" name="Rectangle 129"/>
            <p:cNvSpPr/>
            <p:nvPr/>
          </p:nvSpPr>
          <p:spPr>
            <a:xfrm>
              <a:off x="3242310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3401023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3666172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3824886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3" name="Rectangle 133"/>
            <p:cNvSpPr/>
            <p:nvPr/>
          </p:nvSpPr>
          <p:spPr>
            <a:xfrm>
              <a:off x="409003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4" name="TextBox 134"/>
            <p:cNvSpPr txBox="1"/>
            <p:nvPr/>
          </p:nvSpPr>
          <p:spPr>
            <a:xfrm>
              <a:off x="4248748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5" name="Rectangle 135"/>
            <p:cNvSpPr/>
            <p:nvPr/>
          </p:nvSpPr>
          <p:spPr>
            <a:xfrm>
              <a:off x="451294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4672611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4936808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5096473" y="308800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5360670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0" name="TextBox 140"/>
            <p:cNvSpPr txBox="1"/>
            <p:nvPr/>
          </p:nvSpPr>
          <p:spPr>
            <a:xfrm>
              <a:off x="5472737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1" name="Rectangle 141"/>
            <p:cNvSpPr/>
            <p:nvPr/>
          </p:nvSpPr>
          <p:spPr>
            <a:xfrm>
              <a:off x="5784532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5896600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620839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6320462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663130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6744325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7055168" y="2952750"/>
              <a:ext cx="42386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7168187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7479030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7591097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7902892" y="2952750"/>
              <a:ext cx="42386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8014960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8326755" y="295275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8438822" y="308800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  <p:grpSp>
        <p:nvGrpSpPr>
          <p:cNvPr id="181" name="c1-table-2"/>
          <p:cNvGrpSpPr/>
          <p:nvPr/>
        </p:nvGrpSpPr>
        <p:grpSpPr>
          <a:xfrm>
            <a:off x="527685" y="3562350"/>
            <a:ext cx="11130915" cy="2091214"/>
            <a:chOff x="527685" y="3562350"/>
            <a:chExt cx="11130915" cy="2091214"/>
          </a:xfrm>
        </p:grpSpPr>
        <p:sp>
          <p:nvSpPr>
            <p:cNvPr id="156" name="Rectangle 156"/>
            <p:cNvSpPr/>
            <p:nvPr/>
          </p:nvSpPr>
          <p:spPr>
            <a:xfrm>
              <a:off x="533400" y="356235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1071931" y="36980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换算方向</a:t>
              </a:r>
            </a:p>
          </p:txBody>
        </p:sp>
        <p:sp>
          <p:nvSpPr>
            <p:cNvPr id="158" name="TextBox 158"/>
            <p:cNvSpPr txBox="1"/>
            <p:nvPr/>
          </p:nvSpPr>
          <p:spPr>
            <a:xfrm>
              <a:off x="2913024" y="36980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159" name="TextBox 159"/>
            <p:cNvSpPr txBox="1"/>
            <p:nvPr/>
          </p:nvSpPr>
          <p:spPr>
            <a:xfrm>
              <a:off x="6412598" y="36980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计算过程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0478732" y="36980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161" name="TextBox 161"/>
            <p:cNvSpPr txBox="1"/>
            <p:nvPr/>
          </p:nvSpPr>
          <p:spPr>
            <a:xfrm>
              <a:off x="641223" y="4146709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三维 ⇒ 块号</a:t>
              </a:r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2701940" y="4146709"/>
              <a:ext cx="77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(1, 2, 1)</a:t>
              </a:r>
            </a:p>
          </p:txBody>
        </p:sp>
        <p:sp>
          <p:nvSpPr>
            <p:cNvPr id="163" name="TextBox 163"/>
            <p:cNvSpPr txBox="1"/>
            <p:nvPr/>
          </p:nvSpPr>
          <p:spPr>
            <a:xfrm>
              <a:off x="3978783" y="4146709"/>
              <a:ext cx="2433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1×3×3 + 2×3 + 1 = 9 + 6 + 1</a:t>
              </a:r>
            </a:p>
          </p:txBody>
        </p:sp>
        <p:sp>
          <p:nvSpPr>
            <p:cNvPr id="164" name="TextBox 164"/>
            <p:cNvSpPr txBox="1"/>
            <p:nvPr/>
          </p:nvSpPr>
          <p:spPr>
            <a:xfrm>
              <a:off x="10397745" y="4146709"/>
              <a:ext cx="5195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 = 16</a:t>
              </a:r>
            </a:p>
          </p:txBody>
        </p:sp>
        <p:sp>
          <p:nvSpPr>
            <p:cNvPr id="165" name="Rectangle 165"/>
            <p:cNvSpPr/>
            <p:nvPr/>
          </p:nvSpPr>
          <p:spPr>
            <a:xfrm>
              <a:off x="533400" y="44548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533400" y="445960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641223" y="4595336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块号 ⇒ 三维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2844099" y="4595336"/>
              <a:ext cx="4954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14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3978783" y="4595336"/>
              <a:ext cx="44758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14÷9 = 1；14 mod 9 = 5；j = 5÷3 = 1；k = 5 mod 3 = 2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10248478" y="4595336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(1, 1, 2)</a:t>
              </a:r>
            </a:p>
          </p:txBody>
        </p:sp>
        <p:sp>
          <p:nvSpPr>
            <p:cNvPr id="171" name="Rectangle 171"/>
            <p:cNvSpPr/>
            <p:nvPr/>
          </p:nvSpPr>
          <p:spPr>
            <a:xfrm>
              <a:off x="533400" y="490442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2" name="TextBox 172"/>
            <p:cNvSpPr txBox="1"/>
            <p:nvPr/>
          </p:nvSpPr>
          <p:spPr>
            <a:xfrm>
              <a:off x="641223" y="5043964"/>
              <a:ext cx="9102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块号 ⇒ 三维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2891485" y="5043964"/>
              <a:ext cx="4006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= 7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3978783" y="5043964"/>
              <a:ext cx="4286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7÷9 = 0；7 mod 9 = 7；j = 7÷3 = 2；k = 7 mod 3 = 1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10248478" y="5043964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(0, 2, 1)</a:t>
              </a:r>
            </a:p>
          </p:txBody>
        </p:sp>
        <p:sp>
          <p:nvSpPr>
            <p:cNvPr id="176" name="Rectangle 176"/>
            <p:cNvSpPr/>
            <p:nvPr/>
          </p:nvSpPr>
          <p:spPr>
            <a:xfrm>
              <a:off x="533400" y="3562350"/>
              <a:ext cx="11125200" cy="1795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77" name="Rectangle 177"/>
            <p:cNvSpPr/>
            <p:nvPr/>
          </p:nvSpPr>
          <p:spPr>
            <a:xfrm>
              <a:off x="2308860" y="3562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3866198" y="3562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9" name="Rectangle 179"/>
            <p:cNvSpPr/>
            <p:nvPr/>
          </p:nvSpPr>
          <p:spPr>
            <a:xfrm>
              <a:off x="9651682" y="3562350"/>
              <a:ext cx="9525" cy="1795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527685" y="5433536"/>
              <a:ext cx="51679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表中高亮的两列就是 b = 16（绿）和 b = 14（橙），可以对照上面的编号验证</a:t>
              </a:r>
            </a:p>
          </p:txBody>
        </p:sp>
      </p:grpSp>
      <p:grpSp>
        <p:nvGrpSpPr>
          <p:cNvPr id="18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82" name="Rectangle 18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86" name="Group 18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183" name="Freeform 18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4" name="Freeform 18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85" name="Freeform 18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87" name="TextBox 187"/>
            <p:cNvSpPr txBox="1"/>
            <p:nvPr/>
          </p:nvSpPr>
          <p:spPr>
            <a:xfrm>
              <a:off x="1040130" y="5991225"/>
              <a:ext cx="68808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mn 是 n 的倍数，所以 k = (b mod mn) mod n 也可以直接写成 k = b mod n。</a:t>
              </a:r>
            </a:p>
          </p:txBody>
        </p:sp>
      </p:grpSp>
      <p:grpSp>
        <p:nvGrpSpPr>
          <p:cNvPr id="19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89" name="TextBox 18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90" name="TextBox 19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扇区为什么交错编号：读完一块还要花时间处理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660761" cy="512636"/>
            <a:chOff x="526542" y="1545907"/>
            <a:chExt cx="10660761" cy="512636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6607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连续读 0、1、2 … 号扇区时，主机处理完上一块，磁盘已经转过了下一块的开头，只能再等一圈。把逻辑上相邻的扇区在物理上隔开，就能省</a:t>
              </a:r>
              <a:br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去空转。</a:t>
              </a:r>
            </a:p>
          </p:txBody>
        </p:sp>
      </p:grpSp>
      <p:grpSp>
        <p:nvGrpSpPr>
          <p:cNvPr id="60" name="c1-cells-1"/>
          <p:cNvGrpSpPr/>
          <p:nvPr/>
        </p:nvGrpSpPr>
        <p:grpSpPr>
          <a:xfrm>
            <a:off x="527685" y="2177415"/>
            <a:ext cx="3918585" cy="1542098"/>
            <a:chOff x="527685" y="2177415"/>
            <a:chExt cx="3918585" cy="1542098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29123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不交错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93470" y="217741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537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12570" y="217741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728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31670" y="217741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919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50770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110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69870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301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88970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492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08070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683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27170" y="217741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87469" y="22912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7685" y="287797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单交错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093470" y="276415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2537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512570" y="27641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728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31670" y="276415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0919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350770" y="27641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110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69870" y="276415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301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188970" y="27641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3492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608070" y="27641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7683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4027170" y="276415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187469" y="2877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685" y="346471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双交错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93470" y="335089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2537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51257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6728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93167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0919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350770" y="335089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5110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76987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9301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318897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3492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3608070" y="335089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7683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027170" y="335089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187469" y="3464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2" name="c1-text-2"/>
          <p:cNvGrpSpPr/>
          <p:nvPr/>
        </p:nvGrpSpPr>
        <p:grpSpPr>
          <a:xfrm>
            <a:off x="527685" y="3907631"/>
            <a:ext cx="5416550" cy="441008"/>
            <a:chOff x="527685" y="3907631"/>
            <a:chExt cx="5416550" cy="441008"/>
          </a:xfrm>
        </p:grpSpPr>
        <p:sp>
          <p:nvSpPr>
            <p:cNvPr id="61" name="TextBox 61"/>
            <p:cNvSpPr txBox="1"/>
            <p:nvPr/>
          </p:nvSpPr>
          <p:spPr>
            <a:xfrm>
              <a:off x="527685" y="3907631"/>
              <a:ext cx="541655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格子从左到右是磁头依次经过的物理位置，转到最右又回到最左；格中数字是扇区号，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绿色标出 0、1、2 号扇区的位置。原课件把同样的编号画在圆周上。</a:t>
              </a:r>
            </a:p>
          </p:txBody>
        </p:sp>
      </p:grpSp>
      <p:grpSp>
        <p:nvGrpSpPr>
          <p:cNvPr id="71" name="c1-card-3"/>
          <p:cNvGrpSpPr/>
          <p:nvPr/>
        </p:nvGrpSpPr>
        <p:grpSpPr>
          <a:xfrm>
            <a:off x="533400" y="4474845"/>
            <a:ext cx="5626418" cy="1676400"/>
            <a:chOff x="533400" y="4474845"/>
            <a:chExt cx="5626418" cy="1676400"/>
          </a:xfrm>
        </p:grpSpPr>
        <p:sp>
          <p:nvSpPr>
            <p:cNvPr id="63" name="Rectangle 63"/>
            <p:cNvSpPr/>
            <p:nvPr/>
          </p:nvSpPr>
          <p:spPr>
            <a:xfrm>
              <a:off x="533400" y="4474845"/>
              <a:ext cx="5626418" cy="1676400"/>
            </a:xfrm>
            <a:prstGeom prst="roundRect">
              <a:avLst>
                <a:gd name="adj" fmla="val 79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4608195"/>
              <a:ext cx="47625" cy="14097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58190" y="4661535"/>
              <a:ext cx="174783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12155" y="4694396"/>
              <a:ext cx="16408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单交错时顺序读 0–7 号扇区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66762" y="506253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2782" y="5006340"/>
              <a:ext cx="470287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圈：在位置 0、2、4、6 读 0–3 号，两块之间留 1 个扇区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66762" y="561975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22782" y="5563552"/>
              <a:ext cx="42572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圈：在位置 1、3、5、7 读 4–7 号，约 2 圈读完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6464618" y="2177415"/>
            <a:ext cx="5193982" cy="1800225"/>
            <a:chOff x="6464618" y="2177415"/>
            <a:chExt cx="5193982" cy="1800225"/>
          </a:xfrm>
        </p:grpSpPr>
        <p:sp>
          <p:nvSpPr>
            <p:cNvPr id="72" name="Rectangle 72"/>
            <p:cNvSpPr/>
            <p:nvPr/>
          </p:nvSpPr>
          <p:spPr>
            <a:xfrm>
              <a:off x="6464618" y="2177415"/>
              <a:ext cx="5193982" cy="60007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28854" y="239887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编号方式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98118" y="2298859"/>
              <a:ext cx="8648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相邻两号之间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隔开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95385" y="23988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适合的处理时间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307387" y="2398871"/>
              <a:ext cx="1248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顺序读完 8 块约转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561772" y="28989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不交错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934597" y="289893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个扇区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950642" y="289893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几乎为 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786661" y="289893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圈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464618" y="317277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464618" y="3177540"/>
              <a:ext cx="519398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561772" y="329898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单交错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934597" y="329898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个扇区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50642" y="3298984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1 个扇区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86661" y="3298984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圈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464618" y="35728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61772" y="369903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双交错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934597" y="3699034"/>
              <a:ext cx="5919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个扇区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950642" y="3699034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不超过 2 个扇区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0662272" y="3699034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2.75 圈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464618" y="2177415"/>
              <a:ext cx="5193982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7602855" y="217741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8848725" y="217741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10199370" y="217741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6" name="c2-card-2"/>
          <p:cNvGrpSpPr/>
          <p:nvPr/>
        </p:nvGrpSpPr>
        <p:grpSpPr>
          <a:xfrm>
            <a:off x="6464618" y="4147185"/>
            <a:ext cx="5193982" cy="2004060"/>
            <a:chOff x="6464618" y="4147185"/>
            <a:chExt cx="5193982" cy="2004060"/>
          </a:xfrm>
        </p:grpSpPr>
        <p:sp>
          <p:nvSpPr>
            <p:cNvPr id="97" name="Rectangle 97"/>
            <p:cNvSpPr/>
            <p:nvPr/>
          </p:nvSpPr>
          <p:spPr>
            <a:xfrm>
              <a:off x="6464618" y="4147185"/>
              <a:ext cx="5193982" cy="2004060"/>
            </a:xfrm>
            <a:prstGeom prst="roundRect">
              <a:avLst>
                <a:gd name="adj" fmla="val 6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6474142" y="4280535"/>
              <a:ext cx="47625" cy="173736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689408" y="4333875"/>
              <a:ext cx="1329690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755625" y="4366736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编号方式选错的代价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6697980" y="473487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853999" y="4678680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处理要占 1 个扇区的时间却不交错：每读一块几乎都要空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转一整圈，读完 8 块约转 8 圈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697980" y="529209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853999" y="5235892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处理要占 2 个扇区的时间却只单交错：同样每块都错过，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也约转 8 圈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683692" y="5789771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圈数由本讲义用脚本逐块模拟得到。</a:t>
              </a:r>
            </a:p>
          </p:txBody>
        </p:sp>
      </p:grpSp>
      <p:grpSp>
        <p:nvGrpSpPr>
          <p:cNvPr id="10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7" name="TextBox 10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4369" cy="909257"/>
            <a:chOff x="520446" y="342900"/>
            <a:chExt cx="6184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51079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148" y="407194"/>
              <a:ext cx="24152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设备与物理特性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4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光盘：一条螺旋线，扇区里是 2352 字节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4760595" cy="3089910"/>
            <a:chOff x="533400" y="1524000"/>
            <a:chExt cx="4760595" cy="30899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3089910"/>
            </a:xfrm>
            <a:prstGeom prst="roundRect">
              <a:avLst>
                <a:gd name="adj" fmla="val 43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82321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光盘的物理特性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86765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880" y="2110740"/>
              <a:ext cx="38157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读取原理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：盘面上的凹坑（pit）和平台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（land）反射激光的情况不同，据此读出数据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7946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31770"/>
              <a:ext cx="36442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螺旋线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：数据沿一条螺旋线排列，共 22188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圈，展开约 5.6 km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4156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352800"/>
              <a:ext cx="39395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转速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：读内侧时 530 转/分，读外侧时 200 转/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分，使数据密度均匀、读取速度均匀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573" y="397049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越往外圈周长越大，转速必须降低，磁头下经过的线速度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才保持不变。</a:t>
              </a:r>
            </a:p>
          </p:txBody>
        </p:sp>
      </p:grpSp>
      <p:grpSp>
        <p:nvGrpSpPr>
          <p:cNvPr id="24" name="c1-card-2"/>
          <p:cNvGrpSpPr/>
          <p:nvPr/>
        </p:nvGrpSpPr>
        <p:grpSpPr>
          <a:xfrm>
            <a:off x="533400" y="4804410"/>
            <a:ext cx="4760595" cy="1293495"/>
            <a:chOff x="533400" y="4804410"/>
            <a:chExt cx="4760595" cy="1293495"/>
          </a:xfrm>
        </p:grpSpPr>
        <p:sp>
          <p:nvSpPr>
            <p:cNvPr id="19" name="Rectangle 19"/>
            <p:cNvSpPr/>
            <p:nvPr/>
          </p:nvSpPr>
          <p:spPr>
            <a:xfrm>
              <a:off x="533400" y="4804410"/>
              <a:ext cx="4760595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493776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0139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71258" y="50496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430" y="539115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 symbol（符号）拼作 symble。</a:t>
              </a:r>
            </a:p>
          </p:txBody>
        </p:sp>
      </p:grpSp>
      <p:grpSp>
        <p:nvGrpSpPr>
          <p:cNvPr id="42" name="c2-steps-1"/>
          <p:cNvGrpSpPr/>
          <p:nvPr/>
        </p:nvGrpSpPr>
        <p:grpSpPr>
          <a:xfrm>
            <a:off x="5598795" y="1524000"/>
            <a:ext cx="6059805" cy="1685925"/>
            <a:chOff x="5598795" y="1524000"/>
            <a:chExt cx="6059805" cy="1685925"/>
          </a:xfrm>
        </p:grpSpPr>
        <p:sp>
          <p:nvSpPr>
            <p:cNvPr id="25" name="Rectangle 25"/>
            <p:cNvSpPr/>
            <p:nvPr/>
          </p:nvSpPr>
          <p:spPr>
            <a:xfrm>
              <a:off x="5598795" y="1524000"/>
              <a:ext cx="1829752" cy="1685925"/>
            </a:xfrm>
            <a:prstGeom prst="roundRect">
              <a:avLst>
                <a:gd name="adj" fmla="val 678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5732145" y="1657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822278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24525" y="2063115"/>
              <a:ext cx="116586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 bit ⇒ 1 个</a:t>
              </a:r>
              <a:br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symbol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25668" y="2623661"/>
              <a:ext cx="142722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每个符号由 14 个比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特构成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504748" y="228123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714298" y="1524000"/>
              <a:ext cx="1829752" cy="1685925"/>
            </a:xfrm>
            <a:prstGeom prst="roundRect">
              <a:avLst>
                <a:gd name="adj" fmla="val 678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847648" y="1657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937781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40028" y="2063115"/>
              <a:ext cx="1285399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 symbol ⇒ 1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frame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1170" y="2623661"/>
              <a:ext cx="149225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 × 14 = 588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bit，含 24 字节数据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9619298" y="2281238"/>
              <a:ext cx="133350" cy="171450"/>
            </a:xfrm>
            <a:custGeom>
              <a:avLst/>
              <a:gdLst/>
              <a:ahLst/>
              <a:cxnLst/>
              <a:rect l="l" t="t" r="r" b="b"/>
              <a:pathLst>
                <a:path w="133350" h="171450">
                  <a:moveTo>
                    <a:pt x="0" y="0"/>
                  </a:moveTo>
                  <a:lnTo>
                    <a:pt x="133350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828848" y="1524000"/>
              <a:ext cx="1829752" cy="1685925"/>
            </a:xfrm>
            <a:prstGeom prst="roundRect">
              <a:avLst>
                <a:gd name="adj" fmla="val 678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962198" y="1657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052331" y="172783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954578" y="2063115"/>
              <a:ext cx="1225391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 frame ⇒ 1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sector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955720" y="2623661"/>
              <a:ext cx="13134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98 × 24 = 2352 字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</a:t>
              </a:r>
            </a:p>
          </p:txBody>
        </p:sp>
      </p:grpSp>
      <p:grpSp>
        <p:nvGrpSpPr>
          <p:cNvPr id="67" name="c2-table-2"/>
          <p:cNvGrpSpPr/>
          <p:nvPr/>
        </p:nvGrpSpPr>
        <p:grpSpPr>
          <a:xfrm>
            <a:off x="5598795" y="3400425"/>
            <a:ext cx="6059805" cy="2697481"/>
            <a:chOff x="5598795" y="3400425"/>
            <a:chExt cx="6059805" cy="2697481"/>
          </a:xfrm>
        </p:grpSpPr>
        <p:sp>
          <p:nvSpPr>
            <p:cNvPr id="43" name="Rectangle 43"/>
            <p:cNvSpPr/>
            <p:nvPr/>
          </p:nvSpPr>
          <p:spPr>
            <a:xfrm>
              <a:off x="5598795" y="3400425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4441" y="353520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扇区组成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52170" y="353520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字节数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01479" y="35352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706618" y="4098131"/>
              <a:ext cx="969213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Preamble 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导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315868" y="421147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009763" y="3984784"/>
              <a:ext cx="332917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12 字节为 00 FF FF … FF 00（中间 10 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FF），随后 3 字节扇区编号，最后 1 字节是模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式（mode）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474630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598795" y="4751070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706618" y="4886801"/>
              <a:ext cx="8163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数据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21096" y="488680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2048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9763" y="488680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用户数据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51949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706618" y="5335429"/>
              <a:ext cx="9026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ECC 纠错码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68482" y="533542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009763" y="53354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检错、纠错信息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598795" y="564451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598795" y="564927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706618" y="57840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21096" y="578405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2352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009763" y="5784056"/>
              <a:ext cx="32093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 + 2048 + 288 = 2352，与 98 × 24 一致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598795" y="3400425"/>
              <a:ext cx="605980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27532" y="340042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97178" y="340042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179896" cy="3351847"/>
            <a:chOff x="667512" y="1835468"/>
            <a:chExt cx="617989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966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传输方式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169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 I/O 里 CPU 亲自做的事越少，它能腾出来计算的时间越多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46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9.3.1 程序控制查询方式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427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9.3.2 中断驱动方式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285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9.3.3 DMA 方式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388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9.3.4 通道方式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55641" cy="909257"/>
            <a:chOff x="520446" y="342900"/>
            <a:chExt cx="67556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62" y="407194"/>
              <a:ext cx="2280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I/O 传输方式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556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四种方式的演变：CPU 一步步从 I/O 里脱身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table-1"/>
          <p:cNvGrpSpPr/>
          <p:nvPr/>
        </p:nvGrpSpPr>
        <p:grpSpPr>
          <a:xfrm>
            <a:off x="533400" y="1524000"/>
            <a:ext cx="11125200" cy="2762250"/>
            <a:chOff x="533400" y="1524000"/>
            <a:chExt cx="11125200" cy="2762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6683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35477" y="165258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数据由谁搬运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7888" y="1652588"/>
              <a:ext cx="1492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与设备能否并行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76146" y="1652588"/>
              <a:ext cx="1223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中断 CPU 的频率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72141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35889" y="2183130"/>
              <a:ext cx="15072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程序查询（polling）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38044" y="2183130"/>
              <a:ext cx="2606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反复读设备状态，自己传送数据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19344" y="2183130"/>
              <a:ext cx="14758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不能</a:t>
              </a: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：CPU 忙等设备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3894" y="2076450"/>
              <a:ext cx="17266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不用中断，但 CPU 一直在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7492" y="218313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早期系统、极简单的设备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58127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586038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2821305"/>
              <a:ext cx="1778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中断驱动（interrupt）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38044" y="2821305"/>
              <a:ext cx="2606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在中断处理程序里逐个字节传送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19344" y="282130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3894" y="271462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每传一个字节一次，设备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多时中断太多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47492" y="282130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低速字符设备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21945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5889" y="3352800"/>
              <a:ext cx="1636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DMA（直接内存存取）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38044" y="3352800"/>
              <a:ext cx="23176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控制器负责整块数据的传输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19344" y="335280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3894" y="33528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每传完一块一次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47492" y="3352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磁盘等块设备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64331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648075"/>
              <a:ext cx="1112520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889" y="3883342"/>
              <a:ext cx="1269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通道（channel）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638044" y="3776662"/>
              <a:ext cx="23286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专门处理 I/O 的处理机执行通道程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19344" y="3883342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能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33894" y="388334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一个通道程序执行完一次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47492" y="388334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大型机上的多台高速设备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1524000"/>
              <a:ext cx="11125200" cy="2762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2530792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12092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426642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540240" y="1524000"/>
              <a:ext cx="9525" cy="2762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4" name="c1-flow-2"/>
          <p:cNvGrpSpPr/>
          <p:nvPr/>
        </p:nvGrpSpPr>
        <p:grpSpPr>
          <a:xfrm>
            <a:off x="727710" y="4784408"/>
            <a:ext cx="10735628" cy="411480"/>
            <a:chOff x="727710" y="4784408"/>
            <a:chExt cx="10735628" cy="411480"/>
          </a:xfrm>
        </p:grpSpPr>
        <p:sp>
          <p:nvSpPr>
            <p:cNvPr id="44" name="Freeform 44"/>
            <p:cNvSpPr/>
            <p:nvPr/>
          </p:nvSpPr>
          <p:spPr>
            <a:xfrm>
              <a:off x="3120390" y="499014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3404235" y="4937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5901690" y="499014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185535" y="4937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682990" y="4990148"/>
              <a:ext cx="283845" cy="9525"/>
            </a:xfrm>
            <a:custGeom>
              <a:avLst/>
              <a:gdLst/>
              <a:ahLst/>
              <a:cxnLst/>
              <a:rect l="l" t="t" r="r" b="b"/>
              <a:pathLst>
                <a:path w="283845" h="9525">
                  <a:moveTo>
                    <a:pt x="0" y="0"/>
                  </a:moveTo>
                  <a:lnTo>
                    <a:pt x="28384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966835" y="4937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27710" y="4784408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3509010" y="4784408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90310" y="4784408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071610" y="4784408"/>
              <a:ext cx="2391728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594866" y="49063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程序查询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4376166" y="490632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中断驱动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322668" y="4906328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00310" y="490632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955608" y="4784408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979928" y="480869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设备能并行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99772" y="478440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827192" y="480869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按块中断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518208" y="4784408"/>
              <a:ext cx="71723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542528" y="480869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专用处理机</a:t>
              </a:r>
            </a:p>
          </p:txBody>
        </p:sp>
      </p:grpSp>
      <p:grpSp>
        <p:nvGrpSpPr>
          <p:cNvPr id="71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65" name="Rectangle 65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726129" y="6007536"/>
              <a:ext cx="224134" cy="192560"/>
              <a:chOff x="726129" y="6007536"/>
              <a:chExt cx="224134" cy="192560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838200" y="60779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726129" y="60075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38200" y="61556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1040511" y="6011704"/>
              <a:ext cx="91346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易错：中断方式由 CPU 搬每一个字节；DMA 和通道方式由专门的硬件搬数据，CPU 只在开始和结束时参与。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34181" cy="909257"/>
            <a:chOff x="520446" y="342900"/>
            <a:chExt cx="763418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62" y="407194"/>
              <a:ext cx="2280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I/O 传输方式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341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程序查询与中断驱动：CPU 是忙等，还是先去计算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flow-1"/>
          <p:cNvGrpSpPr/>
          <p:nvPr/>
        </p:nvGrpSpPr>
        <p:grpSpPr>
          <a:xfrm>
            <a:off x="1853565" y="1715452"/>
            <a:ext cx="2845117" cy="2899410"/>
            <a:chOff x="1853565" y="1715452"/>
            <a:chExt cx="2845117" cy="2899410"/>
          </a:xfrm>
        </p:grpSpPr>
        <p:sp>
          <p:nvSpPr>
            <p:cNvPr id="7" name="Freeform 7"/>
            <p:cNvSpPr/>
            <p:nvPr/>
          </p:nvSpPr>
          <p:spPr>
            <a:xfrm>
              <a:off x="2806065" y="2153602"/>
              <a:ext cx="9525" cy="277177"/>
            </a:xfrm>
            <a:custGeom>
              <a:avLst/>
              <a:gdLst/>
              <a:ahLst/>
              <a:cxnLst/>
              <a:rect l="l" t="t" r="r" b="b"/>
              <a:pathLst>
                <a:path w="9525" h="277177">
                  <a:moveTo>
                    <a:pt x="0" y="0"/>
                  </a:moveTo>
                  <a:lnTo>
                    <a:pt x="0" y="2771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53678" y="24307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806065" y="2973705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753678" y="3169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806065" y="3875722"/>
              <a:ext cx="9525" cy="196215"/>
            </a:xfrm>
            <a:custGeom>
              <a:avLst/>
              <a:gdLst/>
              <a:ahLst/>
              <a:cxnLst/>
              <a:rect l="l" t="t" r="r" b="b"/>
              <a:pathLst>
                <a:path w="9525" h="196215">
                  <a:moveTo>
                    <a:pt x="0" y="0"/>
                  </a:moveTo>
                  <a:lnTo>
                    <a:pt x="0" y="1962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53678" y="40719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758565" y="2738438"/>
              <a:ext cx="682942" cy="837247"/>
            </a:xfrm>
            <a:custGeom>
              <a:avLst/>
              <a:gdLst/>
              <a:ahLst/>
              <a:cxnLst/>
              <a:rect l="l" t="t" r="r" b="b"/>
              <a:pathLst>
                <a:path w="682942" h="837247">
                  <a:moveTo>
                    <a:pt x="0" y="837247"/>
                  </a:moveTo>
                  <a:lnTo>
                    <a:pt x="209550" y="837247"/>
                  </a:lnTo>
                  <a:lnTo>
                    <a:pt x="682942" y="837247"/>
                  </a:lnTo>
                  <a:lnTo>
                    <a:pt x="682942" y="821055"/>
                  </a:lnTo>
                  <a:lnTo>
                    <a:pt x="682942" y="0"/>
                  </a:lnTo>
                  <a:lnTo>
                    <a:pt x="682942" y="16192"/>
                  </a:lnTo>
                  <a:lnTo>
                    <a:pt x="209550" y="16192"/>
                  </a:lnTo>
                  <a:lnTo>
                    <a:pt x="104775" y="1619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58565" y="27022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853565" y="1715452"/>
              <a:ext cx="19050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53565" y="2535555"/>
              <a:ext cx="190500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853565" y="3274695"/>
              <a:ext cx="1905000" cy="601027"/>
            </a:xfrm>
            <a:custGeom>
              <a:avLst/>
              <a:gdLst/>
              <a:ahLst/>
              <a:cxnLst/>
              <a:rect l="l" t="t" r="r" b="b"/>
              <a:pathLst>
                <a:path w="1905000" h="601027">
                  <a:moveTo>
                    <a:pt x="952500" y="0"/>
                  </a:moveTo>
                  <a:lnTo>
                    <a:pt x="1905000" y="300990"/>
                  </a:lnTo>
                  <a:lnTo>
                    <a:pt x="952500" y="601027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853565" y="4176712"/>
              <a:ext cx="190500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268570" y="1845469"/>
              <a:ext cx="1074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CPU 启动设备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368804" y="266557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读设备状态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41118" y="348662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96490" y="430672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继续后面的工作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834640" y="393477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857881" y="396144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470082" y="30565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93324" y="30832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36" name="c1-card-2"/>
          <p:cNvGrpSpPr/>
          <p:nvPr/>
        </p:nvGrpSpPr>
        <p:grpSpPr>
          <a:xfrm>
            <a:off x="533400" y="4996815"/>
            <a:ext cx="4544378" cy="1365885"/>
            <a:chOff x="533400" y="4996815"/>
            <a:chExt cx="4544378" cy="1365885"/>
          </a:xfrm>
        </p:grpSpPr>
        <p:sp>
          <p:nvSpPr>
            <p:cNvPr id="28" name="Rectangle 28"/>
            <p:cNvSpPr/>
            <p:nvPr/>
          </p:nvSpPr>
          <p:spPr>
            <a:xfrm>
              <a:off x="533400" y="4996815"/>
              <a:ext cx="4544378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42925" y="5130165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81050" y="5206365"/>
              <a:ext cx="166116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6777" y="5242084"/>
              <a:ext cx="1549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9.3.1 程序查询的缺点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64642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55835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处理机与设备串行工作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98170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91883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查询循环消耗大量处理机时间</a:t>
              </a:r>
            </a:p>
          </p:txBody>
        </p:sp>
      </p:grpSp>
      <p:grpSp>
        <p:nvGrpSpPr>
          <p:cNvPr id="73" name="c2-flow-1"/>
          <p:cNvGrpSpPr/>
          <p:nvPr/>
        </p:nvGrpSpPr>
        <p:grpSpPr>
          <a:xfrm>
            <a:off x="5529262" y="1626870"/>
            <a:ext cx="5982652" cy="3659505"/>
            <a:chOff x="5529262" y="1626870"/>
            <a:chExt cx="5982652" cy="3659505"/>
          </a:xfrm>
        </p:grpSpPr>
        <p:sp>
          <p:nvSpPr>
            <p:cNvPr id="37" name="Freeform 37"/>
            <p:cNvSpPr/>
            <p:nvPr/>
          </p:nvSpPr>
          <p:spPr>
            <a:xfrm>
              <a:off x="6428422" y="2065020"/>
              <a:ext cx="9525" cy="100965"/>
            </a:xfrm>
            <a:custGeom>
              <a:avLst/>
              <a:gdLst/>
              <a:ahLst/>
              <a:cxnLst/>
              <a:rect l="l" t="t" r="r" b="b"/>
              <a:pathLst>
                <a:path w="9525" h="100965">
                  <a:moveTo>
                    <a:pt x="0" y="0"/>
                  </a:moveTo>
                  <a:lnTo>
                    <a:pt x="0" y="100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376035" y="216598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428422" y="2708910"/>
              <a:ext cx="9525" cy="101918"/>
            </a:xfrm>
            <a:custGeom>
              <a:avLst/>
              <a:gdLst/>
              <a:ahLst/>
              <a:cxnLst/>
              <a:rect l="l" t="t" r="r" b="b"/>
              <a:pathLst>
                <a:path w="9525" h="101918">
                  <a:moveTo>
                    <a:pt x="0" y="0"/>
                  </a:moveTo>
                  <a:lnTo>
                    <a:pt x="0" y="1019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376035" y="2810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6428422" y="3353752"/>
              <a:ext cx="9525" cy="100965"/>
            </a:xfrm>
            <a:custGeom>
              <a:avLst/>
              <a:gdLst/>
              <a:ahLst/>
              <a:cxnLst/>
              <a:rect l="l" t="t" r="r" b="b"/>
              <a:pathLst>
                <a:path w="9525" h="100965">
                  <a:moveTo>
                    <a:pt x="0" y="0"/>
                  </a:moveTo>
                  <a:lnTo>
                    <a:pt x="0" y="100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6376035" y="34547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428422" y="3997642"/>
              <a:ext cx="9525" cy="101917"/>
            </a:xfrm>
            <a:custGeom>
              <a:avLst/>
              <a:gdLst/>
              <a:ahLst/>
              <a:cxnLst/>
              <a:rect l="l" t="t" r="r" b="b"/>
              <a:pathLst>
                <a:path w="9525" h="101917">
                  <a:moveTo>
                    <a:pt x="0" y="0"/>
                  </a:moveTo>
                  <a:lnTo>
                    <a:pt x="0" y="1019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376035" y="40995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428422" y="4642485"/>
              <a:ext cx="9525" cy="100965"/>
            </a:xfrm>
            <a:custGeom>
              <a:avLst/>
              <a:gdLst/>
              <a:ahLst/>
              <a:cxnLst/>
              <a:rect l="l" t="t" r="r" b="b"/>
              <a:pathLst>
                <a:path w="9525" h="100965">
                  <a:moveTo>
                    <a:pt x="0" y="0"/>
                  </a:moveTo>
                  <a:lnTo>
                    <a:pt x="0" y="100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376035" y="474345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7328535" y="2489835"/>
              <a:ext cx="3284220" cy="320993"/>
            </a:xfrm>
            <a:custGeom>
              <a:avLst/>
              <a:gdLst/>
              <a:ahLst/>
              <a:cxnLst/>
              <a:rect l="l" t="t" r="r" b="b"/>
              <a:pathLst>
                <a:path w="3284220" h="320993">
                  <a:moveTo>
                    <a:pt x="0" y="0"/>
                  </a:moveTo>
                  <a:lnTo>
                    <a:pt x="209550" y="0"/>
                  </a:lnTo>
                  <a:lnTo>
                    <a:pt x="3284220" y="0"/>
                  </a:lnTo>
                  <a:lnTo>
                    <a:pt x="3284220" y="216218"/>
                  </a:lnTo>
                  <a:lnTo>
                    <a:pt x="3284220" y="320993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48" name="Freeform 48"/>
            <p:cNvSpPr/>
            <p:nvPr/>
          </p:nvSpPr>
          <p:spPr>
            <a:xfrm>
              <a:off x="10560368" y="28108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612755" y="3353752"/>
              <a:ext cx="9525" cy="100965"/>
            </a:xfrm>
            <a:custGeom>
              <a:avLst/>
              <a:gdLst/>
              <a:ahLst/>
              <a:cxnLst/>
              <a:rect l="l" t="t" r="r" b="b"/>
              <a:pathLst>
                <a:path w="9525" h="100965">
                  <a:moveTo>
                    <a:pt x="0" y="0"/>
                  </a:moveTo>
                  <a:lnTo>
                    <a:pt x="0" y="100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560368" y="34547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7433310" y="3997642"/>
              <a:ext cx="3179445" cy="425767"/>
            </a:xfrm>
            <a:custGeom>
              <a:avLst/>
              <a:gdLst/>
              <a:ahLst/>
              <a:cxnLst/>
              <a:rect l="l" t="t" r="r" b="b"/>
              <a:pathLst>
                <a:path w="3179445" h="425767">
                  <a:moveTo>
                    <a:pt x="3179445" y="0"/>
                  </a:moveTo>
                  <a:lnTo>
                    <a:pt x="3179445" y="209550"/>
                  </a:lnTo>
                  <a:lnTo>
                    <a:pt x="3179445" y="425767"/>
                  </a:lnTo>
                  <a:lnTo>
                    <a:pt x="104775" y="425767"/>
                  </a:lnTo>
                  <a:lnTo>
                    <a:pt x="0" y="425767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52" name="Freeform 52"/>
            <p:cNvSpPr/>
            <p:nvPr/>
          </p:nvSpPr>
          <p:spPr>
            <a:xfrm>
              <a:off x="7328535" y="43710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529262" y="162687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529262" y="2270760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529262" y="2915602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29262" y="3559492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529262" y="4204335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529262" y="4848225"/>
              <a:ext cx="179927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9712642" y="2915602"/>
              <a:ext cx="17992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712642" y="3559492"/>
              <a:ext cx="1799272" cy="438150"/>
            </a:xfrm>
            <a:prstGeom prst="roundRect">
              <a:avLst>
                <a:gd name="adj" fmla="val 17391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249632" y="17568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077318" y="240172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启动设备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49632" y="304561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76399" y="3689509"/>
              <a:ext cx="504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 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077318" y="433435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249632" y="49782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61651" y="3045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设备工作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089337" y="36895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设备工作完成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94445" y="2274570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28735" y="230028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894445" y="4207192"/>
              <a:ext cx="3619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928735" y="42338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</p:grpSp>
      <p:grpSp>
        <p:nvGrpSpPr>
          <p:cNvPr id="80" name="c2-callout-2"/>
          <p:cNvGrpSpPr/>
          <p:nvPr/>
        </p:nvGrpSpPr>
        <p:grpSpPr>
          <a:xfrm>
            <a:off x="5382578" y="5579745"/>
            <a:ext cx="6276022" cy="782955"/>
            <a:chOff x="5382578" y="5579745"/>
            <a:chExt cx="6276022" cy="782955"/>
          </a:xfrm>
        </p:grpSpPr>
        <p:sp>
          <p:nvSpPr>
            <p:cNvPr id="74" name="Rectangle 74"/>
            <p:cNvSpPr/>
            <p:nvPr/>
          </p:nvSpPr>
          <p:spPr>
            <a:xfrm>
              <a:off x="5382578" y="5579745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5587365" y="5871210"/>
              <a:ext cx="200026" cy="200025"/>
              <a:chOff x="5587365" y="5871210"/>
              <a:chExt cx="200026" cy="20002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5587365" y="587121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627104" y="591566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661819" y="602678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5889308" y="5728335"/>
              <a:ext cx="5215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9.3.2 中断驱动：设备工作时 CPU 在算别的，两者并行；但设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备每传一个字节就中断一次，设备多时 CPU 被频繁打扰。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83113" cy="909257"/>
            <a:chOff x="520446" y="342900"/>
            <a:chExt cx="69831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62" y="407194"/>
              <a:ext cx="2280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I/O 传输方式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831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方式：DMA 控制器替 CPU 搬一整块数据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graph-1"/>
          <p:cNvGrpSpPr/>
          <p:nvPr/>
        </p:nvGrpSpPr>
        <p:grpSpPr>
          <a:xfrm>
            <a:off x="862012" y="1891665"/>
            <a:ext cx="5210176" cy="3126105"/>
            <a:chOff x="862012" y="1891665"/>
            <a:chExt cx="5210176" cy="3126105"/>
          </a:xfrm>
        </p:grpSpPr>
        <p:sp>
          <p:nvSpPr>
            <p:cNvPr id="7" name="Freeform 7"/>
            <p:cNvSpPr/>
            <p:nvPr/>
          </p:nvSpPr>
          <p:spPr>
            <a:xfrm>
              <a:off x="2005012" y="2533650"/>
              <a:ext cx="1211580" cy="179070"/>
            </a:xfrm>
            <a:custGeom>
              <a:avLst/>
              <a:gdLst/>
              <a:ahLst/>
              <a:cxnLst/>
              <a:rect l="l" t="t" r="r" b="b"/>
              <a:pathLst>
                <a:path w="1211580" h="179070">
                  <a:moveTo>
                    <a:pt x="0" y="0"/>
                  </a:moveTo>
                  <a:cubicBezTo>
                    <a:pt x="481965" y="154305"/>
                    <a:pt x="885825" y="179070"/>
                    <a:pt x="1211580" y="74295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202305" y="2563178"/>
              <a:ext cx="104775" cy="90488"/>
            </a:xfrm>
            <a:custGeom>
              <a:avLst/>
              <a:gdLst/>
              <a:ahLst/>
              <a:cxnLst/>
              <a:rect l="l" t="t" r="r" b="b"/>
              <a:pathLst>
                <a:path w="104775" h="90488">
                  <a:moveTo>
                    <a:pt x="104775" y="16192"/>
                  </a:moveTo>
                  <a:lnTo>
                    <a:pt x="28575" y="90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095500" y="1998345"/>
              <a:ext cx="1211580" cy="140970"/>
            </a:xfrm>
            <a:custGeom>
              <a:avLst/>
              <a:gdLst/>
              <a:ahLst/>
              <a:cxnLst/>
              <a:rect l="l" t="t" r="r" b="b"/>
              <a:pathLst>
                <a:path w="1211580" h="140970">
                  <a:moveTo>
                    <a:pt x="1211580" y="123825"/>
                  </a:moveTo>
                  <a:cubicBezTo>
                    <a:pt x="825500" y="0"/>
                    <a:pt x="421640" y="5715"/>
                    <a:pt x="0" y="140970"/>
                  </a:cubicBezTo>
                </a:path>
              </a:pathLst>
            </a:custGeom>
            <a:noFill/>
            <a:ln w="17145">
              <a:solidFill>
                <a:srgbClr val="F26B3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005012" y="2093595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0" y="74295"/>
                  </a:moveTo>
                  <a:lnTo>
                    <a:pt x="76200" y="0"/>
                  </a:lnTo>
                  <a:lnTo>
                    <a:pt x="105727" y="90488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98545" y="2655570"/>
              <a:ext cx="270510" cy="1454468"/>
            </a:xfrm>
            <a:custGeom>
              <a:avLst/>
              <a:gdLst/>
              <a:ahLst/>
              <a:cxnLst/>
              <a:rect l="l" t="t" r="r" b="b"/>
              <a:pathLst>
                <a:path w="270510" h="1454468">
                  <a:moveTo>
                    <a:pt x="270510" y="0"/>
                  </a:moveTo>
                  <a:cubicBezTo>
                    <a:pt x="13970" y="513080"/>
                    <a:pt x="0" y="997902"/>
                    <a:pt x="228600" y="1454468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784282" y="4089082"/>
              <a:ext cx="84772" cy="106680"/>
            </a:xfrm>
            <a:custGeom>
              <a:avLst/>
              <a:gdLst/>
              <a:ahLst/>
              <a:cxnLst/>
              <a:rect l="l" t="t" r="r" b="b"/>
              <a:pathLst>
                <a:path w="84772" h="106680">
                  <a:moveTo>
                    <a:pt x="84772" y="106680"/>
                  </a:moveTo>
                  <a:lnTo>
                    <a:pt x="0" y="42862"/>
                  </a:lnTo>
                  <a:lnTo>
                    <a:pt x="8477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173855" y="2740342"/>
              <a:ext cx="271462" cy="1455420"/>
            </a:xfrm>
            <a:custGeom>
              <a:avLst/>
              <a:gdLst/>
              <a:ahLst/>
              <a:cxnLst/>
              <a:rect l="l" t="t" r="r" b="b"/>
              <a:pathLst>
                <a:path w="271462" h="1455420">
                  <a:moveTo>
                    <a:pt x="0" y="1455420"/>
                  </a:moveTo>
                  <a:cubicBezTo>
                    <a:pt x="257175" y="941705"/>
                    <a:pt x="271462" y="456565"/>
                    <a:pt x="42862" y="0"/>
                  </a:cubicBez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73855" y="2655570"/>
              <a:ext cx="85725" cy="106680"/>
            </a:xfrm>
            <a:custGeom>
              <a:avLst/>
              <a:gdLst/>
              <a:ahLst/>
              <a:cxnLst/>
              <a:rect l="l" t="t" r="r" b="b"/>
              <a:pathLst>
                <a:path w="85725" h="106680">
                  <a:moveTo>
                    <a:pt x="0" y="0"/>
                  </a:moveTo>
                  <a:lnTo>
                    <a:pt x="85725" y="63817"/>
                  </a:lnTo>
                  <a:lnTo>
                    <a:pt x="0" y="10668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100262" y="4500562"/>
              <a:ext cx="1206818" cy="9525"/>
            </a:xfrm>
            <a:custGeom>
              <a:avLst/>
              <a:gdLst/>
              <a:ahLst/>
              <a:cxnLst/>
              <a:rect l="l" t="t" r="r" b="b"/>
              <a:pathLst>
                <a:path w="1206818" h="9525">
                  <a:moveTo>
                    <a:pt x="1206818" y="0"/>
                  </a:move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0E7C86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005012" y="4452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831080" y="4500562"/>
              <a:ext cx="421958" cy="9525"/>
            </a:xfrm>
            <a:custGeom>
              <a:avLst/>
              <a:gdLst/>
              <a:ahLst/>
              <a:cxnLst/>
              <a:rect l="l" t="t" r="r" b="b"/>
              <a:pathLst>
                <a:path w="421958" h="9525">
                  <a:moveTo>
                    <a:pt x="421958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735830" y="4452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0"/>
                  </a:lnTo>
                  <a:lnTo>
                    <a:pt x="95250" y="9525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5253038" y="4452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62012" y="2045970"/>
              <a:ext cx="1143000" cy="609600"/>
            </a:xfrm>
            <a:prstGeom prst="roundRect">
              <a:avLst>
                <a:gd name="adj" fmla="val 15625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307080" y="204597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307080" y="4195762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7145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62012" y="4195762"/>
              <a:ext cx="1143000" cy="609600"/>
            </a:xfrm>
            <a:prstGeom prst="roundRect">
              <a:avLst>
                <a:gd name="adj" fmla="val 15625"/>
              </a:avLst>
            </a:prstGeom>
            <a:solidFill>
              <a:srgbClr val="E2F3F4"/>
            </a:solidFill>
            <a:ln w="17145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48288" y="4271962"/>
              <a:ext cx="723900" cy="457200"/>
            </a:xfrm>
            <a:prstGeom prst="roundRect">
              <a:avLst>
                <a:gd name="adj" fmla="val 20833"/>
              </a:avLst>
            </a:prstGeom>
            <a:solidFill>
              <a:srgbClr val="F4F6FB"/>
            </a:solidFill>
            <a:ln w="17145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89796" y="2280761"/>
              <a:ext cx="287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CPU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09759" y="2280761"/>
              <a:ext cx="8233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控制器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74644" y="1891665"/>
              <a:ext cx="1693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内含 地址 · 计数 · 控制 寄存器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38804" y="44305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磁盘控制器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13798" y="484155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内有缓冲区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77023" y="4430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内存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553748" y="4430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磁盘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367915" y="2574608"/>
              <a:ext cx="647700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73821" y="2606992"/>
              <a:ext cx="6358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① DMA 编程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90788" y="1955482"/>
              <a:ext cx="4019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14352" y="1986915"/>
              <a:ext cx="35482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⑤ 中断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341245" y="4414838"/>
              <a:ext cx="630555" cy="16002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357952" y="4446270"/>
              <a:ext cx="5971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③ 数据传输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91980" y="3394710"/>
              <a:ext cx="741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② DMA 请求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10456" y="3394710"/>
              <a:ext cx="413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④ 回答</a:t>
              </a:r>
            </a:p>
          </p:txBody>
        </p:sp>
      </p:grpSp>
      <p:grpSp>
        <p:nvGrpSpPr>
          <p:cNvPr id="62" name="c2-steps-1"/>
          <p:cNvGrpSpPr/>
          <p:nvPr/>
        </p:nvGrpSpPr>
        <p:grpSpPr>
          <a:xfrm>
            <a:off x="6464618" y="1533525"/>
            <a:ext cx="5001641" cy="3883629"/>
            <a:chOff x="6464618" y="1533525"/>
            <a:chExt cx="5001641" cy="3883629"/>
          </a:xfrm>
        </p:grpSpPr>
        <p:sp>
          <p:nvSpPr>
            <p:cNvPr id="41" name="Rectangle 41"/>
            <p:cNvSpPr/>
            <p:nvPr/>
          </p:nvSpPr>
          <p:spPr>
            <a:xfrm>
              <a:off x="6597968" y="1676400"/>
              <a:ext cx="19050" cy="30727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464618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241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464618" y="241935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58241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464618" y="330422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58241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64618" y="395573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8241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64618" y="460629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58241" y="46801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76098" y="1567815"/>
              <a:ext cx="1091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 DMA 编程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877241" y="1861661"/>
              <a:ext cx="44670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设置 DMA 控制器，同时启动磁盘控制器把数据从磁盘读入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其内部缓冲区并做和校验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876098" y="2453640"/>
              <a:ext cx="10911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 DMA 请求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77241" y="2746534"/>
              <a:ext cx="45890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控制器向磁盘控制器发读请求，并把内存地址放到地址总线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76098" y="3338512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 数据传输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77241" y="363235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磁盘控制器把字节送到内存的指定单元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76098" y="3990022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 回答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877241" y="4282916"/>
              <a:ext cx="25267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磁盘控制器向 DMA 控制器发回答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76098" y="4640580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 计数与中断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77241" y="4933474"/>
              <a:ext cx="458089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控制器地址寄存器加 1、计数器减 1，重复 ②–④ 直到计数为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0，再向 CPU 发中断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3" name="Rectangle 6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0130" y="5991225"/>
              <a:ext cx="9507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CPU 只在 ① 编程和 ⑤ 中断时出场，中间整块数据的搬运都由 DMA 控制器指挥，CPU 可以去运行别的进程。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639864" cy="909257"/>
            <a:chOff x="520446" y="342900"/>
            <a:chExt cx="46398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62" y="407194"/>
              <a:ext cx="2280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I/O 传输方式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6398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通道：专门负责 I/O 的处理机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card-1"/>
          <p:cNvGrpSpPr/>
          <p:nvPr/>
        </p:nvGrpSpPr>
        <p:grpSpPr>
          <a:xfrm>
            <a:off x="533400" y="1524000"/>
            <a:ext cx="5410200" cy="4612958"/>
            <a:chOff x="533400" y="1524000"/>
            <a:chExt cx="5410200" cy="46129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612958"/>
            </a:xfrm>
            <a:prstGeom prst="roundRect">
              <a:avLst>
                <a:gd name="adj" fmla="val 28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34625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77165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220" y="1769269"/>
              <a:ext cx="1667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9.3.4 通道（channel）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6253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通道是负责 I/O 操作的处理机，有自己的指令系统，和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共用内存。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707005"/>
              <a:ext cx="49530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46149" y="28427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22649" y="28427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8873" y="32913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指令系统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76653" y="32913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基本操作：控制、读、写、转移、结束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81050" y="359949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81050" y="3604260"/>
              <a:ext cx="49530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8873" y="373999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指令格式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76653" y="373999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（操作码，传输量，特征位，地址）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" y="4049078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88873" y="41886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运控部件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76653" y="4188619"/>
              <a:ext cx="2793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CAW、CCW、CSW、CDW 四个寄存器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81050" y="4497705"/>
              <a:ext cx="49530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81050" y="4502468"/>
              <a:ext cx="49530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8873" y="475059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存储区域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76653" y="4637246"/>
              <a:ext cx="301218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 CPU 共用内存，存放通道程序和 I/O 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据；通道内部也有缓冲区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781050" y="2707005"/>
              <a:ext cx="49530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64068" y="2707005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2" name="c2-kv-1"/>
          <p:cNvGrpSpPr/>
          <p:nvPr/>
        </p:nvGrpSpPr>
        <p:grpSpPr>
          <a:xfrm>
            <a:off x="6240780" y="1548765"/>
            <a:ext cx="5417820" cy="2459355"/>
            <a:chOff x="6240780" y="1548765"/>
            <a:chExt cx="5417820" cy="2459355"/>
          </a:xfrm>
        </p:grpSpPr>
        <p:sp>
          <p:nvSpPr>
            <p:cNvPr id="31" name="TextBox 31"/>
            <p:cNvSpPr txBox="1"/>
            <p:nvPr/>
          </p:nvSpPr>
          <p:spPr>
            <a:xfrm>
              <a:off x="6240780" y="1548765"/>
              <a:ext cx="1506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CAW 通道地址字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3840" y="154876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存放下一条要取出的通道命令的地址，取一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条加 1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248400" y="21507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40780" y="2270760"/>
              <a:ext cx="1506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CCW 通道命令字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3840" y="227076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当前取出、正在执行的通道命令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248400" y="25908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240780" y="2710815"/>
              <a:ext cx="1506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CDW 通道数据字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3840" y="2710815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通道与设备、内存数据区之间传送的数据经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过这里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48400" y="33127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240780" y="3432810"/>
              <a:ext cx="15065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CSW 通道状态字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3840" y="3432810"/>
              <a:ext cx="36347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记录通道和设备的状态，通道程序结束后供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查看</a:t>
              </a:r>
            </a:p>
          </p:txBody>
        </p:sp>
      </p:grpSp>
      <p:grpSp>
        <p:nvGrpSpPr>
          <p:cNvPr id="54" name="c2-card-2"/>
          <p:cNvGrpSpPr/>
          <p:nvPr/>
        </p:nvGrpSpPr>
        <p:grpSpPr>
          <a:xfrm>
            <a:off x="6248400" y="4139565"/>
            <a:ext cx="5410200" cy="1997392"/>
            <a:chOff x="6248400" y="4139565"/>
            <a:chExt cx="5410200" cy="1997392"/>
          </a:xfrm>
        </p:grpSpPr>
        <p:sp>
          <p:nvSpPr>
            <p:cNvPr id="43" name="Rectangle 43"/>
            <p:cNvSpPr/>
            <p:nvPr/>
          </p:nvSpPr>
          <p:spPr>
            <a:xfrm>
              <a:off x="6248400" y="4139565"/>
              <a:ext cx="5410200" cy="1997392"/>
            </a:xfrm>
            <a:prstGeom prst="roundRect">
              <a:avLst>
                <a:gd name="adj" fmla="val 66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57925" y="4272915"/>
              <a:ext cx="47625" cy="173069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96050" y="4349115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0655" y="4384834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读懂一条通道命令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501765" y="47891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59880" y="472630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操作码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：做什么，如读、写、转移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501765" y="51244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59880" y="506158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：本条命令要传送的字节数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501765" y="54597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659880" y="539686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：数据区在内存中的位置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89573" y="5728811"/>
              <a:ext cx="490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一串通道命令就是一个通道程序，由 CPU 事先编好放在内存里。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6791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6962" y="407194"/>
              <a:ext cx="2280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I/O 传输方式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通道程序怎样执行；三类通道各接什么设备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flow-1"/>
          <p:cNvGrpSpPr/>
          <p:nvPr/>
        </p:nvGrpSpPr>
        <p:grpSpPr>
          <a:xfrm>
            <a:off x="677228" y="1692592"/>
            <a:ext cx="3823334" cy="3432810"/>
            <a:chOff x="677228" y="1692592"/>
            <a:chExt cx="3823334" cy="3432810"/>
          </a:xfrm>
        </p:grpSpPr>
        <p:sp>
          <p:nvSpPr>
            <p:cNvPr id="7" name="Freeform 7"/>
            <p:cNvSpPr/>
            <p:nvPr/>
          </p:nvSpPr>
          <p:spPr>
            <a:xfrm>
              <a:off x="1561148" y="2322195"/>
              <a:ext cx="9525" cy="327660"/>
            </a:xfrm>
            <a:custGeom>
              <a:avLst/>
              <a:gdLst/>
              <a:ahLst/>
              <a:cxnLst/>
              <a:rect l="l" t="t" r="r" b="b"/>
              <a:pathLst>
                <a:path w="9525" h="327660">
                  <a:moveTo>
                    <a:pt x="0" y="0"/>
                  </a:moveTo>
                  <a:lnTo>
                    <a:pt x="0" y="3276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508760" y="26498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561148" y="3192780"/>
              <a:ext cx="9525" cy="232410"/>
            </a:xfrm>
            <a:custGeom>
              <a:avLst/>
              <a:gdLst/>
              <a:ahLst/>
              <a:cxnLst/>
              <a:rect l="l" t="t" r="r" b="b"/>
              <a:pathLst>
                <a:path w="9525" h="232410">
                  <a:moveTo>
                    <a:pt x="0" y="0"/>
                  </a:moveTo>
                  <a:lnTo>
                    <a:pt x="0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508760" y="34251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561148" y="4350068"/>
              <a:ext cx="9525" cy="232410"/>
            </a:xfrm>
            <a:custGeom>
              <a:avLst/>
              <a:gdLst/>
              <a:ahLst/>
              <a:cxnLst/>
              <a:rect l="l" t="t" r="r" b="b"/>
              <a:pathLst>
                <a:path w="9525" h="232410">
                  <a:moveTo>
                    <a:pt x="0" y="0"/>
                  </a:moveTo>
                  <a:lnTo>
                    <a:pt x="0" y="2324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508760" y="458247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45068" y="3939540"/>
              <a:ext cx="182880" cy="9525"/>
            </a:xfrm>
            <a:custGeom>
              <a:avLst/>
              <a:gdLst/>
              <a:ahLst/>
              <a:cxnLst/>
              <a:rect l="l" t="t" r="r" b="b"/>
              <a:pathLst>
                <a:path w="182880" h="9525">
                  <a:moveTo>
                    <a:pt x="0" y="0"/>
                  </a:moveTo>
                  <a:lnTo>
                    <a:pt x="18288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27948" y="38871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549842" y="2006918"/>
              <a:ext cx="1067753" cy="1713548"/>
            </a:xfrm>
            <a:custGeom>
              <a:avLst/>
              <a:gdLst/>
              <a:ahLst/>
              <a:cxnLst/>
              <a:rect l="l" t="t" r="r" b="b"/>
              <a:pathLst>
                <a:path w="1067753" h="1713548">
                  <a:moveTo>
                    <a:pt x="1067753" y="1713548"/>
                  </a:moveTo>
                  <a:lnTo>
                    <a:pt x="1067753" y="1503998"/>
                  </a:lnTo>
                  <a:lnTo>
                    <a:pt x="1067753" y="0"/>
                  </a:lnTo>
                  <a:lnTo>
                    <a:pt x="104775" y="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445068" y="1954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77228" y="1692592"/>
              <a:ext cx="1767840" cy="629602"/>
            </a:xfrm>
            <a:prstGeom prst="roundRect">
              <a:avLst>
                <a:gd name="adj" fmla="val 49924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7228" y="2754630"/>
              <a:ext cx="17678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77228" y="3529965"/>
              <a:ext cx="1767840" cy="820102"/>
            </a:xfrm>
            <a:custGeom>
              <a:avLst/>
              <a:gdLst/>
              <a:ahLst/>
              <a:cxnLst/>
              <a:rect l="l" t="t" r="r" b="b"/>
              <a:pathLst>
                <a:path w="1767840" h="820102">
                  <a:moveTo>
                    <a:pt x="883920" y="0"/>
                  </a:moveTo>
                  <a:lnTo>
                    <a:pt x="1767840" y="409575"/>
                  </a:lnTo>
                  <a:lnTo>
                    <a:pt x="883920" y="820102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732722" y="3720465"/>
              <a:ext cx="1767840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77228" y="4687252"/>
              <a:ext cx="1767840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39178" y="1808321"/>
              <a:ext cx="124394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 CAW 取通道命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令 ⇒ CCW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58263" y="2884646"/>
              <a:ext cx="1405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(CAW) + 1 ⇒ CAW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6990" y="374094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是通道结束命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令？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0334" y="385048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执行此命令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976" y="4817269"/>
              <a:ext cx="11323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 CPU 发中断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589722" y="442626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612964" y="445293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474595" y="372332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512886" y="37499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38" name="c1-callout-2"/>
          <p:cNvGrpSpPr/>
          <p:nvPr/>
        </p:nvGrpSpPr>
        <p:grpSpPr>
          <a:xfrm>
            <a:off x="533400" y="5579745"/>
            <a:ext cx="4111942" cy="782955"/>
            <a:chOff x="533400" y="5579745"/>
            <a:chExt cx="4111942" cy="782955"/>
          </a:xfrm>
        </p:grpSpPr>
        <p:sp>
          <p:nvSpPr>
            <p:cNvPr id="32" name="Rectangle 32"/>
            <p:cNvSpPr/>
            <p:nvPr/>
          </p:nvSpPr>
          <p:spPr>
            <a:xfrm>
              <a:off x="533400" y="5579745"/>
              <a:ext cx="411194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38188" y="5871210"/>
              <a:ext cx="200026" cy="200026"/>
              <a:chOff x="738188" y="5871210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738188" y="58712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8200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27088" y="59712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040130" y="5728335"/>
              <a:ext cx="3253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一个通道程序可以控制若干台设备进行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多次 I/O 传输。</a:t>
              </a:r>
            </a:p>
          </p:txBody>
        </p:sp>
      </p:grpSp>
      <p:grpSp>
        <p:nvGrpSpPr>
          <p:cNvPr id="63" name="c2-table-1"/>
          <p:cNvGrpSpPr/>
          <p:nvPr/>
        </p:nvGrpSpPr>
        <p:grpSpPr>
          <a:xfrm>
            <a:off x="4950142" y="1524000"/>
            <a:ext cx="6708458" cy="2702242"/>
            <a:chOff x="4950142" y="1524000"/>
            <a:chExt cx="6708458" cy="2702242"/>
          </a:xfrm>
        </p:grpSpPr>
        <p:sp>
          <p:nvSpPr>
            <p:cNvPr id="39" name="Rectangle 39"/>
            <p:cNvSpPr/>
            <p:nvPr/>
          </p:nvSpPr>
          <p:spPr>
            <a:xfrm>
              <a:off x="4950142" y="1524000"/>
              <a:ext cx="6708458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3820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通道类型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0171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子通道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5667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连接设备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3402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工作方式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57966" y="2108359"/>
              <a:ext cx="152638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字节多路通道（byte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multiplexer）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936296" y="2108359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多个非分配型子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411718" y="2108359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低速外围设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19488" y="210835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各设备轮流使用通道，以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字节为单位交叉传输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950142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950142" y="2647950"/>
              <a:ext cx="6708458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057966" y="2783681"/>
              <a:ext cx="152435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数组选择通道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（block selector）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36296" y="278368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一个分配型子通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11718" y="278368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多台高速设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19488" y="278368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一段时间只为一台设备服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务，传完一批数据再换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950142" y="3319462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057966" y="3459004"/>
              <a:ext cx="111429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数组多路通道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（block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multiplexer）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36296" y="357235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多个非分配型子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11718" y="3572351"/>
              <a:ext cx="8257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多台高速设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619488" y="357235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以块为单位在多台设备之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间轮流传输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4950142" y="1524000"/>
              <a:ext cx="6708458" cy="27022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823710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29913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506902" y="1524000"/>
              <a:ext cx="9525" cy="27022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c2-flow-2"/>
          <p:cNvGrpSpPr/>
          <p:nvPr/>
        </p:nvGrpSpPr>
        <p:grpSpPr>
          <a:xfrm>
            <a:off x="5106352" y="4521518"/>
            <a:ext cx="6396038" cy="1735454"/>
            <a:chOff x="5106352" y="4521518"/>
            <a:chExt cx="6396038" cy="1735454"/>
          </a:xfrm>
        </p:grpSpPr>
        <p:sp>
          <p:nvSpPr>
            <p:cNvPr id="64" name="Freeform 64"/>
            <p:cNvSpPr/>
            <p:nvPr/>
          </p:nvSpPr>
          <p:spPr>
            <a:xfrm>
              <a:off x="6068378" y="4959668"/>
              <a:ext cx="2235517" cy="105727"/>
            </a:xfrm>
            <a:custGeom>
              <a:avLst/>
              <a:gdLst/>
              <a:ahLst/>
              <a:cxnLst/>
              <a:rect l="l" t="t" r="r" b="b"/>
              <a:pathLst>
                <a:path w="2235517" h="105727">
                  <a:moveTo>
                    <a:pt x="2235517" y="0"/>
                  </a:moveTo>
                  <a:lnTo>
                    <a:pt x="2235517" y="105727"/>
                  </a:lnTo>
                  <a:lnTo>
                    <a:pt x="0" y="105727"/>
                  </a:ln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015990" y="5065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6" name="Freeform 66"/>
            <p:cNvSpPr/>
            <p:nvPr/>
          </p:nvSpPr>
          <p:spPr>
            <a:xfrm>
              <a:off x="8303895" y="4959668"/>
              <a:ext cx="9525" cy="105727"/>
            </a:xfrm>
            <a:custGeom>
              <a:avLst/>
              <a:gdLst/>
              <a:ahLst/>
              <a:cxnLst/>
              <a:rect l="l" t="t" r="r" b="b"/>
              <a:pathLst>
                <a:path w="9525" h="105727">
                  <a:moveTo>
                    <a:pt x="0" y="0"/>
                  </a:moveTo>
                  <a:lnTo>
                    <a:pt x="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8251508" y="5065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303895" y="4959668"/>
              <a:ext cx="2236470" cy="105727"/>
            </a:xfrm>
            <a:custGeom>
              <a:avLst/>
              <a:gdLst/>
              <a:ahLst/>
              <a:cxnLst/>
              <a:rect l="l" t="t" r="r" b="b"/>
              <a:pathLst>
                <a:path w="2236470" h="105727">
                  <a:moveTo>
                    <a:pt x="0" y="0"/>
                  </a:moveTo>
                  <a:lnTo>
                    <a:pt x="0" y="105727"/>
                  </a:lnTo>
                  <a:lnTo>
                    <a:pt x="2236470" y="105727"/>
                  </a:lnTo>
                  <a:lnTo>
                    <a:pt x="2236470" y="10572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487978" y="5065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6068378" y="5608320"/>
              <a:ext cx="9525" cy="105728"/>
            </a:xfrm>
            <a:custGeom>
              <a:avLst/>
              <a:gdLst/>
              <a:ahLst/>
              <a:cxnLst/>
              <a:rect l="l" t="t" r="r" b="b"/>
              <a:pathLst>
                <a:path w="9525" h="105728">
                  <a:moveTo>
                    <a:pt x="0" y="0"/>
                  </a:moveTo>
                  <a:lnTo>
                    <a:pt x="0" y="1057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6015990" y="57140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8303895" y="5608320"/>
              <a:ext cx="9525" cy="105728"/>
            </a:xfrm>
            <a:custGeom>
              <a:avLst/>
              <a:gdLst/>
              <a:ahLst/>
              <a:cxnLst/>
              <a:rect l="l" t="t" r="r" b="b"/>
              <a:pathLst>
                <a:path w="9525" h="105728">
                  <a:moveTo>
                    <a:pt x="0" y="0"/>
                  </a:moveTo>
                  <a:lnTo>
                    <a:pt x="0" y="1057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8251508" y="57140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4" name="Freeform 74"/>
            <p:cNvSpPr/>
            <p:nvPr/>
          </p:nvSpPr>
          <p:spPr>
            <a:xfrm>
              <a:off x="10540365" y="5608320"/>
              <a:ext cx="9525" cy="105728"/>
            </a:xfrm>
            <a:custGeom>
              <a:avLst/>
              <a:gdLst/>
              <a:ahLst/>
              <a:cxnLst/>
              <a:rect l="l" t="t" r="r" b="b"/>
              <a:pathLst>
                <a:path w="9525" h="105728">
                  <a:moveTo>
                    <a:pt x="0" y="0"/>
                  </a:moveTo>
                  <a:lnTo>
                    <a:pt x="0" y="10572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10487978" y="57140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342822" y="4521518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5106352" y="5170170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7342822" y="5170170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579292" y="5170170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5106352" y="5818822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7342822" y="5818822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9579292" y="5818822"/>
              <a:ext cx="1923098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608164" y="465153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处理机、内存储器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544960" y="53001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字节多路通道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952791" y="530018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选择通道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016947" y="530018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数组多路通道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5458803" y="594883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输入机、打印机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004485" y="5948839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 ×3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0240955" y="5948839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 ×3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313170" cy="3321367"/>
            <a:chOff x="667512" y="1835468"/>
            <a:chExt cx="6313170" cy="332136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设备分配与设备驱动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3032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系统用几张表记下设备和通道；独占设备要申请释放，共享设备随用</a:t>
              </a:r>
              <a:br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随分通道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21195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154805"/>
              <a:ext cx="287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 数据结构：UCB、CCB、SDT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56628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509135"/>
              <a:ext cx="32360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9.4 独占型与共享型设备的分配去配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92061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863465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 设备驱动：通道程序、启动、中断处理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77337" cy="909257"/>
            <a:chOff x="520446" y="342900"/>
            <a:chExt cx="70773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95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249" y="407194"/>
              <a:ext cx="2716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设备分配与设备驱动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773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三张表管设备；独占设备申请时查表并 P(Sm)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ells-1"/>
          <p:cNvGrpSpPr/>
          <p:nvPr/>
        </p:nvGrpSpPr>
        <p:grpSpPr>
          <a:xfrm>
            <a:off x="528066" y="1524000"/>
            <a:ext cx="4561142" cy="949643"/>
            <a:chOff x="528066" y="1524000"/>
            <a:chExt cx="4561142" cy="949643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55445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UCB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8208" y="1524000"/>
              <a:ext cx="10477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4046" y="16554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设备标识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945958" y="1524000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81796" y="16554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设备状态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993708" y="1524000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29546" y="16554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相连通道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41458" y="1524000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35946" y="165544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占有设备进程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066" y="2210752"/>
              <a:ext cx="2694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CCB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98208" y="2079308"/>
              <a:ext cx="10477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34046" y="2210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通道标识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45958" y="2079308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81796" y="2210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通道状态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993708" y="2079308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29546" y="2210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通道类型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41458" y="2079308"/>
              <a:ext cx="104775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35946" y="2210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占有通道进程</a:t>
              </a:r>
            </a:p>
          </p:txBody>
        </p:sp>
      </p:grpSp>
      <p:grpSp>
        <p:nvGrpSpPr>
          <p:cNvPr id="51" name="c1-table-2"/>
          <p:cNvGrpSpPr/>
          <p:nvPr/>
        </p:nvGrpSpPr>
        <p:grpSpPr>
          <a:xfrm>
            <a:off x="528066" y="2653665"/>
            <a:ext cx="4874514" cy="1977009"/>
            <a:chOff x="528066" y="2653665"/>
            <a:chExt cx="4874514" cy="1977009"/>
          </a:xfrm>
        </p:grpSpPr>
        <p:sp>
          <p:nvSpPr>
            <p:cNvPr id="26" name="Rectangle 26"/>
            <p:cNvSpPr/>
            <p:nvPr/>
          </p:nvSpPr>
          <p:spPr>
            <a:xfrm>
              <a:off x="533400" y="2653665"/>
              <a:ext cx="486918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3140" y="27813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63065" y="27813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07730" y="27813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设备等待队列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070741" y="2781300"/>
              <a:ext cx="846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UCB 表指针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8811" y="320611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80184" y="32061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47937" y="32061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87699" y="320611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49758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502342"/>
              <a:ext cx="486918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13367" y="3630930"/>
              <a:ext cx="156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lp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64030" y="3630930"/>
              <a:ext cx="1333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784386" y="3630930"/>
              <a:ext cx="2281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687699" y="3630930"/>
              <a:ext cx="1370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⇒ lp 类的 m 个 UCB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92144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8811" y="405479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80184" y="40547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47937" y="40547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87699" y="405479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33400" y="2653665"/>
              <a:ext cx="486918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443990" y="265366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2207895" y="265366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3580448" y="2653665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28066" y="4425315"/>
              <a:ext cx="19981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系统设备表 SDT：每类设备一行</a:t>
              </a:r>
            </a:p>
          </p:txBody>
        </p:sp>
      </p:grpSp>
      <p:grpSp>
        <p:nvGrpSpPr>
          <p:cNvPr id="58" name="c1-callout-3"/>
          <p:cNvGrpSpPr/>
          <p:nvPr/>
        </p:nvGrpSpPr>
        <p:grpSpPr>
          <a:xfrm>
            <a:off x="533400" y="4770120"/>
            <a:ext cx="4869180" cy="756285"/>
            <a:chOff x="533400" y="4770120"/>
            <a:chExt cx="4869180" cy="756285"/>
          </a:xfrm>
        </p:grpSpPr>
        <p:sp>
          <p:nvSpPr>
            <p:cNvPr id="52" name="Rectangle 52"/>
            <p:cNvSpPr/>
            <p:nvPr/>
          </p:nvSpPr>
          <p:spPr>
            <a:xfrm>
              <a:off x="533400" y="4770120"/>
              <a:ext cx="486918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5048250"/>
              <a:ext cx="200026" cy="200026"/>
              <a:chOff x="738188" y="5048250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0482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51149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51482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511" y="4917281"/>
              <a:ext cx="391883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Sm 是信号量，初值为该类设备总数 m；没有空闲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设备时，申请者在 Sm 的等待队列上排队。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5702046" y="1524000"/>
            <a:ext cx="5956554" cy="2404682"/>
            <a:chOff x="5702046" y="1524000"/>
            <a:chExt cx="5956554" cy="2404682"/>
          </a:xfrm>
        </p:grpSpPr>
        <p:sp>
          <p:nvSpPr>
            <p:cNvPr id="59" name="Rectangle 59"/>
            <p:cNvSpPr/>
            <p:nvPr/>
          </p:nvSpPr>
          <p:spPr>
            <a:xfrm>
              <a:off x="5707380" y="1524000"/>
              <a:ext cx="595122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95179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独占型设备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27402" y="165258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系统做的事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809869" y="218313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19556" y="2076450"/>
              <a:ext cx="41727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根据设备类查 SDT 表；(2) P(Sm)；(3) 查 UCB 表找一台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空闲设备并分配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07380" y="2581275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707380" y="2586038"/>
              <a:ext cx="5951220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809869" y="2714625"/>
              <a:ext cx="774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使用（可多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19556" y="2821305"/>
              <a:ext cx="3237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分配通道；(2) I/O 传输；(3) 去配通道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707380" y="32194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809869" y="335280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19556" y="3352800"/>
              <a:ext cx="4493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找 SDT 表的对应入口；(2) 查 UCB 表，去配；(3) V(Sm)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707380" y="1524000"/>
              <a:ext cx="5951220" cy="212407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012305" y="1524000"/>
              <a:ext cx="9525" cy="212407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702046" y="3723323"/>
              <a:ext cx="33394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进程的活动序列：申请，使用，使用，…，使用，释放</a:t>
              </a:r>
            </a:p>
          </p:txBody>
        </p:sp>
      </p:grpSp>
      <p:grpSp>
        <p:nvGrpSpPr>
          <p:cNvPr id="86" name="c2-card-2"/>
          <p:cNvGrpSpPr/>
          <p:nvPr/>
        </p:nvGrpSpPr>
        <p:grpSpPr>
          <a:xfrm>
            <a:off x="5707380" y="4067175"/>
            <a:ext cx="5951220" cy="1893570"/>
            <a:chOff x="5707380" y="4067175"/>
            <a:chExt cx="5951220" cy="1893570"/>
          </a:xfrm>
        </p:grpSpPr>
        <p:sp>
          <p:nvSpPr>
            <p:cNvPr id="75" name="Rectangle 75"/>
            <p:cNvSpPr/>
            <p:nvPr/>
          </p:nvSpPr>
          <p:spPr>
            <a:xfrm>
              <a:off x="5707380" y="4067175"/>
              <a:ext cx="5951220" cy="1893570"/>
            </a:xfrm>
            <a:prstGeom prst="roundRect">
              <a:avLst>
                <a:gd name="adj" fmla="val 70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716905" y="4200525"/>
              <a:ext cx="47625" cy="162687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943600" y="4265295"/>
              <a:ext cx="2286952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5980318" y="4299585"/>
              <a:ext cx="22125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共享型设备：使用，使用，…，使用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5951220" y="46863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107811" y="462581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请求来自文件系统，每次读（写）一块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5951220" y="50034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07811" y="4943951"/>
              <a:ext cx="42104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通常经过缓冲，排队后再优化服务顺序（见 9.6）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5951220" y="5321617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107811" y="5261134"/>
              <a:ext cx="36479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每次使用：分配通道；I/O 操作；释放通道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937504" y="5575935"/>
              <a:ext cx="3618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设备本身不归任何进程，只有 I/O 期间占用通道。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04338" cy="909257"/>
            <a:chOff x="520446" y="342900"/>
            <a:chExt cx="660433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795588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3249" y="407194"/>
              <a:ext cx="27168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设备分配与设备驱动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0433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设备驱动：CPU 编好通道程序，通道去执行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flow-1"/>
          <p:cNvGrpSpPr/>
          <p:nvPr/>
        </p:nvGrpSpPr>
        <p:grpSpPr>
          <a:xfrm>
            <a:off x="666750" y="1964055"/>
            <a:ext cx="6225540" cy="3475673"/>
            <a:chOff x="666750" y="1964055"/>
            <a:chExt cx="6225540" cy="3475673"/>
          </a:xfrm>
        </p:grpSpPr>
        <p:sp>
          <p:nvSpPr>
            <p:cNvPr id="7" name="Freeform 7"/>
            <p:cNvSpPr/>
            <p:nvPr/>
          </p:nvSpPr>
          <p:spPr>
            <a:xfrm>
              <a:off x="2023110" y="226599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85035" y="22136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646170" y="2265998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808095" y="22136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67990" y="2471738"/>
              <a:ext cx="1623060" cy="871538"/>
            </a:xfrm>
            <a:custGeom>
              <a:avLst/>
              <a:gdLst/>
              <a:ahLst/>
              <a:cxnLst/>
              <a:rect l="l" t="t" r="r" b="b"/>
              <a:pathLst>
                <a:path w="1623060" h="871538">
                  <a:moveTo>
                    <a:pt x="1623060" y="0"/>
                  </a:moveTo>
                  <a:lnTo>
                    <a:pt x="1623060" y="209550"/>
                  </a:lnTo>
                  <a:lnTo>
                    <a:pt x="1623060" y="766762"/>
                  </a:lnTo>
                  <a:lnTo>
                    <a:pt x="0" y="766762"/>
                  </a:lnTo>
                  <a:lnTo>
                    <a:pt x="0" y="871538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915602" y="334327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646170" y="37499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08095" y="3697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269230" y="374999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431155" y="36976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6214110" y="2672715"/>
              <a:ext cx="9525" cy="775335"/>
            </a:xfrm>
            <a:custGeom>
              <a:avLst/>
              <a:gdLst/>
              <a:ahLst/>
              <a:cxnLst/>
              <a:rect l="l" t="t" r="r" b="b"/>
              <a:pathLst>
                <a:path w="9525" h="775335">
                  <a:moveTo>
                    <a:pt x="0" y="775335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6161722" y="25679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1312545" y="2471738"/>
              <a:ext cx="843915" cy="2450782"/>
            </a:xfrm>
            <a:custGeom>
              <a:avLst/>
              <a:gdLst/>
              <a:ahLst/>
              <a:cxnLst/>
              <a:rect l="l" t="t" r="r" b="b"/>
              <a:pathLst>
                <a:path w="843915" h="2450782">
                  <a:moveTo>
                    <a:pt x="32385" y="0"/>
                  </a:moveTo>
                  <a:lnTo>
                    <a:pt x="32385" y="209550"/>
                  </a:lnTo>
                  <a:lnTo>
                    <a:pt x="32385" y="1278255"/>
                  </a:lnTo>
                  <a:lnTo>
                    <a:pt x="0" y="1278255"/>
                  </a:lnTo>
                  <a:lnTo>
                    <a:pt x="843915" y="1278255"/>
                  </a:lnTo>
                  <a:lnTo>
                    <a:pt x="843915" y="2346008"/>
                  </a:lnTo>
                  <a:lnTo>
                    <a:pt x="843915" y="2450782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0" name="Freeform 20"/>
            <p:cNvSpPr/>
            <p:nvPr/>
          </p:nvSpPr>
          <p:spPr>
            <a:xfrm>
              <a:off x="2104072" y="49225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591050" y="4050982"/>
              <a:ext cx="9525" cy="976312"/>
            </a:xfrm>
            <a:custGeom>
              <a:avLst/>
              <a:gdLst/>
              <a:ahLst/>
              <a:cxnLst/>
              <a:rect l="l" t="t" r="r" b="b"/>
              <a:pathLst>
                <a:path w="9525" h="976312">
                  <a:moveTo>
                    <a:pt x="0" y="0"/>
                  </a:moveTo>
                  <a:lnTo>
                    <a:pt x="0" y="97631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2060258"/>
              <a:ext cx="135636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89810" y="2060258"/>
              <a:ext cx="1356360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912870" y="2060258"/>
              <a:ext cx="1356360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35930" y="1964055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89810" y="3448050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912870" y="3448050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535930" y="3448050"/>
              <a:ext cx="1356360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761048" y="5027295"/>
              <a:ext cx="2791778" cy="411480"/>
            </a:xfrm>
            <a:prstGeom prst="roundRect">
              <a:avLst>
                <a:gd name="adj" fmla="val 18519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912870" y="5027295"/>
              <a:ext cx="1356360" cy="412433"/>
            </a:xfrm>
            <a:custGeom>
              <a:avLst/>
              <a:gdLst/>
              <a:ahLst/>
              <a:cxnLst/>
              <a:rect l="l" t="t" r="r" b="b"/>
              <a:pathLst>
                <a:path w="1356360" h="412433">
                  <a:moveTo>
                    <a:pt x="133350" y="0"/>
                  </a:moveTo>
                  <a:lnTo>
                    <a:pt x="1356360" y="0"/>
                  </a:lnTo>
                  <a:lnTo>
                    <a:pt x="1223010" y="412433"/>
                  </a:lnTo>
                  <a:lnTo>
                    <a:pt x="0" y="412433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54202" y="218217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形成通道程序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44318" y="2182178"/>
              <a:ext cx="847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地址 ⇒ CAW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61866" y="218217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启动通道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50814" y="2079308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中断处理（查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CSW）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622804" y="3563302"/>
              <a:ext cx="6903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 CAW 取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CCW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16324" y="3563302"/>
              <a:ext cx="94945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执行命令，经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CDW 交换数据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750814" y="3563302"/>
              <a:ext cx="92659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结束，状态写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 CSW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81049" y="5149215"/>
              <a:ext cx="21508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内存：CCW1 … CCWn、数据区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23410" y="514921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607118" y="3031808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642639" y="30570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2685" y="2922270"/>
              <a:ext cx="34385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66307" y="29475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</a:t>
              </a:r>
            </a:p>
          </p:txBody>
        </p:sp>
      </p:grpSp>
      <p:grpSp>
        <p:nvGrpSpPr>
          <p:cNvPr id="46" name="c1-text-2"/>
          <p:cNvGrpSpPr/>
          <p:nvPr/>
        </p:nvGrpSpPr>
        <p:grpSpPr>
          <a:xfrm>
            <a:off x="527304" y="6175058"/>
            <a:ext cx="5727192" cy="234696"/>
            <a:chOff x="527304" y="6175058"/>
            <a:chExt cx="5727192" cy="23469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6175058"/>
              <a:ext cx="57271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第一行是 CPU 做的事，第二行是通道做的事，第三行是它们访问的内存和设备。</a:t>
              </a:r>
            </a:p>
          </p:txBody>
        </p:sp>
      </p:grpSp>
      <p:grpSp>
        <p:nvGrpSpPr>
          <p:cNvPr id="60" name="c2-card-1"/>
          <p:cNvGrpSpPr/>
          <p:nvPr/>
        </p:nvGrpSpPr>
        <p:grpSpPr>
          <a:xfrm>
            <a:off x="7330440" y="1524000"/>
            <a:ext cx="4328160" cy="1886902"/>
            <a:chOff x="7330440" y="1524000"/>
            <a:chExt cx="4328160" cy="1886902"/>
          </a:xfrm>
        </p:grpSpPr>
        <p:sp>
          <p:nvSpPr>
            <p:cNvPr id="47" name="Rectangle 47"/>
            <p:cNvSpPr/>
            <p:nvPr/>
          </p:nvSpPr>
          <p:spPr>
            <a:xfrm>
              <a:off x="7330440" y="1524000"/>
              <a:ext cx="432816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39965" y="165735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66660" y="1722120"/>
              <a:ext cx="154971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625596" y="1756410"/>
              <a:ext cx="1430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9.5 设备驱动的三部分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566660" y="207073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5005" y="211012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57554" y="2082641"/>
              <a:ext cx="310730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通道程序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：CCW 指令序列，可以静态编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制，也可以动态生成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7566660" y="2659380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25005" y="2699718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57554" y="267223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设备启动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：通过启动通道来启动设备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7566660" y="2977515"/>
              <a:ext cx="201930" cy="20193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625005" y="301785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57554" y="2989421"/>
              <a:ext cx="33363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中断处理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：处理通道向 CPU 发出的中断</a:t>
              </a:r>
            </a:p>
          </p:txBody>
        </p:sp>
      </p:grpSp>
      <p:grpSp>
        <p:nvGrpSpPr>
          <p:cNvPr id="71" name="c2-card-2"/>
          <p:cNvGrpSpPr/>
          <p:nvPr/>
        </p:nvGrpSpPr>
        <p:grpSpPr>
          <a:xfrm>
            <a:off x="7330440" y="3590925"/>
            <a:ext cx="4328160" cy="2429828"/>
            <a:chOff x="7330440" y="3590925"/>
            <a:chExt cx="4328160" cy="2429828"/>
          </a:xfrm>
        </p:grpSpPr>
        <p:sp>
          <p:nvSpPr>
            <p:cNvPr id="61" name="Rectangle 61"/>
            <p:cNvSpPr/>
            <p:nvPr/>
          </p:nvSpPr>
          <p:spPr>
            <a:xfrm>
              <a:off x="7330440" y="3590925"/>
              <a:ext cx="4328160" cy="2429828"/>
            </a:xfrm>
            <a:prstGeom prst="roundRect">
              <a:avLst>
                <a:gd name="adj" fmla="val 54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339965" y="3724275"/>
              <a:ext cx="47625" cy="216312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566660" y="378904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638098" y="382333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按时间顺序读图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574280" y="421005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730871" y="4149566"/>
              <a:ext cx="30712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把通道程序放进内存，首地址送入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CAW，再启动通道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7574280" y="479869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730871" y="4739164"/>
              <a:ext cx="344995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通道按 CAW 逐条取 CCW 执行，数据经 CDW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在设备和数据区之间传送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7574280" y="538829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730871" y="5327809"/>
              <a:ext cx="352209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遇到结束命令，通道把状态写进 CSW 并中断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CPU，中断处理程序据此判断传输是否正常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01868" cy="2997517"/>
            <a:chOff x="667512" y="1835468"/>
            <a:chExt cx="580186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设备调度：磁盘引臂调度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请求排好顺序再服务，既要少移动引臂，又不能让请求饿死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4728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9.6 FCFS、SSTF、SCAN/LOOK、C-SCAN/C-LOOK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12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步扫描与冻结扫描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917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9.6.1 磁盘 I/O 时间参数与例题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70523" cy="909257"/>
            <a:chOff x="520446" y="342900"/>
            <a:chExt cx="64705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705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调度目标与 FCFS：按请求到达的顺序服务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graph-1"/>
          <p:cNvGrpSpPr/>
          <p:nvPr/>
        </p:nvGrpSpPr>
        <p:grpSpPr>
          <a:xfrm>
            <a:off x="795062" y="1711166"/>
            <a:ext cx="5609042" cy="3840956"/>
            <a:chOff x="795062" y="1711166"/>
            <a:chExt cx="5609042" cy="3840956"/>
          </a:xfrm>
        </p:grpSpPr>
        <p:sp>
          <p:nvSpPr>
            <p:cNvPr id="7" name="Freeform 7"/>
            <p:cNvSpPr/>
            <p:nvPr/>
          </p:nvSpPr>
          <p:spPr>
            <a:xfrm>
              <a:off x="83629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246822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98691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288858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938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494722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795712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39864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769292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6290310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874395" y="2025015"/>
              <a:ext cx="5377815" cy="9525"/>
            </a:xfrm>
            <a:custGeom>
              <a:avLst/>
              <a:gdLst/>
              <a:ahLst/>
              <a:cxnLst/>
              <a:rect l="l" t="t" r="r" b="b"/>
              <a:pathLst>
                <a:path w="5377815" h="9525">
                  <a:moveTo>
                    <a:pt x="0" y="0"/>
                  </a:moveTo>
                  <a:lnTo>
                    <a:pt x="5377815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345055" y="2454592"/>
              <a:ext cx="1904048" cy="393383"/>
            </a:xfrm>
            <a:custGeom>
              <a:avLst/>
              <a:gdLst/>
              <a:ahLst/>
              <a:cxnLst/>
              <a:rect l="l" t="t" r="r" b="b"/>
              <a:pathLst>
                <a:path w="1904048" h="393383">
                  <a:moveTo>
                    <a:pt x="0" y="0"/>
                  </a:moveTo>
                  <a:lnTo>
                    <a:pt x="1904048" y="393383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4239578" y="280130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5722"/>
                  </a:moveTo>
                  <a:lnTo>
                    <a:pt x="0" y="93345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137410" y="2888932"/>
              <a:ext cx="2205037" cy="398145"/>
            </a:xfrm>
            <a:custGeom>
              <a:avLst/>
              <a:gdLst/>
              <a:ahLst/>
              <a:cxnLst/>
              <a:rect l="l" t="t" r="r" b="b"/>
              <a:pathLst>
                <a:path w="2205037" h="398145">
                  <a:moveTo>
                    <a:pt x="2205037" y="0"/>
                  </a:moveTo>
                  <a:lnTo>
                    <a:pt x="0" y="398145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043112" y="3240405"/>
              <a:ext cx="101917" cy="93345"/>
            </a:xfrm>
            <a:custGeom>
              <a:avLst/>
              <a:gdLst/>
              <a:ahLst/>
              <a:cxnLst/>
              <a:rect l="l" t="t" r="r" b="b"/>
              <a:pathLst>
                <a:path w="101917" h="93345">
                  <a:moveTo>
                    <a:pt x="0" y="63817"/>
                  </a:moveTo>
                  <a:lnTo>
                    <a:pt x="85725" y="0"/>
                  </a:lnTo>
                  <a:lnTo>
                    <a:pt x="101917" y="9334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044065" y="3320415"/>
              <a:ext cx="3573780" cy="412432"/>
            </a:xfrm>
            <a:custGeom>
              <a:avLst/>
              <a:gdLst/>
              <a:ahLst/>
              <a:cxnLst/>
              <a:rect l="l" t="t" r="r" b="b"/>
              <a:pathLst>
                <a:path w="3573780" h="412432">
                  <a:moveTo>
                    <a:pt x="0" y="0"/>
                  </a:moveTo>
                  <a:lnTo>
                    <a:pt x="3573780" y="41243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612130" y="3685222"/>
              <a:ext cx="100012" cy="94298"/>
            </a:xfrm>
            <a:custGeom>
              <a:avLst/>
              <a:gdLst/>
              <a:ahLst/>
              <a:cxnLst/>
              <a:rect l="l" t="t" r="r" b="b"/>
              <a:pathLst>
                <a:path w="100012" h="94298">
                  <a:moveTo>
                    <a:pt x="100012" y="58103"/>
                  </a:moveTo>
                  <a:lnTo>
                    <a:pt x="0" y="94298"/>
                  </a:lnTo>
                  <a:lnTo>
                    <a:pt x="1143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399222" y="3755708"/>
              <a:ext cx="4312920" cy="415290"/>
            </a:xfrm>
            <a:custGeom>
              <a:avLst/>
              <a:gdLst/>
              <a:ahLst/>
              <a:cxnLst/>
              <a:rect l="l" t="t" r="r" b="b"/>
              <a:pathLst>
                <a:path w="4312920" h="415290">
                  <a:moveTo>
                    <a:pt x="4312920" y="0"/>
                  </a:moveTo>
                  <a:lnTo>
                    <a:pt x="0" y="41529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303972" y="4123372"/>
              <a:ext cx="99060" cy="94298"/>
            </a:xfrm>
            <a:custGeom>
              <a:avLst/>
              <a:gdLst/>
              <a:ahLst/>
              <a:cxnLst/>
              <a:rect l="l" t="t" r="r" b="b"/>
              <a:pathLst>
                <a:path w="99060" h="94298">
                  <a:moveTo>
                    <a:pt x="0" y="56198"/>
                  </a:moveTo>
                  <a:lnTo>
                    <a:pt x="90488" y="0"/>
                  </a:lnTo>
                  <a:lnTo>
                    <a:pt x="99060" y="94298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303972" y="4194810"/>
              <a:ext cx="2341245" cy="400050"/>
            </a:xfrm>
            <a:custGeom>
              <a:avLst/>
              <a:gdLst/>
              <a:ahLst/>
              <a:cxnLst/>
              <a:rect l="l" t="t" r="r" b="b"/>
              <a:pathLst>
                <a:path w="2341245" h="400050">
                  <a:moveTo>
                    <a:pt x="0" y="0"/>
                  </a:moveTo>
                  <a:lnTo>
                    <a:pt x="2341245" y="40005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637598" y="4548188"/>
              <a:ext cx="101918" cy="94297"/>
            </a:xfrm>
            <a:custGeom>
              <a:avLst/>
              <a:gdLst/>
              <a:ahLst/>
              <a:cxnLst/>
              <a:rect l="l" t="t" r="r" b="b"/>
              <a:pathLst>
                <a:path w="101918" h="94297">
                  <a:moveTo>
                    <a:pt x="101918" y="62865"/>
                  </a:moveTo>
                  <a:lnTo>
                    <a:pt x="0" y="94297"/>
                  </a:lnTo>
                  <a:lnTo>
                    <a:pt x="16193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841308" y="4641532"/>
              <a:ext cx="901065" cy="359092"/>
            </a:xfrm>
            <a:custGeom>
              <a:avLst/>
              <a:gdLst/>
              <a:ahLst/>
              <a:cxnLst/>
              <a:rect l="l" t="t" r="r" b="b"/>
              <a:pathLst>
                <a:path w="901065" h="359092">
                  <a:moveTo>
                    <a:pt x="901065" y="0"/>
                  </a:moveTo>
                  <a:lnTo>
                    <a:pt x="0" y="35909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2752725" y="4955858"/>
              <a:ext cx="105728" cy="88583"/>
            </a:xfrm>
            <a:custGeom>
              <a:avLst/>
              <a:gdLst/>
              <a:ahLst/>
              <a:cxnLst/>
              <a:rect l="l" t="t" r="r" b="b"/>
              <a:pathLst>
                <a:path w="105728" h="88583">
                  <a:moveTo>
                    <a:pt x="0" y="79058"/>
                  </a:moveTo>
                  <a:lnTo>
                    <a:pt x="70485" y="0"/>
                  </a:lnTo>
                  <a:lnTo>
                    <a:pt x="105728" y="8858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2749868" y="5083492"/>
              <a:ext cx="611505" cy="335280"/>
            </a:xfrm>
            <a:custGeom>
              <a:avLst/>
              <a:gdLst/>
              <a:ahLst/>
              <a:cxnLst/>
              <a:rect l="l" t="t" r="r" b="b"/>
              <a:pathLst>
                <a:path w="611505" h="335280">
                  <a:moveTo>
                    <a:pt x="0" y="0"/>
                  </a:moveTo>
                  <a:lnTo>
                    <a:pt x="611505" y="33528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338512" y="5376862"/>
              <a:ext cx="105728" cy="87630"/>
            </a:xfrm>
            <a:custGeom>
              <a:avLst/>
              <a:gdLst/>
              <a:ahLst/>
              <a:cxnLst/>
              <a:rect l="l" t="t" r="r" b="b"/>
              <a:pathLst>
                <a:path w="105728" h="87630">
                  <a:moveTo>
                    <a:pt x="105728" y="87630"/>
                  </a:moveTo>
                  <a:lnTo>
                    <a:pt x="0" y="8382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772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218248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95834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260282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67081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466148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767138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37007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740718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261735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41232" y="23955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351020" y="283083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939290" y="326707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721668" y="370236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1199198" y="413766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3748088" y="457295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651760" y="500919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3447098" y="544449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388870" y="239125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95062" y="17111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69309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909402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11344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621872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417209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81919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84852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55499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76517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63" name="c1-text-2"/>
          <p:cNvGrpSpPr/>
          <p:nvPr/>
        </p:nvGrpSpPr>
        <p:grpSpPr>
          <a:xfrm>
            <a:off x="526923" y="5912644"/>
            <a:ext cx="5645658" cy="500824"/>
            <a:chOff x="526923" y="5912644"/>
            <a:chExt cx="5645658" cy="500824"/>
          </a:xfrm>
        </p:grpSpPr>
        <p:sp>
          <p:nvSpPr>
            <p:cNvPr id="62" name="TextBox 62"/>
            <p:cNvSpPr txBox="1"/>
            <p:nvPr/>
          </p:nvSpPr>
          <p:spPr>
            <a:xfrm>
              <a:off x="526923" y="5912644"/>
              <a:ext cx="564565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移动量 = (130−53) + (130−42) + (180−42) + (180−15) + (108−15) + (108−</a:t>
              </a:r>
            </a:p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68) + (97−68) = 77 + 88 + 138 + 165 + 93 + 40 + 29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630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6898005" y="1524000"/>
            <a:ext cx="4760595" cy="1365885"/>
            <a:chOff x="6898005" y="1524000"/>
            <a:chExt cx="4760595" cy="1365885"/>
          </a:xfrm>
        </p:grpSpPr>
        <p:sp>
          <p:nvSpPr>
            <p:cNvPr id="64" name="Rectangle 64"/>
            <p:cNvSpPr/>
            <p:nvPr/>
          </p:nvSpPr>
          <p:spPr>
            <a:xfrm>
              <a:off x="6898005" y="1524000"/>
              <a:ext cx="4760595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907530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145655" y="1733550"/>
              <a:ext cx="192309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192785" y="1769269"/>
              <a:ext cx="18278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9.6 设备调度优化服务顺序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7151370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09485" y="21107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：防止请求饿死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7151370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09485" y="244602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高效性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：减少磁盘引臂的移动量</a:t>
              </a:r>
            </a:p>
          </p:txBody>
        </p:sp>
      </p:grpSp>
      <p:grpSp>
        <p:nvGrpSpPr>
          <p:cNvPr id="80" name="c2-card-2"/>
          <p:cNvGrpSpPr/>
          <p:nvPr/>
        </p:nvGrpSpPr>
        <p:grpSpPr>
          <a:xfrm>
            <a:off x="6898005" y="3080385"/>
            <a:ext cx="4760595" cy="1662112"/>
            <a:chOff x="6898005" y="3080385"/>
            <a:chExt cx="4760595" cy="1662112"/>
          </a:xfrm>
        </p:grpSpPr>
        <p:sp>
          <p:nvSpPr>
            <p:cNvPr id="73" name="Rectangle 73"/>
            <p:cNvSpPr/>
            <p:nvPr/>
          </p:nvSpPr>
          <p:spPr>
            <a:xfrm>
              <a:off x="6898005" y="3080385"/>
              <a:ext cx="4760595" cy="1662112"/>
            </a:xfrm>
            <a:prstGeom prst="roundRect">
              <a:avLst>
                <a:gd name="adj" fmla="val 80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907530" y="3213735"/>
              <a:ext cx="47625" cy="139541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145655" y="32899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219112" y="33256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本节统一例子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138035" y="3667125"/>
              <a:ext cx="38014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磁道编号 0–199，磁头当前在 53 号磁道。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138035" y="4002405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请求序列：130，42，180，15，108，68，97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39178" y="4334351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左图横轴是磁道号，纵向从上到下是服务的先后。</a:t>
              </a:r>
            </a:p>
          </p:txBody>
        </p:sp>
      </p:grpSp>
      <p:grpSp>
        <p:nvGrpSpPr>
          <p:cNvPr id="87" name="c2-callout-3"/>
          <p:cNvGrpSpPr/>
          <p:nvPr/>
        </p:nvGrpSpPr>
        <p:grpSpPr>
          <a:xfrm>
            <a:off x="6898005" y="4932998"/>
            <a:ext cx="4760595" cy="782955"/>
            <a:chOff x="6898005" y="4932998"/>
            <a:chExt cx="4760595" cy="782955"/>
          </a:xfrm>
        </p:grpSpPr>
        <p:sp>
          <p:nvSpPr>
            <p:cNvPr id="81" name="Rectangle 81"/>
            <p:cNvSpPr/>
            <p:nvPr/>
          </p:nvSpPr>
          <p:spPr>
            <a:xfrm>
              <a:off x="6898005" y="4932998"/>
              <a:ext cx="476059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090734" y="5220771"/>
              <a:ext cx="224134" cy="192560"/>
              <a:chOff x="7090734" y="5220771"/>
              <a:chExt cx="224134" cy="19256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7202805" y="529113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7090734" y="522077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7202805" y="536892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7404735" y="5081588"/>
              <a:ext cx="3729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FCFS 公平、简单，但引臂在两端之间来回大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幅摆动，移动量在几种算法里最大。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43647" cy="909257"/>
            <a:chOff x="520446" y="342900"/>
            <a:chExt cx="7843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43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SSTF 最短寻找时间优先：每次选离磁头最近的请求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graph-1"/>
          <p:cNvGrpSpPr/>
          <p:nvPr/>
        </p:nvGrpSpPr>
        <p:grpSpPr>
          <a:xfrm>
            <a:off x="789347" y="1711166"/>
            <a:ext cx="5511887" cy="3840956"/>
            <a:chOff x="789347" y="1711166"/>
            <a:chExt cx="5511887" cy="3840956"/>
          </a:xfrm>
        </p:grpSpPr>
        <p:sp>
          <p:nvSpPr>
            <p:cNvPr id="7" name="Freeform 7"/>
            <p:cNvSpPr/>
            <p:nvPr/>
          </p:nvSpPr>
          <p:spPr>
            <a:xfrm>
              <a:off x="830580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" name="Freeform 8"/>
            <p:cNvSpPr/>
            <p:nvPr/>
          </p:nvSpPr>
          <p:spPr>
            <a:xfrm>
              <a:off x="1234440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9" name="Freeform 9"/>
            <p:cNvSpPr/>
            <p:nvPr/>
          </p:nvSpPr>
          <p:spPr>
            <a:xfrm>
              <a:off x="1961198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225742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266128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441382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3737610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4330065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5675948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6187440" y="2063115"/>
              <a:ext cx="9525" cy="3489007"/>
            </a:xfrm>
            <a:custGeom>
              <a:avLst/>
              <a:gdLst/>
              <a:ahLst/>
              <a:cxnLst/>
              <a:rect l="l" t="t" r="r" b="b"/>
              <a:pathLst>
                <a:path w="9525" h="3489007">
                  <a:moveTo>
                    <a:pt x="0" y="0"/>
                  </a:moveTo>
                  <a:lnTo>
                    <a:pt x="0" y="3489007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868680" y="2025015"/>
              <a:ext cx="5280660" cy="9525"/>
            </a:xfrm>
            <a:custGeom>
              <a:avLst/>
              <a:gdLst/>
              <a:ahLst/>
              <a:cxnLst/>
              <a:rect l="l" t="t" r="r" b="b"/>
              <a:pathLst>
                <a:path w="5280660" h="9525">
                  <a:moveTo>
                    <a:pt x="0" y="0"/>
                  </a:moveTo>
                  <a:lnTo>
                    <a:pt x="5280660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046922" y="2489835"/>
              <a:ext cx="178117" cy="262890"/>
            </a:xfrm>
            <a:custGeom>
              <a:avLst/>
              <a:gdLst/>
              <a:ahLst/>
              <a:cxnLst/>
              <a:rect l="l" t="t" r="r" b="b"/>
              <a:pathLst>
                <a:path w="178117" h="262890">
                  <a:moveTo>
                    <a:pt x="178117" y="0"/>
                  </a:moveTo>
                  <a:lnTo>
                    <a:pt x="0" y="26289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993582" y="2726055"/>
              <a:ext cx="92392" cy="105728"/>
            </a:xfrm>
            <a:custGeom>
              <a:avLst/>
              <a:gdLst/>
              <a:ahLst/>
              <a:cxnLst/>
              <a:rect l="l" t="t" r="r" b="b"/>
              <a:pathLst>
                <a:path w="92392" h="105728">
                  <a:moveTo>
                    <a:pt x="0" y="105728"/>
                  </a:moveTo>
                  <a:lnTo>
                    <a:pt x="14288" y="0"/>
                  </a:lnTo>
                  <a:lnTo>
                    <a:pt x="92392" y="5334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2009775" y="2908935"/>
              <a:ext cx="521970" cy="324803"/>
            </a:xfrm>
            <a:custGeom>
              <a:avLst/>
              <a:gdLst/>
              <a:ahLst/>
              <a:cxnLst/>
              <a:rect l="l" t="t" r="r" b="b"/>
              <a:pathLst>
                <a:path w="521970" h="324803">
                  <a:moveTo>
                    <a:pt x="0" y="0"/>
                  </a:moveTo>
                  <a:lnTo>
                    <a:pt x="521970" y="324803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506028" y="3193732"/>
              <a:ext cx="106680" cy="90488"/>
            </a:xfrm>
            <a:custGeom>
              <a:avLst/>
              <a:gdLst/>
              <a:ahLst/>
              <a:cxnLst/>
              <a:rect l="l" t="t" r="r" b="b"/>
              <a:pathLst>
                <a:path w="106680" h="90488">
                  <a:moveTo>
                    <a:pt x="106680" y="90488"/>
                  </a:moveTo>
                  <a:lnTo>
                    <a:pt x="0" y="80010"/>
                  </a:lnTo>
                  <a:lnTo>
                    <a:pt x="50482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710815" y="3342322"/>
              <a:ext cx="598170" cy="333375"/>
            </a:xfrm>
            <a:custGeom>
              <a:avLst/>
              <a:gdLst/>
              <a:ahLst/>
              <a:cxnLst/>
              <a:rect l="l" t="t" r="r" b="b"/>
              <a:pathLst>
                <a:path w="598170" h="333375">
                  <a:moveTo>
                    <a:pt x="0" y="0"/>
                  </a:moveTo>
                  <a:lnTo>
                    <a:pt x="598170" y="333375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285172" y="3633788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3820"/>
                  </a:lnTo>
                  <a:lnTo>
                    <a:pt x="46673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473768" y="3797618"/>
              <a:ext cx="178117" cy="261938"/>
            </a:xfrm>
            <a:custGeom>
              <a:avLst/>
              <a:gdLst/>
              <a:ahLst/>
              <a:cxnLst/>
              <a:rect l="l" t="t" r="r" b="b"/>
              <a:pathLst>
                <a:path w="178117" h="261938">
                  <a:moveTo>
                    <a:pt x="0" y="0"/>
                  </a:moveTo>
                  <a:lnTo>
                    <a:pt x="178117" y="26193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612832" y="4031932"/>
              <a:ext cx="92392" cy="105727"/>
            </a:xfrm>
            <a:custGeom>
              <a:avLst/>
              <a:gdLst/>
              <a:ahLst/>
              <a:cxnLst/>
              <a:rect l="l" t="t" r="r" b="b"/>
              <a:pathLst>
                <a:path w="92392" h="105727">
                  <a:moveTo>
                    <a:pt x="92392" y="105727"/>
                  </a:moveTo>
                  <a:lnTo>
                    <a:pt x="0" y="54292"/>
                  </a:lnTo>
                  <a:lnTo>
                    <a:pt x="78105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3783330" y="4218622"/>
              <a:ext cx="423862" cy="311468"/>
            </a:xfrm>
            <a:custGeom>
              <a:avLst/>
              <a:gdLst/>
              <a:ahLst/>
              <a:cxnLst/>
              <a:rect l="l" t="t" r="r" b="b"/>
              <a:pathLst>
                <a:path w="423862" h="311468">
                  <a:moveTo>
                    <a:pt x="0" y="0"/>
                  </a:moveTo>
                  <a:lnTo>
                    <a:pt x="423862" y="31146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4178618" y="4491990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104775" y="95250"/>
                  </a:moveTo>
                  <a:lnTo>
                    <a:pt x="0" y="77152"/>
                  </a:lnTo>
                  <a:lnTo>
                    <a:pt x="5619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384358" y="4638675"/>
              <a:ext cx="1146810" cy="370522"/>
            </a:xfrm>
            <a:custGeom>
              <a:avLst/>
              <a:gdLst/>
              <a:ahLst/>
              <a:cxnLst/>
              <a:rect l="l" t="t" r="r" b="b"/>
              <a:pathLst>
                <a:path w="1146810" h="370522">
                  <a:moveTo>
                    <a:pt x="0" y="0"/>
                  </a:moveTo>
                  <a:lnTo>
                    <a:pt x="1146810" y="37052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515928" y="4964430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4295"/>
                  </a:moveTo>
                  <a:lnTo>
                    <a:pt x="0" y="90488"/>
                  </a:lnTo>
                  <a:lnTo>
                    <a:pt x="2952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1385888" y="5062538"/>
              <a:ext cx="4232910" cy="414338"/>
            </a:xfrm>
            <a:custGeom>
              <a:avLst/>
              <a:gdLst/>
              <a:ahLst/>
              <a:cxnLst/>
              <a:rect l="l" t="t" r="r" b="b"/>
              <a:pathLst>
                <a:path w="4232910" h="414338">
                  <a:moveTo>
                    <a:pt x="4232910" y="0"/>
                  </a:moveTo>
                  <a:lnTo>
                    <a:pt x="0" y="41433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1291590" y="5430202"/>
              <a:ext cx="99060" cy="94297"/>
            </a:xfrm>
            <a:custGeom>
              <a:avLst/>
              <a:gdLst/>
              <a:ahLst/>
              <a:cxnLst/>
              <a:rect l="l" t="t" r="r" b="b"/>
              <a:pathLst>
                <a:path w="99060" h="94297">
                  <a:moveTo>
                    <a:pt x="0" y="56197"/>
                  </a:moveTo>
                  <a:lnTo>
                    <a:pt x="89535" y="0"/>
                  </a:lnTo>
                  <a:lnTo>
                    <a:pt x="99060" y="94297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02005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205865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932622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222885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263271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3412808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3709035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4301490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647372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158865" y="19964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209800" y="2395538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1913572" y="283083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2613660" y="326707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393758" y="370236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3689985" y="413766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4282440" y="457295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628322" y="500919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86815" y="544449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357438" y="2391251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9347" y="171116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6927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83684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79912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583772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363869" y="1711166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623817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216272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562154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73647" y="1711166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63" name="c1-text-2"/>
          <p:cNvGrpSpPr/>
          <p:nvPr/>
        </p:nvGrpSpPr>
        <p:grpSpPr>
          <a:xfrm>
            <a:off x="526923" y="5912644"/>
            <a:ext cx="5407101" cy="500824"/>
            <a:chOff x="526923" y="5912644"/>
            <a:chExt cx="5407101" cy="500824"/>
          </a:xfrm>
        </p:grpSpPr>
        <p:sp>
          <p:nvSpPr>
            <p:cNvPr id="62" name="TextBox 62"/>
            <p:cNvSpPr txBox="1"/>
            <p:nvPr/>
          </p:nvSpPr>
          <p:spPr>
            <a:xfrm>
              <a:off x="526923" y="5912644"/>
              <a:ext cx="5407101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移动量 = 11 + 26 + 29 + 11 + 22 + 50 + 165 =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314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。原课件写作 (53−42)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(180−42) + (180−15)，把同方向的几段合并了，结果相同。</a:t>
              </a:r>
            </a:p>
          </p:txBody>
        </p:sp>
      </p:grpSp>
      <p:grpSp>
        <p:nvGrpSpPr>
          <p:cNvPr id="102" name="c2-table-1"/>
          <p:cNvGrpSpPr/>
          <p:nvPr/>
        </p:nvGrpSpPr>
        <p:grpSpPr>
          <a:xfrm>
            <a:off x="6783705" y="1524000"/>
            <a:ext cx="4874895" cy="3886677"/>
            <a:chOff x="6783705" y="1524000"/>
            <a:chExt cx="4874895" cy="3886677"/>
          </a:xfrm>
        </p:grpSpPr>
        <p:sp>
          <p:nvSpPr>
            <p:cNvPr id="64" name="Rectangle 64"/>
            <p:cNvSpPr/>
            <p:nvPr/>
          </p:nvSpPr>
          <p:spPr>
            <a:xfrm>
              <a:off x="6789420" y="1524000"/>
              <a:ext cx="486918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17312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磁头在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456752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最近（距离）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242690" y="16597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次近（距离）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32084" y="2108359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11834" y="210835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42（11）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397772" y="210835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68（15）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789420" y="241649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89420" y="2421255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332084" y="2556986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02357" y="2556986"/>
              <a:ext cx="755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68（26）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397772" y="2556986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15（27）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789420" y="286607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7332084" y="3005614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11834" y="30056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97（29）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397772" y="30056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15（53）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789420" y="3314700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789420" y="3319462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332084" y="3454241"/>
              <a:ext cx="2119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564448" y="3454241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108（11）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350386" y="3454241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130（33）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789420" y="3763328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282329" y="390382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564448" y="3903821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130（22）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50386" y="3903821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180（72）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789420" y="4211955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789420" y="4216718"/>
              <a:ext cx="486918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282329" y="4352449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564448" y="4352449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180（50）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350386" y="4352449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15（115）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789420" y="4660582"/>
              <a:ext cx="486918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282329" y="4801076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564448" y="4801076"/>
              <a:ext cx="831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15（165）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712244" y="480107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789420" y="1524000"/>
              <a:ext cx="4869180" cy="35909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8082915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867900" y="1524000"/>
              <a:ext cx="9525" cy="35909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83705" y="5190649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 42 时，68 只比 15 近 1 个磁道</a:t>
              </a:r>
            </a:p>
          </p:txBody>
        </p:sp>
      </p:grpSp>
      <p:grpSp>
        <p:nvGrpSpPr>
          <p:cNvPr id="109" name="c2-callout-2"/>
          <p:cNvGrpSpPr/>
          <p:nvPr/>
        </p:nvGrpSpPr>
        <p:grpSpPr>
          <a:xfrm>
            <a:off x="6789420" y="5556885"/>
            <a:ext cx="4869180" cy="782955"/>
            <a:chOff x="6789420" y="5556885"/>
            <a:chExt cx="4869180" cy="782955"/>
          </a:xfrm>
        </p:grpSpPr>
        <p:sp>
          <p:nvSpPr>
            <p:cNvPr id="103" name="Rectangle 103"/>
            <p:cNvSpPr/>
            <p:nvPr/>
          </p:nvSpPr>
          <p:spPr>
            <a:xfrm>
              <a:off x="6789420" y="5556885"/>
              <a:ext cx="486918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6982149" y="5844658"/>
              <a:ext cx="224134" cy="192560"/>
              <a:chOff x="6982149" y="5844658"/>
              <a:chExt cx="224134" cy="19256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094220" y="591502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982149" y="584465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094220" y="59928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7296150" y="5705475"/>
              <a:ext cx="3825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缺点：磁头附近不断有新请求时，远处的请求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（如 15）可能长期得不到服务，产生饥饿。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88419" cy="909257"/>
            <a:chOff x="520446" y="342900"/>
            <a:chExt cx="688841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8841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 与 LOOK：像电梯一样扫到一头再折返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419188" cy="264033"/>
            <a:chOff x="526542" y="1545907"/>
            <a:chExt cx="10419188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419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磁头从 53 出发，先向磁道号减小的方向移动。SCAN 一直走到磁盘端点 0 才折返；LOOK 走到这一方向上最远的请求 15 就折返。</a:t>
              </a:r>
            </a:p>
          </p:txBody>
        </p:sp>
      </p:grpSp>
      <p:grpSp>
        <p:nvGrpSpPr>
          <p:cNvPr id="66" name="c1-graph-1"/>
          <p:cNvGrpSpPr/>
          <p:nvPr/>
        </p:nvGrpSpPr>
        <p:grpSpPr>
          <a:xfrm>
            <a:off x="756285" y="2041684"/>
            <a:ext cx="5012638" cy="2673191"/>
            <a:chOff x="756285" y="2041684"/>
            <a:chExt cx="5012638" cy="2673191"/>
          </a:xfrm>
        </p:grpSpPr>
        <p:sp>
          <p:nvSpPr>
            <p:cNvPr id="9" name="Freeform 9"/>
            <p:cNvSpPr/>
            <p:nvPr/>
          </p:nvSpPr>
          <p:spPr>
            <a:xfrm>
              <a:off x="80391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170622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100262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46792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17754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3446145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98430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20827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567309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842010" y="2274570"/>
              <a:ext cx="4792980" cy="9525"/>
            </a:xfrm>
            <a:custGeom>
              <a:avLst/>
              <a:gdLst/>
              <a:ahLst/>
              <a:cxnLst/>
              <a:rect l="l" t="t" r="r" b="b"/>
              <a:pathLst>
                <a:path w="4792980" h="9525">
                  <a:moveTo>
                    <a:pt x="0" y="0"/>
                  </a:moveTo>
                  <a:lnTo>
                    <a:pt x="4792980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40242" y="2602230"/>
              <a:ext cx="120015" cy="117158"/>
            </a:xfrm>
            <a:custGeom>
              <a:avLst/>
              <a:gdLst/>
              <a:ahLst/>
              <a:cxnLst/>
              <a:rect l="l" t="t" r="r" b="b"/>
              <a:pathLst>
                <a:path w="120015" h="117158">
                  <a:moveTo>
                    <a:pt x="120015" y="0"/>
                  </a:moveTo>
                  <a:lnTo>
                    <a:pt x="0" y="11715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72615" y="2685098"/>
              <a:ext cx="100965" cy="100965"/>
            </a:xfrm>
            <a:custGeom>
              <a:avLst/>
              <a:gdLst/>
              <a:ahLst/>
              <a:cxnLst/>
              <a:rect l="l" t="t" r="r" b="b"/>
              <a:pathLst>
                <a:path w="100965" h="100965">
                  <a:moveTo>
                    <a:pt x="0" y="100965"/>
                  </a:moveTo>
                  <a:lnTo>
                    <a:pt x="34290" y="0"/>
                  </a:lnTo>
                  <a:lnTo>
                    <a:pt x="100965" y="6858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312545" y="2847022"/>
              <a:ext cx="465772" cy="185738"/>
            </a:xfrm>
            <a:custGeom>
              <a:avLst/>
              <a:gdLst/>
              <a:ahLst/>
              <a:cxnLst/>
              <a:rect l="l" t="t" r="r" b="b"/>
              <a:pathLst>
                <a:path w="465772" h="185738">
                  <a:moveTo>
                    <a:pt x="465772" y="0"/>
                  </a:moveTo>
                  <a:lnTo>
                    <a:pt x="0" y="18573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23962" y="2987992"/>
              <a:ext cx="105727" cy="88583"/>
            </a:xfrm>
            <a:custGeom>
              <a:avLst/>
              <a:gdLst/>
              <a:ahLst/>
              <a:cxnLst/>
              <a:rect l="l" t="t" r="r" b="b"/>
              <a:pathLst>
                <a:path w="105727" h="88583">
                  <a:moveTo>
                    <a:pt x="0" y="80010"/>
                  </a:moveTo>
                  <a:lnTo>
                    <a:pt x="70485" y="0"/>
                  </a:lnTo>
                  <a:lnTo>
                    <a:pt x="105727" y="8858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27735" y="3122295"/>
              <a:ext cx="196215" cy="140970"/>
            </a:xfrm>
            <a:custGeom>
              <a:avLst/>
              <a:gdLst/>
              <a:ahLst/>
              <a:cxnLst/>
              <a:rect l="l" t="t" r="r" b="b"/>
              <a:pathLst>
                <a:path w="196215" h="140970">
                  <a:moveTo>
                    <a:pt x="196215" y="0"/>
                  </a:moveTo>
                  <a:lnTo>
                    <a:pt x="0" y="14097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50582" y="3224212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0" y="94297"/>
                  </a:moveTo>
                  <a:lnTo>
                    <a:pt x="49530" y="0"/>
                  </a:lnTo>
                  <a:lnTo>
                    <a:pt x="104775" y="7715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60108" y="3361372"/>
              <a:ext cx="1457325" cy="229553"/>
            </a:xfrm>
            <a:custGeom>
              <a:avLst/>
              <a:gdLst/>
              <a:ahLst/>
              <a:cxnLst/>
              <a:rect l="l" t="t" r="r" b="b"/>
              <a:pathLst>
                <a:path w="1457325" h="229553">
                  <a:moveTo>
                    <a:pt x="0" y="0"/>
                  </a:moveTo>
                  <a:lnTo>
                    <a:pt x="1457325" y="229553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309812" y="3544252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100965" y="61912"/>
                  </a:moveTo>
                  <a:lnTo>
                    <a:pt x="0" y="94297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2521268" y="3634740"/>
              <a:ext cx="513398" cy="190500"/>
            </a:xfrm>
            <a:custGeom>
              <a:avLst/>
              <a:gdLst/>
              <a:ahLst/>
              <a:cxnLst/>
              <a:rect l="l" t="t" r="r" b="b"/>
              <a:pathLst>
                <a:path w="513398" h="190500">
                  <a:moveTo>
                    <a:pt x="0" y="0"/>
                  </a:moveTo>
                  <a:lnTo>
                    <a:pt x="513398" y="19050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3017520" y="3780472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77153"/>
                  </a:moveTo>
                  <a:lnTo>
                    <a:pt x="0" y="88583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3218498" y="3917632"/>
              <a:ext cx="119062" cy="116205"/>
            </a:xfrm>
            <a:custGeom>
              <a:avLst/>
              <a:gdLst/>
              <a:ahLst/>
              <a:cxnLst/>
              <a:rect l="l" t="t" r="r" b="b"/>
              <a:pathLst>
                <a:path w="119062" h="116205">
                  <a:moveTo>
                    <a:pt x="0" y="0"/>
                  </a:moveTo>
                  <a:lnTo>
                    <a:pt x="119062" y="116205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304222" y="4000500"/>
              <a:ext cx="100965" cy="100012"/>
            </a:xfrm>
            <a:custGeom>
              <a:avLst/>
              <a:gdLst/>
              <a:ahLst/>
              <a:cxnLst/>
              <a:rect l="l" t="t" r="r" b="b"/>
              <a:pathLst>
                <a:path w="100965" h="100012">
                  <a:moveTo>
                    <a:pt x="100965" y="100012"/>
                  </a:moveTo>
                  <a:lnTo>
                    <a:pt x="0" y="67628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497580" y="4166235"/>
              <a:ext cx="350520" cy="170498"/>
            </a:xfrm>
            <a:custGeom>
              <a:avLst/>
              <a:gdLst/>
              <a:ahLst/>
              <a:cxnLst/>
              <a:rect l="l" t="t" r="r" b="b"/>
              <a:pathLst>
                <a:path w="350520" h="170498">
                  <a:moveTo>
                    <a:pt x="0" y="0"/>
                  </a:moveTo>
                  <a:lnTo>
                    <a:pt x="350520" y="17049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827145" y="4294822"/>
              <a:ext cx="105727" cy="84773"/>
            </a:xfrm>
            <a:custGeom>
              <a:avLst/>
              <a:gdLst/>
              <a:ahLst/>
              <a:cxnLst/>
              <a:rect l="l" t="t" r="r" b="b"/>
              <a:pathLst>
                <a:path w="105727" h="84773">
                  <a:moveTo>
                    <a:pt x="105727" y="83820"/>
                  </a:moveTo>
                  <a:lnTo>
                    <a:pt x="0" y="84773"/>
                  </a:lnTo>
                  <a:lnTo>
                    <a:pt x="4095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040505" y="4415790"/>
              <a:ext cx="1019175" cy="219075"/>
            </a:xfrm>
            <a:custGeom>
              <a:avLst/>
              <a:gdLst/>
              <a:ahLst/>
              <a:cxnLst/>
              <a:rect l="l" t="t" r="r" b="b"/>
              <a:pathLst>
                <a:path w="1019175" h="219075">
                  <a:moveTo>
                    <a:pt x="0" y="0"/>
                  </a:moveTo>
                  <a:lnTo>
                    <a:pt x="1019175" y="219075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049202" y="4588192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102870" y="66675"/>
                  </a:moveTo>
                  <a:lnTo>
                    <a:pt x="0" y="93345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7533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142048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180308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2071688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243935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314896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417570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95573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517969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64451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2052638" y="25155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784032" y="277844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22998" y="304133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756285" y="330422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2420302" y="356711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3129915" y="38300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3398520" y="409289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3936682" y="43567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5160645" y="461962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200275" y="25112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8791" y="20416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05146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766181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034786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402451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112064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350312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888475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112437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577257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73" name="c1-callout-2"/>
          <p:cNvGrpSpPr/>
          <p:nvPr/>
        </p:nvGrpSpPr>
        <p:grpSpPr>
          <a:xfrm>
            <a:off x="533400" y="4980622"/>
            <a:ext cx="5410200" cy="729615"/>
            <a:chOff x="533400" y="4980622"/>
            <a:chExt cx="5410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533400" y="498062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245418"/>
              <a:ext cx="200026" cy="200026"/>
              <a:chOff x="738188" y="5245418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2454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5312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53454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127308"/>
              <a:ext cx="388848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SCAN：53→42→15→0→68→97→108→130→180，移动量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(53−0) + (180−0)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233</a:t>
              </a:r>
            </a:p>
          </p:txBody>
        </p:sp>
      </p:grpSp>
      <p:grpSp>
        <p:nvGrpSpPr>
          <p:cNvPr id="128" name="c2-graph-1"/>
          <p:cNvGrpSpPr/>
          <p:nvPr/>
        </p:nvGrpSpPr>
        <p:grpSpPr>
          <a:xfrm>
            <a:off x="6483791" y="2041684"/>
            <a:ext cx="5000132" cy="2673191"/>
            <a:chOff x="6483791" y="2041684"/>
            <a:chExt cx="5000132" cy="2673191"/>
          </a:xfrm>
        </p:grpSpPr>
        <p:sp>
          <p:nvSpPr>
            <p:cNvPr id="74" name="Freeform 74"/>
            <p:cNvSpPr/>
            <p:nvPr/>
          </p:nvSpPr>
          <p:spPr>
            <a:xfrm>
              <a:off x="651891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5" name="Freeform 75"/>
            <p:cNvSpPr/>
            <p:nvPr/>
          </p:nvSpPr>
          <p:spPr>
            <a:xfrm>
              <a:off x="6885622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6" name="Freeform 76"/>
            <p:cNvSpPr/>
            <p:nvPr/>
          </p:nvSpPr>
          <p:spPr>
            <a:xfrm>
              <a:off x="754665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7" name="Freeform 77"/>
            <p:cNvSpPr/>
            <p:nvPr/>
          </p:nvSpPr>
          <p:spPr>
            <a:xfrm>
              <a:off x="7815262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818292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9" name="Freeform 79"/>
            <p:cNvSpPr/>
            <p:nvPr/>
          </p:nvSpPr>
          <p:spPr>
            <a:xfrm>
              <a:off x="889254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0" name="Freeform 80"/>
            <p:cNvSpPr/>
            <p:nvPr/>
          </p:nvSpPr>
          <p:spPr>
            <a:xfrm>
              <a:off x="9161145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1" name="Freeform 81"/>
            <p:cNvSpPr/>
            <p:nvPr/>
          </p:nvSpPr>
          <p:spPr>
            <a:xfrm>
              <a:off x="9699308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2" name="Freeform 82"/>
            <p:cNvSpPr/>
            <p:nvPr/>
          </p:nvSpPr>
          <p:spPr>
            <a:xfrm>
              <a:off x="1092327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3" name="Freeform 83"/>
            <p:cNvSpPr/>
            <p:nvPr/>
          </p:nvSpPr>
          <p:spPr>
            <a:xfrm>
              <a:off x="11388090" y="2312670"/>
              <a:ext cx="9525" cy="2378392"/>
            </a:xfrm>
            <a:custGeom>
              <a:avLst/>
              <a:gdLst/>
              <a:ahLst/>
              <a:cxnLst/>
              <a:rect l="l" t="t" r="r" b="b"/>
              <a:pathLst>
                <a:path w="9525" h="2378392">
                  <a:moveTo>
                    <a:pt x="0" y="0"/>
                  </a:moveTo>
                  <a:lnTo>
                    <a:pt x="0" y="237839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4" name="Freeform 84"/>
            <p:cNvSpPr/>
            <p:nvPr/>
          </p:nvSpPr>
          <p:spPr>
            <a:xfrm>
              <a:off x="6557010" y="2274570"/>
              <a:ext cx="4792980" cy="9525"/>
            </a:xfrm>
            <a:custGeom>
              <a:avLst/>
              <a:gdLst/>
              <a:ahLst/>
              <a:cxnLst/>
              <a:rect l="l" t="t" r="r" b="b"/>
              <a:pathLst>
                <a:path w="4792980" h="9525">
                  <a:moveTo>
                    <a:pt x="0" y="0"/>
                  </a:moveTo>
                  <a:lnTo>
                    <a:pt x="4792980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7647622" y="2605088"/>
              <a:ext cx="129540" cy="144780"/>
            </a:xfrm>
            <a:custGeom>
              <a:avLst/>
              <a:gdLst/>
              <a:ahLst/>
              <a:cxnLst/>
              <a:rect l="l" t="t" r="r" b="b"/>
              <a:pathLst>
                <a:path w="129540" h="144780">
                  <a:moveTo>
                    <a:pt x="129540" y="0"/>
                  </a:moveTo>
                  <a:lnTo>
                    <a:pt x="0" y="14478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7584758" y="2718435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0" y="102870"/>
                  </a:moveTo>
                  <a:lnTo>
                    <a:pt x="27623" y="0"/>
                  </a:lnTo>
                  <a:lnTo>
                    <a:pt x="99060" y="6286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87" name="Freeform 87"/>
            <p:cNvSpPr/>
            <p:nvPr/>
          </p:nvSpPr>
          <p:spPr>
            <a:xfrm>
              <a:off x="7024688" y="2887028"/>
              <a:ext cx="469582" cy="214312"/>
            </a:xfrm>
            <a:custGeom>
              <a:avLst/>
              <a:gdLst/>
              <a:ahLst/>
              <a:cxnLst/>
              <a:rect l="l" t="t" r="r" b="b"/>
              <a:pathLst>
                <a:path w="469582" h="214312">
                  <a:moveTo>
                    <a:pt x="469582" y="0"/>
                  </a:moveTo>
                  <a:lnTo>
                    <a:pt x="0" y="21431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6938010" y="3057525"/>
              <a:ext cx="105728" cy="86678"/>
            </a:xfrm>
            <a:custGeom>
              <a:avLst/>
              <a:gdLst/>
              <a:ahLst/>
              <a:cxnLst/>
              <a:rect l="l" t="t" r="r" b="b"/>
              <a:pathLst>
                <a:path w="105728" h="86678">
                  <a:moveTo>
                    <a:pt x="0" y="82867"/>
                  </a:moveTo>
                  <a:lnTo>
                    <a:pt x="66675" y="0"/>
                  </a:lnTo>
                  <a:lnTo>
                    <a:pt x="105728" y="86678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89" name="Freeform 89"/>
            <p:cNvSpPr/>
            <p:nvPr/>
          </p:nvSpPr>
          <p:spPr>
            <a:xfrm>
              <a:off x="6941820" y="3176588"/>
              <a:ext cx="1092518" cy="253365"/>
            </a:xfrm>
            <a:custGeom>
              <a:avLst/>
              <a:gdLst/>
              <a:ahLst/>
              <a:cxnLst/>
              <a:rect l="l" t="t" r="r" b="b"/>
              <a:pathLst>
                <a:path w="1092518" h="253365">
                  <a:moveTo>
                    <a:pt x="0" y="0"/>
                  </a:moveTo>
                  <a:lnTo>
                    <a:pt x="1092518" y="253365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8022908" y="3384232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67627"/>
                  </a:moveTo>
                  <a:lnTo>
                    <a:pt x="0" y="92392"/>
                  </a:lnTo>
                  <a:lnTo>
                    <a:pt x="2190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8235315" y="3487102"/>
              <a:ext cx="516255" cy="218122"/>
            </a:xfrm>
            <a:custGeom>
              <a:avLst/>
              <a:gdLst/>
              <a:ahLst/>
              <a:cxnLst/>
              <a:rect l="l" t="t" r="r" b="b"/>
              <a:pathLst>
                <a:path w="516255" h="218122">
                  <a:moveTo>
                    <a:pt x="0" y="0"/>
                  </a:moveTo>
                  <a:lnTo>
                    <a:pt x="516255" y="21812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733472" y="366141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962"/>
                  </a:moveTo>
                  <a:lnTo>
                    <a:pt x="0" y="87630"/>
                  </a:lnTo>
                  <a:lnTo>
                    <a:pt x="37147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3" name="Freeform 93"/>
            <p:cNvSpPr/>
            <p:nvPr/>
          </p:nvSpPr>
          <p:spPr>
            <a:xfrm>
              <a:off x="8930640" y="3808095"/>
              <a:ext cx="128588" cy="143827"/>
            </a:xfrm>
            <a:custGeom>
              <a:avLst/>
              <a:gdLst/>
              <a:ahLst/>
              <a:cxnLst/>
              <a:rect l="l" t="t" r="r" b="b"/>
              <a:pathLst>
                <a:path w="128588" h="143827">
                  <a:moveTo>
                    <a:pt x="0" y="0"/>
                  </a:moveTo>
                  <a:lnTo>
                    <a:pt x="128588" y="143827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4" name="Freeform 94"/>
            <p:cNvSpPr/>
            <p:nvPr/>
          </p:nvSpPr>
          <p:spPr>
            <a:xfrm>
              <a:off x="9023985" y="3920490"/>
              <a:ext cx="99060" cy="102870"/>
            </a:xfrm>
            <a:custGeom>
              <a:avLst/>
              <a:gdLst/>
              <a:ahLst/>
              <a:cxnLst/>
              <a:rect l="l" t="t" r="r" b="b"/>
              <a:pathLst>
                <a:path w="99060" h="102870">
                  <a:moveTo>
                    <a:pt x="99060" y="102870"/>
                  </a:moveTo>
                  <a:lnTo>
                    <a:pt x="0" y="62865"/>
                  </a:lnTo>
                  <a:lnTo>
                    <a:pt x="7143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5" name="Freeform 95"/>
            <p:cNvSpPr/>
            <p:nvPr/>
          </p:nvSpPr>
          <p:spPr>
            <a:xfrm>
              <a:off x="9210675" y="4093845"/>
              <a:ext cx="356235" cy="198120"/>
            </a:xfrm>
            <a:custGeom>
              <a:avLst/>
              <a:gdLst/>
              <a:ahLst/>
              <a:cxnLst/>
              <a:rect l="l" t="t" r="r" b="b"/>
              <a:pathLst>
                <a:path w="356235" h="198120">
                  <a:moveTo>
                    <a:pt x="0" y="0"/>
                  </a:moveTo>
                  <a:lnTo>
                    <a:pt x="356235" y="19812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9543098" y="4250055"/>
              <a:ext cx="106680" cy="88583"/>
            </a:xfrm>
            <a:custGeom>
              <a:avLst/>
              <a:gdLst/>
              <a:ahLst/>
              <a:cxnLst/>
              <a:rect l="l" t="t" r="r" b="b"/>
              <a:pathLst>
                <a:path w="106680" h="88583">
                  <a:moveTo>
                    <a:pt x="106680" y="88583"/>
                  </a:moveTo>
                  <a:lnTo>
                    <a:pt x="0" y="83820"/>
                  </a:lnTo>
                  <a:lnTo>
                    <a:pt x="46672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9755505" y="4379595"/>
              <a:ext cx="1020127" cy="251460"/>
            </a:xfrm>
            <a:custGeom>
              <a:avLst/>
              <a:gdLst/>
              <a:ahLst/>
              <a:cxnLst/>
              <a:rect l="l" t="t" r="r" b="b"/>
              <a:pathLst>
                <a:path w="1020127" h="251460">
                  <a:moveTo>
                    <a:pt x="0" y="0"/>
                  </a:moveTo>
                  <a:lnTo>
                    <a:pt x="1020127" y="25146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10764202" y="4584382"/>
              <a:ext cx="103823" cy="92392"/>
            </a:xfrm>
            <a:custGeom>
              <a:avLst/>
              <a:gdLst/>
              <a:ahLst/>
              <a:cxnLst/>
              <a:rect l="l" t="t" r="r" b="b"/>
              <a:pathLst>
                <a:path w="103823" h="92392">
                  <a:moveTo>
                    <a:pt x="103823" y="68580"/>
                  </a:moveTo>
                  <a:lnTo>
                    <a:pt x="0" y="92392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9" name="Ellipse 99"/>
            <p:cNvSpPr/>
            <p:nvPr/>
          </p:nvSpPr>
          <p:spPr>
            <a:xfrm>
              <a:off x="649033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Ellipse 100"/>
            <p:cNvSpPr/>
            <p:nvPr/>
          </p:nvSpPr>
          <p:spPr>
            <a:xfrm>
              <a:off x="6857048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Ellipse 101"/>
            <p:cNvSpPr/>
            <p:nvPr/>
          </p:nvSpPr>
          <p:spPr>
            <a:xfrm>
              <a:off x="751808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7786688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815435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886396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9132570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9670732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1089469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11359515" y="224599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7767638" y="25155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7499032" y="281559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6837998" y="311658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8135302" y="341661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8844915" y="371760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9113520" y="401764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9651682" y="43186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10875645" y="461962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7915275" y="25112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6483791" y="204168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820146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481181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7749786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117451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827064" y="204168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065312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9603475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0827437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1292257" y="2041684"/>
              <a:ext cx="19166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135" name="c2-callout-2"/>
          <p:cNvGrpSpPr/>
          <p:nvPr/>
        </p:nvGrpSpPr>
        <p:grpSpPr>
          <a:xfrm>
            <a:off x="6248400" y="4980622"/>
            <a:ext cx="5410200" cy="729615"/>
            <a:chOff x="6248400" y="4980622"/>
            <a:chExt cx="5410200" cy="729615"/>
          </a:xfrm>
        </p:grpSpPr>
        <p:sp>
          <p:nvSpPr>
            <p:cNvPr id="129" name="Rectangle 129"/>
            <p:cNvSpPr/>
            <p:nvPr/>
          </p:nvSpPr>
          <p:spPr>
            <a:xfrm>
              <a:off x="6248400" y="498062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3" name="Group 133"/>
            <p:cNvGrpSpPr/>
            <p:nvPr/>
          </p:nvGrpSpPr>
          <p:grpSpPr>
            <a:xfrm>
              <a:off x="6453188" y="5245418"/>
              <a:ext cx="200026" cy="200026"/>
              <a:chOff x="6453188" y="5245418"/>
              <a:chExt cx="200026" cy="200026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6453188" y="52454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6553200" y="5312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2" name="Freeform 132"/>
              <p:cNvSpPr/>
              <p:nvPr/>
            </p:nvSpPr>
            <p:spPr>
              <a:xfrm>
                <a:off x="6542088" y="53454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4" name="TextBox 134"/>
            <p:cNvSpPr txBox="1"/>
            <p:nvPr/>
          </p:nvSpPr>
          <p:spPr>
            <a:xfrm>
              <a:off x="6755892" y="5127308"/>
              <a:ext cx="391420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LOOK：53→42→15→68→97→108→130→180，移动量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(53−15) + (180−15)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203</a:t>
              </a:r>
            </a:p>
          </p:txBody>
        </p:sp>
      </p:grpSp>
      <p:grpSp>
        <p:nvGrpSpPr>
          <p:cNvPr id="142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36" name="Rectangle 136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0" name="Group 140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9" name="Freeform 139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1" name="TextBox 141"/>
            <p:cNvSpPr txBox="1"/>
            <p:nvPr/>
          </p:nvSpPr>
          <p:spPr>
            <a:xfrm>
              <a:off x="1040892" y="6028373"/>
              <a:ext cx="72180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SCAN 类算法都要知道磁头当前的移动方向；题目没有给出时，先写明假设的方向再计算。</a:t>
              </a:r>
            </a:p>
          </p:txBody>
        </p:sp>
      </p:grpSp>
      <p:grpSp>
        <p:nvGrpSpPr>
          <p:cNvPr id="1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3" name="TextBox 143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44" name="TextBox 1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6441" cy="909257"/>
            <a:chOff x="520446" y="342900"/>
            <a:chExt cx="6696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6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C-SCAN 与 C-LOOK：只在一个方向上服务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620883" cy="597598"/>
            <a:chOff x="525399" y="1550194"/>
            <a:chExt cx="10620883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620883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仍从 53 出发，向 0 方向移动并服务；到头后直接返回另一端，返回途中不服务（图中橙色虚线）。原课件只画了轨迹，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下面按例 8-1 的算法把返回行程也计入移动量。</a:t>
              </a:r>
            </a:p>
          </p:txBody>
        </p:sp>
      </p:grpSp>
      <p:grpSp>
        <p:nvGrpSpPr>
          <p:cNvPr id="69" name="c1-graph-1"/>
          <p:cNvGrpSpPr/>
          <p:nvPr/>
        </p:nvGrpSpPr>
        <p:grpSpPr>
          <a:xfrm>
            <a:off x="756285" y="2321719"/>
            <a:ext cx="5030599" cy="2289333"/>
            <a:chOff x="756285" y="2321719"/>
            <a:chExt cx="5030599" cy="2289333"/>
          </a:xfrm>
        </p:grpSpPr>
        <p:sp>
          <p:nvSpPr>
            <p:cNvPr id="9" name="Freeform 9"/>
            <p:cNvSpPr/>
            <p:nvPr/>
          </p:nvSpPr>
          <p:spPr>
            <a:xfrm>
              <a:off x="80391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1170622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1" name="Freeform 11"/>
            <p:cNvSpPr/>
            <p:nvPr/>
          </p:nvSpPr>
          <p:spPr>
            <a:xfrm>
              <a:off x="183165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2100262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3" name="Freeform 13"/>
            <p:cNvSpPr/>
            <p:nvPr/>
          </p:nvSpPr>
          <p:spPr>
            <a:xfrm>
              <a:off x="246792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317754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5" name="Freeform 15"/>
            <p:cNvSpPr/>
            <p:nvPr/>
          </p:nvSpPr>
          <p:spPr>
            <a:xfrm>
              <a:off x="3446145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6" name="Freeform 16"/>
            <p:cNvSpPr/>
            <p:nvPr/>
          </p:nvSpPr>
          <p:spPr>
            <a:xfrm>
              <a:off x="398430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7" name="Freeform 17"/>
            <p:cNvSpPr/>
            <p:nvPr/>
          </p:nvSpPr>
          <p:spPr>
            <a:xfrm>
              <a:off x="520827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567309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19" name="Freeform 19"/>
            <p:cNvSpPr/>
            <p:nvPr/>
          </p:nvSpPr>
          <p:spPr>
            <a:xfrm>
              <a:off x="842010" y="2548890"/>
              <a:ext cx="4792980" cy="9525"/>
            </a:xfrm>
            <a:custGeom>
              <a:avLst/>
              <a:gdLst/>
              <a:ahLst/>
              <a:cxnLst/>
              <a:rect l="l" t="t" r="r" b="b"/>
              <a:pathLst>
                <a:path w="4792980" h="9525">
                  <a:moveTo>
                    <a:pt x="0" y="0"/>
                  </a:moveTo>
                  <a:lnTo>
                    <a:pt x="4792980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954530" y="2825115"/>
              <a:ext cx="100012" cy="73342"/>
            </a:xfrm>
            <a:custGeom>
              <a:avLst/>
              <a:gdLst/>
              <a:ahLst/>
              <a:cxnLst/>
              <a:rect l="l" t="t" r="r" b="b"/>
              <a:pathLst>
                <a:path w="100012" h="73342">
                  <a:moveTo>
                    <a:pt x="100012" y="0"/>
                  </a:moveTo>
                  <a:lnTo>
                    <a:pt x="0" y="7334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877378" y="2860358"/>
              <a:ext cx="104775" cy="94297"/>
            </a:xfrm>
            <a:custGeom>
              <a:avLst/>
              <a:gdLst/>
              <a:ahLst/>
              <a:cxnLst/>
              <a:rect l="l" t="t" r="r" b="b"/>
              <a:pathLst>
                <a:path w="104775" h="94297">
                  <a:moveTo>
                    <a:pt x="0" y="94297"/>
                  </a:moveTo>
                  <a:lnTo>
                    <a:pt x="48577" y="0"/>
                  </a:lnTo>
                  <a:lnTo>
                    <a:pt x="104775" y="7620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316355" y="3004185"/>
              <a:ext cx="460058" cy="137160"/>
            </a:xfrm>
            <a:custGeom>
              <a:avLst/>
              <a:gdLst/>
              <a:ahLst/>
              <a:cxnLst/>
              <a:rect l="l" t="t" r="r" b="b"/>
              <a:pathLst>
                <a:path w="460058" h="137160">
                  <a:moveTo>
                    <a:pt x="460058" y="0"/>
                  </a:moveTo>
                  <a:lnTo>
                    <a:pt x="0" y="13716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25868" y="3095625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3342"/>
                  </a:moveTo>
                  <a:lnTo>
                    <a:pt x="77153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38212" y="3211830"/>
              <a:ext cx="181927" cy="98108"/>
            </a:xfrm>
            <a:custGeom>
              <a:avLst/>
              <a:gdLst/>
              <a:ahLst/>
              <a:cxnLst/>
              <a:rect l="l" t="t" r="r" b="b"/>
              <a:pathLst>
                <a:path w="181927" h="98108">
                  <a:moveTo>
                    <a:pt x="181927" y="0"/>
                  </a:moveTo>
                  <a:lnTo>
                    <a:pt x="0" y="9810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54392" y="3268028"/>
              <a:ext cx="106680" cy="86677"/>
            </a:xfrm>
            <a:custGeom>
              <a:avLst/>
              <a:gdLst/>
              <a:ahLst/>
              <a:cxnLst/>
              <a:rect l="l" t="t" r="r" b="b"/>
              <a:pathLst>
                <a:path w="106680" h="86677">
                  <a:moveTo>
                    <a:pt x="0" y="86677"/>
                  </a:moveTo>
                  <a:lnTo>
                    <a:pt x="60960" y="0"/>
                  </a:lnTo>
                  <a:lnTo>
                    <a:pt x="106680" y="8382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861060" y="3384232"/>
              <a:ext cx="4659630" cy="188595"/>
            </a:xfrm>
            <a:custGeom>
              <a:avLst/>
              <a:gdLst/>
              <a:ahLst/>
              <a:cxnLst/>
              <a:rect l="l" t="t" r="r" b="b"/>
              <a:pathLst>
                <a:path w="4659630" h="188595">
                  <a:moveTo>
                    <a:pt x="0" y="0"/>
                  </a:moveTo>
                  <a:lnTo>
                    <a:pt x="4659630" y="18859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5518785" y="3525202"/>
              <a:ext cx="97155" cy="95250"/>
            </a:xfrm>
            <a:custGeom>
              <a:avLst/>
              <a:gdLst/>
              <a:ahLst/>
              <a:cxnLst/>
              <a:rect l="l" t="t" r="r" b="b"/>
              <a:pathLst>
                <a:path w="97155" h="95250">
                  <a:moveTo>
                    <a:pt x="97155" y="51435"/>
                  </a:moveTo>
                  <a:lnTo>
                    <a:pt x="0" y="95250"/>
                  </a:lnTo>
                  <a:lnTo>
                    <a:pt x="3810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5348288" y="3601402"/>
              <a:ext cx="272415" cy="115252"/>
            </a:xfrm>
            <a:custGeom>
              <a:avLst/>
              <a:gdLst/>
              <a:ahLst/>
              <a:cxnLst/>
              <a:rect l="l" t="t" r="r" b="b"/>
              <a:pathLst>
                <a:path w="272415" h="115252">
                  <a:moveTo>
                    <a:pt x="272415" y="0"/>
                  </a:moveTo>
                  <a:lnTo>
                    <a:pt x="0" y="115252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5260658" y="3672840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0962"/>
                  </a:moveTo>
                  <a:lnTo>
                    <a:pt x="69533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134802" y="3785235"/>
              <a:ext cx="1017270" cy="162878"/>
            </a:xfrm>
            <a:custGeom>
              <a:avLst/>
              <a:gdLst/>
              <a:ahLst/>
              <a:cxnLst/>
              <a:rect l="l" t="t" r="r" b="b"/>
              <a:pathLst>
                <a:path w="1017270" h="162878">
                  <a:moveTo>
                    <a:pt x="1017270" y="0"/>
                  </a:moveTo>
                  <a:lnTo>
                    <a:pt x="0" y="16287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041458" y="390144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0" y="61912"/>
                  </a:moveTo>
                  <a:lnTo>
                    <a:pt x="85725" y="0"/>
                  </a:lnTo>
                  <a:lnTo>
                    <a:pt x="100965" y="94297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3589020" y="3991928"/>
              <a:ext cx="341947" cy="124777"/>
            </a:xfrm>
            <a:custGeom>
              <a:avLst/>
              <a:gdLst/>
              <a:ahLst/>
              <a:cxnLst/>
              <a:rect l="l" t="t" r="r" b="b"/>
              <a:pathLst>
                <a:path w="341947" h="124777">
                  <a:moveTo>
                    <a:pt x="341947" y="0"/>
                  </a:moveTo>
                  <a:lnTo>
                    <a:pt x="0" y="124777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3499485" y="4071938"/>
              <a:ext cx="106680" cy="89535"/>
            </a:xfrm>
            <a:custGeom>
              <a:avLst/>
              <a:gdLst/>
              <a:ahLst/>
              <a:cxnLst/>
              <a:rect l="l" t="t" r="r" b="b"/>
              <a:pathLst>
                <a:path w="106680" h="89535">
                  <a:moveTo>
                    <a:pt x="0" y="78105"/>
                  </a:moveTo>
                  <a:lnTo>
                    <a:pt x="73343" y="0"/>
                  </a:lnTo>
                  <a:lnTo>
                    <a:pt x="106680" y="8953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3300412" y="4203382"/>
              <a:ext cx="100012" cy="72390"/>
            </a:xfrm>
            <a:custGeom>
              <a:avLst/>
              <a:gdLst/>
              <a:ahLst/>
              <a:cxnLst/>
              <a:rect l="l" t="t" r="r" b="b"/>
              <a:pathLst>
                <a:path w="100012" h="72390">
                  <a:moveTo>
                    <a:pt x="100012" y="0"/>
                  </a:moveTo>
                  <a:lnTo>
                    <a:pt x="0" y="7239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3223260" y="4237672"/>
              <a:ext cx="104775" cy="95250"/>
            </a:xfrm>
            <a:custGeom>
              <a:avLst/>
              <a:gdLst/>
              <a:ahLst/>
              <a:cxnLst/>
              <a:rect l="l" t="t" r="r" b="b"/>
              <a:pathLst>
                <a:path w="104775" h="95250">
                  <a:moveTo>
                    <a:pt x="0" y="95250"/>
                  </a:moveTo>
                  <a:lnTo>
                    <a:pt x="48578" y="0"/>
                  </a:lnTo>
                  <a:lnTo>
                    <a:pt x="104775" y="7715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2614612" y="4381500"/>
              <a:ext cx="507683" cy="140970"/>
            </a:xfrm>
            <a:custGeom>
              <a:avLst/>
              <a:gdLst/>
              <a:ahLst/>
              <a:cxnLst/>
              <a:rect l="l" t="t" r="r" b="b"/>
              <a:pathLst>
                <a:path w="507683" h="140970">
                  <a:moveTo>
                    <a:pt x="507683" y="0"/>
                  </a:moveTo>
                  <a:lnTo>
                    <a:pt x="0" y="14097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522220" y="4476750"/>
              <a:ext cx="104775" cy="91440"/>
            </a:xfrm>
            <a:custGeom>
              <a:avLst/>
              <a:gdLst/>
              <a:ahLst/>
              <a:cxnLst/>
              <a:rect l="l" t="t" r="r" b="b"/>
              <a:pathLst>
                <a:path w="104775" h="91440">
                  <a:moveTo>
                    <a:pt x="0" y="71438"/>
                  </a:moveTo>
                  <a:lnTo>
                    <a:pt x="79058" y="0"/>
                  </a:lnTo>
                  <a:lnTo>
                    <a:pt x="104775" y="9144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77533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142048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80308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2071688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243935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314896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3417570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395573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17969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64451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2052638" y="27441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784032" y="294036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122998" y="31375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56285" y="33347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5625465" y="353091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160645" y="372808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3936682" y="392525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3398520" y="412146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3129915" y="431863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2420302" y="45158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200275" y="27398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2677" y="232171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3109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54144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022749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390414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00027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332352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870514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094477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59297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76" name="c1-callout-2"/>
          <p:cNvGrpSpPr/>
          <p:nvPr/>
        </p:nvGrpSpPr>
        <p:grpSpPr>
          <a:xfrm>
            <a:off x="533400" y="4874895"/>
            <a:ext cx="5410200" cy="782955"/>
            <a:chOff x="533400" y="4874895"/>
            <a:chExt cx="5410200" cy="782955"/>
          </a:xfrm>
        </p:grpSpPr>
        <p:sp>
          <p:nvSpPr>
            <p:cNvPr id="70" name="Rectangle 70"/>
            <p:cNvSpPr/>
            <p:nvPr/>
          </p:nvSpPr>
          <p:spPr>
            <a:xfrm>
              <a:off x="533400" y="48748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166360"/>
              <a:ext cx="200026" cy="200026"/>
              <a:chOff x="738188" y="5166360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023485"/>
              <a:ext cx="4040981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C-SCAN：53→42→15→0⇢199→180→…→68，移动量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= 53 + 199 + (199−68)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383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，不计返回为 184</a:t>
              </a:r>
            </a:p>
          </p:txBody>
        </p:sp>
      </p:grpSp>
      <p:grpSp>
        <p:nvGrpSpPr>
          <p:cNvPr id="131" name="c2-graph-1"/>
          <p:cNvGrpSpPr/>
          <p:nvPr/>
        </p:nvGrpSpPr>
        <p:grpSpPr>
          <a:xfrm>
            <a:off x="6477677" y="2321719"/>
            <a:ext cx="5024207" cy="2289333"/>
            <a:chOff x="6477677" y="2321719"/>
            <a:chExt cx="5024207" cy="2289333"/>
          </a:xfrm>
        </p:grpSpPr>
        <p:sp>
          <p:nvSpPr>
            <p:cNvPr id="77" name="Freeform 77"/>
            <p:cNvSpPr/>
            <p:nvPr/>
          </p:nvSpPr>
          <p:spPr>
            <a:xfrm>
              <a:off x="651891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8" name="Freeform 78"/>
            <p:cNvSpPr/>
            <p:nvPr/>
          </p:nvSpPr>
          <p:spPr>
            <a:xfrm>
              <a:off x="6885622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79" name="Freeform 79"/>
            <p:cNvSpPr/>
            <p:nvPr/>
          </p:nvSpPr>
          <p:spPr>
            <a:xfrm>
              <a:off x="754665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0" name="Freeform 80"/>
            <p:cNvSpPr/>
            <p:nvPr/>
          </p:nvSpPr>
          <p:spPr>
            <a:xfrm>
              <a:off x="7815262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1" name="Freeform 81"/>
            <p:cNvSpPr/>
            <p:nvPr/>
          </p:nvSpPr>
          <p:spPr>
            <a:xfrm>
              <a:off x="818292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2" name="Freeform 82"/>
            <p:cNvSpPr/>
            <p:nvPr/>
          </p:nvSpPr>
          <p:spPr>
            <a:xfrm>
              <a:off x="889254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3" name="Freeform 83"/>
            <p:cNvSpPr/>
            <p:nvPr/>
          </p:nvSpPr>
          <p:spPr>
            <a:xfrm>
              <a:off x="9161145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4" name="Freeform 84"/>
            <p:cNvSpPr/>
            <p:nvPr/>
          </p:nvSpPr>
          <p:spPr>
            <a:xfrm>
              <a:off x="9699308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5" name="Freeform 85"/>
            <p:cNvSpPr/>
            <p:nvPr/>
          </p:nvSpPr>
          <p:spPr>
            <a:xfrm>
              <a:off x="1092327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6" name="Freeform 86"/>
            <p:cNvSpPr/>
            <p:nvPr/>
          </p:nvSpPr>
          <p:spPr>
            <a:xfrm>
              <a:off x="11388090" y="2586990"/>
              <a:ext cx="9525" cy="1966912"/>
            </a:xfrm>
            <a:custGeom>
              <a:avLst/>
              <a:gdLst/>
              <a:ahLst/>
              <a:cxnLst/>
              <a:rect l="l" t="t" r="r" b="b"/>
              <a:pathLst>
                <a:path w="9525" h="1966912">
                  <a:moveTo>
                    <a:pt x="0" y="0"/>
                  </a:moveTo>
                  <a:lnTo>
                    <a:pt x="0" y="1966912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87" name="Freeform 87"/>
            <p:cNvSpPr/>
            <p:nvPr/>
          </p:nvSpPr>
          <p:spPr>
            <a:xfrm>
              <a:off x="6557010" y="2548890"/>
              <a:ext cx="4792980" cy="9525"/>
            </a:xfrm>
            <a:custGeom>
              <a:avLst/>
              <a:gdLst/>
              <a:ahLst/>
              <a:cxnLst/>
              <a:rect l="l" t="t" r="r" b="b"/>
              <a:pathLst>
                <a:path w="4792980" h="9525">
                  <a:moveTo>
                    <a:pt x="0" y="0"/>
                  </a:moveTo>
                  <a:lnTo>
                    <a:pt x="4792980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88" name="Freeform 88"/>
            <p:cNvSpPr/>
            <p:nvPr/>
          </p:nvSpPr>
          <p:spPr>
            <a:xfrm>
              <a:off x="7657148" y="2830830"/>
              <a:ext cx="117158" cy="109538"/>
            </a:xfrm>
            <a:custGeom>
              <a:avLst/>
              <a:gdLst/>
              <a:ahLst/>
              <a:cxnLst/>
              <a:rect l="l" t="t" r="r" b="b"/>
              <a:pathLst>
                <a:path w="117158" h="109538">
                  <a:moveTo>
                    <a:pt x="117158" y="0"/>
                  </a:moveTo>
                  <a:lnTo>
                    <a:pt x="0" y="10953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89" name="Freeform 89"/>
            <p:cNvSpPr/>
            <p:nvPr/>
          </p:nvSpPr>
          <p:spPr>
            <a:xfrm>
              <a:off x="7587615" y="2905125"/>
              <a:ext cx="101917" cy="100012"/>
            </a:xfrm>
            <a:custGeom>
              <a:avLst/>
              <a:gdLst/>
              <a:ahLst/>
              <a:cxnLst/>
              <a:rect l="l" t="t" r="r" b="b"/>
              <a:pathLst>
                <a:path w="101917" h="100012">
                  <a:moveTo>
                    <a:pt x="0" y="100012"/>
                  </a:moveTo>
                  <a:lnTo>
                    <a:pt x="37147" y="0"/>
                  </a:lnTo>
                  <a:lnTo>
                    <a:pt x="101917" y="6953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0" name="Freeform 90"/>
            <p:cNvSpPr/>
            <p:nvPr/>
          </p:nvSpPr>
          <p:spPr>
            <a:xfrm>
              <a:off x="7028498" y="3065145"/>
              <a:ext cx="464820" cy="178117"/>
            </a:xfrm>
            <a:custGeom>
              <a:avLst/>
              <a:gdLst/>
              <a:ahLst/>
              <a:cxnLst/>
              <a:rect l="l" t="t" r="r" b="b"/>
              <a:pathLst>
                <a:path w="464820" h="178117">
                  <a:moveTo>
                    <a:pt x="464820" y="0"/>
                  </a:moveTo>
                  <a:lnTo>
                    <a:pt x="0" y="178117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1" name="Freeform 91"/>
            <p:cNvSpPr/>
            <p:nvPr/>
          </p:nvSpPr>
          <p:spPr>
            <a:xfrm>
              <a:off x="6938962" y="3198495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0" y="79058"/>
                  </a:moveTo>
                  <a:lnTo>
                    <a:pt x="72390" y="0"/>
                  </a:lnTo>
                  <a:lnTo>
                    <a:pt x="105728" y="8953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2" name="Freeform 92"/>
            <p:cNvSpPr/>
            <p:nvPr/>
          </p:nvSpPr>
          <p:spPr>
            <a:xfrm>
              <a:off x="6942772" y="3301365"/>
              <a:ext cx="3828098" cy="240030"/>
            </a:xfrm>
            <a:custGeom>
              <a:avLst/>
              <a:gdLst/>
              <a:ahLst/>
              <a:cxnLst/>
              <a:rect l="l" t="t" r="r" b="b"/>
              <a:pathLst>
                <a:path w="3828098" h="240030">
                  <a:moveTo>
                    <a:pt x="0" y="0"/>
                  </a:moveTo>
                  <a:lnTo>
                    <a:pt x="3828098" y="240030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93" name="Freeform 93"/>
            <p:cNvSpPr/>
            <p:nvPr/>
          </p:nvSpPr>
          <p:spPr>
            <a:xfrm>
              <a:off x="10768012" y="3493770"/>
              <a:ext cx="98107" cy="95250"/>
            </a:xfrm>
            <a:custGeom>
              <a:avLst/>
              <a:gdLst/>
              <a:ahLst/>
              <a:cxnLst/>
              <a:rect l="l" t="t" r="r" b="b"/>
              <a:pathLst>
                <a:path w="98107" h="95250">
                  <a:moveTo>
                    <a:pt x="98107" y="53340"/>
                  </a:moveTo>
                  <a:lnTo>
                    <a:pt x="0" y="95250"/>
                  </a:lnTo>
                  <a:lnTo>
                    <a:pt x="6668" y="0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94" name="Freeform 94"/>
            <p:cNvSpPr/>
            <p:nvPr/>
          </p:nvSpPr>
          <p:spPr>
            <a:xfrm>
              <a:off x="9848850" y="3562350"/>
              <a:ext cx="1018223" cy="210503"/>
            </a:xfrm>
            <a:custGeom>
              <a:avLst/>
              <a:gdLst/>
              <a:ahLst/>
              <a:cxnLst/>
              <a:rect l="l" t="t" r="r" b="b"/>
              <a:pathLst>
                <a:path w="1018223" h="210503">
                  <a:moveTo>
                    <a:pt x="1018223" y="0"/>
                  </a:moveTo>
                  <a:lnTo>
                    <a:pt x="0" y="210503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5" name="Freeform 95"/>
            <p:cNvSpPr/>
            <p:nvPr/>
          </p:nvSpPr>
          <p:spPr>
            <a:xfrm>
              <a:off x="9755505" y="3726180"/>
              <a:ext cx="102870" cy="93345"/>
            </a:xfrm>
            <a:custGeom>
              <a:avLst/>
              <a:gdLst/>
              <a:ahLst/>
              <a:cxnLst/>
              <a:rect l="l" t="t" r="r" b="b"/>
              <a:pathLst>
                <a:path w="102870" h="93345">
                  <a:moveTo>
                    <a:pt x="0" y="65723"/>
                  </a:moveTo>
                  <a:lnTo>
                    <a:pt x="83820" y="0"/>
                  </a:lnTo>
                  <a:lnTo>
                    <a:pt x="102870" y="9334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6" name="Freeform 96"/>
            <p:cNvSpPr/>
            <p:nvPr/>
          </p:nvSpPr>
          <p:spPr>
            <a:xfrm>
              <a:off x="9299258" y="3828098"/>
              <a:ext cx="348615" cy="163830"/>
            </a:xfrm>
            <a:custGeom>
              <a:avLst/>
              <a:gdLst/>
              <a:ahLst/>
              <a:cxnLst/>
              <a:rect l="l" t="t" r="r" b="b"/>
              <a:pathLst>
                <a:path w="348615" h="163830">
                  <a:moveTo>
                    <a:pt x="348615" y="0"/>
                  </a:moveTo>
                  <a:lnTo>
                    <a:pt x="0" y="16383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7" name="Freeform 97"/>
            <p:cNvSpPr/>
            <p:nvPr/>
          </p:nvSpPr>
          <p:spPr>
            <a:xfrm>
              <a:off x="9212580" y="3949065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3820"/>
                  </a:moveTo>
                  <a:lnTo>
                    <a:pt x="66675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98" name="Freeform 98"/>
            <p:cNvSpPr/>
            <p:nvPr/>
          </p:nvSpPr>
          <p:spPr>
            <a:xfrm>
              <a:off x="9003030" y="4095750"/>
              <a:ext cx="116205" cy="109538"/>
            </a:xfrm>
            <a:custGeom>
              <a:avLst/>
              <a:gdLst/>
              <a:ahLst/>
              <a:cxnLst/>
              <a:rect l="l" t="t" r="r" b="b"/>
              <a:pathLst>
                <a:path w="116205" h="109538">
                  <a:moveTo>
                    <a:pt x="116205" y="0"/>
                  </a:moveTo>
                  <a:lnTo>
                    <a:pt x="0" y="109538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99" name="Freeform 99"/>
            <p:cNvSpPr/>
            <p:nvPr/>
          </p:nvSpPr>
          <p:spPr>
            <a:xfrm>
              <a:off x="8934450" y="4170998"/>
              <a:ext cx="101918" cy="100012"/>
            </a:xfrm>
            <a:custGeom>
              <a:avLst/>
              <a:gdLst/>
              <a:ahLst/>
              <a:cxnLst/>
              <a:rect l="l" t="t" r="r" b="b"/>
              <a:pathLst>
                <a:path w="101918" h="100012">
                  <a:moveTo>
                    <a:pt x="0" y="100012"/>
                  </a:moveTo>
                  <a:lnTo>
                    <a:pt x="36195" y="0"/>
                  </a:lnTo>
                  <a:lnTo>
                    <a:pt x="101918" y="69533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00" name="Freeform 100"/>
            <p:cNvSpPr/>
            <p:nvPr/>
          </p:nvSpPr>
          <p:spPr>
            <a:xfrm>
              <a:off x="8325802" y="4329112"/>
              <a:ext cx="512445" cy="182880"/>
            </a:xfrm>
            <a:custGeom>
              <a:avLst/>
              <a:gdLst/>
              <a:ahLst/>
              <a:cxnLst/>
              <a:rect l="l" t="t" r="r" b="b"/>
              <a:pathLst>
                <a:path w="512445" h="182880">
                  <a:moveTo>
                    <a:pt x="512445" y="0"/>
                  </a:moveTo>
                  <a:lnTo>
                    <a:pt x="0" y="18288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101" name="Freeform 101"/>
            <p:cNvSpPr/>
            <p:nvPr/>
          </p:nvSpPr>
          <p:spPr>
            <a:xfrm>
              <a:off x="8236268" y="4467225"/>
              <a:ext cx="105727" cy="89535"/>
            </a:xfrm>
            <a:custGeom>
              <a:avLst/>
              <a:gdLst/>
              <a:ahLst/>
              <a:cxnLst/>
              <a:rect l="l" t="t" r="r" b="b"/>
              <a:pathLst>
                <a:path w="105727" h="89535">
                  <a:moveTo>
                    <a:pt x="0" y="76200"/>
                  </a:moveTo>
                  <a:lnTo>
                    <a:pt x="74295" y="0"/>
                  </a:lnTo>
                  <a:lnTo>
                    <a:pt x="105727" y="89535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102" name="Ellipse 102"/>
            <p:cNvSpPr/>
            <p:nvPr/>
          </p:nvSpPr>
          <p:spPr>
            <a:xfrm>
              <a:off x="649033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Ellipse 103"/>
            <p:cNvSpPr/>
            <p:nvPr/>
          </p:nvSpPr>
          <p:spPr>
            <a:xfrm>
              <a:off x="6857048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751808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Ellipse 105"/>
            <p:cNvSpPr/>
            <p:nvPr/>
          </p:nvSpPr>
          <p:spPr>
            <a:xfrm>
              <a:off x="7786688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6" name="Ellipse 106"/>
            <p:cNvSpPr/>
            <p:nvPr/>
          </p:nvSpPr>
          <p:spPr>
            <a:xfrm>
              <a:off x="815435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Ellipse 107"/>
            <p:cNvSpPr/>
            <p:nvPr/>
          </p:nvSpPr>
          <p:spPr>
            <a:xfrm>
              <a:off x="886396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Ellipse 108"/>
            <p:cNvSpPr/>
            <p:nvPr/>
          </p:nvSpPr>
          <p:spPr>
            <a:xfrm>
              <a:off x="9132570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Ellipse 109"/>
            <p:cNvSpPr/>
            <p:nvPr/>
          </p:nvSpPr>
          <p:spPr>
            <a:xfrm>
              <a:off x="9670732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Ellipse 110"/>
            <p:cNvSpPr/>
            <p:nvPr/>
          </p:nvSpPr>
          <p:spPr>
            <a:xfrm>
              <a:off x="1089469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1" name="Ellipse 111"/>
            <p:cNvSpPr/>
            <p:nvPr/>
          </p:nvSpPr>
          <p:spPr>
            <a:xfrm>
              <a:off x="11359515" y="2520315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2" name="Ellipse 112"/>
            <p:cNvSpPr/>
            <p:nvPr/>
          </p:nvSpPr>
          <p:spPr>
            <a:xfrm>
              <a:off x="7767638" y="2744152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3" name="Ellipse 113"/>
            <p:cNvSpPr/>
            <p:nvPr/>
          </p:nvSpPr>
          <p:spPr>
            <a:xfrm>
              <a:off x="7499032" y="299656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4" name="Ellipse 114"/>
            <p:cNvSpPr/>
            <p:nvPr/>
          </p:nvSpPr>
          <p:spPr>
            <a:xfrm>
              <a:off x="6837998" y="324993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Ellipse 115"/>
            <p:cNvSpPr/>
            <p:nvPr/>
          </p:nvSpPr>
          <p:spPr>
            <a:xfrm>
              <a:off x="10875645" y="350329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6" name="Ellipse 116"/>
            <p:cNvSpPr/>
            <p:nvPr/>
          </p:nvSpPr>
          <p:spPr>
            <a:xfrm>
              <a:off x="9651682" y="375570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7" name="Ellipse 117"/>
            <p:cNvSpPr/>
            <p:nvPr/>
          </p:nvSpPr>
          <p:spPr>
            <a:xfrm>
              <a:off x="9113520" y="400907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8" name="Ellipse 118"/>
            <p:cNvSpPr/>
            <p:nvPr/>
          </p:nvSpPr>
          <p:spPr>
            <a:xfrm>
              <a:off x="8844915" y="426243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9" name="Ellipse 119"/>
            <p:cNvSpPr/>
            <p:nvPr/>
          </p:nvSpPr>
          <p:spPr>
            <a:xfrm>
              <a:off x="8135302" y="4515802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7915275" y="2739866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477677" y="232171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6808109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469144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737749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8105414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8815027" y="232171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97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9047352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9585514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130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0809477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180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11274297" y="232171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138" name="c2-callout-2"/>
          <p:cNvGrpSpPr/>
          <p:nvPr/>
        </p:nvGrpSpPr>
        <p:grpSpPr>
          <a:xfrm>
            <a:off x="6248400" y="4874895"/>
            <a:ext cx="5410200" cy="782955"/>
            <a:chOff x="6248400" y="4874895"/>
            <a:chExt cx="5410200" cy="782955"/>
          </a:xfrm>
        </p:grpSpPr>
        <p:sp>
          <p:nvSpPr>
            <p:cNvPr id="132" name="Rectangle 132"/>
            <p:cNvSpPr/>
            <p:nvPr/>
          </p:nvSpPr>
          <p:spPr>
            <a:xfrm>
              <a:off x="6248400" y="48748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6" name="Group 136"/>
            <p:cNvGrpSpPr/>
            <p:nvPr/>
          </p:nvGrpSpPr>
          <p:grpSpPr>
            <a:xfrm>
              <a:off x="6453188" y="5166360"/>
              <a:ext cx="200026" cy="200026"/>
              <a:chOff x="6453188" y="5166360"/>
              <a:chExt cx="200026" cy="200026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6453188" y="51663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6553200" y="52330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5" name="Freeform 135"/>
              <p:cNvSpPr/>
              <p:nvPr/>
            </p:nvSpPr>
            <p:spPr>
              <a:xfrm>
                <a:off x="6542088" y="52663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7" name="TextBox 137"/>
            <p:cNvSpPr txBox="1"/>
            <p:nvPr/>
          </p:nvSpPr>
          <p:spPr>
            <a:xfrm>
              <a:off x="6755130" y="5023485"/>
              <a:ext cx="40347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C-LOOK：53→42→15⇢180→130→…→68，移动量 =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38 + 165 + (180−68) =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315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，不计返回为 150</a:t>
              </a:r>
            </a:p>
          </p:txBody>
        </p:sp>
      </p:grpSp>
      <p:grpSp>
        <p:nvGrpSpPr>
          <p:cNvPr id="145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39" name="Rectangle 139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43" name="Group 143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42" name="Freeform 142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44" name="TextBox 144"/>
            <p:cNvSpPr txBox="1"/>
            <p:nvPr/>
          </p:nvSpPr>
          <p:spPr>
            <a:xfrm>
              <a:off x="1040130" y="5991225"/>
              <a:ext cx="83852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特点：所有磁道的最长等待时间相同。问题：磁头粘性（diskhead stickiness），见下一页。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6" name="TextBox 146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6661" cy="909257"/>
            <a:chOff x="520446" y="342900"/>
            <a:chExt cx="69666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66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步扫描：分成长度为 N 的子队列，逐组扫描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424917" cy="264033"/>
            <a:chOff x="526542" y="1545907"/>
            <a:chExt cx="642491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424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例：磁道由外向内编号 0–99，磁头在 20、正向内（磁道号增大）移动，N = 4。</a:t>
              </a:r>
            </a:p>
          </p:txBody>
        </p:sp>
      </p:grpSp>
      <p:grpSp>
        <p:nvGrpSpPr>
          <p:cNvPr id="59" name="c1-cells-1"/>
          <p:cNvGrpSpPr/>
          <p:nvPr/>
        </p:nvGrpSpPr>
        <p:grpSpPr>
          <a:xfrm>
            <a:off x="528447" y="1928812"/>
            <a:ext cx="5416105" cy="904876"/>
            <a:chOff x="528447" y="1928812"/>
            <a:chExt cx="5416105" cy="904876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521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15352" y="192881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37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34452" y="192881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00955" y="20521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53552" y="192881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20055" y="205216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72652" y="192881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010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9175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201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1085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392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2995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583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4905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774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68152" y="192881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3965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687252" y="192881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156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106352" y="192881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347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525452" y="192881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53861" y="205216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25884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15352" y="246507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37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334452" y="246507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4628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753552" y="246507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20055" y="25884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172652" y="246507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339155" y="258841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591752" y="24650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7201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010852" y="24650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1392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29952" y="24650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5583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849052" y="246507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9774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4268152" y="246507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3965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687252" y="246507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8156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06352" y="246507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2347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525452" y="246507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53861" y="258841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  <p:grpSp>
        <p:nvGrpSpPr>
          <p:cNvPr id="85" name="c1-table-2"/>
          <p:cNvGrpSpPr/>
          <p:nvPr/>
        </p:nvGrpSpPr>
        <p:grpSpPr>
          <a:xfrm>
            <a:off x="528447" y="3004185"/>
            <a:ext cx="6064758" cy="2063781"/>
            <a:chOff x="528447" y="3004185"/>
            <a:chExt cx="6064758" cy="2063781"/>
          </a:xfrm>
        </p:grpSpPr>
        <p:sp>
          <p:nvSpPr>
            <p:cNvPr id="60" name="Rectangle 60"/>
            <p:cNvSpPr/>
            <p:nvPr/>
          </p:nvSpPr>
          <p:spPr>
            <a:xfrm>
              <a:off x="533400" y="3004185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19721" y="31256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子队列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423414" y="312562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进入时磁头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892982" y="312562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组内扫描顺序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694578" y="312562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移动量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30555" y="3525679"/>
              <a:ext cx="1111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{12, 5, 7, 30}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266950" y="3525679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20，向内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3539490" y="3525679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→ 12 → 7 → 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77952" y="3525679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10+18+5+2 = 35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379952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3400" y="3804285"/>
              <a:ext cx="6059805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30555" y="4025741"/>
              <a:ext cx="128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{60, 77, 13, 26}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266950" y="4025741"/>
              <a:ext cx="999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5，向外已到头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539490" y="4025741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 → 26 → 60 → 77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469128" y="3925729"/>
              <a:ext cx="91465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8+13+34+17 =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33400" y="4399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30555" y="4525804"/>
              <a:ext cx="1285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{61, 80, 53, 66}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266950" y="4525804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77，向内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3539490" y="4525804"/>
              <a:ext cx="11950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 → 66 → 61 → 53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419415" y="4525804"/>
              <a:ext cx="10140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3+14+5+8 = 30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533400" y="3004185"/>
              <a:ext cx="605980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165032" y="30041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3437572" y="30041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254942" y="300418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28447" y="4877276"/>
              <a:ext cx="41062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服务序列 20→30→12→7→5→13→26→60→77→80→66→61→53，总移动量 137</a:t>
              </a:r>
            </a:p>
          </p:txBody>
        </p:sp>
      </p:grpSp>
      <p:grpSp>
        <p:nvGrpSpPr>
          <p:cNvPr id="92" name="c1-callout-3"/>
          <p:cNvGrpSpPr/>
          <p:nvPr/>
        </p:nvGrpSpPr>
        <p:grpSpPr>
          <a:xfrm>
            <a:off x="533400" y="5199698"/>
            <a:ext cx="6059805" cy="978218"/>
            <a:chOff x="533400" y="5199698"/>
            <a:chExt cx="6059805" cy="978218"/>
          </a:xfrm>
        </p:grpSpPr>
        <p:sp>
          <p:nvSpPr>
            <p:cNvPr id="86" name="Rectangle 86"/>
            <p:cNvSpPr/>
            <p:nvPr/>
          </p:nvSpPr>
          <p:spPr>
            <a:xfrm>
              <a:off x="533400" y="5199698"/>
              <a:ext cx="6059805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738188" y="5588318"/>
              <a:ext cx="200026" cy="200026"/>
              <a:chOff x="738188" y="5588318"/>
              <a:chExt cx="200026" cy="200026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738188" y="5588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838200" y="5654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827088" y="56883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91" name="TextBox 91"/>
            <p:cNvSpPr txBox="1"/>
            <p:nvPr/>
          </p:nvSpPr>
          <p:spPr>
            <a:xfrm>
              <a:off x="1040892" y="5345430"/>
              <a:ext cx="5140071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对比：同一组请求用 FCFS 移动量 258，不分组直接 LOOK 为 135。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步扫描只比 LOOK 多走 2 个磁道，换来的是后到的请求不能插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队。</a:t>
              </a:r>
            </a:p>
          </p:txBody>
        </p:sp>
      </p:grpSp>
      <p:grpSp>
        <p:nvGrpSpPr>
          <p:cNvPr id="104" name="c2-card-1"/>
          <p:cNvGrpSpPr/>
          <p:nvPr/>
        </p:nvGrpSpPr>
        <p:grpSpPr>
          <a:xfrm>
            <a:off x="6898005" y="1928812"/>
            <a:ext cx="4760595" cy="2343150"/>
            <a:chOff x="6898005" y="1928812"/>
            <a:chExt cx="4760595" cy="2343150"/>
          </a:xfrm>
        </p:grpSpPr>
        <p:sp>
          <p:nvSpPr>
            <p:cNvPr id="93" name="Rectangle 93"/>
            <p:cNvSpPr/>
            <p:nvPr/>
          </p:nvSpPr>
          <p:spPr>
            <a:xfrm>
              <a:off x="6898005" y="1928812"/>
              <a:ext cx="4760595" cy="2343150"/>
            </a:xfrm>
            <a:prstGeom prst="roundRect">
              <a:avLst>
                <a:gd name="adj" fmla="val 56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6907530" y="2062162"/>
              <a:ext cx="47625" cy="20764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122795" y="2115502"/>
              <a:ext cx="967740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186407" y="2148364"/>
              <a:ext cx="838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N-step SCAN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115937" y="2459355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把磁盘请求队列分成若干个长度为 N 的子队列，按先后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逐个处理，每个子队列内采用 SCAN 算法。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131367" y="307276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287387" y="3016568"/>
              <a:ext cx="39570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处理某个子队列时新到的请求，只能排进后面的子队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7131367" y="36309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287387" y="3574732"/>
              <a:ext cx="2168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很大时，接近 SCAN 算法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131367" y="393096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287387" y="3874770"/>
              <a:ext cx="23132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 时，蜕化为 FCFS 算法</a:t>
              </a:r>
            </a:p>
          </p:txBody>
        </p:sp>
      </p:grpSp>
      <p:grpSp>
        <p:nvGrpSpPr>
          <p:cNvPr id="111" name="c2-card-2"/>
          <p:cNvGrpSpPr/>
          <p:nvPr/>
        </p:nvGrpSpPr>
        <p:grpSpPr>
          <a:xfrm>
            <a:off x="6898005" y="4442460"/>
            <a:ext cx="4760595" cy="1911668"/>
            <a:chOff x="6898005" y="4442460"/>
            <a:chExt cx="4760595" cy="1911668"/>
          </a:xfrm>
        </p:grpSpPr>
        <p:sp>
          <p:nvSpPr>
            <p:cNvPr id="105" name="Rectangle 105"/>
            <p:cNvSpPr/>
            <p:nvPr/>
          </p:nvSpPr>
          <p:spPr>
            <a:xfrm>
              <a:off x="6898005" y="4442460"/>
              <a:ext cx="4760595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6907530" y="4575810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7122795" y="462915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207364" y="466201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磁头粘性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115937" y="4973002"/>
              <a:ext cx="409422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如果某些进程反复请求磁头所在的磁道，SSTF、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SCAN、C-SCAN 都会让磁头停在这一带，别的请求迟迟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轮不到。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117080" y="5784056"/>
              <a:ext cx="41648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步扫描和下一页的 FSCAN 把新请求挡在当前这一轮之外，磁头就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粘不住了。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306865" cy="909257"/>
            <a:chOff x="520446" y="342900"/>
            <a:chExt cx="53068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3068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FSCAN 冻结扫描，以及各算法对比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3895725" cy="2158365"/>
            <a:chOff x="533400" y="1524000"/>
            <a:chExt cx="3895725" cy="21583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895725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79260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480" y="1756410"/>
              <a:ext cx="1734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FSCAN（Freezing SCAN）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30802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请求分成两个子队列：服务队列、请求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672239"/>
              <a:ext cx="304419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SCAN 扫描服务队列并为请求服务，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服务期间新到达的请求进入请求队列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332136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3260884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扫描完成后交换两个队列的地位</a:t>
              </a:r>
            </a:p>
          </p:txBody>
        </p:sp>
      </p:grpSp>
      <p:grpSp>
        <p:nvGrpSpPr>
          <p:cNvPr id="34" name="c1-flow-2"/>
          <p:cNvGrpSpPr/>
          <p:nvPr/>
        </p:nvGrpSpPr>
        <p:grpSpPr>
          <a:xfrm>
            <a:off x="669608" y="4281488"/>
            <a:ext cx="3623310" cy="1662112"/>
            <a:chOff x="669608" y="4281488"/>
            <a:chExt cx="3623310" cy="1662112"/>
          </a:xfrm>
        </p:grpSpPr>
        <p:sp>
          <p:nvSpPr>
            <p:cNvPr id="18" name="Freeform 18"/>
            <p:cNvSpPr/>
            <p:nvPr/>
          </p:nvSpPr>
          <p:spPr>
            <a:xfrm>
              <a:off x="1506855" y="4692968"/>
              <a:ext cx="9525" cy="734377"/>
            </a:xfrm>
            <a:custGeom>
              <a:avLst/>
              <a:gdLst/>
              <a:ahLst/>
              <a:cxnLst/>
              <a:rect l="l" t="t" r="r" b="b"/>
              <a:pathLst>
                <a:path w="9525" h="734377">
                  <a:moveTo>
                    <a:pt x="0" y="0"/>
                  </a:moveTo>
                  <a:lnTo>
                    <a:pt x="0" y="7343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1454468" y="54273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454718" y="4797742"/>
              <a:ext cx="9525" cy="734377"/>
            </a:xfrm>
            <a:custGeom>
              <a:avLst/>
              <a:gdLst/>
              <a:ahLst/>
              <a:cxnLst/>
              <a:rect l="l" t="t" r="r" b="b"/>
              <a:pathLst>
                <a:path w="9525" h="734377">
                  <a:moveTo>
                    <a:pt x="0" y="73437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3402330" y="46929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345055" y="5737860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23" name="Freeform 23"/>
            <p:cNvSpPr/>
            <p:nvPr/>
          </p:nvSpPr>
          <p:spPr>
            <a:xfrm>
              <a:off x="2512695" y="568547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69608" y="4281488"/>
              <a:ext cx="1675447" cy="411480"/>
            </a:xfrm>
            <a:custGeom>
              <a:avLst/>
              <a:gdLst/>
              <a:ahLst/>
              <a:cxnLst/>
              <a:rect l="l" t="t" r="r" b="b"/>
              <a:pathLst>
                <a:path w="1675447" h="411480">
                  <a:moveTo>
                    <a:pt x="133350" y="0"/>
                  </a:moveTo>
                  <a:lnTo>
                    <a:pt x="1675447" y="0"/>
                  </a:lnTo>
                  <a:lnTo>
                    <a:pt x="1542097" y="411480"/>
                  </a:lnTo>
                  <a:lnTo>
                    <a:pt x="0" y="41148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9608" y="5532120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17470" y="5532120"/>
              <a:ext cx="1675448" cy="411480"/>
            </a:xfrm>
            <a:prstGeom prst="roundRect">
              <a:avLst>
                <a:gd name="adj" fmla="val 23148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17470" y="4281488"/>
              <a:ext cx="1675448" cy="41148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16127" y="4403408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新到达的请求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7671" y="56540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请求队列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25534" y="565404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服务队列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63050" y="4403408"/>
              <a:ext cx="783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SCAN 服务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184082" y="5531168"/>
              <a:ext cx="59340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212454" y="55564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扫完交换</a:t>
              </a:r>
            </a:p>
          </p:txBody>
        </p:sp>
      </p:grpSp>
      <p:grpSp>
        <p:nvGrpSpPr>
          <p:cNvPr id="82" name="c2-table-1"/>
          <p:cNvGrpSpPr/>
          <p:nvPr/>
        </p:nvGrpSpPr>
        <p:grpSpPr>
          <a:xfrm>
            <a:off x="4728591" y="1524000"/>
            <a:ext cx="6930009" cy="4742117"/>
            <a:chOff x="4728591" y="1524000"/>
            <a:chExt cx="6930009" cy="4742117"/>
          </a:xfrm>
        </p:grpSpPr>
        <p:sp>
          <p:nvSpPr>
            <p:cNvPr id="35" name="Rectangle 35"/>
            <p:cNvSpPr/>
            <p:nvPr/>
          </p:nvSpPr>
          <p:spPr>
            <a:xfrm>
              <a:off x="4733925" y="1524000"/>
              <a:ext cx="692467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875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08408" y="165258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本节例子移动量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7820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8702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36414" y="207645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1349" y="207645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44397" y="2076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公平、简单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753219" y="20764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移动量大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733925" y="236791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4733925" y="2372678"/>
              <a:ext cx="692467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836414" y="2607945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SSTF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21349" y="260794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44397" y="250126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每次寻道短，总移动量较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小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53219" y="260794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远处请求可能饥饿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733925" y="3006090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836414" y="3139440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SCAN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21349" y="313944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233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44397" y="313944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移动量小，不会饥饿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53219" y="313944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两端磁道比中间等得久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733925" y="342995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733925" y="3434715"/>
              <a:ext cx="692467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836414" y="3669982"/>
              <a:ext cx="4781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LOOK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21349" y="366998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744397" y="3563302"/>
              <a:ext cx="165811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 SCAN 少走到端点的空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53219" y="3669982"/>
              <a:ext cx="600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SCAN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733925" y="4068128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836414" y="4308158"/>
              <a:ext cx="6036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C-SCAN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221349" y="4201478"/>
              <a:ext cx="10256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383（不计返回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184）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744397" y="4308158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各磁道最长等待时间相同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753219" y="4308158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返回行程不服务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733925" y="4706302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733925" y="4711065"/>
              <a:ext cx="692467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836414" y="4945380"/>
              <a:ext cx="6753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C-LOOK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221349" y="4838700"/>
              <a:ext cx="102565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315（不计返回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44397" y="4945380"/>
              <a:ext cx="15959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C-SCAN，空程更短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753219" y="4945380"/>
              <a:ext cx="7882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 C-SCAN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4733925" y="5343525"/>
              <a:ext cx="692467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836414" y="5476875"/>
              <a:ext cx="757809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步扫描、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FSCAN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21349" y="558355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744397" y="558355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避免磁头粘性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753219" y="558355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要维护多个队列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733925" y="1524000"/>
              <a:ext cx="6924675" cy="44624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114098" y="1524000"/>
              <a:ext cx="9525" cy="4462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637145" y="1524000"/>
              <a:ext cx="9525" cy="4462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645968" y="1524000"/>
              <a:ext cx="9525" cy="44624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728591" y="6060758"/>
              <a:ext cx="5417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例子均为：磁道 0–199，磁头 53，向 0 方向，请求 130，42，180，15，108，68，97</a:t>
              </a:r>
            </a:p>
          </p:txBody>
        </p:sp>
      </p:grpSp>
      <p:grpSp>
        <p:nvGrpSpPr>
          <p:cNvPr id="8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3" name="TextBox 83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05220" cy="909257"/>
            <a:chOff x="520446" y="342900"/>
            <a:chExt cx="71052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052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读写一个扇区的时间 = 寻道 + 旋转延迟 + 传输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5410200" cy="2764155"/>
            <a:chOff x="533400" y="1524000"/>
            <a:chExt cx="5410200" cy="2764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87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0893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1013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889" y="2076450"/>
              <a:ext cx="106108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寻道时间 Ts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（seek time）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042732" y="218313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把引臂移到指定柱面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4444" y="2183130"/>
              <a:ext cx="10577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 = m × n + 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8127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86038"/>
              <a:ext cx="5410200" cy="85153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5889" y="2714625"/>
              <a:ext cx="964692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旋转延迟 Tr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（rotational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delay）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42732" y="29279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指定扇区转到磁头下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14444" y="2927985"/>
              <a:ext cx="9256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Tr = 1/(2r)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43281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5889" y="3566160"/>
              <a:ext cx="868680" cy="6614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传输时间 Tt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（transfer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time）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42732" y="3779520"/>
              <a:ext cx="747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读/写数据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14444" y="3779520"/>
              <a:ext cx="929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Tt = b/(rN)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410200" cy="27641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935480" y="1524000"/>
              <a:ext cx="9525" cy="2764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207192" y="1524000"/>
              <a:ext cx="9525" cy="27641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8" name="c1-kv-2"/>
          <p:cNvGrpSpPr/>
          <p:nvPr/>
        </p:nvGrpSpPr>
        <p:grpSpPr>
          <a:xfrm>
            <a:off x="526161" y="4492466"/>
            <a:ext cx="5417439" cy="1527430"/>
            <a:chOff x="526161" y="4492466"/>
            <a:chExt cx="5417439" cy="1527430"/>
          </a:xfrm>
        </p:grpSpPr>
        <p:sp>
          <p:nvSpPr>
            <p:cNvPr id="27" name="TextBox 27"/>
            <p:cNvSpPr txBox="1"/>
            <p:nvPr/>
          </p:nvSpPr>
          <p:spPr>
            <a:xfrm>
              <a:off x="526161" y="4492466"/>
              <a:ext cx="7681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n、m、s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14856" y="4492466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跨越的磁道数、跨越一个磁道所用的时间、启动时间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479583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161" y="4908709"/>
              <a:ext cx="1248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4856" y="4908709"/>
              <a:ext cx="1648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磁盘转速（转/秒）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52120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6161" y="5324951"/>
              <a:ext cx="4326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b、N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4856" y="5324951"/>
              <a:ext cx="317818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读/写的字节数、一条磁道上的字节数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56283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6161" y="5741194"/>
              <a:ext cx="1735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574119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一条磁道上的扇区数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6248400" y="1524000"/>
            <a:ext cx="5410200" cy="2238375"/>
            <a:chOff x="6248400" y="1524000"/>
            <a:chExt cx="5410200" cy="2238375"/>
          </a:xfrm>
        </p:grpSpPr>
        <p:sp>
          <p:nvSpPr>
            <p:cNvPr id="39" name="Rectangle 39"/>
            <p:cNvSpPr/>
            <p:nvPr/>
          </p:nvSpPr>
          <p:spPr>
            <a:xfrm>
              <a:off x="6248400" y="1524000"/>
              <a:ext cx="5410200" cy="2238375"/>
            </a:xfrm>
            <a:prstGeom prst="roundRect">
              <a:avLst>
                <a:gd name="adj" fmla="val 5957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446520" y="1722120"/>
              <a:ext cx="939165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21233" y="1756410"/>
              <a:ext cx="789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访问时间 Ta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formula14"/>
                <p:cNvSpPr txBox="1">
                  <a:spLocks noGrp="1"/>
                </p:cNvSpPr>
                <p:nvPr/>
              </p:nvSpPr>
              <p:spPr>
                <a:xfrm>
                  <a:off x="6446520" y="2059305"/>
                  <a:ext cx="50139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rN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43" name="TextBox 43"/>
            <p:cNvSpPr txBox="1"/>
            <p:nvPr/>
          </p:nvSpPr>
          <p:spPr>
            <a:xfrm>
              <a:off x="6439281" y="2712244"/>
              <a:ext cx="32308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以扇区为单位访问（b/N = 1/M）时：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formula15"/>
                <p:cNvSpPr txBox="1">
                  <a:spLocks noGrp="1"/>
                </p:cNvSpPr>
                <p:nvPr/>
              </p:nvSpPr>
              <p:spPr>
                <a:xfrm>
                  <a:off x="6446520" y="3007042"/>
                  <a:ext cx="5013960" cy="54006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T</m:t>
                            </m:r>
                          </m:e>
                          <m:sub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a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×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2r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zh-CN" sz="158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zh-CN" sz="158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rM</m:t>
                            </m:r>
                          </m:den>
                        </m:f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56" name="c2-card-2"/>
          <p:cNvGrpSpPr/>
          <p:nvPr/>
        </p:nvGrpSpPr>
        <p:grpSpPr>
          <a:xfrm>
            <a:off x="6248400" y="3943350"/>
            <a:ext cx="5410200" cy="2158365"/>
            <a:chOff x="6248400" y="3943350"/>
            <a:chExt cx="5410200" cy="2158365"/>
          </a:xfrm>
        </p:grpSpPr>
        <p:sp>
          <p:nvSpPr>
            <p:cNvPr id="46" name="Rectangle 46"/>
            <p:cNvSpPr/>
            <p:nvPr/>
          </p:nvSpPr>
          <p:spPr>
            <a:xfrm>
              <a:off x="6248400" y="3943350"/>
              <a:ext cx="5410200" cy="2158365"/>
            </a:xfrm>
            <a:prstGeom prst="roundRect">
              <a:avLst>
                <a:gd name="adj" fmla="val 61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4076700"/>
              <a:ext cx="47625" cy="189166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84620" y="414147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56058" y="41757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两个公式的来历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45615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4501991"/>
              <a:ext cx="4356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1/(2r)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：转一圈要 1/r 秒，目标扇区平均要等半圈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487965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4819174"/>
              <a:ext cx="460683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b/(rN)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：每秒转 r 圈、经过 rN 个字节，读 b 个字节需要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b/(rN) 秒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2240" y="546925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8831" y="5408771"/>
              <a:ext cx="4504944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：转速常以“转/分”给出，先除以 60 化成转/秒再代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189017" cy="909257"/>
            <a:chOff x="520446" y="342900"/>
            <a:chExt cx="918901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1890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8-1：C-LOOK 调度下的磁盘访问时间（题目与第 1 问）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card-1"/>
          <p:cNvGrpSpPr/>
          <p:nvPr/>
        </p:nvGrpSpPr>
        <p:grpSpPr>
          <a:xfrm>
            <a:off x="533400" y="1524000"/>
            <a:ext cx="4977765" cy="4788218"/>
            <a:chOff x="533400" y="1524000"/>
            <a:chExt cx="4977765" cy="47882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4788218"/>
            </a:xfrm>
            <a:prstGeom prst="roundRect">
              <a:avLst>
                <a:gd name="adj" fmla="val 27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452151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题目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44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只有一个移动磁头的磁盘，磁道由外向内编号 0、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1、…、199；磁头移动一个磁道需 1 ms；每个磁道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个扇区；转速 6000 r/min。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3017520"/>
              <a:ext cx="43110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采用 C-LOOK 引臂调度算法，引臂当前在第 100 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道，由外向内移动，规定引臂向内扫描时为路经的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请求服务。磁道请求为 120、85、70、30，每个请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求访问对应磁道上的一个扇区。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1050" y="419671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2899" y="42390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2040" y="421005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给出引臂移动序列，计算移动量和寻道时间（忽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略启动时间）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1050" y="481774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42899" y="48600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2040" y="483108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计算平均旋转延迟时间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81050" y="515302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2899" y="51953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82040" y="516636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计算传输时间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81050" y="54883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42899" y="55305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2040" y="550164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计算所有访问处理时间</a:t>
              </a:r>
            </a:p>
          </p:txBody>
        </p:sp>
      </p:grpSp>
      <p:grpSp>
        <p:nvGrpSpPr>
          <p:cNvPr id="62" name="c2-graph-1"/>
          <p:cNvGrpSpPr/>
          <p:nvPr/>
        </p:nvGrpSpPr>
        <p:grpSpPr>
          <a:xfrm>
            <a:off x="6066197" y="1555909"/>
            <a:ext cx="5413779" cy="1873091"/>
            <a:chOff x="6066197" y="1555909"/>
            <a:chExt cx="5413779" cy="1873091"/>
          </a:xfrm>
        </p:grpSpPr>
        <p:sp>
          <p:nvSpPr>
            <p:cNvPr id="26" name="Freeform 26"/>
            <p:cNvSpPr/>
            <p:nvPr/>
          </p:nvSpPr>
          <p:spPr>
            <a:xfrm>
              <a:off x="6107430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27" name="Freeform 27"/>
            <p:cNvSpPr/>
            <p:nvPr/>
          </p:nvSpPr>
          <p:spPr>
            <a:xfrm>
              <a:off x="6900862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28" name="Freeform 28"/>
            <p:cNvSpPr/>
            <p:nvPr/>
          </p:nvSpPr>
          <p:spPr>
            <a:xfrm>
              <a:off x="7957185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29" name="Freeform 29"/>
            <p:cNvSpPr/>
            <p:nvPr/>
          </p:nvSpPr>
          <p:spPr>
            <a:xfrm>
              <a:off x="8353425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30" name="Freeform 30"/>
            <p:cNvSpPr/>
            <p:nvPr/>
          </p:nvSpPr>
          <p:spPr>
            <a:xfrm>
              <a:off x="8750618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31" name="Freeform 31"/>
            <p:cNvSpPr/>
            <p:nvPr/>
          </p:nvSpPr>
          <p:spPr>
            <a:xfrm>
              <a:off x="9278302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32" name="Freeform 32"/>
            <p:cNvSpPr/>
            <p:nvPr/>
          </p:nvSpPr>
          <p:spPr>
            <a:xfrm>
              <a:off x="11366182" y="1796415"/>
              <a:ext cx="9525" cy="1556385"/>
            </a:xfrm>
            <a:custGeom>
              <a:avLst/>
              <a:gdLst/>
              <a:ahLst/>
              <a:cxnLst/>
              <a:rect l="l" t="t" r="r" b="b"/>
              <a:pathLst>
                <a:path w="9525" h="1556385">
                  <a:moveTo>
                    <a:pt x="0" y="0"/>
                  </a:moveTo>
                  <a:lnTo>
                    <a:pt x="0" y="1556385"/>
                  </a:lnTo>
                </a:path>
              </a:pathLst>
            </a:custGeom>
            <a:noFill/>
            <a:ln w="9525">
              <a:solidFill>
                <a:srgbClr val="D9DFEA"/>
              </a:solidFill>
              <a:custDash>
                <a:ds d="600000" sp="400000"/>
              </a:custDash>
            </a:ln>
          </p:spPr>
        </p:sp>
        <p:sp>
          <p:nvSpPr>
            <p:cNvPr id="33" name="Freeform 33"/>
            <p:cNvSpPr/>
            <p:nvPr/>
          </p:nvSpPr>
          <p:spPr>
            <a:xfrm>
              <a:off x="6145530" y="1758315"/>
              <a:ext cx="5182552" cy="9525"/>
            </a:xfrm>
            <a:custGeom>
              <a:avLst/>
              <a:gdLst/>
              <a:ahLst/>
              <a:cxnLst/>
              <a:rect l="l" t="t" r="r" b="b"/>
              <a:pathLst>
                <a:path w="5182552" h="9525">
                  <a:moveTo>
                    <a:pt x="0" y="0"/>
                  </a:moveTo>
                  <a:lnTo>
                    <a:pt x="5182552" y="0"/>
                  </a:lnTo>
                </a:path>
              </a:pathLst>
            </a:cu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798242" y="1985962"/>
              <a:ext cx="354330" cy="240030"/>
            </a:xfrm>
            <a:custGeom>
              <a:avLst/>
              <a:gdLst/>
              <a:ahLst/>
              <a:cxnLst/>
              <a:rect l="l" t="t" r="r" b="b"/>
              <a:pathLst>
                <a:path w="354330" h="240030">
                  <a:moveTo>
                    <a:pt x="0" y="0"/>
                  </a:moveTo>
                  <a:lnTo>
                    <a:pt x="354330" y="24003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125902" y="2185988"/>
              <a:ext cx="105728" cy="93345"/>
            </a:xfrm>
            <a:custGeom>
              <a:avLst/>
              <a:gdLst/>
              <a:ahLst/>
              <a:cxnLst/>
              <a:rect l="l" t="t" r="r" b="b"/>
              <a:pathLst>
                <a:path w="105728" h="93345">
                  <a:moveTo>
                    <a:pt x="105728" y="93345"/>
                  </a:moveTo>
                  <a:lnTo>
                    <a:pt x="0" y="79058"/>
                  </a:lnTo>
                  <a:lnTo>
                    <a:pt x="5334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051358" y="2319338"/>
              <a:ext cx="2170748" cy="325755"/>
            </a:xfrm>
            <a:custGeom>
              <a:avLst/>
              <a:gdLst/>
              <a:ahLst/>
              <a:cxnLst/>
              <a:rect l="l" t="t" r="r" b="b"/>
              <a:pathLst>
                <a:path w="2170748" h="325755">
                  <a:moveTo>
                    <a:pt x="2170748" y="0"/>
                  </a:moveTo>
                  <a:lnTo>
                    <a:pt x="0" y="325755"/>
                  </a:lnTo>
                </a:path>
              </a:pathLst>
            </a:custGeom>
            <a:noFill/>
            <a:ln w="17145">
              <a:solidFill>
                <a:srgbClr val="F26B3A"/>
              </a:solidFill>
              <a:custDash>
                <a:ds d="333333" sp="222222"/>
              </a:custDash>
            </a:ln>
          </p:spPr>
        </p:sp>
        <p:sp>
          <p:nvSpPr>
            <p:cNvPr id="37" name="Freeform 37"/>
            <p:cNvSpPr/>
            <p:nvPr/>
          </p:nvSpPr>
          <p:spPr>
            <a:xfrm>
              <a:off x="6957060" y="2598420"/>
              <a:ext cx="100965" cy="94297"/>
            </a:xfrm>
            <a:custGeom>
              <a:avLst/>
              <a:gdLst/>
              <a:ahLst/>
              <a:cxnLst/>
              <a:rect l="l" t="t" r="r" b="b"/>
              <a:pathLst>
                <a:path w="100965" h="94297">
                  <a:moveTo>
                    <a:pt x="0" y="60960"/>
                  </a:moveTo>
                  <a:lnTo>
                    <a:pt x="87630" y="0"/>
                  </a:lnTo>
                  <a:lnTo>
                    <a:pt x="100965" y="94297"/>
                  </a:lnTo>
                  <a:close/>
                </a:path>
              </a:pathLst>
            </a:custGeom>
            <a:solidFill>
              <a:srgbClr val="F26B3A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955155" y="2686050"/>
              <a:ext cx="858202" cy="289560"/>
            </a:xfrm>
            <a:custGeom>
              <a:avLst/>
              <a:gdLst/>
              <a:ahLst/>
              <a:cxnLst/>
              <a:rect l="l" t="t" r="r" b="b"/>
              <a:pathLst>
                <a:path w="858202" h="289560">
                  <a:moveTo>
                    <a:pt x="0" y="0"/>
                  </a:moveTo>
                  <a:lnTo>
                    <a:pt x="858202" y="289560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798118" y="2930842"/>
              <a:ext cx="105727" cy="90488"/>
            </a:xfrm>
            <a:custGeom>
              <a:avLst/>
              <a:gdLst/>
              <a:ahLst/>
              <a:cxnLst/>
              <a:rect l="l" t="t" r="r" b="b"/>
              <a:pathLst>
                <a:path w="105727" h="90488">
                  <a:moveTo>
                    <a:pt x="105727" y="75248"/>
                  </a:moveTo>
                  <a:lnTo>
                    <a:pt x="0" y="90488"/>
                  </a:lnTo>
                  <a:lnTo>
                    <a:pt x="30480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8000048" y="3063240"/>
              <a:ext cx="240983" cy="216217"/>
            </a:xfrm>
            <a:custGeom>
              <a:avLst/>
              <a:gdLst/>
              <a:ahLst/>
              <a:cxnLst/>
              <a:rect l="l" t="t" r="r" b="b"/>
              <a:pathLst>
                <a:path w="240983" h="216217">
                  <a:moveTo>
                    <a:pt x="0" y="0"/>
                  </a:moveTo>
                  <a:lnTo>
                    <a:pt x="240983" y="216217"/>
                  </a:lnTo>
                </a:path>
              </a:pathLst>
            </a:custGeom>
            <a:noFill/>
            <a:ln w="20955">
              <a:solidFill>
                <a:srgbClr val="0E7C86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8208645" y="3244215"/>
              <a:ext cx="102870" cy="99060"/>
            </a:xfrm>
            <a:custGeom>
              <a:avLst/>
              <a:gdLst/>
              <a:ahLst/>
              <a:cxnLst/>
              <a:rect l="l" t="t" r="r" b="b"/>
              <a:pathLst>
                <a:path w="102870" h="99060">
                  <a:moveTo>
                    <a:pt x="102870" y="99060"/>
                  </a:moveTo>
                  <a:lnTo>
                    <a:pt x="0" y="70485"/>
                  </a:lnTo>
                  <a:lnTo>
                    <a:pt x="63818" y="0"/>
                  </a:lnTo>
                  <a:close/>
                </a:path>
              </a:pathLst>
            </a:custGeom>
            <a:solidFill>
              <a:srgbClr val="0E7C8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078855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872288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7928610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8324850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8722042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9249728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11337608" y="1729740"/>
              <a:ext cx="57150" cy="57150"/>
            </a:xfrm>
            <a:prstGeom prst="ellipse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8702992" y="1906905"/>
              <a:ext cx="95250" cy="952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9230678" y="226314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853238" y="2620328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Ellipse 52"/>
            <p:cNvSpPr/>
            <p:nvPr/>
          </p:nvSpPr>
          <p:spPr>
            <a:xfrm>
              <a:off x="7909560" y="2977515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8305800" y="3333750"/>
              <a:ext cx="95250" cy="952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20303" y="1902619"/>
              <a:ext cx="2303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066197" y="155590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23349" y="155590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79672" y="155590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275912" y="155590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636824" y="155590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64509" y="155590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120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2389" y="1555909"/>
              <a:ext cx="22758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199</a:t>
              </a:r>
            </a:p>
          </p:txBody>
        </p:sp>
      </p:grpSp>
      <p:grpSp>
        <p:nvGrpSpPr>
          <p:cNvPr id="91" name="c2-table-2"/>
          <p:cNvGrpSpPr/>
          <p:nvPr/>
        </p:nvGrpSpPr>
        <p:grpSpPr>
          <a:xfrm>
            <a:off x="5815965" y="3669982"/>
            <a:ext cx="5842635" cy="2692718"/>
            <a:chOff x="5815965" y="3669982"/>
            <a:chExt cx="5842635" cy="2692718"/>
          </a:xfrm>
        </p:grpSpPr>
        <p:sp>
          <p:nvSpPr>
            <p:cNvPr id="63" name="Rectangle 63"/>
            <p:cNvSpPr/>
            <p:nvPr/>
          </p:nvSpPr>
          <p:spPr>
            <a:xfrm>
              <a:off x="5815965" y="3669982"/>
              <a:ext cx="584263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244438" y="380476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458012" y="380476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跨越磁道数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44379" y="380476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100340" y="4254341"/>
              <a:ext cx="818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→ 120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94023" y="425434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695563" y="4254341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向内，服务 120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5815965" y="45624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15965" y="4567238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150096" y="4702969"/>
              <a:ext cx="718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120 → 30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794023" y="470296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695563" y="4702969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返回最外侧的请求（计入）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815965" y="50111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199851" y="5151596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30 → 70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94023" y="5151596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695563" y="5151596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再次向内，服务 70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815965" y="54606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5815965" y="546544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199851" y="5600224"/>
              <a:ext cx="619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 → 85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94023" y="560022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95563" y="5600224"/>
              <a:ext cx="5988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 85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15965" y="590931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330594" y="604885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739529" y="6048851"/>
              <a:ext cx="3114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165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695563" y="6048851"/>
              <a:ext cx="25115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寻道时间 = 165 × 1 ms = 165 ms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815965" y="3669982"/>
              <a:ext cx="584263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9" name="Rectangle 89"/>
            <p:cNvSpPr/>
            <p:nvPr/>
          </p:nvSpPr>
          <p:spPr>
            <a:xfrm>
              <a:off x="7198995" y="3669982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8582978" y="3669982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29405" cy="909257"/>
            <a:chOff x="520446" y="342900"/>
            <a:chExt cx="632940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080385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4397" y="407194"/>
              <a:ext cx="301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设备调度：磁盘引臂调度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294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8-1 续：旋转延迟、传输时间与总时间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773522" cy="2619756"/>
            <a:chOff x="533400" y="1533525"/>
            <a:chExt cx="5773522" cy="261975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0716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605212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679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先换算转速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1461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= 6000 转/分 = 100 转/秒，转一圈 10 ms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1170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(2) 旋转延迟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5360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一次访盘 Tr = 1/(2r) = 1/(2 × 100) s = 5 ms；4 次访盘共 4 × 5 = 20 ms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1170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(3) 传输时间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483565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一次读一个扇区 Tt = 1/(rM) = 1/(100 × 100) s = 0.1 ms；4 次共 4 ×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= 0.4 ms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638074"/>
              <a:ext cx="979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(4) 总时间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918585"/>
              <a:ext cx="1983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 + 20 + 0.4 = 185.4 ms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324350"/>
            <a:ext cx="5842635" cy="2006918"/>
            <a:chOff x="533400" y="4324350"/>
            <a:chExt cx="5842635" cy="2006918"/>
          </a:xfrm>
        </p:grpSpPr>
        <p:sp>
          <p:nvSpPr>
            <p:cNvPr id="25" name="Rectangle 25"/>
            <p:cNvSpPr/>
            <p:nvPr/>
          </p:nvSpPr>
          <p:spPr>
            <a:xfrm>
              <a:off x="533400" y="4324350"/>
              <a:ext cx="5842635" cy="2006918"/>
            </a:xfrm>
            <a:prstGeom prst="roundRect">
              <a:avLst>
                <a:gd name="adj" fmla="val 66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542925" y="4457700"/>
              <a:ext cx="47625" cy="1740218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9620" y="4522470"/>
              <a:ext cx="1282065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4553" y="4556760"/>
              <a:ext cx="1172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对比：改用 LOOK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81" y="4882991"/>
              <a:ext cx="490169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同样先向内：100 → 120 → 85 → 70 → 30，移动量 20 + 35 + 15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+ 40 = 110，总时间 130.4 ms。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3524" y="5468302"/>
              <a:ext cx="3764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C-LOOK 多花 55 ms，换来各磁道等待时间更均匀。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6680835" y="1524000"/>
            <a:ext cx="4977765" cy="2122170"/>
            <a:chOff x="6680835" y="1524000"/>
            <a:chExt cx="4977765" cy="2122170"/>
          </a:xfrm>
        </p:grpSpPr>
        <p:sp>
          <p:nvSpPr>
            <p:cNvPr id="32" name="Rectangle 32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742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058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745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87062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83324" y="20764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769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91649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86097" y="207645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165 ms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680835" y="236791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80835" y="237267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83324" y="25012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旋转延迟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38464" y="2501265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ms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691649" y="250126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730522" y="2501265"/>
              <a:ext cx="4483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 ms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27927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83324" y="292608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传输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49615" y="292608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0.1 ms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1649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86097" y="2926080"/>
              <a:ext cx="5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0.4 ms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680835" y="32165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80835" y="322135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3324" y="334994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79680" y="3349942"/>
              <a:ext cx="7500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185.4 ms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680835" y="1524000"/>
              <a:ext cx="4977765" cy="212217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99814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229725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0246042" y="1524000"/>
              <a:ext cx="9525" cy="212217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2"/>
          <p:cNvGrpSpPr/>
          <p:nvPr/>
        </p:nvGrpSpPr>
        <p:grpSpPr>
          <a:xfrm>
            <a:off x="6680835" y="3826192"/>
            <a:ext cx="4977765" cy="756285"/>
            <a:chOff x="6680835" y="3826192"/>
            <a:chExt cx="4977765" cy="756285"/>
          </a:xfrm>
        </p:grpSpPr>
        <p:sp>
          <p:nvSpPr>
            <p:cNvPr id="61" name="Rectangle 61"/>
            <p:cNvSpPr/>
            <p:nvPr/>
          </p:nvSpPr>
          <p:spPr>
            <a:xfrm>
              <a:off x="6680835" y="3826192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885623" y="4104325"/>
              <a:ext cx="200023" cy="200023"/>
              <a:chOff x="6885623" y="410432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885623" y="41043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018973" y="41709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187946" y="3973354"/>
              <a:ext cx="400900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寻道时间占了总时间的 89%，所以引臂调度的目标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是减少移动量。</a:t>
              </a:r>
            </a:p>
          </p:txBody>
        </p:sp>
      </p:grpSp>
      <p:grpSp>
        <p:nvGrpSpPr>
          <p:cNvPr id="75" name="c2-card-3"/>
          <p:cNvGrpSpPr/>
          <p:nvPr/>
        </p:nvGrpSpPr>
        <p:grpSpPr>
          <a:xfrm>
            <a:off x="6680835" y="4762500"/>
            <a:ext cx="4977765" cy="1568768"/>
            <a:chOff x="6680835" y="4762500"/>
            <a:chExt cx="4977765" cy="1568768"/>
          </a:xfrm>
        </p:grpSpPr>
        <p:sp>
          <p:nvSpPr>
            <p:cNvPr id="67" name="Rectangle 67"/>
            <p:cNvSpPr/>
            <p:nvPr/>
          </p:nvSpPr>
          <p:spPr>
            <a:xfrm>
              <a:off x="6680835" y="4762500"/>
              <a:ext cx="497776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48958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17055" y="49606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04495" y="49949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易错点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924675" y="53816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81266" y="5322094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寻道时间按跨越的总磁道数算一次；旋转延迟和传输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时间每访问一次都要算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924675" y="597122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081266" y="5910739"/>
              <a:ext cx="35318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 用转/秒代入，算出的是秒，再化成毫秒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缓冲技术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设备收发数据的快慢和进程不一致，中间放缓冲区来调和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9.7 缓冲的分类与缓冲池管理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输入、输出、块设备的缓冲流程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31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的字符缓冲与块缓冲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3167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getblk、bread、bwrite 等缓冲操作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缓冲：解决数据到达与离开速度不一致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885887" cy="308039"/>
            <a:chOff x="525399" y="1550194"/>
            <a:chExt cx="7885887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88588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缓冲技术是设备处理数据时，为解决数据到达速度与离开速度不一致而采用的技术。</a:t>
              </a:r>
            </a:p>
          </p:txBody>
        </p:sp>
      </p:grpSp>
      <p:grpSp>
        <p:nvGrpSpPr>
          <p:cNvPr id="28" name="c1-table-1"/>
          <p:cNvGrpSpPr/>
          <p:nvPr/>
        </p:nvGrpSpPr>
        <p:grpSpPr>
          <a:xfrm>
            <a:off x="533400" y="1967865"/>
            <a:ext cx="11125200" cy="2248852"/>
            <a:chOff x="533400" y="1967865"/>
            <a:chExt cx="11125200" cy="224885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3373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分类角度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6568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一种做法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41054" y="21026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另一种做法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664619"/>
              <a:ext cx="1806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Buffering 与 Caching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43378" y="2664619"/>
              <a:ext cx="39244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buffering：数据只有一份，在缓冲区中暂存后移走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4901" y="2551271"/>
              <a:ext cx="4174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caching：同一数据有多份副本，慢速存储上的数据多，快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速存储上只放其中一部分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870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3091815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227546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硬缓冲与软缓冲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3378" y="322754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硬缓冲区通常设在设备中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04901" y="322754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软缓冲区通常设在内存的系统空间中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353568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1223" y="378952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私用缓冲与公共缓冲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43378" y="3676174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私用：一个缓冲区与一个固定设备相联系，不同设备用不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同缓冲区，</a:t>
              </a: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利用率低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204901" y="3676174"/>
              <a:ext cx="4076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公共：缓冲区由系统统一管理，按需要动态分给正在进行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传输的设备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1967865"/>
              <a:ext cx="11125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30792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092315" y="1967865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9" name="c1-compare-2"/>
          <p:cNvGrpSpPr/>
          <p:nvPr/>
        </p:nvGrpSpPr>
        <p:grpSpPr>
          <a:xfrm>
            <a:off x="533400" y="4406265"/>
            <a:ext cx="11125200" cy="1703070"/>
            <a:chOff x="533400" y="4406265"/>
            <a:chExt cx="11125200" cy="1703070"/>
          </a:xfrm>
        </p:grpSpPr>
        <p:sp>
          <p:nvSpPr>
            <p:cNvPr id="29" name="Rectangle 29"/>
            <p:cNvSpPr/>
            <p:nvPr/>
          </p:nvSpPr>
          <p:spPr>
            <a:xfrm>
              <a:off x="533400" y="4406265"/>
              <a:ext cx="53911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5396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73430" y="4640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86765" y="50577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4880" y="499491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键盘送来的字符先进缓冲区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86765" y="53930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4880" y="533019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进程要读时再从缓冲区取走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86765" y="57283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4880" y="566547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进程没来读，字符也不会丢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67450" y="4406265"/>
              <a:ext cx="5391150" cy="1703070"/>
            </a:xfrm>
            <a:prstGeom prst="roundRect">
              <a:avLst>
                <a:gd name="adj" fmla="val 78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76975" y="4539615"/>
              <a:ext cx="47625" cy="143637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07480" y="464058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520815" y="505777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678930" y="499491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进程把要打印的内容写进缓冲区就返回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520815" y="539305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678930" y="533019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打印机慢慢从缓冲区取走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520815" y="57283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678930" y="566547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进程不必等打印机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934075" y="509587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019991" y="519207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9635" cy="909257"/>
            <a:chOff x="520446" y="342900"/>
            <a:chExt cx="558963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9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缓冲池：两个信号量管理 n 个空缓冲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cells-1"/>
          <p:cNvGrpSpPr/>
          <p:nvPr/>
        </p:nvGrpSpPr>
        <p:grpSpPr>
          <a:xfrm>
            <a:off x="527685" y="1569720"/>
            <a:ext cx="5092065" cy="668655"/>
            <a:chOff x="527685" y="1569720"/>
            <a:chExt cx="5092065" cy="668655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5881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空缓冲链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35392" y="1819275"/>
              <a:ext cx="408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69835" y="1977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44015" y="18192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1720215" y="20002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748790" y="20288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091690" y="19859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177415" y="1819275"/>
              <a:ext cx="408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10905" y="1977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85085" y="18192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661285" y="20002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2689860" y="20288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3032760" y="19859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118485" y="1819275"/>
              <a:ext cx="408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2927" y="1977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27108" y="18192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603308" y="20002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631882" y="20288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3974782" y="19859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060508" y="1819275"/>
              <a:ext cx="408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215091" y="1958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468178" y="18192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544378" y="2000250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4572952" y="2028825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4915852" y="1985962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001578" y="1819275"/>
              <a:ext cx="40862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36020" y="1977866"/>
              <a:ext cx="3406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空缓冲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410200" y="1819275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473742" y="1966436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295480" y="1569720"/>
              <a:ext cx="28940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head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140208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93469" y="1569720"/>
              <a:ext cx="22579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tail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5168265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6" name="c1-kv-2"/>
          <p:cNvGrpSpPr/>
          <p:nvPr/>
        </p:nvGrpSpPr>
        <p:grpSpPr>
          <a:xfrm>
            <a:off x="525780" y="2453640"/>
            <a:ext cx="5417820" cy="1015365"/>
            <a:chOff x="525780" y="2453640"/>
            <a:chExt cx="5417820" cy="1015365"/>
          </a:xfrm>
        </p:grpSpPr>
        <p:sp>
          <p:nvSpPr>
            <p:cNvPr id="41" name="TextBox 41"/>
            <p:cNvSpPr txBox="1"/>
            <p:nvPr/>
          </p:nvSpPr>
          <p:spPr>
            <a:xfrm>
              <a:off x="525780" y="2453640"/>
              <a:ext cx="8739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buf_num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617345" y="2453640"/>
              <a:ext cx="3215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信号量，初值 n，表示空缓冲的个数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27736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5780" y="2893695"/>
              <a:ext cx="6407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mutex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17345" y="2893695"/>
              <a:ext cx="39871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信号量，初值 1，保证同一时刻只有一个进程改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动链表</a:t>
              </a:r>
            </a:p>
          </p:txBody>
        </p:sp>
      </p:grpSp>
      <p:grpSp>
        <p:nvGrpSpPr>
          <p:cNvPr id="71" name="c1-table-3"/>
          <p:cNvGrpSpPr/>
          <p:nvPr/>
        </p:nvGrpSpPr>
        <p:grpSpPr>
          <a:xfrm>
            <a:off x="533400" y="3600450"/>
            <a:ext cx="5410200" cy="2697480"/>
            <a:chOff x="533400" y="3600450"/>
            <a:chExt cx="5410200" cy="2697480"/>
          </a:xfrm>
        </p:grpSpPr>
        <p:sp>
          <p:nvSpPr>
            <p:cNvPr id="47" name="Rectangle 47"/>
            <p:cNvSpPr/>
            <p:nvPr/>
          </p:nvSpPr>
          <p:spPr>
            <a:xfrm>
              <a:off x="533400" y="360045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37106" y="3736181"/>
              <a:ext cx="16805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例：n = 2 时依次发生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136151" y="3736181"/>
              <a:ext cx="7457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buf_num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91354" y="37361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1223" y="4184809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申请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55147" y="4184809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103560" y="4184809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取得一个缓冲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33400" y="449294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4497705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41223" y="4633436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P2 申请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3455147" y="46334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103560" y="463343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取得最后一个缓冲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494252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41223" y="5195411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 申请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407761" y="5195411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103560" y="5082064"/>
              <a:ext cx="152476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P(buf_num) 处阻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塞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533400" y="561784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533400" y="5622608"/>
              <a:ext cx="541020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41223" y="5870734"/>
              <a:ext cx="625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 释放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455147" y="58707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103560" y="5757386"/>
              <a:ext cx="13134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V(buf_num) 唤醒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P3，P3 取得缓冲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3600450"/>
              <a:ext cx="5410200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3017520" y="360045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3990975" y="360045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5" name="c2-code-1"/>
          <p:cNvGrpSpPr/>
          <p:nvPr/>
        </p:nvGrpSpPr>
        <p:grpSpPr>
          <a:xfrm>
            <a:off x="6248400" y="1524000"/>
            <a:ext cx="5410200" cy="1313498"/>
            <a:chOff x="6248400" y="1524000"/>
            <a:chExt cx="5410200" cy="1313498"/>
          </a:xfrm>
        </p:grpSpPr>
        <p:sp>
          <p:nvSpPr>
            <p:cNvPr id="72" name="Rectangle 72"/>
            <p:cNvSpPr/>
            <p:nvPr/>
          </p:nvSpPr>
          <p:spPr>
            <a:xfrm>
              <a:off x="6248400" y="1524000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76797" y="1675924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1. 申请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76035" y="1937861"/>
              <a:ext cx="2870454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P(buf_num);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没有空缓冲就等待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取链头空缓冲;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V(mutex);</a:t>
              </a:r>
            </a:p>
          </p:txBody>
        </p:sp>
      </p:grpSp>
      <p:grpSp>
        <p:nvGrpSpPr>
          <p:cNvPr id="79" name="c2-code-2"/>
          <p:cNvGrpSpPr/>
          <p:nvPr/>
        </p:nvGrpSpPr>
        <p:grpSpPr>
          <a:xfrm>
            <a:off x="6248400" y="3027998"/>
            <a:ext cx="5410200" cy="1313498"/>
            <a:chOff x="6248400" y="3027998"/>
            <a:chExt cx="5410200" cy="1313498"/>
          </a:xfrm>
        </p:grpSpPr>
        <p:sp>
          <p:nvSpPr>
            <p:cNvPr id="76" name="Rectangle 76"/>
            <p:cNvSpPr/>
            <p:nvPr/>
          </p:nvSpPr>
          <p:spPr>
            <a:xfrm>
              <a:off x="6248400" y="3027998"/>
              <a:ext cx="5410200" cy="1313498"/>
            </a:xfrm>
            <a:prstGeom prst="roundRect">
              <a:avLst>
                <a:gd name="adj" fmla="val 725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376797" y="3179921"/>
              <a:ext cx="4676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2. 释放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376035" y="3441859"/>
              <a:ext cx="2600198" cy="828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P(mutex);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空缓冲入链尾;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V(mutex);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V(buf_num);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空缓冲数加 1</a:t>
              </a:r>
            </a:p>
          </p:txBody>
        </p:sp>
      </p:grpSp>
      <p:grpSp>
        <p:nvGrpSpPr>
          <p:cNvPr id="86" name="c2-callout-3"/>
          <p:cNvGrpSpPr/>
          <p:nvPr/>
        </p:nvGrpSpPr>
        <p:grpSpPr>
          <a:xfrm>
            <a:off x="6248400" y="4531995"/>
            <a:ext cx="5410200" cy="1059180"/>
            <a:chOff x="6248400" y="4531995"/>
            <a:chExt cx="5410200" cy="1059180"/>
          </a:xfrm>
        </p:grpSpPr>
        <p:sp>
          <p:nvSpPr>
            <p:cNvPr id="80" name="Rectangle 80"/>
            <p:cNvSpPr/>
            <p:nvPr/>
          </p:nvSpPr>
          <p:spPr>
            <a:xfrm>
              <a:off x="6248400" y="4531995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6441129" y="4957881"/>
              <a:ext cx="224134" cy="192560"/>
              <a:chOff x="6441129" y="4957881"/>
              <a:chExt cx="224134" cy="19256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6553200" y="50282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6441129" y="49578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6553200" y="51060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85" name="TextBox 85"/>
            <p:cNvSpPr txBox="1"/>
            <p:nvPr/>
          </p:nvSpPr>
          <p:spPr>
            <a:xfrm>
              <a:off x="6755130" y="4680585"/>
              <a:ext cx="45015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易错：必须先 P(buf_num) 再 P(mutex)。反过来时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若没有空缓冲，进程拿着 mutex 睡眠，归还缓冲的进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程进不了临界区，双方死锁。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输入设备的缓冲：中断方面填缓冲，进程方面取缓冲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flow-1"/>
          <p:cNvGrpSpPr/>
          <p:nvPr/>
        </p:nvGrpSpPr>
        <p:grpSpPr>
          <a:xfrm>
            <a:off x="666750" y="1781175"/>
            <a:ext cx="5143500" cy="629602"/>
            <a:chOff x="666750" y="1781175"/>
            <a:chExt cx="5143500" cy="629602"/>
          </a:xfrm>
        </p:grpSpPr>
        <p:sp>
          <p:nvSpPr>
            <p:cNvPr id="7" name="Freeform 7"/>
            <p:cNvSpPr/>
            <p:nvPr/>
          </p:nvSpPr>
          <p:spPr>
            <a:xfrm>
              <a:off x="2203132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365058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4007168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66750" y="1876425"/>
              <a:ext cx="1536382" cy="438150"/>
            </a:xfrm>
            <a:custGeom>
              <a:avLst/>
              <a:gdLst/>
              <a:ahLst/>
              <a:cxnLst/>
              <a:rect l="l" t="t" r="r" b="b"/>
              <a:pathLst>
                <a:path w="1536382" h="438150">
                  <a:moveTo>
                    <a:pt x="133350" y="0"/>
                  </a:moveTo>
                  <a:lnTo>
                    <a:pt x="1536382" y="0"/>
                  </a:lnTo>
                  <a:lnTo>
                    <a:pt x="140303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69832" y="178117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73868" y="187642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84313" y="2006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输入设备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4343" y="1896904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链：缓冲 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 → 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0478" y="2006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2857500"/>
            <a:ext cx="5410200" cy="2797492"/>
            <a:chOff x="533400" y="2857500"/>
            <a:chExt cx="5410200" cy="2797492"/>
          </a:xfrm>
        </p:grpSpPr>
        <p:sp>
          <p:nvSpPr>
            <p:cNvPr id="18" name="Rectangle 18"/>
            <p:cNvSpPr/>
            <p:nvPr/>
          </p:nvSpPr>
          <p:spPr>
            <a:xfrm>
              <a:off x="533400" y="2857500"/>
              <a:ext cx="5410200" cy="2797492"/>
            </a:xfrm>
            <a:prstGeom prst="roundRect">
              <a:avLst>
                <a:gd name="adj" fmla="val 34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0094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进程方面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0273" y="3273266"/>
              <a:ext cx="3532378" cy="23153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io 链空 then begin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not 设备忙 then begin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申请空缓冲;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启动设备;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end;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等待;           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等中断方面唤醒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由 io 链取一缓冲;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信息 ⇒ 进程空间;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释放空缓冲;</a:t>
              </a:r>
            </a:p>
          </p:txBody>
        </p:sp>
      </p:grpSp>
      <p:grpSp>
        <p:nvGrpSpPr>
          <p:cNvPr id="25" name="c2-code-1"/>
          <p:cNvGrpSpPr/>
          <p:nvPr/>
        </p:nvGrpSpPr>
        <p:grpSpPr>
          <a:xfrm>
            <a:off x="6248400" y="1524000"/>
            <a:ext cx="5410200" cy="1719262"/>
            <a:chOff x="6248400" y="1524000"/>
            <a:chExt cx="5410200" cy="1719262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76797" y="1675924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中断方面（设备填满一个缓冲时）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76035" y="1937861"/>
              <a:ext cx="306247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缓冲入 io 链;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有等待进程 then 唤醒;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not 传输完毕 then begin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申请空缓冲;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启动设备;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接着输入下一块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37" name="c2-card-2"/>
          <p:cNvGrpSpPr/>
          <p:nvPr/>
        </p:nvGrpSpPr>
        <p:grpSpPr>
          <a:xfrm>
            <a:off x="6248400" y="3433762"/>
            <a:ext cx="5410200" cy="2854642"/>
            <a:chOff x="6248400" y="3433762"/>
            <a:chExt cx="5410200" cy="2854642"/>
          </a:xfrm>
        </p:grpSpPr>
        <p:sp>
          <p:nvSpPr>
            <p:cNvPr id="26" name="Rectangle 26"/>
            <p:cNvSpPr/>
            <p:nvPr/>
          </p:nvSpPr>
          <p:spPr>
            <a:xfrm>
              <a:off x="6248400" y="3433762"/>
              <a:ext cx="5410200" cy="2854642"/>
            </a:xfrm>
            <a:prstGeom prst="roundRect">
              <a:avLst>
                <a:gd name="adj" fmla="val 46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3567112"/>
              <a:ext cx="47625" cy="2587942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364331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65557" y="36790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两方面怎样配合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501765" y="408336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59880" y="4020502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进程发现 io 链空：设备空闲就申请空缓冲、启动设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备，然后等待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501765" y="470439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59880" y="4641532"/>
              <a:ext cx="4482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设备每填满一个缓冲就中断，中断方面把它挂上 io 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并唤醒进程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6501765" y="5325428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659880" y="5262562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输入还没结束，中断方面再申请空缓冲，让设备继续工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89573" y="5880259"/>
              <a:ext cx="4398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设备可以一直往 io 链里预先读，进程来取时往往不用等。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输出设备的缓冲：进程方面写缓冲，中断方面送设备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flow-1"/>
          <p:cNvGrpSpPr/>
          <p:nvPr/>
        </p:nvGrpSpPr>
        <p:grpSpPr>
          <a:xfrm>
            <a:off x="666750" y="1781175"/>
            <a:ext cx="4493895" cy="629602"/>
            <a:chOff x="666750" y="1781175"/>
            <a:chExt cx="4493895" cy="629602"/>
          </a:xfrm>
        </p:grpSpPr>
        <p:sp>
          <p:nvSpPr>
            <p:cNvPr id="7" name="Freeform 7"/>
            <p:cNvSpPr/>
            <p:nvPr/>
          </p:nvSpPr>
          <p:spPr>
            <a:xfrm>
              <a:off x="1986915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48840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73780" y="2095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735705" y="20431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1876425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253615" y="1781175"/>
              <a:ext cx="1320165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840480" y="1876425"/>
              <a:ext cx="1320165" cy="438150"/>
            </a:xfrm>
            <a:custGeom>
              <a:avLst/>
              <a:gdLst/>
              <a:ahLst/>
              <a:cxnLst/>
              <a:rect l="l" t="t" r="r" b="b"/>
              <a:pathLst>
                <a:path w="1320165" h="438150">
                  <a:moveTo>
                    <a:pt x="133350" y="0"/>
                  </a:moveTo>
                  <a:lnTo>
                    <a:pt x="1320165" y="0"/>
                  </a:lnTo>
                  <a:lnTo>
                    <a:pt x="1186815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5728" y="2006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进程空间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88628" y="1896904"/>
              <a:ext cx="85013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io 链：缓冲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→ 缓冲 → 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49458" y="20064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输出设备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2857500"/>
            <a:ext cx="4760595" cy="1719262"/>
            <a:chOff x="533400" y="2857500"/>
            <a:chExt cx="4760595" cy="1719262"/>
          </a:xfrm>
        </p:grpSpPr>
        <p:sp>
          <p:nvSpPr>
            <p:cNvPr id="18" name="Rectangle 18"/>
            <p:cNvSpPr/>
            <p:nvPr/>
          </p:nvSpPr>
          <p:spPr>
            <a:xfrm>
              <a:off x="533400" y="2857500"/>
              <a:ext cx="4760595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0094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进程方面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035" y="3271361"/>
              <a:ext cx="3204718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repeat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申请一空缓冲;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信息 ⇒ 缓冲;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设备忙 then 缓冲入 io 链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else 启动设备;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直接输出这个缓冲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until 传输完;</a:t>
              </a:r>
            </a:p>
          </p:txBody>
        </p:sp>
      </p:grpSp>
      <p:grpSp>
        <p:nvGrpSpPr>
          <p:cNvPr id="25" name="c1-code-3"/>
          <p:cNvGrpSpPr/>
          <p:nvPr/>
        </p:nvGrpSpPr>
        <p:grpSpPr>
          <a:xfrm>
            <a:off x="533400" y="4767262"/>
            <a:ext cx="4760595" cy="1516380"/>
            <a:chOff x="533400" y="4767262"/>
            <a:chExt cx="4760595" cy="1516380"/>
          </a:xfrm>
        </p:grpSpPr>
        <p:sp>
          <p:nvSpPr>
            <p:cNvPr id="22" name="Rectangle 22"/>
            <p:cNvSpPr/>
            <p:nvPr/>
          </p:nvSpPr>
          <p:spPr>
            <a:xfrm>
              <a:off x="533400" y="4767262"/>
              <a:ext cx="476059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61797" y="4919186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中断方面（设备输出完一个缓冲时）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1035" y="5182076"/>
              <a:ext cx="304825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释放空缓冲;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刚输出完的缓冲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not io 链空 then begin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取一缓冲;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启动设备;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593080" y="1524000"/>
            <a:ext cx="6065520" cy="3437097"/>
            <a:chOff x="5593080" y="1524000"/>
            <a:chExt cx="6065520" cy="3437097"/>
          </a:xfrm>
        </p:grpSpPr>
        <p:sp>
          <p:nvSpPr>
            <p:cNvPr id="26" name="Rectangle 26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0772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事件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087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95182" y="1659731"/>
              <a:ext cx="39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io 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706618" y="2108359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进程写块 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282053" y="2108359"/>
              <a:ext cx="2063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设备不忙，启动设备输出 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32923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598795" y="2421255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706618" y="2556986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进程写块 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82053" y="2556986"/>
              <a:ext cx="1451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设备忙，B 入 io 链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32923" y="2556986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598795" y="286607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06618" y="3005614"/>
              <a:ext cx="8647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进程写块 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82053" y="3005614"/>
              <a:ext cx="23130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设备忙，C 入 io 链；进程写完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32923" y="3005614"/>
              <a:ext cx="3855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B、C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98795" y="331470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598795" y="331946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706618" y="3454241"/>
              <a:ext cx="1209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中断：A 输出完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82053" y="3454241"/>
              <a:ext cx="1873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A；取 B，启动设备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32923" y="3454241"/>
              <a:ext cx="1130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98795" y="376332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06618" y="3903821"/>
              <a:ext cx="1209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中断：B 输出完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82053" y="3903821"/>
              <a:ext cx="1873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B；取 C，启动设备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32923" y="390382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598795" y="421195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598795" y="4216718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706618" y="4352449"/>
              <a:ext cx="1209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中断：C 输出完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82053" y="4352449"/>
              <a:ext cx="1744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 C；io 链空，停止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32923" y="435244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16946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320338" y="1524000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593080" y="4741069"/>
              <a:ext cx="3351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例：进程连续输出 3 块，设写缓冲比打印机输出快</a:t>
              </a:r>
            </a:p>
          </p:txBody>
        </p:sp>
      </p:grpSp>
      <p:grpSp>
        <p:nvGrpSpPr>
          <p:cNvPr id="67" name="c2-callout-2"/>
          <p:cNvGrpSpPr/>
          <p:nvPr/>
        </p:nvGrpSpPr>
        <p:grpSpPr>
          <a:xfrm>
            <a:off x="5598795" y="5107305"/>
            <a:ext cx="6059805" cy="1059180"/>
            <a:chOff x="5598795" y="5107305"/>
            <a:chExt cx="6059805" cy="1059180"/>
          </a:xfrm>
        </p:grpSpPr>
        <p:sp>
          <p:nvSpPr>
            <p:cNvPr id="61" name="Rectangle 61"/>
            <p:cNvSpPr/>
            <p:nvPr/>
          </p:nvSpPr>
          <p:spPr>
            <a:xfrm>
              <a:off x="5598795" y="5107305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5803583" y="5536883"/>
              <a:ext cx="200026" cy="200025"/>
              <a:chOff x="5803583" y="5536883"/>
              <a:chExt cx="200026" cy="200025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803583" y="553688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843321" y="558133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5878037" y="569245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105525" y="5255895"/>
              <a:ext cx="51587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和输入缓冲比：输入时进程可能要等设备送来数据，由中断方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面唤醒；输出时进程写进缓冲就继续执行，只有申请不到空缓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冲时才等待。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块设备（磁带、磁盘）的缓冲：缓冲区带头部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410190" cy="597598"/>
            <a:chOff x="525399" y="1550194"/>
            <a:chExt cx="10410190" cy="597598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410190" cy="597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80"/>
                </a:lnSpc>
              </a:pPr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输入输出设备共用一条 io 链；每个块型缓冲区由缓冲区头和缓冲区体组成，头部记录设备块号、IO 标识（输入还是输</a:t>
              </a:r>
              <a:br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出）和等待进程。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2257425"/>
            <a:ext cx="3505200" cy="2443162"/>
            <a:chOff x="533400" y="2257425"/>
            <a:chExt cx="3505200" cy="2443162"/>
          </a:xfrm>
        </p:grpSpPr>
        <p:sp>
          <p:nvSpPr>
            <p:cNvPr id="9" name="Rectangle 9"/>
            <p:cNvSpPr/>
            <p:nvPr/>
          </p:nvSpPr>
          <p:spPr>
            <a:xfrm>
              <a:off x="533400" y="2257425"/>
              <a:ext cx="3505200" cy="2443162"/>
            </a:xfrm>
            <a:prstGeom prst="roundRect">
              <a:avLst>
                <a:gd name="adj" fmla="val 38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4093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进程方面（输入）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9892" y="2674620"/>
              <a:ext cx="1453896" cy="1970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申请空缓冲;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填写头部;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设备工作 then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入 io 链尾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else 启动设备;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等待;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信息 ⇒ 进程;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释放缓冲;</a:t>
              </a:r>
            </a:p>
          </p:txBody>
        </p:sp>
      </p:grpSp>
      <p:grpSp>
        <p:nvGrpSpPr>
          <p:cNvPr id="23" name="c1-cells-2"/>
          <p:cNvGrpSpPr/>
          <p:nvPr/>
        </p:nvGrpSpPr>
        <p:grpSpPr>
          <a:xfrm>
            <a:off x="528066" y="4891088"/>
            <a:ext cx="2615184" cy="838200"/>
            <a:chOff x="528066" y="4891088"/>
            <a:chExt cx="2615184" cy="838200"/>
          </a:xfrm>
        </p:grpSpPr>
        <p:sp>
          <p:nvSpPr>
            <p:cNvPr id="13" name="TextBox 13"/>
            <p:cNvSpPr txBox="1"/>
            <p:nvPr/>
          </p:nvSpPr>
          <p:spPr>
            <a:xfrm>
              <a:off x="528066" y="50358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头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0100" y="4891088"/>
              <a:ext cx="7810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2589" y="50358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设备块号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581150" y="4891088"/>
              <a:ext cx="7810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19137" y="5035868"/>
              <a:ext cx="505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IO 标识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62200" y="4891088"/>
              <a:ext cx="7810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64689" y="50358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等待进程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066" y="545496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体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5310188"/>
              <a:ext cx="23431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683639" y="545496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一块数据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4343400" y="2257425"/>
            <a:ext cx="3505200" cy="1956435"/>
            <a:chOff x="4343400" y="2257425"/>
            <a:chExt cx="3505200" cy="1956435"/>
          </a:xfrm>
        </p:grpSpPr>
        <p:sp>
          <p:nvSpPr>
            <p:cNvPr id="24" name="Rectangle 24"/>
            <p:cNvSpPr/>
            <p:nvPr/>
          </p:nvSpPr>
          <p:spPr>
            <a:xfrm>
              <a:off x="4343400" y="2257425"/>
              <a:ext cx="3505200" cy="1956435"/>
            </a:xfrm>
            <a:prstGeom prst="roundRect">
              <a:avLst>
                <a:gd name="adj" fmla="val 486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71797" y="2409349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进程方面（输出）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69892" y="2674620"/>
              <a:ext cx="1453896" cy="1483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申请空缓冲;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填写头部;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信息 ⇒ 缓冲;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设备工作 then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入 io 链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else 启动设备;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4343400" y="4404360"/>
            <a:ext cx="3505200" cy="782955"/>
            <a:chOff x="4343400" y="4404360"/>
            <a:chExt cx="3505200" cy="782955"/>
          </a:xfrm>
        </p:grpSpPr>
        <p:sp>
          <p:nvSpPr>
            <p:cNvPr id="28" name="Rectangle 28"/>
            <p:cNvSpPr/>
            <p:nvPr/>
          </p:nvSpPr>
          <p:spPr>
            <a:xfrm>
              <a:off x="4343400" y="4404360"/>
              <a:ext cx="3505200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4548188" y="4695825"/>
              <a:ext cx="200026" cy="200026"/>
              <a:chOff x="4548188" y="4695825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548188" y="46958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48200" y="4762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37088" y="47958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4850130" y="4552950"/>
              <a:ext cx="2682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输出时进程不等待，缓冲区由中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断方面释放。</a:t>
              </a:r>
            </a:p>
          </p:txBody>
        </p:sp>
      </p:grpSp>
      <p:grpSp>
        <p:nvGrpSpPr>
          <p:cNvPr id="38" name="c3-code-1"/>
          <p:cNvGrpSpPr/>
          <p:nvPr/>
        </p:nvGrpSpPr>
        <p:grpSpPr>
          <a:xfrm>
            <a:off x="8153400" y="2257425"/>
            <a:ext cx="3505200" cy="2443162"/>
            <a:chOff x="8153400" y="2257425"/>
            <a:chExt cx="3505200" cy="2443162"/>
          </a:xfrm>
        </p:grpSpPr>
        <p:sp>
          <p:nvSpPr>
            <p:cNvPr id="35" name="Rectangle 35"/>
            <p:cNvSpPr/>
            <p:nvPr/>
          </p:nvSpPr>
          <p:spPr>
            <a:xfrm>
              <a:off x="8153400" y="2257425"/>
              <a:ext cx="3505200" cy="2443162"/>
            </a:xfrm>
            <a:prstGeom prst="roundRect">
              <a:avLst>
                <a:gd name="adj" fmla="val 38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281797" y="24093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中断方面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79892" y="2674620"/>
              <a:ext cx="1771078" cy="1970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本次是输入 then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唤醒等待者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else 释放空缓冲;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not io 链空 then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begin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取一缓冲;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启动设备;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45" name="c3-callout-2"/>
          <p:cNvGrpSpPr/>
          <p:nvPr/>
        </p:nvGrpSpPr>
        <p:grpSpPr>
          <a:xfrm>
            <a:off x="8153400" y="4891088"/>
            <a:ext cx="3505200" cy="1059180"/>
            <a:chOff x="8153400" y="4891088"/>
            <a:chExt cx="3505200" cy="1059180"/>
          </a:xfrm>
        </p:grpSpPr>
        <p:sp>
          <p:nvSpPr>
            <p:cNvPr id="39" name="Rectangle 39"/>
            <p:cNvSpPr/>
            <p:nvPr/>
          </p:nvSpPr>
          <p:spPr>
            <a:xfrm>
              <a:off x="8153400" y="4891088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8358188" y="5320665"/>
              <a:ext cx="200026" cy="200025"/>
              <a:chOff x="8358188" y="5320665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358188" y="532066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97926" y="536511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32642" y="547624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660130" y="5039678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中断方面靠头部的 IO 标识区分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输入和输出，靠等待进程字段知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道唤醒谁。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32030" cy="909257"/>
            <a:chOff x="520446" y="342900"/>
            <a:chExt cx="603203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320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UNIX 的两个公共缓冲池：字符型与块型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886902"/>
            <a:chOff x="533400" y="1524000"/>
            <a:chExt cx="5410200" cy="1886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886902"/>
            </a:xfrm>
            <a:prstGeom prst="roundRect">
              <a:avLst>
                <a:gd name="adj" fmla="val 70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2020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058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字符型缓冲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7240" y="2143125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33831" y="2082641"/>
              <a:ext cx="47839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 个缓冲区，每个长 8 字节（6 个字符 + 2 字节指针）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400776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组成公共缓冲池，所有字符型设备共用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7240" y="27784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33831" y="2717959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缓冲区或者在空闲链 cfreelist 上，或者属于某个字符设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备（如 tty、lp）</a:t>
              </a:r>
            </a:p>
          </p:txBody>
        </p:sp>
      </p:grpSp>
      <p:grpSp>
        <p:nvGrpSpPr>
          <p:cNvPr id="21" name="c1-code-2"/>
          <p:cNvGrpSpPr/>
          <p:nvPr/>
        </p:nvGrpSpPr>
        <p:grpSpPr>
          <a:xfrm>
            <a:off x="533400" y="3590925"/>
            <a:ext cx="5410200" cy="2397442"/>
            <a:chOff x="533400" y="3590925"/>
            <a:chExt cx="5410200" cy="2397442"/>
          </a:xfrm>
        </p:grpSpPr>
        <p:sp>
          <p:nvSpPr>
            <p:cNvPr id="18" name="Rectangle 18"/>
            <p:cNvSpPr/>
            <p:nvPr/>
          </p:nvSpPr>
          <p:spPr>
            <a:xfrm>
              <a:off x="533400" y="3590925"/>
              <a:ext cx="5410200" cy="2397442"/>
            </a:xfrm>
            <a:prstGeom prst="roundRect">
              <a:avLst>
                <a:gd name="adj" fmla="val 397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1797" y="374284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1416" y="4004310"/>
              <a:ext cx="3277743" cy="19112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cblock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cblock *c_next;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info[6];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cblock *cfreelist;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空闲字符块</a:t>
              </a:r>
              <a:br/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clist {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每个字符设备一个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c_cc;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字符数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c_cf;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指向第一块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c_cl;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指向最后一块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43" name="c2-cells-1"/>
          <p:cNvGrpSpPr/>
          <p:nvPr/>
        </p:nvGrpSpPr>
        <p:grpSpPr>
          <a:xfrm>
            <a:off x="6243066" y="1568291"/>
            <a:ext cx="4030599" cy="635794"/>
            <a:chOff x="6243066" y="1568291"/>
            <a:chExt cx="4030599" cy="635794"/>
          </a:xfrm>
        </p:grpSpPr>
        <p:sp>
          <p:nvSpPr>
            <p:cNvPr id="22" name="TextBox 22"/>
            <p:cNvSpPr txBox="1"/>
            <p:nvPr/>
          </p:nvSpPr>
          <p:spPr>
            <a:xfrm>
              <a:off x="6243066" y="1941195"/>
              <a:ext cx="344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clist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97028" y="1809750"/>
              <a:ext cx="7667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799494" y="194119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个字符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463790" y="180975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539990" y="197834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568565" y="200691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911465" y="19640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997190" y="1809750"/>
              <a:ext cx="7667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99657" y="194119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个字符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763952" y="180975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840152" y="1978342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68728" y="2006918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9211628" y="1964055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297352" y="1809750"/>
              <a:ext cx="766762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99819" y="1941195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个字符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064115" y="1809750"/>
              <a:ext cx="209550" cy="394335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130809" y="1949768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47671" y="1568291"/>
              <a:ext cx="26452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c_cf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041832" y="171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62485" y="1568291"/>
              <a:ext cx="2355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c_cl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42158" y="171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5" name="c2-text-2"/>
          <p:cNvGrpSpPr/>
          <p:nvPr/>
        </p:nvGrpSpPr>
        <p:grpSpPr>
          <a:xfrm>
            <a:off x="6242304" y="2404110"/>
            <a:ext cx="4317340" cy="234696"/>
            <a:chOff x="6242304" y="2404110"/>
            <a:chExt cx="4317340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6242304" y="2404110"/>
              <a:ext cx="4317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例：某终端缓冲了 14 个字符，占 3 个 cblock，c_cc = 14。</a:t>
              </a:r>
            </a:p>
          </p:txBody>
        </p:sp>
      </p:grpSp>
      <p:grpSp>
        <p:nvGrpSpPr>
          <p:cNvPr id="59" name="c2-card-3"/>
          <p:cNvGrpSpPr/>
          <p:nvPr/>
        </p:nvGrpSpPr>
        <p:grpSpPr>
          <a:xfrm>
            <a:off x="6248400" y="2771775"/>
            <a:ext cx="5410200" cy="3216592"/>
            <a:chOff x="6248400" y="2771775"/>
            <a:chExt cx="5410200" cy="3216592"/>
          </a:xfrm>
        </p:grpSpPr>
        <p:sp>
          <p:nvSpPr>
            <p:cNvPr id="46" name="Rectangle 46"/>
            <p:cNvSpPr/>
            <p:nvPr/>
          </p:nvSpPr>
          <p:spPr>
            <a:xfrm>
              <a:off x="6248400" y="2771775"/>
              <a:ext cx="5410200" cy="3216592"/>
            </a:xfrm>
            <a:prstGeom prst="roundRect">
              <a:avLst>
                <a:gd name="adj" fmla="val 41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57925" y="2905125"/>
              <a:ext cx="47625" cy="2949892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484620" y="296989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68059" y="30041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块型缓冲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92240" y="338994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8831" y="3330416"/>
              <a:ext cx="2623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 个缓冲区，每个长 514 字节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6492240" y="370808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48831" y="3647599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组成公共缓冲池，所有块型设备共用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492240" y="40262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48831" y="3965734"/>
              <a:ext cx="447789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缓冲区可以在 bfreelist（av 链）上，也可以在 devtab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 链）上，或同时在两条链上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492240" y="461486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648831" y="4555331"/>
              <a:ext cx="421640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池中保留着预先读入的块（breada）和延迟写出的块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（bdwrite）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78524" y="5140642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进程再读同一块时，可能直接在缓冲池里找到，不必访问磁盘。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29776" cy="909257"/>
            <a:chOff x="520446" y="342900"/>
            <a:chExt cx="6629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29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块缓冲区头 struct buf 与标志位 b_flags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3529965"/>
            <a:chOff x="533400" y="1524000"/>
            <a:chExt cx="6059805" cy="3529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3529965"/>
            </a:xfrm>
            <a:prstGeom prst="roundRect">
              <a:avLst>
                <a:gd name="adj" fmla="val 269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缓冲区头（所有已安装的磁盘共用）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654" y="1939290"/>
              <a:ext cx="4660392" cy="30455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02"/>
                </a:lnSpc>
              </a:pP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{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b_flags;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BUSY、ASYNC、DELWRI、DONE…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*b_forw;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b 链，由 devtab 引导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*b_back;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*av_forw;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在空闲链 av 上的位置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*av_back;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b_dev;  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设备号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b_wcount;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传输字数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*b_addr;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缓冲区地址（低位）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*b_xmem; 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缓冲区地址（高位）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*b_blkno;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设备上的块号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b_error;</a:t>
              </a:r>
              <a:br/>
              <a:r>
                <a:rPr lang="zh-CN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20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*b_resid;         </a:t>
              </a:r>
              <a:r>
                <a:rPr lang="zh-CN" sz="120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出错时未传完的字数</a:t>
              </a:r>
              <a:br/>
              <a:r>
                <a:rPr lang="en-US" sz="120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 buf[NBUF];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5244465"/>
            <a:ext cx="6059805" cy="1059180"/>
            <a:chOff x="533400" y="5244465"/>
            <a:chExt cx="6059805" cy="1059180"/>
          </a:xfrm>
        </p:grpSpPr>
        <p:sp>
          <p:nvSpPr>
            <p:cNvPr id="11" name="Rectangle 11"/>
            <p:cNvSpPr/>
            <p:nvPr/>
          </p:nvSpPr>
          <p:spPr>
            <a:xfrm>
              <a:off x="533400" y="5244465"/>
              <a:ext cx="6059805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674043"/>
              <a:ext cx="200026" cy="200025"/>
              <a:chOff x="738188" y="5674043"/>
              <a:chExt cx="200026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67404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7926" y="571849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12642" y="582961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130" y="5393055"/>
              <a:ext cx="50825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&amp; 检查某位，|= 置位，&amp;= ~ 清位。例：bread 读完返回时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0、1、3 位（READ、DONE、BUSY）为 1，b_flags = 1 +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 + 8 = 11。</a:t>
              </a:r>
            </a:p>
          </p:txBody>
        </p:sp>
      </p:grpSp>
      <p:grpSp>
        <p:nvGrpSpPr>
          <p:cNvPr id="61" name="c2-table-1"/>
          <p:cNvGrpSpPr/>
          <p:nvPr/>
        </p:nvGrpSpPr>
        <p:grpSpPr>
          <a:xfrm>
            <a:off x="6892290" y="1524000"/>
            <a:ext cx="4766310" cy="4561999"/>
            <a:chOff x="6892290" y="1524000"/>
            <a:chExt cx="4766310" cy="4561999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67309" y="16597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2794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4630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03710" y="22217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28751" y="2108359"/>
              <a:ext cx="6875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B_READ /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B_WRITE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376" y="2221706"/>
              <a:ext cx="16154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 1 为读，为 0 是写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898005" y="26431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898005" y="264795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03710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28751" y="2783681"/>
              <a:ext cx="6501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B_DONE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00376" y="2783681"/>
              <a:ext cx="2254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已完成，缓冲区数据有效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09276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03710" y="323230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28751" y="3232309"/>
              <a:ext cx="75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B_ERROR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00376" y="3232309"/>
              <a:ext cx="7035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出错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98005" y="354139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898005" y="3546158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103710" y="368093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28751" y="3680936"/>
              <a:ext cx="61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B_BUSY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00376" y="3680936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缓冲区正被使用，不在 av 链上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898005" y="39900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03710" y="413051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28751" y="4130516"/>
              <a:ext cx="850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B_WANTED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00376" y="4130516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有进程在等这个缓冲区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98005" y="443865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8005" y="4443412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03710" y="457914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28751" y="4579144"/>
              <a:ext cx="750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B_RELOC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100376" y="45791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本章不涉及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98005" y="488727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3710" y="502777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528751" y="5027771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B_ASYNC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100376" y="5027771"/>
              <a:ext cx="17920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异步写，不等 I/O 完成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898005" y="53368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98005" y="5341620"/>
              <a:ext cx="476059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103710" y="547639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528751" y="5476399"/>
              <a:ext cx="804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B_DELWRI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00376" y="5476399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延迟写，被挪作他用前要先写出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98005" y="1524000"/>
              <a:ext cx="4760595" cy="42662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416165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87790" y="1524000"/>
              <a:ext cx="9525" cy="42662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92290" y="5865971"/>
              <a:ext cx="2966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b_flags 共 16 位，表中没列出的位本章不用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50618" cy="909257"/>
            <a:chOff x="520446" y="342900"/>
            <a:chExt cx="83506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506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devtab 把缓冲区串成三条链：b 链、I/O 队列、av 链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328160" cy="2530792"/>
            <a:chOff x="533400" y="1524000"/>
            <a:chExt cx="4328160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328160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197606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buffers[NBUF][514];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块型缓冲区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bfreelist;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av 链的链头</a:t>
              </a:r>
              <a:br/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devtab {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每个设备一个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d_active;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忙标志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d_errcnt;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出错次数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*b_forw;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本设备第一块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*b_back;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本设备最后一块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*d_actf;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I/O 队列头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0E7C86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buf *d_actl;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I/O 队列尾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19" name="c1-kv-2"/>
          <p:cNvGrpSpPr/>
          <p:nvPr/>
        </p:nvGrpSpPr>
        <p:grpSpPr>
          <a:xfrm>
            <a:off x="525780" y="4270058"/>
            <a:ext cx="4335780" cy="1173480"/>
            <a:chOff x="525780" y="4270058"/>
            <a:chExt cx="4335780" cy="1173480"/>
          </a:xfrm>
        </p:grpSpPr>
        <p:sp>
          <p:nvSpPr>
            <p:cNvPr id="11" name="TextBox 11"/>
            <p:cNvSpPr txBox="1"/>
            <p:nvPr/>
          </p:nvSpPr>
          <p:spPr>
            <a:xfrm>
              <a:off x="525780" y="4270058"/>
              <a:ext cx="3973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 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65910" y="427005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已分给该设备的缓冲区，按块号查找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590098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5780" y="4710112"/>
              <a:ext cx="844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I/O 队列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5910" y="4710112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正在等该设备读写的缓冲区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5030152"/>
              <a:ext cx="432816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5780" y="5150168"/>
              <a:ext cx="514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av 链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65910" y="5150168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当前空闲、可以重新分配的缓冲区</a:t>
              </a:r>
            </a:p>
          </p:txBody>
        </p:sp>
      </p:grpSp>
      <p:grpSp>
        <p:nvGrpSpPr>
          <p:cNvPr id="109" name="c2-cells-1"/>
          <p:cNvGrpSpPr/>
          <p:nvPr/>
        </p:nvGrpSpPr>
        <p:grpSpPr>
          <a:xfrm>
            <a:off x="5160264" y="1571149"/>
            <a:ext cx="6174486" cy="2276951"/>
            <a:chOff x="5160264" y="1571149"/>
            <a:chExt cx="6174486" cy="2276951"/>
          </a:xfrm>
        </p:grpSpPr>
        <p:sp>
          <p:nvSpPr>
            <p:cNvPr id="20" name="TextBox 20"/>
            <p:cNvSpPr txBox="1"/>
            <p:nvPr/>
          </p:nvSpPr>
          <p:spPr>
            <a:xfrm>
              <a:off x="5160264" y="196405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b 链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908358" y="1828800"/>
              <a:ext cx="42386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021377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332220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408420" y="20097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6436995" y="20383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779895" y="19954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65620" y="1828800"/>
              <a:ext cx="42386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977687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89482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365682" y="20097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7394258" y="20383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737158" y="19954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822882" y="1828800"/>
              <a:ext cx="42386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934950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46745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322945" y="20097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351520" y="20383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694420" y="19954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780145" y="1828800"/>
              <a:ext cx="42386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892212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203055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279255" y="20097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9307830" y="20383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650730" y="19954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9736455" y="1828800"/>
              <a:ext cx="42386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849475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160318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0236518" y="20097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265092" y="20383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10607992" y="19954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693718" y="1828800"/>
              <a:ext cx="423862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806737" y="19640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1117580" y="18288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178149" y="197072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873395" y="1571149"/>
              <a:ext cx="4947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b_forw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608266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672607" y="157114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b_back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10868025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160264" y="2916555"/>
              <a:ext cx="6758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I/O 队列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908358" y="2781300"/>
              <a:ext cx="42386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021377" y="29165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332220" y="27813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6408420" y="29622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6436995" y="2990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779895" y="29479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865620" y="2781300"/>
              <a:ext cx="42386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77687" y="29165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289482" y="27813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350052" y="29232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887247" y="2523649"/>
              <a:ext cx="46703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d_actf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6082665" y="2686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60873" y="2523649"/>
              <a:ext cx="4324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d_actl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7038975" y="26860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160264" y="3564255"/>
              <a:ext cx="411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av 链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908358" y="3429000"/>
              <a:ext cx="424815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880123" y="3591878"/>
              <a:ext cx="48128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0B5F67"/>
                  </a:solidFill>
                  <a:latin typeface="+mn-lt"/>
                  <a:ea typeface="+mn-ea"/>
                  <a:cs typeface="+mn-cs"/>
                </a:rPr>
                <a:t>bfreelist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6333172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6409372" y="3609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79" name="Freeform 79"/>
            <p:cNvSpPr/>
            <p:nvPr/>
          </p:nvSpPr>
          <p:spPr>
            <a:xfrm>
              <a:off x="6437948" y="3638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0" name="Freeform 80"/>
            <p:cNvSpPr/>
            <p:nvPr/>
          </p:nvSpPr>
          <p:spPr>
            <a:xfrm>
              <a:off x="6780848" y="3595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66572" y="3429000"/>
              <a:ext cx="4248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992112" y="3564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7291388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84" name="Ellipse 84"/>
            <p:cNvSpPr/>
            <p:nvPr/>
          </p:nvSpPr>
          <p:spPr>
            <a:xfrm>
              <a:off x="7367588" y="3609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5" name="Freeform 85"/>
            <p:cNvSpPr/>
            <p:nvPr/>
          </p:nvSpPr>
          <p:spPr>
            <a:xfrm>
              <a:off x="7396162" y="3638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86" name="Freeform 86"/>
            <p:cNvSpPr/>
            <p:nvPr/>
          </p:nvSpPr>
          <p:spPr>
            <a:xfrm>
              <a:off x="7739062" y="3595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824788" y="3429000"/>
              <a:ext cx="42481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938760" y="35642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65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8250555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0" name="Ellipse 90"/>
            <p:cNvSpPr/>
            <p:nvPr/>
          </p:nvSpPr>
          <p:spPr>
            <a:xfrm>
              <a:off x="8326755" y="3609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1" name="Freeform 91"/>
            <p:cNvSpPr/>
            <p:nvPr/>
          </p:nvSpPr>
          <p:spPr>
            <a:xfrm>
              <a:off x="8355330" y="3638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2" name="Freeform 92"/>
            <p:cNvSpPr/>
            <p:nvPr/>
          </p:nvSpPr>
          <p:spPr>
            <a:xfrm>
              <a:off x="8698230" y="3595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783955" y="3429000"/>
              <a:ext cx="42481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896975" y="35642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9208770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96" name="Ellipse 96"/>
            <p:cNvSpPr/>
            <p:nvPr/>
          </p:nvSpPr>
          <p:spPr>
            <a:xfrm>
              <a:off x="9284970" y="3609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9313545" y="3638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98" name="Freeform 98"/>
            <p:cNvSpPr/>
            <p:nvPr/>
          </p:nvSpPr>
          <p:spPr>
            <a:xfrm>
              <a:off x="9656445" y="3595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9742170" y="3429000"/>
              <a:ext cx="424815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9855190" y="356425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68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10166985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02" name="Ellipse 102"/>
            <p:cNvSpPr/>
            <p:nvPr/>
          </p:nvSpPr>
          <p:spPr>
            <a:xfrm>
              <a:off x="10243185" y="3609975"/>
              <a:ext cx="57150" cy="57150"/>
            </a:xfrm>
            <a:prstGeom prst="ellipse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103" name="Freeform 103"/>
            <p:cNvSpPr/>
            <p:nvPr/>
          </p:nvSpPr>
          <p:spPr>
            <a:xfrm>
              <a:off x="10271760" y="36385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10614660" y="3595688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862"/>
                  </a:moveTo>
                  <a:lnTo>
                    <a:pt x="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10700385" y="3429000"/>
              <a:ext cx="424815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10825924" y="356425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1125200" y="3429000"/>
              <a:ext cx="209550" cy="419100"/>
            </a:xfrm>
            <a:prstGeom prst="rect">
              <a:avLst/>
            </a:prstGeom>
            <a:solidFill>
              <a:srgbClr val="E2F3F4"/>
            </a:solidFill>
            <a:ln w="15240">
              <a:solidFill>
                <a:srgbClr val="0E7C86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1185769" y="3570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</p:grpSp>
      <p:grpSp>
        <p:nvGrpSpPr>
          <p:cNvPr id="121" name="c2-card-2"/>
          <p:cNvGrpSpPr/>
          <p:nvPr/>
        </p:nvGrpSpPr>
        <p:grpSpPr>
          <a:xfrm>
            <a:off x="5166360" y="4038600"/>
            <a:ext cx="6492240" cy="2283142"/>
            <a:chOff x="5166360" y="4038600"/>
            <a:chExt cx="6492240" cy="2283142"/>
          </a:xfrm>
        </p:grpSpPr>
        <p:sp>
          <p:nvSpPr>
            <p:cNvPr id="110" name="Rectangle 110"/>
            <p:cNvSpPr/>
            <p:nvPr/>
          </p:nvSpPr>
          <p:spPr>
            <a:xfrm>
              <a:off x="5166360" y="4038600"/>
              <a:ext cx="6492240" cy="2283142"/>
            </a:xfrm>
            <a:prstGeom prst="roundRect">
              <a:avLst>
                <a:gd name="adj" fmla="val 584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5175885" y="4171950"/>
              <a:ext cx="47625" cy="201644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5414010" y="4248150"/>
              <a:ext cx="21707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5453980" y="4283869"/>
              <a:ext cx="2089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读图（原课件第 56 页的例子）</a:t>
              </a:r>
            </a:p>
          </p:txBody>
        </p:sp>
        <p:sp>
          <p:nvSpPr>
            <p:cNvPr id="114" name="Ellipse 114"/>
            <p:cNvSpPr/>
            <p:nvPr/>
          </p:nvSpPr>
          <p:spPr>
            <a:xfrm>
              <a:off x="5419725" y="46882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5577840" y="4625340"/>
              <a:ext cx="4916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18：在 b 链上但不在 av 链上，正被进程使用（BUSY）</a:t>
              </a:r>
            </a:p>
          </p:txBody>
        </p:sp>
        <p:sp>
          <p:nvSpPr>
            <p:cNvPr id="116" name="Ellipse 116"/>
            <p:cNvSpPr/>
            <p:nvPr/>
          </p:nvSpPr>
          <p:spPr>
            <a:xfrm>
              <a:off x="5419725" y="50234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5577840" y="4960620"/>
              <a:ext cx="35539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21、35（橙）：在 I/O 队列里等待读写</a:t>
              </a:r>
            </a:p>
          </p:txBody>
        </p:sp>
        <p:sp>
          <p:nvSpPr>
            <p:cNvPr id="118" name="Ellipse 118"/>
            <p:cNvSpPr/>
            <p:nvPr/>
          </p:nvSpPr>
          <p:spPr>
            <a:xfrm>
              <a:off x="5419725" y="53587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5577840" y="5295900"/>
              <a:ext cx="5568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65、83、68（绿）：数据有效又空闲，同时在 b 链和 av 链上，再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访问这几块可以直接命中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407533" y="5913596"/>
              <a:ext cx="41484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实际的三条链都是双向循环链，图中只画出一个方向。</a:t>
              </a:r>
            </a:p>
          </p:txBody>
        </p:sp>
      </p:grpSp>
      <p:grpSp>
        <p:nvGrpSpPr>
          <p:cNvPr id="12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2" name="TextBox 12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009490" cy="909257"/>
            <a:chOff x="520446" y="342900"/>
            <a:chExt cx="50094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0094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七个缓冲区操作，核心是 getblk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4544378" cy="4035742"/>
            <a:chOff x="533400" y="1524000"/>
            <a:chExt cx="4544378" cy="40357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201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59283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5889" y="207645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getblk(dev, blkno)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44699" y="20764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为给定的块分配一个缓冲区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6791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72678"/>
              <a:ext cx="454437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5889" y="2607945"/>
              <a:ext cx="1513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bread(dev, blkno)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44699" y="2501265"/>
              <a:ext cx="2298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读一块（必要时才真正读盘），返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回缓冲区指针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00609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5889" y="3139440"/>
              <a:ext cx="1516380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breada(dev, blkno,</a:t>
              </a:r>
              <a:br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rablkno)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44699" y="3139440"/>
              <a:ext cx="2145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读入第一块，同时启动第二块的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I/O（预读）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64331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648075"/>
              <a:ext cx="454437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5889" y="3776662"/>
              <a:ext cx="936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bwrite(bp)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44699" y="3776662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写出缓冲区，等待完成，然后释放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06812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5889" y="4201478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bawrite(bp)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44699" y="420147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启动写，释放缓冲区，不等完成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49294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497705"/>
              <a:ext cx="4544378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889" y="473202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bdwrite(bp)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44699" y="4625340"/>
              <a:ext cx="22981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释放缓冲区并做标记：被挪作他用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前必须先写出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513016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5889" y="5263515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brelse(bp)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44699" y="5263515"/>
              <a:ext cx="16288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释放缓冲区，不做 I/O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4544378" cy="403574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37448" y="1524000"/>
              <a:ext cx="9525" cy="403574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8" name="c2-table-1"/>
          <p:cNvGrpSpPr/>
          <p:nvPr/>
        </p:nvGrpSpPr>
        <p:grpSpPr>
          <a:xfrm>
            <a:off x="5377244" y="1524000"/>
            <a:ext cx="6281356" cy="3466719"/>
            <a:chOff x="5377244" y="1524000"/>
            <a:chExt cx="6281356" cy="3466719"/>
          </a:xfrm>
        </p:grpSpPr>
        <p:sp>
          <p:nvSpPr>
            <p:cNvPr id="36" name="Rectangle 36"/>
            <p:cNvSpPr/>
            <p:nvPr/>
          </p:nvSpPr>
          <p:spPr>
            <a:xfrm>
              <a:off x="5382578" y="1524000"/>
              <a:ext cx="6276022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713830" y="1652588"/>
              <a:ext cx="20997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getblk(dev, blkno) 的情况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33598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85066" y="207645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块在 b 链中，且当前空闲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246364" y="2076450"/>
              <a:ext cx="3136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 av 链摘除，标记 BUSY，返回缓冲区指针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82578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82578" y="2372678"/>
              <a:ext cx="6276022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485066" y="2501265"/>
              <a:ext cx="242506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块在 b 链中，但 BUSY（其他进程在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46364" y="2607945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 等它空闲，然后返回缓冲区指针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82578" y="300609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5066" y="3139440"/>
              <a:ext cx="2401443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 b 链中，av 链上取到延迟写的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6364" y="324612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写出该块，再分配下一个缓冲区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36433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82578" y="364807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85066" y="3776662"/>
              <a:ext cx="1737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 b 链中，av 链已空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46364" y="3776662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等待任意缓冲区变为空闲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40681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85066" y="4308158"/>
              <a:ext cx="23832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不在 b 链中，av 链上取到空缓冲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46364" y="4201478"/>
              <a:ext cx="301447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填写头部，从 av 链摘除，出旧 b 链，入新 b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链，返回指针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1524000"/>
              <a:ext cx="6276022" cy="318706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39112" y="1524000"/>
              <a:ext cx="9525" cy="31870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377244" y="4785360"/>
              <a:ext cx="4456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返回时参数 dev 为设备号，blkno 为设备块号，返回值是缓冲区指针 bp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5382578" y="5129212"/>
            <a:ext cx="6276022" cy="979170"/>
            <a:chOff x="5382578" y="5129212"/>
            <a:chExt cx="6276022" cy="979170"/>
          </a:xfrm>
        </p:grpSpPr>
        <p:sp>
          <p:nvSpPr>
            <p:cNvPr id="59" name="Rectangle 59"/>
            <p:cNvSpPr/>
            <p:nvPr/>
          </p:nvSpPr>
          <p:spPr>
            <a:xfrm>
              <a:off x="5382578" y="5129212"/>
              <a:ext cx="6276022" cy="979170"/>
            </a:xfrm>
            <a:prstGeom prst="roundRect">
              <a:avLst>
                <a:gd name="adj" fmla="val 13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92102" y="5262562"/>
              <a:ext cx="47625" cy="712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618798" y="532733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710238" y="536162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611558" y="5687854"/>
              <a:ext cx="48890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原课件最后一种情况写作“如新 b 链”，应为“入新 b 链”。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38768" cy="909257"/>
            <a:chOff x="520446" y="342900"/>
            <a:chExt cx="673876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3876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brelse、bread、breada：释放、读和预读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505200" cy="2153602"/>
            <a:chOff x="533400" y="1524000"/>
            <a:chExt cx="3505200" cy="21536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153602"/>
            </a:xfrm>
            <a:prstGeom prst="roundRect">
              <a:avLst>
                <a:gd name="adj" fmla="val 442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371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brelse(bp)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0082" y="1940481"/>
              <a:ext cx="3124454" cy="16740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if ((bp-&gt;b_flags &amp; B_WANTED) != 0)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唤醒等待者;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else begin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if bfreelist 上有等待者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    唤醒;</a:t>
              </a:r>
              <a:br/>
              <a:r>
                <a:rPr lang="zh-CN" sz="131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bp 入 av 链;</a:t>
              </a:r>
              <a:br/>
              <a:r>
                <a:rPr lang="en-US" sz="131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end;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868102"/>
            <a:ext cx="3505200" cy="1835468"/>
            <a:chOff x="533400" y="3868102"/>
            <a:chExt cx="3505200" cy="1835468"/>
          </a:xfrm>
        </p:grpSpPr>
        <p:sp>
          <p:nvSpPr>
            <p:cNvPr id="11" name="Rectangle 11"/>
            <p:cNvSpPr/>
            <p:nvPr/>
          </p:nvSpPr>
          <p:spPr>
            <a:xfrm>
              <a:off x="533400" y="3868102"/>
              <a:ext cx="3505200" cy="1835468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001452"/>
              <a:ext cx="47625" cy="156876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0776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1133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454842"/>
              <a:ext cx="276796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原课件条件写作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b_flag&amp;B_WANTED!=0。C 语言中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!= 比 &amp; 优先，必须加括号。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4343400" y="1524000"/>
            <a:ext cx="3505200" cy="2106930"/>
            <a:chOff x="4343400" y="1524000"/>
            <a:chExt cx="3505200" cy="2106930"/>
          </a:xfrm>
        </p:grpSpPr>
        <p:sp>
          <p:nvSpPr>
            <p:cNvPr id="17" name="Rectangle 17"/>
            <p:cNvSpPr/>
            <p:nvPr/>
          </p:nvSpPr>
          <p:spPr>
            <a:xfrm>
              <a:off x="4343400" y="1524000"/>
              <a:ext cx="3505200" cy="2106930"/>
            </a:xfrm>
            <a:prstGeom prst="roundRect">
              <a:avLst>
                <a:gd name="adj" fmla="val 452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71797" y="1675924"/>
              <a:ext cx="1235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bread(dev, blkno)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0273" y="1940719"/>
              <a:ext cx="3134106" cy="162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8"/>
                </a:lnSpc>
              </a:pPr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bp = getblk(dev, blkno);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(缓冲区数据有效)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return bp;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cache 命中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启动磁盘读;      </a:t>
              </a:r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挂 d_actf/d_actl</a:t>
              </a:r>
              <a:br/>
              <a:r>
                <a:rPr lang="zh-CN" sz="128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sleep(等读盘完成);</a:t>
              </a:r>
              <a:br/>
              <a:r>
                <a:rPr lang="zh-CN" sz="12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中断：唤醒进程</a:t>
              </a:r>
              <a:br/>
              <a:r>
                <a:rPr lang="en-US" sz="12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bp;</a:t>
              </a:r>
            </a:p>
          </p:txBody>
        </p:sp>
      </p:grpSp>
      <p:grpSp>
        <p:nvGrpSpPr>
          <p:cNvPr id="27" name="c2-callout-2"/>
          <p:cNvGrpSpPr/>
          <p:nvPr/>
        </p:nvGrpSpPr>
        <p:grpSpPr>
          <a:xfrm>
            <a:off x="4343400" y="3821430"/>
            <a:ext cx="3505200" cy="1059180"/>
            <a:chOff x="4343400" y="3821430"/>
            <a:chExt cx="3505200" cy="1059180"/>
          </a:xfrm>
        </p:grpSpPr>
        <p:sp>
          <p:nvSpPr>
            <p:cNvPr id="21" name="Rectangle 21"/>
            <p:cNvSpPr/>
            <p:nvPr/>
          </p:nvSpPr>
          <p:spPr>
            <a:xfrm>
              <a:off x="4343400" y="3821430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4548188" y="4251008"/>
              <a:ext cx="200026" cy="200025"/>
              <a:chOff x="4548188" y="4251008"/>
              <a:chExt cx="200026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548188" y="425100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87926" y="429545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622642" y="440658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850130" y="3970020"/>
              <a:ext cx="2510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数据有效看 B_DONE 位：之前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读过且未被换走，就不用再读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盘。</a:t>
              </a:r>
            </a:p>
          </p:txBody>
        </p:sp>
      </p:grpSp>
      <p:grpSp>
        <p:nvGrpSpPr>
          <p:cNvPr id="31" name="c3-code-1"/>
          <p:cNvGrpSpPr/>
          <p:nvPr/>
        </p:nvGrpSpPr>
        <p:grpSpPr>
          <a:xfrm>
            <a:off x="8153400" y="1524000"/>
            <a:ext cx="3505200" cy="2929890"/>
            <a:chOff x="8153400" y="1524000"/>
            <a:chExt cx="3505200" cy="2929890"/>
          </a:xfrm>
        </p:grpSpPr>
        <p:sp>
          <p:nvSpPr>
            <p:cNvPr id="28" name="Rectangle 28"/>
            <p:cNvSpPr/>
            <p:nvPr/>
          </p:nvSpPr>
          <p:spPr>
            <a:xfrm>
              <a:off x="8153400" y="1524000"/>
              <a:ext cx="3505200" cy="2929890"/>
            </a:xfrm>
            <a:prstGeom prst="roundRect">
              <a:avLst>
                <a:gd name="adj" fmla="val 325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281797" y="1675924"/>
              <a:ext cx="1928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breada(dev, blkno, rablkno)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79892" y="1941195"/>
              <a:ext cx="3125534" cy="24585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20"/>
                </a:lnSpc>
              </a:pPr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rbp = getblk(dev, blkno);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if (信息无效)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启动设备读入;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rabp = getblk(dev, rablkno);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if (B_DONE)   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 b 链得到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brelse(rabp);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else            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从 av 链得到</a:t>
              </a:r>
              <a:br/>
              <a:r>
                <a:rPr lang="zh-CN" sz="135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 xml:space="preserve">    启动设备读入; </a:t>
              </a:r>
              <a:r>
                <a:rPr lang="zh-CN" sz="13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中断时入 av 链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iowait(rbp);</a:t>
              </a:r>
              <a:br/>
              <a:r>
                <a:rPr lang="en-US" sz="13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return rbp;</a:t>
              </a:r>
            </a:p>
          </p:txBody>
        </p:sp>
      </p:grpSp>
      <p:grpSp>
        <p:nvGrpSpPr>
          <p:cNvPr id="38" name="c3-callout-2"/>
          <p:cNvGrpSpPr/>
          <p:nvPr/>
        </p:nvGrpSpPr>
        <p:grpSpPr>
          <a:xfrm>
            <a:off x="8153400" y="4644390"/>
            <a:ext cx="3505200" cy="1059180"/>
            <a:chOff x="8153400" y="4644390"/>
            <a:chExt cx="3505200" cy="1059180"/>
          </a:xfrm>
        </p:grpSpPr>
        <p:sp>
          <p:nvSpPr>
            <p:cNvPr id="32" name="Rectangle 32"/>
            <p:cNvSpPr/>
            <p:nvPr/>
          </p:nvSpPr>
          <p:spPr>
            <a:xfrm>
              <a:off x="8153400" y="4644390"/>
              <a:ext cx="3505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8358188" y="5073968"/>
              <a:ext cx="200026" cy="200025"/>
              <a:chOff x="8358188" y="507396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358188" y="50739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97926" y="51184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432642" y="52295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8660130" y="4792980"/>
              <a:ext cx="2682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只等第一块读完；预读块读完后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由中断放回 av 链，以后读它可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能直接命中。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9" name="TextBox 3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8407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3950" y="407194"/>
              <a:ext cx="1962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缓冲技术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三种写：同步写、异步写、延迟写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1" name="c1-table-1"/>
          <p:cNvGrpSpPr/>
          <p:nvPr/>
        </p:nvGrpSpPr>
        <p:grpSpPr>
          <a:xfrm>
            <a:off x="533400" y="1524000"/>
            <a:ext cx="11125200" cy="2248852"/>
            <a:chOff x="533400" y="1524000"/>
            <a:chExt cx="11125200" cy="224885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3375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操作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0468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7154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进程等不等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50349" y="165973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什么时候真正写盘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221706"/>
              <a:ext cx="9990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bwrite(bp)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198560" y="2108359"/>
              <a:ext cx="50929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入设备 d_act 队列（设备不忙就启动设备）；若没有 B_ASYNC 标志就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sleep 等 I/O 完成。中断时唤醒进程，brelse(bp) 把缓冲区放回 av 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84046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41383" y="22217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4318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647950"/>
              <a:ext cx="11125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2783681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bawrite(bp)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98560" y="2783681"/>
              <a:ext cx="5668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bp-&gt;b_flags |= B_ASYNC，再调用 bwrite(bp)；中断时缓冲区入 av 队列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84046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4138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立即启动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092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345656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bdwrite(bp)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8560" y="3345656"/>
              <a:ext cx="46431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b_flags |= B_DELWRI | B_DONE，然后 brelse(bp) 入 av 链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84046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541383" y="3232309"/>
              <a:ext cx="19067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缓冲区被 getblk 挪作他用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之前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11125200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85975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871460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428798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8" name="c1-compare-2"/>
          <p:cNvGrpSpPr/>
          <p:nvPr/>
        </p:nvGrpSpPr>
        <p:grpSpPr>
          <a:xfrm>
            <a:off x="533400" y="3963352"/>
            <a:ext cx="11125200" cy="1367790"/>
            <a:chOff x="533400" y="3963352"/>
            <a:chExt cx="11125200" cy="1367790"/>
          </a:xfrm>
        </p:grpSpPr>
        <p:sp>
          <p:nvSpPr>
            <p:cNvPr id="32" name="Rectangle 32"/>
            <p:cNvSpPr/>
            <p:nvPr/>
          </p:nvSpPr>
          <p:spPr>
            <a:xfrm>
              <a:off x="533400" y="3963352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42925" y="4096702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3430" y="419766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要马上写出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86765" y="46148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4880" y="4551998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确认写成功才继续 ⇒ bwrite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86765" y="49501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4880" y="4887278"/>
              <a:ext cx="30340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尽快启动写，但不想等 ⇒ bawrite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267450" y="3963352"/>
              <a:ext cx="53911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76975" y="4096702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507480" y="419766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可以晚点写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520815" y="461486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78930" y="4551998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这一块很可能马上又要修改 ⇒ bdwrite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520815" y="49501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678930" y="488727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几次修改合并成一次写盘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5934075" y="448532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49315" y="45815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5521642"/>
            <a:ext cx="11125200" cy="533400"/>
            <a:chOff x="533400" y="5521642"/>
            <a:chExt cx="11125200" cy="533400"/>
          </a:xfrm>
        </p:grpSpPr>
        <p:sp>
          <p:nvSpPr>
            <p:cNvPr id="49" name="Rectangle 49"/>
            <p:cNvSpPr/>
            <p:nvPr/>
          </p:nvSpPr>
          <p:spPr>
            <a:xfrm>
              <a:off x="533400" y="5521642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688330"/>
              <a:ext cx="200026" cy="200026"/>
              <a:chOff x="738188" y="5688330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6883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75500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578834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130" y="5683568"/>
              <a:ext cx="86456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说明：原课件写作 b_flags =| B_DELWRI | B_DONE，=| 是早期 UNIX C 的写法，现代 C 写作 |=。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692036" cy="3351847"/>
            <a:chOff x="667512" y="1835468"/>
            <a:chExt cx="6692036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6387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输入输出进程与 RAID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682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I/O 可以交给专门的进程做；多块磁盘组成阵列，换取速度和可靠性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20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9.8 输入输出进程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5267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9.9 RAID 的概念与衡量指标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210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0–5 的数据组织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9088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级别比较与软件 RAID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55452" cy="909257"/>
            <a:chOff x="520446" y="342900"/>
            <a:chExt cx="55554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5545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输入输出进程：用服务模式完成 I/O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316355"/>
            <a:chOff x="533400" y="1524000"/>
            <a:chExt cx="5410200" cy="13163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354455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884" y="1769269"/>
              <a:ext cx="12247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9.8 输入输出进程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4729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专门负责 I/O 传输的进程。它提供了另外一种 I/O 模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式：服务模式，也就是 C/S（客户/服务器）模式。</a:t>
              </a:r>
            </a:p>
          </p:txBody>
        </p:sp>
      </p:grpSp>
      <p:grpSp>
        <p:nvGrpSpPr>
          <p:cNvPr id="29" name="c1-flow-2"/>
          <p:cNvGrpSpPr/>
          <p:nvPr/>
        </p:nvGrpSpPr>
        <p:grpSpPr>
          <a:xfrm>
            <a:off x="666750" y="3549015"/>
            <a:ext cx="5143500" cy="2429446"/>
            <a:chOff x="666750" y="3549015"/>
            <a:chExt cx="5143500" cy="2429446"/>
          </a:xfrm>
        </p:grpSpPr>
        <p:sp>
          <p:nvSpPr>
            <p:cNvPr id="13" name="Freeform 13"/>
            <p:cNvSpPr/>
            <p:nvPr/>
          </p:nvSpPr>
          <p:spPr>
            <a:xfrm>
              <a:off x="2203132" y="3864292"/>
              <a:ext cx="1965960" cy="9525"/>
            </a:xfrm>
            <a:custGeom>
              <a:avLst/>
              <a:gdLst/>
              <a:ahLst/>
              <a:cxnLst/>
              <a:rect l="l" t="t" r="r" b="b"/>
              <a:pathLst>
                <a:path w="1965960" h="9525">
                  <a:moveTo>
                    <a:pt x="0" y="0"/>
                  </a:moveTo>
                  <a:lnTo>
                    <a:pt x="196596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169092" y="381190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041582" y="4178618"/>
              <a:ext cx="9525" cy="1027748"/>
            </a:xfrm>
            <a:custGeom>
              <a:avLst/>
              <a:gdLst/>
              <a:ahLst/>
              <a:cxnLst/>
              <a:rect l="l" t="t" r="r" b="b"/>
              <a:pathLst>
                <a:path w="9525" h="1027748">
                  <a:moveTo>
                    <a:pt x="0" y="0"/>
                  </a:moveTo>
                  <a:lnTo>
                    <a:pt x="0" y="10277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989195" y="520636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35418" y="4178618"/>
              <a:ext cx="3606165" cy="1784032"/>
            </a:xfrm>
            <a:custGeom>
              <a:avLst/>
              <a:gdLst/>
              <a:ahLst/>
              <a:cxnLst/>
              <a:rect l="l" t="t" r="r" b="b"/>
              <a:pathLst>
                <a:path w="3606165" h="1784032">
                  <a:moveTo>
                    <a:pt x="3606165" y="0"/>
                  </a:moveTo>
                  <a:lnTo>
                    <a:pt x="3606165" y="209550"/>
                  </a:lnTo>
                  <a:lnTo>
                    <a:pt x="3606165" y="1784032"/>
                  </a:lnTo>
                  <a:lnTo>
                    <a:pt x="1803082" y="1784032"/>
                  </a:lnTo>
                  <a:lnTo>
                    <a:pt x="0" y="1784032"/>
                  </a:lnTo>
                  <a:lnTo>
                    <a:pt x="0" y="209550"/>
                  </a:lnTo>
                  <a:lnTo>
                    <a:pt x="0" y="104775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1383030" y="41786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354901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73868" y="3549015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273868" y="5311140"/>
              <a:ext cx="1536382" cy="438150"/>
            </a:xfrm>
            <a:custGeom>
              <a:avLst/>
              <a:gdLst/>
              <a:ahLst/>
              <a:cxnLst/>
              <a:rect l="l" t="t" r="r" b="b"/>
              <a:pathLst>
                <a:path w="1536382" h="438150">
                  <a:moveTo>
                    <a:pt x="133350" y="0"/>
                  </a:moveTo>
                  <a:lnTo>
                    <a:pt x="1536382" y="0"/>
                  </a:lnTo>
                  <a:lnTo>
                    <a:pt x="1403032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1260" y="3665696"/>
              <a:ext cx="98831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用户进程（客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74274" y="3665696"/>
              <a:ext cx="1134618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进程（服务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62792" y="54411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930842" y="3648075"/>
              <a:ext cx="61531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949931" y="3674745"/>
              <a:ext cx="577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I/O 请求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826192" y="574643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52482" y="5773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完成回答</a:t>
              </a:r>
            </a:p>
          </p:txBody>
        </p:sp>
      </p:grpSp>
      <p:grpSp>
        <p:nvGrpSpPr>
          <p:cNvPr id="54" name="c2-table-1"/>
          <p:cNvGrpSpPr/>
          <p:nvPr/>
        </p:nvGrpSpPr>
        <p:grpSpPr>
          <a:xfrm>
            <a:off x="6248400" y="1524000"/>
            <a:ext cx="5410200" cy="2470786"/>
            <a:chOff x="6248400" y="1524000"/>
            <a:chExt cx="5410200" cy="2470786"/>
          </a:xfrm>
        </p:grpSpPr>
        <p:sp>
          <p:nvSpPr>
            <p:cNvPr id="30" name="Rectangle 30"/>
            <p:cNvSpPr/>
            <p:nvPr/>
          </p:nvSpPr>
          <p:spPr>
            <a:xfrm>
              <a:off x="6248400" y="1524000"/>
              <a:ext cx="5410200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5633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68667" y="1659731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系统调用中直接完成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90632" y="1659731"/>
              <a:ext cx="1754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I/O 进程（服务模式）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56223" y="2108359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谁执行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9678" y="2108359"/>
              <a:ext cx="16385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发出请求的进程陷入内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核后自己执行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86126" y="2221706"/>
              <a:ext cx="12750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专门的 I/O 进程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248400" y="264318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2647950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56223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怎样请求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9678" y="27836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过程调用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86126" y="278368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发请求、等回答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248400" y="30927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356223" y="32323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29678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没有额外的进程切换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86126" y="323230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界面清晰，方便使用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248400" y="354139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248400" y="3546158"/>
              <a:ext cx="5410200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356223" y="3680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9678" y="3680936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86126" y="368093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两次进程切换，速度较慢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248400" y="1524000"/>
              <a:ext cx="5410200" cy="24707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217092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273540" y="1524000"/>
              <a:ext cx="9525" cy="24707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8" name="c2-steps-2"/>
          <p:cNvGrpSpPr/>
          <p:nvPr/>
        </p:nvGrpSpPr>
        <p:grpSpPr>
          <a:xfrm>
            <a:off x="6248400" y="4194810"/>
            <a:ext cx="5388046" cy="1878615"/>
            <a:chOff x="6248400" y="4194810"/>
            <a:chExt cx="5388046" cy="1878615"/>
          </a:xfrm>
        </p:grpSpPr>
        <p:sp>
          <p:nvSpPr>
            <p:cNvPr id="55" name="Rectangle 55"/>
            <p:cNvSpPr/>
            <p:nvPr/>
          </p:nvSpPr>
          <p:spPr>
            <a:xfrm>
              <a:off x="6381750" y="4337685"/>
              <a:ext cx="19050" cy="13011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248400" y="4194810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342024" y="42686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48400" y="484536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342024" y="491918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6248400" y="549592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42024" y="55697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59880" y="42291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61023" y="4522946"/>
              <a:ext cx="4975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用户进程把 I/O 请求发给 I/O 进程后阻塞，发生第 1 次进程切换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659880" y="4879658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服务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61023" y="5173504"/>
              <a:ext cx="2254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进程启动设备，完成传输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659880" y="55302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回答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1023" y="5824061"/>
              <a:ext cx="4520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进程发回结果，用户进程被唤醒，发生第 2 次进程切换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9" name="TextBox 6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7776" cy="909257"/>
            <a:chOff x="520446" y="342900"/>
            <a:chExt cx="591777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7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RAID：操作系统眼里的一个逻辑驱动器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626418" cy="3179445"/>
            <a:chOff x="533400" y="1524000"/>
            <a:chExt cx="5626418" cy="31794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79445"/>
            </a:xfrm>
            <a:prstGeom prst="roundRect">
              <a:avLst>
                <a:gd name="adj" fmla="val 41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91274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9248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390" y="1769269"/>
              <a:ext cx="663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9.9 RAID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97776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Redundant Array of Inexpensive Disks，廉价磁盘冗余阵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列（相对于 SLED：单个大容量昂贵磁盘）；也称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Redundant Array of Independent Disks，独立磁盘冗余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阵列。由 UC Berkeley 的 David A. Patterson 等人提出。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6765" y="33661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44880" y="33032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一组物理磁盘，被操作系统看作一个逻辑驱动器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37014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363855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数据分布存放在阵列的各个物理盘上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403669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397383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冗余的磁盘容量用来存放校验信息，某块盘故障时数据仍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可恢复</a:t>
              </a:r>
            </a:p>
          </p:txBody>
        </p:sp>
      </p:grpSp>
      <p:grpSp>
        <p:nvGrpSpPr>
          <p:cNvPr id="27" name="c1-kv-2"/>
          <p:cNvGrpSpPr/>
          <p:nvPr/>
        </p:nvGrpSpPr>
        <p:grpSpPr>
          <a:xfrm>
            <a:off x="525780" y="4918710"/>
            <a:ext cx="5634038" cy="1173480"/>
            <a:chOff x="525780" y="4918710"/>
            <a:chExt cx="5634038" cy="1173480"/>
          </a:xfrm>
        </p:grpSpPr>
        <p:sp>
          <p:nvSpPr>
            <p:cNvPr id="19" name="TextBox 19"/>
            <p:cNvSpPr txBox="1"/>
            <p:nvPr/>
          </p:nvSpPr>
          <p:spPr>
            <a:xfrm>
              <a:off x="525780" y="491871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0622" y="4918710"/>
              <a:ext cx="2854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磁盘访问速度的提高远慢于 CPU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523875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5780" y="53587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办法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70622" y="535876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多个部件并行工作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56788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5780" y="579882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目标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0622" y="5798820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提高性能，提高可靠性</a:t>
              </a:r>
            </a:p>
          </p:txBody>
        </p:sp>
      </p:grpSp>
      <p:grpSp>
        <p:nvGrpSpPr>
          <p:cNvPr id="43" name="c2-table-1"/>
          <p:cNvGrpSpPr/>
          <p:nvPr/>
        </p:nvGrpSpPr>
        <p:grpSpPr>
          <a:xfrm>
            <a:off x="6464618" y="1524000"/>
            <a:ext cx="5193982" cy="2026920"/>
            <a:chOff x="6464618" y="1524000"/>
            <a:chExt cx="5193982" cy="2026920"/>
          </a:xfrm>
        </p:grpSpPr>
        <p:sp>
          <p:nvSpPr>
            <p:cNvPr id="28" name="Rectangle 28"/>
            <p:cNvSpPr/>
            <p:nvPr/>
          </p:nvSpPr>
          <p:spPr>
            <a:xfrm>
              <a:off x="6464618" y="152400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0971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19439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6863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72441" y="2221706"/>
              <a:ext cx="85948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 / 软件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19263" y="2221706"/>
              <a:ext cx="1516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硬件 RAID：专用控制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792843" y="2108359"/>
              <a:ext cx="1662938" cy="7027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软件 RAID：Windows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NT、2000 和 UNIX 都支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持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64618" y="286988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4618" y="2874645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72441" y="3010376"/>
              <a:ext cx="78105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SCSI / IDE</a:t>
              </a:r>
              <a:br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19263" y="3123724"/>
              <a:ext cx="15936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性能：SCSI 优于 IDE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92843" y="3010376"/>
              <a:ext cx="1516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价格：IDE 比 SCSI 便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宜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464618" y="1524000"/>
              <a:ext cx="5193982" cy="20269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7706678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9680258" y="1524000"/>
              <a:ext cx="9525" cy="20269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7" name="c2-card-2"/>
          <p:cNvGrpSpPr/>
          <p:nvPr/>
        </p:nvGrpSpPr>
        <p:grpSpPr>
          <a:xfrm>
            <a:off x="6464618" y="3741420"/>
            <a:ext cx="5193982" cy="2291715"/>
            <a:chOff x="6464618" y="3741420"/>
            <a:chExt cx="5193982" cy="2291715"/>
          </a:xfrm>
        </p:grpSpPr>
        <p:sp>
          <p:nvSpPr>
            <p:cNvPr id="44" name="Rectangle 44"/>
            <p:cNvSpPr/>
            <p:nvPr/>
          </p:nvSpPr>
          <p:spPr>
            <a:xfrm>
              <a:off x="6464618" y="3741420"/>
              <a:ext cx="5193982" cy="2291715"/>
            </a:xfrm>
            <a:prstGeom prst="roundRect">
              <a:avLst>
                <a:gd name="adj" fmla="val 58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3874770"/>
              <a:ext cx="47625" cy="20250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712268" y="3950970"/>
              <a:ext cx="1256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70083" y="3986689"/>
              <a:ext cx="114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RAID 带来的好处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712267" y="431482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774117" y="435711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13258" y="432816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读写速度提高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712267" y="465010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774117" y="46923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13258" y="466344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数据可靠性提高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712267" y="4985385"/>
              <a:ext cx="213360" cy="2133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74117" y="50276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13258" y="499872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存储容量扩大：多块磁盘作为一个卷使用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8" name="TextBox 5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2815" cy="909257"/>
            <a:chOff x="520446" y="342900"/>
            <a:chExt cx="618281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28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级别与衡量指标；RAID 0 按块分条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568768"/>
            <a:chOff x="533400" y="1524000"/>
            <a:chExt cx="4760595" cy="15687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1218248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6963" y="1756410"/>
              <a:ext cx="1124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9.9.1 RAID 级别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行业标准规定的、数据在多个磁盘上的存放方法。常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见的有 level 0 … level 5。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73177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672239"/>
              <a:ext cx="42008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分条（striping）存储方式：位级分条、块级分条</a:t>
              </a:r>
            </a:p>
          </p:txBody>
        </p:sp>
      </p:grpSp>
      <p:grpSp>
        <p:nvGrpSpPr>
          <p:cNvPr id="29" name="c1-table-2"/>
          <p:cNvGrpSpPr/>
          <p:nvPr/>
        </p:nvGrpSpPr>
        <p:grpSpPr>
          <a:xfrm>
            <a:off x="533400" y="3272790"/>
            <a:ext cx="4760595" cy="1697355"/>
            <a:chOff x="533400" y="3272790"/>
            <a:chExt cx="4760595" cy="1697355"/>
          </a:xfrm>
        </p:grpSpPr>
        <p:sp>
          <p:nvSpPr>
            <p:cNvPr id="15" name="Rectangle 15"/>
            <p:cNvSpPr/>
            <p:nvPr/>
          </p:nvSpPr>
          <p:spPr>
            <a:xfrm>
              <a:off x="533400" y="3272790"/>
              <a:ext cx="476059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0966" y="3401377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衡量指标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32036" y="3401377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5889" y="3826192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69389" y="3826192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是否支持多个访问同时进行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411670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4121468"/>
              <a:ext cx="476059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5889" y="425005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389" y="425005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是否能够发现和改正错误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454152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5889" y="467487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69389" y="467487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是否有额外的开销，开销多大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272790"/>
              <a:ext cx="476059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1862138" y="327279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card-3"/>
          <p:cNvGrpSpPr/>
          <p:nvPr/>
        </p:nvGrpSpPr>
        <p:grpSpPr>
          <a:xfrm>
            <a:off x="533400" y="5151120"/>
            <a:ext cx="4760595" cy="979170"/>
            <a:chOff x="533400" y="5151120"/>
            <a:chExt cx="4760595" cy="979170"/>
          </a:xfrm>
        </p:grpSpPr>
        <p:sp>
          <p:nvSpPr>
            <p:cNvPr id="30" name="Rectangle 30"/>
            <p:cNvSpPr/>
            <p:nvPr/>
          </p:nvSpPr>
          <p:spPr>
            <a:xfrm>
              <a:off x="533400" y="5151120"/>
              <a:ext cx="4760595" cy="979170"/>
            </a:xfrm>
            <a:prstGeom prst="roundRect">
              <a:avLst>
                <a:gd name="adj" fmla="val 1361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42925" y="5284470"/>
              <a:ext cx="47625" cy="7124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69620" y="534924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1060" y="538353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381" y="5709761"/>
              <a:ext cx="40192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原课件把分条拼作 stripping，应为 striping。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5593461" y="1524000"/>
            <a:ext cx="3495293" cy="1575434"/>
            <a:chOff x="5593461" y="1524000"/>
            <a:chExt cx="3495293" cy="1575434"/>
          </a:xfrm>
        </p:grpSpPr>
        <p:sp>
          <p:nvSpPr>
            <p:cNvPr id="36" name="TextBox 36"/>
            <p:cNvSpPr txBox="1"/>
            <p:nvPr/>
          </p:nvSpPr>
          <p:spPr>
            <a:xfrm>
              <a:off x="5593461" y="1628775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82665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88178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block0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757035" y="1524000"/>
              <a:ext cx="674370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62548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432358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37870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block8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106728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97763" y="16287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93461" y="2040255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082665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188178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757035" y="1935480"/>
              <a:ext cx="674370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862548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432358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37870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block9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06728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397763" y="2040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93461" y="2452688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082665" y="2347912"/>
              <a:ext cx="751522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226278" y="245268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834188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78753" y="245268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585710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689460" y="2452688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block10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37232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67321" y="24526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5593461" y="2864168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082665" y="2759392"/>
              <a:ext cx="751522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226278" y="286416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block3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834188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978753" y="286416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7585710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689460" y="2864168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block11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337232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667321" y="28641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74" name="c2-text-2"/>
          <p:cNvGrpSpPr/>
          <p:nvPr/>
        </p:nvGrpSpPr>
        <p:grpSpPr>
          <a:xfrm>
            <a:off x="5592699" y="3299460"/>
            <a:ext cx="5551932" cy="470916"/>
            <a:chOff x="5592699" y="3299460"/>
            <a:chExt cx="5551932" cy="470916"/>
          </a:xfrm>
        </p:grpSpPr>
        <p:sp>
          <p:nvSpPr>
            <p:cNvPr id="73" name="TextBox 73"/>
            <p:cNvSpPr txBox="1"/>
            <p:nvPr/>
          </p:nvSpPr>
          <p:spPr>
            <a:xfrm>
              <a:off x="5592699" y="3299460"/>
              <a:ext cx="55519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Level 0：数据以块为单位分条，连续的数据条循环存放在各个盘上。绿色为读请求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(4, 5)，橙色为写请求 (2, 3)，两组请求落在不同的盘上，可以同时进行。</a:t>
              </a:r>
            </a:p>
          </p:txBody>
        </p:sp>
      </p:grpSp>
      <p:grpSp>
        <p:nvGrpSpPr>
          <p:cNvPr id="91" name="c2-compare-3"/>
          <p:cNvGrpSpPr/>
          <p:nvPr/>
        </p:nvGrpSpPr>
        <p:grpSpPr>
          <a:xfrm>
            <a:off x="5598795" y="3903345"/>
            <a:ext cx="6059805" cy="2226945"/>
            <a:chOff x="5598795" y="3903345"/>
            <a:chExt cx="6059805" cy="2226945"/>
          </a:xfrm>
        </p:grpSpPr>
        <p:sp>
          <p:nvSpPr>
            <p:cNvPr id="75" name="Rectangle 75"/>
            <p:cNvSpPr/>
            <p:nvPr/>
          </p:nvSpPr>
          <p:spPr>
            <a:xfrm>
              <a:off x="5598795" y="3903345"/>
              <a:ext cx="2858452" cy="2226945"/>
            </a:xfrm>
            <a:prstGeom prst="roundRect">
              <a:avLst>
                <a:gd name="adj" fmla="val 59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5608320" y="4036695"/>
              <a:ext cx="47625" cy="19602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5827776" y="41257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5842635" y="45215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999226" y="446103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访问速度快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5842635" y="48387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999226" y="4779169"/>
              <a:ext cx="2059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经济，空间利用率 100%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800148" y="3903345"/>
              <a:ext cx="2858452" cy="2226945"/>
            </a:xfrm>
            <a:prstGeom prst="roundRect">
              <a:avLst>
                <a:gd name="adj" fmla="val 598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8809672" y="4036695"/>
              <a:ext cx="47625" cy="196024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029128" y="41257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9043988" y="452151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200578" y="4461034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无容错能力，可靠性差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9043988" y="4838700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200578" y="4779169"/>
              <a:ext cx="19982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任何一块盘坏了，数据就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不完整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8466772" y="4854892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537113" y="4951095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99032" cy="909257"/>
            <a:chOff x="520446" y="342900"/>
            <a:chExt cx="66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1 镜像：每块数据在两块盘上各存一份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1" name="c1-cells-1"/>
          <p:cNvGrpSpPr/>
          <p:nvPr/>
        </p:nvGrpSpPr>
        <p:grpSpPr>
          <a:xfrm>
            <a:off x="527685" y="1524000"/>
            <a:ext cx="3325178" cy="2838450"/>
            <a:chOff x="527685" y="1524000"/>
            <a:chExt cx="3325178" cy="283845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4449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0130" y="1524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44460" y="1644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43075" y="1524000"/>
              <a:ext cx="70294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7405" y="1644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block3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46020" y="1524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51302" y="1644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49918" y="1524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52139" y="1644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685" y="2111216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40130" y="1990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4460" y="2111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743075" y="1990725"/>
              <a:ext cx="702945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47405" y="2111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46020" y="1990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551302" y="2111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149918" y="1990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52139" y="2111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685" y="257794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40130" y="2457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44460" y="2577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43075" y="2457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847405" y="2577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446020" y="2457450"/>
              <a:ext cx="70294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51302" y="2577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block8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149918" y="2457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452139" y="2577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316849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40130" y="3048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44460" y="3168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43075" y="3048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847405" y="3168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446020" y="3048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551302" y="31684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149918" y="304800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452139" y="31684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685" y="3635216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40130" y="3514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44460" y="3635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743075" y="3514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847405" y="3635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446020" y="3514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551302" y="3635216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149918" y="3514725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52139" y="36352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27685" y="410194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Disk6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40130" y="3981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44460" y="4101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1743075" y="3981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847405" y="4101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446020" y="3981450"/>
              <a:ext cx="702945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2551302" y="4101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block8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149918" y="3981450"/>
              <a:ext cx="70294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52139" y="4101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63" name="c1-text-2"/>
          <p:cNvGrpSpPr/>
          <p:nvPr/>
        </p:nvGrpSpPr>
        <p:grpSpPr>
          <a:xfrm>
            <a:off x="526923" y="4574381"/>
            <a:ext cx="5288026" cy="500824"/>
            <a:chOff x="526923" y="4574381"/>
            <a:chExt cx="5288026" cy="500824"/>
          </a:xfrm>
        </p:grpSpPr>
        <p:sp>
          <p:nvSpPr>
            <p:cNvPr id="62" name="TextBox 62"/>
            <p:cNvSpPr txBox="1"/>
            <p:nvPr/>
          </p:nvSpPr>
          <p:spPr>
            <a:xfrm>
              <a:off x="526923" y="4574381"/>
              <a:ext cx="528802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Disk4–6 依次是 Disk1–3 的镜像。读请求 (3, 4)（绿）各读一块盘即可；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写请求 (8)（橙）要同时写 Disk3 和 Disk6。</a:t>
              </a:r>
            </a:p>
          </p:txBody>
        </p:sp>
      </p:grpSp>
      <p:grpSp>
        <p:nvGrpSpPr>
          <p:cNvPr id="70" name="c1-callout-3"/>
          <p:cNvGrpSpPr/>
          <p:nvPr/>
        </p:nvGrpSpPr>
        <p:grpSpPr>
          <a:xfrm>
            <a:off x="533400" y="5214938"/>
            <a:ext cx="5626418" cy="782955"/>
            <a:chOff x="533400" y="5214938"/>
            <a:chExt cx="5626418" cy="782955"/>
          </a:xfrm>
        </p:grpSpPr>
        <p:sp>
          <p:nvSpPr>
            <p:cNvPr id="64" name="Rectangle 64"/>
            <p:cNvSpPr/>
            <p:nvPr/>
          </p:nvSpPr>
          <p:spPr>
            <a:xfrm>
              <a:off x="533400" y="521493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26129" y="5502711"/>
              <a:ext cx="224134" cy="192560"/>
              <a:chOff x="726129" y="5502711"/>
              <a:chExt cx="224134" cy="192560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838200" y="55730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726129" y="55027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38200" y="56508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363528"/>
              <a:ext cx="4587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镜像只防磁盘损坏。误删文件或数据被错误改写时，两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块盘上的内容会一起改掉，仍然需要另做备份。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6464618" y="1524000"/>
            <a:ext cx="5193982" cy="1316355"/>
            <a:chOff x="6464618" y="1524000"/>
            <a:chExt cx="5193982" cy="1316355"/>
          </a:xfrm>
        </p:grpSpPr>
        <p:sp>
          <p:nvSpPr>
            <p:cNvPr id="71" name="Rectangle 71"/>
            <p:cNvSpPr/>
            <p:nvPr/>
          </p:nvSpPr>
          <p:spPr>
            <a:xfrm>
              <a:off x="6464618" y="1524000"/>
              <a:ext cx="5193982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474142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712268" y="1733550"/>
              <a:ext cx="168878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764391" y="1769269"/>
              <a:ext cx="1585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Level 1（mirroring）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704648" y="211074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数据以块为单位分条，采用分布镜像方式存储：完全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相同的数据重复存放在两个盘上。</a:t>
              </a:r>
            </a:p>
          </p:txBody>
        </p:sp>
      </p:grpSp>
      <p:grpSp>
        <p:nvGrpSpPr>
          <p:cNvPr id="101" name="c2-table-2"/>
          <p:cNvGrpSpPr/>
          <p:nvPr/>
        </p:nvGrpSpPr>
        <p:grpSpPr>
          <a:xfrm>
            <a:off x="6464618" y="3030855"/>
            <a:ext cx="5193982" cy="2697480"/>
            <a:chOff x="6464618" y="3030855"/>
            <a:chExt cx="5193982" cy="2697480"/>
          </a:xfrm>
        </p:grpSpPr>
        <p:sp>
          <p:nvSpPr>
            <p:cNvPr id="77" name="Rectangle 77"/>
            <p:cNvSpPr/>
            <p:nvPr/>
          </p:nvSpPr>
          <p:spPr>
            <a:xfrm>
              <a:off x="6464618" y="3030855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857327" y="316658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846382" y="3166586"/>
              <a:ext cx="1391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RAID 0（4 块盘）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9872350" y="3166586"/>
              <a:ext cx="1391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RAID 1（6 块盘）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572441" y="361521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15441" y="361521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85198" y="36152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快：读一个盘，写两个盘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64618" y="392334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464618" y="3928110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72441" y="41771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5441" y="417718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无容错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9585198" y="406384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高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：一块盘坏了用镜像恢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464618" y="45996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572441" y="47391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空间利用率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15441" y="4739164"/>
              <a:ext cx="4265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9585198" y="4739164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464618" y="504825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464618" y="5053012"/>
              <a:ext cx="519398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572441" y="53011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15441" y="530113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585198" y="5187791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高：磁盘数是无镜像时的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倍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464618" y="3030855"/>
              <a:ext cx="5193982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7602855" y="30308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472612" y="3030855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566221" cy="909257"/>
            <a:chOff x="520446" y="342900"/>
            <a:chExt cx="85662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5662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2 与 RAID 3：按位分条，校验信息放在专门的盘上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cells-1"/>
          <p:cNvGrpSpPr/>
          <p:nvPr/>
        </p:nvGrpSpPr>
        <p:grpSpPr>
          <a:xfrm>
            <a:off x="528066" y="1524000"/>
            <a:ext cx="4057270" cy="876300"/>
            <a:chOff x="528066" y="1524000"/>
            <a:chExt cx="4057270" cy="876300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67828"/>
              <a:ext cx="304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401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035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592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226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783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417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974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08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16518" y="152400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799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35618" y="152400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990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54718" y="152400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181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066" y="21250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存放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40118" y="1981200"/>
              <a:ext cx="52101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0108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bit0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0182" y="1981200"/>
              <a:ext cx="52101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571125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981200" y="1981200"/>
              <a:ext cx="52101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9119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2502218" y="1981200"/>
              <a:ext cx="521018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612208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22282" y="1981200"/>
              <a:ext cx="52101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33225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bit4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543300" y="1981200"/>
              <a:ext cx="52101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65329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bit5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064318" y="1981200"/>
              <a:ext cx="521018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174308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bit6</a:t>
              </a:r>
            </a:p>
          </p:txBody>
        </p:sp>
      </p:grpSp>
      <p:grpSp>
        <p:nvGrpSpPr>
          <p:cNvPr id="49" name="c1-card-2"/>
          <p:cNvGrpSpPr/>
          <p:nvPr/>
        </p:nvGrpSpPr>
        <p:grpSpPr>
          <a:xfrm>
            <a:off x="533400" y="2590800"/>
            <a:ext cx="5410200" cy="3246120"/>
            <a:chOff x="533400" y="2590800"/>
            <a:chExt cx="5410200" cy="3246120"/>
          </a:xfrm>
        </p:grpSpPr>
        <p:sp>
          <p:nvSpPr>
            <p:cNvPr id="38" name="Rectangle 38"/>
            <p:cNvSpPr/>
            <p:nvPr/>
          </p:nvSpPr>
          <p:spPr>
            <a:xfrm>
              <a:off x="533400" y="2590800"/>
              <a:ext cx="5410200" cy="3246120"/>
            </a:xfrm>
            <a:prstGeom prst="roundRect">
              <a:avLst>
                <a:gd name="adj" fmla="val 410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2724150"/>
              <a:ext cx="47625" cy="297942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2800350"/>
              <a:ext cx="270129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2383" y="2836069"/>
              <a:ext cx="2658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Level 2（位级汉明纠错码校验与恢复）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31775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数据以位为单位分条，分布存放在多个数据盘上；汉明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纠错码存放在纠错盘上（图中灰色）。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6765" y="3861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44880" y="3798570"/>
              <a:ext cx="44538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纠错能力强，可靠性高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：发现 2 个错误，纠正 1 个错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误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86765" y="448246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4880" y="441960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成本较高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：需要较多纠错盘存放汉明纠错码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786765" y="481774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44880" y="475488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速度较慢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，不能同时为多个请求服务：读时所有磁盘同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时访问，数据和校验码一起送到阵列控制器；写时必须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同时访问所有数据盘和纠错盘</a:t>
              </a:r>
            </a:p>
          </p:txBody>
        </p:sp>
      </p:grpSp>
      <p:grpSp>
        <p:nvGrpSpPr>
          <p:cNvPr id="72" name="c2-cells-1"/>
          <p:cNvGrpSpPr/>
          <p:nvPr/>
        </p:nvGrpSpPr>
        <p:grpSpPr>
          <a:xfrm>
            <a:off x="6243066" y="1524000"/>
            <a:ext cx="4317302" cy="876300"/>
            <a:chOff x="6243066" y="1524000"/>
            <a:chExt cx="4317302" cy="876300"/>
          </a:xfrm>
        </p:grpSpPr>
        <p:sp>
          <p:nvSpPr>
            <p:cNvPr id="50" name="TextBox 50"/>
            <p:cNvSpPr txBox="1"/>
            <p:nvPr/>
          </p:nvSpPr>
          <p:spPr>
            <a:xfrm>
              <a:off x="6243066" y="1667828"/>
              <a:ext cx="3041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6551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8185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0742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376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4933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567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912418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0758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331518" y="1524000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494918" y="1667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43066" y="212502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存放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655118" y="19812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9560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436168" y="19812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7665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217218" y="19812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45770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bit2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998268" y="1981200"/>
              <a:ext cx="78105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238750" y="212502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bit3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779318" y="1981200"/>
              <a:ext cx="78105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881806" y="2125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奇偶校验</a:t>
              </a:r>
            </a:p>
          </p:txBody>
        </p:sp>
      </p:grpSp>
      <p:grpSp>
        <p:nvGrpSpPr>
          <p:cNvPr id="82" name="c2-card-2"/>
          <p:cNvGrpSpPr/>
          <p:nvPr/>
        </p:nvGrpSpPr>
        <p:grpSpPr>
          <a:xfrm>
            <a:off x="6248400" y="2590800"/>
            <a:ext cx="5410200" cy="2272665"/>
            <a:chOff x="6248400" y="2590800"/>
            <a:chExt cx="5410200" cy="2272665"/>
          </a:xfrm>
        </p:grpSpPr>
        <p:sp>
          <p:nvSpPr>
            <p:cNvPr id="73" name="Rectangle 73"/>
            <p:cNvSpPr/>
            <p:nvPr/>
          </p:nvSpPr>
          <p:spPr>
            <a:xfrm>
              <a:off x="6248400" y="2590800"/>
              <a:ext cx="5410200" cy="2272665"/>
            </a:xfrm>
            <a:prstGeom prst="roundRect">
              <a:avLst>
                <a:gd name="adj" fmla="val 58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257925" y="2724150"/>
              <a:ext cx="47625" cy="200596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96050" y="2800350"/>
              <a:ext cx="2132648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534134" y="2836069"/>
              <a:ext cx="2055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Level 3（位级单个奇偶校验）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488430" y="317754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数据以位为单位分条，分布存放在多个数据盘上；只用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一个冗余盘存放奇偶校验位。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501765" y="386143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59880" y="3798570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有一定容错能力，存储代价较低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：只多用一块盘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501765" y="419671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59880" y="41338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读写都要访问所有盘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，多个读写不能并行。原课件图中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写请求 (0, 1) 进行时，写请求 (3) 只能等待</a:t>
              </a:r>
            </a:p>
          </p:txBody>
        </p:sp>
      </p:grpSp>
      <p:grpSp>
        <p:nvGrpSpPr>
          <p:cNvPr id="89" name="c2-callout-3"/>
          <p:cNvGrpSpPr/>
          <p:nvPr/>
        </p:nvGrpSpPr>
        <p:grpSpPr>
          <a:xfrm>
            <a:off x="6248400" y="5053965"/>
            <a:ext cx="5410200" cy="782955"/>
            <a:chOff x="6248400" y="5053965"/>
            <a:chExt cx="5410200" cy="782955"/>
          </a:xfrm>
        </p:grpSpPr>
        <p:sp>
          <p:nvSpPr>
            <p:cNvPr id="83" name="Rectangle 83"/>
            <p:cNvSpPr/>
            <p:nvPr/>
          </p:nvSpPr>
          <p:spPr>
            <a:xfrm>
              <a:off x="6248400" y="50539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53188" y="5345430"/>
              <a:ext cx="200026" cy="200025"/>
              <a:chOff x="6453188" y="5345430"/>
              <a:chExt cx="200026" cy="200025"/>
            </a:xfrm>
          </p:grpSpPr>
          <p:sp>
            <p:nvSpPr>
              <p:cNvPr id="84" name="Freeform 84"/>
              <p:cNvSpPr/>
              <p:nvPr/>
            </p:nvSpPr>
            <p:spPr>
              <a:xfrm>
                <a:off x="6453188" y="534543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6492926" y="538988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27642" y="550100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5130" y="5202555"/>
              <a:ext cx="4406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已知哪块盘坏了，奇偶校验就能恢复它：bit2 = bit0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⊕ bit1 ⊕ bit3 ⊕ 校验位。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28058" cy="909257"/>
            <a:chOff x="520446" y="342900"/>
            <a:chExt cx="692805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2805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4：块级分条，异或校验集中在一块盘上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cells-1"/>
          <p:cNvGrpSpPr/>
          <p:nvPr/>
        </p:nvGrpSpPr>
        <p:grpSpPr>
          <a:xfrm>
            <a:off x="528066" y="1524000"/>
            <a:ext cx="3495294" cy="1987867"/>
            <a:chOff x="528066" y="1524000"/>
            <a:chExt cx="3495294" cy="1987867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628775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17270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2783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91640" y="1524000"/>
              <a:ext cx="674370" cy="340042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97153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366010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71523" y="162877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041332" y="152400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332368" y="16287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8066" y="2040255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017270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22783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691640" y="1935480"/>
              <a:ext cx="674370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97153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366010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471523" y="2040255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block9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41332" y="1935480"/>
              <a:ext cx="67437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32368" y="20402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8066" y="2452688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17270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60883" y="245268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block2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768792" y="2347912"/>
              <a:ext cx="751522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12405" y="245268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2520315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624065" y="2452688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block10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271838" y="234791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601926" y="245268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066" y="2864168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Disk4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17270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60883" y="286416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768792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12405" y="2864168"/>
              <a:ext cx="4633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520315" y="2759392"/>
              <a:ext cx="751522" cy="340042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24065" y="2864168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block11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271838" y="2759392"/>
              <a:ext cx="751522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601926" y="28641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8066" y="3276600"/>
              <a:ext cx="3869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017270" y="3171825"/>
              <a:ext cx="632460" cy="34004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155664" y="327660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P0~3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649730" y="3171825"/>
              <a:ext cx="632460" cy="34004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788124" y="3276600"/>
              <a:ext cx="355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P4~7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282190" y="3171825"/>
              <a:ext cx="632460" cy="340042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77459" y="3276600"/>
              <a:ext cx="441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P8~11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914650" y="3171825"/>
              <a:ext cx="632460" cy="340042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184731" y="32766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59" name="c1-bullets-2"/>
          <p:cNvGrpSpPr/>
          <p:nvPr/>
        </p:nvGrpSpPr>
        <p:grpSpPr>
          <a:xfrm>
            <a:off x="542925" y="3711892"/>
            <a:ext cx="4915281" cy="1038606"/>
            <a:chOff x="542925" y="3711892"/>
            <a:chExt cx="4915281" cy="1038606"/>
          </a:xfrm>
        </p:grpSpPr>
        <p:sp>
          <p:nvSpPr>
            <p:cNvPr id="53" name="Ellipse 53"/>
            <p:cNvSpPr/>
            <p:nvPr/>
          </p:nvSpPr>
          <p:spPr>
            <a:xfrm>
              <a:off x="542925" y="375951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8754" y="3711892"/>
              <a:ext cx="475945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读请求 (5, 6) 和 (11)（绿）落在不同的盘上；读操作不做异或校验，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可以并行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42925" y="4275772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8754" y="4228148"/>
              <a:ext cx="28940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写操作都要更新校验盘 Disk5，不能并行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542925" y="456342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98754" y="4515802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校验信息用于某块盘故障时恢复数据块</a:t>
              </a:r>
            </a:p>
          </p:txBody>
        </p:sp>
      </p:grpSp>
      <p:grpSp>
        <p:nvGrpSpPr>
          <p:cNvPr id="66" name="c1-callout-3"/>
          <p:cNvGrpSpPr/>
          <p:nvPr/>
        </p:nvGrpSpPr>
        <p:grpSpPr>
          <a:xfrm>
            <a:off x="533400" y="4883468"/>
            <a:ext cx="5193982" cy="756285"/>
            <a:chOff x="533400" y="4883468"/>
            <a:chExt cx="5193982" cy="756285"/>
          </a:xfrm>
        </p:grpSpPr>
        <p:sp>
          <p:nvSpPr>
            <p:cNvPr id="60" name="Rectangle 60"/>
            <p:cNvSpPr/>
            <p:nvPr/>
          </p:nvSpPr>
          <p:spPr>
            <a:xfrm>
              <a:off x="533400" y="488346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26129" y="5157906"/>
              <a:ext cx="224134" cy="192560"/>
              <a:chOff x="726129" y="5157906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38200" y="522827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26129" y="515790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8200" y="530606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5030629"/>
              <a:ext cx="430657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瓶颈：每次写都要改校验盘 Disk5，所有写操作挤在这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一块盘上排队。RAID 5 就是为此把校验块分散开。</a:t>
              </a:r>
            </a:p>
          </p:txBody>
        </p:sp>
      </p:grpSp>
      <p:grpSp>
        <p:nvGrpSpPr>
          <p:cNvPr id="72" name="c2-card-1"/>
          <p:cNvGrpSpPr/>
          <p:nvPr/>
        </p:nvGrpSpPr>
        <p:grpSpPr>
          <a:xfrm>
            <a:off x="6032182" y="1524000"/>
            <a:ext cx="5626418" cy="1564958"/>
            <a:chOff x="6032182" y="1524000"/>
            <a:chExt cx="5626418" cy="1564958"/>
          </a:xfrm>
        </p:grpSpPr>
        <p:sp>
          <p:nvSpPr>
            <p:cNvPr id="67" name="Rectangle 67"/>
            <p:cNvSpPr/>
            <p:nvPr/>
          </p:nvSpPr>
          <p:spPr>
            <a:xfrm>
              <a:off x="6032182" y="1524000"/>
              <a:ext cx="5626418" cy="1564958"/>
            </a:xfrm>
            <a:prstGeom prst="roundRect">
              <a:avLst>
                <a:gd name="adj" fmla="val 8521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230302" y="1722120"/>
              <a:ext cx="3182302" cy="247650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237346" y="1756410"/>
              <a:ext cx="31672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 block4 时更新校验；Disk4 故障时恢复 block7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" name="formula20"/>
                <p:cNvSpPr txBox="1">
                  <a:spLocks noGrp="1"/>
                </p:cNvSpPr>
                <p:nvPr/>
              </p:nvSpPr>
              <p:spPr>
                <a:xfrm>
                  <a:off x="6230302" y="2059305"/>
                  <a:ext cx="523017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P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'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∼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block4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⊕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block4'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∼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formula21"/>
                <p:cNvSpPr txBox="1">
                  <a:spLocks noGrp="1"/>
                </p:cNvSpPr>
                <p:nvPr/>
              </p:nvSpPr>
              <p:spPr>
                <a:xfrm>
                  <a:off x="6230302" y="2510790"/>
                  <a:ext cx="5230178" cy="3619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block7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∼</m:t>
                            </m:r>
                            <m:r>
                              <a:rPr lang="zh-CN" sz="142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block4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block5</m:t>
                        </m:r>
                        <m:r>
                          <m:rPr>
                            <m:sty m:val="p"/>
                          </m:rP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42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block6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102" name="c2-table-2"/>
          <p:cNvGrpSpPr/>
          <p:nvPr/>
        </p:nvGrpSpPr>
        <p:grpSpPr>
          <a:xfrm>
            <a:off x="6026848" y="3268980"/>
            <a:ext cx="5631752" cy="3013329"/>
            <a:chOff x="6026848" y="3268980"/>
            <a:chExt cx="5631752" cy="3013329"/>
          </a:xfrm>
        </p:grpSpPr>
        <p:sp>
          <p:nvSpPr>
            <p:cNvPr id="73" name="Rectangle 73"/>
            <p:cNvSpPr/>
            <p:nvPr/>
          </p:nvSpPr>
          <p:spPr>
            <a:xfrm>
              <a:off x="6032182" y="3268980"/>
              <a:ext cx="5626418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404420" y="3397568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182928" y="339756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原值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46224" y="3397568"/>
              <a:ext cx="1115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改写 block4 后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134672" y="382143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166773" y="382143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1100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511516" y="382143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0101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2182" y="411289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032182" y="4117658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134672" y="4246245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166773" y="424624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10520401" y="424624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032182" y="45377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34672" y="467106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166773" y="46710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0110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520401" y="46710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0110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032182" y="496157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032182" y="4966335"/>
              <a:ext cx="5626418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134672" y="5094922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166773" y="50949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0520401" y="50949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0011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032182" y="538638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134672" y="5519738"/>
              <a:ext cx="40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P4~7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229818" y="5519738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1100⊕1010⊕0110⊕0011 = 0011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970343" y="5519738"/>
              <a:ext cx="1467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1001 ⊕ 0011 = </a:t>
              </a:r>
              <a:r>
                <a:rPr lang="zh-CN" sz="12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1010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6032182" y="3268980"/>
              <a:ext cx="5626418" cy="25469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9" name="Rectangle 99"/>
            <p:cNvSpPr/>
            <p:nvPr/>
          </p:nvSpPr>
          <p:spPr>
            <a:xfrm>
              <a:off x="6946582" y="326898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9745028" y="3268980"/>
              <a:ext cx="9525" cy="25469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026848" y="5890260"/>
              <a:ext cx="5071301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补充的 4 位数值例子。更新：1001 = 1100 ⊕ 0101，只需读写 Disk1 和 Disk5；恢复：</a:t>
              </a:r>
              <a:br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0011 ⊕ 1100 ⊕ 1010 ⊕ 0110 = 0011 = block7</a:t>
              </a:r>
            </a:p>
          </p:txBody>
        </p:sp>
      </p:grpSp>
      <p:grpSp>
        <p:nvGrpSpPr>
          <p:cNvPr id="10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3" name="TextBox 103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54934" cy="909257"/>
            <a:chOff x="520446" y="342900"/>
            <a:chExt cx="555493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5493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5：校验块轮流分散在各个盘上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2" name="c1-cells-1"/>
          <p:cNvGrpSpPr/>
          <p:nvPr/>
        </p:nvGrpSpPr>
        <p:grpSpPr>
          <a:xfrm>
            <a:off x="527685" y="1524000"/>
            <a:ext cx="5223510" cy="2476500"/>
            <a:chOff x="527685" y="1524000"/>
            <a:chExt cx="5223510" cy="247650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66354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40130" y="15240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85417" y="16635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824990" y="15240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71230" y="16635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block4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610802" y="15240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756090" y="16635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block8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95662" y="15240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98366" y="16635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81475" y="1524000"/>
              <a:ext cx="78486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292188" y="1663541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P16~19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66335" y="15240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10466" y="1663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685" y="217789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40130" y="2038350"/>
              <a:ext cx="78486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85417" y="21778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24990" y="20383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71230" y="21778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block5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610802" y="20383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756090" y="21778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block9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395662" y="2038350"/>
              <a:ext cx="78486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07328" y="2177891"/>
              <a:ext cx="5634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P12~15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81475" y="20383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283226" y="217789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block16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966335" y="20383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10466" y="21778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7685" y="269224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Disk3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40130" y="25527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185417" y="26922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24990" y="2552700"/>
              <a:ext cx="78486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971230" y="26922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block6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610802" y="2552700"/>
              <a:ext cx="78486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767515" y="2692241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P8~11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3395662" y="25527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3498366" y="26922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181475" y="25527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283226" y="26922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966335" y="25527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10466" y="26922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7685" y="320659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Disk4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040130" y="30670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185417" y="320659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block3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824990" y="3067050"/>
              <a:ext cx="78486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28656" y="320659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P4~7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610802" y="30670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12554" y="320659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395662" y="30670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498366" y="320659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181475" y="30670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283226" y="320659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966335" y="306705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310466" y="32065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27685" y="3720941"/>
              <a:ext cx="4128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Disk5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040130" y="3581400"/>
              <a:ext cx="78486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242843" y="3720941"/>
              <a:ext cx="379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P0~3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824990" y="35814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971230" y="372094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2610802" y="35814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2712554" y="37209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395662" y="35814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498366" y="37209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181475" y="35814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283226" y="3720941"/>
              <a:ext cx="5813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block19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4966335" y="3581400"/>
              <a:ext cx="78486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310466" y="37209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</p:grpSp>
      <p:grpSp>
        <p:nvGrpSpPr>
          <p:cNvPr id="74" name="c1-text-2"/>
          <p:cNvGrpSpPr/>
          <p:nvPr/>
        </p:nvGrpSpPr>
        <p:grpSpPr>
          <a:xfrm>
            <a:off x="526923" y="4212431"/>
            <a:ext cx="5117338" cy="500824"/>
            <a:chOff x="526923" y="4212431"/>
            <a:chExt cx="5117338" cy="500824"/>
          </a:xfrm>
        </p:grpSpPr>
        <p:sp>
          <p:nvSpPr>
            <p:cNvPr id="73" name="TextBox 73"/>
            <p:cNvSpPr txBox="1"/>
            <p:nvPr/>
          </p:nvSpPr>
          <p:spPr>
            <a:xfrm>
              <a:off x="526923" y="4212431"/>
              <a:ext cx="5117338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 block1（橙）要改 Disk2 和 Disk5 上的 P0~3；写 block6（绿）要改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Disk3 和 Disk4 上的 P4~7。四块盘互不相同，两个写可以并行。</a:t>
              </a:r>
            </a:p>
          </p:txBody>
        </p:sp>
      </p:grpSp>
      <p:grpSp>
        <p:nvGrpSpPr>
          <p:cNvPr id="81" name="c1-callout-3"/>
          <p:cNvGrpSpPr/>
          <p:nvPr/>
        </p:nvGrpSpPr>
        <p:grpSpPr>
          <a:xfrm>
            <a:off x="533400" y="4852988"/>
            <a:ext cx="5626418" cy="782955"/>
            <a:chOff x="533400" y="4852988"/>
            <a:chExt cx="5626418" cy="782955"/>
          </a:xfrm>
        </p:grpSpPr>
        <p:sp>
          <p:nvSpPr>
            <p:cNvPr id="75" name="Rectangle 75"/>
            <p:cNvSpPr/>
            <p:nvPr/>
          </p:nvSpPr>
          <p:spPr>
            <a:xfrm>
              <a:off x="533400" y="4852988"/>
              <a:ext cx="562641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144453"/>
              <a:ext cx="200026" cy="200025"/>
              <a:chOff x="738188" y="5144453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514445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518890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530002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130" y="5001578"/>
              <a:ext cx="46253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同样两个写请求放在 RAID 4 上，都要改校验盘 Disk5，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只能一个一个来。</a:t>
              </a:r>
            </a:p>
          </p:txBody>
        </p:sp>
      </p:grpSp>
      <p:grpSp>
        <p:nvGrpSpPr>
          <p:cNvPr id="87" name="c2-card-1"/>
          <p:cNvGrpSpPr/>
          <p:nvPr/>
        </p:nvGrpSpPr>
        <p:grpSpPr>
          <a:xfrm>
            <a:off x="6464618" y="1524000"/>
            <a:ext cx="5193982" cy="1647825"/>
            <a:chOff x="6464618" y="1524000"/>
            <a:chExt cx="5193982" cy="1647825"/>
          </a:xfrm>
        </p:grpSpPr>
        <p:sp>
          <p:nvSpPr>
            <p:cNvPr id="82" name="Rectangle 82"/>
            <p:cNvSpPr/>
            <p:nvPr/>
          </p:nvSpPr>
          <p:spPr>
            <a:xfrm>
              <a:off x="6464618" y="1524000"/>
              <a:ext cx="5193982" cy="1647825"/>
            </a:xfrm>
            <a:prstGeom prst="roundRect">
              <a:avLst>
                <a:gd name="adj" fmla="val 8092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674168" y="173355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0B5F6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752526" y="176926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校验与恢复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formula24"/>
                <p:cNvSpPr txBox="1">
                  <a:spLocks noGrp="1"/>
                </p:cNvSpPr>
                <p:nvPr/>
              </p:nvSpPr>
              <p:spPr>
                <a:xfrm>
                  <a:off x="6674168" y="2085975"/>
                  <a:ext cx="477488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∼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block4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block5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block6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block7</m:t>
                        </m:r>
                      </m:oMath>
                    </m:oMathPara>
                  </a14:m>
                </a:p>
              </p:txBody>
            </p:sp>
          </mc:Choice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formula25"/>
                <p:cNvSpPr txBox="1">
                  <a:spLocks noGrp="1"/>
                </p:cNvSpPr>
                <p:nvPr/>
              </p:nvSpPr>
              <p:spPr>
                <a:xfrm>
                  <a:off x="6674168" y="2562225"/>
                  <a:ext cx="4774882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block7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b>
                          <m:e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</m:e>
                          <m:sub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∼</m:t>
                            </m:r>
                            <m:r>
                              <a:rPr lang="zh-CN" sz="15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block4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block5</m:t>
                        </m:r>
                        <m:r>
                          <m:rPr>
                            <m:sty m:val="p"/>
                          </m:rP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⊕</m:t>
                        </m:r>
                        <m:r>
                          <a:rPr lang="zh-CN" sz="15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block6</m:t>
                        </m:r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94" name="c2-bullets-2"/>
          <p:cNvGrpSpPr/>
          <p:nvPr/>
        </p:nvGrpSpPr>
        <p:grpSpPr>
          <a:xfrm>
            <a:off x="6474142" y="3383756"/>
            <a:ext cx="5165497" cy="860869"/>
            <a:chOff x="6474142" y="3383756"/>
            <a:chExt cx="5165497" cy="860869"/>
          </a:xfrm>
        </p:grpSpPr>
        <p:sp>
          <p:nvSpPr>
            <p:cNvPr id="88" name="Ellipse 88"/>
            <p:cNvSpPr/>
            <p:nvPr/>
          </p:nvSpPr>
          <p:spPr>
            <a:xfrm>
              <a:off x="6474142" y="3435668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629591" y="3383756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磁盘数量至少为 3 个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474142" y="3741420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629591" y="368950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读操作可以并行；不涉及相同数据盘和校验盘的写操作也可以并行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6474142" y="4048125"/>
              <a:ext cx="57150" cy="571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629591" y="3995261"/>
              <a:ext cx="3524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任意一块盘故障，都能根据其他 N−1 块盘恢复</a:t>
              </a:r>
            </a:p>
          </p:txBody>
        </p:sp>
      </p:grpSp>
      <p:grpSp>
        <p:nvGrpSpPr>
          <p:cNvPr id="110" name="c2-table-3"/>
          <p:cNvGrpSpPr/>
          <p:nvPr/>
        </p:nvGrpSpPr>
        <p:grpSpPr>
          <a:xfrm>
            <a:off x="6464618" y="4385310"/>
            <a:ext cx="5193982" cy="1346835"/>
            <a:chOff x="6464618" y="4385310"/>
            <a:chExt cx="5193982" cy="1346835"/>
          </a:xfrm>
        </p:grpSpPr>
        <p:sp>
          <p:nvSpPr>
            <p:cNvPr id="95" name="Rectangle 95"/>
            <p:cNvSpPr/>
            <p:nvPr/>
          </p:nvSpPr>
          <p:spPr>
            <a:xfrm>
              <a:off x="6464618" y="4385310"/>
              <a:ext cx="519398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637327" y="4520089"/>
              <a:ext cx="16014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单盘容量 S，共 N 块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874722" y="45200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公式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848624" y="4520089"/>
              <a:ext cx="1657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例：S = 2 TB，N = 5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572441" y="496871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有效存储容量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641936" y="4968716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× (N−1)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0493532" y="4968716"/>
              <a:ext cx="3679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 TB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464618" y="527780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464618" y="5282565"/>
              <a:ext cx="519398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72441" y="541829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磁盘利用率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8696556" y="5418296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(N−1)/N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0511658" y="5418296"/>
              <a:ext cx="331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80%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6464618" y="4385310"/>
              <a:ext cx="5193982" cy="13468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8406765" y="43853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691688" y="4385310"/>
              <a:ext cx="9525" cy="13468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029439" cy="909257"/>
            <a:chOff x="520446" y="342900"/>
            <a:chExt cx="602943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7022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1557" y="407194"/>
              <a:ext cx="27916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输入输出进程与 RAID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02943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0–5 对比，以及软件 RAID 的利弊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5" name="c1-table-1"/>
          <p:cNvGrpSpPr/>
          <p:nvPr/>
        </p:nvGrpSpPr>
        <p:grpSpPr>
          <a:xfrm>
            <a:off x="527685" y="1524000"/>
            <a:ext cx="6714173" cy="3890487"/>
            <a:chOff x="527685" y="1524000"/>
            <a:chExt cx="6714173" cy="3890487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708458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9889" y="177307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级别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9888" y="1659731"/>
              <a:ext cx="50063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分条粒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247748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读并发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119285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写并发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27517" y="1773079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冗余（容错 / 开销）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00712" y="1773079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图例利用率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2447" y="2335054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47571" y="23350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333904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5442" y="233505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28300" y="233505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9337" y="233505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4318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47950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447" y="278368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47571" y="278368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33904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19285" y="27836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28300" y="278368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镜像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89337" y="278368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3/6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09276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2447" y="334565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47571" y="33456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47748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19285" y="33456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28300" y="3232309"/>
              <a:ext cx="18011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汉明纠错码奇偶校验与恢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89337" y="3345656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4/7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768090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3772852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2447" y="390763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47571" y="390763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247748" y="39076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19285" y="39076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28300" y="39076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单个奇偶校验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337" y="390763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4216718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447" y="4357211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547571" y="4357211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33904" y="43572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119285" y="435721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不支持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28300" y="435721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块级异或校验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89337" y="4357211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3400" y="4665345"/>
              <a:ext cx="670845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670108"/>
              <a:ext cx="670845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2447" y="4805839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547571" y="480583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333904" y="48058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3205442" y="480583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28300" y="480583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块级分布式异或校验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89337" y="4805839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4/5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6708458" cy="35947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9919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207168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2944178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81571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29325" y="1524000"/>
              <a:ext cx="9525" cy="35947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7685" y="5194459"/>
              <a:ext cx="5363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前五列即原课件表 8-1；最后一列按前面各页的示意图（数据盘数/总盘数）补充</a:t>
              </a:r>
            </a:p>
          </p:txBody>
        </p:sp>
      </p:grpSp>
      <p:grpSp>
        <p:nvGrpSpPr>
          <p:cNvPr id="72" name="c1-callout-2"/>
          <p:cNvGrpSpPr/>
          <p:nvPr/>
        </p:nvGrpSpPr>
        <p:grpSpPr>
          <a:xfrm>
            <a:off x="533400" y="5560695"/>
            <a:ext cx="6708458" cy="782955"/>
            <a:chOff x="533400" y="5560695"/>
            <a:chExt cx="6708458" cy="782955"/>
          </a:xfrm>
        </p:grpSpPr>
        <p:sp>
          <p:nvSpPr>
            <p:cNvPr id="66" name="Rectangle 66"/>
            <p:cNvSpPr/>
            <p:nvPr/>
          </p:nvSpPr>
          <p:spPr>
            <a:xfrm>
              <a:off x="533400" y="5560695"/>
              <a:ext cx="670845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738188" y="5852160"/>
              <a:ext cx="200026" cy="200025"/>
              <a:chOff x="738188" y="5852160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738188" y="585216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777926" y="589661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12642" y="600773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1040130" y="5709285"/>
              <a:ext cx="56349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记忆线索：0 只分条，1 只镜像，2、3 按位分条，4、5 按块分条加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异或，5 把校验盘的负担分散开。</a:t>
              </a:r>
            </a:p>
          </p:txBody>
        </p:sp>
      </p:grpSp>
      <p:grpSp>
        <p:nvGrpSpPr>
          <p:cNvPr id="81" name="c2-card-1"/>
          <p:cNvGrpSpPr/>
          <p:nvPr/>
        </p:nvGrpSpPr>
        <p:grpSpPr>
          <a:xfrm>
            <a:off x="7546658" y="1524000"/>
            <a:ext cx="4111942" cy="1365885"/>
            <a:chOff x="7546658" y="1524000"/>
            <a:chExt cx="4111942" cy="1365885"/>
          </a:xfrm>
        </p:grpSpPr>
        <p:sp>
          <p:nvSpPr>
            <p:cNvPr id="73" name="Rectangle 73"/>
            <p:cNvSpPr/>
            <p:nvPr/>
          </p:nvSpPr>
          <p:spPr>
            <a:xfrm>
              <a:off x="7546658" y="1524000"/>
              <a:ext cx="4111942" cy="1365885"/>
            </a:xfrm>
            <a:prstGeom prst="roundRect">
              <a:avLst>
                <a:gd name="adj" fmla="val 97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7556182" y="1657350"/>
              <a:ext cx="47625" cy="109918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794308" y="1733550"/>
              <a:ext cx="175736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836112" y="1769269"/>
              <a:ext cx="1674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9.9.2 软件 RAID 的优点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800022" y="217360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58138" y="2110740"/>
              <a:ext cx="1923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成本低（cost less）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7800022" y="2508885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58138" y="2446020"/>
              <a:ext cx="177203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简单（simplicity）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7546658" y="3080385"/>
            <a:ext cx="4111942" cy="3263265"/>
            <a:chOff x="7546658" y="3080385"/>
            <a:chExt cx="4111942" cy="3263265"/>
          </a:xfrm>
        </p:grpSpPr>
        <p:sp>
          <p:nvSpPr>
            <p:cNvPr id="82" name="Rectangle 82"/>
            <p:cNvSpPr/>
            <p:nvPr/>
          </p:nvSpPr>
          <p:spPr>
            <a:xfrm>
              <a:off x="7546658" y="3080385"/>
              <a:ext cx="4111942" cy="3263265"/>
            </a:xfrm>
            <a:prstGeom prst="roundRect">
              <a:avLst>
                <a:gd name="adj" fmla="val 40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7556182" y="3213735"/>
              <a:ext cx="47625" cy="29965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794308" y="3289935"/>
              <a:ext cx="1302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848939" y="3325654"/>
              <a:ext cx="1191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软件 RAID 的缺点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7800022" y="372999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958138" y="3667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性能较差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7800022" y="406527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958138" y="4002405"/>
              <a:ext cx="17068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引导卷不能是 RAID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7800022" y="440055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7958138" y="4337685"/>
              <a:ext cx="16811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只支持 0、1、5 级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800022" y="473583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958138" y="467296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与操作系统、其他软件的兼容性问题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7800022" y="5071110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958138" y="5008245"/>
              <a:ext cx="2630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可靠性问题，软件本身的 bug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0E7C86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2F3F4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246114" cy="3351847"/>
            <a:chOff x="667512" y="1835468"/>
            <a:chExt cx="6246114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第七部分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虚拟设备与稳定存储器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用共享的磁盘模拟出许多台独占设备；写两份信息，保证不丢失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9.10 虚拟设备的引入与实现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5916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SPOOLing：输入井、输出井与作业调度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9.11 稳定存储器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36821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 系统举例：Windows 的 I/O 子系统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虚拟设备：在进程和独占设备之间垫一层共享磁盘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951220" cy="1030605"/>
            <a:chOff x="533400" y="1524000"/>
            <a:chExt cx="5951220" cy="10306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151572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2157" y="1769269"/>
              <a:ext cx="1010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9.10 虚拟设备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利用共享型设备实现的、数量较多、速度较快的独占型设备。</a:t>
              </a:r>
            </a:p>
          </p:txBody>
        </p:sp>
      </p:grpSp>
      <p:grpSp>
        <p:nvGrpSpPr>
          <p:cNvPr id="25" name="c1-table-2"/>
          <p:cNvGrpSpPr/>
          <p:nvPr/>
        </p:nvGrpSpPr>
        <p:grpSpPr>
          <a:xfrm>
            <a:off x="527685" y="2745105"/>
            <a:ext cx="5956935" cy="2095977"/>
            <a:chOff x="527685" y="2745105"/>
            <a:chExt cx="5956935" cy="2095977"/>
          </a:xfrm>
        </p:grpSpPr>
        <p:sp>
          <p:nvSpPr>
            <p:cNvPr id="13" name="Rectangle 13"/>
            <p:cNvSpPr/>
            <p:nvPr/>
          </p:nvSpPr>
          <p:spPr>
            <a:xfrm>
              <a:off x="533400" y="2745105"/>
              <a:ext cx="5951220" cy="675322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2188" y="2880836"/>
              <a:ext cx="19636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用户直接使用独占设备的缺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0844" y="299418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表现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223" y="35561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速度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21520" y="3556159"/>
              <a:ext cx="1746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CPU 与设备速度不匹配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386429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3869055"/>
              <a:ext cx="5951220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41181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设备利用率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21520" y="4004786"/>
              <a:ext cx="31015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进程从申请到释放一直独占设备，占有期间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不一定一直在用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2745105"/>
              <a:ext cx="5951220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08935" y="2745105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27685" y="4621054"/>
              <a:ext cx="3863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独占设备的使用序列：申请，使用，使用，…，使用，释放</a:t>
              </a:r>
            </a:p>
          </p:txBody>
        </p:sp>
      </p:grpSp>
      <p:grpSp>
        <p:nvGrpSpPr>
          <p:cNvPr id="40" name="c1-flow-3"/>
          <p:cNvGrpSpPr/>
          <p:nvPr/>
        </p:nvGrpSpPr>
        <p:grpSpPr>
          <a:xfrm>
            <a:off x="672465" y="5359718"/>
            <a:ext cx="5673091" cy="629602"/>
            <a:chOff x="672465" y="5359718"/>
            <a:chExt cx="5673091" cy="629602"/>
          </a:xfrm>
        </p:grpSpPr>
        <p:sp>
          <p:nvSpPr>
            <p:cNvPr id="26" name="Freeform 26"/>
            <p:cNvSpPr/>
            <p:nvPr/>
          </p:nvSpPr>
          <p:spPr>
            <a:xfrm>
              <a:off x="2378392" y="5674995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550795" y="5622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4362450" y="5674995"/>
              <a:ext cx="172403" cy="9525"/>
            </a:xfrm>
            <a:custGeom>
              <a:avLst/>
              <a:gdLst/>
              <a:ahLst/>
              <a:cxnLst/>
              <a:rect l="l" t="t" r="r" b="b"/>
              <a:pathLst>
                <a:path w="172403" h="9525">
                  <a:moveTo>
                    <a:pt x="0" y="0"/>
                  </a:moveTo>
                  <a:lnTo>
                    <a:pt x="17240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4534852" y="56226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72465" y="5455920"/>
              <a:ext cx="170592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55570" y="5359718"/>
              <a:ext cx="1705928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4639628" y="5455920"/>
              <a:ext cx="1705928" cy="438150"/>
            </a:xfrm>
            <a:custGeom>
              <a:avLst/>
              <a:gdLst/>
              <a:ahLst/>
              <a:cxnLst/>
              <a:rect l="l" t="t" r="r" b="b"/>
              <a:pathLst>
                <a:path w="1705928" h="438150">
                  <a:moveTo>
                    <a:pt x="133350" y="0"/>
                  </a:moveTo>
                  <a:lnTo>
                    <a:pt x="1705928" y="0"/>
                  </a:lnTo>
                  <a:lnTo>
                    <a:pt x="157257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46162" y="558593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52293" y="5476399"/>
              <a:ext cx="13134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虚拟设备（在磁盘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41963" y="558593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独占设备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203132" y="545877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229422" y="54854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间断传输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4186238" y="5458778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212526" y="54854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连续传输</a:t>
              </a:r>
            </a:p>
          </p:txBody>
        </p:sp>
      </p:grpSp>
      <p:grpSp>
        <p:nvGrpSpPr>
          <p:cNvPr id="43" name="c2-image-1"/>
          <p:cNvGrpSpPr/>
          <p:nvPr/>
        </p:nvGrpSpPr>
        <p:grpSpPr>
          <a:xfrm>
            <a:off x="6789420" y="1524000"/>
            <a:ext cx="4869180" cy="4863942"/>
            <a:chOff x="6789420" y="1524000"/>
            <a:chExt cx="4869180" cy="4863942"/>
          </a:xfrm>
        </p:grpSpPr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rcRect l="9862" t="0" r="9862" b="0"/>
            <a:stretch>
              <a:fillRect/>
            </a:stretch>
          </p:blipFill>
          <p:spPr>
            <a:xfrm>
              <a:off x="6789420" y="1524000"/>
              <a:ext cx="4869180" cy="4549140"/>
            </a:xfrm>
            <a:prstGeom prst="roundRect">
              <a:avLst>
                <a:gd name="adj" fmla="val 2931"/>
              </a:avLst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7107453" y="6167914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各人把文件放进共享收件格就走，打印机再一份接一份连续处理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4" name="TextBox 44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921371" cy="909257"/>
            <a:chOff x="520446" y="342900"/>
            <a:chExt cx="792137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92137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输入型与输出型虚拟设备：实设备只在搬数据时占用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table-1"/>
          <p:cNvGrpSpPr/>
          <p:nvPr/>
        </p:nvGrpSpPr>
        <p:grpSpPr>
          <a:xfrm>
            <a:off x="533400" y="1524000"/>
            <a:ext cx="6059805" cy="2000250"/>
            <a:chOff x="533400" y="1524000"/>
            <a:chExt cx="605980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0077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5072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输入型虚拟设备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56760" y="164544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输出型虚拟设备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0555" y="2145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79232" y="2045494"/>
              <a:ext cx="228727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分配一虚设备；分配一实设备；信息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由实设备 ⇒ 虚设备；去配该实设备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84320" y="2145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分配一虚设备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5241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30555" y="26455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使用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79232" y="2645569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信息由虚设备 ⇒ 进程空间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84320" y="2645569"/>
              <a:ext cx="16925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信息由进程空间 ⇒ 虚设备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919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0555" y="31456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79232" y="314563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去配虚设备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084320" y="3045619"/>
              <a:ext cx="216636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分配一实设备；信息由虚设备 ⇒ 实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设备；去配实设备；去配虚设备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605980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7731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982402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3" name="c1-callout-2"/>
          <p:cNvGrpSpPr/>
          <p:nvPr/>
        </p:nvGrpSpPr>
        <p:grpSpPr>
          <a:xfrm>
            <a:off x="533400" y="3693795"/>
            <a:ext cx="6059805" cy="729615"/>
            <a:chOff x="533400" y="3693795"/>
            <a:chExt cx="6059805" cy="729615"/>
          </a:xfrm>
        </p:grpSpPr>
        <p:sp>
          <p:nvSpPr>
            <p:cNvPr id="27" name="Rectangle 27"/>
            <p:cNvSpPr/>
            <p:nvPr/>
          </p:nvSpPr>
          <p:spPr>
            <a:xfrm>
              <a:off x="533400" y="3693795"/>
              <a:ext cx="605980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3958590"/>
              <a:ext cx="200026" cy="200025"/>
              <a:chOff x="738188" y="3958590"/>
              <a:chExt cx="200026" cy="200025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39585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77926" y="40030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12642" y="41141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3840480"/>
              <a:ext cx="51572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规律：输入型在申请时就把数据整批读进磁盘；输出型等到释放时才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真正输出。实设备被占用的只有搬数据这一段。</a:t>
              </a:r>
            </a:p>
          </p:txBody>
        </p:sp>
      </p:grpSp>
      <p:grpSp>
        <p:nvGrpSpPr>
          <p:cNvPr id="42" name="c1-card-3"/>
          <p:cNvGrpSpPr/>
          <p:nvPr/>
        </p:nvGrpSpPr>
        <p:grpSpPr>
          <a:xfrm>
            <a:off x="533400" y="4593908"/>
            <a:ext cx="6059805" cy="1485900"/>
            <a:chOff x="533400" y="4593908"/>
            <a:chExt cx="6059805" cy="1485900"/>
          </a:xfrm>
        </p:grpSpPr>
        <p:sp>
          <p:nvSpPr>
            <p:cNvPr id="34" name="Rectangle 34"/>
            <p:cNvSpPr/>
            <p:nvPr/>
          </p:nvSpPr>
          <p:spPr>
            <a:xfrm>
              <a:off x="533400" y="4593908"/>
              <a:ext cx="6059805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727258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4780598"/>
              <a:ext cx="192500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0239" y="4813459"/>
              <a:ext cx="1841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例：进程 A、B 几乎同时要打印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66762" y="518064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22782" y="5124450"/>
              <a:ext cx="51572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申请、使用：各有一个虚设备（磁盘上的一块空间），各写各的，互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不等待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66762" y="573786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2782" y="5681662"/>
              <a:ext cx="47594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释放：两份内容排队，打印机连续打完 A 再打 B，不会交错</a:t>
              </a:r>
            </a:p>
          </p:txBody>
        </p:sp>
      </p:grpSp>
      <p:grpSp>
        <p:nvGrpSpPr>
          <p:cNvPr id="54" name="c2-card-1"/>
          <p:cNvGrpSpPr/>
          <p:nvPr/>
        </p:nvGrpSpPr>
        <p:grpSpPr>
          <a:xfrm>
            <a:off x="6898005" y="1524000"/>
            <a:ext cx="4760595" cy="2085975"/>
            <a:chOff x="6898005" y="1524000"/>
            <a:chExt cx="4760595" cy="2085975"/>
          </a:xfrm>
        </p:grpSpPr>
        <p:sp>
          <p:nvSpPr>
            <p:cNvPr id="43" name="Rectangle 43"/>
            <p:cNvSpPr/>
            <p:nvPr/>
          </p:nvSpPr>
          <p:spPr>
            <a:xfrm>
              <a:off x="6898005" y="1524000"/>
              <a:ext cx="4760595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2795" y="1710690"/>
              <a:ext cx="227076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148925" y="1743551"/>
              <a:ext cx="2216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9.10.3 虚拟设备的例子：SPOOLing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15937" y="2054542"/>
              <a:ext cx="41113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Simultaneous Peripheral Operation On-Line，外部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设备联机并行操作，常称假脱机。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131367" y="2668905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287387" y="2612708"/>
              <a:ext cx="4088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：作业预输入（输入机 ⇒ 输入井）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7131367" y="29689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87387" y="2912745"/>
              <a:ext cx="40887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：作业缓输出（输出井 ⇒ 输出机）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7131367" y="32689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87387" y="3212782"/>
              <a:ext cx="2618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SPOOLing 程序控制通道完成</a:t>
              </a:r>
            </a:p>
          </p:txBody>
        </p:sp>
      </p:grpSp>
      <p:grpSp>
        <p:nvGrpSpPr>
          <p:cNvPr id="74" name="c2-table-2"/>
          <p:cNvGrpSpPr/>
          <p:nvPr/>
        </p:nvGrpSpPr>
        <p:grpSpPr>
          <a:xfrm>
            <a:off x="6898005" y="3780472"/>
            <a:ext cx="4760595" cy="1800225"/>
            <a:chOff x="6898005" y="3780472"/>
            <a:chExt cx="4760595" cy="1800225"/>
          </a:xfrm>
        </p:grpSpPr>
        <p:sp>
          <p:nvSpPr>
            <p:cNvPr id="55" name="Rectangle 55"/>
            <p:cNvSpPr/>
            <p:nvPr/>
          </p:nvSpPr>
          <p:spPr>
            <a:xfrm>
              <a:off x="6898005" y="3780472"/>
              <a:ext cx="4760595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312063" y="390191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486889" y="390191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直接用打印机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199745" y="3901916"/>
              <a:ext cx="1107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 SPOOLing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95160" y="440197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进程看到的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137208" y="440197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独占设备，要排队等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46958" y="4301966"/>
              <a:ext cx="14338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每个进程一台虚拟打印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机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898005" y="477583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898005" y="4780598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995160" y="49020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输出速度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137208" y="490204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受打印机速度限制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46958" y="490204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写磁盘，速度快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898005" y="517588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95160" y="530209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打印机利用率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137208" y="530209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占有期间可能空闲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946958" y="530209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连续打印，利用率高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898005" y="3780472"/>
              <a:ext cx="4760595" cy="18002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8035290" y="378047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845040" y="3780472"/>
              <a:ext cx="9525" cy="18002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1689" cy="909257"/>
            <a:chOff x="520446" y="342900"/>
            <a:chExt cx="767168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168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的组成：输入井、输出井和作业控制块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flow-1"/>
          <p:cNvGrpSpPr/>
          <p:nvPr/>
        </p:nvGrpSpPr>
        <p:grpSpPr>
          <a:xfrm>
            <a:off x="666750" y="1884045"/>
            <a:ext cx="6009323" cy="1980247"/>
            <a:chOff x="666750" y="1884045"/>
            <a:chExt cx="6009323" cy="1980247"/>
          </a:xfrm>
        </p:grpSpPr>
        <p:sp>
          <p:nvSpPr>
            <p:cNvPr id="7" name="Freeform 7"/>
            <p:cNvSpPr/>
            <p:nvPr/>
          </p:nvSpPr>
          <p:spPr>
            <a:xfrm>
              <a:off x="1968818" y="219932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30742" y="21469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537585" y="219932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699510" y="21469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5107305" y="2199322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269230" y="21469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968818" y="35490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130742" y="3496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537585" y="35490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699510" y="3496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5107305" y="3549015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269230" y="34966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666750" y="1980248"/>
              <a:ext cx="1302068" cy="438150"/>
            </a:xfrm>
            <a:custGeom>
              <a:avLst/>
              <a:gdLst/>
              <a:ahLst/>
              <a:cxnLst/>
              <a:rect l="l" t="t" r="r" b="b"/>
              <a:pathLst>
                <a:path w="1302068" h="438150">
                  <a:moveTo>
                    <a:pt x="133350" y="0"/>
                  </a:moveTo>
                  <a:lnTo>
                    <a:pt x="1302068" y="0"/>
                  </a:lnTo>
                  <a:lnTo>
                    <a:pt x="1168718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35518" y="1980248"/>
              <a:ext cx="13020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804285" y="1980248"/>
              <a:ext cx="130206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74005" y="1884045"/>
              <a:ext cx="1302068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3234690"/>
              <a:ext cx="1302068" cy="629602"/>
            </a:xfrm>
            <a:prstGeom prst="roundRect">
              <a:avLst>
                <a:gd name="adj" fmla="val 12103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35518" y="3329940"/>
              <a:ext cx="1302068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804285" y="3329940"/>
              <a:ext cx="1302068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5374005" y="3329940"/>
              <a:ext cx="1302067" cy="438150"/>
            </a:xfrm>
            <a:custGeom>
              <a:avLst/>
              <a:gdLst/>
              <a:ahLst/>
              <a:cxnLst/>
              <a:rect l="l" t="t" r="r" b="b"/>
              <a:pathLst>
                <a:path w="1302067" h="438150">
                  <a:moveTo>
                    <a:pt x="133350" y="0"/>
                  </a:moveTo>
                  <a:lnTo>
                    <a:pt x="1302067" y="0"/>
                  </a:lnTo>
                  <a:lnTo>
                    <a:pt x="1168717" y="438150"/>
                  </a:lnTo>
                  <a:lnTo>
                    <a:pt x="0" y="438150"/>
                  </a:lnTo>
                  <a:close/>
                </a:path>
              </a:pathLst>
            </a:custGeom>
            <a:solidFill>
              <a:srgbClr val="E2F3F4"/>
            </a:solidFill>
            <a:ln w="13335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53313" y="211026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08237" y="21102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18534" y="21102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预输入进程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1686" y="2000726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输入井（磁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5383" y="3350419"/>
              <a:ext cx="82575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输出井（磁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盘）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49766" y="3459956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缓输出进程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77004" y="34599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759615" y="345995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输出机</a:t>
              </a:r>
            </a:p>
          </p:txBody>
        </p:sp>
      </p:grpSp>
      <p:grpSp>
        <p:nvGrpSpPr>
          <p:cNvPr id="45" name="c1-card-2"/>
          <p:cNvGrpSpPr/>
          <p:nvPr/>
        </p:nvGrpSpPr>
        <p:grpSpPr>
          <a:xfrm>
            <a:off x="533400" y="4414838"/>
            <a:ext cx="6276022" cy="1947862"/>
            <a:chOff x="533400" y="4414838"/>
            <a:chExt cx="6276022" cy="1947862"/>
          </a:xfrm>
        </p:grpSpPr>
        <p:sp>
          <p:nvSpPr>
            <p:cNvPr id="36" name="Rectangle 36"/>
            <p:cNvSpPr/>
            <p:nvPr/>
          </p:nvSpPr>
          <p:spPr>
            <a:xfrm>
              <a:off x="533400" y="4414838"/>
              <a:ext cx="6276022" cy="1947862"/>
            </a:xfrm>
            <a:prstGeom prst="roundRect">
              <a:avLst>
                <a:gd name="adj" fmla="val 68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548188"/>
              <a:ext cx="47625" cy="16811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81050" y="4624388"/>
              <a:ext cx="21707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21020" y="4660106"/>
              <a:ext cx="20898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程序（1 个）还是进程（n 个）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6765" y="506444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4880" y="5001578"/>
              <a:ext cx="5406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可以只设 1 个 SPOOLing 输入程序，轮流为所有输入机服务；也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可以每台输入机配 1 个预输入进程，共 n 个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6765" y="5685472"/>
              <a:ext cx="64770" cy="6477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44880" y="5622608"/>
              <a:ext cx="51305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输出同理：1 个 SPOOLing 输出程序，或 n 个缓输出进程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4573" y="5953601"/>
              <a:ext cx="49497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输入井里存着作业 job11 … job1m，输出井里存着待输出的结果。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7114222" y="1524000"/>
            <a:ext cx="4544378" cy="1316355"/>
            <a:chOff x="7114222" y="1524000"/>
            <a:chExt cx="4544378" cy="1316355"/>
          </a:xfrm>
        </p:grpSpPr>
        <p:sp>
          <p:nvSpPr>
            <p:cNvPr id="46" name="Rectangle 46"/>
            <p:cNvSpPr/>
            <p:nvPr/>
          </p:nvSpPr>
          <p:spPr>
            <a:xfrm>
              <a:off x="7114222" y="1524000"/>
              <a:ext cx="454437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23748" y="1657350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61872" y="1733550"/>
              <a:ext cx="2743200" cy="25717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368515" y="1769269"/>
              <a:ext cx="27299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作业控制块 JCB（Job Control Block）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54252" y="2110740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作业存在的标志，保存系统管理作业需要的全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部信息。</a:t>
              </a:r>
            </a:p>
          </p:txBody>
        </p:sp>
      </p:grpSp>
      <p:grpSp>
        <p:nvGrpSpPr>
          <p:cNvPr id="70" name="c2-cells-2"/>
          <p:cNvGrpSpPr/>
          <p:nvPr/>
        </p:nvGrpSpPr>
        <p:grpSpPr>
          <a:xfrm>
            <a:off x="7114222" y="3030855"/>
            <a:ext cx="2448878" cy="1257300"/>
            <a:chOff x="7114222" y="3030855"/>
            <a:chExt cx="2448878" cy="1257300"/>
          </a:xfrm>
        </p:grpSpPr>
        <p:sp>
          <p:nvSpPr>
            <p:cNvPr id="52" name="Rectangle 52"/>
            <p:cNvSpPr/>
            <p:nvPr/>
          </p:nvSpPr>
          <p:spPr>
            <a:xfrm>
              <a:off x="7114222" y="30308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214629" y="31703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作业标识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930515" y="30308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031874" y="31703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用户标识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746808" y="3030855"/>
              <a:ext cx="816292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848166" y="31703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作业状态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114222" y="34499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14629" y="3589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调度参数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930515" y="34499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031874" y="3589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作业位置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746808" y="34499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848166" y="35894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资源需求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4222" y="38690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14629" y="4008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进入时间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7930515" y="38690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031874" y="4008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处理时间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746808" y="3869055"/>
              <a:ext cx="816292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848166" y="4008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记账信息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7114222" y="4478655"/>
            <a:ext cx="4544378" cy="782955"/>
            <a:chOff x="7114222" y="4478655"/>
            <a:chExt cx="4544378" cy="782955"/>
          </a:xfrm>
        </p:grpSpPr>
        <p:sp>
          <p:nvSpPr>
            <p:cNvPr id="71" name="Rectangle 71"/>
            <p:cNvSpPr/>
            <p:nvPr/>
          </p:nvSpPr>
          <p:spPr>
            <a:xfrm>
              <a:off x="7114222" y="4478655"/>
              <a:ext cx="4544378" cy="782955"/>
            </a:xfrm>
            <a:prstGeom prst="roundRect">
              <a:avLst>
                <a:gd name="adj" fmla="val 1459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19010" y="4770120"/>
              <a:ext cx="200026" cy="200025"/>
              <a:chOff x="7319010" y="4770120"/>
              <a:chExt cx="200026" cy="200025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19010" y="47701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358749" y="48145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7393464" y="49256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7620952" y="4627245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作业状态字段记录作业走到了哪一步，后面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几段程序就靠改写它来交接工作。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61873" cy="909257"/>
            <a:chOff x="520446" y="342900"/>
            <a:chExt cx="70618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618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作业的一生：几段程序接力改写 JCB 中的状态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flow-1"/>
          <p:cNvGrpSpPr/>
          <p:nvPr/>
        </p:nvGrpSpPr>
        <p:grpSpPr>
          <a:xfrm>
            <a:off x="666750" y="2111692"/>
            <a:ext cx="4531043" cy="3663316"/>
            <a:chOff x="666750" y="2111692"/>
            <a:chExt cx="4531043" cy="3663316"/>
          </a:xfrm>
        </p:grpSpPr>
        <p:sp>
          <p:nvSpPr>
            <p:cNvPr id="7" name="Freeform 7"/>
            <p:cNvSpPr/>
            <p:nvPr/>
          </p:nvSpPr>
          <p:spPr>
            <a:xfrm>
              <a:off x="1290638" y="2549842"/>
              <a:ext cx="9525" cy="1069658"/>
            </a:xfrm>
            <a:custGeom>
              <a:avLst/>
              <a:gdLst/>
              <a:ahLst/>
              <a:cxnLst/>
              <a:rect l="l" t="t" r="r" b="b"/>
              <a:pathLst>
                <a:path w="9525" h="1069658">
                  <a:moveTo>
                    <a:pt x="0" y="0"/>
                  </a:moveTo>
                  <a:lnTo>
                    <a:pt x="0" y="106965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38250" y="361950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290638" y="4162425"/>
              <a:ext cx="9525" cy="1069657"/>
            </a:xfrm>
            <a:custGeom>
              <a:avLst/>
              <a:gdLst/>
              <a:ahLst/>
              <a:cxnLst/>
              <a:rect l="l" t="t" r="r" b="b"/>
              <a:pathLst>
                <a:path w="9525" h="1069657">
                  <a:moveTo>
                    <a:pt x="0" y="0"/>
                  </a:moveTo>
                  <a:lnTo>
                    <a:pt x="0" y="106965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38250" y="52320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14525" y="5555932"/>
              <a:ext cx="1677353" cy="9525"/>
            </a:xfrm>
            <a:custGeom>
              <a:avLst/>
              <a:gdLst/>
              <a:ahLst/>
              <a:cxnLst/>
              <a:rect l="l" t="t" r="r" b="b"/>
              <a:pathLst>
                <a:path w="1677353" h="9525">
                  <a:moveTo>
                    <a:pt x="0" y="0"/>
                  </a:moveTo>
                  <a:lnTo>
                    <a:pt x="1677353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91878" y="550354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320540" y="4267200"/>
              <a:ext cx="9525" cy="1069657"/>
            </a:xfrm>
            <a:custGeom>
              <a:avLst/>
              <a:gdLst/>
              <a:ahLst/>
              <a:cxnLst/>
              <a:rect l="l" t="t" r="r" b="b"/>
              <a:pathLst>
                <a:path w="9525" h="1069657">
                  <a:moveTo>
                    <a:pt x="0" y="106965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68152" y="41624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320540" y="2654618"/>
              <a:ext cx="9525" cy="1069658"/>
            </a:xfrm>
            <a:custGeom>
              <a:avLst/>
              <a:gdLst/>
              <a:ahLst/>
              <a:cxnLst/>
              <a:rect l="l" t="t" r="r" b="b"/>
              <a:pathLst>
                <a:path w="9525" h="1069658">
                  <a:moveTo>
                    <a:pt x="0" y="1069658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268152" y="254984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019300" y="2330768"/>
              <a:ext cx="1677353" cy="9525"/>
            </a:xfrm>
            <a:custGeom>
              <a:avLst/>
              <a:gdLst/>
              <a:ahLst/>
              <a:cxnLst/>
              <a:rect l="l" t="t" r="r" b="b"/>
              <a:pathLst>
                <a:path w="1677353" h="9525">
                  <a:moveTo>
                    <a:pt x="1677353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914525" y="22783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2111692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66750" y="3724275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336858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696652" y="5336858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696652" y="3724275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696652" y="2111692"/>
              <a:ext cx="124777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11847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1847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1847" y="54668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141749" y="546687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141749" y="385429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141749" y="224170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9212" y="304514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42454" y="30718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输入程序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319212" y="4657725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342454" y="46843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输入程序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381250" y="5339715"/>
              <a:ext cx="84867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401414" y="5366385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调度程序(1)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349115" y="4657725"/>
              <a:ext cx="84867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372356" y="4684395"/>
              <a:ext cx="8093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调度程序(2)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49115" y="3045142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372356" y="307181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输出程序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491740" y="2114550"/>
              <a:ext cx="62865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18029" y="214122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输出程序</a:t>
              </a:r>
            </a:p>
          </p:txBody>
        </p:sp>
      </p:grpSp>
      <p:grpSp>
        <p:nvGrpSpPr>
          <p:cNvPr id="77" name="c2-table-1"/>
          <p:cNvGrpSpPr/>
          <p:nvPr/>
        </p:nvGrpSpPr>
        <p:grpSpPr>
          <a:xfrm>
            <a:off x="5382578" y="1524000"/>
            <a:ext cx="6276022" cy="4501515"/>
            <a:chOff x="5382578" y="1524000"/>
            <a:chExt cx="6276022" cy="4501515"/>
          </a:xfrm>
        </p:grpSpPr>
        <p:sp>
          <p:nvSpPr>
            <p:cNvPr id="44" name="Rectangle 44"/>
            <p:cNvSpPr/>
            <p:nvPr/>
          </p:nvSpPr>
          <p:spPr>
            <a:xfrm>
              <a:off x="5382578" y="1524000"/>
              <a:ext cx="6276022" cy="448628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56487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状态变化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3133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由谁完成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01112" y="16597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条件与动作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90401" y="2108359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空闲 ⇒ 提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57201" y="2108359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125968" y="2108359"/>
              <a:ext cx="32641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有待输入作业、有空闲作业表：取一个空闲作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业表作为 JCB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382578" y="26431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382578" y="2647950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490401" y="2783681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提交 ⇒ 后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备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57201" y="2783681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25968" y="2783681"/>
              <a:ext cx="3125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申请输入井空间，作业内容 ⇒ 输入井，填写</a:t>
              </a:r>
              <a:br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JCB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382578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90401" y="3459004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后备 ⇒ 执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57201" y="3459004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（1）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125968" y="3459004"/>
              <a:ext cx="3125978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内存中不足 N 道作业：按调度算法选一后备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作业，建立作业控制进程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82578" y="39947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382578" y="3999548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90401" y="4134326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执行 ⇒ 完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7201" y="4134326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作业调度程序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（2）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125968" y="424767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作业控制进程终止：撤销它并作善后处理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82578" y="46701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490401" y="4810601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 ⇒ 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57201" y="4810601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125968" y="492394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从输出井取一个完成作业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82578" y="53454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5382578" y="5350192"/>
              <a:ext cx="6276022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490401" y="5485924"/>
              <a:ext cx="696925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退出 ⇒ 空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闲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557201" y="5485924"/>
              <a:ext cx="112649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25968" y="5599271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输出作业结果，释放输出井空间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5382578" y="1524000"/>
              <a:ext cx="6276022" cy="45015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6444615" y="1524000"/>
              <a:ext cx="9525" cy="4501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8013382" y="1524000"/>
              <a:ext cx="9525" cy="45015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925441" cy="909257"/>
            <a:chOff x="520446" y="342900"/>
            <a:chExt cx="492544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9254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 输入程序与输出程序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flow-1"/>
          <p:cNvGrpSpPr/>
          <p:nvPr/>
        </p:nvGrpSpPr>
        <p:grpSpPr>
          <a:xfrm>
            <a:off x="764858" y="1641158"/>
            <a:ext cx="5045392" cy="3861434"/>
            <a:chOff x="764858" y="1641158"/>
            <a:chExt cx="5045392" cy="3861434"/>
          </a:xfrm>
        </p:grpSpPr>
        <p:sp>
          <p:nvSpPr>
            <p:cNvPr id="7" name="Freeform 7"/>
            <p:cNvSpPr/>
            <p:nvPr/>
          </p:nvSpPr>
          <p:spPr>
            <a:xfrm>
              <a:off x="2336482" y="2242185"/>
              <a:ext cx="9525" cy="129540"/>
            </a:xfrm>
            <a:custGeom>
              <a:avLst/>
              <a:gdLst/>
              <a:ahLst/>
              <a:cxnLst/>
              <a:rect l="l" t="t" r="r" b="b"/>
              <a:pathLst>
                <a:path w="9525" h="129540">
                  <a:moveTo>
                    <a:pt x="0" y="0"/>
                  </a:moveTo>
                  <a:lnTo>
                    <a:pt x="0" y="1295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84095" y="2371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908108" y="1942148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1889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36482" y="2161222"/>
              <a:ext cx="2705100" cy="210502"/>
            </a:xfrm>
            <a:custGeom>
              <a:avLst/>
              <a:gdLst/>
              <a:ahLst/>
              <a:cxnLst/>
              <a:rect l="l" t="t" r="r" b="b"/>
              <a:pathLst>
                <a:path w="2705100" h="210502">
                  <a:moveTo>
                    <a:pt x="2705100" y="0"/>
                  </a:moveTo>
                  <a:lnTo>
                    <a:pt x="2705100" y="157162"/>
                  </a:lnTo>
                  <a:lnTo>
                    <a:pt x="0" y="157162"/>
                  </a:lnTo>
                  <a:lnTo>
                    <a:pt x="0" y="2105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84095" y="23717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36482" y="3077528"/>
              <a:ext cx="902017" cy="211455"/>
            </a:xfrm>
            <a:custGeom>
              <a:avLst/>
              <a:gdLst/>
              <a:ahLst/>
              <a:cxnLst/>
              <a:rect l="l" t="t" r="r" b="b"/>
              <a:pathLst>
                <a:path w="902017" h="211455">
                  <a:moveTo>
                    <a:pt x="0" y="0"/>
                  </a:moveTo>
                  <a:lnTo>
                    <a:pt x="0" y="158115"/>
                  </a:lnTo>
                  <a:lnTo>
                    <a:pt x="902017" y="158115"/>
                  </a:lnTo>
                  <a:lnTo>
                    <a:pt x="902017" y="2114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6112" y="3288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08108" y="2777490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69092" y="27251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238500" y="2996565"/>
              <a:ext cx="1803082" cy="292417"/>
            </a:xfrm>
            <a:custGeom>
              <a:avLst/>
              <a:gdLst/>
              <a:ahLst/>
              <a:cxnLst/>
              <a:rect l="l" t="t" r="r" b="b"/>
              <a:pathLst>
                <a:path w="1803082" h="292417">
                  <a:moveTo>
                    <a:pt x="1803082" y="0"/>
                  </a:moveTo>
                  <a:lnTo>
                    <a:pt x="1803082" y="198120"/>
                  </a:lnTo>
                  <a:lnTo>
                    <a:pt x="0" y="198120"/>
                  </a:lnTo>
                  <a:lnTo>
                    <a:pt x="0" y="2924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86112" y="3288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3831908"/>
              <a:ext cx="9525" cy="292417"/>
            </a:xfrm>
            <a:custGeom>
              <a:avLst/>
              <a:gdLst/>
              <a:ahLst/>
              <a:cxnLst/>
              <a:rect l="l" t="t" r="r" b="b"/>
              <a:pathLst>
                <a:path w="9525" h="292417">
                  <a:moveTo>
                    <a:pt x="0" y="0"/>
                  </a:moveTo>
                  <a:lnTo>
                    <a:pt x="0" y="2924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86112" y="4124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3238500" y="4667250"/>
              <a:ext cx="9525" cy="292418"/>
            </a:xfrm>
            <a:custGeom>
              <a:avLst/>
              <a:gdLst/>
              <a:ahLst/>
              <a:cxnLst/>
              <a:rect l="l" t="t" r="r" b="b"/>
              <a:pathLst>
                <a:path w="9525" h="292418">
                  <a:moveTo>
                    <a:pt x="0" y="0"/>
                  </a:moveTo>
                  <a:lnTo>
                    <a:pt x="0" y="2924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186112" y="495966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764858" y="1641158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990"/>
                  </a:lnTo>
                  <a:lnTo>
                    <a:pt x="1571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73868" y="172307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764858" y="2476500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990"/>
                  </a:lnTo>
                  <a:lnTo>
                    <a:pt x="1571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73868" y="255841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2495" y="3393758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2495" y="422910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12495" y="5064442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640751" y="1853089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有待输入的作业？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862792" y="18530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26908" y="2688431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有空闲作业表？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862792" y="26884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95069" y="3523774"/>
              <a:ext cx="34868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取一个空闲作业表作为 JCB，状态改为“提交”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404605" y="4359116"/>
              <a:ext cx="36677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申请输入井空间，作业内容 ⇒ 输入井，填写 JCB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34105" y="5194459"/>
              <a:ext cx="42087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状态改为“后备”；调度程序 (1) 在等后备作业就唤醒它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365058" y="226695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388298" y="229362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76688" y="172593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14978" y="17526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673668" y="30194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11958" y="30460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3976688" y="256127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014978" y="25879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7" name="c1-text-2"/>
          <p:cNvGrpSpPr/>
          <p:nvPr/>
        </p:nvGrpSpPr>
        <p:grpSpPr>
          <a:xfrm>
            <a:off x="526923" y="5912644"/>
            <a:ext cx="5190490" cy="500824"/>
            <a:chOff x="526923" y="5912644"/>
            <a:chExt cx="5190490" cy="500824"/>
          </a:xfrm>
        </p:grpSpPr>
        <p:sp>
          <p:nvSpPr>
            <p:cNvPr id="46" name="TextBox 46"/>
            <p:cNvSpPr txBox="1"/>
            <p:nvPr/>
          </p:nvSpPr>
          <p:spPr>
            <a:xfrm>
              <a:off x="526923" y="5912644"/>
              <a:ext cx="519049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输入程序：处理完一个作业回到开头。没有空闲作业表时的等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待，由输出程序归还 JCB 后唤醒。</a:t>
              </a:r>
            </a:p>
          </p:txBody>
        </p:sp>
      </p:grpSp>
      <p:grpSp>
        <p:nvGrpSpPr>
          <p:cNvPr id="82" name="c2-flow-1"/>
          <p:cNvGrpSpPr/>
          <p:nvPr/>
        </p:nvGrpSpPr>
        <p:grpSpPr>
          <a:xfrm>
            <a:off x="6479858" y="1641158"/>
            <a:ext cx="5045392" cy="3956684"/>
            <a:chOff x="6479858" y="1641158"/>
            <a:chExt cx="5045392" cy="3956684"/>
          </a:xfrm>
        </p:grpSpPr>
        <p:sp>
          <p:nvSpPr>
            <p:cNvPr id="48" name="Freeform 48"/>
            <p:cNvSpPr/>
            <p:nvPr/>
          </p:nvSpPr>
          <p:spPr>
            <a:xfrm>
              <a:off x="8051482" y="2242185"/>
              <a:ext cx="902018" cy="211455"/>
            </a:xfrm>
            <a:custGeom>
              <a:avLst/>
              <a:gdLst/>
              <a:ahLst/>
              <a:cxnLst/>
              <a:rect l="l" t="t" r="r" b="b"/>
              <a:pathLst>
                <a:path w="902018" h="211455">
                  <a:moveTo>
                    <a:pt x="0" y="0"/>
                  </a:moveTo>
                  <a:lnTo>
                    <a:pt x="0" y="158115"/>
                  </a:lnTo>
                  <a:lnTo>
                    <a:pt x="902018" y="158115"/>
                  </a:lnTo>
                  <a:lnTo>
                    <a:pt x="902018" y="2114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901112" y="24536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9623108" y="1942148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9884092" y="188976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8953500" y="2161222"/>
              <a:ext cx="1803082" cy="292418"/>
            </a:xfrm>
            <a:custGeom>
              <a:avLst/>
              <a:gdLst/>
              <a:ahLst/>
              <a:cxnLst/>
              <a:rect l="l" t="t" r="r" b="b"/>
              <a:pathLst>
                <a:path w="1803082" h="292418">
                  <a:moveTo>
                    <a:pt x="1803082" y="0"/>
                  </a:moveTo>
                  <a:lnTo>
                    <a:pt x="1803082" y="198120"/>
                  </a:lnTo>
                  <a:lnTo>
                    <a:pt x="0" y="198120"/>
                  </a:lnTo>
                  <a:lnTo>
                    <a:pt x="0" y="2924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8901112" y="24536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953500" y="2996565"/>
              <a:ext cx="9525" cy="292417"/>
            </a:xfrm>
            <a:custGeom>
              <a:avLst/>
              <a:gdLst/>
              <a:ahLst/>
              <a:cxnLst/>
              <a:rect l="l" t="t" r="r" b="b"/>
              <a:pathLst>
                <a:path w="9525" h="292417">
                  <a:moveTo>
                    <a:pt x="0" y="0"/>
                  </a:moveTo>
                  <a:lnTo>
                    <a:pt x="0" y="2924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8901112" y="32889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953500" y="3831908"/>
              <a:ext cx="9525" cy="292417"/>
            </a:xfrm>
            <a:custGeom>
              <a:avLst/>
              <a:gdLst/>
              <a:ahLst/>
              <a:cxnLst/>
              <a:rect l="l" t="t" r="r" b="b"/>
              <a:pathLst>
                <a:path w="9525" h="292417">
                  <a:moveTo>
                    <a:pt x="0" y="0"/>
                  </a:moveTo>
                  <a:lnTo>
                    <a:pt x="0" y="29241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8901112" y="412432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051482" y="4667250"/>
              <a:ext cx="902018" cy="210503"/>
            </a:xfrm>
            <a:custGeom>
              <a:avLst/>
              <a:gdLst/>
              <a:ahLst/>
              <a:cxnLst/>
              <a:rect l="l" t="t" r="r" b="b"/>
              <a:pathLst>
                <a:path w="902018" h="210503">
                  <a:moveTo>
                    <a:pt x="902018" y="0"/>
                  </a:moveTo>
                  <a:lnTo>
                    <a:pt x="902018" y="157162"/>
                  </a:lnTo>
                  <a:lnTo>
                    <a:pt x="0" y="157162"/>
                  </a:lnTo>
                  <a:lnTo>
                    <a:pt x="0" y="2105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7999095" y="48777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623108" y="5283518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1" name="Freeform 61"/>
            <p:cNvSpPr/>
            <p:nvPr/>
          </p:nvSpPr>
          <p:spPr>
            <a:xfrm>
              <a:off x="9884092" y="52311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479858" y="1641158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990"/>
                  </a:lnTo>
                  <a:lnTo>
                    <a:pt x="1571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9988868" y="172307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6627495" y="2558415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5" name="Rectangle 65"/>
            <p:cNvSpPr/>
            <p:nvPr/>
          </p:nvSpPr>
          <p:spPr>
            <a:xfrm>
              <a:off x="6627495" y="3393758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27495" y="4229100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6479858" y="4982528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990"/>
                  </a:lnTo>
                  <a:lnTo>
                    <a:pt x="1571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9988868" y="4968240"/>
              <a:ext cx="1536382" cy="629602"/>
            </a:xfrm>
            <a:prstGeom prst="roundRect">
              <a:avLst>
                <a:gd name="adj" fmla="val 1512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74822" y="1853089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输出井有“完成”作业？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577792" y="18530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1283" y="2688431"/>
              <a:ext cx="28044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取一个“完成”作业，状态改为“退出”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40828" y="352377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输出作业结果，释放输出井空间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35310" y="4359116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状态改为“空闲”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178236" y="5194459"/>
              <a:ext cx="1746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有进程在等空闲 JCB？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81145" y="5084921"/>
              <a:ext cx="115087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唤醒一个预输入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进程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8388668" y="218408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426958" y="22107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691688" y="172593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29978" y="17526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9691688" y="506730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9729978" y="5093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84" name="c2-text-2"/>
          <p:cNvGrpSpPr/>
          <p:nvPr/>
        </p:nvGrpSpPr>
        <p:grpSpPr>
          <a:xfrm>
            <a:off x="6241923" y="5912644"/>
            <a:ext cx="5206746" cy="500824"/>
            <a:chOff x="6241923" y="5912644"/>
            <a:chExt cx="5206746" cy="500824"/>
          </a:xfrm>
        </p:grpSpPr>
        <p:sp>
          <p:nvSpPr>
            <p:cNvPr id="83" name="TextBox 83"/>
            <p:cNvSpPr txBox="1"/>
            <p:nvPr/>
          </p:nvSpPr>
          <p:spPr>
            <a:xfrm>
              <a:off x="6241923" y="5912644"/>
              <a:ext cx="5206746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SPOOLing 输出程序：同样循环执行。输出井里的“完成”作业由作业调度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程序（2）产生，见下一页。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405397" cy="909257"/>
            <a:chOff x="520446" y="342900"/>
            <a:chExt cx="840539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40539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作业调度程序 (1) 选作业进内存，(2) 回收结束的作业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flow-1"/>
          <p:cNvGrpSpPr/>
          <p:nvPr/>
        </p:nvGrpSpPr>
        <p:grpSpPr>
          <a:xfrm>
            <a:off x="764858" y="1777365"/>
            <a:ext cx="5045392" cy="3840480"/>
            <a:chOff x="764858" y="1777365"/>
            <a:chExt cx="5045392" cy="3840480"/>
          </a:xfrm>
        </p:grpSpPr>
        <p:sp>
          <p:nvSpPr>
            <p:cNvPr id="7" name="Freeform 7"/>
            <p:cNvSpPr/>
            <p:nvPr/>
          </p:nvSpPr>
          <p:spPr>
            <a:xfrm>
              <a:off x="2336482" y="2378392"/>
              <a:ext cx="9525" cy="401003"/>
            </a:xfrm>
            <a:custGeom>
              <a:avLst/>
              <a:gdLst/>
              <a:ahLst/>
              <a:cxnLst/>
              <a:rect l="l" t="t" r="r" b="b"/>
              <a:pathLst>
                <a:path w="9525" h="401003">
                  <a:moveTo>
                    <a:pt x="0" y="0"/>
                  </a:moveTo>
                  <a:lnTo>
                    <a:pt x="0" y="4010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284095" y="2779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3908108" y="2077402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4169092" y="20250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36482" y="2296478"/>
              <a:ext cx="2705100" cy="482918"/>
            </a:xfrm>
            <a:custGeom>
              <a:avLst/>
              <a:gdLst/>
              <a:ahLst/>
              <a:cxnLst/>
              <a:rect l="l" t="t" r="r" b="b"/>
              <a:pathLst>
                <a:path w="2705100" h="482918">
                  <a:moveTo>
                    <a:pt x="2705100" y="0"/>
                  </a:moveTo>
                  <a:lnTo>
                    <a:pt x="2705100" y="293370"/>
                  </a:lnTo>
                  <a:lnTo>
                    <a:pt x="0" y="293370"/>
                  </a:lnTo>
                  <a:lnTo>
                    <a:pt x="0" y="48291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284095" y="277939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336482" y="3485198"/>
              <a:ext cx="902017" cy="386715"/>
            </a:xfrm>
            <a:custGeom>
              <a:avLst/>
              <a:gdLst/>
              <a:ahLst/>
              <a:cxnLst/>
              <a:rect l="l" t="t" r="r" b="b"/>
              <a:pathLst>
                <a:path w="902017" h="386715">
                  <a:moveTo>
                    <a:pt x="0" y="0"/>
                  </a:moveTo>
                  <a:lnTo>
                    <a:pt x="0" y="245745"/>
                  </a:lnTo>
                  <a:lnTo>
                    <a:pt x="902017" y="245745"/>
                  </a:lnTo>
                  <a:lnTo>
                    <a:pt x="902017" y="3867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6112" y="3871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3908108" y="3184208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169092" y="31318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238500" y="3403282"/>
              <a:ext cx="1803082" cy="468630"/>
            </a:xfrm>
            <a:custGeom>
              <a:avLst/>
              <a:gdLst/>
              <a:ahLst/>
              <a:cxnLst/>
              <a:rect l="l" t="t" r="r" b="b"/>
              <a:pathLst>
                <a:path w="1803082" h="468630">
                  <a:moveTo>
                    <a:pt x="1803082" y="0"/>
                  </a:moveTo>
                  <a:lnTo>
                    <a:pt x="1803082" y="286702"/>
                  </a:lnTo>
                  <a:lnTo>
                    <a:pt x="0" y="286702"/>
                  </a:lnTo>
                  <a:lnTo>
                    <a:pt x="0" y="468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86112" y="387191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4606290"/>
              <a:ext cx="9525" cy="468630"/>
            </a:xfrm>
            <a:custGeom>
              <a:avLst/>
              <a:gdLst/>
              <a:ahLst/>
              <a:cxnLst/>
              <a:rect l="l" t="t" r="r" b="b"/>
              <a:pathLst>
                <a:path w="9525" h="468630">
                  <a:moveTo>
                    <a:pt x="0" y="0"/>
                  </a:moveTo>
                  <a:lnTo>
                    <a:pt x="0" y="4686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86112" y="507492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764858" y="1777365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038"/>
                  </a:lnTo>
                  <a:lnTo>
                    <a:pt x="1571625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73868" y="185832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64858" y="2884170"/>
              <a:ext cx="3143250" cy="601027"/>
            </a:xfrm>
            <a:custGeom>
              <a:avLst/>
              <a:gdLst/>
              <a:ahLst/>
              <a:cxnLst/>
              <a:rect l="l" t="t" r="r" b="b"/>
              <a:pathLst>
                <a:path w="3143250" h="601027">
                  <a:moveTo>
                    <a:pt x="1571625" y="0"/>
                  </a:moveTo>
                  <a:lnTo>
                    <a:pt x="3143250" y="300038"/>
                  </a:lnTo>
                  <a:lnTo>
                    <a:pt x="1571625" y="601027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4273868" y="2965132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2495" y="3976688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2495" y="5179695"/>
              <a:ext cx="465296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49906" y="1988344"/>
              <a:ext cx="17731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内存中已有 N 道作业？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62792" y="19883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68438" y="309514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输入井中有后备作业？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62792" y="309514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60983" y="4093369"/>
              <a:ext cx="395503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访问磁盘中的作业表，根据 JCB 中的调度参数，按作业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调度算法选一个后备作业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41801" y="5309711"/>
              <a:ext cx="3993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作业状态标记为“执行”，为该作业建立作业控制进程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365058" y="253936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88298" y="256603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976688" y="186118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014978" y="18878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73668" y="35147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11958" y="35413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976688" y="2967990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014978" y="299466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3" name="c1-text-2"/>
          <p:cNvGrpSpPr/>
          <p:nvPr/>
        </p:nvGrpSpPr>
        <p:grpSpPr>
          <a:xfrm>
            <a:off x="526923" y="6163151"/>
            <a:ext cx="4570324" cy="249364"/>
            <a:chOff x="526923" y="6163151"/>
            <a:chExt cx="4570324" cy="249364"/>
          </a:xfrm>
        </p:grpSpPr>
        <p:sp>
          <p:nvSpPr>
            <p:cNvPr id="42" name="TextBox 42"/>
            <p:cNvSpPr txBox="1"/>
            <p:nvPr/>
          </p:nvSpPr>
          <p:spPr>
            <a:xfrm>
              <a:off x="526923" y="6163151"/>
              <a:ext cx="4570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作业调度程序（1）：N 是内存中允许同时存在的作业道数。</a:t>
              </a:r>
            </a:p>
          </p:txBody>
        </p:sp>
      </p:grpSp>
      <p:grpSp>
        <p:nvGrpSpPr>
          <p:cNvPr id="84" name="c2-flow-1"/>
          <p:cNvGrpSpPr/>
          <p:nvPr/>
        </p:nvGrpSpPr>
        <p:grpSpPr>
          <a:xfrm>
            <a:off x="6479858" y="1745932"/>
            <a:ext cx="5045392" cy="3842386"/>
            <a:chOff x="6479858" y="1745932"/>
            <a:chExt cx="5045392" cy="3842386"/>
          </a:xfrm>
        </p:grpSpPr>
        <p:sp>
          <p:nvSpPr>
            <p:cNvPr id="44" name="Freeform 44"/>
            <p:cNvSpPr/>
            <p:nvPr/>
          </p:nvSpPr>
          <p:spPr>
            <a:xfrm>
              <a:off x="8051482" y="2346960"/>
              <a:ext cx="902018" cy="323850"/>
            </a:xfrm>
            <a:custGeom>
              <a:avLst/>
              <a:gdLst/>
              <a:ahLst/>
              <a:cxnLst/>
              <a:rect l="l" t="t" r="r" b="b"/>
              <a:pathLst>
                <a:path w="902018" h="323850">
                  <a:moveTo>
                    <a:pt x="0" y="0"/>
                  </a:moveTo>
                  <a:lnTo>
                    <a:pt x="0" y="214312"/>
                  </a:lnTo>
                  <a:lnTo>
                    <a:pt x="902018" y="214312"/>
                  </a:lnTo>
                  <a:lnTo>
                    <a:pt x="902018" y="3238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8901112" y="26708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9623108" y="2045970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9884092" y="199358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8" name="Freeform 48"/>
            <p:cNvSpPr/>
            <p:nvPr/>
          </p:nvSpPr>
          <p:spPr>
            <a:xfrm>
              <a:off x="8953500" y="2265045"/>
              <a:ext cx="1803082" cy="405765"/>
            </a:xfrm>
            <a:custGeom>
              <a:avLst/>
              <a:gdLst/>
              <a:ahLst/>
              <a:cxnLst/>
              <a:rect l="l" t="t" r="r" b="b"/>
              <a:pathLst>
                <a:path w="1803082" h="405765">
                  <a:moveTo>
                    <a:pt x="1803082" y="0"/>
                  </a:moveTo>
                  <a:lnTo>
                    <a:pt x="1803082" y="255270"/>
                  </a:lnTo>
                  <a:lnTo>
                    <a:pt x="0" y="255270"/>
                  </a:lnTo>
                  <a:lnTo>
                    <a:pt x="0" y="4057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901112" y="26708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8051482" y="3405188"/>
              <a:ext cx="902018" cy="323850"/>
            </a:xfrm>
            <a:custGeom>
              <a:avLst/>
              <a:gdLst/>
              <a:ahLst/>
              <a:cxnLst/>
              <a:rect l="l" t="t" r="r" b="b"/>
              <a:pathLst>
                <a:path w="902018" h="323850">
                  <a:moveTo>
                    <a:pt x="902018" y="0"/>
                  </a:moveTo>
                  <a:lnTo>
                    <a:pt x="902018" y="214312"/>
                  </a:lnTo>
                  <a:lnTo>
                    <a:pt x="0" y="214312"/>
                  </a:lnTo>
                  <a:lnTo>
                    <a:pt x="0" y="3238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99095" y="372903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9623108" y="4134802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3" name="Freeform 53"/>
            <p:cNvSpPr/>
            <p:nvPr/>
          </p:nvSpPr>
          <p:spPr>
            <a:xfrm>
              <a:off x="9884092" y="40824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051482" y="4434840"/>
              <a:ext cx="9525" cy="229552"/>
            </a:xfrm>
            <a:custGeom>
              <a:avLst/>
              <a:gdLst/>
              <a:ahLst/>
              <a:cxnLst/>
              <a:rect l="l" t="t" r="r" b="b"/>
              <a:pathLst>
                <a:path w="9525" h="229552">
                  <a:moveTo>
                    <a:pt x="0" y="0"/>
                  </a:moveTo>
                  <a:lnTo>
                    <a:pt x="0" y="22955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5" name="Freeform 55"/>
            <p:cNvSpPr/>
            <p:nvPr/>
          </p:nvSpPr>
          <p:spPr>
            <a:xfrm>
              <a:off x="7999095" y="4664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8051482" y="4353878"/>
              <a:ext cx="2705100" cy="310515"/>
            </a:xfrm>
            <a:custGeom>
              <a:avLst/>
              <a:gdLst/>
              <a:ahLst/>
              <a:cxnLst/>
              <a:rect l="l" t="t" r="r" b="b"/>
              <a:pathLst>
                <a:path w="2705100" h="310515">
                  <a:moveTo>
                    <a:pt x="2705100" y="0"/>
                  </a:moveTo>
                  <a:lnTo>
                    <a:pt x="2705100" y="207645"/>
                  </a:lnTo>
                  <a:lnTo>
                    <a:pt x="0" y="207645"/>
                  </a:lnTo>
                  <a:lnTo>
                    <a:pt x="0" y="310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7999095" y="466439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9623108" y="5178742"/>
              <a:ext cx="260985" cy="9525"/>
            </a:xfrm>
            <a:custGeom>
              <a:avLst/>
              <a:gdLst/>
              <a:ahLst/>
              <a:cxnLst/>
              <a:rect l="l" t="t" r="r" b="b"/>
              <a:pathLst>
                <a:path w="260985" h="9525">
                  <a:moveTo>
                    <a:pt x="0" y="0"/>
                  </a:moveTo>
                  <a:lnTo>
                    <a:pt x="26098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884092" y="51263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6479858" y="1745932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038"/>
                  </a:lnTo>
                  <a:lnTo>
                    <a:pt x="1571625" y="601028"/>
                  </a:lnTo>
                  <a:lnTo>
                    <a:pt x="0" y="300038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9988868" y="1826895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627495" y="2775585"/>
              <a:ext cx="4652962" cy="629602"/>
            </a:xfrm>
            <a:prstGeom prst="roundRect">
              <a:avLst>
                <a:gd name="adj" fmla="val 1512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479858" y="3833812"/>
              <a:ext cx="3143250" cy="601028"/>
            </a:xfrm>
            <a:custGeom>
              <a:avLst/>
              <a:gdLst/>
              <a:ahLst/>
              <a:cxnLst/>
              <a:rect l="l" t="t" r="r" b="b"/>
              <a:pathLst>
                <a:path w="3143250" h="601028">
                  <a:moveTo>
                    <a:pt x="1571625" y="0"/>
                  </a:moveTo>
                  <a:lnTo>
                    <a:pt x="3143250" y="300990"/>
                  </a:lnTo>
                  <a:lnTo>
                    <a:pt x="1571625" y="601028"/>
                  </a:lnTo>
                  <a:lnTo>
                    <a:pt x="0" y="300990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9988868" y="391572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6479858" y="4769168"/>
              <a:ext cx="3143250" cy="819150"/>
            </a:xfrm>
            <a:custGeom>
              <a:avLst/>
              <a:gdLst/>
              <a:ahLst/>
              <a:cxnLst/>
              <a:rect l="l" t="t" r="r" b="b"/>
              <a:pathLst>
                <a:path w="3143250" h="819150">
                  <a:moveTo>
                    <a:pt x="1571625" y="0"/>
                  </a:moveTo>
                  <a:lnTo>
                    <a:pt x="3143250" y="409575"/>
                  </a:lnTo>
                  <a:lnTo>
                    <a:pt x="1571625" y="819150"/>
                  </a:lnTo>
                  <a:lnTo>
                    <a:pt x="0" y="4095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9988868" y="4959668"/>
              <a:ext cx="1536382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097281" y="195691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有终止的作业控制进程？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77792" y="19569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996303" y="2892266"/>
              <a:ext cx="3914394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取一个终止的作业控制进程，撤销它并作善后处理；作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业状态改为“完成”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01589" y="4045744"/>
              <a:ext cx="18997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(1) 因内存已满在等待？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409786" y="4045744"/>
              <a:ext cx="693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 (1)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42798" y="4980146"/>
              <a:ext cx="1817370" cy="468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2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有输出程序在等“完成”作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业？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05478" y="508968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唤醒一个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8388668" y="234505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8426958" y="237172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691688" y="1829752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9729978" y="185642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9691688" y="391858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29978" y="394525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8080058" y="4510088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8103298" y="453675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691688" y="4962525"/>
              <a:ext cx="22860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9729978" y="49891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</p:grpSp>
      <p:grpSp>
        <p:nvGrpSpPr>
          <p:cNvPr id="86" name="c2-text-2"/>
          <p:cNvGrpSpPr/>
          <p:nvPr/>
        </p:nvGrpSpPr>
        <p:grpSpPr>
          <a:xfrm>
            <a:off x="6241923" y="5912644"/>
            <a:ext cx="5141722" cy="500824"/>
            <a:chOff x="6241923" y="5912644"/>
            <a:chExt cx="5141722" cy="500824"/>
          </a:xfrm>
        </p:grpSpPr>
        <p:sp>
          <p:nvSpPr>
            <p:cNvPr id="85" name="TextBox 85"/>
            <p:cNvSpPr txBox="1"/>
            <p:nvPr/>
          </p:nvSpPr>
          <p:spPr>
            <a:xfrm>
              <a:off x="6241923" y="5912644"/>
              <a:ext cx="5141722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作业调度程序（2）：撤销一道作业，内存就空出一道，所以要唤醒可能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在等的（1）。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稳定存储器：写两份，出错时用另一份恢复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4977765" cy="1615440"/>
            <a:chOff x="533400" y="1524000"/>
            <a:chExt cx="4977765" cy="1615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615440"/>
            </a:xfrm>
            <a:prstGeom prst="roundRect">
              <a:avLst>
                <a:gd name="adj" fmla="val 82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4874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2501265" cy="24765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0360" y="1756410"/>
              <a:ext cx="2439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9.11 稳定存储器（stable storage）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381" y="208264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不丢失信息的存储器称为稳定存储器。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7240" y="2460308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3831" y="240077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不存在绝对可靠的存储介质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7240" y="2778442"/>
              <a:ext cx="60960" cy="6096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831" y="2717959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策略：冗余，在两种失效独立的介质上构建</a:t>
              </a:r>
            </a:p>
          </p:txBody>
        </p:sp>
      </p:grpSp>
      <p:grpSp>
        <p:nvGrpSpPr>
          <p:cNvPr id="30" name="c1-steps-2"/>
          <p:cNvGrpSpPr/>
          <p:nvPr/>
        </p:nvGrpSpPr>
        <p:grpSpPr>
          <a:xfrm>
            <a:off x="533400" y="3328988"/>
            <a:ext cx="3817620" cy="1781556"/>
            <a:chOff x="533400" y="3328988"/>
            <a:chExt cx="3817620" cy="1781556"/>
          </a:xfrm>
        </p:grpSpPr>
        <p:sp>
          <p:nvSpPr>
            <p:cNvPr id="17" name="Rectangle 17"/>
            <p:cNvSpPr/>
            <p:nvPr/>
          </p:nvSpPr>
          <p:spPr>
            <a:xfrm>
              <a:off x="666750" y="3471862"/>
              <a:ext cx="19050" cy="123348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33400" y="3328988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34028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533400" y="394525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7024" y="401907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533400" y="4562475"/>
              <a:ext cx="285750" cy="285750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27024" y="46362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261" y="336184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写第一块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404" y="36423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将信息写到第一个存储块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5261" y="397906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写第二块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404" y="425958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第一次写成功后，将相同信息写到第二个存储块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5261" y="459533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404" y="4875848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仅当第二次传输也成功时，整个保存操作才完成</a:t>
              </a:r>
            </a:p>
          </p:txBody>
        </p:sp>
      </p:grpSp>
      <p:grpSp>
        <p:nvGrpSpPr>
          <p:cNvPr id="37" name="c1-callout-3"/>
          <p:cNvGrpSpPr/>
          <p:nvPr/>
        </p:nvGrpSpPr>
        <p:grpSpPr>
          <a:xfrm>
            <a:off x="533400" y="5281612"/>
            <a:ext cx="4977765" cy="1018222"/>
            <a:chOff x="533400" y="5281612"/>
            <a:chExt cx="4977765" cy="1018222"/>
          </a:xfrm>
        </p:grpSpPr>
        <p:sp>
          <p:nvSpPr>
            <p:cNvPr id="31" name="Rectangle 31"/>
            <p:cNvSpPr/>
            <p:nvPr/>
          </p:nvSpPr>
          <p:spPr>
            <a:xfrm>
              <a:off x="533400" y="5281612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691188"/>
              <a:ext cx="200026" cy="200025"/>
              <a:chOff x="738188" y="5691188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6911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77926" y="57356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12642" y="58467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511" y="5428774"/>
              <a:ext cx="398195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两份要放在失效相互独立的介质上。若放在同一块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盘的相邻位置，一次磁头故障就可能同时毁掉两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份。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815965" y="1524000"/>
            <a:ext cx="5842635" cy="1697355"/>
            <a:chOff x="5815965" y="1524000"/>
            <a:chExt cx="5842635" cy="1697355"/>
          </a:xfrm>
        </p:grpSpPr>
        <p:sp>
          <p:nvSpPr>
            <p:cNvPr id="38" name="Rectangle 38"/>
            <p:cNvSpPr/>
            <p:nvPr/>
          </p:nvSpPr>
          <p:spPr>
            <a:xfrm>
              <a:off x="5815965" y="1524000"/>
              <a:ext cx="584263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609016" y="16525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恢复时鉴别两块的内容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76510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18454" y="207645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内容完全相同，且都未检测到错误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32189" y="20764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正常，不用处理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236791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15965" y="2372678"/>
              <a:ext cx="584263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918454" y="250126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其中一块检测到错误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132189" y="250126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用另一块取代它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79273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18454" y="292608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两块都未检测到错误，但内容不同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2189" y="292608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用第二块的内容取代第一块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815965" y="1524000"/>
              <a:ext cx="5842635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24938" y="152400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c2-table-2"/>
          <p:cNvGrpSpPr/>
          <p:nvPr/>
        </p:nvGrpSpPr>
        <p:grpSpPr>
          <a:xfrm>
            <a:off x="5810631" y="3402330"/>
            <a:ext cx="5847969" cy="2617089"/>
            <a:chOff x="5810631" y="3402330"/>
            <a:chExt cx="5847969" cy="2617089"/>
          </a:xfrm>
        </p:grpSpPr>
        <p:sp>
          <p:nvSpPr>
            <p:cNvPr id="53" name="Rectangle 53"/>
            <p:cNvSpPr/>
            <p:nvPr/>
          </p:nvSpPr>
          <p:spPr>
            <a:xfrm>
              <a:off x="5815965" y="3402330"/>
              <a:ext cx="5842635" cy="424815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107049" y="35299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故障发生在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17752" y="352996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恢复时看到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218801" y="352996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恢复结果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918454" y="3954780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写第一块的过程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320534" y="4061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第一块出错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540812" y="3954780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用第二块（旧值）取代：本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次保存作废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815965" y="44596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15965" y="4464368"/>
              <a:ext cx="5842635" cy="6381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18454" y="4699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两次写之间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20534" y="46996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两块无错但不同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40812" y="4592955"/>
              <a:ext cx="16885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第二块（旧值）取代第一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块：本次保存作废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815965" y="509682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8454" y="5230178"/>
              <a:ext cx="1078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写第二块的过程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320534" y="5336858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第二块出错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540812" y="5230178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用第一块（新值）取代：本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次保存生效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815965" y="3402330"/>
              <a:ext cx="5842635" cy="233743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7213282" y="340233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433560" y="3402330"/>
              <a:ext cx="9525" cy="233743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5810631" y="5814060"/>
              <a:ext cx="580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本讲义补充的推演：无论故障发生在哪一刻，恢复后两块一致，要么都是旧值，要么都是新值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5748" cy="909257"/>
            <a:chOff x="520446" y="342900"/>
            <a:chExt cx="551574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574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系统举例：Windows 的 I/O 子系统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7" name="c1-flow-1"/>
          <p:cNvGrpSpPr/>
          <p:nvPr/>
        </p:nvGrpSpPr>
        <p:grpSpPr>
          <a:xfrm>
            <a:off x="666750" y="1649730"/>
            <a:ext cx="4493895" cy="2508885"/>
            <a:chOff x="666750" y="1649730"/>
            <a:chExt cx="4493895" cy="2508885"/>
          </a:xfrm>
        </p:grpSpPr>
        <p:sp>
          <p:nvSpPr>
            <p:cNvPr id="7" name="Freeform 7"/>
            <p:cNvSpPr/>
            <p:nvPr/>
          </p:nvSpPr>
          <p:spPr>
            <a:xfrm>
              <a:off x="2913698" y="2087880"/>
              <a:ext cx="9525" cy="147638"/>
            </a:xfrm>
            <a:custGeom>
              <a:avLst/>
              <a:gdLst/>
              <a:ahLst/>
              <a:cxnLst/>
              <a:rect l="l" t="t" r="r" b="b"/>
              <a:pathLst>
                <a:path w="9525" h="147638">
                  <a:moveTo>
                    <a:pt x="0" y="0"/>
                  </a:moveTo>
                  <a:lnTo>
                    <a:pt x="0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861310" y="223551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26832" y="2778442"/>
              <a:ext cx="1586865" cy="146685"/>
            </a:xfrm>
            <a:custGeom>
              <a:avLst/>
              <a:gdLst/>
              <a:ahLst/>
              <a:cxnLst/>
              <a:rect l="l" t="t" r="r" b="b"/>
              <a:pathLst>
                <a:path w="1586865" h="146685">
                  <a:moveTo>
                    <a:pt x="1586865" y="0"/>
                  </a:moveTo>
                  <a:lnTo>
                    <a:pt x="1586865" y="125730"/>
                  </a:lnTo>
                  <a:lnTo>
                    <a:pt x="0" y="125730"/>
                  </a:lnTo>
                  <a:lnTo>
                    <a:pt x="0" y="146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74445" y="29251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913698" y="2778442"/>
              <a:ext cx="1586865" cy="146685"/>
            </a:xfrm>
            <a:custGeom>
              <a:avLst/>
              <a:gdLst/>
              <a:ahLst/>
              <a:cxnLst/>
              <a:rect l="l" t="t" r="r" b="b"/>
              <a:pathLst>
                <a:path w="1586865" h="146685">
                  <a:moveTo>
                    <a:pt x="0" y="0"/>
                  </a:moveTo>
                  <a:lnTo>
                    <a:pt x="0" y="125730"/>
                  </a:lnTo>
                  <a:lnTo>
                    <a:pt x="1586865" y="125730"/>
                  </a:lnTo>
                  <a:lnTo>
                    <a:pt x="1586865" y="1466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448175" y="292512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091690" y="3248978"/>
              <a:ext cx="1748790" cy="9525"/>
            </a:xfrm>
            <a:custGeom>
              <a:avLst/>
              <a:gdLst/>
              <a:ahLst/>
              <a:cxnLst/>
              <a:rect l="l" t="t" r="r" b="b"/>
              <a:pathLst>
                <a:path w="1748790" h="9525">
                  <a:moveTo>
                    <a:pt x="1748790" y="0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  <a:custDash>
                <a:ds d="375000" sp="250000"/>
              </a:custDash>
            </a:ln>
          </p:spPr>
        </p:sp>
        <p:sp>
          <p:nvSpPr>
            <p:cNvPr id="14" name="Freeform 14"/>
            <p:cNvSpPr/>
            <p:nvPr/>
          </p:nvSpPr>
          <p:spPr>
            <a:xfrm>
              <a:off x="1986915" y="31965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0" y="52388"/>
                  </a:moveTo>
                  <a:lnTo>
                    <a:pt x="104775" y="0"/>
                  </a:lnTo>
                  <a:lnTo>
                    <a:pt x="104775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1326832" y="3468052"/>
              <a:ext cx="9525" cy="147638"/>
            </a:xfrm>
            <a:custGeom>
              <a:avLst/>
              <a:gdLst/>
              <a:ahLst/>
              <a:cxnLst/>
              <a:rect l="l" t="t" r="r" b="b"/>
              <a:pathLst>
                <a:path w="9525" h="147638">
                  <a:moveTo>
                    <a:pt x="0" y="0"/>
                  </a:moveTo>
                  <a:lnTo>
                    <a:pt x="0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274445" y="36156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326832" y="3468052"/>
              <a:ext cx="1586865" cy="147638"/>
            </a:xfrm>
            <a:custGeom>
              <a:avLst/>
              <a:gdLst/>
              <a:ahLst/>
              <a:cxnLst/>
              <a:rect l="l" t="t" r="r" b="b"/>
              <a:pathLst>
                <a:path w="1586865" h="147638">
                  <a:moveTo>
                    <a:pt x="0" y="0"/>
                  </a:moveTo>
                  <a:lnTo>
                    <a:pt x="0" y="126682"/>
                  </a:lnTo>
                  <a:lnTo>
                    <a:pt x="1586865" y="126682"/>
                  </a:lnTo>
                  <a:lnTo>
                    <a:pt x="1586865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2861310" y="36156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500562" y="3468052"/>
              <a:ext cx="9525" cy="147638"/>
            </a:xfrm>
            <a:custGeom>
              <a:avLst/>
              <a:gdLst/>
              <a:ahLst/>
              <a:cxnLst/>
              <a:rect l="l" t="t" r="r" b="b"/>
              <a:pathLst>
                <a:path w="9525" h="147638">
                  <a:moveTo>
                    <a:pt x="0" y="0"/>
                  </a:moveTo>
                  <a:lnTo>
                    <a:pt x="0" y="1476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4448175" y="36156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53615" y="1649730"/>
              <a:ext cx="1320165" cy="438150"/>
            </a:xfrm>
            <a:prstGeom prst="roundRect">
              <a:avLst>
                <a:gd name="adj" fmla="val 50000"/>
              </a:avLst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253615" y="234029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" y="302990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5240">
              <a:solidFill>
                <a:srgbClr val="0E7C8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840480" y="3029902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E2F3F4"/>
            </a:solidFill>
            <a:ln w="19050">
              <a:solidFill>
                <a:srgbClr val="0E7C86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6750" y="3720465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53615" y="3720465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840480" y="3720465"/>
              <a:ext cx="1320165" cy="438150"/>
            </a:xfrm>
            <a:prstGeom prst="roundRect">
              <a:avLst>
                <a:gd name="adj" fmla="val 21739"/>
              </a:avLst>
            </a:prstGeom>
            <a:solidFill>
              <a:srgbClr val="F4F6FB"/>
            </a:solidFill>
            <a:ln w="13335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562593" y="1779746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2593" y="247030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系统服务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5728" y="315991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文件系统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76494" y="3159919"/>
              <a:ext cx="10481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管理程序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5728" y="3850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磁盘驱动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89360" y="3850481"/>
              <a:ext cx="8486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光盘驱动 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49458" y="385048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磁带驱动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772728" y="3032760"/>
              <a:ext cx="28194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803817" y="305943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IRP</a:t>
              </a:r>
            </a:p>
          </p:txBody>
        </p:sp>
      </p:grpSp>
      <p:grpSp>
        <p:nvGrpSpPr>
          <p:cNvPr id="43" name="c1-card-2"/>
          <p:cNvGrpSpPr/>
          <p:nvPr/>
        </p:nvGrpSpPr>
        <p:grpSpPr>
          <a:xfrm>
            <a:off x="533400" y="4474845"/>
            <a:ext cx="4760595" cy="1887855"/>
            <a:chOff x="533400" y="4474845"/>
            <a:chExt cx="4760595" cy="1887855"/>
          </a:xfrm>
        </p:grpSpPr>
        <p:sp>
          <p:nvSpPr>
            <p:cNvPr id="38" name="Rectangle 38"/>
            <p:cNvSpPr/>
            <p:nvPr/>
          </p:nvSpPr>
          <p:spPr>
            <a:xfrm>
              <a:off x="533400" y="4474845"/>
              <a:ext cx="4760595" cy="1887855"/>
            </a:xfrm>
            <a:prstGeom prst="roundRect">
              <a:avLst>
                <a:gd name="adj" fmla="val 70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42925" y="4608195"/>
              <a:ext cx="47625" cy="16211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81050" y="46843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1258" y="47201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3430" y="5061585"/>
              <a:ext cx="41300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原课件本节标题为“系统举例－Linux”，但所列的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NTFS、IRP、APC 等都是 Windows（NT 系列）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子系统的特点，原课件下一页的结构图也标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Windows 10。</a:t>
              </a:r>
            </a:p>
          </p:txBody>
        </p:sp>
      </p:grpSp>
      <p:grpSp>
        <p:nvGrpSpPr>
          <p:cNvPr id="58" name="c2-kv-1"/>
          <p:cNvGrpSpPr/>
          <p:nvPr/>
        </p:nvGrpSpPr>
        <p:grpSpPr>
          <a:xfrm>
            <a:off x="5591175" y="1548765"/>
            <a:ext cx="6067425" cy="4027170"/>
            <a:chOff x="5591175" y="1548765"/>
            <a:chExt cx="6067425" cy="4027170"/>
          </a:xfrm>
        </p:grpSpPr>
        <p:sp>
          <p:nvSpPr>
            <p:cNvPr id="44" name="TextBox 44"/>
            <p:cNvSpPr txBox="1"/>
            <p:nvPr/>
          </p:nvSpPr>
          <p:spPr>
            <a:xfrm>
              <a:off x="5591175" y="154876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涉及内容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5642" y="154876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设备驱动，设备缓冲，文件管理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598795" y="186880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91175" y="198882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动态加载驱动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045642" y="1988820"/>
              <a:ext cx="43967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系统管理员可以动态添加或删除设备，驱动程序通常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 DLL 的形式动态加载；驱动可用高级语言编写，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移植性好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598795" y="287274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91175" y="2992755"/>
              <a:ext cx="1158240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可装卸文件系</a:t>
              </a:r>
              <a:br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45642" y="2992755"/>
              <a:ext cx="42538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除 NTFS 外，还支持 FAT32、OS/2 的 HPFS、CDFS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等；支持映像文件 I/O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598795" y="359473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591175" y="3714750"/>
              <a:ext cx="10466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I/O 请求包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5642" y="3714750"/>
              <a:ext cx="43205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设备管理子系统以 I/O 请求包（IRP，I/O Request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Package）方式驱动，每个 I/O 请求都表示为一个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IRP，由 I/O 管理器协调各组成部分之间的相互作用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459867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91175" y="4718685"/>
              <a:ext cx="8447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异步 I/O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45642" y="4718685"/>
              <a:ext cx="4434840" cy="857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由系统进程（线程）提供：请求者不必等传输结果就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可以立即返回，具体 I/O 由系统线程完成；通过异步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过程调用（APC）实现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50464" cy="909257"/>
            <a:chOff x="520446" y="342900"/>
            <a:chExt cx="2950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3505200" cy="2257425"/>
            <a:chOff x="533400" y="1524000"/>
            <a:chExt cx="3505200" cy="22574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3232" y="2054542"/>
              <a:ext cx="292708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每柱面 4 个盘面、每道 16 个扇区。块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 1000 的三维地址是多少？(3, 2,</a:t>
              </a:r>
            </a:p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5) 的块号呢？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3232" y="2869882"/>
              <a:ext cx="281692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mn = 64：1000÷64 = 15 余 40，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40÷16 = 2 余 8，得 (15, 2, 8)；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3×64 + 2×16 + 5 = 229。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3950970"/>
            <a:ext cx="3505200" cy="2257425"/>
            <a:chOff x="533400" y="3950970"/>
            <a:chExt cx="3505200" cy="2257425"/>
          </a:xfrm>
        </p:grpSpPr>
        <p:sp>
          <p:nvSpPr>
            <p:cNvPr id="13" name="Rectangle 13"/>
            <p:cNvSpPr/>
            <p:nvPr/>
          </p:nvSpPr>
          <p:spPr>
            <a:xfrm>
              <a:off x="533400" y="3950970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0090" y="413766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9547" y="417052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3232" y="4482465"/>
              <a:ext cx="24140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缓冲池申请缓冲时，为什么要先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P(buf_num) 再 P(mutex)？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3232" y="5039678"/>
              <a:ext cx="2971228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否则没有空缓冲时进程拿着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mutex 睡眠，归还缓冲的进程进不了临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界区，形成死锁。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4343400" y="1524000"/>
            <a:ext cx="3505200" cy="1743075"/>
            <a:chOff x="4343400" y="1524000"/>
            <a:chExt cx="3505200" cy="1743075"/>
          </a:xfrm>
        </p:grpSpPr>
        <p:sp>
          <p:nvSpPr>
            <p:cNvPr id="19" name="Rectangle 19"/>
            <p:cNvSpPr/>
            <p:nvPr/>
          </p:nvSpPr>
          <p:spPr>
            <a:xfrm>
              <a:off x="4343400" y="1524000"/>
              <a:ext cx="3505200" cy="1743075"/>
            </a:xfrm>
            <a:prstGeom prst="roundRect">
              <a:avLst>
                <a:gd name="adj" fmla="val 765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1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3232" y="2054542"/>
              <a:ext cx="26836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用中断方式和 DMA 方式各传一块数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据，CPU 分别被中断几次？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23232" y="2612708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中断方式每传一个字节中断一次；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DMA 整块传完才中断一次。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4343400" y="3436620"/>
            <a:ext cx="3505200" cy="2771775"/>
            <a:chOff x="4343400" y="3436620"/>
            <a:chExt cx="3505200" cy="2771775"/>
          </a:xfrm>
        </p:grpSpPr>
        <p:sp>
          <p:nvSpPr>
            <p:cNvPr id="25" name="Rectangle 25"/>
            <p:cNvSpPr/>
            <p:nvPr/>
          </p:nvSpPr>
          <p:spPr>
            <a:xfrm>
              <a:off x="4343400" y="3436620"/>
              <a:ext cx="3505200" cy="2771775"/>
            </a:xfrm>
            <a:prstGeom prst="roundRect">
              <a:avLst>
                <a:gd name="adj" fmla="val 481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0090" y="362331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19547" y="365617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23232" y="3968115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块 1 TB 的盘组成 RAID 5，有效容量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和利用率是多少？坏一块盘怎样恢复？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23232" y="4525328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TB，75%。每个条带把其余各块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（含校验块）异或，就得到坏盘上的那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一块。</a:t>
              </a:r>
            </a:p>
          </p:txBody>
        </p:sp>
      </p:grpSp>
      <p:grpSp>
        <p:nvGrpSpPr>
          <p:cNvPr id="36" name="c3-card-1"/>
          <p:cNvGrpSpPr/>
          <p:nvPr/>
        </p:nvGrpSpPr>
        <p:grpSpPr>
          <a:xfrm>
            <a:off x="8153400" y="1524000"/>
            <a:ext cx="3505200" cy="2514600"/>
            <a:chOff x="8153400" y="1524000"/>
            <a:chExt cx="3505200" cy="2514600"/>
          </a:xfrm>
        </p:grpSpPr>
        <p:sp>
          <p:nvSpPr>
            <p:cNvPr id="31" name="Rectangle 31"/>
            <p:cNvSpPr/>
            <p:nvPr/>
          </p:nvSpPr>
          <p:spPr>
            <a:xfrm>
              <a:off x="8153400" y="1524000"/>
              <a:ext cx="3505200" cy="2514600"/>
            </a:xfrm>
            <a:prstGeom prst="roundRect">
              <a:avLst>
                <a:gd name="adj" fmla="val 5303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340090" y="1710690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29547" y="1743551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33232" y="2054542"/>
              <a:ext cx="2990517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磁头在 100 号磁道，向大号方向移动，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请求 55，58，39，18，90，160，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150，38，184。SSTF、LOOK 的移动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量各是多少？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33232" y="3127058"/>
              <a:ext cx="27397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SSTF 先向小号服务到 18，再去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150、160、184：82 + 166 = 248。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LOOK：84 + 166 = 250。</a:t>
              </a:r>
            </a:p>
          </p:txBody>
        </p:sp>
      </p:grpSp>
      <p:grpSp>
        <p:nvGrpSpPr>
          <p:cNvPr id="42" name="c3-card-2"/>
          <p:cNvGrpSpPr/>
          <p:nvPr/>
        </p:nvGrpSpPr>
        <p:grpSpPr>
          <a:xfrm>
            <a:off x="8153400" y="4208145"/>
            <a:ext cx="3505200" cy="2000250"/>
            <a:chOff x="8153400" y="4208145"/>
            <a:chExt cx="3505200" cy="2000250"/>
          </a:xfrm>
        </p:grpSpPr>
        <p:sp>
          <p:nvSpPr>
            <p:cNvPr id="37" name="Rectangle 37"/>
            <p:cNvSpPr/>
            <p:nvPr/>
          </p:nvSpPr>
          <p:spPr>
            <a:xfrm>
              <a:off x="8153400" y="4208145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40090" y="439483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29547" y="442769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33232" y="4739640"/>
              <a:ext cx="29283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输出型虚拟设备在什么时候才占用真正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的打印机？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33232" y="5296852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释放虚设备时：分配实设备，信息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由虚设备输出到实设备，再去配实设备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和虚设备。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950464" cy="909257"/>
            <a:chOff x="520446" y="342900"/>
            <a:chExt cx="29504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37510" cy="266700"/>
            </a:xfrm>
            <a:prstGeom prst="roundRect">
              <a:avLst>
                <a:gd name="adj" fmla="val 50000"/>
              </a:avLst>
            </a:prstGeom>
            <a:solidFill>
              <a:srgbClr val="E2F3F4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8347" y="407194"/>
              <a:ext cx="28676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E7C86"/>
                  </a:solidFill>
                  <a:latin typeface="+mn-lt"/>
                  <a:ea typeface="+mn-ea"/>
                  <a:cs typeface="+mn-cs"/>
                </a:rPr>
                <a:t>第9章 设备与I/O · 虚拟设备与稳定存储器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本章小结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E7C86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5" name="c1-table-1"/>
          <p:cNvGrpSpPr/>
          <p:nvPr/>
        </p:nvGrpSpPr>
        <p:grpSpPr>
          <a:xfrm>
            <a:off x="533400" y="1524000"/>
            <a:ext cx="6276022" cy="4000500"/>
            <a:chOff x="533400" y="1524000"/>
            <a:chExt cx="6276022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00050"/>
            </a:xfrm>
            <a:prstGeom prst="rect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174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927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设备与地址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60220" y="2045494"/>
              <a:ext cx="45497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共享型 / 独占型；块号 b = i·m·n + j·n + k；扇区交错编号减少空转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30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I/O 方式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60220" y="2445544"/>
              <a:ext cx="3116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查询 → 中断 → DMA → 通道，CPU 参与越来越少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9456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分配与驱动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60220" y="2845594"/>
              <a:ext cx="473379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SDT、UCB、CCB；独占设备 P(Sm) 申请、V(Sm) 释放；通道程序由 CCW 组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3194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324225"/>
              <a:ext cx="6276022" cy="60007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5456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设备调度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60220" y="3445669"/>
              <a:ext cx="4541774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FCFS、SSTF、SCAN/LOOK、C-SCAN/C-LOOK、N 步扫描、FSCAN；Ta =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Ts + Tr + Tt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91953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0555" y="41457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60220" y="4045744"/>
              <a:ext cx="474802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缓冲池用 buf_num、mutex 两个信号量；UNIX 的 b 链、av 链、I/O 队列与</a:t>
              </a:r>
              <a:br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getblk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45196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452437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0555" y="4645819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760220" y="4645819"/>
              <a:ext cx="39014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分条，1 镜像，2、3 位级校验，4 集中异或，5 分布异或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91966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30555" y="51458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虚拟设备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760220" y="5045869"/>
              <a:ext cx="4499102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SPOOLing：输入井、输出井，JCB 状态 空闲→提交→后备→执行→完成→退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1524000"/>
              <a:ext cx="6276022" cy="4000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658302" y="1524000"/>
              <a:ext cx="9525" cy="4000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1"/>
          <p:cNvGrpSpPr/>
          <p:nvPr/>
        </p:nvGrpSpPr>
        <p:grpSpPr>
          <a:xfrm>
            <a:off x="7114222" y="1524000"/>
            <a:ext cx="4544378" cy="4000500"/>
            <a:chOff x="7114222" y="1524000"/>
            <a:chExt cx="4544378" cy="4000500"/>
          </a:xfrm>
        </p:grpSpPr>
        <p:sp>
          <p:nvSpPr>
            <p:cNvPr id="36" name="Rectangle 36"/>
            <p:cNvSpPr/>
            <p:nvPr/>
          </p:nvSpPr>
          <p:spPr>
            <a:xfrm>
              <a:off x="7114222" y="1524000"/>
              <a:ext cx="4544378" cy="4000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1657350"/>
              <a:ext cx="47625" cy="37338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9012" y="1710690"/>
              <a:ext cx="145446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01179" y="1743551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本讲义对原课件的更正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347585" y="211074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03604" y="2054542"/>
              <a:ext cx="31486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光盘：symble 应为 symbol（第 9 页）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347585" y="241173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503604" y="2355532"/>
              <a:ext cx="343414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getblk：“如新 b 链”应为“入新 b 链”（第 38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347585" y="2968942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03604" y="2912745"/>
              <a:ext cx="3057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brelse：判断条件缺括号（第 39 页）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347585" y="3268980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503604" y="3212782"/>
              <a:ext cx="40169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RAID 分条：stripping 应为 striping（第 44 页）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347585" y="3569018"/>
              <a:ext cx="59055" cy="59055"/>
            </a:xfrm>
            <a:prstGeom prst="ellipse">
              <a:avLst/>
            </a:prstGeom>
            <a:solidFill>
              <a:srgbClr val="0E7C8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3604" y="3512820"/>
              <a:ext cx="37150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9.12 标题：Linux 应为 Windows（第 58 页）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33298" y="3809524"/>
              <a:ext cx="385191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另外，原课件节号有几处沿用了旧编号（如虚拟设备引入标作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9.7.1，例题和表格标作 8-1），本讲义统一按内容归节。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333298" y="4278154"/>
              <a:ext cx="390880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扇区交错的圈数、C-SCAN/C-LOOK 的移动量、缓冲与 RAID 的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数值例子为本讲义补充，均已用脚本核算。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3" name="Rectangle 53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0E7C86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8373"/>
              <a:ext cx="717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复习时重点练手算：块号换算、各种引臂调度的移动量、磁盘访问时间、RAID 异或恢复。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21351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操作系统原理 · 第9章 设备与IO管理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s_ch9">
  <a:themeElements>
    <a:clrScheme name="os_ch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_ch9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s_ch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2026-09-17T07:16:38Z</dcterms:created>
  <dcterms:modified xsi:type="dcterms:W3CDTF">2026-09-17T07:16:38Z</dcterms:modified>
  <cp:category/>
  <cp:contentStatus/>
</cp:coreProperties>
</file>