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os_exam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os_exam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0bd4aa6181f973fb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0134609383f4a639.png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7ce598da7c0e31c6.png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rcRect l="0" t="26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5870242" cy="3437763"/>
            <a:chOff x="666750" y="1619250"/>
            <a:chExt cx="5870242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2050732" cy="3429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00294" y="1718310"/>
              <a:ext cx="18226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操作系统原理 · 试题讲解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587024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操作系统原理 试题解析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419823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 道单选、7 道综合题，逐题写出过程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单选题按考点逐题讲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调度、死锁与伙伴堆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信号量、地址变换与磁盘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银行家与页面置换练习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5940342" cy="205359"/>
            <a:chOff x="680466" y="6192202"/>
            <a:chExt cx="5940342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5940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自学复习版｜据吉林大学《操作系统原理》试题解析课件（2013.11.23 试卷）整理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83534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44284" y="4071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试题解析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agenda-1"/>
          <p:cNvGrpSpPr/>
          <p:nvPr/>
        </p:nvGrpSpPr>
        <p:grpSpPr>
          <a:xfrm>
            <a:off x="521970" y="1515428"/>
            <a:ext cx="6287453" cy="4696110"/>
            <a:chOff x="521970" y="1515428"/>
            <a:chExt cx="6287453" cy="4696110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17104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单项选择题 1–30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537743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按章节考点分组：接口与中断、调度与同步、存储、文件与设备、分布式与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安全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41649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52126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557462"/>
              <a:ext cx="33486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二、三：进程调度与死锁静态分析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875121"/>
              <a:ext cx="50750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可抢占 SJF 的甘特图和平均时间；状态图找环，判断能否同时到达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318801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29374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329940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四、五：伙伴堆与成组链接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646646"/>
              <a:ext cx="40192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free_area 链表与块组位图；超级块分配一个磁盘块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96049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406527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4101465"/>
              <a:ext cx="243480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六：信号量与 P、V 操作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419124"/>
              <a:ext cx="27958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一条消息必须被 n 个消费者各读一次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732020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83774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873942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七、八：地址变换与磁盘调度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5190649"/>
              <a:ext cx="27441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二次机会淘汰；5 步扫描与访问时间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73468" y="550449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1970" y="560927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5086" y="5645467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补充练习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6990" y="5962174"/>
              <a:ext cx="31640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银行家算法；OPT、FIFO、LRU 页面置换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7114222" y="1524000"/>
            <a:ext cx="4544378" cy="4637722"/>
            <a:chOff x="7114222" y="1524000"/>
            <a:chExt cx="4544378" cy="4637722"/>
          </a:xfrm>
        </p:grpSpPr>
        <p:sp>
          <p:nvSpPr>
            <p:cNvPr id="31" name="Rectangle 31"/>
            <p:cNvSpPr/>
            <p:nvPr/>
          </p:nvSpPr>
          <p:spPr>
            <a:xfrm>
              <a:off x="7114222" y="1524000"/>
              <a:ext cx="4544378" cy="4637722"/>
            </a:xfrm>
            <a:prstGeom prst="roundRect">
              <a:avLst>
                <a:gd name="adj" fmla="val 293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23748" y="1657350"/>
              <a:ext cx="47625" cy="4371022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2110740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做选择题时说出考点和每个错误选项的毛病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250888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2446020"/>
              <a:ext cx="36252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手算可抢占 SJF、伙伴堆分配、成组链接分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配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312991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3067050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用状态图判断活动序列有无死锁可能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67588" y="346519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25702" y="3402330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写出多消费者广播消息的信号量解法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67588" y="380047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25702" y="373761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完成地址变换、磁盘调度、银行家和页面置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换的计算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23120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操作系统原理 试题解析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913376" cy="3351847"/>
            <a:chOff x="667512" y="1835468"/>
            <a:chExt cx="4913376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626041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单项选择题（30 题）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9034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每题先读题，再看考点，最后给出答案和排除理由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接口、中断与进程切换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调度、同步与死锁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存储管理与虚拟存储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文件、设备、分布式与安全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3120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操作系统原理 试题解析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112556" cy="909257"/>
            <a:chOff x="520446" y="342900"/>
            <a:chExt cx="91125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试题解析 · 单项选择题（30 题）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1125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单选 2、6：用户接口有哪几种；多道程序的道数受什么限制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485900"/>
            <a:chOff x="533400" y="1524000"/>
            <a:chExt cx="5410200" cy="14859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485900"/>
            </a:xfrm>
            <a:prstGeom prst="roundRect">
              <a:avLst>
                <a:gd name="adj" fmla="val 89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0090" y="1710690"/>
              <a:ext cx="569595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09134" y="1743551"/>
              <a:ext cx="3915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单选 2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3232" y="2054542"/>
              <a:ext cx="479717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计算机系统的下述机制中，Ⅰ. 库函数　Ⅱ. 终端命令　Ⅲ. GUI 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　Ⅳ. 系统调用，属于操作系统提供给用户的接口是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3232" y="2612708"/>
              <a:ext cx="43555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A. Ⅰ、Ⅱ和Ⅲ　B. Ⅰ、Ⅱ和Ⅳ　C. Ⅱ、Ⅲ和Ⅳ　D. Ⅰ、Ⅲ和Ⅳ</a:t>
              </a:r>
            </a:p>
          </p:txBody>
        </p:sp>
      </p:grpSp>
      <p:grpSp>
        <p:nvGrpSpPr>
          <p:cNvPr id="24" name="c1-card-2"/>
          <p:cNvGrpSpPr/>
          <p:nvPr/>
        </p:nvGrpSpPr>
        <p:grpSpPr>
          <a:xfrm>
            <a:off x="533400" y="3179445"/>
            <a:ext cx="5410200" cy="2254568"/>
            <a:chOff x="533400" y="3179445"/>
            <a:chExt cx="5410200" cy="2254568"/>
          </a:xfrm>
        </p:grpSpPr>
        <p:sp>
          <p:nvSpPr>
            <p:cNvPr id="13" name="Rectangle 13"/>
            <p:cNvSpPr/>
            <p:nvPr/>
          </p:nvSpPr>
          <p:spPr>
            <a:xfrm>
              <a:off x="533400" y="3179445"/>
              <a:ext cx="5410200" cy="2254568"/>
            </a:xfrm>
            <a:prstGeom prst="roundRect">
              <a:avLst>
                <a:gd name="adj" fmla="val 591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3312795"/>
              <a:ext cx="47625" cy="1987868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58190" y="3366135"/>
              <a:ext cx="1578292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17258" y="3398996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考点：操作系统界面形式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66762" y="3767138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22782" y="3710940"/>
              <a:ext cx="41792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交互终端命令，如 UNIX shell：</a:t>
              </a:r>
              <a:r>
                <a:rPr lang="zh-CN" sz="1350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$ 命令名 -选项 参数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66762" y="4067175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22782" y="4010977"/>
              <a:ext cx="27137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图形界面 GUI；作业控制语言 JCL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66762" y="4367212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22782" y="4311015"/>
              <a:ext cx="455714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系统调用：高级语言形式 </a:t>
              </a:r>
              <a:r>
                <a:rPr lang="en-US" sz="1350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fd = open(name, mode)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；汇编形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式为准备参数、</a:t>
              </a:r>
              <a:r>
                <a:rPr lang="en-US" sz="1350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trap n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、取返回值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2475" y="4864894"/>
              <a:ext cx="470535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调用层次：应用程序调用系统库，系统库再发系统调用进入操作系统，操作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系统执行机器指令操作硬件。库函数属于语言运行库。</a:t>
              </a:r>
            </a:p>
          </p:txBody>
        </p:sp>
      </p:grpSp>
      <p:grpSp>
        <p:nvGrpSpPr>
          <p:cNvPr id="30" name="c1-callout-3"/>
          <p:cNvGrpSpPr/>
          <p:nvPr/>
        </p:nvGrpSpPr>
        <p:grpSpPr>
          <a:xfrm>
            <a:off x="533400" y="5604510"/>
            <a:ext cx="5410200" cy="695325"/>
            <a:chOff x="533400" y="5604510"/>
            <a:chExt cx="5410200" cy="695325"/>
          </a:xfrm>
        </p:grpSpPr>
        <p:sp>
          <p:nvSpPr>
            <p:cNvPr id="25" name="Rectangle 25"/>
            <p:cNvSpPr/>
            <p:nvPr/>
          </p:nvSpPr>
          <p:spPr>
            <a:xfrm>
              <a:off x="533400" y="5604510"/>
              <a:ext cx="5410200" cy="695325"/>
            </a:xfrm>
            <a:prstGeom prst="roundRect">
              <a:avLst>
                <a:gd name="adj" fmla="val 16438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738188" y="5852160"/>
              <a:ext cx="200026" cy="200026"/>
              <a:chOff x="738188" y="5852160"/>
              <a:chExt cx="200026" cy="200026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38188" y="585216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04863" y="592994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1040892" y="5857875"/>
              <a:ext cx="28083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答案 C：终端命令、GUI、系统调用</a:t>
              </a:r>
            </a:p>
          </p:txBody>
        </p:sp>
      </p:grpSp>
      <p:grpSp>
        <p:nvGrpSpPr>
          <p:cNvPr id="36" name="c2-card-1"/>
          <p:cNvGrpSpPr/>
          <p:nvPr/>
        </p:nvGrpSpPr>
        <p:grpSpPr>
          <a:xfrm>
            <a:off x="6248400" y="1524000"/>
            <a:ext cx="5410200" cy="1743075"/>
            <a:chOff x="6248400" y="1524000"/>
            <a:chExt cx="5410200" cy="1743075"/>
          </a:xfrm>
        </p:grpSpPr>
        <p:sp>
          <p:nvSpPr>
            <p:cNvPr id="31" name="Rectangle 31"/>
            <p:cNvSpPr/>
            <p:nvPr/>
          </p:nvSpPr>
          <p:spPr>
            <a:xfrm>
              <a:off x="6248400" y="1524000"/>
              <a:ext cx="5410200" cy="1743075"/>
            </a:xfrm>
            <a:prstGeom prst="roundRect">
              <a:avLst>
                <a:gd name="adj" fmla="val 765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35090" y="1710690"/>
              <a:ext cx="569595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24134" y="1743551"/>
              <a:ext cx="3915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单选 6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28232" y="2054542"/>
              <a:ext cx="471144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对系统的如下指标，Ⅰ. 内存容量　Ⅱ. 设备数量　Ⅲ. CPU 速度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Ⅳ. 中断响应时间，在多道程序设计中，道数限制要考虑的因素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28232" y="2869882"/>
              <a:ext cx="32061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A. Ⅰ和Ⅱ　B. Ⅱ和Ⅳ　C. Ⅲ和Ⅳ　D. Ⅰ和Ⅳ</a:t>
              </a:r>
            </a:p>
          </p:txBody>
        </p:sp>
      </p:grpSp>
      <p:grpSp>
        <p:nvGrpSpPr>
          <p:cNvPr id="46" name="c2-card-2"/>
          <p:cNvGrpSpPr/>
          <p:nvPr/>
        </p:nvGrpSpPr>
        <p:grpSpPr>
          <a:xfrm>
            <a:off x="6248400" y="3436620"/>
            <a:ext cx="5410200" cy="2211705"/>
            <a:chOff x="6248400" y="3436620"/>
            <a:chExt cx="5410200" cy="2211705"/>
          </a:xfrm>
        </p:grpSpPr>
        <p:sp>
          <p:nvSpPr>
            <p:cNvPr id="37" name="Rectangle 37"/>
            <p:cNvSpPr/>
            <p:nvPr/>
          </p:nvSpPr>
          <p:spPr>
            <a:xfrm>
              <a:off x="6248400" y="3436620"/>
              <a:ext cx="5410200" cy="2211705"/>
            </a:xfrm>
            <a:prstGeom prst="roundRect">
              <a:avLst>
                <a:gd name="adj" fmla="val 60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257925" y="3569970"/>
              <a:ext cx="47625" cy="194500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473190" y="3623310"/>
              <a:ext cx="1329690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39408" y="3656171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考点：多道程序设计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481762" y="4024312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637782" y="3968115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目的：提高处理机、设备、内存等资源的利用率，从而提高系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统效率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481762" y="4581525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637782" y="4525328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道数应与系统资源数量相当：过少则资源利用率低，过多则系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统开销增大、响应变慢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467475" y="5079206"/>
              <a:ext cx="470535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能同时装入几道程序看内存容量；各道程序都要用设备，设备数量也限制道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数。CPU 速度和中断响应时间只影响快慢。</a:t>
              </a:r>
            </a:p>
          </p:txBody>
        </p:sp>
      </p:grpSp>
      <p:grpSp>
        <p:nvGrpSpPr>
          <p:cNvPr id="52" name="c2-callout-3"/>
          <p:cNvGrpSpPr/>
          <p:nvPr/>
        </p:nvGrpSpPr>
        <p:grpSpPr>
          <a:xfrm>
            <a:off x="6248400" y="5818822"/>
            <a:ext cx="5410200" cy="481012"/>
            <a:chOff x="6248400" y="5818822"/>
            <a:chExt cx="5410200" cy="481012"/>
          </a:xfrm>
        </p:grpSpPr>
        <p:sp>
          <p:nvSpPr>
            <p:cNvPr id="47" name="Rectangle 47"/>
            <p:cNvSpPr/>
            <p:nvPr/>
          </p:nvSpPr>
          <p:spPr>
            <a:xfrm>
              <a:off x="6248400" y="5818822"/>
              <a:ext cx="5410200" cy="481012"/>
            </a:xfrm>
            <a:prstGeom prst="roundRect">
              <a:avLst>
                <a:gd name="adj" fmla="val 23762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6453188" y="5958840"/>
              <a:ext cx="200026" cy="200026"/>
              <a:chOff x="6453188" y="5958840"/>
              <a:chExt cx="200026" cy="200026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6453188" y="595884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6519863" y="603662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6755892" y="5964555"/>
              <a:ext cx="23577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答案 A：内存容量和设备数量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23120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操作系统原理 试题解析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306622" cy="909257"/>
            <a:chOff x="520446" y="342900"/>
            <a:chExt cx="430662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试题解析 · 单项选择题（30 题）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30662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单选 3、8：中断的两种分法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085398" cy="2457450"/>
            <a:chOff x="533400" y="1524000"/>
            <a:chExt cx="5085398" cy="24574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085398" cy="2457450"/>
            </a:xfrm>
            <a:prstGeom prst="roundRect">
              <a:avLst>
                <a:gd name="adj" fmla="val 542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37235" y="1727835"/>
              <a:ext cx="62103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23978" y="1763554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单选 3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29996" y="2100739"/>
              <a:ext cx="437870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对如下中断事件，Ⅰ. 时钟中断　Ⅱ. 访管中断　Ⅲ. 缺页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中断　Ⅳ. 控制台中断，能引起外部中断的事件是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29996" y="2692241"/>
              <a:ext cx="33724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A. Ⅰ和Ⅱ　B. Ⅱ和Ⅲ　C. Ⅲ和Ⅳ　D. Ⅰ和Ⅳ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29996" y="3012281"/>
              <a:ext cx="4368336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答案 D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。时钟、控制台中断来自 CPU 之外，可以屏蔽，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是外部中断；访管、缺页由正在执行的指令引起，是内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部中断。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4167188"/>
            <a:ext cx="5085398" cy="2185988"/>
            <a:chOff x="533400" y="4167188"/>
            <a:chExt cx="5085398" cy="2185988"/>
          </a:xfrm>
        </p:grpSpPr>
        <p:sp>
          <p:nvSpPr>
            <p:cNvPr id="14" name="Rectangle 14"/>
            <p:cNvSpPr/>
            <p:nvPr/>
          </p:nvSpPr>
          <p:spPr>
            <a:xfrm>
              <a:off x="533400" y="4167188"/>
              <a:ext cx="5085398" cy="2185988"/>
            </a:xfrm>
            <a:prstGeom prst="roundRect">
              <a:avLst>
                <a:gd name="adj" fmla="val 61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37235" y="4371022"/>
              <a:ext cx="62103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23978" y="4406741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单选 8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29996" y="4743926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不属于强迫性中断的是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29996" y="5063966"/>
              <a:ext cx="445084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A. 内存校验错误　B. 越界中断　C. 缺页中断　D. 访管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中断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29996" y="5655469"/>
              <a:ext cx="432325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答案 D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。访管中断是程序主动执行访管指令请求系统服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务，是运行程序期望的，属于自愿性中断。</a:t>
              </a:r>
            </a:p>
          </p:txBody>
        </p:sp>
      </p:grpSp>
      <p:grpSp>
        <p:nvGrpSpPr>
          <p:cNvPr id="47" name="c2-tree-1"/>
          <p:cNvGrpSpPr/>
          <p:nvPr/>
        </p:nvGrpSpPr>
        <p:grpSpPr>
          <a:xfrm>
            <a:off x="5923598" y="1668780"/>
            <a:ext cx="5735002" cy="3707130"/>
            <a:chOff x="5923598" y="1668780"/>
            <a:chExt cx="5735002" cy="3707130"/>
          </a:xfrm>
        </p:grpSpPr>
        <p:sp>
          <p:nvSpPr>
            <p:cNvPr id="21" name="Freeform 21"/>
            <p:cNvSpPr/>
            <p:nvPr/>
          </p:nvSpPr>
          <p:spPr>
            <a:xfrm>
              <a:off x="8908732" y="1848802"/>
              <a:ext cx="419100" cy="324802"/>
            </a:xfrm>
            <a:custGeom>
              <a:avLst/>
              <a:gdLst/>
              <a:ahLst/>
              <a:cxnLst/>
              <a:rect l="l" t="t" r="r" b="b"/>
              <a:pathLst>
                <a:path w="419100" h="324802">
                  <a:moveTo>
                    <a:pt x="0" y="324802"/>
                  </a:moveTo>
                  <a:lnTo>
                    <a:pt x="209550" y="324802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8908732" y="2173605"/>
              <a:ext cx="419100" cy="324803"/>
            </a:xfrm>
            <a:custGeom>
              <a:avLst/>
              <a:gdLst/>
              <a:ahLst/>
              <a:cxnLst/>
              <a:rect l="l" t="t" r="r" b="b"/>
              <a:pathLst>
                <a:path w="419100" h="324803">
                  <a:moveTo>
                    <a:pt x="0" y="0"/>
                  </a:moveTo>
                  <a:lnTo>
                    <a:pt x="209550" y="0"/>
                  </a:lnTo>
                  <a:lnTo>
                    <a:pt x="209550" y="324803"/>
                  </a:lnTo>
                  <a:lnTo>
                    <a:pt x="419100" y="324803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8908732" y="3148012"/>
              <a:ext cx="419100" cy="974408"/>
            </a:xfrm>
            <a:custGeom>
              <a:avLst/>
              <a:gdLst/>
              <a:ahLst/>
              <a:cxnLst/>
              <a:rect l="l" t="t" r="r" b="b"/>
              <a:pathLst>
                <a:path w="419100" h="974408">
                  <a:moveTo>
                    <a:pt x="0" y="974408"/>
                  </a:moveTo>
                  <a:lnTo>
                    <a:pt x="209550" y="974408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8908732" y="3797618"/>
              <a:ext cx="419100" cy="324803"/>
            </a:xfrm>
            <a:custGeom>
              <a:avLst/>
              <a:gdLst/>
              <a:ahLst/>
              <a:cxnLst/>
              <a:rect l="l" t="t" r="r" b="b"/>
              <a:pathLst>
                <a:path w="419100" h="324803">
                  <a:moveTo>
                    <a:pt x="0" y="324803"/>
                  </a:moveTo>
                  <a:lnTo>
                    <a:pt x="209550" y="324803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8908732" y="4122420"/>
              <a:ext cx="419100" cy="324802"/>
            </a:xfrm>
            <a:custGeom>
              <a:avLst/>
              <a:gdLst/>
              <a:ahLst/>
              <a:cxnLst/>
              <a:rect l="l" t="t" r="r" b="b"/>
              <a:pathLst>
                <a:path w="419100" h="324802">
                  <a:moveTo>
                    <a:pt x="0" y="0"/>
                  </a:moveTo>
                  <a:lnTo>
                    <a:pt x="209550" y="0"/>
                  </a:lnTo>
                  <a:lnTo>
                    <a:pt x="209550" y="324802"/>
                  </a:lnTo>
                  <a:lnTo>
                    <a:pt x="419100" y="324802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8908732" y="4122420"/>
              <a:ext cx="419100" cy="974408"/>
            </a:xfrm>
            <a:custGeom>
              <a:avLst/>
              <a:gdLst/>
              <a:ahLst/>
              <a:cxnLst/>
              <a:rect l="l" t="t" r="r" b="b"/>
              <a:pathLst>
                <a:path w="419100" h="974408">
                  <a:moveTo>
                    <a:pt x="0" y="0"/>
                  </a:moveTo>
                  <a:lnTo>
                    <a:pt x="209550" y="0"/>
                  </a:lnTo>
                  <a:lnTo>
                    <a:pt x="209550" y="974408"/>
                  </a:lnTo>
                  <a:lnTo>
                    <a:pt x="419100" y="974408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6723698" y="2173605"/>
              <a:ext cx="419100" cy="974408"/>
            </a:xfrm>
            <a:custGeom>
              <a:avLst/>
              <a:gdLst/>
              <a:ahLst/>
              <a:cxnLst/>
              <a:rect l="l" t="t" r="r" b="b"/>
              <a:pathLst>
                <a:path w="419100" h="974408">
                  <a:moveTo>
                    <a:pt x="0" y="974408"/>
                  </a:moveTo>
                  <a:lnTo>
                    <a:pt x="209550" y="974408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6723698" y="3148012"/>
              <a:ext cx="419100" cy="974408"/>
            </a:xfrm>
            <a:custGeom>
              <a:avLst/>
              <a:gdLst/>
              <a:ahLst/>
              <a:cxnLst/>
              <a:rect l="l" t="t" r="r" b="b"/>
              <a:pathLst>
                <a:path w="419100" h="974408">
                  <a:moveTo>
                    <a:pt x="0" y="0"/>
                  </a:moveTo>
                  <a:lnTo>
                    <a:pt x="209550" y="0"/>
                  </a:lnTo>
                  <a:lnTo>
                    <a:pt x="209550" y="974408"/>
                  </a:lnTo>
                  <a:lnTo>
                    <a:pt x="419100" y="974408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9327832" y="1668780"/>
              <a:ext cx="2330768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9327832" y="2219325"/>
              <a:ext cx="2330768" cy="558165"/>
            </a:xfrm>
            <a:prstGeom prst="roundRect">
              <a:avLst>
                <a:gd name="adj" fmla="val 1706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7142798" y="1894522"/>
              <a:ext cx="1765935" cy="558165"/>
            </a:xfrm>
            <a:prstGeom prst="roundRect">
              <a:avLst>
                <a:gd name="adj" fmla="val 17065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9327832" y="2868930"/>
              <a:ext cx="2330768" cy="558165"/>
            </a:xfrm>
            <a:prstGeom prst="roundRect">
              <a:avLst>
                <a:gd name="adj" fmla="val 1706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9327832" y="3617595"/>
              <a:ext cx="2330768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9327832" y="4267200"/>
              <a:ext cx="2330768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9327832" y="4817745"/>
              <a:ext cx="2330768" cy="558165"/>
            </a:xfrm>
            <a:prstGeom prst="roundRect">
              <a:avLst>
                <a:gd name="adj" fmla="val 1706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7142798" y="3843338"/>
              <a:ext cx="1765935" cy="558165"/>
            </a:xfrm>
            <a:prstGeom prst="roundRect">
              <a:avLst>
                <a:gd name="adj" fmla="val 17065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923598" y="2868930"/>
              <a:ext cx="800100" cy="558165"/>
            </a:xfrm>
            <a:prstGeom prst="roundRect">
              <a:avLst>
                <a:gd name="adj" fmla="val 17065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416986" y="1764982"/>
              <a:ext cx="20153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系统调用，如 fd = open(…)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416986" y="2315528"/>
              <a:ext cx="1787652" cy="4328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6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访管指令：准备参数、svc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n、取返回值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231952" y="1990725"/>
              <a:ext cx="1231392" cy="4328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60"/>
                </a:lnSpc>
              </a:pPr>
              <a:r>
                <a:rPr lang="zh-CN" sz="120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自愿性（程序期望</a:t>
              </a:r>
              <a:br/>
              <a:r>
                <a:rPr lang="zh-CN" sz="120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的）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416986" y="2965132"/>
              <a:ext cx="1978152" cy="4328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6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时钟中断、I/O 中断、控制台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中断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416986" y="3713798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硬件故障：掉电、内存校验错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416986" y="4363402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程序性：越界、越权、缺页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416986" y="4913948"/>
              <a:ext cx="1970532" cy="4328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6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程序性：溢出、除 0、非法指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231952" y="3939540"/>
              <a:ext cx="1383792" cy="4328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60"/>
                </a:lnSpc>
              </a:pPr>
              <a:r>
                <a:rPr lang="zh-CN" sz="120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强迫性（程序不期望</a:t>
              </a:r>
              <a:br/>
              <a:r>
                <a:rPr lang="zh-CN" sz="120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的）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012752" y="2965132"/>
              <a:ext cx="469392" cy="4328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60"/>
                </a:lnSpc>
              </a:pPr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中断事</a:t>
              </a:r>
              <a:br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件</a:t>
              </a:r>
            </a:p>
          </p:txBody>
        </p:sp>
      </p:grpSp>
      <p:grpSp>
        <p:nvGrpSpPr>
          <p:cNvPr id="54" name="c2-callout-2"/>
          <p:cNvGrpSpPr/>
          <p:nvPr/>
        </p:nvGrpSpPr>
        <p:grpSpPr>
          <a:xfrm>
            <a:off x="5923598" y="5606415"/>
            <a:ext cx="5735002" cy="756285"/>
            <a:chOff x="5923598" y="5606415"/>
            <a:chExt cx="5735002" cy="756285"/>
          </a:xfrm>
        </p:grpSpPr>
        <p:sp>
          <p:nvSpPr>
            <p:cNvPr id="48" name="Rectangle 48"/>
            <p:cNvSpPr/>
            <p:nvPr/>
          </p:nvSpPr>
          <p:spPr>
            <a:xfrm>
              <a:off x="5923598" y="5606415"/>
              <a:ext cx="5735002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6128385" y="5884545"/>
              <a:ext cx="200026" cy="200026"/>
              <a:chOff x="6128385" y="5884545"/>
              <a:chExt cx="200026" cy="200026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6128385" y="588454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6228398" y="595122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217285" y="598455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6430708" y="5753576"/>
              <a:ext cx="470331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课件的另一种分法：外部中断可以屏蔽（时钟、控制台）；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内部中断不能屏蔽（程序性中断、访管指令）。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23120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操作系统原理 试题解析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884468" cy="909257"/>
            <a:chOff x="520446" y="342900"/>
            <a:chExt cx="788446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试题解析 · 单项选择题（30 题）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88446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单选 9：中断向量按类设置，不是每个中断事件一个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5193982" cy="3564255"/>
            <a:chOff x="533400" y="1524000"/>
            <a:chExt cx="5193982" cy="35642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3564255"/>
            </a:xfrm>
            <a:prstGeom prst="roundRect">
              <a:avLst>
                <a:gd name="adj" fmla="val 374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62103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29693" y="1769269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单选 9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5330" y="2110740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关于中断向量的错误论述是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5330" y="2446020"/>
              <a:ext cx="44729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A. 中断向量保存中断处理程序的运行环境与入口地址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（PSW, PC）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35330" y="3067050"/>
              <a:ext cx="29390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B. 每个中断事件有一个中断向量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35330" y="3402330"/>
              <a:ext cx="35448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C. 中断向量的存放位置是由硬件规定的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35330" y="3737610"/>
              <a:ext cx="44729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D. 中断向量的内容是操作系统在系统初始化时设置好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35330" y="4358640"/>
              <a:ext cx="4566761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答案 B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。中断向量按类设置，同一类的中断事件共用一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个中断向量，进入处理程序后再细分具体原因。</a:t>
              </a:r>
            </a:p>
          </p:txBody>
        </p:sp>
      </p:grpSp>
      <p:grpSp>
        <p:nvGrpSpPr>
          <p:cNvPr id="23" name="c1-callout-2"/>
          <p:cNvGrpSpPr/>
          <p:nvPr/>
        </p:nvGrpSpPr>
        <p:grpSpPr>
          <a:xfrm>
            <a:off x="533400" y="5278755"/>
            <a:ext cx="5193982" cy="782955"/>
            <a:chOff x="533400" y="5278755"/>
            <a:chExt cx="5193982" cy="782955"/>
          </a:xfrm>
        </p:grpSpPr>
        <p:sp>
          <p:nvSpPr>
            <p:cNvPr id="17" name="Rectangle 17"/>
            <p:cNvSpPr/>
            <p:nvPr/>
          </p:nvSpPr>
          <p:spPr>
            <a:xfrm>
              <a:off x="533400" y="5278755"/>
              <a:ext cx="5193982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738188" y="5570220"/>
              <a:ext cx="200026" cy="200026"/>
              <a:chOff x="738188" y="5570220"/>
              <a:chExt cx="200026" cy="200026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738188" y="557022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38200" y="563689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27088" y="567023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040130" y="5427345"/>
              <a:ext cx="41776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其余三项都对：向量存放 PSW 和 PC，存放位置由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硬件规定，内容由操作系统初始化时填入。</a:t>
              </a:r>
            </a:p>
          </p:txBody>
        </p:sp>
      </p:grpSp>
      <p:grpSp>
        <p:nvGrpSpPr>
          <p:cNvPr id="34" name="c2-card-1"/>
          <p:cNvGrpSpPr/>
          <p:nvPr/>
        </p:nvGrpSpPr>
        <p:grpSpPr>
          <a:xfrm>
            <a:off x="6032182" y="1524000"/>
            <a:ext cx="5626418" cy="1986915"/>
            <a:chOff x="6032182" y="1524000"/>
            <a:chExt cx="5626418" cy="1986915"/>
          </a:xfrm>
        </p:grpSpPr>
        <p:sp>
          <p:nvSpPr>
            <p:cNvPr id="24" name="Rectangle 24"/>
            <p:cNvSpPr/>
            <p:nvPr/>
          </p:nvSpPr>
          <p:spPr>
            <a:xfrm>
              <a:off x="6032182" y="1524000"/>
              <a:ext cx="5626418" cy="1986915"/>
            </a:xfrm>
            <a:prstGeom prst="roundRect">
              <a:avLst>
                <a:gd name="adj" fmla="val 67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041708" y="1657350"/>
              <a:ext cx="47625" cy="172021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279832" y="1733550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48387" y="176926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考点：中断向量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6285548" y="217360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43662" y="2110740"/>
              <a:ext cx="43681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内容：中断处理程序的运行环境与入口地址（PSW，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PC），其中 PSW 的 mode 为系统态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285548" y="279463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443662" y="2731770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每类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中断事件有一个中断向量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285548" y="312991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443662" y="3067050"/>
              <a:ext cx="48615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存放位置由硬件规定；内容由操作系统在初始化时设置</a:t>
              </a:r>
            </a:p>
          </p:txBody>
        </p:sp>
      </p:grpSp>
      <p:grpSp>
        <p:nvGrpSpPr>
          <p:cNvPr id="48" name="c2-steps-2"/>
          <p:cNvGrpSpPr/>
          <p:nvPr/>
        </p:nvGrpSpPr>
        <p:grpSpPr>
          <a:xfrm>
            <a:off x="6032182" y="3710940"/>
            <a:ext cx="5424298" cy="2112931"/>
            <a:chOff x="6032182" y="3710940"/>
            <a:chExt cx="5424298" cy="2112931"/>
          </a:xfrm>
        </p:grpSpPr>
        <p:sp>
          <p:nvSpPr>
            <p:cNvPr id="35" name="Rectangle 35"/>
            <p:cNvSpPr/>
            <p:nvPr/>
          </p:nvSpPr>
          <p:spPr>
            <a:xfrm>
              <a:off x="6165532" y="3853815"/>
              <a:ext cx="19050" cy="13011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6032182" y="371094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125806" y="37847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032182" y="436149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125806" y="44353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032182" y="501205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125806" y="50858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43662" y="374523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中断发生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444806" y="4039076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硬件判断中断属于哪一类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443662" y="4395788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找向量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444806" y="4689634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到硬件规定的位置取出这一类的中断向量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443662" y="504634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进入处理程序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444806" y="5340191"/>
              <a:ext cx="501167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保存被中断程序的 PSW、PC，把向量中的 PSW、PC 装入 CPU，转到系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统态执行处理程序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23120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操作系统原理 试题解析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799118" cy="909257"/>
            <a:chOff x="520446" y="342900"/>
            <a:chExt cx="97991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试题解析 · 单项选择题（30 题）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7991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单选 13：最内层中断返回时恢复上一层中断的现场，不切换进程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193982" cy="3228975"/>
            <a:chOff x="533400" y="1524000"/>
            <a:chExt cx="5193982" cy="32289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3228975"/>
            </a:xfrm>
            <a:prstGeom prst="roundRect">
              <a:avLst>
                <a:gd name="adj" fmla="val 41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702945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27114" y="1769269"/>
              <a:ext cx="5346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单选 13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5330" y="211074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在多级中断系统中，多层嵌套中断的最内层中断处理结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束后，以下论述中正确的是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5330" y="2731770"/>
              <a:ext cx="41506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A. 如果该中断是强迫性中断，则需要进程切换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35330" y="3067050"/>
              <a:ext cx="41506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B. 如果该中断是自愿性中断，则需要进程切换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35330" y="3402330"/>
              <a:ext cx="44729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C. 无论该中断是强迫性中断还是自愿性中断，都需要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进程切换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35330" y="4023360"/>
              <a:ext cx="44729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D. 无论该中断是强迫性中断还是自愿性中断，都不需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要进程切换</a:t>
              </a:r>
            </a:p>
          </p:txBody>
        </p:sp>
      </p:grpSp>
      <p:grpSp>
        <p:nvGrpSpPr>
          <p:cNvPr id="21" name="c1-callout-2"/>
          <p:cNvGrpSpPr/>
          <p:nvPr/>
        </p:nvGrpSpPr>
        <p:grpSpPr>
          <a:xfrm>
            <a:off x="533400" y="4943475"/>
            <a:ext cx="5193982" cy="741045"/>
            <a:chOff x="533400" y="4943475"/>
            <a:chExt cx="5193982" cy="741045"/>
          </a:xfrm>
        </p:grpSpPr>
        <p:sp>
          <p:nvSpPr>
            <p:cNvPr id="16" name="Rectangle 16"/>
            <p:cNvSpPr/>
            <p:nvPr/>
          </p:nvSpPr>
          <p:spPr>
            <a:xfrm>
              <a:off x="533400" y="4943475"/>
              <a:ext cx="5193982" cy="741045"/>
            </a:xfrm>
            <a:prstGeom prst="roundRect">
              <a:avLst>
                <a:gd name="adj" fmla="val 15424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738188" y="5213985"/>
              <a:ext cx="200026" cy="200026"/>
              <a:chOff x="738188" y="5213985"/>
              <a:chExt cx="200026" cy="200026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738188" y="521398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04863" y="529177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1040130" y="5209222"/>
              <a:ext cx="6004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答案 D</a:t>
              </a:r>
            </a:p>
          </p:txBody>
        </p:sp>
      </p:grpSp>
      <p:grpSp>
        <p:nvGrpSpPr>
          <p:cNvPr id="32" name="c2-card-1"/>
          <p:cNvGrpSpPr/>
          <p:nvPr/>
        </p:nvGrpSpPr>
        <p:grpSpPr>
          <a:xfrm>
            <a:off x="6032182" y="1524000"/>
            <a:ext cx="5626418" cy="1986915"/>
            <a:chOff x="6032182" y="1524000"/>
            <a:chExt cx="5626418" cy="1986915"/>
          </a:xfrm>
        </p:grpSpPr>
        <p:sp>
          <p:nvSpPr>
            <p:cNvPr id="22" name="Rectangle 22"/>
            <p:cNvSpPr/>
            <p:nvPr/>
          </p:nvSpPr>
          <p:spPr>
            <a:xfrm>
              <a:off x="6032182" y="1524000"/>
              <a:ext cx="5626418" cy="1986915"/>
            </a:xfrm>
            <a:prstGeom prst="roundRect">
              <a:avLst>
                <a:gd name="adj" fmla="val 67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041708" y="1657350"/>
              <a:ext cx="47625" cy="172021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79832" y="1733550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48387" y="176926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考点：中断嵌套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6285548" y="217360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443662" y="2110740"/>
              <a:ext cx="44577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在中断处理过程中又响应新的中断，称为中断嵌套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6285548" y="250888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43662" y="2446020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原则：高优先级中断可以嵌入低优先级中断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285548" y="284416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443662" y="2781300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实现：中断响应后立即屏蔽不高于当前中断优先级的中断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</a:t>
              </a:r>
            </a:p>
          </p:txBody>
        </p:sp>
      </p:grpSp>
      <p:grpSp>
        <p:nvGrpSpPr>
          <p:cNvPr id="40" name="c2-cells-2"/>
          <p:cNvGrpSpPr/>
          <p:nvPr/>
        </p:nvGrpSpPr>
        <p:grpSpPr>
          <a:xfrm>
            <a:off x="6025706" y="3749993"/>
            <a:ext cx="5632894" cy="684847"/>
            <a:chOff x="6025706" y="3749993"/>
            <a:chExt cx="5632894" cy="684847"/>
          </a:xfrm>
        </p:grpSpPr>
        <p:sp>
          <p:nvSpPr>
            <p:cNvPr id="33" name="TextBox 33"/>
            <p:cNvSpPr txBox="1"/>
            <p:nvPr/>
          </p:nvSpPr>
          <p:spPr>
            <a:xfrm>
              <a:off x="6025706" y="414575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系统栈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653212" y="4015740"/>
              <a:ext cx="250317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357613" y="4145756"/>
              <a:ext cx="10943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 P 的现场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9155430" y="4015740"/>
              <a:ext cx="250317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452813" y="4145756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低级中断处理程序的现场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260330" y="374999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栈顶</a:t>
              </a:r>
            </a:p>
          </p:txBody>
        </p:sp>
        <p:sp>
          <p:nvSpPr>
            <p:cNvPr id="39" name="Freeform 39"/>
            <p:cNvSpPr/>
            <p:nvPr/>
          </p:nvSpPr>
          <p:spPr>
            <a:xfrm>
              <a:off x="10368915" y="392049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</p:grpSp>
      <p:grpSp>
        <p:nvGrpSpPr>
          <p:cNvPr id="47" name="c2-callout-3"/>
          <p:cNvGrpSpPr/>
          <p:nvPr/>
        </p:nvGrpSpPr>
        <p:grpSpPr>
          <a:xfrm>
            <a:off x="6032182" y="4625340"/>
            <a:ext cx="5626418" cy="1059180"/>
            <a:chOff x="6032182" y="4625340"/>
            <a:chExt cx="5626418" cy="1059180"/>
          </a:xfrm>
        </p:grpSpPr>
        <p:sp>
          <p:nvSpPr>
            <p:cNvPr id="41" name="Rectangle 41"/>
            <p:cNvSpPr/>
            <p:nvPr/>
          </p:nvSpPr>
          <p:spPr>
            <a:xfrm>
              <a:off x="6032182" y="4625340"/>
              <a:ext cx="5626418" cy="1059180"/>
            </a:xfrm>
            <a:prstGeom prst="roundRect">
              <a:avLst>
                <a:gd name="adj" fmla="val 1079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6236970" y="5054918"/>
              <a:ext cx="200026" cy="200026"/>
              <a:chOff x="6236970" y="5054918"/>
              <a:chExt cx="200026" cy="200026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6236970" y="505491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336983" y="512159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325870" y="515493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6538912" y="4773930"/>
              <a:ext cx="45872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最内层处理完，弹出的是低级中断处理程序的现场，回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到上一层接着处理，不涉及进程切换。退到最外层、准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备返回进程时才可能调度。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23120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操作系统原理 试题解析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884468" cy="909257"/>
            <a:chOff x="520446" y="342900"/>
            <a:chExt cx="788446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试题解析 · 单项选择题（30 题）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88446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单选 7：中断是进程切换的必要条件，不是充分条件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760595" cy="1914525"/>
            <a:chOff x="533400" y="1524000"/>
            <a:chExt cx="4760595" cy="191452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37235" y="1727835"/>
              <a:ext cx="62103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23978" y="1763554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单选 7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29996" y="2100739"/>
              <a:ext cx="41622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下列选项中，Ⅰ. I/O 请求　Ⅱ. 时钟中断　Ⅲ. I/O 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　Ⅳ. 设备进行 I/O，可能引起进程切换的是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29996" y="2692241"/>
              <a:ext cx="22023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A. Ⅰ、Ⅱ和Ⅲ　B. Ⅱ、Ⅲ和Ⅳ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29996" y="3012281"/>
              <a:ext cx="22023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C. Ⅰ、Ⅱ和Ⅳ　D. Ⅰ、Ⅲ和Ⅳ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3624262"/>
            <a:ext cx="4760595" cy="1865948"/>
            <a:chOff x="533400" y="3624262"/>
            <a:chExt cx="4760595" cy="1865948"/>
          </a:xfrm>
        </p:grpSpPr>
        <p:sp>
          <p:nvSpPr>
            <p:cNvPr id="14" name="Rectangle 14"/>
            <p:cNvSpPr/>
            <p:nvPr/>
          </p:nvSpPr>
          <p:spPr>
            <a:xfrm>
              <a:off x="533400" y="3624262"/>
              <a:ext cx="4760595" cy="1865948"/>
            </a:xfrm>
            <a:prstGeom prst="roundRect">
              <a:avLst>
                <a:gd name="adj" fmla="val 714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757612"/>
              <a:ext cx="47625" cy="1599248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75335" y="3828098"/>
              <a:ext cx="1631632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32040" y="386381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考点：中断与进程切换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82955" y="4261485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39546" y="4201001"/>
              <a:ext cx="386473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必然引起切换：进程自愿结束 exit()；进程被强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行终止（非法指令、越界、kill）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82955" y="4852988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39546" y="4792504"/>
              <a:ext cx="39819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可能引起切换：时钟中断、系统调用、输入输出中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断</a:t>
              </a:r>
            </a:p>
          </p:txBody>
        </p:sp>
      </p:grpSp>
      <p:grpSp>
        <p:nvGrpSpPr>
          <p:cNvPr id="28" name="c1-callout-3"/>
          <p:cNvGrpSpPr/>
          <p:nvPr/>
        </p:nvGrpSpPr>
        <p:grpSpPr>
          <a:xfrm>
            <a:off x="533400" y="5675948"/>
            <a:ext cx="4760595" cy="518160"/>
            <a:chOff x="533400" y="5675948"/>
            <a:chExt cx="4760595" cy="518160"/>
          </a:xfrm>
        </p:grpSpPr>
        <p:sp>
          <p:nvSpPr>
            <p:cNvPr id="23" name="Rectangle 23"/>
            <p:cNvSpPr/>
            <p:nvPr/>
          </p:nvSpPr>
          <p:spPr>
            <a:xfrm>
              <a:off x="533400" y="5675948"/>
              <a:ext cx="4760595" cy="518160"/>
            </a:xfrm>
            <a:prstGeom prst="roundRect">
              <a:avLst>
                <a:gd name="adj" fmla="val 2205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38188" y="5835015"/>
              <a:ext cx="200026" cy="200026"/>
              <a:chOff x="738188" y="5835015"/>
              <a:chExt cx="200026" cy="200026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738188" y="583501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04863" y="591280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1040511" y="5835491"/>
              <a:ext cx="14752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答案 A：Ⅰ、Ⅱ、Ⅲ</a:t>
              </a:r>
            </a:p>
          </p:txBody>
        </p:sp>
      </p:grpSp>
      <p:grpSp>
        <p:nvGrpSpPr>
          <p:cNvPr id="53" name="c2-table-1"/>
          <p:cNvGrpSpPr/>
          <p:nvPr/>
        </p:nvGrpSpPr>
        <p:grpSpPr>
          <a:xfrm>
            <a:off x="5598795" y="1524000"/>
            <a:ext cx="6059805" cy="3105150"/>
            <a:chOff x="5598795" y="1524000"/>
            <a:chExt cx="6059805" cy="3105150"/>
          </a:xfrm>
        </p:grpSpPr>
        <p:sp>
          <p:nvSpPr>
            <p:cNvPr id="29" name="Rectangle 29"/>
            <p:cNvSpPr/>
            <p:nvPr/>
          </p:nvSpPr>
          <p:spPr>
            <a:xfrm>
              <a:off x="5598795" y="1524000"/>
              <a:ext cx="6059805" cy="46863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067146" y="165877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选项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143558" y="1658779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发生了什么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506710" y="1658779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会不会切换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702998" y="2255044"/>
              <a:ext cx="9800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Ⅰ I/O 请求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036498" y="2128361"/>
              <a:ext cx="2935986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进程发出 I/O 请求后进入等待态，必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须调度别的进程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889031" y="2255044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会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598795" y="271081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598795" y="2715578"/>
              <a:ext cx="6059805" cy="4686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702998" y="2850356"/>
              <a:ext cx="95938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Ⅱ 时钟中断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036498" y="2850356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当前进程的时间片可能用完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793451" y="285035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可能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598795" y="317944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702998" y="3445669"/>
              <a:ext cx="9800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Ⅲ I/O 完成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036498" y="3318986"/>
              <a:ext cx="2935986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 I/O 的进程被唤醒，若它优先级更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高就会抢占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793451" y="344566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可能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598795" y="390239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5598795" y="3907155"/>
              <a:ext cx="6059805" cy="72199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702998" y="4041934"/>
              <a:ext cx="896791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Ⅳ 设备进行</a:t>
              </a:r>
              <a:br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I/O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036498" y="4041934"/>
              <a:ext cx="2890901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设备在独立工作，CPU 上没有发生中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断事件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793451" y="416861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不会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598795" y="1524000"/>
              <a:ext cx="6059805" cy="31051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6927532" y="1524000"/>
              <a:ext cx="9525" cy="31051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10320338" y="1524000"/>
              <a:ext cx="9525" cy="31051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0" name="c2-callout-2"/>
          <p:cNvGrpSpPr/>
          <p:nvPr/>
        </p:nvGrpSpPr>
        <p:grpSpPr>
          <a:xfrm>
            <a:off x="5598795" y="4814888"/>
            <a:ext cx="6059805" cy="1380172"/>
            <a:chOff x="5598795" y="4814888"/>
            <a:chExt cx="6059805" cy="1380172"/>
          </a:xfrm>
        </p:grpSpPr>
        <p:sp>
          <p:nvSpPr>
            <p:cNvPr id="54" name="Rectangle 54"/>
            <p:cNvSpPr/>
            <p:nvPr/>
          </p:nvSpPr>
          <p:spPr>
            <a:xfrm>
              <a:off x="5598795" y="4814888"/>
              <a:ext cx="6059805" cy="1380172"/>
            </a:xfrm>
            <a:prstGeom prst="roundRect">
              <a:avLst>
                <a:gd name="adj" fmla="val 828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5803583" y="5404485"/>
              <a:ext cx="200026" cy="200025"/>
              <a:chOff x="5803583" y="5404485"/>
              <a:chExt cx="200026" cy="200025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5803583" y="540448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5843321" y="544893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5878037" y="556006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6105906" y="5273516"/>
              <a:ext cx="5054981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题目问“可能”：只要存在会切换的情况就算。Ⅳ 根本没有中断，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先排除。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23120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操作系统原理 试题解析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338992" cy="909257"/>
            <a:chOff x="520446" y="342900"/>
            <a:chExt cx="933899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试题解析 · 单项选择题（30 题）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33899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单选 11：进程切换时现场从系统栈存入 PCB，再从 PCB 恢复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4544378" cy="3042285"/>
            <a:chOff x="533400" y="1524000"/>
            <a:chExt cx="4544378" cy="30422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544378" cy="3042285"/>
            </a:xfrm>
            <a:prstGeom prst="roundRect">
              <a:avLst>
                <a:gd name="adj" fmla="val 43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702945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27114" y="1769269"/>
              <a:ext cx="5346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单选 11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5330" y="2110740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关于进程切换有如下论述：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5330" y="2446020"/>
              <a:ext cx="31409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Ⅰ. 根据系统栈保存下降进程的现场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35330" y="2781300"/>
              <a:ext cx="30152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Ⅱ. 根据 PCB 保存下降进程的现场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35330" y="3116580"/>
              <a:ext cx="31409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Ⅲ. 根据系统栈恢复上升进程的现场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35330" y="3451860"/>
              <a:ext cx="30152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Ⅳ. 根据 PCB 恢复上升进程的现场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35330" y="378714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其中论述正确的是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35330" y="4122420"/>
              <a:ext cx="35623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A. Ⅰ和Ⅲ　B. Ⅰ和Ⅳ　C. Ⅱ和Ⅲ　D. Ⅱ和Ⅳ</a:t>
              </a:r>
            </a:p>
          </p:txBody>
        </p:sp>
      </p:grpSp>
      <p:grpSp>
        <p:nvGrpSpPr>
          <p:cNvPr id="23" name="c1-callout-2"/>
          <p:cNvGrpSpPr/>
          <p:nvPr/>
        </p:nvGrpSpPr>
        <p:grpSpPr>
          <a:xfrm>
            <a:off x="533400" y="4756785"/>
            <a:ext cx="4544378" cy="1472565"/>
            <a:chOff x="533400" y="4756785"/>
            <a:chExt cx="4544378" cy="1472565"/>
          </a:xfrm>
        </p:grpSpPr>
        <p:sp>
          <p:nvSpPr>
            <p:cNvPr id="18" name="Rectangle 18"/>
            <p:cNvSpPr/>
            <p:nvPr/>
          </p:nvSpPr>
          <p:spPr>
            <a:xfrm>
              <a:off x="533400" y="4756785"/>
              <a:ext cx="4544378" cy="1472565"/>
            </a:xfrm>
            <a:prstGeom prst="roundRect">
              <a:avLst>
                <a:gd name="adj" fmla="val 7762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738188" y="5393055"/>
              <a:ext cx="200026" cy="200026"/>
              <a:chOff x="738188" y="5393055"/>
              <a:chExt cx="200026" cy="200026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738188" y="539305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04863" y="547084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040130" y="5388292"/>
              <a:ext cx="12390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答案 B：Ⅰ和Ⅳ</a:t>
              </a:r>
            </a:p>
          </p:txBody>
        </p:sp>
      </p:grpSp>
      <p:grpSp>
        <p:nvGrpSpPr>
          <p:cNvPr id="40" name="c2-flow-1"/>
          <p:cNvGrpSpPr/>
          <p:nvPr/>
        </p:nvGrpSpPr>
        <p:grpSpPr>
          <a:xfrm>
            <a:off x="5529262" y="1695450"/>
            <a:ext cx="5982652" cy="1929764"/>
            <a:chOff x="5529262" y="1695450"/>
            <a:chExt cx="5982652" cy="1929764"/>
          </a:xfrm>
        </p:grpSpPr>
        <p:sp>
          <p:nvSpPr>
            <p:cNvPr id="24" name="Freeform 24"/>
            <p:cNvSpPr/>
            <p:nvPr/>
          </p:nvSpPr>
          <p:spPr>
            <a:xfrm>
              <a:off x="7328535" y="2119312"/>
              <a:ext cx="2279333" cy="9525"/>
            </a:xfrm>
            <a:custGeom>
              <a:avLst/>
              <a:gdLst/>
              <a:ahLst/>
              <a:cxnLst/>
              <a:rect l="l" t="t" r="r" b="b"/>
              <a:pathLst>
                <a:path w="2279333" h="9525">
                  <a:moveTo>
                    <a:pt x="0" y="0"/>
                  </a:moveTo>
                  <a:lnTo>
                    <a:pt x="2279333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9607868" y="20669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7328535" y="3309938"/>
              <a:ext cx="2279333" cy="9525"/>
            </a:xfrm>
            <a:custGeom>
              <a:avLst/>
              <a:gdLst/>
              <a:ahLst/>
              <a:cxnLst/>
              <a:rect l="l" t="t" r="r" b="b"/>
              <a:pathLst>
                <a:path w="2279333" h="9525">
                  <a:moveTo>
                    <a:pt x="0" y="0"/>
                  </a:moveTo>
                  <a:lnTo>
                    <a:pt x="2279333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9607868" y="325755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529262" y="1695450"/>
              <a:ext cx="1799272" cy="847725"/>
            </a:xfrm>
            <a:prstGeom prst="roundRect">
              <a:avLst>
                <a:gd name="adj" fmla="val 11236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9712642" y="1900238"/>
              <a:ext cx="1799272" cy="438150"/>
            </a:xfrm>
            <a:prstGeom prst="roundRect">
              <a:avLst>
                <a:gd name="adj" fmla="val 21739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529262" y="3090862"/>
              <a:ext cx="1799272" cy="438150"/>
            </a:xfrm>
            <a:prstGeom prst="roundRect">
              <a:avLst>
                <a:gd name="adj" fmla="val 21739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9712642" y="2995612"/>
              <a:ext cx="1799272" cy="629602"/>
            </a:xfrm>
            <a:prstGeom prst="roundRect">
              <a:avLst>
                <a:gd name="adj" fmla="val 49924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771706" y="1812131"/>
              <a:ext cx="1313434" cy="687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下降进程的现场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（中断时已压入系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统栈）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997978" y="2030254"/>
              <a:ext cx="12295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下降进程的 PCB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813646" y="3220879"/>
              <a:ext cx="12295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上升进程的 PCB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956038" y="3111341"/>
              <a:ext cx="131343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装入寄存器，上升</a:t>
              </a:r>
              <a:br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进程接着运行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140065" y="1903095"/>
              <a:ext cx="7620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162354" y="192976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弹出并保存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340090" y="3093720"/>
              <a:ext cx="3619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374380" y="312039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恢复</a:t>
              </a:r>
            </a:p>
          </p:txBody>
        </p:sp>
      </p:grpSp>
      <p:grpSp>
        <p:nvGrpSpPr>
          <p:cNvPr id="47" name="c2-card-2"/>
          <p:cNvGrpSpPr/>
          <p:nvPr/>
        </p:nvGrpSpPr>
        <p:grpSpPr>
          <a:xfrm>
            <a:off x="5382578" y="4095750"/>
            <a:ext cx="6276022" cy="2133600"/>
            <a:chOff x="5382578" y="4095750"/>
            <a:chExt cx="6276022" cy="2133600"/>
          </a:xfrm>
        </p:grpSpPr>
        <p:sp>
          <p:nvSpPr>
            <p:cNvPr id="41" name="Rectangle 41"/>
            <p:cNvSpPr/>
            <p:nvPr/>
          </p:nvSpPr>
          <p:spPr>
            <a:xfrm>
              <a:off x="5382578" y="4095750"/>
              <a:ext cx="6276022" cy="213360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5392102" y="4229100"/>
              <a:ext cx="47625" cy="186690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5630228" y="4305300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699735" y="434101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考点：进程切换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622608" y="4682490"/>
              <a:ext cx="5349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进程切换伴随系统栈的切换：下降进程的现场信息从系统栈中弹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出，保存到它的 PCB 中；上升进程的现场从它自己的 PCB 中恢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623751" y="5585936"/>
              <a:ext cx="549935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上升进程上次被换下时，现场已经存进了 PCB，所以恢复时取 PCB，Ⅲ 错；保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存时现场的来源是系统栈，Ⅱ 说反了。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23120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操作系统原理 试题解析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023027" cy="909257"/>
            <a:chOff x="520446" y="342900"/>
            <a:chExt cx="602302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试题解析 · 单项选择题（30 题）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02302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单选 10：短进程优先可能让长进程饿死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328160" cy="1914525"/>
            <a:chOff x="533400" y="1524000"/>
            <a:chExt cx="4328160" cy="191452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32816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37235" y="1727835"/>
              <a:ext cx="702945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21399" y="1763554"/>
              <a:ext cx="5346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单选 10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29996" y="2100739"/>
              <a:ext cx="36212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下列进程调度算法中，可能造成进程饿死的调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度算法是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29996" y="2692241"/>
              <a:ext cx="249162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A. 循环轮换　B. 短进程优先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29996" y="3012281"/>
              <a:ext cx="30651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C. 先来先服务　D. 最高响应比优先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624262"/>
            <a:ext cx="4328160" cy="1921192"/>
            <a:chOff x="533400" y="3624262"/>
            <a:chExt cx="4328160" cy="1921192"/>
          </a:xfrm>
        </p:grpSpPr>
        <p:sp>
          <p:nvSpPr>
            <p:cNvPr id="14" name="Rectangle 14"/>
            <p:cNvSpPr/>
            <p:nvPr/>
          </p:nvSpPr>
          <p:spPr>
            <a:xfrm>
              <a:off x="533400" y="3624262"/>
              <a:ext cx="4328160" cy="1921192"/>
            </a:xfrm>
            <a:prstGeom prst="roundRect">
              <a:avLst>
                <a:gd name="adj" fmla="val 694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757612"/>
              <a:ext cx="47625" cy="1654492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75335" y="3828098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61593" y="386381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响应比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formula3"/>
                <p:cNvSpPr txBox="1">
                  <a:spLocks noGrp="1"/>
                </p:cNvSpPr>
                <p:nvPr/>
              </p:nvSpPr>
              <p:spPr>
                <a:xfrm>
                  <a:off x="775335" y="4177665"/>
                  <a:ext cx="3882390" cy="6429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8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RR</m:t>
                        </m:r>
                        <m:r>
                          <m:rPr>
                            <m:sty m:val="p"/>
                          </m:rPr>
                          <a:rPr lang="zh-CN" sz="18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8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8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BT</m:t>
                            </m:r>
                            <m:r>
                              <m:rPr>
                                <m:sty m:val="p"/>
                              </m:rPr>
                              <a:rPr lang="zh-CN" sz="18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8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WT</m:t>
                            </m:r>
                          </m:num>
                          <m:den>
                            <m:r>
                              <a:rPr lang="zh-CN" sz="18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BT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8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8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8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zh-CN" sz="18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8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WT</m:t>
                            </m:r>
                          </m:num>
                          <m:den>
                            <m:r>
                              <a:rPr lang="zh-CN" sz="18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BT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9" name="TextBox 19"/>
            <p:cNvSpPr txBox="1"/>
            <p:nvPr/>
          </p:nvSpPr>
          <p:spPr>
            <a:xfrm>
              <a:off x="769239" y="4932998"/>
              <a:ext cx="36697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BT 为阵发（运行）时间，WT 为已等待时间。等得越久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响应比越高，长作业迟早会被选中。</a:t>
              </a:r>
            </a:p>
          </p:txBody>
        </p:sp>
      </p:grpSp>
      <p:grpSp>
        <p:nvGrpSpPr>
          <p:cNvPr id="26" name="c1-callout-3"/>
          <p:cNvGrpSpPr/>
          <p:nvPr/>
        </p:nvGrpSpPr>
        <p:grpSpPr>
          <a:xfrm>
            <a:off x="533400" y="5730240"/>
            <a:ext cx="4328160" cy="518160"/>
            <a:chOff x="533400" y="5730240"/>
            <a:chExt cx="4328160" cy="518160"/>
          </a:xfrm>
        </p:grpSpPr>
        <p:sp>
          <p:nvSpPr>
            <p:cNvPr id="21" name="Rectangle 21"/>
            <p:cNvSpPr/>
            <p:nvPr/>
          </p:nvSpPr>
          <p:spPr>
            <a:xfrm>
              <a:off x="533400" y="5730240"/>
              <a:ext cx="4328160" cy="518160"/>
            </a:xfrm>
            <a:prstGeom prst="roundRect">
              <a:avLst>
                <a:gd name="adj" fmla="val 2205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738188" y="5889308"/>
              <a:ext cx="200026" cy="200026"/>
              <a:chOff x="738188" y="5889308"/>
              <a:chExt cx="200026" cy="200026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738188" y="588930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04863" y="596709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040511" y="5889784"/>
              <a:ext cx="5684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答案 B</a:t>
              </a:r>
            </a:p>
          </p:txBody>
        </p:sp>
      </p:grpSp>
      <p:grpSp>
        <p:nvGrpSpPr>
          <p:cNvPr id="51" name="c2-table-1"/>
          <p:cNvGrpSpPr/>
          <p:nvPr/>
        </p:nvGrpSpPr>
        <p:grpSpPr>
          <a:xfrm>
            <a:off x="5166360" y="1524000"/>
            <a:ext cx="6492240" cy="3004185"/>
            <a:chOff x="5166360" y="1524000"/>
            <a:chExt cx="6492240" cy="3004185"/>
          </a:xfrm>
        </p:grpSpPr>
        <p:sp>
          <p:nvSpPr>
            <p:cNvPr id="27" name="Rectangle 27"/>
            <p:cNvSpPr/>
            <p:nvPr/>
          </p:nvSpPr>
          <p:spPr>
            <a:xfrm>
              <a:off x="5166360" y="1524000"/>
              <a:ext cx="6492240" cy="43053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680710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算法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938135" y="165544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调度规则与特点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745533" y="165544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会饿死吗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271706" y="219170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循环轮转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634734" y="2085022"/>
              <a:ext cx="35173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每个进程一个时间片，用完到队尾排队，可剥夺。时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间片过长响应慢，过短切换开销大；适合分时系统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907078" y="219170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不会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166360" y="2592705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166360" y="2597468"/>
              <a:ext cx="6492240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271706" y="283559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短进程优先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634734" y="2728912"/>
              <a:ext cx="35554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 CPU 阵发时间递增调度。同时到达时平均等待时间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最短；短作业不断到达时，长作业一直轮不到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987850" y="2835592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会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166360" y="3236595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271706" y="347948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先来先服务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634734" y="3372802"/>
              <a:ext cx="353263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按进入就绪态的次序调度，“公平”；短作业等待时间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长，平均等待时间较长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907078" y="347948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不会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166360" y="387953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166360" y="3884295"/>
              <a:ext cx="6492240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271706" y="412242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最高响应比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634734" y="4015740"/>
              <a:ext cx="34792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FCFS 与 SJF 的折中：同时到达时短者优先，长作业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的响应比随等待时间增加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907078" y="412242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不会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166360" y="1524000"/>
              <a:ext cx="6492240" cy="30041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6524625" y="1524000"/>
              <a:ext cx="9525" cy="30041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10485120" y="1524000"/>
              <a:ext cx="9525" cy="30041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8" name="c2-callout-2"/>
          <p:cNvGrpSpPr/>
          <p:nvPr/>
        </p:nvGrpSpPr>
        <p:grpSpPr>
          <a:xfrm>
            <a:off x="5166360" y="4713922"/>
            <a:ext cx="6492240" cy="1535430"/>
            <a:chOff x="5166360" y="4713922"/>
            <a:chExt cx="6492240" cy="1535430"/>
          </a:xfrm>
        </p:grpSpPr>
        <p:sp>
          <p:nvSpPr>
            <p:cNvPr id="52" name="Rectangle 52"/>
            <p:cNvSpPr/>
            <p:nvPr/>
          </p:nvSpPr>
          <p:spPr>
            <a:xfrm>
              <a:off x="5166360" y="4713922"/>
              <a:ext cx="6492240" cy="1535430"/>
            </a:xfrm>
            <a:prstGeom prst="roundRect">
              <a:avLst>
                <a:gd name="adj" fmla="val 7444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5371148" y="5381625"/>
              <a:ext cx="200026" cy="200026"/>
              <a:chOff x="5371148" y="5381625"/>
              <a:chExt cx="200026" cy="200026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5371148" y="538162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5471160" y="54483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5460048" y="548163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5673471" y="5250656"/>
              <a:ext cx="542467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循环轮转分两种：基本轮转时间片固定，所有进程等速推进；改进轮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转的时间片长度可变。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23120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操作系统原理 试题解析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366308" cy="909257"/>
            <a:chOff x="520446" y="342900"/>
            <a:chExt cx="636630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试题解析 · 单项选择题（30 题）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36630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单选 12：时间片用完时降低优先级最合理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4328160" cy="4815840"/>
            <a:chOff x="533400" y="1524000"/>
            <a:chExt cx="4328160" cy="481584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328160" cy="4815840"/>
            </a:xfrm>
            <a:prstGeom prst="roundRect">
              <a:avLst>
                <a:gd name="adj" fmla="val 308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702945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27114" y="1769269"/>
              <a:ext cx="5346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单选 12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5330" y="2110740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下列选项中，降低进程优先级的合理时机是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5330" y="2446020"/>
              <a:ext cx="19293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A. 进程的时间片用完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35330" y="2781300"/>
              <a:ext cx="32064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B. 进程等待 I/O 完成进入就绪队列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35330" y="3116580"/>
              <a:ext cx="27371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C. 进程在就绪队列中超过时限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35330" y="3451860"/>
              <a:ext cx="21313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D. 进程从就绪转为运行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35330" y="3787140"/>
              <a:ext cx="36061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答案 A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。进程刚用完 CPU，降低优先级让别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的进程有机会运行；C 在就绪队列中等待超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时，要做的是提高优先级。</a:t>
              </a:r>
            </a:p>
          </p:txBody>
        </p:sp>
      </p:grpSp>
      <p:grpSp>
        <p:nvGrpSpPr>
          <p:cNvPr id="39" name="c2-graph-1"/>
          <p:cNvGrpSpPr/>
          <p:nvPr/>
        </p:nvGrpSpPr>
        <p:grpSpPr>
          <a:xfrm>
            <a:off x="5503545" y="1980248"/>
            <a:ext cx="5817870" cy="1761457"/>
            <a:chOff x="5503545" y="1980248"/>
            <a:chExt cx="5817870" cy="1761457"/>
          </a:xfrm>
        </p:grpSpPr>
        <p:sp>
          <p:nvSpPr>
            <p:cNvPr id="17" name="Freeform 17"/>
            <p:cNvSpPr/>
            <p:nvPr/>
          </p:nvSpPr>
          <p:spPr>
            <a:xfrm>
              <a:off x="6646545" y="2566035"/>
              <a:ext cx="3439478" cy="289878"/>
            </a:xfrm>
            <a:custGeom>
              <a:avLst/>
              <a:gdLst/>
              <a:ahLst/>
              <a:cxnLst/>
              <a:rect l="l" t="t" r="r" b="b"/>
              <a:pathLst>
                <a:path w="3439478" h="289878">
                  <a:moveTo>
                    <a:pt x="0" y="0"/>
                  </a:moveTo>
                  <a:cubicBezTo>
                    <a:pt x="1177290" y="282575"/>
                    <a:pt x="2323783" y="289878"/>
                    <a:pt x="3439478" y="21908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10074592" y="2542222"/>
              <a:ext cx="103822" cy="92393"/>
            </a:xfrm>
            <a:custGeom>
              <a:avLst/>
              <a:gdLst/>
              <a:ahLst/>
              <a:cxnLst/>
              <a:rect l="l" t="t" r="r" b="b"/>
              <a:pathLst>
                <a:path w="103822" h="92393">
                  <a:moveTo>
                    <a:pt x="103822" y="23812"/>
                  </a:moveTo>
                  <a:lnTo>
                    <a:pt x="21907" y="923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6738938" y="2001838"/>
              <a:ext cx="3439477" cy="289878"/>
            </a:xfrm>
            <a:custGeom>
              <a:avLst/>
              <a:gdLst/>
              <a:ahLst/>
              <a:cxnLst/>
              <a:rect l="l" t="t" r="r" b="b"/>
              <a:pathLst>
                <a:path w="3439477" h="289878">
                  <a:moveTo>
                    <a:pt x="3439477" y="289878"/>
                  </a:moveTo>
                  <a:cubicBezTo>
                    <a:pt x="2262188" y="7303"/>
                    <a:pt x="1115695" y="0"/>
                    <a:pt x="0" y="267970"/>
                  </a:cubicBez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6646545" y="2223135"/>
              <a:ext cx="103823" cy="92392"/>
            </a:xfrm>
            <a:custGeom>
              <a:avLst/>
              <a:gdLst/>
              <a:ahLst/>
              <a:cxnLst/>
              <a:rect l="l" t="t" r="r" b="b"/>
              <a:pathLst>
                <a:path w="103823" h="92392">
                  <a:moveTo>
                    <a:pt x="0" y="68580"/>
                  </a:moveTo>
                  <a:lnTo>
                    <a:pt x="81915" y="0"/>
                  </a:lnTo>
                  <a:lnTo>
                    <a:pt x="103823" y="92392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8845868" y="2599372"/>
              <a:ext cx="1556385" cy="761048"/>
            </a:xfrm>
            <a:custGeom>
              <a:avLst/>
              <a:gdLst/>
              <a:ahLst/>
              <a:cxnLst/>
              <a:rect l="l" t="t" r="r" b="b"/>
              <a:pathLst>
                <a:path w="1556385" h="761048">
                  <a:moveTo>
                    <a:pt x="1556385" y="0"/>
                  </a:moveTo>
                  <a:lnTo>
                    <a:pt x="0" y="76104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8760142" y="3317558"/>
              <a:ext cx="106680" cy="84772"/>
            </a:xfrm>
            <a:custGeom>
              <a:avLst/>
              <a:gdLst/>
              <a:ahLst/>
              <a:cxnLst/>
              <a:rect l="l" t="t" r="r" b="b"/>
              <a:pathLst>
                <a:path w="106680" h="84772">
                  <a:moveTo>
                    <a:pt x="0" y="83820"/>
                  </a:moveTo>
                  <a:lnTo>
                    <a:pt x="64770" y="0"/>
                  </a:lnTo>
                  <a:lnTo>
                    <a:pt x="106680" y="8477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6508432" y="2640330"/>
              <a:ext cx="1556385" cy="761048"/>
            </a:xfrm>
            <a:custGeom>
              <a:avLst/>
              <a:gdLst/>
              <a:ahLst/>
              <a:cxnLst/>
              <a:rect l="l" t="t" r="r" b="b"/>
              <a:pathLst>
                <a:path w="1556385" h="761048">
                  <a:moveTo>
                    <a:pt x="1556385" y="761048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6422708" y="2598420"/>
              <a:ext cx="106680" cy="84772"/>
            </a:xfrm>
            <a:custGeom>
              <a:avLst/>
              <a:gdLst/>
              <a:ahLst/>
              <a:cxnLst/>
              <a:rect l="l" t="t" r="r" b="b"/>
              <a:pathLst>
                <a:path w="106680" h="84772">
                  <a:moveTo>
                    <a:pt x="0" y="952"/>
                  </a:moveTo>
                  <a:lnTo>
                    <a:pt x="106680" y="0"/>
                  </a:lnTo>
                  <a:lnTo>
                    <a:pt x="64770" y="8477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503545" y="2259330"/>
              <a:ext cx="1143000" cy="340042"/>
            </a:xfrm>
            <a:prstGeom prst="roundRect">
              <a:avLst>
                <a:gd name="adj" fmla="val 28011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10178415" y="2259330"/>
              <a:ext cx="1143000" cy="340042"/>
            </a:xfrm>
            <a:prstGeom prst="roundRect">
              <a:avLst>
                <a:gd name="adj" fmla="val 28011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7840980" y="3401378"/>
              <a:ext cx="1143000" cy="340042"/>
            </a:xfrm>
            <a:prstGeom prst="roundRect">
              <a:avLst>
                <a:gd name="adj" fmla="val 28011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896254" y="234934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就绪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571124" y="234934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运行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233689" y="349234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等待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117205" y="2677478"/>
              <a:ext cx="589598" cy="186690"/>
            </a:xfrm>
            <a:prstGeom prst="roundRect">
              <a:avLst>
                <a:gd name="adj" fmla="val 2040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131645" y="2715578"/>
              <a:ext cx="5616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D 被调度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983855" y="1980248"/>
              <a:ext cx="856298" cy="186690"/>
            </a:xfrm>
            <a:prstGeom prst="roundRect">
              <a:avLst>
                <a:gd name="adj" fmla="val 2040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990294" y="2017395"/>
              <a:ext cx="8443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 时间片用完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9283065" y="2900362"/>
              <a:ext cx="596265" cy="186690"/>
            </a:xfrm>
            <a:prstGeom prst="roundRect">
              <a:avLst>
                <a:gd name="adj" fmla="val 2040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292628" y="2937510"/>
              <a:ext cx="5771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I/O 请求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889432" y="2900362"/>
              <a:ext cx="709612" cy="186690"/>
            </a:xfrm>
            <a:prstGeom prst="roundRect">
              <a:avLst>
                <a:gd name="adj" fmla="val 2040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891719" y="2937510"/>
              <a:ext cx="7040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B I/O 完成</a:t>
              </a:r>
            </a:p>
          </p:txBody>
        </p:sp>
      </p:grpSp>
      <p:grpSp>
        <p:nvGrpSpPr>
          <p:cNvPr id="64" name="c2-table-2"/>
          <p:cNvGrpSpPr/>
          <p:nvPr/>
        </p:nvGrpSpPr>
        <p:grpSpPr>
          <a:xfrm>
            <a:off x="5166360" y="4095750"/>
            <a:ext cx="6492240" cy="2244090"/>
            <a:chOff x="5166360" y="4095750"/>
            <a:chExt cx="6492240" cy="2244090"/>
          </a:xfrm>
        </p:grpSpPr>
        <p:sp>
          <p:nvSpPr>
            <p:cNvPr id="40" name="Rectangle 40"/>
            <p:cNvSpPr/>
            <p:nvPr/>
          </p:nvSpPr>
          <p:spPr>
            <a:xfrm>
              <a:off x="5166360" y="4095750"/>
              <a:ext cx="6492240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312372" y="423148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选项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908887" y="423148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分析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744048" y="423148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优先级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432114" y="4680109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923788" y="4680109"/>
              <a:ext cx="39865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进程刚占用完 CPU，可以降低，给其他进程运行机会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830204" y="468010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降低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166360" y="498824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5166360" y="4993005"/>
              <a:ext cx="649224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432114" y="5128736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923788" y="5128736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进程已经等了一段时间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571734" y="512873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提高或不变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166360" y="543782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432114" y="5577364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923788" y="5577364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在就绪队列超时说明等得太久，为防止饥饿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830204" y="557736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提高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166360" y="5886450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5166360" y="5891212"/>
              <a:ext cx="649224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432114" y="6025991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5923788" y="602599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进程已经占有处理机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744048" y="602599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不必改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5166360" y="4095750"/>
              <a:ext cx="6492240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5811202" y="409575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10355580" y="409575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23120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操作系统原理 试题解析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612418" cy="909257"/>
            <a:chOff x="520446" y="342900"/>
            <a:chExt cx="76124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试题解析 · 单项选择题（30 题）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6124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单选 4：共享变量 x 让两个进程的输出结果不确定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card-1"/>
          <p:cNvGrpSpPr/>
          <p:nvPr/>
        </p:nvGrpSpPr>
        <p:grpSpPr>
          <a:xfrm>
            <a:off x="533400" y="1524000"/>
            <a:ext cx="5410200" cy="4833938"/>
            <a:chOff x="533400" y="1524000"/>
            <a:chExt cx="5410200" cy="483393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833938"/>
            </a:xfrm>
            <a:prstGeom prst="roundRect">
              <a:avLst>
                <a:gd name="adj" fmla="val 275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37235" y="1727835"/>
              <a:ext cx="62103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23978" y="1763554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单选 4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29996" y="2100739"/>
              <a:ext cx="419836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int x; 为全局变量，进程 P1、P2 定义如下。运行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cobegin P1; P2 coend; 时，正确的说法是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37235" y="2668905"/>
              <a:ext cx="5002530" cy="2125028"/>
            </a:xfrm>
            <a:prstGeom prst="roundRect">
              <a:avLst>
                <a:gd name="adj" fmla="val 44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5632" y="2820829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64870" y="3083719"/>
              <a:ext cx="3531870" cy="16402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/* P1 */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</a:t>
              </a:r>
              <a:r>
                <a:rPr lang="en-US" sz="112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/* P2 */</a:t>
              </a:r>
              <a:br/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main() {          </a:t>
              </a:r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m, n;              </a:t>
              </a:r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m, n;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x = 1;  m = 0;         x = 0;  m = 0;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(x == 1) m++;       </a:t>
              </a:r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(x == 0) m++;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n = m;                 n = m;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printf(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"n=%d\n"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n);   printf(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"n=%d\n"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n);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                      }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29996" y="4909661"/>
              <a:ext cx="29974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A. P1 和 P2 的输出结果一定都是 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29996" y="5229701"/>
              <a:ext cx="405517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B. P1 输出结果一定为 1，P2 输出结果一定为 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9996" y="5549741"/>
              <a:ext cx="405517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C. P1 输出结果一定为 0，P2 输出结果一定为 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29996" y="5869781"/>
              <a:ext cx="264383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D. P1 和 P2 的输出结果不确定</a:t>
              </a:r>
            </a:p>
          </p:txBody>
        </p:sp>
      </p:grpSp>
      <p:grpSp>
        <p:nvGrpSpPr>
          <p:cNvPr id="39" name="c2-table-1"/>
          <p:cNvGrpSpPr/>
          <p:nvPr/>
        </p:nvGrpSpPr>
        <p:grpSpPr>
          <a:xfrm>
            <a:off x="6242685" y="1524000"/>
            <a:ext cx="5415915" cy="2442687"/>
            <a:chOff x="6242685" y="1524000"/>
            <a:chExt cx="5415915" cy="2442687"/>
          </a:xfrm>
        </p:grpSpPr>
        <p:sp>
          <p:nvSpPr>
            <p:cNvPr id="19" name="Rectangle 19"/>
            <p:cNvSpPr/>
            <p:nvPr/>
          </p:nvSpPr>
          <p:spPr>
            <a:xfrm>
              <a:off x="6248400" y="1524000"/>
              <a:ext cx="5410200" cy="43053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51242" y="165544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执行顺序举例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336637" y="165544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148167" y="165544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353747" y="2085022"/>
              <a:ext cx="19679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 整个执行完，再执行 P2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390784" y="208502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202314" y="208502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248400" y="237934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248400" y="2384108"/>
              <a:ext cx="5410200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53747" y="2515552"/>
              <a:ext cx="3337179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 置 x 为 1，P2 置 x 为 0，P1 再判断 x 是否为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1：不成立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390784" y="262223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202314" y="262223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248400" y="302323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53747" y="3159442"/>
              <a:ext cx="3337179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 置 x 为 0，P1 置 x 为 1，P2 再判断 x 是否为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0：不成立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390784" y="326612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202314" y="326612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248400" y="1524000"/>
              <a:ext cx="5410200" cy="21469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10030778" y="1524000"/>
              <a:ext cx="9525" cy="21469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10842308" y="1524000"/>
              <a:ext cx="9525" cy="21469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242685" y="3746659"/>
              <a:ext cx="45572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用脚本穷举全部交叉顺序，只出现这三种输出；两个都输出 0 不可能</a:t>
              </a:r>
            </a:p>
          </p:txBody>
        </p:sp>
      </p:grpSp>
      <p:grpSp>
        <p:nvGrpSpPr>
          <p:cNvPr id="45" name="c2-card-2"/>
          <p:cNvGrpSpPr/>
          <p:nvPr/>
        </p:nvGrpSpPr>
        <p:grpSpPr>
          <a:xfrm>
            <a:off x="6248400" y="4108132"/>
            <a:ext cx="5410200" cy="1545908"/>
            <a:chOff x="6248400" y="4108132"/>
            <a:chExt cx="5410200" cy="1545908"/>
          </a:xfrm>
        </p:grpSpPr>
        <p:sp>
          <p:nvSpPr>
            <p:cNvPr id="40" name="Rectangle 40"/>
            <p:cNvSpPr/>
            <p:nvPr/>
          </p:nvSpPr>
          <p:spPr>
            <a:xfrm>
              <a:off x="6248400" y="4108132"/>
              <a:ext cx="5410200" cy="1545908"/>
            </a:xfrm>
            <a:prstGeom prst="roundRect">
              <a:avLst>
                <a:gd name="adj" fmla="val 86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257925" y="4241482"/>
              <a:ext cx="47625" cy="1279208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490335" y="4311968"/>
              <a:ext cx="1774508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42138" y="4347686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考点：与时间有关的错误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483096" y="4684871"/>
              <a:ext cx="4730369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进程推进速度不同，执行会交叉（interleave）。交叉中涉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及公共变量 x 时，某些交叉会得出不正确的结果，必须去掉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这些交叉。</a:t>
              </a:r>
            </a:p>
          </p:txBody>
        </p:sp>
      </p:grpSp>
      <p:grpSp>
        <p:nvGrpSpPr>
          <p:cNvPr id="51" name="c2-callout-3"/>
          <p:cNvGrpSpPr/>
          <p:nvPr/>
        </p:nvGrpSpPr>
        <p:grpSpPr>
          <a:xfrm>
            <a:off x="6248400" y="5839778"/>
            <a:ext cx="5410200" cy="518160"/>
            <a:chOff x="6248400" y="5839778"/>
            <a:chExt cx="5410200" cy="518160"/>
          </a:xfrm>
        </p:grpSpPr>
        <p:sp>
          <p:nvSpPr>
            <p:cNvPr id="46" name="Rectangle 46"/>
            <p:cNvSpPr/>
            <p:nvPr/>
          </p:nvSpPr>
          <p:spPr>
            <a:xfrm>
              <a:off x="6248400" y="5839778"/>
              <a:ext cx="5410200" cy="518160"/>
            </a:xfrm>
            <a:prstGeom prst="roundRect">
              <a:avLst>
                <a:gd name="adj" fmla="val 2205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6453188" y="5998845"/>
              <a:ext cx="200026" cy="200026"/>
              <a:chOff x="6453188" y="5998845"/>
              <a:chExt cx="200026" cy="200026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6453188" y="599884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519863" y="607663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6755511" y="5999321"/>
              <a:ext cx="38182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答案 D：输出取决于两个进程交叉执行的次序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23120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操作系统原理 试题解析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396151" cy="909257"/>
            <a:chOff x="520446" y="342900"/>
            <a:chExt cx="739615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试题解析 · 单项选择题（30 题）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3961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单选 14：信号量为负时，绝对值就是等待进程数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4760595" cy="1840230"/>
            <a:chOff x="533400" y="1524000"/>
            <a:chExt cx="4760595" cy="184023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1840230"/>
            </a:xfrm>
            <a:prstGeom prst="roundRect">
              <a:avLst>
                <a:gd name="adj" fmla="val 724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31520" y="1722120"/>
              <a:ext cx="672465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7175" y="1756410"/>
              <a:ext cx="5011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单选 14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24281" y="2082641"/>
              <a:ext cx="416229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设与某类资源 R 相关联的信号量 S 的初值为 3，S 当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前值为 −2。若 M 表示 R 的可用个数，N 表示等待 R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的进程数，则当前 M、N 分别是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24281" y="2943701"/>
              <a:ext cx="334860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A. 3、0　B. 0、3　C. 0、2　D. 2、0</a:t>
              </a:r>
            </a:p>
          </p:txBody>
        </p:sp>
      </p:grpSp>
      <p:grpSp>
        <p:nvGrpSpPr>
          <p:cNvPr id="27" name="c1-cells-2"/>
          <p:cNvGrpSpPr/>
          <p:nvPr/>
        </p:nvGrpSpPr>
        <p:grpSpPr>
          <a:xfrm>
            <a:off x="527304" y="3544252"/>
            <a:ext cx="3749421" cy="949643"/>
            <a:chOff x="527304" y="3544252"/>
            <a:chExt cx="3749421" cy="949643"/>
          </a:xfrm>
        </p:grpSpPr>
        <p:sp>
          <p:nvSpPr>
            <p:cNvPr id="13" name="TextBox 13"/>
            <p:cNvSpPr txBox="1"/>
            <p:nvPr/>
          </p:nvSpPr>
          <p:spPr>
            <a:xfrm>
              <a:off x="527304" y="3667125"/>
              <a:ext cx="628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S.value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283018" y="3544252"/>
              <a:ext cx="71628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541770" y="366712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27304" y="4221480"/>
              <a:ext cx="6713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S.queue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283018" y="4099560"/>
              <a:ext cx="1125855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691991" y="4221480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PCB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2408872" y="4099560"/>
              <a:ext cx="209550" cy="394335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2485072" y="4268152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2513648" y="4296728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2856548" y="4253865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2942272" y="4099560"/>
              <a:ext cx="1125855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351246" y="4221480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PCB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067175" y="4099560"/>
              <a:ext cx="209550" cy="394335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127744" y="422910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</p:grpSp>
      <p:grpSp>
        <p:nvGrpSpPr>
          <p:cNvPr id="33" name="c1-callout-3"/>
          <p:cNvGrpSpPr/>
          <p:nvPr/>
        </p:nvGrpSpPr>
        <p:grpSpPr>
          <a:xfrm>
            <a:off x="533400" y="4673918"/>
            <a:ext cx="4760595" cy="1624965"/>
            <a:chOff x="533400" y="4673918"/>
            <a:chExt cx="4760595" cy="1624965"/>
          </a:xfrm>
        </p:grpSpPr>
        <p:sp>
          <p:nvSpPr>
            <p:cNvPr id="28" name="Rectangle 28"/>
            <p:cNvSpPr/>
            <p:nvPr/>
          </p:nvSpPr>
          <p:spPr>
            <a:xfrm>
              <a:off x="533400" y="4673918"/>
              <a:ext cx="4760595" cy="1624965"/>
            </a:xfrm>
            <a:prstGeom prst="roundRect">
              <a:avLst>
                <a:gd name="adj" fmla="val 7034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738188" y="5386388"/>
              <a:ext cx="200026" cy="200026"/>
              <a:chOff x="738188" y="5386388"/>
              <a:chExt cx="200026" cy="200026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738188" y="53863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04863" y="546417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040511" y="5255419"/>
              <a:ext cx="3765550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答案 C：value &lt; 0 表示资源已用完，M = 0；队</a:t>
              </a:r>
              <a:br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列里有 |−2| = 2 个进程，N = 2</a:t>
              </a:r>
            </a:p>
          </p:txBody>
        </p:sp>
      </p:grpSp>
      <p:grpSp>
        <p:nvGrpSpPr>
          <p:cNvPr id="37" name="c2-code-1"/>
          <p:cNvGrpSpPr/>
          <p:nvPr/>
        </p:nvGrpSpPr>
        <p:grpSpPr>
          <a:xfrm>
            <a:off x="5598795" y="1524000"/>
            <a:ext cx="6059805" cy="2207895"/>
            <a:chOff x="5598795" y="1524000"/>
            <a:chExt cx="6059805" cy="2207895"/>
          </a:xfrm>
        </p:grpSpPr>
        <p:sp>
          <p:nvSpPr>
            <p:cNvPr id="34" name="Rectangle 34"/>
            <p:cNvSpPr/>
            <p:nvPr/>
          </p:nvSpPr>
          <p:spPr>
            <a:xfrm>
              <a:off x="5598795" y="1524000"/>
              <a:ext cx="6059805" cy="2207895"/>
            </a:xfrm>
            <a:prstGeom prst="roundRect">
              <a:avLst>
                <a:gd name="adj" fmla="val 431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727192" y="1675924"/>
              <a:ext cx="20618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P、V 操作原语（执行中不可中断）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726811" y="1937385"/>
              <a:ext cx="2797683" cy="17217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procedure P(var s: semaphore)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s.value := s.value - 1;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if s.value &lt; 0 then asleep(s.queue)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procedure V(var s: semaphore)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s.value := s.value + 1;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if s.value &lt;= 0 then wakeup(s.queue)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</a:t>
              </a:r>
            </a:p>
          </p:txBody>
        </p:sp>
      </p:grpSp>
      <p:grpSp>
        <p:nvGrpSpPr>
          <p:cNvPr id="49" name="c2-card-2"/>
          <p:cNvGrpSpPr/>
          <p:nvPr/>
        </p:nvGrpSpPr>
        <p:grpSpPr>
          <a:xfrm>
            <a:off x="5598795" y="3912870"/>
            <a:ext cx="6059805" cy="2386012"/>
            <a:chOff x="5598795" y="3912870"/>
            <a:chExt cx="6059805" cy="2386012"/>
          </a:xfrm>
        </p:grpSpPr>
        <p:sp>
          <p:nvSpPr>
            <p:cNvPr id="38" name="Rectangle 38"/>
            <p:cNvSpPr/>
            <p:nvPr/>
          </p:nvSpPr>
          <p:spPr>
            <a:xfrm>
              <a:off x="5598795" y="3912870"/>
              <a:ext cx="6059805" cy="2386012"/>
            </a:xfrm>
            <a:prstGeom prst="roundRect">
              <a:avLst>
                <a:gd name="adj" fmla="val 558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5608320" y="4046220"/>
              <a:ext cx="47625" cy="2119312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5835015" y="4110990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914454" y="414528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规定和结论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5842635" y="453104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999226" y="4471511"/>
              <a:ext cx="527066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必须置一次、且只能置一次初值，初值 ≥ 0；只能做 P、V 操作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5842635" y="4849178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999226" y="4788694"/>
              <a:ext cx="514515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s.value ≥ 0 时 s.queue 为空；s.value &lt; 0 时 |s.value| 为队列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长度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5842635" y="543782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999226" y="5378291"/>
              <a:ext cx="37038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初值为 1 可实现互斥；初值为 0 可实现同步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828919" y="5692140"/>
              <a:ext cx="516331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asleep：本进程 PCB 入队尾，状态改为等待，转处理机调度。wakeup：队首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PCB 出队，进入就绪队列。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23120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操作系统原理 试题解析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862155" cy="909257"/>
            <a:chOff x="520446" y="342900"/>
            <a:chExt cx="786215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试题解析 · 单项选择题（30 题）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86215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管程的组成：三类队列，以及 wait、signal 的含义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3" name="c1-graph-1"/>
          <p:cNvGrpSpPr/>
          <p:nvPr/>
        </p:nvGrpSpPr>
        <p:grpSpPr>
          <a:xfrm>
            <a:off x="623888" y="1644491"/>
            <a:ext cx="4915852" cy="4680776"/>
            <a:chOff x="623888" y="1644491"/>
            <a:chExt cx="4915852" cy="4680776"/>
          </a:xfrm>
        </p:grpSpPr>
        <p:sp>
          <p:nvSpPr>
            <p:cNvPr id="7" name="Freeform 7"/>
            <p:cNvSpPr/>
            <p:nvPr/>
          </p:nvSpPr>
          <p:spPr>
            <a:xfrm>
              <a:off x="1661160" y="3222308"/>
              <a:ext cx="1027748" cy="416242"/>
            </a:xfrm>
            <a:custGeom>
              <a:avLst/>
              <a:gdLst/>
              <a:ahLst/>
              <a:cxnLst/>
              <a:rect l="l" t="t" r="r" b="b"/>
              <a:pathLst>
                <a:path w="1027748" h="416242">
                  <a:moveTo>
                    <a:pt x="0" y="0"/>
                  </a:moveTo>
                  <a:lnTo>
                    <a:pt x="1027748" y="41624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670810" y="3594735"/>
              <a:ext cx="106680" cy="87630"/>
            </a:xfrm>
            <a:custGeom>
              <a:avLst/>
              <a:gdLst/>
              <a:ahLst/>
              <a:cxnLst/>
              <a:rect l="l" t="t" r="r" b="b"/>
              <a:pathLst>
                <a:path w="106680" h="87630">
                  <a:moveTo>
                    <a:pt x="106680" y="80010"/>
                  </a:moveTo>
                  <a:lnTo>
                    <a:pt x="0" y="87630"/>
                  </a:lnTo>
                  <a:lnTo>
                    <a:pt x="3619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749742" y="4829175"/>
              <a:ext cx="939165" cy="380047"/>
            </a:xfrm>
            <a:custGeom>
              <a:avLst/>
              <a:gdLst/>
              <a:ahLst/>
              <a:cxnLst/>
              <a:rect l="l" t="t" r="r" b="b"/>
              <a:pathLst>
                <a:path w="939165" h="380047">
                  <a:moveTo>
                    <a:pt x="0" y="380047"/>
                  </a:moveTo>
                  <a:lnTo>
                    <a:pt x="93916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670810" y="4784408"/>
              <a:ext cx="106680" cy="88583"/>
            </a:xfrm>
            <a:custGeom>
              <a:avLst/>
              <a:gdLst/>
              <a:ahLst/>
              <a:cxnLst/>
              <a:rect l="l" t="t" r="r" b="b"/>
              <a:pathLst>
                <a:path w="106680" h="88583">
                  <a:moveTo>
                    <a:pt x="106680" y="8572"/>
                  </a:moveTo>
                  <a:lnTo>
                    <a:pt x="36195" y="885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661160" y="5165408"/>
              <a:ext cx="106680" cy="87630"/>
            </a:xfrm>
            <a:custGeom>
              <a:avLst/>
              <a:gdLst/>
              <a:ahLst/>
              <a:cxnLst/>
              <a:rect l="l" t="t" r="r" b="b"/>
              <a:pathLst>
                <a:path w="106680" h="87630">
                  <a:moveTo>
                    <a:pt x="0" y="79058"/>
                  </a:moveTo>
                  <a:lnTo>
                    <a:pt x="70485" y="0"/>
                  </a:lnTo>
                  <a:lnTo>
                    <a:pt x="106680" y="8763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2777490" y="2328862"/>
              <a:ext cx="2762250" cy="3810000"/>
            </a:xfrm>
            <a:prstGeom prst="roundRect">
              <a:avLst>
                <a:gd name="adj" fmla="val 3448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3015615" y="2438400"/>
              <a:ext cx="2286000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3015615" y="3261360"/>
              <a:ext cx="2286000" cy="300038"/>
            </a:xfrm>
            <a:prstGeom prst="roundRect">
              <a:avLst>
                <a:gd name="adj" fmla="val 31746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3015615" y="4083368"/>
              <a:ext cx="2286000" cy="300038"/>
            </a:xfrm>
            <a:prstGeom prst="roundRect">
              <a:avLst>
                <a:gd name="adj" fmla="val 31746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3015615" y="4906328"/>
              <a:ext cx="2286000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3015615" y="5729288"/>
              <a:ext cx="2286000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623888" y="2922270"/>
              <a:ext cx="1333500" cy="300038"/>
            </a:xfrm>
            <a:prstGeom prst="roundRect">
              <a:avLst>
                <a:gd name="adj" fmla="val 31746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623888" y="5244465"/>
              <a:ext cx="1333500" cy="300038"/>
            </a:xfrm>
            <a:prstGeom prst="roundRect">
              <a:avLst>
                <a:gd name="adj" fmla="val 31746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851351" y="251888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共享变量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490623" y="3340894"/>
              <a:ext cx="13359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条件 c1 的等待队列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490623" y="4163854"/>
              <a:ext cx="13359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条件 c2 的等待队列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625755" y="4985861"/>
              <a:ext cx="10657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 1 … 操作 n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775964" y="580882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初始化代码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2599" y="300275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入口等待队列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32599" y="532495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紧急等待队列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1952625" y="3362325"/>
              <a:ext cx="53340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972246" y="339471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申请进入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1832610" y="4932998"/>
              <a:ext cx="77343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845031" y="4965382"/>
              <a:ext cx="7485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signal 者进出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022092" y="1644491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管程：任一时刻只有一个活动进程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30682" y="5966936"/>
              <a:ext cx="1752346" cy="358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320"/>
                </a:lnSpc>
              </a:pPr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紧急队列中的进程优先于入口队</a:t>
              </a:r>
              <a:br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列进入管程</a:t>
              </a:r>
            </a:p>
          </p:txBody>
        </p:sp>
      </p:grpSp>
      <p:grpSp>
        <p:nvGrpSpPr>
          <p:cNvPr id="39" name="c2-kv-1"/>
          <p:cNvGrpSpPr/>
          <p:nvPr/>
        </p:nvGrpSpPr>
        <p:grpSpPr>
          <a:xfrm>
            <a:off x="6240780" y="1548765"/>
            <a:ext cx="5417820" cy="1861185"/>
            <a:chOff x="6240780" y="1548765"/>
            <a:chExt cx="5417820" cy="1861185"/>
          </a:xfrm>
        </p:grpSpPr>
        <p:sp>
          <p:nvSpPr>
            <p:cNvPr id="34" name="TextBox 34"/>
            <p:cNvSpPr txBox="1"/>
            <p:nvPr/>
          </p:nvSpPr>
          <p:spPr>
            <a:xfrm>
              <a:off x="6240780" y="1548765"/>
              <a:ext cx="82094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wait(c)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415212" y="1548765"/>
              <a:ext cx="4015740" cy="857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条件不满足时执行：本进程进入 c 的等待队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列；紧急等待队列有进程就唤醒其中一个，否则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唤醒入口等待队列中的一个，并释放管程使用权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248400" y="243268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240780" y="2552700"/>
              <a:ext cx="9587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signal(c)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415212" y="2552700"/>
              <a:ext cx="4015740" cy="857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条件发生时执行：唤醒 c 等待队列中的一个进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程。这时管程里有两个活动进程，必须有一个让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</a:t>
              </a:r>
            </a:p>
          </p:txBody>
        </p:sp>
      </p:grpSp>
      <p:grpSp>
        <p:nvGrpSpPr>
          <p:cNvPr id="55" name="c2-table-2"/>
          <p:cNvGrpSpPr/>
          <p:nvPr/>
        </p:nvGrpSpPr>
        <p:grpSpPr>
          <a:xfrm>
            <a:off x="6248400" y="3541395"/>
            <a:ext cx="5410200" cy="1800225"/>
            <a:chOff x="6248400" y="3541395"/>
            <a:chExt cx="5410200" cy="1800225"/>
          </a:xfrm>
        </p:grpSpPr>
        <p:sp>
          <p:nvSpPr>
            <p:cNvPr id="40" name="Rectangle 40"/>
            <p:cNvSpPr/>
            <p:nvPr/>
          </p:nvSpPr>
          <p:spPr>
            <a:xfrm>
              <a:off x="6248400" y="3541395"/>
              <a:ext cx="5410200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610629" y="367712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管程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18552" y="367712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被唤醒的进程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561209" y="3677126"/>
              <a:ext cx="14896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执行 signal 的进程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356223" y="4239101"/>
              <a:ext cx="5161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Hoare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438263" y="423910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立即继续执行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061323" y="4125754"/>
              <a:ext cx="22887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进入紧急等待队列，被唤醒后继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续执行管程内其余代码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248400" y="466058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248400" y="4665345"/>
              <a:ext cx="541020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356223" y="4914424"/>
              <a:ext cx="6156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Hansen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438263" y="491442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继续执行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061323" y="4801076"/>
              <a:ext cx="230505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离开管程（signal 是管程过程的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最后一条语句）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248400" y="3541395"/>
              <a:ext cx="5410200" cy="18002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7325678" y="3541395"/>
              <a:ext cx="9525" cy="18002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8948738" y="3541395"/>
              <a:ext cx="9525" cy="18002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2" name="c2-callout-3"/>
          <p:cNvGrpSpPr/>
          <p:nvPr/>
        </p:nvGrpSpPr>
        <p:grpSpPr>
          <a:xfrm>
            <a:off x="6248400" y="5532120"/>
            <a:ext cx="5410200" cy="782955"/>
            <a:chOff x="6248400" y="5532120"/>
            <a:chExt cx="5410200" cy="782955"/>
          </a:xfrm>
        </p:grpSpPr>
        <p:sp>
          <p:nvSpPr>
            <p:cNvPr id="56" name="Rectangle 56"/>
            <p:cNvSpPr/>
            <p:nvPr/>
          </p:nvSpPr>
          <p:spPr>
            <a:xfrm>
              <a:off x="6248400" y="5532120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6453188" y="5823585"/>
              <a:ext cx="200026" cy="200026"/>
              <a:chOff x="6453188" y="5823585"/>
              <a:chExt cx="200026" cy="200026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6453188" y="582358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6553200" y="589026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6542088" y="592359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6755130" y="5680710"/>
              <a:ext cx="4396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入口、紧急两个等待队列定义管程时就自动存在；条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件等待队列有几个条件变量就有几个。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23120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操作系统原理 试题解析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046905" cy="909257"/>
            <a:chOff x="520446" y="342900"/>
            <a:chExt cx="904690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试题解析 · 单项选择题（30 题）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04690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单选 15：Hoare 管程执行 signal 后，唤醒者进入紧急队列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4760595" cy="4720590"/>
            <a:chOff x="533400" y="1524000"/>
            <a:chExt cx="4760595" cy="472059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4720590"/>
            </a:xfrm>
            <a:prstGeom prst="roundRect">
              <a:avLst>
                <a:gd name="adj" fmla="val 282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31520" y="1722120"/>
              <a:ext cx="672465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7175" y="1756410"/>
              <a:ext cx="5011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单选 15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24281" y="2082641"/>
              <a:ext cx="4135247" cy="13645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Hoare 管程中，设入口等待队列 EQ 中有 P0、紧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急等待队列 UQ 中有 P1、条件变量 C 的等待队列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CQ 中有 P2，P3 拥有该管程的互斥权。当依次发生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P4 申请该管程互斥权、P3 执行 signal(C) 后，各队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列中的进程和运行进程是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24281" y="3486626"/>
              <a:ext cx="397690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A. EQ：P0；UQ：P4；CQ：P2、P3；P1 运行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24281" y="3803809"/>
              <a:ext cx="397690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B. EQ：P0、P4；UQ：P1；CQ：P3；P2 运行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24281" y="4121944"/>
              <a:ext cx="42286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C. EQ：P0、P4；UQ：P2、P3；CQ 空；P1 运行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24281" y="4440079"/>
              <a:ext cx="42286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D. EQ：P0、P4；UQ：P1、P3；CQ 空；P2 运行</a:t>
              </a:r>
            </a:p>
          </p:txBody>
        </p:sp>
      </p:grpSp>
      <p:grpSp>
        <p:nvGrpSpPr>
          <p:cNvPr id="47" name="c2-table-1"/>
          <p:cNvGrpSpPr/>
          <p:nvPr/>
        </p:nvGrpSpPr>
        <p:grpSpPr>
          <a:xfrm>
            <a:off x="5598795" y="1524000"/>
            <a:ext cx="6059805" cy="1853565"/>
            <a:chOff x="5598795" y="1524000"/>
            <a:chExt cx="6059805" cy="1853565"/>
          </a:xfrm>
        </p:grpSpPr>
        <p:sp>
          <p:nvSpPr>
            <p:cNvPr id="16" name="Rectangle 16"/>
            <p:cNvSpPr/>
            <p:nvPr/>
          </p:nvSpPr>
          <p:spPr>
            <a:xfrm>
              <a:off x="5598795" y="1524000"/>
              <a:ext cx="6059805" cy="46291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10033" y="165592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时刻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816857" y="1655921"/>
              <a:ext cx="2901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EQ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908422" y="1655921"/>
              <a:ext cx="2901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UQ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877114" y="1655921"/>
              <a:ext cx="2901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CQ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854411" y="165592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700141" y="211978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初始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3619" y="2119789"/>
              <a:ext cx="23665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P0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935184" y="2119789"/>
              <a:ext cx="23665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903877" y="2119789"/>
              <a:ext cx="23665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934482" y="2119789"/>
              <a:ext cx="23665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P3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598795" y="244602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598795" y="2450782"/>
              <a:ext cx="6059805" cy="4629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700141" y="2582704"/>
              <a:ext cx="107603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P4 申请进入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46688" y="2582704"/>
              <a:ext cx="63051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P0, P4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935184" y="2582704"/>
              <a:ext cx="23665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903877" y="2582704"/>
              <a:ext cx="23665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934482" y="2582704"/>
              <a:ext cx="23665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P3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598795" y="290893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700141" y="3045619"/>
              <a:ext cx="16548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P3 执行 signal(C)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46688" y="3045619"/>
              <a:ext cx="63051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P0, P4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517255" y="2923222"/>
              <a:ext cx="1071562" cy="44386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38253" y="3045619"/>
              <a:ext cx="63051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P1, P3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919386" y="3045619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10456545" y="2923222"/>
              <a:ext cx="1192530" cy="44386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934482" y="3045619"/>
              <a:ext cx="23665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598795" y="1524000"/>
              <a:ext cx="6059805" cy="185356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7412355" y="1524000"/>
              <a:ext cx="9525" cy="18535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8502968" y="1524000"/>
              <a:ext cx="9525" cy="18535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9593580" y="1524000"/>
              <a:ext cx="9525" cy="18535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10442258" y="1524000"/>
              <a:ext cx="9525" cy="18535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1" name="c2-steps-2"/>
          <p:cNvGrpSpPr/>
          <p:nvPr/>
        </p:nvGrpSpPr>
        <p:grpSpPr>
          <a:xfrm>
            <a:off x="5598795" y="3567112"/>
            <a:ext cx="5675376" cy="2002536"/>
            <a:chOff x="5598795" y="3567112"/>
            <a:chExt cx="5675376" cy="2002536"/>
          </a:xfrm>
        </p:grpSpPr>
        <p:sp>
          <p:nvSpPr>
            <p:cNvPr id="48" name="Rectangle 48"/>
            <p:cNvSpPr/>
            <p:nvPr/>
          </p:nvSpPr>
          <p:spPr>
            <a:xfrm>
              <a:off x="5732145" y="3709988"/>
              <a:ext cx="19050" cy="145446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5598795" y="356711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692419" y="36409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5598795" y="418338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692419" y="42571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5598795" y="502158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692419" y="50953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010656" y="3599974"/>
              <a:ext cx="69371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P4 申请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011799" y="3880485"/>
              <a:ext cx="34503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管程被 P3 占用，P4 排到入口等待队列 EQ 队尾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010656" y="4217194"/>
              <a:ext cx="16548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P3 执行 signal(C)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011799" y="4497705"/>
              <a:ext cx="526237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唤醒 CQ 中的 P2。Hoare 管程让被唤醒的 P2 立即运行，P3 排到紧急等待队列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UQ 队尾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010656" y="505444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对照选项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011799" y="5334952"/>
              <a:ext cx="37008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EQ 为 P0、P4，UQ 为 P1、P3，CQ 为空，P2 运行</a:t>
              </a:r>
            </a:p>
          </p:txBody>
        </p:sp>
      </p:grpSp>
      <p:grpSp>
        <p:nvGrpSpPr>
          <p:cNvPr id="67" name="c2-callout-3"/>
          <p:cNvGrpSpPr/>
          <p:nvPr/>
        </p:nvGrpSpPr>
        <p:grpSpPr>
          <a:xfrm>
            <a:off x="5598795" y="5740718"/>
            <a:ext cx="6059805" cy="503872"/>
            <a:chOff x="5598795" y="5740718"/>
            <a:chExt cx="6059805" cy="503872"/>
          </a:xfrm>
        </p:grpSpPr>
        <p:sp>
          <p:nvSpPr>
            <p:cNvPr id="62" name="Rectangle 62"/>
            <p:cNvSpPr/>
            <p:nvPr/>
          </p:nvSpPr>
          <p:spPr>
            <a:xfrm>
              <a:off x="5598795" y="5740718"/>
              <a:ext cx="6059805" cy="503872"/>
            </a:xfrm>
            <a:prstGeom prst="roundRect">
              <a:avLst>
                <a:gd name="adj" fmla="val 22684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5803583" y="5893118"/>
              <a:ext cx="200026" cy="200026"/>
              <a:chOff x="5803583" y="5893118"/>
              <a:chExt cx="200026" cy="200026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5803583" y="589311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5870258" y="597090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6105906" y="5893594"/>
              <a:ext cx="5684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答案 D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23120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操作系统原理 试题解析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460322" cy="909257"/>
            <a:chOff x="520446" y="342900"/>
            <a:chExt cx="846032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试题解析 · 单项选择题（30 题）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46032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单选 16：6 台打印机，最多 5 个进程竞争才一定不死锁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193982" cy="1865948"/>
            <a:chOff x="533400" y="1524000"/>
            <a:chExt cx="5193982" cy="186594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1865948"/>
            </a:xfrm>
            <a:prstGeom prst="roundRect">
              <a:avLst>
                <a:gd name="adj" fmla="val 714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37235" y="1727835"/>
              <a:ext cx="702945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21399" y="1763554"/>
              <a:ext cx="5346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单选 16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29996" y="2100739"/>
              <a:ext cx="4577080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某计算机系统中有 6 台打印机，多个进程均最多需要 2 台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打印机，规定每个进程一次仅允许申请一台。为保证一定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不发生死锁，允许参与打印机资源竞争的最大进程数是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29996" y="2963704"/>
              <a:ext cx="21634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A. 3　B. 4　C. 5　D. 6</a:t>
              </a:r>
            </a:p>
          </p:txBody>
        </p:sp>
      </p:grpSp>
      <p:grpSp>
        <p:nvGrpSpPr>
          <p:cNvPr id="26" name="c1-steps-2"/>
          <p:cNvGrpSpPr/>
          <p:nvPr/>
        </p:nvGrpSpPr>
        <p:grpSpPr>
          <a:xfrm>
            <a:off x="533400" y="3585210"/>
            <a:ext cx="5246370" cy="1790128"/>
            <a:chOff x="533400" y="3585210"/>
            <a:chExt cx="5246370" cy="1790128"/>
          </a:xfrm>
        </p:grpSpPr>
        <p:sp>
          <p:nvSpPr>
            <p:cNvPr id="13" name="Rectangle 13"/>
            <p:cNvSpPr/>
            <p:nvPr/>
          </p:nvSpPr>
          <p:spPr>
            <a:xfrm>
              <a:off x="666750" y="3728085"/>
              <a:ext cx="19050" cy="1242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533400" y="358521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65902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420624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42800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482727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7024" y="490108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261" y="361807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代入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404" y="3898582"/>
              <a:ext cx="33904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= 6，N 个进程每个要 2 台，需求总量 Σ = 2N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261" y="423910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列不等式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404" y="4519612"/>
              <a:ext cx="2621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 &lt; M + N，即 2N &lt; 6 + N，得 N &lt; 6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5261" y="486013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验证边界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404" y="5140642"/>
              <a:ext cx="48333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6 时每个进程各拿到 1 台，6 台分完，全部在等第 2 台，会死锁</a:t>
              </a:r>
            </a:p>
          </p:txBody>
        </p:sp>
      </p:grpSp>
      <p:grpSp>
        <p:nvGrpSpPr>
          <p:cNvPr id="32" name="c1-callout-3"/>
          <p:cNvGrpSpPr/>
          <p:nvPr/>
        </p:nvGrpSpPr>
        <p:grpSpPr>
          <a:xfrm>
            <a:off x="533400" y="5551170"/>
            <a:ext cx="5193982" cy="518160"/>
            <a:chOff x="533400" y="5551170"/>
            <a:chExt cx="5193982" cy="518160"/>
          </a:xfrm>
        </p:grpSpPr>
        <p:sp>
          <p:nvSpPr>
            <p:cNvPr id="27" name="Rectangle 27"/>
            <p:cNvSpPr/>
            <p:nvPr/>
          </p:nvSpPr>
          <p:spPr>
            <a:xfrm>
              <a:off x="533400" y="5551170"/>
              <a:ext cx="5193982" cy="518160"/>
            </a:xfrm>
            <a:prstGeom prst="roundRect">
              <a:avLst>
                <a:gd name="adj" fmla="val 2205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738188" y="5710238"/>
              <a:ext cx="200026" cy="200026"/>
              <a:chOff x="738188" y="5710238"/>
              <a:chExt cx="200026" cy="200026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738188" y="571023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04863" y="578802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1040511" y="5710714"/>
              <a:ext cx="193527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答案 C：最多 5 个进程</a:t>
              </a:r>
            </a:p>
          </p:txBody>
        </p:sp>
      </p:grpSp>
      <p:grpSp>
        <p:nvGrpSpPr>
          <p:cNvPr id="44" name="c2-card-1"/>
          <p:cNvGrpSpPr/>
          <p:nvPr/>
        </p:nvGrpSpPr>
        <p:grpSpPr>
          <a:xfrm>
            <a:off x="6032182" y="1524000"/>
            <a:ext cx="5626418" cy="2777490"/>
            <a:chOff x="6032182" y="1524000"/>
            <a:chExt cx="5626418" cy="2777490"/>
          </a:xfrm>
        </p:grpSpPr>
        <p:sp>
          <p:nvSpPr>
            <p:cNvPr id="33" name="Rectangle 33"/>
            <p:cNvSpPr/>
            <p:nvPr/>
          </p:nvSpPr>
          <p:spPr>
            <a:xfrm>
              <a:off x="6032182" y="1524000"/>
              <a:ext cx="5626418" cy="2777490"/>
            </a:xfrm>
            <a:prstGeom prst="roundRect">
              <a:avLst>
                <a:gd name="adj" fmla="val 480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041708" y="1657350"/>
              <a:ext cx="47625" cy="251079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274118" y="1727835"/>
              <a:ext cx="2058352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17069" y="1763554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同种组合资源死锁的必要条件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266879" y="2100739"/>
              <a:ext cx="483857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为资源数，N 为使用该资源的进程数，Σ 为所有进程的需求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总量。设有 n 个进程参与死锁（2 ≤ n ≤ N）：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281738" y="2752725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438329" y="2692241"/>
              <a:ext cx="479348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参与死锁的进程占满 M 个资源，且每个至少还差 1 个，需求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≥ M + n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281738" y="3344228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438329" y="3283744"/>
              <a:ext cx="462216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未参与死锁的 N − n 个进程每个至少需要 1 个，需求 ≥ N −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281738" y="3935730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438329" y="3875246"/>
              <a:ext cx="129561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合计 Σ ≥ M + N</a:t>
              </a:r>
            </a:p>
          </p:txBody>
        </p:sp>
      </p:grpSp>
      <p:grpSp>
        <p:nvGrpSpPr>
          <p:cNvPr id="56" name="c2-table-2"/>
          <p:cNvGrpSpPr/>
          <p:nvPr/>
        </p:nvGrpSpPr>
        <p:grpSpPr>
          <a:xfrm>
            <a:off x="6032182" y="4487228"/>
            <a:ext cx="5626418" cy="1406842"/>
            <a:chOff x="6032182" y="4487228"/>
            <a:chExt cx="5626418" cy="1406842"/>
          </a:xfrm>
        </p:grpSpPr>
        <p:sp>
          <p:nvSpPr>
            <p:cNvPr id="45" name="Rectangle 45"/>
            <p:cNvSpPr/>
            <p:nvPr/>
          </p:nvSpPr>
          <p:spPr>
            <a:xfrm>
              <a:off x="6032182" y="4487228"/>
              <a:ext cx="5626418" cy="46863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542735" y="462200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需求总量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547581" y="462200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136386" y="5091589"/>
              <a:ext cx="8946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 &lt; M + N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936611" y="5091589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一定没有死锁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032182" y="542067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032182" y="5425440"/>
              <a:ext cx="5626418" cy="4686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136386" y="5560219"/>
              <a:ext cx="8946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 ≥ M + N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936611" y="5560219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至少有一种交叉执行顺序会死锁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032182" y="4487228"/>
              <a:ext cx="5626418" cy="140684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7827645" y="4487228"/>
              <a:ext cx="9525" cy="140684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23120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操作系统原理 试题解析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479203" cy="909257"/>
            <a:chOff x="520446" y="342900"/>
            <a:chExt cx="847920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试题解析 · 单项选择题（30 题）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47920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单选 17、22：分区管理代价最小；段式地址的段内位数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594485"/>
            <a:chOff x="533400" y="1524000"/>
            <a:chExt cx="5410200" cy="15944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594485"/>
            </a:xfrm>
            <a:prstGeom prst="roundRect">
              <a:avLst>
                <a:gd name="adj" fmla="val 836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37235" y="1727835"/>
              <a:ext cx="702945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21399" y="1763554"/>
              <a:ext cx="5346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单选 17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29996" y="2100739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操作系统为实现多道程序并发，对内存管理可以采用多种方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式，其中代价最小的是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29996" y="2692241"/>
              <a:ext cx="496877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A. 分区管理　B. 分页管理　C. 分段管理　D. 段页式管理</a:t>
              </a:r>
            </a:p>
          </p:txBody>
        </p:sp>
      </p:grpSp>
      <p:grpSp>
        <p:nvGrpSpPr>
          <p:cNvPr id="37" name="c1-table-2"/>
          <p:cNvGrpSpPr/>
          <p:nvPr/>
        </p:nvGrpSpPr>
        <p:grpSpPr>
          <a:xfrm>
            <a:off x="533400" y="3304222"/>
            <a:ext cx="5410200" cy="2150746"/>
            <a:chOff x="533400" y="3304222"/>
            <a:chExt cx="5410200" cy="2150746"/>
          </a:xfrm>
        </p:grpSpPr>
        <p:sp>
          <p:nvSpPr>
            <p:cNvPr id="13" name="Rectangle 13"/>
            <p:cNvSpPr/>
            <p:nvPr/>
          </p:nvSpPr>
          <p:spPr>
            <a:xfrm>
              <a:off x="533400" y="3304222"/>
              <a:ext cx="5410200" cy="43053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80491" y="343566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管理方式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178368" y="343566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地址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045648" y="343566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额外开销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8746" y="386524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分区（界地址）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991296" y="38652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一维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911412" y="3865245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只要界地址寄存器，没有页表、段表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415956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4164330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8746" y="429577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分页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991296" y="429577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一维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911412" y="4295775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每个进程一张页表，地址变换要查表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459009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8746" y="472630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分段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991296" y="472630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二维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911412" y="4726305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每个进程一张段表，查表并检查段长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501967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33400" y="5024438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8746" y="515588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段页式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991296" y="515588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二维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911412" y="5155882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一张段表加多张页表，变换最复杂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3304222"/>
              <a:ext cx="5410200" cy="21507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1881188" y="3304222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2801302" y="3304222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3" name="c1-callout-3"/>
          <p:cNvGrpSpPr/>
          <p:nvPr/>
        </p:nvGrpSpPr>
        <p:grpSpPr>
          <a:xfrm>
            <a:off x="533400" y="5640705"/>
            <a:ext cx="5410200" cy="518160"/>
            <a:chOff x="533400" y="5640705"/>
            <a:chExt cx="5410200" cy="518160"/>
          </a:xfrm>
        </p:grpSpPr>
        <p:sp>
          <p:nvSpPr>
            <p:cNvPr id="38" name="Rectangle 38"/>
            <p:cNvSpPr/>
            <p:nvPr/>
          </p:nvSpPr>
          <p:spPr>
            <a:xfrm>
              <a:off x="533400" y="5640705"/>
              <a:ext cx="5410200" cy="518160"/>
            </a:xfrm>
            <a:prstGeom prst="roundRect">
              <a:avLst>
                <a:gd name="adj" fmla="val 2205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38188" y="5799773"/>
              <a:ext cx="200026" cy="200026"/>
              <a:chOff x="738188" y="5799773"/>
              <a:chExt cx="200026" cy="200026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738188" y="57997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04863" y="587756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1040511" y="5800249"/>
              <a:ext cx="40093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答案 A：不用额外保存表格，地址变换也最简单</a:t>
              </a:r>
            </a:p>
          </p:txBody>
        </p:sp>
      </p:grpSp>
      <p:grpSp>
        <p:nvGrpSpPr>
          <p:cNvPr id="49" name="c2-card-1"/>
          <p:cNvGrpSpPr/>
          <p:nvPr/>
        </p:nvGrpSpPr>
        <p:grpSpPr>
          <a:xfrm>
            <a:off x="6248400" y="1524000"/>
            <a:ext cx="5410200" cy="1594485"/>
            <a:chOff x="6248400" y="1524000"/>
            <a:chExt cx="5410200" cy="1594485"/>
          </a:xfrm>
        </p:grpSpPr>
        <p:sp>
          <p:nvSpPr>
            <p:cNvPr id="44" name="Rectangle 44"/>
            <p:cNvSpPr/>
            <p:nvPr/>
          </p:nvSpPr>
          <p:spPr>
            <a:xfrm>
              <a:off x="6248400" y="1524000"/>
              <a:ext cx="5410200" cy="1594485"/>
            </a:xfrm>
            <a:prstGeom prst="roundRect">
              <a:avLst>
                <a:gd name="adj" fmla="val 836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452235" y="1727835"/>
              <a:ext cx="702945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536399" y="1763554"/>
              <a:ext cx="5346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单选 22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444996" y="2100739"/>
              <a:ext cx="462216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采用段式存储管理的系统中，若地址用 24 位表示，其中 8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位表示段号，则允许程序每个逻辑段的最大相对地址是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444996" y="2692241"/>
              <a:ext cx="349648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A. 2²⁴　B. 2²⁴−1　C. 2¹⁶　D. 2¹⁶−1</a:t>
              </a:r>
            </a:p>
          </p:txBody>
        </p:sp>
      </p:grpSp>
      <p:grpSp>
        <p:nvGrpSpPr>
          <p:cNvPr id="55" name="c2-cells-2"/>
          <p:cNvGrpSpPr/>
          <p:nvPr/>
        </p:nvGrpSpPr>
        <p:grpSpPr>
          <a:xfrm>
            <a:off x="6242304" y="3304222"/>
            <a:ext cx="5416296" cy="406718"/>
            <a:chOff x="6242304" y="3304222"/>
            <a:chExt cx="5416296" cy="406718"/>
          </a:xfrm>
        </p:grpSpPr>
        <p:sp>
          <p:nvSpPr>
            <p:cNvPr id="50" name="TextBox 50"/>
            <p:cNvSpPr txBox="1"/>
            <p:nvPr/>
          </p:nvSpPr>
          <p:spPr>
            <a:xfrm>
              <a:off x="6242304" y="34328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逻辑地址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991350" y="3304222"/>
              <a:ext cx="2333625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676117" y="3432810"/>
              <a:ext cx="9640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段号（8 位）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9324975" y="3304222"/>
              <a:ext cx="2333625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801553" y="3432810"/>
              <a:ext cx="13804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段内地址（16 位）</a:t>
              </a:r>
            </a:p>
          </p:txBody>
        </p:sp>
      </p:grpSp>
      <p:grpSp>
        <p:nvGrpSpPr>
          <p:cNvPr id="65" name="c2-steps-3"/>
          <p:cNvGrpSpPr/>
          <p:nvPr/>
        </p:nvGrpSpPr>
        <p:grpSpPr>
          <a:xfrm>
            <a:off x="6248400" y="3905250"/>
            <a:ext cx="4455719" cy="1169098"/>
            <a:chOff x="6248400" y="3905250"/>
            <a:chExt cx="4455719" cy="1169098"/>
          </a:xfrm>
        </p:grpSpPr>
        <p:sp>
          <p:nvSpPr>
            <p:cNvPr id="56" name="Rectangle 56"/>
            <p:cNvSpPr/>
            <p:nvPr/>
          </p:nvSpPr>
          <p:spPr>
            <a:xfrm>
              <a:off x="6381750" y="4048125"/>
              <a:ext cx="19050" cy="6210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Ellipse 57"/>
            <p:cNvSpPr/>
            <p:nvPr/>
          </p:nvSpPr>
          <p:spPr>
            <a:xfrm>
              <a:off x="6248400" y="390525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342024" y="39790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6248400" y="452628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342024" y="46000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660261" y="3939064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段内地址位数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661404" y="4219575"/>
              <a:ext cx="10379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24 − 8 = 16 位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660261" y="4559141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最大相对地址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661404" y="4839652"/>
              <a:ext cx="40427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段内地址从 0 编到 2¹⁶ − 1 = 65535，每段最长 2¹⁶ 字节</a:t>
              </a:r>
            </a:p>
          </p:txBody>
        </p:sp>
      </p:grpSp>
      <p:grpSp>
        <p:nvGrpSpPr>
          <p:cNvPr id="71" name="c2-callout-4"/>
          <p:cNvGrpSpPr/>
          <p:nvPr/>
        </p:nvGrpSpPr>
        <p:grpSpPr>
          <a:xfrm>
            <a:off x="6248400" y="5251132"/>
            <a:ext cx="5410200" cy="907732"/>
            <a:chOff x="6248400" y="5251132"/>
            <a:chExt cx="5410200" cy="907732"/>
          </a:xfrm>
        </p:grpSpPr>
        <p:sp>
          <p:nvSpPr>
            <p:cNvPr id="66" name="Rectangle 66"/>
            <p:cNvSpPr/>
            <p:nvPr/>
          </p:nvSpPr>
          <p:spPr>
            <a:xfrm>
              <a:off x="6248400" y="5251132"/>
              <a:ext cx="5410200" cy="907732"/>
            </a:xfrm>
            <a:prstGeom prst="roundRect">
              <a:avLst>
                <a:gd name="adj" fmla="val 12592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6453188" y="5604510"/>
              <a:ext cx="200026" cy="200026"/>
              <a:chOff x="6453188" y="5604510"/>
              <a:chExt cx="200026" cy="200026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6453188" y="560451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6519863" y="568229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6755511" y="5604986"/>
              <a:ext cx="5684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答案 D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528447" y="6581299"/>
              <a:ext cx="23120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操作系统原理 试题解析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142399" cy="909257"/>
            <a:chOff x="520446" y="342900"/>
            <a:chExt cx="101423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试题解析 · 单项选择题（30 题）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1423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单选 18：页表项在程序运行时把页号换成页框号，属于动态重定位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977765" cy="1986915"/>
            <a:chOff x="533400" y="1524000"/>
            <a:chExt cx="4977765" cy="19869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986915"/>
            </a:xfrm>
            <a:prstGeom prst="roundRect">
              <a:avLst>
                <a:gd name="adj" fmla="val 671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702945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27114" y="1769269"/>
              <a:ext cx="5346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单选 18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5330" y="2110740"/>
              <a:ext cx="4206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在页式存储管理中，每个页表的表项实际上是用于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5330" y="2731770"/>
              <a:ext cx="30358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A. 访问内存单元　B. 静态重定位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35330" y="3067050"/>
              <a:ext cx="26319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C. 动态重定位　D. 装载程序</a:t>
              </a:r>
            </a:p>
          </p:txBody>
        </p:sp>
      </p:grpSp>
      <p:grpSp>
        <p:nvGrpSpPr>
          <p:cNvPr id="19" name="c1-callout-2"/>
          <p:cNvGrpSpPr/>
          <p:nvPr/>
        </p:nvGrpSpPr>
        <p:grpSpPr>
          <a:xfrm>
            <a:off x="533400" y="3701415"/>
            <a:ext cx="4977765" cy="533400"/>
            <a:chOff x="533400" y="3701415"/>
            <a:chExt cx="4977765" cy="533400"/>
          </a:xfrm>
        </p:grpSpPr>
        <p:sp>
          <p:nvSpPr>
            <p:cNvPr id="14" name="Rectangle 14"/>
            <p:cNvSpPr/>
            <p:nvPr/>
          </p:nvSpPr>
          <p:spPr>
            <a:xfrm>
              <a:off x="533400" y="3701415"/>
              <a:ext cx="4977765" cy="533400"/>
            </a:xfrm>
            <a:prstGeom prst="roundRect">
              <a:avLst>
                <a:gd name="adj" fmla="val 2142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738188" y="3868103"/>
              <a:ext cx="200026" cy="200026"/>
              <a:chOff x="738188" y="3868103"/>
              <a:chExt cx="200026" cy="200026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738188" y="386810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04863" y="394589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040130" y="3863340"/>
              <a:ext cx="18120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答案 C：动态重定位</a:t>
              </a:r>
            </a:p>
          </p:txBody>
        </p:sp>
      </p:grpSp>
      <p:grpSp>
        <p:nvGrpSpPr>
          <p:cNvPr id="25" name="c1-card-3"/>
          <p:cNvGrpSpPr/>
          <p:nvPr/>
        </p:nvGrpSpPr>
        <p:grpSpPr>
          <a:xfrm>
            <a:off x="533400" y="4425315"/>
            <a:ext cx="4977765" cy="1887855"/>
            <a:chOff x="533400" y="4425315"/>
            <a:chExt cx="4977765" cy="1887855"/>
          </a:xfrm>
        </p:grpSpPr>
        <p:sp>
          <p:nvSpPr>
            <p:cNvPr id="20" name="Rectangle 20"/>
            <p:cNvSpPr/>
            <p:nvPr/>
          </p:nvSpPr>
          <p:spPr>
            <a:xfrm>
              <a:off x="533400" y="4425315"/>
              <a:ext cx="4977765" cy="1887855"/>
            </a:xfrm>
            <a:prstGeom prst="roundRect">
              <a:avLst>
                <a:gd name="adj" fmla="val 70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42925" y="4558665"/>
              <a:ext cx="47625" cy="16211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81050" y="463486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71258" y="467058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73430" y="5012055"/>
              <a:ext cx="4311015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原课件答案为 A。页表项记录逻辑页号与页框号的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对应，地址变换机构在程序执行、每次访问地址时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查用它，正符合课件对动态重定位的定义；“访问内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存单元”是地址变换完成以后的事。</a:t>
              </a:r>
            </a:p>
          </p:txBody>
        </p:sp>
      </p:grpSp>
      <p:grpSp>
        <p:nvGrpSpPr>
          <p:cNvPr id="45" name="c2-table-1"/>
          <p:cNvGrpSpPr/>
          <p:nvPr/>
        </p:nvGrpSpPr>
        <p:grpSpPr>
          <a:xfrm>
            <a:off x="5810250" y="1524000"/>
            <a:ext cx="5848350" cy="2539842"/>
            <a:chOff x="5810250" y="1524000"/>
            <a:chExt cx="5848350" cy="2539842"/>
          </a:xfrm>
        </p:grpSpPr>
        <p:sp>
          <p:nvSpPr>
            <p:cNvPr id="26" name="Rectangle 26"/>
            <p:cNvSpPr/>
            <p:nvPr/>
          </p:nvSpPr>
          <p:spPr>
            <a:xfrm>
              <a:off x="5815965" y="1524000"/>
              <a:ext cx="5842635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966001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逻辑页号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973475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页框号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260872" y="210835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137173" y="210835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815965" y="241649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815965" y="2421255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260872" y="255698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137173" y="255698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815965" y="286607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260872" y="300561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137173" y="300561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815965" y="331470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815965" y="3319462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260872" y="345424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137173" y="345424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815965" y="1524000"/>
              <a:ext cx="5842635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8813482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810250" y="3843814"/>
              <a:ext cx="51377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页表每个进程一张；页框号是物理地址的高位部分，与页内地址拼成物理地址</a:t>
              </a:r>
            </a:p>
          </p:txBody>
        </p:sp>
      </p:grpSp>
      <p:grpSp>
        <p:nvGrpSpPr>
          <p:cNvPr id="54" name="c2-kv-2"/>
          <p:cNvGrpSpPr/>
          <p:nvPr/>
        </p:nvGrpSpPr>
        <p:grpSpPr>
          <a:xfrm>
            <a:off x="5808345" y="4234815"/>
            <a:ext cx="5850255" cy="1737360"/>
            <a:chOff x="5808345" y="4234815"/>
            <a:chExt cx="5850255" cy="1737360"/>
          </a:xfrm>
        </p:grpSpPr>
        <p:sp>
          <p:nvSpPr>
            <p:cNvPr id="46" name="TextBox 46"/>
            <p:cNvSpPr txBox="1"/>
            <p:nvPr/>
          </p:nvSpPr>
          <p:spPr>
            <a:xfrm>
              <a:off x="5808345" y="423481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重定位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047548" y="4234815"/>
              <a:ext cx="4206240" cy="857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被换出的进程再次装入时位置通常与换出前不同，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程序编址必须与存放位置无关，这种程序称为可重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定位程序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815965" y="511873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808345" y="523875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静态重定位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047548" y="5238750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在进程运行前，编译或装入时进行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815965" y="555879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808345" y="567880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动态重定位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047548" y="567880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在进程运行时进行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23120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操作系统原理 试题解析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399390" cy="909257"/>
            <a:chOff x="520446" y="342900"/>
            <a:chExt cx="83993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试题解析 · 单项选择题（30 题）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3993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单选 19：位示图中页框 380 在 bitmap[47] 的第 4 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977765" cy="1785938"/>
            <a:chOff x="533400" y="1524000"/>
            <a:chExt cx="4977765" cy="178593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785938"/>
            </a:xfrm>
            <a:prstGeom prst="roundRect">
              <a:avLst>
                <a:gd name="adj" fmla="val 746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0090" y="1710690"/>
              <a:ext cx="641032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07235" y="1743551"/>
              <a:ext cx="46769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单选 19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3232" y="2054542"/>
              <a:ext cx="397421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某系统用位示图管理内存，位示图定义为 </a:t>
              </a:r>
              <a:r>
                <a:rPr lang="en-US" sz="1350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char</a:t>
              </a:r>
              <a:br/>
              <a:r>
                <a:rPr lang="en-US" sz="1350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bitmap[400]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。页框号为 380 对应 bitmap 的位置是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3232" y="2612708"/>
              <a:ext cx="43237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A. bitmap[46] 的第 3 位　B. bitmap[46] 的第 4 位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13232" y="2912745"/>
              <a:ext cx="43237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C. bitmap[47] 的第 3 位　D. bitmap[47] 的第 4 位</a:t>
              </a:r>
            </a:p>
          </p:txBody>
        </p:sp>
      </p:grpSp>
      <p:grpSp>
        <p:nvGrpSpPr>
          <p:cNvPr id="23" name="c1-steps-2"/>
          <p:cNvGrpSpPr/>
          <p:nvPr/>
        </p:nvGrpSpPr>
        <p:grpSpPr>
          <a:xfrm>
            <a:off x="533400" y="3489960"/>
            <a:ext cx="3802162" cy="1101567"/>
            <a:chOff x="533400" y="3489960"/>
            <a:chExt cx="3802162" cy="1101567"/>
          </a:xfrm>
        </p:grpSpPr>
        <p:sp>
          <p:nvSpPr>
            <p:cNvPr id="14" name="Rectangle 14"/>
            <p:cNvSpPr/>
            <p:nvPr/>
          </p:nvSpPr>
          <p:spPr>
            <a:xfrm>
              <a:off x="666750" y="3632835"/>
              <a:ext cx="19050" cy="5829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533400" y="348996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7024" y="356377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33400" y="407289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7024" y="41467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5642" y="3521392"/>
              <a:ext cx="9601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每字节 8 位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6785" y="3788569"/>
              <a:ext cx="33887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400 × 8 = 3200 位，每位描述一个页框，位号 0～7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5642" y="410432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做除法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6785" y="4371499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380 ÷ 8 = 47 余 4：字节下标 47，位号 4</a:t>
              </a:r>
            </a:p>
          </p:txBody>
        </p:sp>
      </p:grpSp>
      <p:grpSp>
        <p:nvGrpSpPr>
          <p:cNvPr id="29" name="c1-callout-3"/>
          <p:cNvGrpSpPr/>
          <p:nvPr/>
        </p:nvGrpSpPr>
        <p:grpSpPr>
          <a:xfrm>
            <a:off x="533400" y="4755832"/>
            <a:ext cx="4977765" cy="1583055"/>
            <a:chOff x="533400" y="4755832"/>
            <a:chExt cx="4977765" cy="1583055"/>
          </a:xfrm>
        </p:grpSpPr>
        <p:sp>
          <p:nvSpPr>
            <p:cNvPr id="24" name="Rectangle 24"/>
            <p:cNvSpPr/>
            <p:nvPr/>
          </p:nvSpPr>
          <p:spPr>
            <a:xfrm>
              <a:off x="533400" y="4755832"/>
              <a:ext cx="4977765" cy="1583055"/>
            </a:xfrm>
            <a:prstGeom prst="roundRect">
              <a:avLst>
                <a:gd name="adj" fmla="val 7220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738188" y="5447348"/>
              <a:ext cx="200026" cy="200026"/>
              <a:chOff x="738188" y="5447348"/>
              <a:chExt cx="200026" cy="200026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738188" y="544734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04863" y="552513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1040892" y="5453062"/>
              <a:ext cx="25213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答案 D：bitmap[47] 的第 4 位</a:t>
              </a:r>
            </a:p>
          </p:txBody>
        </p:sp>
      </p:grpSp>
      <p:grpSp>
        <p:nvGrpSpPr>
          <p:cNvPr id="82" name="c2-cells-1"/>
          <p:cNvGrpSpPr/>
          <p:nvPr/>
        </p:nvGrpSpPr>
        <p:grpSpPr>
          <a:xfrm>
            <a:off x="5810250" y="1524000"/>
            <a:ext cx="5848350" cy="1580674"/>
            <a:chOff x="5810250" y="1524000"/>
            <a:chExt cx="5848350" cy="1580674"/>
          </a:xfrm>
        </p:grpSpPr>
        <p:sp>
          <p:nvSpPr>
            <p:cNvPr id="30" name="TextBox 30"/>
            <p:cNvSpPr txBox="1"/>
            <p:nvPr/>
          </p:nvSpPr>
          <p:spPr>
            <a:xfrm>
              <a:off x="5810250" y="1638776"/>
              <a:ext cx="8742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bitmap[46]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762750" y="1524000"/>
              <a:ext cx="61150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932179" y="1638776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368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375208" y="1524000"/>
              <a:ext cx="61150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544637" y="1638776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369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7986712" y="1524000"/>
              <a:ext cx="61150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156142" y="1638776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370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599170" y="1524000"/>
              <a:ext cx="61150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8599" y="1638776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371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9210675" y="1524000"/>
              <a:ext cx="61150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380104" y="1638776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372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9823132" y="1524000"/>
              <a:ext cx="61150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992562" y="1638776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373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10434638" y="1524000"/>
              <a:ext cx="61150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0604067" y="1638776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374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11047095" y="1524000"/>
              <a:ext cx="61150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1216524" y="1638776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375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033383" y="194643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645841" y="194643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257346" y="194643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869803" y="194643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481308" y="194643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093766" y="194643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705271" y="194643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317728" y="194643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810250" y="2634139"/>
              <a:ext cx="8742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bitmap[47]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762750" y="2520315"/>
              <a:ext cx="61150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932179" y="2634139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376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7375208" y="2520315"/>
              <a:ext cx="61150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544637" y="2634139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377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7986712" y="2520315"/>
              <a:ext cx="61150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8156142" y="2634139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378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8599170" y="2520315"/>
              <a:ext cx="61150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8768599" y="2634139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379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9210675" y="2520315"/>
              <a:ext cx="611505" cy="3686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9380104" y="2634139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380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9823132" y="2520315"/>
              <a:ext cx="61150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9992562" y="2634139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381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10434638" y="2520315"/>
              <a:ext cx="61150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10604067" y="2634139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382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11047095" y="2520315"/>
              <a:ext cx="61150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11216524" y="2634139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383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033383" y="294274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645841" y="294274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257346" y="294274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869803" y="294274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9481308" y="294274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0093766" y="294274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0705271" y="294274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317728" y="294274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9266471" y="2270760"/>
              <a:ext cx="49991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页框 380</a:t>
              </a:r>
            </a:p>
          </p:txBody>
        </p:sp>
        <p:sp>
          <p:nvSpPr>
            <p:cNvPr id="81" name="Freeform 81"/>
            <p:cNvSpPr/>
            <p:nvPr/>
          </p:nvSpPr>
          <p:spPr>
            <a:xfrm>
              <a:off x="9478328" y="242506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</p:grpSp>
      <p:grpSp>
        <p:nvGrpSpPr>
          <p:cNvPr id="91" name="c2-card-2"/>
          <p:cNvGrpSpPr/>
          <p:nvPr/>
        </p:nvGrpSpPr>
        <p:grpSpPr>
          <a:xfrm>
            <a:off x="5815965" y="3239452"/>
            <a:ext cx="5842635" cy="1485900"/>
            <a:chOff x="5815965" y="3239452"/>
            <a:chExt cx="5842635" cy="1485900"/>
          </a:xfrm>
        </p:grpSpPr>
        <p:sp>
          <p:nvSpPr>
            <p:cNvPr id="83" name="Rectangle 83"/>
            <p:cNvSpPr/>
            <p:nvPr/>
          </p:nvSpPr>
          <p:spPr>
            <a:xfrm>
              <a:off x="5815965" y="3239452"/>
              <a:ext cx="5842635" cy="1485900"/>
            </a:xfrm>
            <a:prstGeom prst="roundRect">
              <a:avLst>
                <a:gd name="adj" fmla="val 89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4" name="Rectangle 84"/>
            <p:cNvSpPr/>
            <p:nvPr/>
          </p:nvSpPr>
          <p:spPr>
            <a:xfrm>
              <a:off x="5825490" y="3372802"/>
              <a:ext cx="47625" cy="121920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5" name="Rectangle 85"/>
            <p:cNvSpPr/>
            <p:nvPr/>
          </p:nvSpPr>
          <p:spPr>
            <a:xfrm>
              <a:off x="6040755" y="3426142"/>
              <a:ext cx="1295400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6107803" y="3459004"/>
              <a:ext cx="11613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位示图（bit map）</a:t>
              </a:r>
            </a:p>
          </p:txBody>
        </p:sp>
        <p:sp>
          <p:nvSpPr>
            <p:cNvPr id="87" name="Ellipse 87"/>
            <p:cNvSpPr/>
            <p:nvPr/>
          </p:nvSpPr>
          <p:spPr>
            <a:xfrm>
              <a:off x="6049328" y="3827145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6205347" y="3770948"/>
              <a:ext cx="35939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一位代表一个页框：0 表示空闲，1 表示占用</a:t>
              </a:r>
            </a:p>
          </p:txBody>
        </p:sp>
        <p:sp>
          <p:nvSpPr>
            <p:cNvPr id="89" name="Ellipse 89"/>
            <p:cNvSpPr/>
            <p:nvPr/>
          </p:nvSpPr>
          <p:spPr>
            <a:xfrm>
              <a:off x="6049328" y="4127182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6205347" y="4070985"/>
              <a:ext cx="49857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分配：从头找第一个为 0 的位，改为 1，返回页号；去配：把对应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位置 0</a:t>
              </a:r>
            </a:p>
          </p:txBody>
        </p:sp>
      </p:grpSp>
      <p:grpSp>
        <p:nvGrpSpPr>
          <p:cNvPr id="97" name="c2-card-3"/>
          <p:cNvGrpSpPr/>
          <p:nvPr/>
        </p:nvGrpSpPr>
        <p:grpSpPr>
          <a:xfrm>
            <a:off x="5815965" y="4895850"/>
            <a:ext cx="5842635" cy="1443038"/>
            <a:chOff x="5815965" y="4895850"/>
            <a:chExt cx="5842635" cy="1443038"/>
          </a:xfrm>
        </p:grpSpPr>
        <p:sp>
          <p:nvSpPr>
            <p:cNvPr id="92" name="Rectangle 92"/>
            <p:cNvSpPr/>
            <p:nvPr/>
          </p:nvSpPr>
          <p:spPr>
            <a:xfrm>
              <a:off x="5815965" y="4895850"/>
              <a:ext cx="5842635" cy="1443038"/>
            </a:xfrm>
            <a:prstGeom prst="roundRect">
              <a:avLst>
                <a:gd name="adj" fmla="val 924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93" name="Rectangle 93"/>
            <p:cNvSpPr/>
            <p:nvPr/>
          </p:nvSpPr>
          <p:spPr>
            <a:xfrm>
              <a:off x="5825490" y="5029200"/>
              <a:ext cx="47625" cy="117633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94" name="Rectangle 94"/>
            <p:cNvSpPr/>
            <p:nvPr/>
          </p:nvSpPr>
          <p:spPr>
            <a:xfrm>
              <a:off x="6040755" y="508254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6132474" y="511540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6033897" y="5426392"/>
              <a:ext cx="520865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原课件答案为 C，而同页备注算出的是 380/8 = 47 余 4。课件的位示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图从“第 0 页”编号，位号也从 0 起，应选 D；页框从 1 编号时 380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号才落在第 3 位。</a:t>
              </a:r>
            </a:p>
          </p:txBody>
        </p:sp>
      </p:grpSp>
      <p:grpSp>
        <p:nvGrpSpPr>
          <p:cNvPr id="10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8" name="TextBox 98"/>
            <p:cNvSpPr txBox="1"/>
            <p:nvPr/>
          </p:nvSpPr>
          <p:spPr>
            <a:xfrm>
              <a:off x="528447" y="6581299"/>
              <a:ext cx="23120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操作系统原理 试题解析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739432" cy="909257"/>
            <a:chOff x="520446" y="342900"/>
            <a:chExt cx="77394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试题解析 · 单项选择题（30 题）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7394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单选 21：下次适应算法让空闲区在地址上分布均匀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3895725" cy="1914525"/>
            <a:chOff x="533400" y="1524000"/>
            <a:chExt cx="3895725" cy="191452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895725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37235" y="1727835"/>
              <a:ext cx="702945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21399" y="1763554"/>
              <a:ext cx="5346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单选 21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29996" y="2100739"/>
              <a:ext cx="32605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在动态异长分区的存储分配算法中，能保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证空闲区按地址均匀分布的分配算法是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29996" y="2692241"/>
              <a:ext cx="321262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A. First Fit 算法　B. Next Fit 算法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29996" y="3012281"/>
              <a:ext cx="33002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C. Best Fit 算法　D. Worst Fit 算法</a:t>
              </a:r>
            </a:p>
          </p:txBody>
        </p:sp>
      </p:grpSp>
      <p:grpSp>
        <p:nvGrpSpPr>
          <p:cNvPr id="19" name="c1-callout-2"/>
          <p:cNvGrpSpPr/>
          <p:nvPr/>
        </p:nvGrpSpPr>
        <p:grpSpPr>
          <a:xfrm>
            <a:off x="533400" y="3624262"/>
            <a:ext cx="3895725" cy="518160"/>
            <a:chOff x="533400" y="3624262"/>
            <a:chExt cx="3895725" cy="518160"/>
          </a:xfrm>
        </p:grpSpPr>
        <p:sp>
          <p:nvSpPr>
            <p:cNvPr id="14" name="Rectangle 14"/>
            <p:cNvSpPr/>
            <p:nvPr/>
          </p:nvSpPr>
          <p:spPr>
            <a:xfrm>
              <a:off x="533400" y="3624262"/>
              <a:ext cx="3895725" cy="518160"/>
            </a:xfrm>
            <a:prstGeom prst="roundRect">
              <a:avLst>
                <a:gd name="adj" fmla="val 2205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738188" y="3783330"/>
              <a:ext cx="200026" cy="200026"/>
              <a:chOff x="738188" y="3783330"/>
              <a:chExt cx="200026" cy="200026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738188" y="378333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04863" y="386111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040511" y="3783806"/>
              <a:ext cx="5684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答案 B</a:t>
              </a:r>
            </a:p>
          </p:txBody>
        </p:sp>
      </p:grpSp>
      <p:grpSp>
        <p:nvGrpSpPr>
          <p:cNvPr id="35" name="c1-table-3"/>
          <p:cNvGrpSpPr/>
          <p:nvPr/>
        </p:nvGrpSpPr>
        <p:grpSpPr>
          <a:xfrm>
            <a:off x="527685" y="4328160"/>
            <a:ext cx="3901440" cy="2015967"/>
            <a:chOff x="527685" y="4328160"/>
            <a:chExt cx="3901440" cy="2015967"/>
          </a:xfrm>
        </p:grpSpPr>
        <p:sp>
          <p:nvSpPr>
            <p:cNvPr id="20" name="Rectangle 20"/>
            <p:cNvSpPr/>
            <p:nvPr/>
          </p:nvSpPr>
          <p:spPr>
            <a:xfrm>
              <a:off x="533400" y="4328160"/>
              <a:ext cx="3895725" cy="43053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211199" y="445960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空闲区首址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401378" y="445960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长度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475122" y="4889182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128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474072" y="488918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64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5183505"/>
              <a:ext cx="389572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5188268"/>
              <a:ext cx="389572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475122" y="5319712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474072" y="531971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5614035"/>
              <a:ext cx="389572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428476" y="5750242"/>
              <a:ext cx="3853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1024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429648" y="5750242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256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328160"/>
              <a:ext cx="3895725" cy="17202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2705100" y="432816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27685" y="6124099"/>
              <a:ext cx="3479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右表举例用的空闲区表，四种算法都按首址递增排列</a:t>
              </a:r>
            </a:p>
          </p:txBody>
        </p:sp>
      </p:grpSp>
      <p:grpSp>
        <p:nvGrpSpPr>
          <p:cNvPr id="66" name="c2-table-1"/>
          <p:cNvGrpSpPr/>
          <p:nvPr/>
        </p:nvGrpSpPr>
        <p:grpSpPr>
          <a:xfrm>
            <a:off x="4733925" y="1524000"/>
            <a:ext cx="6924675" cy="3217545"/>
            <a:chOff x="4733925" y="1524000"/>
            <a:chExt cx="6924675" cy="3217545"/>
          </a:xfrm>
        </p:grpSpPr>
        <p:sp>
          <p:nvSpPr>
            <p:cNvPr id="36" name="Rectangle 36"/>
            <p:cNvSpPr/>
            <p:nvPr/>
          </p:nvSpPr>
          <p:spPr>
            <a:xfrm>
              <a:off x="4733925" y="1524000"/>
              <a:ext cx="6924675" cy="43053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189220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算法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897434" y="165544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申请时取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205912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优点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798492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缺点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839272" y="2085022"/>
              <a:ext cx="684276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最先适应</a:t>
              </a:r>
              <a:br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First Fit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085142" y="2085022"/>
              <a:ext cx="21457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第一个可满足的区域。例：申请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 分割第一个区域 (128, 64)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578786" y="2085022"/>
              <a:ext cx="13837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尽量用低地址，高地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址保持大空闲区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379011" y="2085022"/>
              <a:ext cx="10789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可能分割大空闲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4733925" y="2592705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4733925" y="2597468"/>
              <a:ext cx="6924675" cy="8572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839272" y="2835592"/>
              <a:ext cx="636270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最佳适应</a:t>
              </a:r>
              <a:br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Best Fit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085142" y="2728912"/>
              <a:ext cx="2031492" cy="6614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最小的可满足区域。例：申请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 选 (256, 32)，留下长度 2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的空闲区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578786" y="2835592"/>
              <a:ext cx="13837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尽量用小空闲区，保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持大空闲区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379011" y="2942272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可能形成碎片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4733925" y="3449955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4839272" y="3586162"/>
              <a:ext cx="756285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最坏适应</a:t>
              </a:r>
              <a:br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Worst Fit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085142" y="3586162"/>
              <a:ext cx="19933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最大的可满足区域。例：申请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 选 (1024, 256)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578786" y="3692842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防止形成碎片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379011" y="3692842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分割大空闲区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4733925" y="4092892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4733925" y="4097655"/>
              <a:ext cx="6924675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4839272" y="4229100"/>
              <a:ext cx="636270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下次适应</a:t>
              </a:r>
              <a:br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Next Fit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085142" y="4229100"/>
              <a:ext cx="21457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从上次分配区域的下一个位置开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始，取第一个可满足的区域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578786" y="4229100"/>
              <a:ext cx="13837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查找开销小，空闲区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分布更均匀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379011" y="433578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分割大空闲区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4733925" y="1524000"/>
              <a:ext cx="6924675" cy="32175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5975032" y="1524000"/>
              <a:ext cx="9525" cy="32175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8468678" y="1524000"/>
              <a:ext cx="9525" cy="32175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10268902" y="1524000"/>
              <a:ext cx="9525" cy="32175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3" name="c2-callout-2"/>
          <p:cNvGrpSpPr/>
          <p:nvPr/>
        </p:nvGrpSpPr>
        <p:grpSpPr>
          <a:xfrm>
            <a:off x="4733925" y="4927282"/>
            <a:ext cx="6924675" cy="1373505"/>
            <a:chOff x="4733925" y="4927282"/>
            <a:chExt cx="6924675" cy="1373505"/>
          </a:xfrm>
        </p:grpSpPr>
        <p:sp>
          <p:nvSpPr>
            <p:cNvPr id="67" name="Rectangle 67"/>
            <p:cNvSpPr/>
            <p:nvPr/>
          </p:nvSpPr>
          <p:spPr>
            <a:xfrm>
              <a:off x="4733925" y="4927282"/>
              <a:ext cx="6924675" cy="1373505"/>
            </a:xfrm>
            <a:prstGeom prst="roundRect">
              <a:avLst>
                <a:gd name="adj" fmla="val 832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4938713" y="5514023"/>
              <a:ext cx="200026" cy="200025"/>
              <a:chOff x="4938713" y="5514023"/>
              <a:chExt cx="200026" cy="200025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4938713" y="551402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4978451" y="555847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5013167" y="566959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5241036" y="5251609"/>
              <a:ext cx="5965698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为什么是 B：最先适应每次都从低地址找起，低地址区被切得很碎；下次适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应的查找起点沿空闲区链轮转，各处被使用的机会相近，空闲区在地址上分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布均匀。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4" name="TextBox 74"/>
            <p:cNvSpPr txBox="1"/>
            <p:nvPr/>
          </p:nvSpPr>
          <p:spPr>
            <a:xfrm>
              <a:off x="528447" y="6581299"/>
              <a:ext cx="23120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操作系统原理 试题解析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082713" cy="909257"/>
            <a:chOff x="520446" y="342900"/>
            <a:chExt cx="808271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试题解析 · 单项选择题（30 题）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0827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单选 23：工作集大小是窗口内访问过的不同页面个数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4544378" cy="4786312"/>
            <a:chOff x="533400" y="1524000"/>
            <a:chExt cx="4544378" cy="478631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544378" cy="4786312"/>
            </a:xfrm>
            <a:prstGeom prst="roundRect">
              <a:avLst>
                <a:gd name="adj" fmla="val 293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31520" y="1722120"/>
              <a:ext cx="672465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7175" y="1756410"/>
              <a:ext cx="5011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单选 23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24281" y="2082641"/>
              <a:ext cx="3954907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假设虚拟页式存储管理采用工作集模型。如果在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Δ 周期内确定某进程的工作集大小为 n，则 n 的含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义是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24281" y="2943701"/>
              <a:ext cx="320577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A. 该进程在 Δ 周期内淘汰页面的个数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24281" y="3260884"/>
              <a:ext cx="320577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B. 该进程在 Δ 周期内访问页面的个数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24281" y="3579019"/>
              <a:ext cx="320577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C. 该进程在 Δ 周期内发生缺页的次数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24281" y="3897154"/>
              <a:ext cx="320577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D. 该进程在 Δ 周期内访问页面的次数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24281" y="4214336"/>
              <a:ext cx="396257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答案 B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。工作集是集合，大小是窗口内不同页面的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个数。</a:t>
              </a:r>
            </a:p>
          </p:txBody>
        </p:sp>
      </p:grpSp>
      <p:grpSp>
        <p:nvGrpSpPr>
          <p:cNvPr id="54" name="c2-cells-1"/>
          <p:cNvGrpSpPr/>
          <p:nvPr/>
        </p:nvGrpSpPr>
        <p:grpSpPr>
          <a:xfrm>
            <a:off x="5376482" y="1571149"/>
            <a:ext cx="6282118" cy="651986"/>
            <a:chOff x="5376482" y="1571149"/>
            <a:chExt cx="6282118" cy="651986"/>
          </a:xfrm>
        </p:grpSpPr>
        <p:sp>
          <p:nvSpPr>
            <p:cNvPr id="17" name="TextBox 17"/>
            <p:cNvSpPr txBox="1"/>
            <p:nvPr/>
          </p:nvSpPr>
          <p:spPr>
            <a:xfrm>
              <a:off x="5376482" y="195072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访问串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973128" y="1828800"/>
              <a:ext cx="355282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098503" y="195072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328410" y="1828800"/>
              <a:ext cx="355282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53786" y="195072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683692" y="1828800"/>
              <a:ext cx="355282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809068" y="195072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038975" y="1828800"/>
              <a:ext cx="355282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164351" y="195072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394258" y="1828800"/>
              <a:ext cx="355282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519633" y="195072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7749540" y="1828800"/>
              <a:ext cx="355282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874916" y="195072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8104822" y="1828800"/>
              <a:ext cx="355282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230198" y="195072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461058" y="1828800"/>
              <a:ext cx="355282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585481" y="195072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816340" y="1828800"/>
              <a:ext cx="355282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940763" y="195072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9171622" y="1828800"/>
              <a:ext cx="355282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296046" y="195072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9526905" y="1828800"/>
              <a:ext cx="355282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651328" y="195072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9882188" y="1828800"/>
              <a:ext cx="355282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006611" y="195072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10237470" y="1828800"/>
              <a:ext cx="355282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0361893" y="195072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10592752" y="1828800"/>
              <a:ext cx="355282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0717176" y="195072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10948035" y="1828800"/>
              <a:ext cx="355282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1072458" y="195072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11303318" y="1828800"/>
              <a:ext cx="355282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1427741" y="195072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882437" y="157114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窗口起点</a:t>
              </a:r>
            </a:p>
          </p:txBody>
        </p:sp>
        <p:sp>
          <p:nvSpPr>
            <p:cNvPr id="51" name="Freeform 51"/>
            <p:cNvSpPr/>
            <p:nvPr/>
          </p:nvSpPr>
          <p:spPr>
            <a:xfrm>
              <a:off x="6113145" y="173355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305740" y="157114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53" name="Freeform 53"/>
            <p:cNvSpPr/>
            <p:nvPr/>
          </p:nvSpPr>
          <p:spPr>
            <a:xfrm>
              <a:off x="9310688" y="173355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</p:grpSp>
      <p:grpSp>
        <p:nvGrpSpPr>
          <p:cNvPr id="63" name="c2-card-2"/>
          <p:cNvGrpSpPr/>
          <p:nvPr/>
        </p:nvGrpSpPr>
        <p:grpSpPr>
          <a:xfrm>
            <a:off x="5382578" y="2403158"/>
            <a:ext cx="6276022" cy="1568768"/>
            <a:chOff x="5382578" y="2403158"/>
            <a:chExt cx="6276022" cy="1568768"/>
          </a:xfrm>
        </p:grpSpPr>
        <p:sp>
          <p:nvSpPr>
            <p:cNvPr id="55" name="Rectangle 55"/>
            <p:cNvSpPr/>
            <p:nvPr/>
          </p:nvSpPr>
          <p:spPr>
            <a:xfrm>
              <a:off x="5382578" y="2403158"/>
              <a:ext cx="6276022" cy="1568768"/>
            </a:xfrm>
            <a:prstGeom prst="roundRect">
              <a:avLst>
                <a:gd name="adj" fmla="val 850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5392102" y="2536508"/>
              <a:ext cx="47625" cy="1302068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5618798" y="2601278"/>
              <a:ext cx="2367915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653361" y="2635568"/>
              <a:ext cx="22987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工作集模型（working set model）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5626417" y="3021330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783008" y="2961799"/>
              <a:ext cx="528040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工作集：进程在一段时间内所访问页面的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集合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，记为 WS(t, Δ)；Δ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称为窗口尺寸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5626417" y="3610928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783008" y="3551396"/>
              <a:ext cx="478040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Denning 认为：为使程序有效运行，工作集应能放入内存</a:t>
              </a:r>
            </a:p>
          </p:txBody>
        </p:sp>
      </p:grpSp>
      <p:grpSp>
        <p:nvGrpSpPr>
          <p:cNvPr id="73" name="c2-card-3"/>
          <p:cNvGrpSpPr/>
          <p:nvPr/>
        </p:nvGrpSpPr>
        <p:grpSpPr>
          <a:xfrm>
            <a:off x="5382578" y="4151948"/>
            <a:ext cx="6276022" cy="2158365"/>
            <a:chOff x="5382578" y="4151948"/>
            <a:chExt cx="6276022" cy="2158365"/>
          </a:xfrm>
        </p:grpSpPr>
        <p:sp>
          <p:nvSpPr>
            <p:cNvPr id="64" name="Rectangle 64"/>
            <p:cNvSpPr/>
            <p:nvPr/>
          </p:nvSpPr>
          <p:spPr>
            <a:xfrm>
              <a:off x="5382578" y="4151948"/>
              <a:ext cx="6276022" cy="2158365"/>
            </a:xfrm>
            <a:prstGeom prst="roundRect">
              <a:avLst>
                <a:gd name="adj" fmla="val 617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5392102" y="4285298"/>
              <a:ext cx="47625" cy="189166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5618798" y="4350068"/>
              <a:ext cx="15430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5678234" y="4384358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例：数一数上图的窗口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5611558" y="4710589"/>
              <a:ext cx="550583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窗口覆盖上图深色的 10 次访问：WS(t, Δ) = {5, 7, 1, 6, 2}，工作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集大小为 5。</a:t>
              </a:r>
            </a:p>
          </p:txBody>
        </p:sp>
        <p:sp>
          <p:nvSpPr>
            <p:cNvPr id="69" name="Ellipse 69"/>
            <p:cNvSpPr/>
            <p:nvPr/>
          </p:nvSpPr>
          <p:spPr>
            <a:xfrm>
              <a:off x="5626417" y="5359717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5783008" y="5300186"/>
              <a:ext cx="38946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访问次数是 10：重复访问的页只算一次，D 错</a:t>
              </a:r>
            </a:p>
          </p:txBody>
        </p:sp>
        <p:sp>
          <p:nvSpPr>
            <p:cNvPr id="71" name="Ellipse 71"/>
            <p:cNvSpPr/>
            <p:nvPr/>
          </p:nvSpPr>
          <p:spPr>
            <a:xfrm>
              <a:off x="5626417" y="567785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5783008" y="5617369"/>
              <a:ext cx="54246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淘汰页数、缺页次数取决于分到的页框和置换算法，与工作集的定义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无关，A、C 错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4" name="TextBox 74"/>
            <p:cNvSpPr txBox="1"/>
            <p:nvPr/>
          </p:nvSpPr>
          <p:spPr>
            <a:xfrm>
              <a:off x="528447" y="6581299"/>
              <a:ext cx="23120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操作系统原理 试题解析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053454" cy="909257"/>
            <a:chOff x="520446" y="342900"/>
            <a:chExt cx="1005345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试题解析 · 单项选择题（30 题）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05345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单选 5、24：FCB 建立文件时创建；分成主部和次部是为了查得快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4977765" cy="2117408"/>
            <a:chOff x="533400" y="1524000"/>
            <a:chExt cx="4977765" cy="211740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2117408"/>
            </a:xfrm>
            <a:prstGeom prst="roundRect">
              <a:avLst>
                <a:gd name="adj" fmla="val 629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5805" y="1716405"/>
              <a:ext cx="595312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3222" y="1750695"/>
              <a:ext cx="419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单选 5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8947" y="2072640"/>
              <a:ext cx="43287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操作系统的文件管理中，文件控制块（FCB）的建立是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8947" y="2375535"/>
              <a:ext cx="37045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A. 在调用 creat() 时　B. 在调用 open() 时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18947" y="2678430"/>
              <a:ext cx="36954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C. 在调用 read() 时　D. 在调用 write() 时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18947" y="2980372"/>
              <a:ext cx="425581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答案 A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。open() 是按文件名找到已有的 FCB；read()、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write() 使用已打开文件的 FCB。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3815715"/>
            <a:ext cx="4977765" cy="2117408"/>
            <a:chOff x="533400" y="3815715"/>
            <a:chExt cx="4977765" cy="2117408"/>
          </a:xfrm>
        </p:grpSpPr>
        <p:sp>
          <p:nvSpPr>
            <p:cNvPr id="15" name="Rectangle 15"/>
            <p:cNvSpPr/>
            <p:nvPr/>
          </p:nvSpPr>
          <p:spPr>
            <a:xfrm>
              <a:off x="533400" y="3815715"/>
              <a:ext cx="4977765" cy="2117408"/>
            </a:xfrm>
            <a:prstGeom prst="roundRect">
              <a:avLst>
                <a:gd name="adj" fmla="val 629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25805" y="4008120"/>
              <a:ext cx="672465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11460" y="4042410"/>
              <a:ext cx="5011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单选 24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18947" y="4365308"/>
              <a:ext cx="37170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文件系统中，把 FCB 分为次部和主部的好处是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8947" y="4667250"/>
              <a:ext cx="38912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A. 提高文件的查找速度　B. 减少 FCB 所占空间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18947" y="4970145"/>
              <a:ext cx="46771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C. 防止进程修改 FCB 信息　D. 减少文件 I/O 操作的时间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18947" y="5273040"/>
              <a:ext cx="42999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答案 A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。目录在外存上按块读入内存逐项比较文件名；目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录项只放次部，一块能装的目录项增多，读的块数减少。</a:t>
              </a:r>
            </a:p>
          </p:txBody>
        </p:sp>
      </p:grpSp>
      <p:grpSp>
        <p:nvGrpSpPr>
          <p:cNvPr id="54" name="c2-card-1"/>
          <p:cNvGrpSpPr/>
          <p:nvPr/>
        </p:nvGrpSpPr>
        <p:grpSpPr>
          <a:xfrm>
            <a:off x="5815965" y="1524000"/>
            <a:ext cx="5842635" cy="2495550"/>
            <a:chOff x="5815965" y="1524000"/>
            <a:chExt cx="5842635" cy="2495550"/>
          </a:xfrm>
        </p:grpSpPr>
        <p:sp>
          <p:nvSpPr>
            <p:cNvPr id="23" name="Rectangle 23"/>
            <p:cNvSpPr/>
            <p:nvPr/>
          </p:nvSpPr>
          <p:spPr>
            <a:xfrm>
              <a:off x="5815965" y="1524000"/>
              <a:ext cx="5842635" cy="2495550"/>
            </a:xfrm>
            <a:prstGeom prst="roundRect">
              <a:avLst>
                <a:gd name="adj" fmla="val 534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825490" y="1657350"/>
              <a:ext cx="47625" cy="222885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046470" y="1716405"/>
              <a:ext cx="1507808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099783" y="1750695"/>
              <a:ext cx="14002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FCB：文件存在的标志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046470" y="2050732"/>
              <a:ext cx="108394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71082" y="217646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文件名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130415" y="2050732"/>
              <a:ext cx="108394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455027" y="217646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文件号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214360" y="2050732"/>
              <a:ext cx="108394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538972" y="217646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文件主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9298305" y="2050732"/>
              <a:ext cx="108394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552242" y="217646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文件类型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10382250" y="2050732"/>
              <a:ext cx="108394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636186" y="217646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文件属性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046470" y="2587942"/>
              <a:ext cx="108394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00407" y="2713673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共享说明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7130415" y="2587942"/>
              <a:ext cx="108394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384352" y="2713673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文件长度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8214360" y="2587942"/>
              <a:ext cx="108394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468296" y="2713673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文件地址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9298305" y="2587942"/>
              <a:ext cx="108394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552242" y="2713673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建立日期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10382250" y="2587942"/>
              <a:ext cx="108394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0777538" y="271367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口令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046470" y="3125152"/>
              <a:ext cx="108394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159056" y="325088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最后修改日期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7130415" y="3125152"/>
              <a:ext cx="108394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243001" y="325088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最后访问日期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8214360" y="3125152"/>
              <a:ext cx="108394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609648" y="325088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其它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039612" y="3615690"/>
              <a:ext cx="32959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建立文件时创建 FCB，删除文件时撤消。</a:t>
              </a:r>
            </a:p>
          </p:txBody>
        </p:sp>
      </p:grpSp>
      <p:grpSp>
        <p:nvGrpSpPr>
          <p:cNvPr id="63" name="c2-kv-2"/>
          <p:cNvGrpSpPr/>
          <p:nvPr/>
        </p:nvGrpSpPr>
        <p:grpSpPr>
          <a:xfrm>
            <a:off x="5809107" y="4216718"/>
            <a:ext cx="5849493" cy="1567053"/>
            <a:chOff x="5809107" y="4216718"/>
            <a:chExt cx="5849493" cy="1567053"/>
          </a:xfrm>
        </p:grpSpPr>
        <p:sp>
          <p:nvSpPr>
            <p:cNvPr id="55" name="TextBox 55"/>
            <p:cNvSpPr txBox="1"/>
            <p:nvPr/>
          </p:nvSpPr>
          <p:spPr>
            <a:xfrm>
              <a:off x="5809107" y="42167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次部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413944" y="4216718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只有文件名和文件号，保存在目录文件中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815965" y="450532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809107" y="461486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主部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413944" y="4614862"/>
              <a:ext cx="4857178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其余全部信息加连接计数，存在 inode 区，从 0 编号即文件号；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等长，由文件号可算出位置，打开时读入内存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5815965" y="515683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5809107" y="5266373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好处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413944" y="5266373"/>
              <a:ext cx="4934331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查找速度提高；多个次部指向同一主部可实现文件连接（link），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连接计数为 0 表示空闲主部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23120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操作系统原理 试题解析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773760" cy="909257"/>
            <a:chOff x="520446" y="342900"/>
            <a:chExt cx="777376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试题解析 · 单项选择题（30 题）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77376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单选 25：3 次转储后恢复，差分转储只需 2 盘磁带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4328160" cy="4086225"/>
            <a:chOff x="533400" y="1524000"/>
            <a:chExt cx="4328160" cy="408622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328160" cy="4086225"/>
            </a:xfrm>
            <a:prstGeom prst="roundRect">
              <a:avLst>
                <a:gd name="adj" fmla="val 326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702945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27114" y="1769269"/>
              <a:ext cx="5346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单选 25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5330" y="2110740"/>
              <a:ext cx="3663315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为保证磁盘文件安全，需要对磁盘文件进行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转储。假设系统对磁盘文件进行了 3 次转储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后发生了磁盘数据丢失。下述对恢复的论述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正确的是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5330" y="3303270"/>
              <a:ext cx="37395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A. 完全转储策略只需要 2 盘转储磁带恢复磁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盘数据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35330" y="3924300"/>
              <a:ext cx="37395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B. 增量转储策略只需要 2 盘转储磁带恢复磁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盘数据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35330" y="4545330"/>
              <a:ext cx="37395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C. 差分转储策略只需要 2 盘转储磁带恢复磁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盘数据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35330" y="5166360"/>
              <a:ext cx="19293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D. 上述论述都不正确</a:t>
              </a:r>
            </a:p>
          </p:txBody>
        </p:sp>
      </p:grpSp>
      <p:grpSp>
        <p:nvGrpSpPr>
          <p:cNvPr id="21" name="c1-callout-2"/>
          <p:cNvGrpSpPr/>
          <p:nvPr/>
        </p:nvGrpSpPr>
        <p:grpSpPr>
          <a:xfrm>
            <a:off x="533400" y="5800725"/>
            <a:ext cx="4328160" cy="533400"/>
            <a:chOff x="533400" y="5800725"/>
            <a:chExt cx="4328160" cy="533400"/>
          </a:xfrm>
        </p:grpSpPr>
        <p:sp>
          <p:nvSpPr>
            <p:cNvPr id="16" name="Rectangle 16"/>
            <p:cNvSpPr/>
            <p:nvPr/>
          </p:nvSpPr>
          <p:spPr>
            <a:xfrm>
              <a:off x="533400" y="5800725"/>
              <a:ext cx="4328160" cy="533400"/>
            </a:xfrm>
            <a:prstGeom prst="roundRect">
              <a:avLst>
                <a:gd name="adj" fmla="val 2142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738188" y="5967413"/>
              <a:ext cx="200026" cy="200026"/>
              <a:chOff x="738188" y="5967413"/>
              <a:chExt cx="200026" cy="200026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738188" y="596741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04863" y="604520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1040130" y="5962650"/>
              <a:ext cx="6004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答案 C</a:t>
              </a:r>
            </a:p>
          </p:txBody>
        </p:sp>
      </p:grpSp>
      <p:grpSp>
        <p:nvGrpSpPr>
          <p:cNvPr id="47" name="c2-table-1"/>
          <p:cNvGrpSpPr/>
          <p:nvPr/>
        </p:nvGrpSpPr>
        <p:grpSpPr>
          <a:xfrm>
            <a:off x="5166360" y="1524000"/>
            <a:ext cx="6492240" cy="3155632"/>
            <a:chOff x="5166360" y="1524000"/>
            <a:chExt cx="6492240" cy="3155632"/>
          </a:xfrm>
        </p:grpSpPr>
        <p:sp>
          <p:nvSpPr>
            <p:cNvPr id="22" name="Rectangle 22"/>
            <p:cNvSpPr/>
            <p:nvPr/>
          </p:nvSpPr>
          <p:spPr>
            <a:xfrm>
              <a:off x="5166360" y="1524000"/>
              <a:ext cx="6492240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47429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策略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558420" y="165973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每次复制什么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34125" y="1659731"/>
              <a:ext cx="12006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 次后恢复要用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47396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评价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274183" y="233505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完全转储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247638" y="233505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磁盘上的全部文件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130730" y="2221706"/>
              <a:ext cx="13134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盘：第 3 次的磁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带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753790" y="2108359"/>
              <a:ext cx="1638554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能完全恢复；备份数据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大量重复，占空间、耗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166360" y="286988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166360" y="2874645"/>
              <a:ext cx="6492240" cy="9020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274183" y="323707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增量转储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247638" y="3123724"/>
              <a:ext cx="14759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上次转储后修改过的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部分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130730" y="3123724"/>
              <a:ext cx="128092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盘：第 1、2、3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次依次恢复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753790" y="3010376"/>
              <a:ext cx="1638554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省空间、备份快；恢复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麻烦，任何一盘出错整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条链都断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166360" y="377285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274183" y="413908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差分转储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247638" y="3912394"/>
              <a:ext cx="1475994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开始完全转储一次，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以后复制与第一次不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同的全部数据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8032432" y="3787140"/>
              <a:ext cx="1604010" cy="88296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130730" y="4025741"/>
              <a:ext cx="13134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盘：第 1 次与第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次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753790" y="4025741"/>
              <a:ext cx="16385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备份时间短、省磁带，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恢复方便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166360" y="1524000"/>
              <a:ext cx="6492240" cy="315563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135052" y="1524000"/>
              <a:ext cx="9525" cy="315563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8018145" y="1524000"/>
              <a:ext cx="9525" cy="315563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9641205" y="1524000"/>
              <a:ext cx="9525" cy="315563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4" name="c2-callout-2"/>
          <p:cNvGrpSpPr/>
          <p:nvPr/>
        </p:nvGrpSpPr>
        <p:grpSpPr>
          <a:xfrm>
            <a:off x="5166360" y="4870132"/>
            <a:ext cx="6492240" cy="1463992"/>
            <a:chOff x="5166360" y="4870132"/>
            <a:chExt cx="6492240" cy="1463992"/>
          </a:xfrm>
        </p:grpSpPr>
        <p:sp>
          <p:nvSpPr>
            <p:cNvPr id="48" name="Rectangle 48"/>
            <p:cNvSpPr/>
            <p:nvPr/>
          </p:nvSpPr>
          <p:spPr>
            <a:xfrm>
              <a:off x="5166360" y="4870132"/>
              <a:ext cx="6492240" cy="1463992"/>
            </a:xfrm>
            <a:prstGeom prst="roundRect">
              <a:avLst>
                <a:gd name="adj" fmla="val 7807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5371148" y="5501640"/>
              <a:ext cx="200026" cy="200026"/>
              <a:chOff x="5371148" y="5501640"/>
              <a:chExt cx="200026" cy="200026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5371148" y="550164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5471160" y="556831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5460048" y="560165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5673090" y="5358765"/>
              <a:ext cx="54063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Backup：定期把磁盘上的文件复制到磁带，故障时由磁带恢复。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只能恢复到最后一次转储时的状态（limited recovery）。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23120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操作系统原理 试题解析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007910" cy="909257"/>
            <a:chOff x="520446" y="342900"/>
            <a:chExt cx="900791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试题解析 · 单项选择题（30 题）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00791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单选 1：SPOOLing 由预输入、缓输出和作业调度程序组成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977765" cy="2457450"/>
            <a:chOff x="533400" y="1524000"/>
            <a:chExt cx="4977765" cy="24574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2457450"/>
            </a:xfrm>
            <a:prstGeom prst="roundRect">
              <a:avLst>
                <a:gd name="adj" fmla="val 542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37235" y="1727835"/>
              <a:ext cx="62103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23978" y="1763554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单选 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29996" y="2100739"/>
              <a:ext cx="435165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SPOOLing 系统是在主机控制下，通过通道把 I/O 工作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脱机处理，SPOOLing 不包括的程序是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29996" y="2692241"/>
              <a:ext cx="401802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A. 预输入程序　B. 作业调度程序　C. 缓输出程序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D. 连接程序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29996" y="3283744"/>
              <a:ext cx="396257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答案 D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。连接程序把目标模块连成可执行程序，与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SPOOLing 无关。</a:t>
              </a:r>
            </a:p>
          </p:txBody>
        </p:sp>
      </p:grpSp>
      <p:grpSp>
        <p:nvGrpSpPr>
          <p:cNvPr id="24" name="c1-card-2"/>
          <p:cNvGrpSpPr/>
          <p:nvPr/>
        </p:nvGrpSpPr>
        <p:grpSpPr>
          <a:xfrm>
            <a:off x="533400" y="4167188"/>
            <a:ext cx="4977765" cy="2185988"/>
            <a:chOff x="533400" y="4167188"/>
            <a:chExt cx="4977765" cy="2185988"/>
          </a:xfrm>
        </p:grpSpPr>
        <p:sp>
          <p:nvSpPr>
            <p:cNvPr id="14" name="Rectangle 14"/>
            <p:cNvSpPr/>
            <p:nvPr/>
          </p:nvSpPr>
          <p:spPr>
            <a:xfrm>
              <a:off x="533400" y="4167188"/>
              <a:ext cx="4977765" cy="2185988"/>
            </a:xfrm>
            <a:prstGeom prst="roundRect">
              <a:avLst>
                <a:gd name="adj" fmla="val 610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4300538"/>
              <a:ext cx="47625" cy="1919288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75335" y="4371022"/>
              <a:ext cx="2485072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06437" y="4406741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假脱机：用磁盘上的井模拟独占设备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82955" y="4804410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39546" y="4743926"/>
              <a:ext cx="434408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提高 I/O 速度：对低速设备的 I/O 变成对井的读写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82955" y="5124450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39546" y="5063966"/>
              <a:ext cx="41622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设备不分配给进程：进程分到井中一块存储区和一张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I/O 请求表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82955" y="571595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39546" y="5655469"/>
              <a:ext cx="41622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实现虚拟设备：多个进程同时用一台独享设备，各自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觉得独占</a:t>
              </a:r>
            </a:p>
          </p:txBody>
        </p:sp>
      </p:grpSp>
      <p:grpSp>
        <p:nvGrpSpPr>
          <p:cNvPr id="53" name="c2-flow-1"/>
          <p:cNvGrpSpPr/>
          <p:nvPr/>
        </p:nvGrpSpPr>
        <p:grpSpPr>
          <a:xfrm>
            <a:off x="5952172" y="1665922"/>
            <a:ext cx="5570221" cy="1841183"/>
            <a:chOff x="5952172" y="1665922"/>
            <a:chExt cx="5570221" cy="1841183"/>
          </a:xfrm>
        </p:grpSpPr>
        <p:sp>
          <p:nvSpPr>
            <p:cNvPr id="25" name="Freeform 25"/>
            <p:cNvSpPr/>
            <p:nvPr/>
          </p:nvSpPr>
          <p:spPr>
            <a:xfrm>
              <a:off x="7626668" y="1878330"/>
              <a:ext cx="168592" cy="9525"/>
            </a:xfrm>
            <a:custGeom>
              <a:avLst/>
              <a:gdLst/>
              <a:ahLst/>
              <a:cxnLst/>
              <a:rect l="l" t="t" r="r" b="b"/>
              <a:pathLst>
                <a:path w="168592" h="9525">
                  <a:moveTo>
                    <a:pt x="0" y="0"/>
                  </a:moveTo>
                  <a:lnTo>
                    <a:pt x="168592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7795260" y="182594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9574530" y="1878330"/>
              <a:ext cx="167640" cy="9525"/>
            </a:xfrm>
            <a:custGeom>
              <a:avLst/>
              <a:gdLst/>
              <a:ahLst/>
              <a:cxnLst/>
              <a:rect l="l" t="t" r="r" b="b"/>
              <a:pathLst>
                <a:path w="167640" h="9525">
                  <a:moveTo>
                    <a:pt x="0" y="0"/>
                  </a:moveTo>
                  <a:lnTo>
                    <a:pt x="16764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9742170" y="182594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10685145" y="2090738"/>
              <a:ext cx="9525" cy="89535"/>
            </a:xfrm>
            <a:custGeom>
              <a:avLst/>
              <a:gdLst/>
              <a:ahLst/>
              <a:cxnLst/>
              <a:rect l="l" t="t" r="r" b="b"/>
              <a:pathLst>
                <a:path w="9525" h="89535">
                  <a:moveTo>
                    <a:pt x="0" y="0"/>
                  </a:moveTo>
                  <a:lnTo>
                    <a:pt x="0" y="8953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10632758" y="218027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10685145" y="2887980"/>
              <a:ext cx="9525" cy="89535"/>
            </a:xfrm>
            <a:custGeom>
              <a:avLst/>
              <a:gdLst/>
              <a:ahLst/>
              <a:cxnLst/>
              <a:rect l="l" t="t" r="r" b="b"/>
              <a:pathLst>
                <a:path w="9525" h="89535">
                  <a:moveTo>
                    <a:pt x="0" y="0"/>
                  </a:moveTo>
                  <a:lnTo>
                    <a:pt x="0" y="8953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10632758" y="297751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9679305" y="3294698"/>
              <a:ext cx="167640" cy="9525"/>
            </a:xfrm>
            <a:custGeom>
              <a:avLst/>
              <a:gdLst/>
              <a:ahLst/>
              <a:cxnLst/>
              <a:rect l="l" t="t" r="r" b="b"/>
              <a:pathLst>
                <a:path w="167640" h="9525">
                  <a:moveTo>
                    <a:pt x="167640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9574530" y="324231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7731442" y="3294698"/>
              <a:ext cx="168592" cy="9525"/>
            </a:xfrm>
            <a:custGeom>
              <a:avLst/>
              <a:gdLst/>
              <a:ahLst/>
              <a:cxnLst/>
              <a:rect l="l" t="t" r="r" b="b"/>
              <a:pathLst>
                <a:path w="168592" h="9525">
                  <a:moveTo>
                    <a:pt x="168592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7626668" y="324231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5952172" y="1665922"/>
              <a:ext cx="1674495" cy="424815"/>
            </a:xfrm>
            <a:custGeom>
              <a:avLst/>
              <a:gdLst/>
              <a:ahLst/>
              <a:cxnLst/>
              <a:rect l="l" t="t" r="r" b="b"/>
              <a:pathLst>
                <a:path w="1674495" h="424815">
                  <a:moveTo>
                    <a:pt x="133350" y="0"/>
                  </a:moveTo>
                  <a:lnTo>
                    <a:pt x="1674495" y="0"/>
                  </a:lnTo>
                  <a:lnTo>
                    <a:pt x="1541145" y="424815"/>
                  </a:lnTo>
                  <a:lnTo>
                    <a:pt x="0" y="424815"/>
                  </a:lnTo>
                  <a:close/>
                </a:path>
              </a:pathLst>
            </a:custGeom>
            <a:solidFill>
              <a:srgbClr val="E2F3F4"/>
            </a:solidFill>
            <a:ln w="13335">
              <a:solidFill>
                <a:srgbClr val="0E7C86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7900035" y="1665922"/>
              <a:ext cx="1675448" cy="424815"/>
            </a:xfrm>
            <a:prstGeom prst="roundRect">
              <a:avLst>
                <a:gd name="adj" fmla="val 22422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9846945" y="1665922"/>
              <a:ext cx="1675448" cy="424815"/>
            </a:xfrm>
            <a:prstGeom prst="roundRect">
              <a:avLst>
                <a:gd name="adj" fmla="val 22422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9846945" y="2285048"/>
              <a:ext cx="1675448" cy="60388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9846945" y="3082290"/>
              <a:ext cx="1675448" cy="424815"/>
            </a:xfrm>
            <a:prstGeom prst="roundRect">
              <a:avLst>
                <a:gd name="adj" fmla="val 22422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7900035" y="3082290"/>
              <a:ext cx="1675448" cy="424815"/>
            </a:xfrm>
            <a:prstGeom prst="roundRect">
              <a:avLst>
                <a:gd name="adj" fmla="val 22422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5952172" y="3082290"/>
              <a:ext cx="1674495" cy="424815"/>
            </a:xfrm>
            <a:custGeom>
              <a:avLst/>
              <a:gdLst/>
              <a:ahLst/>
              <a:cxnLst/>
              <a:rect l="l" t="t" r="r" b="b"/>
              <a:pathLst>
                <a:path w="1674495" h="424815">
                  <a:moveTo>
                    <a:pt x="133350" y="0"/>
                  </a:moveTo>
                  <a:lnTo>
                    <a:pt x="1674495" y="0"/>
                  </a:lnTo>
                  <a:lnTo>
                    <a:pt x="1541145" y="424815"/>
                  </a:lnTo>
                  <a:lnTo>
                    <a:pt x="0" y="424815"/>
                  </a:lnTo>
                  <a:close/>
                </a:path>
              </a:pathLst>
            </a:custGeom>
            <a:solidFill>
              <a:srgbClr val="E2F3F4"/>
            </a:solidFill>
            <a:ln w="13335">
              <a:solidFill>
                <a:srgbClr val="0E7C86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088380" y="2285048"/>
              <a:ext cx="3349942" cy="603885"/>
            </a:xfrm>
            <a:prstGeom prst="roundRect">
              <a:avLst>
                <a:gd name="adj" fmla="val 12618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541008" y="179451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输入机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327326" y="17945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预输入进程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113645" y="17945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输入井（磁盘）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069449" y="2400300"/>
              <a:ext cx="123139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作业调度：选作业</a:t>
              </a:r>
              <a:br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装入内存运行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113645" y="3210877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输出井（磁盘）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327326" y="3210877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缓输出进程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541008" y="3210877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输出机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549009" y="2400300"/>
              <a:ext cx="242773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输入机、输出机经通道连接；一个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SPOOLing 程序，每台设备一个进程</a:t>
              </a:r>
            </a:p>
          </p:txBody>
        </p:sp>
      </p:grpSp>
      <p:grpSp>
        <p:nvGrpSpPr>
          <p:cNvPr id="56" name="c2-image-2"/>
          <p:cNvGrpSpPr/>
          <p:nvPr/>
        </p:nvGrpSpPr>
        <p:grpSpPr>
          <a:xfrm>
            <a:off x="6696113" y="3834765"/>
            <a:ext cx="4082339" cy="2553177"/>
            <a:chOff x="6696113" y="3834765"/>
            <a:chExt cx="4082339" cy="2553177"/>
          </a:xfrm>
        </p:grpSpPr>
        <p:pic>
          <p:nvPicPr>
            <p:cNvPr id="54" name="Image 54"/>
            <p:cNvPicPr>
              <a:picLocks noChangeAspect="1"/>
            </p:cNvPicPr>
            <p:nvPr/>
          </p:nvPicPr>
          <p:blipFill>
            <a:blip r:embed="rId2"/>
            <a:srcRect l="0" t="10" r="0" b="11"/>
            <a:stretch>
              <a:fillRect/>
            </a:stretch>
          </p:blipFill>
          <p:spPr>
            <a:xfrm>
              <a:off x="7244715" y="3834765"/>
              <a:ext cx="2985135" cy="2238375"/>
            </a:xfrm>
            <a:prstGeom prst="roundRect">
              <a:avLst>
                <a:gd name="adj" fmla="val 5957"/>
              </a:avLst>
            </a:prstGeom>
          </p:spPr>
        </p:pic>
        <p:sp>
          <p:nvSpPr>
            <p:cNvPr id="55" name="TextBox 55"/>
            <p:cNvSpPr txBox="1"/>
            <p:nvPr/>
          </p:nvSpPr>
          <p:spPr>
            <a:xfrm>
              <a:off x="6696113" y="6167914"/>
              <a:ext cx="40823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大家把文件放进同一个托盘就能离开，打印员按顺序逐份打印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23120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操作系统原理 试题解析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412457" cy="909257"/>
            <a:chOff x="520446" y="342900"/>
            <a:chExt cx="741245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试题解析 · 单项选择题（30 题）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41245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单选 20：读一个扇区的时间是转一圈时间的 1/8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193982" cy="1511618"/>
            <a:chOff x="533400" y="1524000"/>
            <a:chExt cx="5193982" cy="151161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1511618"/>
            </a:xfrm>
            <a:prstGeom prst="roundRect">
              <a:avLst>
                <a:gd name="adj" fmla="val 8822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5805" y="1716405"/>
              <a:ext cx="672465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1460" y="1750695"/>
              <a:ext cx="5011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单选 20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8947" y="2072640"/>
              <a:ext cx="458285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设磁盘格式化时把每磁道等分为 8 个扇区，磁盘转速为 5000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转/分钟。则（忽略启动时间）读取一个扇区所花费时间是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8947" y="2632710"/>
              <a:ext cx="44103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A. 0.05 ms　B. 0.15 ms　C. 0.25 ms　D. 0.35 ms</a:t>
              </a:r>
            </a:p>
          </p:txBody>
        </p:sp>
      </p:grpSp>
      <p:grpSp>
        <p:nvGrpSpPr>
          <p:cNvPr id="22" name="c1-steps-2"/>
          <p:cNvGrpSpPr/>
          <p:nvPr/>
        </p:nvGrpSpPr>
        <p:grpSpPr>
          <a:xfrm>
            <a:off x="533400" y="3220402"/>
            <a:ext cx="4583543" cy="1106330"/>
            <a:chOff x="533400" y="3220402"/>
            <a:chExt cx="4583543" cy="1106330"/>
          </a:xfrm>
        </p:grpSpPr>
        <p:sp>
          <p:nvSpPr>
            <p:cNvPr id="13" name="Rectangle 13"/>
            <p:cNvSpPr/>
            <p:nvPr/>
          </p:nvSpPr>
          <p:spPr>
            <a:xfrm>
              <a:off x="666750" y="3363278"/>
              <a:ext cx="19050" cy="5867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533400" y="322040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29422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80714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38809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642" y="325278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转一圈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785" y="3519964"/>
              <a:ext cx="21071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60 s ÷ 5000 = 0.012 s = 12 ms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642" y="3839527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读一个扇区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785" y="4106704"/>
              <a:ext cx="41701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 Tt = b/(rN)，读 1 个扇区要转过 1/8 圈：12 ÷ 8 = 1.5 ms</a:t>
              </a:r>
            </a:p>
          </p:txBody>
        </p:sp>
      </p:grpSp>
      <p:grpSp>
        <p:nvGrpSpPr>
          <p:cNvPr id="28" name="c1-card-3"/>
          <p:cNvGrpSpPr/>
          <p:nvPr/>
        </p:nvGrpSpPr>
        <p:grpSpPr>
          <a:xfrm>
            <a:off x="533400" y="4495800"/>
            <a:ext cx="5193982" cy="1466850"/>
            <a:chOff x="533400" y="4495800"/>
            <a:chExt cx="5193982" cy="1466850"/>
          </a:xfrm>
        </p:grpSpPr>
        <p:sp>
          <p:nvSpPr>
            <p:cNvPr id="23" name="Rectangle 23"/>
            <p:cNvSpPr/>
            <p:nvPr/>
          </p:nvSpPr>
          <p:spPr>
            <a:xfrm>
              <a:off x="533400" y="4495800"/>
              <a:ext cx="5193982" cy="146685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42925" y="4629150"/>
              <a:ext cx="47625" cy="120015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63905" y="46882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55345" y="47224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57047" y="5044440"/>
              <a:ext cx="454856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原课件答案为 B（0.15 ms）。按题目数据算得 1.5 ms，四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个选项都不对，B 小了 10 倍；转速为 50000 转/分钟时结果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才是 0.15 ms。题目数据或选项有误。</a:t>
              </a:r>
            </a:p>
          </p:txBody>
        </p:sp>
      </p:grpSp>
      <p:grpSp>
        <p:nvGrpSpPr>
          <p:cNvPr id="42" name="c2-card-1"/>
          <p:cNvGrpSpPr/>
          <p:nvPr/>
        </p:nvGrpSpPr>
        <p:grpSpPr>
          <a:xfrm>
            <a:off x="6032182" y="1524000"/>
            <a:ext cx="5626418" cy="4438650"/>
            <a:chOff x="6032182" y="1524000"/>
            <a:chExt cx="5626418" cy="4438650"/>
          </a:xfrm>
        </p:grpSpPr>
        <p:sp>
          <p:nvSpPr>
            <p:cNvPr id="29" name="Rectangle 29"/>
            <p:cNvSpPr/>
            <p:nvPr/>
          </p:nvSpPr>
          <p:spPr>
            <a:xfrm>
              <a:off x="6032182" y="1524000"/>
              <a:ext cx="5626418" cy="4438650"/>
            </a:xfrm>
            <a:prstGeom prst="roundRect">
              <a:avLst>
                <a:gd name="adj" fmla="val 30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041708" y="1657350"/>
              <a:ext cx="47625" cy="417195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262688" y="1716405"/>
              <a:ext cx="1050608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26977" y="1750695"/>
              <a:ext cx="9210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磁盘 I/O 参数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420737" y="1756410"/>
              <a:ext cx="28529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访问时间 = 寻道 + 旋转延迟 + 传输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255830" y="209073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寻道时间：把磁盘引臂移到指定柱面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formula17"/>
                <p:cNvSpPr txBox="1">
                  <a:spLocks noGrp="1"/>
                </p:cNvSpPr>
                <p:nvPr/>
              </p:nvSpPr>
              <p:spPr>
                <a:xfrm>
                  <a:off x="6262688" y="2370772"/>
                  <a:ext cx="5203508" cy="41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e>
                          <m:sub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m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s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6" name="TextBox 36"/>
            <p:cNvSpPr txBox="1"/>
            <p:nvPr/>
          </p:nvSpPr>
          <p:spPr>
            <a:xfrm>
              <a:off x="6256972" y="2895124"/>
              <a:ext cx="38938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 为跨越磁道数，m 为跨越一个磁道的时间，s 为启动时间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255830" y="3162300"/>
              <a:ext cx="43754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旋转延迟：指定扇区转到磁头下，平均取转半圈的时间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" name="formula18"/>
                <p:cNvSpPr txBox="1">
                  <a:spLocks noGrp="1"/>
                </p:cNvSpPr>
                <p:nvPr/>
              </p:nvSpPr>
              <p:spPr>
                <a:xfrm>
                  <a:off x="6262688" y="3442335"/>
                  <a:ext cx="5203508" cy="5657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e>
                          <m:sub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r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2r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9" name="TextBox 39"/>
            <p:cNvSpPr txBox="1"/>
            <p:nvPr/>
          </p:nvSpPr>
          <p:spPr>
            <a:xfrm>
              <a:off x="6255830" y="4117658"/>
              <a:ext cx="21127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传输时间：读/写一个扇区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0" name="formula19"/>
                <p:cNvSpPr txBox="1">
                  <a:spLocks noGrp="1"/>
                </p:cNvSpPr>
                <p:nvPr/>
              </p:nvSpPr>
              <p:spPr>
                <a:xfrm>
                  <a:off x="6262688" y="4397692"/>
                  <a:ext cx="5203508" cy="5657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e>
                          <m:sub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num>
                          <m:den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rN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41" name="TextBox 41"/>
            <p:cNvSpPr txBox="1"/>
            <p:nvPr/>
          </p:nvSpPr>
          <p:spPr>
            <a:xfrm>
              <a:off x="6256972" y="5068729"/>
              <a:ext cx="3569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 为转速，b 为读写字节数，N 为一条磁道上的字节数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23120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操作系统原理 试题解析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425994" cy="909257"/>
            <a:chOff x="520446" y="342900"/>
            <a:chExt cx="84259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试题解析 · 单项选择题（30 题）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4259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单选 26：向打印机输出的软缓冲区是内存中的链式队列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977765" cy="1814512"/>
            <a:chOff x="533400" y="1524000"/>
            <a:chExt cx="4977765" cy="181451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814512"/>
            </a:xfrm>
            <a:prstGeom prst="roundRect">
              <a:avLst>
                <a:gd name="adj" fmla="val 734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5805" y="1716405"/>
              <a:ext cx="672465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1460" y="1750695"/>
              <a:ext cx="5011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单选 26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8947" y="2072640"/>
              <a:ext cx="42999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假设操作系统利用缓冲技术在进程与打印机之间通过软缓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冲区实现向打印机的输出，则该缓冲区的结构是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8947" y="2632710"/>
              <a:ext cx="32774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A. 外存连续空间队列　B. 外存链式队列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18947" y="2935605"/>
              <a:ext cx="32774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C. 内存连续空间队列　D. 内存链式队列</a:t>
              </a:r>
            </a:p>
          </p:txBody>
        </p:sp>
      </p:grpSp>
      <p:grpSp>
        <p:nvGrpSpPr>
          <p:cNvPr id="19" name="c1-callout-2"/>
          <p:cNvGrpSpPr/>
          <p:nvPr/>
        </p:nvGrpSpPr>
        <p:grpSpPr>
          <a:xfrm>
            <a:off x="533400" y="3513772"/>
            <a:ext cx="4977765" cy="729615"/>
            <a:chOff x="533400" y="3513772"/>
            <a:chExt cx="4977765" cy="729615"/>
          </a:xfrm>
        </p:grpSpPr>
        <p:sp>
          <p:nvSpPr>
            <p:cNvPr id="14" name="Rectangle 14"/>
            <p:cNvSpPr/>
            <p:nvPr/>
          </p:nvSpPr>
          <p:spPr>
            <a:xfrm>
              <a:off x="533400" y="3513772"/>
              <a:ext cx="4977765" cy="729615"/>
            </a:xfrm>
            <a:prstGeom prst="roundRect">
              <a:avLst>
                <a:gd name="adj" fmla="val 15666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738188" y="3778568"/>
              <a:ext cx="200026" cy="200026"/>
              <a:chOff x="738188" y="3778568"/>
              <a:chExt cx="200026" cy="200026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738188" y="377856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04863" y="385635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040892" y="3659505"/>
              <a:ext cx="410279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答案 D：软缓冲区设在内存系统空间，缓冲池用链表管</a:t>
              </a:r>
              <a:br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理</a:t>
              </a:r>
            </a:p>
          </p:txBody>
        </p:sp>
      </p:grpSp>
      <p:grpSp>
        <p:nvGrpSpPr>
          <p:cNvPr id="28" name="c1-kv-3"/>
          <p:cNvGrpSpPr/>
          <p:nvPr/>
        </p:nvGrpSpPr>
        <p:grpSpPr>
          <a:xfrm>
            <a:off x="527685" y="4436269"/>
            <a:ext cx="4983480" cy="1572578"/>
            <a:chOff x="527685" y="4436269"/>
            <a:chExt cx="4983480" cy="1572578"/>
          </a:xfrm>
        </p:grpSpPr>
        <p:sp>
          <p:nvSpPr>
            <p:cNvPr id="20" name="TextBox 20"/>
            <p:cNvSpPr txBox="1"/>
            <p:nvPr/>
          </p:nvSpPr>
          <p:spPr>
            <a:xfrm>
              <a:off x="527685" y="443626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缓冲与高速缓存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812608" y="4436269"/>
              <a:ext cx="3425190" cy="4314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6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buffering 解决数据到达与离开速度不一致，数据没有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副本；caching 为减少访盘次数，数据在磁盘上有副本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490156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7685" y="500681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硬缓冲与软缓冲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812608" y="5006816"/>
              <a:ext cx="3282950" cy="4314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6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硬缓冲区通常设在设备中；软缓冲区设在内存系统空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间，由操作系统管理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547211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27685" y="557736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私用与公用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812608" y="5577364"/>
              <a:ext cx="3425190" cy="4314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6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私用缓冲固定属于一台设备，利用率低；公用缓冲由系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统统一管理，按需分给正在传输的设备</a:t>
              </a:r>
            </a:p>
          </p:txBody>
        </p:sp>
      </p:grpSp>
      <p:grpSp>
        <p:nvGrpSpPr>
          <p:cNvPr id="56" name="c2-cells-1"/>
          <p:cNvGrpSpPr/>
          <p:nvPr/>
        </p:nvGrpSpPr>
        <p:grpSpPr>
          <a:xfrm>
            <a:off x="5810250" y="1569720"/>
            <a:ext cx="5524500" cy="630555"/>
            <a:chOff x="5810250" y="1569720"/>
            <a:chExt cx="5524500" cy="630555"/>
          </a:xfrm>
        </p:grpSpPr>
        <p:sp>
          <p:nvSpPr>
            <p:cNvPr id="29" name="TextBox 29"/>
            <p:cNvSpPr txBox="1"/>
            <p:nvPr/>
          </p:nvSpPr>
          <p:spPr>
            <a:xfrm>
              <a:off x="5810250" y="193976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缓冲池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376035" y="1819275"/>
              <a:ext cx="78771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37541" y="193976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空缓冲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7162800" y="1819275"/>
              <a:ext cx="209550" cy="3810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7239000" y="1981200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7267575" y="2009775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7610475" y="1966912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7696200" y="1819275"/>
              <a:ext cx="78771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858658" y="193976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空缓冲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483918" y="1819275"/>
              <a:ext cx="209550" cy="3810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8560118" y="1981200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8588692" y="2009775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8931592" y="1966912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9017318" y="1819275"/>
              <a:ext cx="78771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361449" y="19397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9804082" y="1819275"/>
              <a:ext cx="209550" cy="3810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45" name="Ellipse 45"/>
            <p:cNvSpPr/>
            <p:nvPr/>
          </p:nvSpPr>
          <p:spPr>
            <a:xfrm>
              <a:off x="9880282" y="1981200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46" name="Freeform 46"/>
            <p:cNvSpPr/>
            <p:nvPr/>
          </p:nvSpPr>
          <p:spPr>
            <a:xfrm>
              <a:off x="9908858" y="2009775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10251758" y="1966912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10337482" y="1819275"/>
              <a:ext cx="78771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0499941" y="193976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空缓冲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11125200" y="1819275"/>
              <a:ext cx="209550" cy="3810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1188742" y="1947386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624718" y="1569720"/>
              <a:ext cx="2894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head</a:t>
              </a:r>
            </a:p>
          </p:txBody>
        </p:sp>
        <p:sp>
          <p:nvSpPr>
            <p:cNvPr id="53" name="Freeform 53"/>
            <p:cNvSpPr/>
            <p:nvPr/>
          </p:nvSpPr>
          <p:spPr>
            <a:xfrm>
              <a:off x="6731318" y="172402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0618921" y="1569720"/>
              <a:ext cx="22579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tail</a:t>
              </a:r>
            </a:p>
          </p:txBody>
        </p:sp>
        <p:sp>
          <p:nvSpPr>
            <p:cNvPr id="55" name="Freeform 55"/>
            <p:cNvSpPr/>
            <p:nvPr/>
          </p:nvSpPr>
          <p:spPr>
            <a:xfrm>
              <a:off x="10693718" y="172402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</p:grpSp>
      <p:grpSp>
        <p:nvGrpSpPr>
          <p:cNvPr id="82" name="c2-table-2"/>
          <p:cNvGrpSpPr/>
          <p:nvPr/>
        </p:nvGrpSpPr>
        <p:grpSpPr>
          <a:xfrm>
            <a:off x="5810631" y="2375535"/>
            <a:ext cx="5847969" cy="2308479"/>
            <a:chOff x="5810631" y="2375535"/>
            <a:chExt cx="5847969" cy="2308479"/>
          </a:xfrm>
        </p:grpSpPr>
        <p:sp>
          <p:nvSpPr>
            <p:cNvPr id="57" name="Rectangle 57"/>
            <p:cNvSpPr/>
            <p:nvPr/>
          </p:nvSpPr>
          <p:spPr>
            <a:xfrm>
              <a:off x="5815965" y="2375535"/>
              <a:ext cx="5842635" cy="40576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068098" y="249983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步骤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356132" y="249983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申请一个缓冲区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868827" y="249983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释放一个缓冲区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175336" y="29056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733222" y="2905601"/>
              <a:ext cx="8777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P(buf_num)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245918" y="2905601"/>
              <a:ext cx="7115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P(mutex)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5815965" y="318230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5815965" y="3187065"/>
              <a:ext cx="584263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175336" y="33113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733222" y="3311366"/>
              <a:ext cx="7115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P(mutex)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245918" y="331136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空缓冲挂到链尾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5815965" y="358806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175336" y="37171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733222" y="371713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取下链头的空缓冲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245918" y="3717131"/>
              <a:ext cx="7115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V(mutex)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5815965" y="399383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5815965" y="3998595"/>
              <a:ext cx="584263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175336" y="41228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733222" y="4122896"/>
              <a:ext cx="7115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V(mutex)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9245918" y="4122896"/>
              <a:ext cx="8777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V(buf_num)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5815965" y="2375535"/>
              <a:ext cx="5842635" cy="20288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9" name="Rectangle 79"/>
            <p:cNvSpPr/>
            <p:nvPr/>
          </p:nvSpPr>
          <p:spPr>
            <a:xfrm>
              <a:off x="6628448" y="2375535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9141142" y="2375535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5810631" y="4478655"/>
              <a:ext cx="30214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buf_num 初值 n（空缓冲个数），mutex 初值 1</a:t>
              </a:r>
            </a:p>
          </p:txBody>
        </p:sp>
      </p:grpSp>
      <p:grpSp>
        <p:nvGrpSpPr>
          <p:cNvPr id="89" name="c2-callout-3"/>
          <p:cNvGrpSpPr/>
          <p:nvPr/>
        </p:nvGrpSpPr>
        <p:grpSpPr>
          <a:xfrm>
            <a:off x="5815965" y="4817745"/>
            <a:ext cx="5842635" cy="1146810"/>
            <a:chOff x="5815965" y="4817745"/>
            <a:chExt cx="5842635" cy="1146810"/>
          </a:xfrm>
        </p:grpSpPr>
        <p:sp>
          <p:nvSpPr>
            <p:cNvPr id="83" name="Rectangle 83"/>
            <p:cNvSpPr/>
            <p:nvPr/>
          </p:nvSpPr>
          <p:spPr>
            <a:xfrm>
              <a:off x="5815965" y="4817745"/>
              <a:ext cx="5842635" cy="1146810"/>
            </a:xfrm>
            <a:prstGeom prst="roundRect">
              <a:avLst>
                <a:gd name="adj" fmla="val 9967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87" name="Group 87"/>
            <p:cNvGrpSpPr/>
            <p:nvPr/>
          </p:nvGrpSpPr>
          <p:grpSpPr>
            <a:xfrm>
              <a:off x="6020753" y="5291138"/>
              <a:ext cx="200026" cy="200025"/>
              <a:chOff x="6020753" y="5291138"/>
              <a:chExt cx="200026" cy="200025"/>
            </a:xfrm>
          </p:grpSpPr>
          <p:sp>
            <p:nvSpPr>
              <p:cNvPr id="84" name="Freeform 84"/>
              <p:cNvSpPr/>
              <p:nvPr/>
            </p:nvSpPr>
            <p:spPr>
              <a:xfrm>
                <a:off x="6020753" y="529113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5" name="Freeform 85"/>
              <p:cNvSpPr/>
              <p:nvPr/>
            </p:nvSpPr>
            <p:spPr>
              <a:xfrm>
                <a:off x="6060491" y="533558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6" name="Freeform 86"/>
              <p:cNvSpPr/>
              <p:nvPr/>
            </p:nvSpPr>
            <p:spPr>
              <a:xfrm>
                <a:off x="6095207" y="544671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88" name="TextBox 88"/>
            <p:cNvSpPr txBox="1"/>
            <p:nvPr/>
          </p:nvSpPr>
          <p:spPr>
            <a:xfrm>
              <a:off x="6323457" y="5173028"/>
              <a:ext cx="4891469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申请时先 P(buf_num) 再 P(mutex)。顺序反过来，拿着 mutex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等缓冲区，释放者进不了链表，就会死锁。</a:t>
              </a:r>
            </a:p>
          </p:txBody>
        </p:sp>
      </p:grpSp>
      <p:grpSp>
        <p:nvGrpSpPr>
          <p:cNvPr id="9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0" name="TextBox 90"/>
            <p:cNvSpPr txBox="1"/>
            <p:nvPr/>
          </p:nvSpPr>
          <p:spPr>
            <a:xfrm>
              <a:off x="528447" y="6581299"/>
              <a:ext cx="23120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操作系统原理 试题解析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33498" cy="909257"/>
            <a:chOff x="520446" y="342900"/>
            <a:chExt cx="823349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试题解析 · 单项选择题（30 题）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3349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单选 27：既能并行读、又能有条件并行写的是 RAID 5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328160" cy="1814512"/>
            <a:chOff x="533400" y="1524000"/>
            <a:chExt cx="4328160" cy="181451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328160" cy="1814512"/>
            </a:xfrm>
            <a:prstGeom prst="roundRect">
              <a:avLst>
                <a:gd name="adj" fmla="val 734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5805" y="1716405"/>
              <a:ext cx="672465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1460" y="1750695"/>
              <a:ext cx="5011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单选 27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8947" y="2072640"/>
              <a:ext cx="3708463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RAID 数据存储标准中，既能进行并行读、又能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有条件进行并行写的 RAID 级别是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8947" y="2632710"/>
              <a:ext cx="19545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A. Level 2　B. Level 3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18947" y="2935605"/>
              <a:ext cx="19545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C. Level 4　D. Level 5</a:t>
              </a:r>
            </a:p>
          </p:txBody>
        </p:sp>
      </p:grpSp>
      <p:grpSp>
        <p:nvGrpSpPr>
          <p:cNvPr id="19" name="c1-callout-2"/>
          <p:cNvGrpSpPr/>
          <p:nvPr/>
        </p:nvGrpSpPr>
        <p:grpSpPr>
          <a:xfrm>
            <a:off x="533400" y="3513772"/>
            <a:ext cx="4328160" cy="488632"/>
            <a:chOff x="533400" y="3513772"/>
            <a:chExt cx="4328160" cy="488632"/>
          </a:xfrm>
        </p:grpSpPr>
        <p:sp>
          <p:nvSpPr>
            <p:cNvPr id="14" name="Rectangle 14"/>
            <p:cNvSpPr/>
            <p:nvPr/>
          </p:nvSpPr>
          <p:spPr>
            <a:xfrm>
              <a:off x="533400" y="3513772"/>
              <a:ext cx="4328160" cy="488632"/>
            </a:xfrm>
            <a:prstGeom prst="roundRect">
              <a:avLst>
                <a:gd name="adj" fmla="val 23392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738188" y="3657600"/>
              <a:ext cx="200026" cy="200026"/>
              <a:chOff x="738188" y="3657600"/>
              <a:chExt cx="200026" cy="200026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738188" y="365760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04863" y="373538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040892" y="3663315"/>
              <a:ext cx="5404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答案 D</a:t>
              </a:r>
            </a:p>
          </p:txBody>
        </p:sp>
      </p:grpSp>
      <p:grpSp>
        <p:nvGrpSpPr>
          <p:cNvPr id="29" name="c1-card-3"/>
          <p:cNvGrpSpPr/>
          <p:nvPr/>
        </p:nvGrpSpPr>
        <p:grpSpPr>
          <a:xfrm>
            <a:off x="533400" y="4177665"/>
            <a:ext cx="4328160" cy="2071688"/>
            <a:chOff x="533400" y="4177665"/>
            <a:chExt cx="4328160" cy="2071688"/>
          </a:xfrm>
        </p:grpSpPr>
        <p:sp>
          <p:nvSpPr>
            <p:cNvPr id="20" name="Rectangle 20"/>
            <p:cNvSpPr/>
            <p:nvPr/>
          </p:nvSpPr>
          <p:spPr>
            <a:xfrm>
              <a:off x="533400" y="4177665"/>
              <a:ext cx="4328160" cy="2071688"/>
            </a:xfrm>
            <a:prstGeom prst="roundRect">
              <a:avLst>
                <a:gd name="adj" fmla="val 643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42925" y="4311015"/>
              <a:ext cx="47625" cy="1804988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63905" y="4370070"/>
              <a:ext cx="482918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46654" y="4404360"/>
              <a:ext cx="3164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RAID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7047" y="4726305"/>
              <a:ext cx="365702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物理磁盘的集合，作为一个逻辑磁盘使用，数据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分散存放在多个盘上。RAID 级别是数据在多盘上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存放方法的行业标准。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772478" y="5599748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28497" y="554355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分条：位级分条、块级分条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772478" y="5901690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28497" y="5845492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衡量指标：速度、可靠性、成本</a:t>
              </a:r>
            </a:p>
          </p:txBody>
        </p:sp>
      </p:grpSp>
      <p:grpSp>
        <p:nvGrpSpPr>
          <p:cNvPr id="81" name="c2-table-1"/>
          <p:cNvGrpSpPr/>
          <p:nvPr/>
        </p:nvGrpSpPr>
        <p:grpSpPr>
          <a:xfrm>
            <a:off x="5166360" y="1524000"/>
            <a:ext cx="6492240" cy="2840355"/>
            <a:chOff x="5166360" y="1524000"/>
            <a:chExt cx="6492240" cy="2840355"/>
          </a:xfrm>
        </p:grpSpPr>
        <p:sp>
          <p:nvSpPr>
            <p:cNvPr id="30" name="Rectangle 30"/>
            <p:cNvSpPr/>
            <p:nvPr/>
          </p:nvSpPr>
          <p:spPr>
            <a:xfrm>
              <a:off x="5166360" y="1524000"/>
              <a:ext cx="6492240" cy="40576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367058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级别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060199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分条粒度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109041" y="164830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读并发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083448" y="164830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写并发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577501" y="1648301"/>
              <a:ext cx="13046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冗余（容错/开销）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474296" y="20540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286360" y="205406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184428" y="205406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支持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158836" y="205406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支持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902065" y="205406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166360" y="233076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166360" y="2335530"/>
              <a:ext cx="649224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474296" y="24598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286360" y="245983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184428" y="245983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支持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083448" y="245983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不支持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902065" y="245983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镜像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166360" y="273653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474296" y="28655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286360" y="286559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109041" y="286559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不支持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083448" y="286559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不支持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902065" y="2865596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汉明纠错码奇偶校验与恢复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166360" y="314229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5166360" y="3147060"/>
              <a:ext cx="649224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474296" y="32713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286360" y="327136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109041" y="327136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不支持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083448" y="327136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不支持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902065" y="327136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单个奇偶校验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5166360" y="354806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474296" y="36771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286360" y="367712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184428" y="367712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支持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083448" y="367712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不支持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902065" y="367712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块级异或校验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5166360" y="395382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5166360" y="3958590"/>
              <a:ext cx="649224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5175885" y="3968115"/>
              <a:ext cx="695325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5474296" y="40828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286360" y="408289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184428" y="408289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支持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7838122" y="3968115"/>
              <a:ext cx="954405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8158836" y="408289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支持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902065" y="408289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块级分布式异或校验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5166360" y="1524000"/>
              <a:ext cx="6492240" cy="2840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7" name="Rectangle 77"/>
            <p:cNvSpPr/>
            <p:nvPr/>
          </p:nvSpPr>
          <p:spPr>
            <a:xfrm>
              <a:off x="5875972" y="1524000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6849428" y="1524000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7823835" y="1524000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8797290" y="1524000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8" name="c2-callout-2"/>
          <p:cNvGrpSpPr/>
          <p:nvPr/>
        </p:nvGrpSpPr>
        <p:grpSpPr>
          <a:xfrm>
            <a:off x="5166360" y="4539615"/>
            <a:ext cx="6492240" cy="1709738"/>
            <a:chOff x="5166360" y="4539615"/>
            <a:chExt cx="6492240" cy="1709738"/>
          </a:xfrm>
        </p:grpSpPr>
        <p:sp>
          <p:nvSpPr>
            <p:cNvPr id="82" name="Rectangle 82"/>
            <p:cNvSpPr/>
            <p:nvPr/>
          </p:nvSpPr>
          <p:spPr>
            <a:xfrm>
              <a:off x="5166360" y="4539615"/>
              <a:ext cx="6492240" cy="1709738"/>
            </a:xfrm>
            <a:prstGeom prst="roundRect">
              <a:avLst>
                <a:gd name="adj" fmla="val 668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86" name="Group 86"/>
            <p:cNvGrpSpPr/>
            <p:nvPr/>
          </p:nvGrpSpPr>
          <p:grpSpPr>
            <a:xfrm>
              <a:off x="5371148" y="5293995"/>
              <a:ext cx="200026" cy="200026"/>
              <a:chOff x="5371148" y="5293995"/>
              <a:chExt cx="200026" cy="200026"/>
            </a:xfrm>
          </p:grpSpPr>
          <p:sp>
            <p:nvSpPr>
              <p:cNvPr id="83" name="Freeform 83"/>
              <p:cNvSpPr/>
              <p:nvPr/>
            </p:nvSpPr>
            <p:spPr>
              <a:xfrm>
                <a:off x="5371148" y="52939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5471160" y="53606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5" name="Freeform 85"/>
              <p:cNvSpPr/>
              <p:nvPr/>
            </p:nvSpPr>
            <p:spPr>
              <a:xfrm>
                <a:off x="5460048" y="53940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87" name="TextBox 87"/>
            <p:cNvSpPr txBox="1"/>
            <p:nvPr/>
          </p:nvSpPr>
          <p:spPr>
            <a:xfrm>
              <a:off x="5673852" y="5051108"/>
              <a:ext cx="5534406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RAID 4 的校验块集中在一个盘，每次写都要改它，写只能排队。RAID 5 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校验块分散在各盘，两个写操作用到的数据盘和校验盘互不相同时才能并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行，所以说“有条件”。</a:t>
              </a:r>
            </a:p>
          </p:txBody>
        </p:sp>
      </p:grpSp>
      <p:grpSp>
        <p:nvGrpSpPr>
          <p:cNvPr id="9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9" name="TextBox 89"/>
            <p:cNvSpPr txBox="1"/>
            <p:nvPr/>
          </p:nvSpPr>
          <p:spPr>
            <a:xfrm>
              <a:off x="528447" y="6581299"/>
              <a:ext cx="23120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操作系统原理 试题解析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082713" cy="909257"/>
            <a:chOff x="520446" y="342900"/>
            <a:chExt cx="808271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试题解析 · 单项选择题（30 题）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0827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单选 28：探测信令回到发起者，说明出现了等待环路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977765" cy="3129915"/>
            <a:chOff x="533400" y="1524000"/>
            <a:chExt cx="4977765" cy="31299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3129915"/>
            </a:xfrm>
            <a:prstGeom prst="roundRect">
              <a:avLst>
                <a:gd name="adj" fmla="val 426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702945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27114" y="1769269"/>
              <a:ext cx="5346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单选 28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5330" y="2110740"/>
              <a:ext cx="4282440" cy="1436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假设某分布式操作系统采用分布式的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Chandy-Misra-Haas 算法进行死锁检测。当进程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Pj 接收到进程 Pk 发出的探测信令 (i, k, j) 这一时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刻，系统出现了可能造成死锁的环路，则下面成立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的式子是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5330" y="3589020"/>
              <a:ext cx="33162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A. i = k　B. i = j　C. k = j　D. i ≠ j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35330" y="3924300"/>
              <a:ext cx="3938111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答案 B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。探测信令写作（发起者, 发送者, 接收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者），接收者 Pj 就是发起者 Pi 时成环。</a:t>
              </a:r>
            </a:p>
          </p:txBody>
        </p:sp>
      </p:grpSp>
      <p:grpSp>
        <p:nvGrpSpPr>
          <p:cNvPr id="20" name="c1-callout-2"/>
          <p:cNvGrpSpPr/>
          <p:nvPr/>
        </p:nvGrpSpPr>
        <p:grpSpPr>
          <a:xfrm>
            <a:off x="533400" y="4844415"/>
            <a:ext cx="4977765" cy="1171575"/>
            <a:chOff x="533400" y="4844415"/>
            <a:chExt cx="4977765" cy="1171575"/>
          </a:xfrm>
        </p:grpSpPr>
        <p:sp>
          <p:nvSpPr>
            <p:cNvPr id="14" name="Rectangle 14"/>
            <p:cNvSpPr/>
            <p:nvPr/>
          </p:nvSpPr>
          <p:spPr>
            <a:xfrm>
              <a:off x="533400" y="4844415"/>
              <a:ext cx="4977765" cy="1171575"/>
            </a:xfrm>
            <a:prstGeom prst="roundRect">
              <a:avLst>
                <a:gd name="adj" fmla="val 975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738188" y="5330190"/>
              <a:ext cx="200026" cy="200026"/>
              <a:chOff x="738188" y="5330190"/>
              <a:chExt cx="200026" cy="200026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738188" y="533019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38200" y="539686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827088" y="543020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040130" y="5187315"/>
              <a:ext cx="39871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本题与第 29 题属于课件第 9 章分布式操作系统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的内容。</a:t>
              </a:r>
            </a:p>
          </p:txBody>
        </p:sp>
      </p:grpSp>
      <p:grpSp>
        <p:nvGrpSpPr>
          <p:cNvPr id="41" name="c2-graph-1"/>
          <p:cNvGrpSpPr/>
          <p:nvPr/>
        </p:nvGrpSpPr>
        <p:grpSpPr>
          <a:xfrm>
            <a:off x="5867591" y="1581150"/>
            <a:ext cx="5650547" cy="2060257"/>
            <a:chOff x="5867591" y="1581150"/>
            <a:chExt cx="5650547" cy="2060257"/>
          </a:xfrm>
        </p:grpSpPr>
        <p:sp>
          <p:nvSpPr>
            <p:cNvPr id="21" name="Freeform 21"/>
            <p:cNvSpPr/>
            <p:nvPr/>
          </p:nvSpPr>
          <p:spPr>
            <a:xfrm>
              <a:off x="6683692" y="1891665"/>
              <a:ext cx="1877377" cy="668655"/>
            </a:xfrm>
            <a:custGeom>
              <a:avLst/>
              <a:gdLst/>
              <a:ahLst/>
              <a:cxnLst/>
              <a:rect l="l" t="t" r="r" b="b"/>
              <a:pathLst>
                <a:path w="1877377" h="668655">
                  <a:moveTo>
                    <a:pt x="0" y="668655"/>
                  </a:moveTo>
                  <a:lnTo>
                    <a:pt x="187737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8544878" y="1845945"/>
              <a:ext cx="105728" cy="90488"/>
            </a:xfrm>
            <a:custGeom>
              <a:avLst/>
              <a:gdLst/>
              <a:ahLst/>
              <a:cxnLst/>
              <a:rect l="l" t="t" r="r" b="b"/>
              <a:pathLst>
                <a:path w="105728" h="90488">
                  <a:moveTo>
                    <a:pt x="105728" y="13335"/>
                  </a:moveTo>
                  <a:lnTo>
                    <a:pt x="32385" y="904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8853488" y="2002155"/>
              <a:ext cx="9525" cy="1155382"/>
            </a:xfrm>
            <a:custGeom>
              <a:avLst/>
              <a:gdLst/>
              <a:ahLst/>
              <a:cxnLst/>
              <a:rect l="l" t="t" r="r" b="b"/>
              <a:pathLst>
                <a:path w="9525" h="1155382">
                  <a:moveTo>
                    <a:pt x="0" y="0"/>
                  </a:moveTo>
                  <a:lnTo>
                    <a:pt x="0" y="115538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8805862" y="315753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6773228" y="2710815"/>
              <a:ext cx="1893570" cy="674370"/>
            </a:xfrm>
            <a:custGeom>
              <a:avLst/>
              <a:gdLst/>
              <a:ahLst/>
              <a:cxnLst/>
              <a:rect l="l" t="t" r="r" b="b"/>
              <a:pathLst>
                <a:path w="1893570" h="674370">
                  <a:moveTo>
                    <a:pt x="1893570" y="67437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6683692" y="2666048"/>
              <a:ext cx="105727" cy="89535"/>
            </a:xfrm>
            <a:custGeom>
              <a:avLst/>
              <a:gdLst/>
              <a:ahLst/>
              <a:cxnLst/>
              <a:rect l="l" t="t" r="r" b="b"/>
              <a:pathLst>
                <a:path w="105727" h="89535">
                  <a:moveTo>
                    <a:pt x="0" y="12383"/>
                  </a:moveTo>
                  <a:lnTo>
                    <a:pt x="105727" y="0"/>
                  </a:lnTo>
                  <a:lnTo>
                    <a:pt x="74295" y="8953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6349365" y="2451735"/>
              <a:ext cx="335280" cy="33528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8647748" y="1581150"/>
              <a:ext cx="411480" cy="41148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8663940" y="3262312"/>
              <a:ext cx="379095" cy="37909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431457" y="2539841"/>
              <a:ext cx="1710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Pi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867591" y="255365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发起者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726078" y="1707356"/>
              <a:ext cx="2548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Pm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744683" y="3372326"/>
              <a:ext cx="21760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Pk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7352348" y="2109788"/>
              <a:ext cx="629602" cy="186690"/>
            </a:xfrm>
            <a:prstGeom prst="roundRect">
              <a:avLst>
                <a:gd name="adj" fmla="val 2040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368988" y="2146935"/>
              <a:ext cx="5972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(i, i, m)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522018" y="2527935"/>
              <a:ext cx="662940" cy="186690"/>
            </a:xfrm>
            <a:prstGeom prst="roundRect">
              <a:avLst>
                <a:gd name="adj" fmla="val 2040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537181" y="2565082"/>
              <a:ext cx="6326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(i, m, k)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974205" y="2931795"/>
              <a:ext cx="1403032" cy="186690"/>
            </a:xfrm>
            <a:prstGeom prst="roundRect">
              <a:avLst>
                <a:gd name="adj" fmla="val 2040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966690" y="2968943"/>
              <a:ext cx="14171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(i, k, i)：回到发起者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928352" y="2481739"/>
              <a:ext cx="1589786" cy="687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箭头 Pa → Pb 表示 Pa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在等 Pb 占有的资源，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探测信令沿箭头传递</a:t>
              </a:r>
            </a:p>
          </p:txBody>
        </p:sp>
      </p:grpSp>
      <p:grpSp>
        <p:nvGrpSpPr>
          <p:cNvPr id="55" name="c2-steps-2"/>
          <p:cNvGrpSpPr/>
          <p:nvPr/>
        </p:nvGrpSpPr>
        <p:grpSpPr>
          <a:xfrm>
            <a:off x="5815965" y="3914775"/>
            <a:ext cx="5578729" cy="2112930"/>
            <a:chOff x="5815965" y="3914775"/>
            <a:chExt cx="5578729" cy="2112930"/>
          </a:xfrm>
        </p:grpSpPr>
        <p:sp>
          <p:nvSpPr>
            <p:cNvPr id="42" name="Rectangle 42"/>
            <p:cNvSpPr/>
            <p:nvPr/>
          </p:nvSpPr>
          <p:spPr>
            <a:xfrm>
              <a:off x="5949315" y="4057650"/>
              <a:ext cx="19050" cy="15363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5815965" y="391477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909589" y="39885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5815965" y="456533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909589" y="46391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5815965" y="545115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909589" y="552497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227445" y="3949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发起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228588" y="4242911"/>
              <a:ext cx="42415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Pi 因等待 Pm 占有的资源而阻塞，向 Pm 发出 (i, i, m)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227445" y="4599622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转发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228588" y="4893469"/>
              <a:ext cx="516610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收到信令的进程若也在等待，就把第 2、3 项改成自己和它所等的进程，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项保持 i 不变，继续发送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227445" y="5485448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判环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228588" y="5778341"/>
              <a:ext cx="48534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信令又被 Pi 收到，即 (i, k, j) 中 j = i，说明等待关系首尾相接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23120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操作系统原理 试题解析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799118" cy="909257"/>
            <a:chOff x="520446" y="342900"/>
            <a:chExt cx="97991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试题解析 · 单项选择题（30 题）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7991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单选 29：无状态服务的每个请求自带全部信息，服务器不记状态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4977765" cy="4769168"/>
            <a:chOff x="533400" y="1524000"/>
            <a:chExt cx="4977765" cy="476916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4769168"/>
            </a:xfrm>
            <a:prstGeom prst="roundRect">
              <a:avLst>
                <a:gd name="adj" fmla="val 279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37235" y="1727835"/>
              <a:ext cx="702945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21399" y="1763554"/>
              <a:ext cx="5346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单选 29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29996" y="2100739"/>
              <a:ext cx="43426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分布式操作系统的文件系统中，对于文件访问的无状态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服务有如下论述：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29996" y="2692241"/>
              <a:ext cx="35080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Ⅰ. API 界面中不包含文件打开和关闭命令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29996" y="3012281"/>
              <a:ext cx="423443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Ⅱ. 服务器端在内存文件控制表中应保持远程文件访问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的控制信息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29996" y="3603784"/>
              <a:ext cx="360324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Ⅲ. 每个文件读/写命令必须是自包含的（self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contained）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29996" y="4195286"/>
              <a:ext cx="182653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Ⅳ. 打开文件数有限制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29996" y="4515326"/>
              <a:ext cx="427050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其中正确的论述是　A. Ⅰ和Ⅲ　B. Ⅰ和Ⅳ　C. Ⅱ和Ⅲ　D.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Ⅱ和Ⅳ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9996" y="5106829"/>
              <a:ext cx="296260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答案 A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。Ⅱ、Ⅳ 说的是有状态服务。</a:t>
              </a:r>
            </a:p>
          </p:txBody>
        </p:sp>
      </p:grpSp>
      <p:grpSp>
        <p:nvGrpSpPr>
          <p:cNvPr id="46" name="c2-table-1"/>
          <p:cNvGrpSpPr/>
          <p:nvPr/>
        </p:nvGrpSpPr>
        <p:grpSpPr>
          <a:xfrm>
            <a:off x="5815965" y="1524000"/>
            <a:ext cx="5842635" cy="3827145"/>
            <a:chOff x="5815965" y="1524000"/>
            <a:chExt cx="5842635" cy="3827145"/>
          </a:xfrm>
        </p:grpSpPr>
        <p:sp>
          <p:nvSpPr>
            <p:cNvPr id="18" name="Rectangle 18"/>
            <p:cNvSpPr/>
            <p:nvPr/>
          </p:nvSpPr>
          <p:spPr>
            <a:xfrm>
              <a:off x="5815965" y="1524000"/>
              <a:ext cx="5842635" cy="46863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98285" y="1658779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对比项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105458" y="1658779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有状态服务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150475" y="1658779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无状态服务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920168" y="2128361"/>
              <a:ext cx="145719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服务器保存访问信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息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72768" y="2128361"/>
              <a:ext cx="163753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保存（内存中的打开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文件表）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717786" y="2255044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不保存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815965" y="271081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815965" y="2715578"/>
              <a:ext cx="5842635" cy="72199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920168" y="2850356"/>
              <a:ext cx="1321943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open、close 命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72768" y="2977039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717786" y="297703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815965" y="343281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920168" y="3699034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每个读写请求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672768" y="3572351"/>
              <a:ext cx="163753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带上打开时得到的文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件标识即可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717786" y="3572351"/>
              <a:ext cx="163753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自带文件名、读写位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置等全部信息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815965" y="415575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815965" y="4160520"/>
              <a:ext cx="5842635" cy="4686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920168" y="4295299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打开文件数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72768" y="4295299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受表长限制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717786" y="429529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不受限制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815965" y="462438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920168" y="4890611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服务器崩溃后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72768" y="4763929"/>
              <a:ext cx="163753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表中状态丢失，要重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717786" y="4890611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重启后照常处理请求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815965" y="1524000"/>
              <a:ext cx="5842635" cy="38271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7563802" y="1524000"/>
              <a:ext cx="9525" cy="38271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9608820" y="1524000"/>
              <a:ext cx="9525" cy="38271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3" name="c2-callout-2"/>
          <p:cNvGrpSpPr/>
          <p:nvPr/>
        </p:nvGrpSpPr>
        <p:grpSpPr>
          <a:xfrm>
            <a:off x="5815965" y="5536882"/>
            <a:ext cx="5842635" cy="756285"/>
            <a:chOff x="5815965" y="5536882"/>
            <a:chExt cx="5842635" cy="756285"/>
          </a:xfrm>
        </p:grpSpPr>
        <p:sp>
          <p:nvSpPr>
            <p:cNvPr id="47" name="Rectangle 47"/>
            <p:cNvSpPr/>
            <p:nvPr/>
          </p:nvSpPr>
          <p:spPr>
            <a:xfrm>
              <a:off x="5815965" y="5536882"/>
              <a:ext cx="5842635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6020753" y="5815013"/>
              <a:ext cx="200026" cy="200025"/>
              <a:chOff x="6020753" y="5815013"/>
              <a:chExt cx="200026" cy="200025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6020753" y="581501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6060491" y="585946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6095207" y="597058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6323076" y="5684044"/>
              <a:ext cx="4901692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记法：无状态就是服务器“什么都不记”，所以命令要自包含，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也谈不上打开文件表的长度限制。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23120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操作系统原理 试题解析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221175" cy="909257"/>
            <a:chOff x="520446" y="342900"/>
            <a:chExt cx="922117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试题解析 · 单项选择题（30 题）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22117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单选 30：一次性口令，主机用 f(Pi) 核对上一次收到的口令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544378" cy="3202305"/>
            <a:chOff x="533400" y="1524000"/>
            <a:chExt cx="4544378" cy="32023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544378" cy="3202305"/>
            </a:xfrm>
            <a:prstGeom prst="roundRect">
              <a:avLst>
                <a:gd name="adj" fmla="val 416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702945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27114" y="1769269"/>
              <a:ext cx="5346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单选 30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5330" y="2110740"/>
              <a:ext cx="3949065" cy="1436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假设用户远程登录采用一次性口令。设单向函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数为 y = f(x)，用户初次选定口令为 S，S 使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用次数为 n。用户第 i 次登录时传送给主机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Pi，主机验证用户登录口令要计算 f(Pi)，实际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上与 f(Pi) 相等的是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formula22"/>
                <p:cNvSpPr txBox="1">
                  <a:spLocks noGrp="1"/>
                </p:cNvSpPr>
                <p:nvPr/>
              </p:nvSpPr>
              <p:spPr>
                <a:xfrm>
                  <a:off x="742950" y="3564255"/>
                  <a:ext cx="4125278" cy="41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l"/>
                  <a14:m>
                    <m:oMathPara xmlns:a="http://schemas.openxmlformats.org/drawingml/2006/main"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A.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sSup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p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</m:t>
                            </m:r>
                          </m:e>
                        </m:d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B.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sSup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p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23"/>
                <p:cNvSpPr txBox="1">
                  <a:spLocks noGrp="1"/>
                </p:cNvSpPr>
                <p:nvPr/>
              </p:nvSpPr>
              <p:spPr>
                <a:xfrm>
                  <a:off x="742950" y="4078605"/>
                  <a:ext cx="4125278" cy="41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l"/>
                  <a14:m>
                    <m:oMathPara xmlns:a="http://schemas.openxmlformats.org/drawingml/2006/main"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C.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sSup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p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</m:t>
                            </m:r>
                          </m:e>
                        </m:d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D.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sSup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p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19" name="c1-callout-2"/>
          <p:cNvGrpSpPr/>
          <p:nvPr/>
        </p:nvGrpSpPr>
        <p:grpSpPr>
          <a:xfrm>
            <a:off x="533400" y="4916805"/>
            <a:ext cx="4544378" cy="979170"/>
            <a:chOff x="533400" y="4916805"/>
            <a:chExt cx="4544378" cy="979170"/>
          </a:xfrm>
        </p:grpSpPr>
        <p:sp>
          <p:nvSpPr>
            <p:cNvPr id="14" name="Rectangle 14"/>
            <p:cNvSpPr/>
            <p:nvPr/>
          </p:nvSpPr>
          <p:spPr>
            <a:xfrm>
              <a:off x="533400" y="4916805"/>
              <a:ext cx="4544378" cy="979170"/>
            </a:xfrm>
            <a:prstGeom prst="roundRect">
              <a:avLst>
                <a:gd name="adj" fmla="val 11673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738188" y="5306378"/>
              <a:ext cx="200026" cy="200026"/>
              <a:chOff x="738188" y="5306378"/>
              <a:chExt cx="200026" cy="200026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738188" y="530637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04863" y="538416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040130" y="5301615"/>
              <a:ext cx="6004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答案 D</a:t>
              </a:r>
            </a:p>
          </p:txBody>
        </p:sp>
      </p:grpSp>
      <p:grpSp>
        <p:nvGrpSpPr>
          <p:cNvPr id="51" name="c2-table-1"/>
          <p:cNvGrpSpPr/>
          <p:nvPr/>
        </p:nvGrpSpPr>
        <p:grpSpPr>
          <a:xfrm>
            <a:off x="5382578" y="1524000"/>
            <a:ext cx="6276022" cy="2244090"/>
            <a:chOff x="5382578" y="1524000"/>
            <a:chExt cx="6276022" cy="2244090"/>
          </a:xfrm>
        </p:grpSpPr>
        <p:sp>
          <p:nvSpPr>
            <p:cNvPr id="20" name="Rectangle 20"/>
            <p:cNvSpPr/>
            <p:nvPr/>
          </p:nvSpPr>
          <p:spPr>
            <a:xfrm>
              <a:off x="5382578" y="1524000"/>
              <a:ext cx="6276022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70575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时机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765544" y="165973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客户端发送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413458" y="165973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主机计算并比较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232733" y="165973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之后口令文件存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490401" y="210835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初始化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148942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969169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156899" y="2108359"/>
              <a:ext cx="13708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P0 = fⁿ⁺¹(S)，n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82578" y="241649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382578" y="2421255"/>
              <a:ext cx="627602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490401" y="2556986"/>
              <a:ext cx="5656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次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749288" y="2556986"/>
              <a:ext cx="9070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 = fⁿ(S)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125727" y="2556986"/>
              <a:ext cx="17946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f(P1) = fⁿ⁺¹(S) = P0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455684" y="2556986"/>
              <a:ext cx="7732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P1，n − 1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82578" y="286607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490401" y="3005614"/>
              <a:ext cx="5656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 次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650939" y="3005614"/>
              <a:ext cx="11037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 = fⁿ⁻¹(S)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223718" y="3005614"/>
              <a:ext cx="15986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f(P2) = fⁿ(S) = P1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455684" y="3005614"/>
              <a:ext cx="7732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P2，n − 2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82578" y="331470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382578" y="3319462"/>
              <a:ext cx="627602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490401" y="3454241"/>
              <a:ext cx="5204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i 次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580591" y="3454241"/>
              <a:ext cx="12444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Pi = fⁿ⁻ⁱ⁺¹(S)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8027670" y="3328988"/>
              <a:ext cx="1988820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258831" y="3454241"/>
              <a:ext cx="15284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f(Pi) = fⁿ⁻ⁱ⁺²(S)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760525" y="3454241"/>
              <a:ext cx="1635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Pi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382578" y="1524000"/>
              <a:ext cx="6276022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381750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8013382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10022205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0" name="c2-card-2"/>
          <p:cNvGrpSpPr/>
          <p:nvPr/>
        </p:nvGrpSpPr>
        <p:grpSpPr>
          <a:xfrm>
            <a:off x="5382578" y="3958590"/>
            <a:ext cx="6276022" cy="1937385"/>
            <a:chOff x="5382578" y="3958590"/>
            <a:chExt cx="6276022" cy="1937385"/>
          </a:xfrm>
        </p:grpSpPr>
        <p:sp>
          <p:nvSpPr>
            <p:cNvPr id="52" name="Rectangle 52"/>
            <p:cNvSpPr/>
            <p:nvPr/>
          </p:nvSpPr>
          <p:spPr>
            <a:xfrm>
              <a:off x="5382578" y="3958590"/>
              <a:ext cx="6276022" cy="1937385"/>
            </a:xfrm>
            <a:prstGeom prst="roundRect">
              <a:avLst>
                <a:gd name="adj" fmla="val 68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5392102" y="4091940"/>
              <a:ext cx="47625" cy="167068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5630228" y="4168140"/>
              <a:ext cx="2549842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658838" y="4203859"/>
              <a:ext cx="24916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一次性口令（one time password）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5635942" y="460819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794058" y="4545330"/>
              <a:ext cx="54159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基于单向函数 y = f(x)：给定 x 容易算出 y，给定 y 在计算上不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可能求出 x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5635942" y="522922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794058" y="5166360"/>
              <a:ext cx="53206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用户每次输入的都是 s，客户端算出本次口令再发送；截获的口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令已用过，主机又无法由它倒推下一次的口令，因此能抗截取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23120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操作系统原理 试题解析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246114" cy="3351847"/>
            <a:chOff x="667512" y="1835468"/>
            <a:chExt cx="6246114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20505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 · 综合题（一）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1363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调度、死锁与分配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2362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二、进程调度　三、死锁静态分析　四、伙伴堆　五、成组链接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9184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可抢占 SJF 的甘特图与平均时间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状态图找环，判断能否同时到达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0850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free_area 与块组位图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超级块分配一个磁盘块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3120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操作系统原理 试题解析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112556" cy="909257"/>
            <a:chOff x="520446" y="342900"/>
            <a:chExt cx="91125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4503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4524" y="407194"/>
              <a:ext cx="20027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试题解析 · 调度、死锁与分配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1125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二、进程调度（10 分）：到达即比较剩余时间，画出甘特图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7" name="c1-card-1"/>
          <p:cNvGrpSpPr/>
          <p:nvPr/>
        </p:nvGrpSpPr>
        <p:grpSpPr>
          <a:xfrm>
            <a:off x="533400" y="1524000"/>
            <a:ext cx="4760595" cy="4700588"/>
            <a:chOff x="533400" y="1524000"/>
            <a:chExt cx="4760595" cy="470058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4700588"/>
            </a:xfrm>
            <a:prstGeom prst="roundRect">
              <a:avLst>
                <a:gd name="adj" fmla="val 283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372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274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题目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29996" y="2100739"/>
              <a:ext cx="402704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已知四个进程到达就绪队列的时间和 CPU 阵发时间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如下（单位：毫秒）：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37235" y="2668905"/>
              <a:ext cx="4352925" cy="43053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93482" y="280035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进程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432113" y="28003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到达时间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984688" y="28003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阵发时间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256454" y="3229927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710777" y="3229927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263352" y="3229927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37235" y="3524250"/>
              <a:ext cx="435292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7235" y="3529012"/>
              <a:ext cx="435292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256454" y="3660457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710777" y="3660457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263352" y="3660457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37235" y="3954780"/>
              <a:ext cx="435292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256454" y="4090988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710777" y="409098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263352" y="409098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37235" y="4384358"/>
              <a:ext cx="435292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37235" y="4389120"/>
              <a:ext cx="435292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256454" y="452056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666352" y="452056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263352" y="452056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737235" y="2668905"/>
              <a:ext cx="4352925" cy="21507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1980248" y="2668905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3532822" y="2668905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29996" y="4935379"/>
              <a:ext cx="401802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(1) 画出按可抢占短作业优先 CPU 调度算法得到的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调度结果甘特图；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29996" y="5526881"/>
              <a:ext cx="415328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(2) 计算四个进程的平均等待时间、平均周转时间、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平均带权周转时间。</a:t>
              </a:r>
            </a:p>
          </p:txBody>
        </p:sp>
      </p:grpSp>
      <p:grpSp>
        <p:nvGrpSpPr>
          <p:cNvPr id="57" name="c2-graph-1"/>
          <p:cNvGrpSpPr/>
          <p:nvPr/>
        </p:nvGrpSpPr>
        <p:grpSpPr>
          <a:xfrm>
            <a:off x="5794505" y="1604962"/>
            <a:ext cx="5710801" cy="815817"/>
            <a:chOff x="5794505" y="1604962"/>
            <a:chExt cx="5710801" cy="815817"/>
          </a:xfrm>
        </p:grpSpPr>
        <p:sp>
          <p:nvSpPr>
            <p:cNvPr id="38" name="Rectangle 38"/>
            <p:cNvSpPr/>
            <p:nvPr/>
          </p:nvSpPr>
          <p:spPr>
            <a:xfrm>
              <a:off x="5870258" y="1604962"/>
              <a:ext cx="387668" cy="406718"/>
            </a:xfrm>
            <a:prstGeom prst="roundRect">
              <a:avLst>
                <a:gd name="adj" fmla="val 24570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326505" y="1604962"/>
              <a:ext cx="813435" cy="406718"/>
            </a:xfrm>
            <a:prstGeom prst="roundRect">
              <a:avLst>
                <a:gd name="adj" fmla="val 23419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7223760" y="1604962"/>
              <a:ext cx="1025842" cy="406718"/>
            </a:xfrm>
            <a:prstGeom prst="roundRect">
              <a:avLst>
                <a:gd name="adj" fmla="val 23419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8322945" y="1604962"/>
              <a:ext cx="387668" cy="406718"/>
            </a:xfrm>
            <a:prstGeom prst="roundRect">
              <a:avLst>
                <a:gd name="adj" fmla="val 24570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784908" y="1604962"/>
              <a:ext cx="1025842" cy="406718"/>
            </a:xfrm>
            <a:prstGeom prst="roundRect">
              <a:avLst>
                <a:gd name="adj" fmla="val 23419"/>
              </a:avLst>
            </a:prstGeom>
            <a:solidFill>
              <a:srgbClr val="0E7C86"/>
            </a:solidFill>
            <a:ln w="17145">
              <a:solidFill>
                <a:srgbClr val="0E7C86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9910762" y="1604962"/>
              <a:ext cx="1450658" cy="406718"/>
            </a:xfrm>
            <a:prstGeom prst="roundRect">
              <a:avLst>
                <a:gd name="adj" fmla="val 23419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959899" y="1733550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628554" y="1733550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32489" y="1733550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412587" y="1733550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P3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193637" y="1733550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P4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530947" y="1733550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P3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794505" y="220075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240275" y="220075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132767" y="220075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205729" y="220075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651499" y="220075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766877" y="220075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328024" y="220075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  <p:grpSp>
        <p:nvGrpSpPr>
          <p:cNvPr id="95" name="c2-table-2"/>
          <p:cNvGrpSpPr/>
          <p:nvPr/>
        </p:nvGrpSpPr>
        <p:grpSpPr>
          <a:xfrm>
            <a:off x="5598795" y="2596515"/>
            <a:ext cx="6059805" cy="3441382"/>
            <a:chOff x="5598795" y="2596515"/>
            <a:chExt cx="6059805" cy="3441382"/>
          </a:xfrm>
        </p:grpSpPr>
        <p:sp>
          <p:nvSpPr>
            <p:cNvPr id="58" name="Rectangle 58"/>
            <p:cNvSpPr/>
            <p:nvPr/>
          </p:nvSpPr>
          <p:spPr>
            <a:xfrm>
              <a:off x="5598795" y="2596515"/>
              <a:ext cx="6059805" cy="43053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825490" y="27279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时刻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097774" y="27279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事件与比较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975658" y="27279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5940388" y="315753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491859" y="3157538"/>
              <a:ext cx="9485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 P1 到达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043323" y="3157538"/>
              <a:ext cx="199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5598795" y="345186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5598795" y="3456622"/>
              <a:ext cx="605980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5940388" y="358806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491859" y="3588068"/>
              <a:ext cx="22099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 到达：4 &lt; P1 剩余 5，抢占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043323" y="3588068"/>
              <a:ext cx="199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5598795" y="388239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5940388" y="401764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491859" y="4017645"/>
              <a:ext cx="23714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P3 到达：9 &gt; P2 剩余 2，不抢占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043323" y="4017645"/>
              <a:ext cx="199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5598795" y="431196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5598795" y="4316730"/>
              <a:ext cx="605980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5940388" y="444817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491859" y="4448175"/>
              <a:ext cx="21770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 完成：P1 剩余 5 &lt; P3 的 9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043323" y="4448175"/>
              <a:ext cx="199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5598795" y="474249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5893742" y="487870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6491859" y="4878705"/>
              <a:ext cx="12978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 完成，只剩 P3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1043323" y="4878705"/>
              <a:ext cx="199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P3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5598795" y="517207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4" name="Rectangle 84"/>
            <p:cNvSpPr/>
            <p:nvPr/>
          </p:nvSpPr>
          <p:spPr>
            <a:xfrm>
              <a:off x="5598795" y="5176838"/>
              <a:ext cx="605980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5893742" y="530828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6491859" y="5308282"/>
              <a:ext cx="22099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P4 到达：5 &lt; P3 剩余 7，抢占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1043323" y="5308282"/>
              <a:ext cx="199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P4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5598795" y="560260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5893742" y="573881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6491859" y="5738812"/>
              <a:ext cx="1685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P4 完成，P3 运行到 25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1043323" y="5738812"/>
              <a:ext cx="199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P3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5598795" y="2596515"/>
              <a:ext cx="6059805" cy="344138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93" name="Rectangle 93"/>
            <p:cNvSpPr/>
            <p:nvPr/>
          </p:nvSpPr>
          <p:spPr>
            <a:xfrm>
              <a:off x="6381750" y="2596515"/>
              <a:ext cx="9525" cy="34413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4" name="Rectangle 94"/>
            <p:cNvSpPr/>
            <p:nvPr/>
          </p:nvSpPr>
          <p:spPr>
            <a:xfrm>
              <a:off x="10624185" y="2596515"/>
              <a:ext cx="9525" cy="34413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9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6" name="TextBox 96"/>
            <p:cNvSpPr txBox="1"/>
            <p:nvPr/>
          </p:nvSpPr>
          <p:spPr>
            <a:xfrm>
              <a:off x="528447" y="6581299"/>
              <a:ext cx="23120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操作系统原理 试题解析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776335" cy="909257"/>
            <a:chOff x="520446" y="342900"/>
            <a:chExt cx="777633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4503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4524" y="407194"/>
              <a:ext cx="20027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试题解析 · 调度、死锁与分配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77633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二、解（2）：列表算出等待、周转和带权周转时间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6" name="c1-table-1"/>
          <p:cNvGrpSpPr/>
          <p:nvPr/>
        </p:nvGrpSpPr>
        <p:grpSpPr>
          <a:xfrm>
            <a:off x="528066" y="1524000"/>
            <a:ext cx="6065139" cy="2308479"/>
            <a:chOff x="528066" y="1524000"/>
            <a:chExt cx="6065139" cy="2308479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0576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89343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进程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14208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到达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439073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263938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完成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089756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周转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914621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等待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730634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带权周转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8117" y="2054066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723520" y="205406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548385" y="205406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331787" y="205406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157604" y="205406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023932" y="205406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866331" y="205406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11/7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233076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33400" y="2335530"/>
              <a:ext cx="605980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48117" y="2459831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723520" y="245983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548385" y="245983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373250" y="245983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199067" y="245983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023932" y="245983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990720" y="245983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273653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48117" y="2865596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723520" y="286559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548385" y="286559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331787" y="286559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157604" y="286559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982469" y="286559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866331" y="286559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21/9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314229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533400" y="3147060"/>
              <a:ext cx="605980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48117" y="3271361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P4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682057" y="327136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548385" y="32713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331787" y="327136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199067" y="32713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023932" y="32713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990720" y="32713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33400" y="1524000"/>
              <a:ext cx="6059805" cy="20288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1353502" y="1524000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2178368" y="1524000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3003232" y="1524000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3829050" y="1524000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4653915" y="1524000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5478780" y="1524000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28066" y="3627120"/>
              <a:ext cx="40957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周转 = 完成 − 到达；等待 = 周转 − 运行；带权周转 = 周转 ÷ 运行</a:t>
              </a:r>
            </a:p>
          </p:txBody>
        </p:sp>
      </p:grpSp>
      <p:grpSp>
        <p:nvGrpSpPr>
          <p:cNvPr id="70" name="c1-steps-2"/>
          <p:cNvGrpSpPr/>
          <p:nvPr/>
        </p:nvGrpSpPr>
        <p:grpSpPr>
          <a:xfrm>
            <a:off x="533400" y="3975735"/>
            <a:ext cx="4382643" cy="1693069"/>
            <a:chOff x="533400" y="3975735"/>
            <a:chExt cx="4382643" cy="1693069"/>
          </a:xfrm>
        </p:grpSpPr>
        <p:sp>
          <p:nvSpPr>
            <p:cNvPr id="57" name="Rectangle 57"/>
            <p:cNvSpPr/>
            <p:nvPr/>
          </p:nvSpPr>
          <p:spPr>
            <a:xfrm>
              <a:off x="666750" y="4118610"/>
              <a:ext cx="19050" cy="1173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Ellipse 58"/>
            <p:cNvSpPr/>
            <p:nvPr/>
          </p:nvSpPr>
          <p:spPr>
            <a:xfrm>
              <a:off x="533400" y="397573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27024" y="404955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533400" y="456247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27024" y="46362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533400" y="515016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27024" y="522398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45642" y="400812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平均等待时间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46785" y="4275296"/>
              <a:ext cx="18659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(4 + 0 + 12 + 0) ÷ 4 = 4 ms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45642" y="459486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平均周转时间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46785" y="4862036"/>
              <a:ext cx="2876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(11 + 4 + 21 + 5) ÷ 4 = 41 ÷ 4 = 10.25 ms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45642" y="518160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平均带权周转时间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46785" y="5448776"/>
              <a:ext cx="39692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(11/7 + 1 + 21/9 + 1) ÷ 4 = (372/63) ÷ 4 = 31/21 ≈ 1.48</a:t>
              </a:r>
            </a:p>
          </p:txBody>
        </p:sp>
      </p:grpSp>
      <p:grpSp>
        <p:nvGrpSpPr>
          <p:cNvPr id="78" name="c2-card-1"/>
          <p:cNvGrpSpPr/>
          <p:nvPr/>
        </p:nvGrpSpPr>
        <p:grpSpPr>
          <a:xfrm>
            <a:off x="6898005" y="1524000"/>
            <a:ext cx="4760595" cy="2229802"/>
            <a:chOff x="6898005" y="1524000"/>
            <a:chExt cx="4760595" cy="2229802"/>
          </a:xfrm>
        </p:grpSpPr>
        <p:sp>
          <p:nvSpPr>
            <p:cNvPr id="71" name="Rectangle 71"/>
            <p:cNvSpPr/>
            <p:nvPr/>
          </p:nvSpPr>
          <p:spPr>
            <a:xfrm>
              <a:off x="6898005" y="1524000"/>
              <a:ext cx="4760595" cy="2229802"/>
            </a:xfrm>
            <a:prstGeom prst="roundRect">
              <a:avLst>
                <a:gd name="adj" fmla="val 598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2" name="Rectangle 72"/>
            <p:cNvSpPr/>
            <p:nvPr/>
          </p:nvSpPr>
          <p:spPr>
            <a:xfrm>
              <a:off x="6907530" y="1657350"/>
              <a:ext cx="47625" cy="1963102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7128510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7219950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公式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5" name="formula32"/>
                <p:cNvSpPr txBox="1">
                  <a:spLocks noGrp="1"/>
                </p:cNvSpPr>
                <p:nvPr/>
              </p:nvSpPr>
              <p:spPr>
                <a:xfrm>
                  <a:off x="7128510" y="2050732"/>
                  <a:ext cx="4337685" cy="5143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T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sSub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W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num>
                          <m:den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R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6" name="formula33"/>
                <p:cNvSpPr txBox="1">
                  <a:spLocks noGrp="1"/>
                </p:cNvSpPr>
                <p:nvPr/>
              </p:nvSpPr>
              <p:spPr>
                <a:xfrm>
                  <a:off x="7128510" y="2651760"/>
                  <a:ext cx="4337685" cy="6286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bar>
                          <m:barPr>
                            <m:pos m:val="top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barPr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e>
                        </m:ba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den>
                        </m:f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</m:e>
                        </m:nary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bar>
                          <m:barPr>
                            <m:pos m:val="top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barPr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W</m:t>
                            </m:r>
                          </m:e>
                        </m:ba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den>
                        </m:f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f>
                              <m:fPr>
                                <m:type m:val="bar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sSub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T</m:t>
                                    </m:r>
                                  </m:e>
                                  <m:sub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</m:den>
                            </m:f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77" name="TextBox 77"/>
            <p:cNvSpPr txBox="1"/>
            <p:nvPr/>
          </p:nvSpPr>
          <p:spPr>
            <a:xfrm>
              <a:off x="7122795" y="3385661"/>
              <a:ext cx="29964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t_f 完成时间，t_s 进入时间，R 运行时间。</a:t>
              </a:r>
            </a:p>
          </p:txBody>
        </p:sp>
      </p:grpSp>
      <p:grpSp>
        <p:nvGrpSpPr>
          <p:cNvPr id="84" name="c2-card-2"/>
          <p:cNvGrpSpPr/>
          <p:nvPr/>
        </p:nvGrpSpPr>
        <p:grpSpPr>
          <a:xfrm>
            <a:off x="6898005" y="3929062"/>
            <a:ext cx="4760595" cy="1466850"/>
            <a:chOff x="6898005" y="3929062"/>
            <a:chExt cx="4760595" cy="1466850"/>
          </a:xfrm>
        </p:grpSpPr>
        <p:sp>
          <p:nvSpPr>
            <p:cNvPr id="79" name="Rectangle 79"/>
            <p:cNvSpPr/>
            <p:nvPr/>
          </p:nvSpPr>
          <p:spPr>
            <a:xfrm>
              <a:off x="6898005" y="3929062"/>
              <a:ext cx="4760595" cy="146685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0" name="Rectangle 80"/>
            <p:cNvSpPr/>
            <p:nvPr/>
          </p:nvSpPr>
          <p:spPr>
            <a:xfrm>
              <a:off x="6907530" y="4062412"/>
              <a:ext cx="47625" cy="120015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7128510" y="4121468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7219950" y="415575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7121652" y="4477702"/>
              <a:ext cx="380276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原课件最后一步写作“372/63×4≈1.475ms”。应为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372/63 ÷ 4 = 31/21 ≈ 1.476；带权周转时间是比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值，没有 ms 单位。</a:t>
              </a:r>
            </a:p>
          </p:txBody>
        </p:sp>
      </p:grpSp>
      <p:grpSp>
        <p:nvGrpSpPr>
          <p:cNvPr id="91" name="c2-callout-3"/>
          <p:cNvGrpSpPr/>
          <p:nvPr/>
        </p:nvGrpSpPr>
        <p:grpSpPr>
          <a:xfrm>
            <a:off x="6898005" y="5570220"/>
            <a:ext cx="4760595" cy="729615"/>
            <a:chOff x="6898005" y="5570220"/>
            <a:chExt cx="4760595" cy="729615"/>
          </a:xfrm>
        </p:grpSpPr>
        <p:sp>
          <p:nvSpPr>
            <p:cNvPr id="85" name="Rectangle 85"/>
            <p:cNvSpPr/>
            <p:nvPr/>
          </p:nvSpPr>
          <p:spPr>
            <a:xfrm>
              <a:off x="6898005" y="5570220"/>
              <a:ext cx="4760595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89" name="Group 89"/>
            <p:cNvGrpSpPr/>
            <p:nvPr/>
          </p:nvGrpSpPr>
          <p:grpSpPr>
            <a:xfrm>
              <a:off x="7102793" y="5835015"/>
              <a:ext cx="200026" cy="200025"/>
              <a:chOff x="7102793" y="5835015"/>
              <a:chExt cx="200026" cy="200025"/>
            </a:xfrm>
          </p:grpSpPr>
          <p:sp>
            <p:nvSpPr>
              <p:cNvPr id="86" name="Freeform 86"/>
              <p:cNvSpPr/>
              <p:nvPr/>
            </p:nvSpPr>
            <p:spPr>
              <a:xfrm>
                <a:off x="7102793" y="583501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7" name="Freeform 87"/>
              <p:cNvSpPr/>
              <p:nvPr/>
            </p:nvSpPr>
            <p:spPr>
              <a:xfrm>
                <a:off x="7142531" y="587946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8" name="Freeform 88"/>
              <p:cNvSpPr/>
              <p:nvPr/>
            </p:nvSpPr>
            <p:spPr>
              <a:xfrm>
                <a:off x="7177247" y="599059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90" name="TextBox 90"/>
            <p:cNvSpPr txBox="1"/>
            <p:nvPr/>
          </p:nvSpPr>
          <p:spPr>
            <a:xfrm>
              <a:off x="7405497" y="5716905"/>
              <a:ext cx="386276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自查：P3 在 4～11 和 13～18 两段共等待 12 ms，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与表中一致。</a:t>
              </a:r>
            </a:p>
          </p:txBody>
        </p:sp>
      </p:grpSp>
      <p:grpSp>
        <p:nvGrpSpPr>
          <p:cNvPr id="9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2" name="TextBox 92"/>
            <p:cNvSpPr txBox="1"/>
            <p:nvPr/>
          </p:nvSpPr>
          <p:spPr>
            <a:xfrm>
              <a:off x="528447" y="6581299"/>
              <a:ext cx="23120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操作系统原理 试题解析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799118" cy="909257"/>
            <a:chOff x="520446" y="342900"/>
            <a:chExt cx="97991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4503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4524" y="407194"/>
              <a:ext cx="20027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试题解析 · 调度、死锁与分配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7991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三、死锁静态分析（10 分）：已知活动序列，判断有无死锁可能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410200" cy="3185160"/>
            <a:chOff x="533400" y="1524000"/>
            <a:chExt cx="5410200" cy="318516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3185160"/>
            </a:xfrm>
            <a:prstGeom prst="roundRect">
              <a:avLst>
                <a:gd name="adj" fmla="val 418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5805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7245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题目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8947" y="2072640"/>
              <a:ext cx="480574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设有 7 个简单资源 A～G，申请命令分别为 a～g，释放命令这里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写作 −a～−g（原题在字母上加横线）。三个进程有关资源的活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动序列为：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25805" y="2867978"/>
              <a:ext cx="5025390" cy="1072515"/>
            </a:xfrm>
            <a:prstGeom prst="roundRect">
              <a:avLst>
                <a:gd name="adj" fmla="val 888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54202" y="301990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文本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53821" y="3281362"/>
              <a:ext cx="2724341" cy="5844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P1: a  b  -a  -b  e  f  g  -e  -f  -g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P2: b  c  -b  -c  d  a  -d  -a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P3: c  d  -c  -d  g  f  e  -e  -f  -g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18947" y="4049077"/>
              <a:ext cx="479717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分析 P1、P2、P3 并发执行时，是否有发生死锁的可能性，并说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明原因。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4884420"/>
            <a:ext cx="5410200" cy="1473518"/>
            <a:chOff x="533400" y="4884420"/>
            <a:chExt cx="5410200" cy="1473518"/>
          </a:xfrm>
        </p:grpSpPr>
        <p:sp>
          <p:nvSpPr>
            <p:cNvPr id="16" name="Rectangle 16"/>
            <p:cNvSpPr/>
            <p:nvPr/>
          </p:nvSpPr>
          <p:spPr>
            <a:xfrm>
              <a:off x="533400" y="4884420"/>
              <a:ext cx="5410200" cy="1473518"/>
            </a:xfrm>
            <a:prstGeom prst="roundRect">
              <a:avLst>
                <a:gd name="adj" fmla="val 90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5017770"/>
              <a:ext cx="47625" cy="1206818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63905" y="507682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55345" y="511111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死锁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7047" y="5433060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一组进程中的每一个进程，均无限期地等待此组进程中某个其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他进程占有的、因而永远无法得到的资源。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8190" y="5988844"/>
              <a:ext cx="3780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发生条件：资源独占、不可掠夺、保持申请、循环等待。</a:t>
              </a:r>
            </a:p>
          </p:txBody>
        </p:sp>
      </p:grpSp>
      <p:grpSp>
        <p:nvGrpSpPr>
          <p:cNvPr id="44" name="c2-steps-1"/>
          <p:cNvGrpSpPr/>
          <p:nvPr/>
        </p:nvGrpSpPr>
        <p:grpSpPr>
          <a:xfrm>
            <a:off x="6248400" y="1533525"/>
            <a:ext cx="5309906" cy="3281838"/>
            <a:chOff x="6248400" y="1533525"/>
            <a:chExt cx="5309906" cy="3281838"/>
          </a:xfrm>
        </p:grpSpPr>
        <p:sp>
          <p:nvSpPr>
            <p:cNvPr id="23" name="Rectangle 23"/>
            <p:cNvSpPr/>
            <p:nvPr/>
          </p:nvSpPr>
          <p:spPr>
            <a:xfrm>
              <a:off x="6381750" y="1676400"/>
              <a:ext cx="19050" cy="25546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6248400" y="153352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42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6248400" y="212026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42024" y="21940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6248400" y="270700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42024" y="27808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248400" y="350139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42024" y="35752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248400" y="408813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42024" y="41619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660642" y="1564957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列状态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661785" y="1833086"/>
              <a:ext cx="48965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进程每次“占着资源又申请一个资源”记为一个状态（进程 : 请求 : 占有）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60642" y="215265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画节点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661785" y="241982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每个状态作为一个节点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660642" y="273939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连弧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61785" y="3006566"/>
              <a:ext cx="477647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s1 申请的资源被 s2 占有，就由 s1 向 s2 画有向弧；同一进程的状态之间不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60642" y="353282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找环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661785" y="380095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找出所有环路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60642" y="4120515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判可达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661785" y="4387691"/>
              <a:ext cx="456311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环上状态能同时到达则有死锁可能。环中有相同进程或相同的被占有资源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时，一定不能同时到达</a:t>
              </a:r>
            </a:p>
          </p:txBody>
        </p:sp>
      </p:grpSp>
      <p:grpSp>
        <p:nvGrpSpPr>
          <p:cNvPr id="51" name="c2-callout-2"/>
          <p:cNvGrpSpPr/>
          <p:nvPr/>
        </p:nvGrpSpPr>
        <p:grpSpPr>
          <a:xfrm>
            <a:off x="6248400" y="4983480"/>
            <a:ext cx="5410200" cy="1373505"/>
            <a:chOff x="6248400" y="4983480"/>
            <a:chExt cx="5410200" cy="1373505"/>
          </a:xfrm>
        </p:grpSpPr>
        <p:sp>
          <p:nvSpPr>
            <p:cNvPr id="45" name="Rectangle 45"/>
            <p:cNvSpPr/>
            <p:nvPr/>
          </p:nvSpPr>
          <p:spPr>
            <a:xfrm>
              <a:off x="6248400" y="4983480"/>
              <a:ext cx="5410200" cy="1373505"/>
            </a:xfrm>
            <a:prstGeom prst="roundRect">
              <a:avLst>
                <a:gd name="adj" fmla="val 832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6453188" y="5570220"/>
              <a:ext cx="200026" cy="200026"/>
              <a:chOff x="6453188" y="5570220"/>
              <a:chExt cx="200026" cy="200026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6453188" y="557022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553200" y="563689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542088" y="567023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6755892" y="5452110"/>
              <a:ext cx="431711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例：P1 占 a 再申请 b，记为 (P1 : b : a)；P2 释放 b、c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后空手申请 d，不构成状态。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23120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操作系统原理 试题解析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534128" cy="909257"/>
            <a:chOff x="520446" y="342900"/>
            <a:chExt cx="85341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4503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4524" y="407194"/>
              <a:ext cx="20027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试题解析 · 调度、死锁与分配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5341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三、解（1）：列出 8 个状态，画出申请与占有的状态图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table-1"/>
          <p:cNvGrpSpPr/>
          <p:nvPr/>
        </p:nvGrpSpPr>
        <p:grpSpPr>
          <a:xfrm>
            <a:off x="528066" y="1524000"/>
            <a:ext cx="3901059" cy="2302764"/>
            <a:chOff x="528066" y="1524000"/>
            <a:chExt cx="3901059" cy="2302764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895725" cy="40576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6483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进程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929188" y="1648301"/>
              <a:ext cx="18832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状态（进程 : 请求 : 占有）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3412" y="2154079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12558" y="2054066"/>
              <a:ext cx="1746758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(P1 : b : a)、(P1 : f : e)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(P1 : g : e,f)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530792"/>
              <a:ext cx="389572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535555"/>
              <a:ext cx="389572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3412" y="2659856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12558" y="2659856"/>
              <a:ext cx="18827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(P2 : c : b)、(P2 : a : d)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936558"/>
              <a:ext cx="389572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3412" y="3165634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12558" y="3065621"/>
              <a:ext cx="1746758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(P3 : d : c)、(P3 : f : g)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(P3 : e : f,g)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1524000"/>
              <a:ext cx="3895725" cy="202311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1307782" y="1524000"/>
              <a:ext cx="9525" cy="20231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28066" y="3621405"/>
              <a:ext cx="33606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申请 a、b 等第一个资源时还没占有资源，不构成状态</a:t>
              </a:r>
            </a:p>
          </p:txBody>
        </p:sp>
      </p:grpSp>
      <p:grpSp>
        <p:nvGrpSpPr>
          <p:cNvPr id="32" name="c1-card-2"/>
          <p:cNvGrpSpPr/>
          <p:nvPr/>
        </p:nvGrpSpPr>
        <p:grpSpPr>
          <a:xfrm>
            <a:off x="533400" y="3960495"/>
            <a:ext cx="3895725" cy="2032635"/>
            <a:chOff x="533400" y="3960495"/>
            <a:chExt cx="3895725" cy="2032635"/>
          </a:xfrm>
        </p:grpSpPr>
        <p:sp>
          <p:nvSpPr>
            <p:cNvPr id="23" name="Rectangle 23"/>
            <p:cNvSpPr/>
            <p:nvPr/>
          </p:nvSpPr>
          <p:spPr>
            <a:xfrm>
              <a:off x="533400" y="3960495"/>
              <a:ext cx="3895725" cy="2032635"/>
            </a:xfrm>
            <a:prstGeom prst="roundRect">
              <a:avLst>
                <a:gd name="adj" fmla="val 656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42925" y="4093845"/>
              <a:ext cx="47625" cy="176593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63905" y="415290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47344" y="418719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连弧举例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772478" y="4566285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28497" y="4510088"/>
              <a:ext cx="306552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(P1 : b : a) 要 b，b 被 (P2 : c : b) 占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着，画一条弧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772478" y="5125402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28497" y="5069205"/>
              <a:ext cx="306552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(P1 : g : e,f) 要 g，占着 g 的有 (P3 :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 : g) 和 (P3 : e : f,g)，画两条弧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8190" y="5624989"/>
              <a:ext cx="3479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红色为可能死锁的环路，灰色为不可能出现的环路。</a:t>
              </a:r>
            </a:p>
          </p:txBody>
        </p:sp>
      </p:grpSp>
      <p:grpSp>
        <p:nvGrpSpPr>
          <p:cNvPr id="77" name="c2-graph-1"/>
          <p:cNvGrpSpPr/>
          <p:nvPr/>
        </p:nvGrpSpPr>
        <p:grpSpPr>
          <a:xfrm>
            <a:off x="5189220" y="1867852"/>
            <a:ext cx="6014084" cy="4384834"/>
            <a:chOff x="5189220" y="1867852"/>
            <a:chExt cx="6014084" cy="4384834"/>
          </a:xfrm>
        </p:grpSpPr>
        <p:sp>
          <p:nvSpPr>
            <p:cNvPr id="33" name="Freeform 33"/>
            <p:cNvSpPr/>
            <p:nvPr/>
          </p:nvSpPr>
          <p:spPr>
            <a:xfrm>
              <a:off x="6209348" y="2007870"/>
              <a:ext cx="1384935" cy="9525"/>
            </a:xfrm>
            <a:custGeom>
              <a:avLst/>
              <a:gdLst/>
              <a:ahLst/>
              <a:cxnLst/>
              <a:rect l="l" t="t" r="r" b="b"/>
              <a:pathLst>
                <a:path w="1384935" h="9525">
                  <a:moveTo>
                    <a:pt x="0" y="0"/>
                  </a:moveTo>
                  <a:lnTo>
                    <a:pt x="1384935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7594282" y="196024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8702040" y="2007870"/>
              <a:ext cx="1385887" cy="9525"/>
            </a:xfrm>
            <a:custGeom>
              <a:avLst/>
              <a:gdLst/>
              <a:ahLst/>
              <a:cxnLst/>
              <a:rect l="l" t="t" r="r" b="b"/>
              <a:pathLst>
                <a:path w="1385887" h="9525">
                  <a:moveTo>
                    <a:pt x="0" y="0"/>
                  </a:moveTo>
                  <a:lnTo>
                    <a:pt x="1385887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10087928" y="196024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8582978" y="2147888"/>
              <a:ext cx="1805940" cy="841058"/>
            </a:xfrm>
            <a:custGeom>
              <a:avLst/>
              <a:gdLst/>
              <a:ahLst/>
              <a:cxnLst/>
              <a:rect l="l" t="t" r="r" b="b"/>
              <a:pathLst>
                <a:path w="1805940" h="841058">
                  <a:moveTo>
                    <a:pt x="1805940" y="0"/>
                  </a:moveTo>
                  <a:lnTo>
                    <a:pt x="0" y="841058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8496300" y="2946082"/>
              <a:ext cx="106680" cy="85725"/>
            </a:xfrm>
            <a:custGeom>
              <a:avLst/>
              <a:gdLst/>
              <a:ahLst/>
              <a:cxnLst/>
              <a:rect l="l" t="t" r="r" b="b"/>
              <a:pathLst>
                <a:path w="106680" h="85725">
                  <a:moveTo>
                    <a:pt x="0" y="82867"/>
                  </a:moveTo>
                  <a:lnTo>
                    <a:pt x="66675" y="0"/>
                  </a:lnTo>
                  <a:lnTo>
                    <a:pt x="106680" y="8572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6090285" y="2187892"/>
              <a:ext cx="1804988" cy="841058"/>
            </a:xfrm>
            <a:custGeom>
              <a:avLst/>
              <a:gdLst/>
              <a:ahLst/>
              <a:cxnLst/>
              <a:rect l="l" t="t" r="r" b="b"/>
              <a:pathLst>
                <a:path w="1804988" h="841058">
                  <a:moveTo>
                    <a:pt x="1804988" y="841058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6003608" y="2145030"/>
              <a:ext cx="106680" cy="86678"/>
            </a:xfrm>
            <a:custGeom>
              <a:avLst/>
              <a:gdLst/>
              <a:ahLst/>
              <a:cxnLst/>
              <a:rect l="l" t="t" r="r" b="b"/>
              <a:pathLst>
                <a:path w="106680" h="86678">
                  <a:moveTo>
                    <a:pt x="0" y="2858"/>
                  </a:moveTo>
                  <a:lnTo>
                    <a:pt x="106680" y="0"/>
                  </a:lnTo>
                  <a:lnTo>
                    <a:pt x="66675" y="86678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6278880" y="4528185"/>
              <a:ext cx="3664268" cy="267335"/>
            </a:xfrm>
            <a:custGeom>
              <a:avLst/>
              <a:gdLst/>
              <a:ahLst/>
              <a:cxnLst/>
              <a:rect l="l" t="t" r="r" b="b"/>
              <a:pathLst>
                <a:path w="3664268" h="267335">
                  <a:moveTo>
                    <a:pt x="0" y="0"/>
                  </a:moveTo>
                  <a:cubicBezTo>
                    <a:pt x="1278255" y="255905"/>
                    <a:pt x="2499677" y="267335"/>
                    <a:pt x="3664268" y="34290"/>
                  </a:cubicBez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9933622" y="4515802"/>
              <a:ext cx="102870" cy="93345"/>
            </a:xfrm>
            <a:custGeom>
              <a:avLst/>
              <a:gdLst/>
              <a:ahLst/>
              <a:cxnLst/>
              <a:rect l="l" t="t" r="r" b="b"/>
              <a:pathLst>
                <a:path w="102870" h="93345">
                  <a:moveTo>
                    <a:pt x="102870" y="27622"/>
                  </a:moveTo>
                  <a:lnTo>
                    <a:pt x="19050" y="93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6372225" y="4064000"/>
              <a:ext cx="3664268" cy="247015"/>
            </a:xfrm>
            <a:custGeom>
              <a:avLst/>
              <a:gdLst/>
              <a:ahLst/>
              <a:cxnLst/>
              <a:rect l="l" t="t" r="r" b="b"/>
              <a:pathLst>
                <a:path w="3664268" h="247015">
                  <a:moveTo>
                    <a:pt x="3664268" y="247015"/>
                  </a:moveTo>
                  <a:cubicBezTo>
                    <a:pt x="2437448" y="1270"/>
                    <a:pt x="1216025" y="0"/>
                    <a:pt x="0" y="243205"/>
                  </a:cubicBez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6278880" y="4260532"/>
              <a:ext cx="102870" cy="93345"/>
            </a:xfrm>
            <a:custGeom>
              <a:avLst/>
              <a:gdLst/>
              <a:ahLst/>
              <a:cxnLst/>
              <a:rect l="l" t="t" r="r" b="b"/>
              <a:pathLst>
                <a:path w="102870" h="93345">
                  <a:moveTo>
                    <a:pt x="0" y="65722"/>
                  </a:moveTo>
                  <a:lnTo>
                    <a:pt x="83820" y="0"/>
                  </a:lnTo>
                  <a:lnTo>
                    <a:pt x="102870" y="93345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6356032" y="5981700"/>
              <a:ext cx="3663315" cy="216852"/>
            </a:xfrm>
            <a:custGeom>
              <a:avLst/>
              <a:gdLst/>
              <a:ahLst/>
              <a:cxnLst/>
              <a:rect l="l" t="t" r="r" b="b"/>
              <a:pathLst>
                <a:path w="3663315" h="216852">
                  <a:moveTo>
                    <a:pt x="0" y="0"/>
                  </a:moveTo>
                  <a:cubicBezTo>
                    <a:pt x="1226820" y="215900"/>
                    <a:pt x="2447925" y="216852"/>
                    <a:pt x="3663315" y="2857"/>
                  </a:cubicBez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10011728" y="5937885"/>
              <a:ext cx="101918" cy="93345"/>
            </a:xfrm>
            <a:custGeom>
              <a:avLst/>
              <a:gdLst/>
              <a:ahLst/>
              <a:cxnLst/>
              <a:rect l="l" t="t" r="r" b="b"/>
              <a:pathLst>
                <a:path w="101918" h="93345">
                  <a:moveTo>
                    <a:pt x="101918" y="30480"/>
                  </a:moveTo>
                  <a:lnTo>
                    <a:pt x="16193" y="93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47" name="Freeform 47"/>
            <p:cNvSpPr/>
            <p:nvPr/>
          </p:nvSpPr>
          <p:spPr>
            <a:xfrm>
              <a:off x="6449378" y="5510530"/>
              <a:ext cx="3664267" cy="267335"/>
            </a:xfrm>
            <a:custGeom>
              <a:avLst/>
              <a:gdLst/>
              <a:ahLst/>
              <a:cxnLst/>
              <a:rect l="l" t="t" r="r" b="b"/>
              <a:pathLst>
                <a:path w="3664267" h="267335">
                  <a:moveTo>
                    <a:pt x="3664267" y="267335"/>
                  </a:moveTo>
                  <a:cubicBezTo>
                    <a:pt x="2386012" y="11430"/>
                    <a:pt x="1164590" y="0"/>
                    <a:pt x="0" y="233045"/>
                  </a:cubicBez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6356032" y="5696902"/>
              <a:ext cx="101918" cy="93345"/>
            </a:xfrm>
            <a:custGeom>
              <a:avLst/>
              <a:gdLst/>
              <a:ahLst/>
              <a:cxnLst/>
              <a:rect l="l" t="t" r="r" b="b"/>
              <a:pathLst>
                <a:path w="101918" h="93345">
                  <a:moveTo>
                    <a:pt x="0" y="65722"/>
                  </a:moveTo>
                  <a:lnTo>
                    <a:pt x="83820" y="0"/>
                  </a:lnTo>
                  <a:lnTo>
                    <a:pt x="101918" y="93345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49" name="Freeform 49"/>
            <p:cNvSpPr/>
            <p:nvPr/>
          </p:nvSpPr>
          <p:spPr>
            <a:xfrm>
              <a:off x="6356032" y="4603432"/>
              <a:ext cx="3835718" cy="1162050"/>
            </a:xfrm>
            <a:custGeom>
              <a:avLst/>
              <a:gdLst/>
              <a:ahLst/>
              <a:cxnLst/>
              <a:rect l="l" t="t" r="r" b="b"/>
              <a:pathLst>
                <a:path w="3835718" h="1162050">
                  <a:moveTo>
                    <a:pt x="0" y="1162050"/>
                  </a:moveTo>
                  <a:cubicBezTo>
                    <a:pt x="1275080" y="915035"/>
                    <a:pt x="2553653" y="527685"/>
                    <a:pt x="3835718" y="0"/>
                  </a:cubicBez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10173652" y="4559618"/>
              <a:ext cx="105728" cy="87630"/>
            </a:xfrm>
            <a:custGeom>
              <a:avLst/>
              <a:gdLst/>
              <a:ahLst/>
              <a:cxnLst/>
              <a:rect l="l" t="t" r="r" b="b"/>
              <a:pathLst>
                <a:path w="105728" h="87630">
                  <a:moveTo>
                    <a:pt x="105728" y="7620"/>
                  </a:moveTo>
                  <a:lnTo>
                    <a:pt x="36195" y="876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1" name="Freeform 51"/>
            <p:cNvSpPr/>
            <p:nvPr/>
          </p:nvSpPr>
          <p:spPr>
            <a:xfrm>
              <a:off x="6200775" y="4540568"/>
              <a:ext cx="3835718" cy="1162050"/>
            </a:xfrm>
            <a:custGeom>
              <a:avLst/>
              <a:gdLst/>
              <a:ahLst/>
              <a:cxnLst/>
              <a:rect l="l" t="t" r="r" b="b"/>
              <a:pathLst>
                <a:path w="3835718" h="1162050">
                  <a:moveTo>
                    <a:pt x="3835718" y="0"/>
                  </a:moveTo>
                  <a:cubicBezTo>
                    <a:pt x="2560638" y="247015"/>
                    <a:pt x="1282065" y="634365"/>
                    <a:pt x="0" y="1162050"/>
                  </a:cubicBez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6112192" y="5658802"/>
              <a:ext cx="106680" cy="87630"/>
            </a:xfrm>
            <a:custGeom>
              <a:avLst/>
              <a:gdLst/>
              <a:ahLst/>
              <a:cxnLst/>
              <a:rect l="l" t="t" r="r" b="b"/>
              <a:pathLst>
                <a:path w="106680" h="87630">
                  <a:moveTo>
                    <a:pt x="0" y="80010"/>
                  </a:moveTo>
                  <a:lnTo>
                    <a:pt x="70485" y="0"/>
                  </a:lnTo>
                  <a:lnTo>
                    <a:pt x="106680" y="8763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5196840" y="1867852"/>
              <a:ext cx="1012508" cy="280035"/>
            </a:xfrm>
            <a:prstGeom prst="roundRect">
              <a:avLst>
                <a:gd name="adj" fmla="val 34014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7689532" y="1867852"/>
              <a:ext cx="1012508" cy="280035"/>
            </a:xfrm>
            <a:prstGeom prst="roundRect">
              <a:avLst>
                <a:gd name="adj" fmla="val 34014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10183178" y="1867852"/>
              <a:ext cx="1012508" cy="280035"/>
            </a:xfrm>
            <a:prstGeom prst="roundRect">
              <a:avLst>
                <a:gd name="adj" fmla="val 34014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7689532" y="3028950"/>
              <a:ext cx="1012508" cy="280035"/>
            </a:xfrm>
            <a:prstGeom prst="roundRect">
              <a:avLst>
                <a:gd name="adj" fmla="val 34014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5266372" y="4287202"/>
              <a:ext cx="1012508" cy="280035"/>
            </a:xfrm>
            <a:prstGeom prst="roundRect">
              <a:avLst>
                <a:gd name="adj" fmla="val 34014"/>
              </a:avLst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5189220" y="5738812"/>
              <a:ext cx="1166812" cy="280035"/>
            </a:xfrm>
            <a:prstGeom prst="roundRect">
              <a:avLst>
                <a:gd name="adj" fmla="val 34014"/>
              </a:avLst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10036492" y="4287202"/>
              <a:ext cx="1166812" cy="280035"/>
            </a:xfrm>
            <a:prstGeom prst="roundRect">
              <a:avLst>
                <a:gd name="adj" fmla="val 34014"/>
              </a:avLst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10113645" y="5738812"/>
              <a:ext cx="1012508" cy="280035"/>
            </a:xfrm>
            <a:prstGeom prst="roundRect">
              <a:avLst>
                <a:gd name="adj" fmla="val 34014"/>
              </a:avLst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5273871" y="1942148"/>
              <a:ext cx="8574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(P1 : b : a)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767516" y="1942148"/>
              <a:ext cx="8574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(P2 : c : b)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260208" y="1942148"/>
              <a:ext cx="8574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(P3 : d : c)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767516" y="3104198"/>
              <a:ext cx="8574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(P2 : a : d)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5343403" y="4361498"/>
              <a:ext cx="8574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(P1 : f : e)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5262578" y="5813108"/>
              <a:ext cx="10191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(P1 : g : e,f)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109850" y="4361498"/>
              <a:ext cx="10191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(P3 : e : f,g)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0190676" y="5813108"/>
              <a:ext cx="8574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(P3 : f : g)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9256395" y="1929765"/>
              <a:ext cx="37338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9280067" y="1958816"/>
              <a:ext cx="32413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环路 1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7990522" y="4645342"/>
              <a:ext cx="37338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8015147" y="4674394"/>
              <a:ext cx="32413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环路 4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8028622" y="6061710"/>
              <a:ext cx="37338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8053247" y="6090761"/>
              <a:ext cx="32413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环路 2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8106728" y="5202555"/>
              <a:ext cx="37338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8131352" y="5231606"/>
              <a:ext cx="32413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环路 3</a:t>
              </a:r>
            </a:p>
          </p:txBody>
        </p:sp>
      </p:grpSp>
      <p:grpSp>
        <p:nvGrpSpPr>
          <p:cNvPr id="8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8" name="TextBox 78"/>
            <p:cNvSpPr txBox="1"/>
            <p:nvPr/>
          </p:nvSpPr>
          <p:spPr>
            <a:xfrm>
              <a:off x="528447" y="6581299"/>
              <a:ext cx="23120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操作系统原理 试题解析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948639" cy="909257"/>
            <a:chOff x="520446" y="342900"/>
            <a:chExt cx="894863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4503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4524" y="407194"/>
              <a:ext cx="20027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试题解析 · 调度、死锁与分配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94863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三、解（2）：逐个判断环路，环路 2 和环路 4 有死锁可能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table-1"/>
          <p:cNvGrpSpPr/>
          <p:nvPr/>
        </p:nvGrpSpPr>
        <p:grpSpPr>
          <a:xfrm>
            <a:off x="533400" y="1524000"/>
            <a:ext cx="5842635" cy="3150870"/>
            <a:chOff x="533400" y="1524000"/>
            <a:chExt cx="5842635" cy="315087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323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环路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023999" y="165973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环上的状态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79516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223" y="2221706"/>
              <a:ext cx="5113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环路 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459420" y="2108359"/>
              <a:ext cx="141097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P1:b:a、P2:c:b、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P3:d:c、P2:a:d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679698" y="2108359"/>
              <a:ext cx="246761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有两个 P2 的状态，P2 不能同时处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在两处，</a:t>
              </a: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不会死锁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64318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647950"/>
              <a:ext cx="584263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223" y="2897029"/>
              <a:ext cx="5113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环路 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59420" y="2897029"/>
              <a:ext cx="16386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P1:g:e,f 与 P3:f:g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679698" y="2783681"/>
              <a:ext cx="238633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占有资源 {e,f} 与 {g} 不重叠，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能同时到达，</a:t>
              </a:r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有死锁可能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31946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3572351"/>
              <a:ext cx="5113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环路 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459420" y="3572351"/>
              <a:ext cx="18279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P1:g:e,f 与 P3:e:f,g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679698" y="3459004"/>
              <a:ext cx="240258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两个状态都占有 F，F 只有一个，</a:t>
              </a:r>
              <a:br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不会死锁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99478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999548"/>
              <a:ext cx="584263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1223" y="4247674"/>
              <a:ext cx="5113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环路 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459420" y="4247674"/>
              <a:ext cx="16386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P1:f:e 与 P3:e:f,g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679698" y="4134326"/>
              <a:ext cx="238633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占有资源 {e} 与 {f,g} 不重叠，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能同时到达，</a:t>
              </a:r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有死锁可能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1524000"/>
              <a:ext cx="5842635" cy="315087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1346835" y="1524000"/>
              <a:ext cx="9525" cy="31508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3567112" y="1524000"/>
              <a:ext cx="9525" cy="31508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7" name="c1-callout-2"/>
          <p:cNvGrpSpPr/>
          <p:nvPr/>
        </p:nvGrpSpPr>
        <p:grpSpPr>
          <a:xfrm>
            <a:off x="533400" y="4865370"/>
            <a:ext cx="5842635" cy="782955"/>
            <a:chOff x="533400" y="4865370"/>
            <a:chExt cx="5842635" cy="782955"/>
          </a:xfrm>
        </p:grpSpPr>
        <p:sp>
          <p:nvSpPr>
            <p:cNvPr id="32" name="Rectangle 32"/>
            <p:cNvSpPr/>
            <p:nvPr/>
          </p:nvSpPr>
          <p:spPr>
            <a:xfrm>
              <a:off x="533400" y="4865370"/>
              <a:ext cx="5842635" cy="782955"/>
            </a:xfrm>
            <a:prstGeom prst="roundRect">
              <a:avLst>
                <a:gd name="adj" fmla="val 14599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738188" y="5156837"/>
              <a:ext cx="200023" cy="200023"/>
              <a:chOff x="738188" y="5156837"/>
              <a:chExt cx="200023" cy="200023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738188" y="515683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71538" y="522351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040130" y="5013960"/>
              <a:ext cx="49396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结论：三个进程并发执行时有发生死锁的可能（环路 2、环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路 4）</a:t>
              </a:r>
            </a:p>
          </p:txBody>
        </p:sp>
      </p:grpSp>
      <p:grpSp>
        <p:nvGrpSpPr>
          <p:cNvPr id="41" name="c2-code-1"/>
          <p:cNvGrpSpPr/>
          <p:nvPr/>
        </p:nvGrpSpPr>
        <p:grpSpPr>
          <a:xfrm>
            <a:off x="6680835" y="1524000"/>
            <a:ext cx="4977765" cy="907732"/>
            <a:chOff x="6680835" y="1524000"/>
            <a:chExt cx="4977765" cy="907732"/>
          </a:xfrm>
        </p:grpSpPr>
        <p:sp>
          <p:nvSpPr>
            <p:cNvPr id="38" name="Rectangle 38"/>
            <p:cNvSpPr/>
            <p:nvPr/>
          </p:nvSpPr>
          <p:spPr>
            <a:xfrm>
              <a:off x="6680835" y="1524000"/>
              <a:ext cx="4977765" cy="907732"/>
            </a:xfrm>
            <a:prstGeom prst="roundRect">
              <a:avLst>
                <a:gd name="adj" fmla="val 1049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809232" y="1675924"/>
              <a:ext cx="19746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环路 2：两个进程同时走到竖线处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808470" y="1937861"/>
              <a:ext cx="2358390" cy="4229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P1: a b -a -b e f | g -e -f -g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P3: c d -c -d g | f e -e -f -g</a:t>
              </a:r>
            </a:p>
          </p:txBody>
        </p:sp>
      </p:grpSp>
      <p:grpSp>
        <p:nvGrpSpPr>
          <p:cNvPr id="43" name="c2-text-2"/>
          <p:cNvGrpSpPr/>
          <p:nvPr/>
        </p:nvGrpSpPr>
        <p:grpSpPr>
          <a:xfrm>
            <a:off x="6674358" y="2643664"/>
            <a:ext cx="3137357" cy="249364"/>
            <a:chOff x="6674358" y="2643664"/>
            <a:chExt cx="3137357" cy="249364"/>
          </a:xfrm>
        </p:grpSpPr>
        <p:sp>
          <p:nvSpPr>
            <p:cNvPr id="42" name="TextBox 42"/>
            <p:cNvSpPr txBox="1"/>
            <p:nvPr/>
          </p:nvSpPr>
          <p:spPr>
            <a:xfrm>
              <a:off x="6674358" y="2643664"/>
              <a:ext cx="31373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 占 E、F，申请 G；P3 占 G，申请 F。</a:t>
              </a:r>
            </a:p>
          </p:txBody>
        </p:sp>
      </p:grpSp>
      <p:grpSp>
        <p:nvGrpSpPr>
          <p:cNvPr id="47" name="c2-code-3"/>
          <p:cNvGrpSpPr/>
          <p:nvPr/>
        </p:nvGrpSpPr>
        <p:grpSpPr>
          <a:xfrm>
            <a:off x="6680835" y="3032760"/>
            <a:ext cx="4977765" cy="907732"/>
            <a:chOff x="6680835" y="3032760"/>
            <a:chExt cx="4977765" cy="907732"/>
          </a:xfrm>
        </p:grpSpPr>
        <p:sp>
          <p:nvSpPr>
            <p:cNvPr id="44" name="Rectangle 44"/>
            <p:cNvSpPr/>
            <p:nvPr/>
          </p:nvSpPr>
          <p:spPr>
            <a:xfrm>
              <a:off x="6680835" y="3032760"/>
              <a:ext cx="4977765" cy="907732"/>
            </a:xfrm>
            <a:prstGeom prst="roundRect">
              <a:avLst>
                <a:gd name="adj" fmla="val 1049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809232" y="3184684"/>
              <a:ext cx="19746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环路 4：两个进程同时走到竖线处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808470" y="3447574"/>
              <a:ext cx="2358390" cy="4229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P1: a b -a -b e | f g -e -f -g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P3: c d -c -d g f | e -e -f -g</a:t>
              </a:r>
            </a:p>
          </p:txBody>
        </p:sp>
      </p:grpSp>
      <p:grpSp>
        <p:nvGrpSpPr>
          <p:cNvPr id="49" name="c2-text-4"/>
          <p:cNvGrpSpPr/>
          <p:nvPr/>
        </p:nvGrpSpPr>
        <p:grpSpPr>
          <a:xfrm>
            <a:off x="6674358" y="4152424"/>
            <a:ext cx="3137357" cy="249364"/>
            <a:chOff x="6674358" y="4152424"/>
            <a:chExt cx="3137357" cy="249364"/>
          </a:xfrm>
        </p:grpSpPr>
        <p:sp>
          <p:nvSpPr>
            <p:cNvPr id="48" name="TextBox 48"/>
            <p:cNvSpPr txBox="1"/>
            <p:nvPr/>
          </p:nvSpPr>
          <p:spPr>
            <a:xfrm>
              <a:off x="6674358" y="4152424"/>
              <a:ext cx="31373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 占 E，申请 F；P3 占 G、F，申请 E。</a:t>
              </a:r>
            </a:p>
          </p:txBody>
        </p:sp>
      </p:grpSp>
      <p:grpSp>
        <p:nvGrpSpPr>
          <p:cNvPr id="56" name="c2-callout-5"/>
          <p:cNvGrpSpPr/>
          <p:nvPr/>
        </p:nvGrpSpPr>
        <p:grpSpPr>
          <a:xfrm>
            <a:off x="6680835" y="4541520"/>
            <a:ext cx="4977765" cy="1106805"/>
            <a:chOff x="6680835" y="4541520"/>
            <a:chExt cx="4977765" cy="1106805"/>
          </a:xfrm>
        </p:grpSpPr>
        <p:sp>
          <p:nvSpPr>
            <p:cNvPr id="50" name="Rectangle 50"/>
            <p:cNvSpPr/>
            <p:nvPr/>
          </p:nvSpPr>
          <p:spPr>
            <a:xfrm>
              <a:off x="6680835" y="4541520"/>
              <a:ext cx="4977765" cy="1106805"/>
            </a:xfrm>
            <a:prstGeom prst="roundRect">
              <a:avLst>
                <a:gd name="adj" fmla="val 10327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6885623" y="4994910"/>
              <a:ext cx="200026" cy="200026"/>
              <a:chOff x="6885623" y="4994910"/>
              <a:chExt cx="200026" cy="200026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6885623" y="499491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6985635" y="50615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6974523" y="509492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7187565" y="4852035"/>
              <a:ext cx="4015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用脚本穷举三个进程的全部交叉顺序，能卡死的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局面恰好就是这两种。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23120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操作系统原理 试题解析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709589" cy="909257"/>
            <a:chOff x="520446" y="342900"/>
            <a:chExt cx="670958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4503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4524" y="407194"/>
              <a:ext cx="20027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试题解析 · 调度、死锁与分配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70958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四、内存管理（10 分）：伙伴堆算法的题目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410200" cy="3357562"/>
            <a:chOff x="533400" y="1524000"/>
            <a:chExt cx="5410200" cy="335756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3357562"/>
            </a:xfrm>
            <a:prstGeom prst="roundRect">
              <a:avLst>
                <a:gd name="adj" fmla="val 3972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5805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7245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题目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8947" y="2072640"/>
              <a:ext cx="4762881" cy="15499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设某计算机主存有 16 个页框，内存分配和释放采用伙伴堆算法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（Buddy heap algorithm）。主存空闲区表的表项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free_area[i] 由“空闲块组 i 的位图指针”和“空闲块组 i 的指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针”组成；空闲块组链的结点结构包括前、后结点指针和本空闲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块组的首页框号 3 个数据域。当前主存映像如右图，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free_area 有块组 0～4。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8947" y="3661410"/>
              <a:ext cx="472859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(1) 根据主存映像图，写出 free_area 各表项的空闲块组链表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和块组位图的数据结构；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18947" y="4221480"/>
              <a:ext cx="482288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(2) 基于 (1)，设有长度为 3 页的内存申请，写出按伙伴堆算法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分配页框后的主存映像图和数据结构图。</a:t>
              </a:r>
            </a:p>
          </p:txBody>
        </p:sp>
      </p:grpSp>
      <p:grpSp>
        <p:nvGrpSpPr>
          <p:cNvPr id="41" name="c1-table-2"/>
          <p:cNvGrpSpPr/>
          <p:nvPr/>
        </p:nvGrpSpPr>
        <p:grpSpPr>
          <a:xfrm>
            <a:off x="533400" y="5056822"/>
            <a:ext cx="5410200" cy="1217295"/>
            <a:chOff x="533400" y="5056822"/>
            <a:chExt cx="5410200" cy="1217295"/>
          </a:xfrm>
        </p:grpSpPr>
        <p:sp>
          <p:nvSpPr>
            <p:cNvPr id="14" name="Rectangle 14"/>
            <p:cNvSpPr/>
            <p:nvPr/>
          </p:nvSpPr>
          <p:spPr>
            <a:xfrm>
              <a:off x="533400" y="5056822"/>
              <a:ext cx="5410200" cy="40576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92344" y="5181124"/>
              <a:ext cx="4079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块组 i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022436" y="51811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847301" y="51811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673119" y="51811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498936" y="51811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402859" y="51811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64451" y="558688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块大小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926506" y="5586889"/>
              <a:ext cx="290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页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751371" y="5586889"/>
              <a:ext cx="290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页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577189" y="5586889"/>
              <a:ext cx="290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页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403006" y="5586889"/>
              <a:ext cx="290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 页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265466" y="5586889"/>
              <a:ext cx="3732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 页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58635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5868352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89064" y="599265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位图位数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024510" y="599265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849375" y="599265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675192" y="599265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501010" y="599265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220233" y="599265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无伙伴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5056822"/>
              <a:ext cx="5410200" cy="12172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1653540" y="5056822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2479358" y="5056822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3305175" y="5056822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4130040" y="5056822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5858" y="5056822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1" name="c2-cells-1"/>
          <p:cNvGrpSpPr/>
          <p:nvPr/>
        </p:nvGrpSpPr>
        <p:grpSpPr>
          <a:xfrm>
            <a:off x="6242685" y="1524000"/>
            <a:ext cx="5415915" cy="1315879"/>
            <a:chOff x="6242685" y="1524000"/>
            <a:chExt cx="5415915" cy="1315879"/>
          </a:xfrm>
        </p:grpSpPr>
        <p:sp>
          <p:nvSpPr>
            <p:cNvPr id="42" name="TextBox 42"/>
            <p:cNvSpPr txBox="1"/>
            <p:nvPr/>
          </p:nvSpPr>
          <p:spPr>
            <a:xfrm>
              <a:off x="6242685" y="1644491"/>
              <a:ext cx="621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页框 0–7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7039928" y="1524000"/>
              <a:ext cx="577215" cy="381000"/>
            </a:xfrm>
            <a:prstGeom prst="rect">
              <a:avLst/>
            </a:prstGeom>
            <a:solidFill>
              <a:srgbClr val="0E7C86"/>
            </a:solidFill>
            <a:ln w="15240">
              <a:solidFill>
                <a:srgbClr val="0E7C86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172046" y="164449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占用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7617142" y="1524000"/>
              <a:ext cx="577215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0E7C86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8194358" y="1524000"/>
              <a:ext cx="577215" cy="381000"/>
            </a:xfrm>
            <a:prstGeom prst="rect">
              <a:avLst/>
            </a:prstGeom>
            <a:solidFill>
              <a:srgbClr val="0E7C86"/>
            </a:solidFill>
            <a:ln w="15240">
              <a:solidFill>
                <a:srgbClr val="0E7C86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326476" y="164449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占用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8771572" y="1524000"/>
              <a:ext cx="577215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0E7C86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9348788" y="1524000"/>
              <a:ext cx="577215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0E7C86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9926955" y="1524000"/>
              <a:ext cx="577215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0E7C86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10504170" y="1524000"/>
              <a:ext cx="577215" cy="381000"/>
            </a:xfrm>
            <a:prstGeom prst="rect">
              <a:avLst/>
            </a:prstGeom>
            <a:solidFill>
              <a:srgbClr val="0E7C86"/>
            </a:solidFill>
            <a:ln w="15240">
              <a:solidFill>
                <a:srgbClr val="0E7C86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0636288" y="164449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占用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11081385" y="1524000"/>
              <a:ext cx="577215" cy="381000"/>
            </a:xfrm>
            <a:prstGeom prst="rect">
              <a:avLst/>
            </a:prstGeom>
            <a:solidFill>
              <a:srgbClr val="0E7C86"/>
            </a:solidFill>
            <a:ln w="15240">
              <a:solidFill>
                <a:srgbClr val="0E7C86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1213503" y="164449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占用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293416" y="19588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870631" y="19588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447846" y="19588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025061" y="19588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602276" y="19588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180443" y="19588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757658" y="19588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334873" y="19588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242685" y="2362676"/>
              <a:ext cx="7087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页框 8–15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7039928" y="2242185"/>
              <a:ext cx="577215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0E7C86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7617142" y="2242185"/>
              <a:ext cx="577215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0E7C86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8194358" y="2242185"/>
              <a:ext cx="577215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0E7C86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8771572" y="2242185"/>
              <a:ext cx="577215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0E7C86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9348788" y="2242185"/>
              <a:ext cx="577215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0E7C86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9926955" y="2242185"/>
              <a:ext cx="577215" cy="381000"/>
            </a:xfrm>
            <a:prstGeom prst="rect">
              <a:avLst/>
            </a:prstGeom>
            <a:solidFill>
              <a:srgbClr val="0E7C86"/>
            </a:solidFill>
            <a:ln w="15240">
              <a:solidFill>
                <a:srgbClr val="0E7C86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10059073" y="236267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占用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10504170" y="2242185"/>
              <a:ext cx="577215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0E7C86"/>
              </a:solidFill>
            </a:ln>
          </p:spPr>
        </p:sp>
        <p:sp>
          <p:nvSpPr>
            <p:cNvPr id="72" name="Rectangle 72"/>
            <p:cNvSpPr/>
            <p:nvPr/>
          </p:nvSpPr>
          <p:spPr>
            <a:xfrm>
              <a:off x="11081385" y="2242185"/>
              <a:ext cx="577215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0E7C86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7293416" y="267795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870631" y="267795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417489" y="267795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8994704" y="267795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9571919" y="267795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0150086" y="267795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0727301" y="267795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1304516" y="267795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  <p:grpSp>
        <p:nvGrpSpPr>
          <p:cNvPr id="84" name="c2-image-2"/>
          <p:cNvGrpSpPr/>
          <p:nvPr/>
        </p:nvGrpSpPr>
        <p:grpSpPr>
          <a:xfrm>
            <a:off x="6665347" y="2979420"/>
            <a:ext cx="4576305" cy="3405759"/>
            <a:chOff x="6665347" y="2979420"/>
            <a:chExt cx="4576305" cy="3405759"/>
          </a:xfrm>
        </p:grpSpPr>
        <p:pic>
          <p:nvPicPr>
            <p:cNvPr id="82" name="Image 8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82765" y="2979420"/>
              <a:ext cx="4141470" cy="3106102"/>
            </a:xfrm>
            <a:prstGeom prst="roundRect">
              <a:avLst>
                <a:gd name="adj" fmla="val 4293"/>
              </a:avLst>
            </a:prstGeom>
          </p:spPr>
        </p:pic>
        <p:sp>
          <p:nvSpPr>
            <p:cNvPr id="83" name="TextBox 83"/>
            <p:cNvSpPr txBox="1"/>
            <p:nvPr/>
          </p:nvSpPr>
          <p:spPr>
            <a:xfrm>
              <a:off x="6665347" y="6179820"/>
              <a:ext cx="45763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一整块按 1/2、1/4、1/8、1/8 拆开；释放时相邻的等大“伙伴”再拼回去</a:t>
              </a:r>
            </a:p>
          </p:txBody>
        </p:sp>
      </p:grpSp>
      <p:grpSp>
        <p:nvGrpSpPr>
          <p:cNvPr id="8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5" name="TextBox 85"/>
            <p:cNvSpPr txBox="1"/>
            <p:nvPr/>
          </p:nvSpPr>
          <p:spPr>
            <a:xfrm>
              <a:off x="528447" y="6581299"/>
              <a:ext cx="23120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操作系统原理 试题解析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951214" cy="909257"/>
            <a:chOff x="520446" y="342900"/>
            <a:chExt cx="895121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4503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4524" y="407194"/>
              <a:ext cx="20027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试题解析 · 调度、死锁与分配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95121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伙伴堆的规则：块组、位图，以及分配时拆分、释放时合并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5410200" cy="2071688"/>
            <a:chOff x="533400" y="1524000"/>
            <a:chExt cx="5410200" cy="207168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071688"/>
            </a:xfrm>
            <a:prstGeom prst="roundRect">
              <a:avLst>
                <a:gd name="adj" fmla="val 643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804988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1344930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9411" y="1750695"/>
              <a:ext cx="12139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块组与 free_area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047" y="2072640"/>
              <a:ext cx="471144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Linux 用 DMA 方式输入输出，DMA 不做地址变换，进程在内存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中必须占连续页面，所以把连续的空闲页面成组管理。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72478" y="2688907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28497" y="2632710"/>
              <a:ext cx="448856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页框 4 KB；空闲页面分 10 个块组 i = 0～9，块组 i 每块 2ⁱ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个连续页框，同组的块链成链表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72478" y="3248977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28497" y="3192780"/>
              <a:ext cx="39119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free_area[i] = (空闲块组指针, 块组位图指针)</a:t>
              </a:r>
            </a:p>
          </p:txBody>
        </p:sp>
      </p:grpSp>
      <p:grpSp>
        <p:nvGrpSpPr>
          <p:cNvPr id="23" name="c1-card-2"/>
          <p:cNvGrpSpPr/>
          <p:nvPr/>
        </p:nvGrpSpPr>
        <p:grpSpPr>
          <a:xfrm>
            <a:off x="533400" y="3770948"/>
            <a:ext cx="5410200" cy="2349818"/>
            <a:chOff x="533400" y="3770948"/>
            <a:chExt cx="5410200" cy="2349818"/>
          </a:xfrm>
        </p:grpSpPr>
        <p:sp>
          <p:nvSpPr>
            <p:cNvPr id="17" name="Rectangle 17"/>
            <p:cNvSpPr/>
            <p:nvPr/>
          </p:nvSpPr>
          <p:spPr>
            <a:xfrm>
              <a:off x="533400" y="3770948"/>
              <a:ext cx="5410200" cy="2349818"/>
            </a:xfrm>
            <a:prstGeom prst="roundRect">
              <a:avLst>
                <a:gd name="adj" fmla="val 567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42925" y="3904298"/>
              <a:ext cx="47625" cy="2083118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63905" y="3963352"/>
              <a:ext cx="1409700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27341" y="3997643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块组位图与伙伴条件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7047" y="4319588"/>
              <a:ext cx="474573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块组 i 把全部页面（含占用的）每 2ⁱ 页划成一块，相邻两块结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成一对伙伴，每对占 1 位：一块空闲、另一块全部或部分占用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置 1；两块都空闲，或都被全部或部分占用置 0。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58190" y="5132546"/>
              <a:ext cx="470535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伙伴条件：大小相同（b 页）；地址相连；页框从 0 编号时，后一块最后页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框号 + 1 是 2b 的整数倍。</a:t>
              </a:r>
            </a:p>
          </p:txBody>
        </p:sp>
      </p:grpSp>
      <p:grpSp>
        <p:nvGrpSpPr>
          <p:cNvPr id="41" name="c2-steps-1"/>
          <p:cNvGrpSpPr/>
          <p:nvPr/>
        </p:nvGrpSpPr>
        <p:grpSpPr>
          <a:xfrm>
            <a:off x="6248400" y="1533525"/>
            <a:ext cx="5118735" cy="2695098"/>
            <a:chOff x="6248400" y="1533525"/>
            <a:chExt cx="5118735" cy="2695098"/>
          </a:xfrm>
        </p:grpSpPr>
        <p:sp>
          <p:nvSpPr>
            <p:cNvPr id="24" name="Rectangle 24"/>
            <p:cNvSpPr/>
            <p:nvPr/>
          </p:nvSpPr>
          <p:spPr>
            <a:xfrm>
              <a:off x="6381750" y="1676400"/>
              <a:ext cx="19050" cy="19678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6248400" y="153352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42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248400" y="212026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42024" y="21940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6248400" y="270700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42024" y="27808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6248400" y="350139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42024" y="35752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660642" y="1564957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定块组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661785" y="1833086"/>
              <a:ext cx="35395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申请 fn 页，取 2ⁱ⁻¹ &lt; fn ≤ 2ⁱ，以 2ⁱ 页为分配单位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660642" y="215265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取块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61785" y="2419826"/>
              <a:ext cx="43085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从块组 i 往上找第一个有空闲块的块组 j，取第一块，调整空闲链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660642" y="273939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拆分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661785" y="3006566"/>
              <a:ext cx="4620006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 &gt; i 时，剩下的 2ʲ − 2ⁱ 页按 2 的整数次幂挂入各组。例：要 128 页而第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7、8 组都空，取第 9 组一块拆两次，余下 128、256 页挂入第 7、8 组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60642" y="353282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释放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61785" y="3800951"/>
              <a:ext cx="470535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与空闲的伙伴逐级合并，得到的空闲块挂入对应块组；分配和释放都要改位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</a:t>
              </a:r>
            </a:p>
          </p:txBody>
        </p:sp>
      </p:grpSp>
      <p:grpSp>
        <p:nvGrpSpPr>
          <p:cNvPr id="47" name="c2-card-2"/>
          <p:cNvGrpSpPr/>
          <p:nvPr/>
        </p:nvGrpSpPr>
        <p:grpSpPr>
          <a:xfrm>
            <a:off x="6248400" y="4396740"/>
            <a:ext cx="5410200" cy="1724025"/>
            <a:chOff x="6248400" y="4396740"/>
            <a:chExt cx="5410200" cy="1724025"/>
          </a:xfrm>
        </p:grpSpPr>
        <p:sp>
          <p:nvSpPr>
            <p:cNvPr id="42" name="Rectangle 42"/>
            <p:cNvSpPr/>
            <p:nvPr/>
          </p:nvSpPr>
          <p:spPr>
            <a:xfrm>
              <a:off x="6248400" y="4396740"/>
              <a:ext cx="5410200" cy="1724025"/>
            </a:xfrm>
            <a:prstGeom prst="roundRect">
              <a:avLst>
                <a:gd name="adj" fmla="val 773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257925" y="4530090"/>
              <a:ext cx="47625" cy="145732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478905" y="4589145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562344" y="462343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内部碎片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472047" y="4946333"/>
              <a:ext cx="4642866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申请 17 页时 2⁴ &lt; 17 ≤ 2⁵，要分 32 页，浪费 15 页。多出部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分按 2 的整数次幂切成 slab，交给 second memory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allocator；进程物理空间不要求连续时，由 third memory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allocator 分配。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23120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操作系统原理 试题解析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433054" cy="909257"/>
            <a:chOff x="520446" y="342900"/>
            <a:chExt cx="743305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4503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4524" y="407194"/>
              <a:ext cx="20027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试题解析 · 调度、死锁与分配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43305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四、解（1）：先拆出空闲块，再逐对伙伴写位图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3" name="c1-table-1"/>
          <p:cNvGrpSpPr/>
          <p:nvPr/>
        </p:nvGrpSpPr>
        <p:grpSpPr>
          <a:xfrm>
            <a:off x="528447" y="1524000"/>
            <a:ext cx="5631371" cy="2897219"/>
            <a:chOff x="528447" y="1524000"/>
            <a:chExt cx="5631371" cy="2897219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439102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81893" y="1648778"/>
              <a:ext cx="4916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块组 i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63612" y="164877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块大小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667190" y="164877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空闲块链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664583" y="164877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块组位图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68400" y="2087880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68110" y="2087880"/>
              <a:ext cx="3499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页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261044" y="2087880"/>
              <a:ext cx="8315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↔ 3 ↔ 12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005072" y="2087880"/>
              <a:ext cx="11950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1 1 0 0 0 0 1 0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39744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402205"/>
              <a:ext cx="5626418" cy="43910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68400" y="2526982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568110" y="2526982"/>
              <a:ext cx="3499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页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261044" y="2526982"/>
              <a:ext cx="5225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↔ 14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005072" y="2526982"/>
              <a:ext cx="5771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0 1 0 1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283559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68400" y="2966085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568110" y="2966085"/>
              <a:ext cx="3499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页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261044" y="2966085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005072" y="2966085"/>
              <a:ext cx="2681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0 1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27469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3279458"/>
              <a:ext cx="5626418" cy="43910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68400" y="340518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568110" y="3405188"/>
              <a:ext cx="3499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 页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261044" y="3405188"/>
              <a:ext cx="322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null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005072" y="340518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371379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68400" y="384333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518133" y="3843338"/>
              <a:ext cx="4498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 页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261044" y="3843338"/>
              <a:ext cx="322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null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005072" y="384333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无伙伴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1524000"/>
              <a:ext cx="5626418" cy="26336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1316355" y="1524000"/>
              <a:ext cx="9525" cy="26336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2160270" y="1524000"/>
              <a:ext cx="9525" cy="26336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3904298" y="1524000"/>
              <a:ext cx="9525" cy="26336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28447" y="4230529"/>
              <a:ext cx="33080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链表结点写首页框号，双向链接；位图按页框号从小到大</a:t>
              </a:r>
            </a:p>
          </p:txBody>
        </p:sp>
      </p:grpSp>
      <p:grpSp>
        <p:nvGrpSpPr>
          <p:cNvPr id="54" name="c1-card-2"/>
          <p:cNvGrpSpPr/>
          <p:nvPr/>
        </p:nvGrpSpPr>
        <p:grpSpPr>
          <a:xfrm>
            <a:off x="533400" y="4552950"/>
            <a:ext cx="5626418" cy="1785938"/>
            <a:chOff x="533400" y="4552950"/>
            <a:chExt cx="5626418" cy="1785938"/>
          </a:xfrm>
        </p:grpSpPr>
        <p:sp>
          <p:nvSpPr>
            <p:cNvPr id="44" name="Rectangle 44"/>
            <p:cNvSpPr/>
            <p:nvPr/>
          </p:nvSpPr>
          <p:spPr>
            <a:xfrm>
              <a:off x="533400" y="4552950"/>
              <a:ext cx="5626418" cy="1785938"/>
            </a:xfrm>
            <a:prstGeom prst="roundRect">
              <a:avLst>
                <a:gd name="adj" fmla="val 746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542925" y="4686300"/>
              <a:ext cx="47625" cy="151923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758190" y="4739640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46811" y="4772501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怎么拆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766762" y="5139690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22782" y="5083492"/>
              <a:ext cx="40937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1、3、12 的伙伴 0、2、13 被占用，只能是 1 页块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766762" y="5440680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22782" y="5384483"/>
              <a:ext cx="472001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4–5 的伙伴 6–7 被占用；14–15 的伙伴 12–13 有占用：都是 2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页块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766762" y="5997892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22782" y="5941695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8–11 整块空闲，伙伴 12–15 有占用：是 4 页块</a:t>
              </a:r>
            </a:p>
          </p:txBody>
        </p:sp>
      </p:grpSp>
      <p:grpSp>
        <p:nvGrpSpPr>
          <p:cNvPr id="105" name="c2-cells-1"/>
          <p:cNvGrpSpPr/>
          <p:nvPr/>
        </p:nvGrpSpPr>
        <p:grpSpPr>
          <a:xfrm>
            <a:off x="6459284" y="1524000"/>
            <a:ext cx="5199316" cy="1285399"/>
            <a:chOff x="6459284" y="1524000"/>
            <a:chExt cx="5199316" cy="1285399"/>
          </a:xfrm>
        </p:grpSpPr>
        <p:sp>
          <p:nvSpPr>
            <p:cNvPr id="55" name="TextBox 55"/>
            <p:cNvSpPr txBox="1"/>
            <p:nvPr/>
          </p:nvSpPr>
          <p:spPr>
            <a:xfrm>
              <a:off x="6459284" y="1643062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0–7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906578" y="1524000"/>
              <a:ext cx="594360" cy="368618"/>
            </a:xfrm>
            <a:prstGeom prst="rect">
              <a:avLst/>
            </a:prstGeom>
            <a:solidFill>
              <a:srgbClr val="0E7C86"/>
            </a:solidFill>
            <a:ln w="15240">
              <a:solidFill>
                <a:srgbClr val="0E7C86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126796" y="164306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占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7499985" y="1524000"/>
              <a:ext cx="594360" cy="3686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751016" y="164306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8094345" y="1524000"/>
              <a:ext cx="594360" cy="368618"/>
            </a:xfrm>
            <a:prstGeom prst="rect">
              <a:avLst/>
            </a:prstGeom>
            <a:solidFill>
              <a:srgbClr val="0E7C86"/>
            </a:solidFill>
            <a:ln w="15240">
              <a:solidFill>
                <a:srgbClr val="0E7C86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8315516" y="164306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占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8688705" y="1524000"/>
              <a:ext cx="594360" cy="3686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8938783" y="164306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9282112" y="1524000"/>
              <a:ext cx="594360" cy="3686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9533143" y="164306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9876472" y="1524000"/>
              <a:ext cx="594360" cy="3686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10127503" y="164306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10470832" y="1524000"/>
              <a:ext cx="594360" cy="368618"/>
            </a:xfrm>
            <a:prstGeom prst="rect">
              <a:avLst/>
            </a:prstGeom>
            <a:solidFill>
              <a:srgbClr val="0E7C86"/>
            </a:solidFill>
            <a:ln w="15240">
              <a:solidFill>
                <a:srgbClr val="0E7C86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10691050" y="164306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占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11064240" y="1524000"/>
              <a:ext cx="594360" cy="368618"/>
            </a:xfrm>
            <a:prstGeom prst="rect">
              <a:avLst/>
            </a:prstGeom>
            <a:solidFill>
              <a:srgbClr val="0E7C86"/>
            </a:solidFill>
            <a:ln w="15240">
              <a:solidFill>
                <a:srgbClr val="0E7C86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11285410" y="164306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占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167686" y="194643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762046" y="194643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356406" y="194643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949813" y="194643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9544173" y="194643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0138533" y="194643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0731941" y="194643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326301" y="194643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6459284" y="2344102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8–15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6906578" y="2225040"/>
              <a:ext cx="594360" cy="368618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7156656" y="23441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7499985" y="2225040"/>
              <a:ext cx="594360" cy="368618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7751016" y="23441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8094345" y="2225040"/>
              <a:ext cx="594360" cy="368618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8345376" y="23441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8688705" y="2225040"/>
              <a:ext cx="594360" cy="368618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8938783" y="23441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9282112" y="2225040"/>
              <a:ext cx="594360" cy="3686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9533143" y="23441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9876472" y="2225040"/>
              <a:ext cx="594360" cy="368618"/>
            </a:xfrm>
            <a:prstGeom prst="rect">
              <a:avLst/>
            </a:prstGeom>
            <a:solidFill>
              <a:srgbClr val="0E7C86"/>
            </a:solidFill>
            <a:ln w="15240">
              <a:solidFill>
                <a:srgbClr val="0E7C86"/>
              </a:solidFill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10097643" y="234410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占</a:t>
              </a:r>
            </a:p>
          </p:txBody>
        </p:sp>
        <p:sp>
          <p:nvSpPr>
            <p:cNvPr id="93" name="Rectangle 93"/>
            <p:cNvSpPr/>
            <p:nvPr/>
          </p:nvSpPr>
          <p:spPr>
            <a:xfrm>
              <a:off x="10470832" y="2225040"/>
              <a:ext cx="594360" cy="3686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10720911" y="23441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5" name="Rectangle 95"/>
            <p:cNvSpPr/>
            <p:nvPr/>
          </p:nvSpPr>
          <p:spPr>
            <a:xfrm>
              <a:off x="11064240" y="2225040"/>
              <a:ext cx="594360" cy="3686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11315271" y="23441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7167686" y="264747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7762046" y="264747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8326049" y="264747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8919456" y="264747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9513816" y="264747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10108176" y="264747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10701584" y="264747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11295944" y="264747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  <p:grpSp>
        <p:nvGrpSpPr>
          <p:cNvPr id="107" name="c2-text-2"/>
          <p:cNvGrpSpPr/>
          <p:nvPr/>
        </p:nvGrpSpPr>
        <p:grpSpPr>
          <a:xfrm>
            <a:off x="6458902" y="2962751"/>
            <a:ext cx="3946642" cy="220028"/>
            <a:chOff x="6458902" y="2962751"/>
            <a:chExt cx="3946642" cy="220028"/>
          </a:xfrm>
        </p:grpSpPr>
        <p:sp>
          <p:nvSpPr>
            <p:cNvPr id="106" name="TextBox 106"/>
            <p:cNvSpPr txBox="1"/>
            <p:nvPr/>
          </p:nvSpPr>
          <p:spPr>
            <a:xfrm>
              <a:off x="6458902" y="2962751"/>
              <a:ext cx="39466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格内数字是该页框所在空闲块的大小（页），“占”为占用。</a:t>
              </a:r>
            </a:p>
          </p:txBody>
        </p:sp>
      </p:grpSp>
      <p:grpSp>
        <p:nvGrpSpPr>
          <p:cNvPr id="119" name="c2-card-3"/>
          <p:cNvGrpSpPr/>
          <p:nvPr/>
        </p:nvGrpSpPr>
        <p:grpSpPr>
          <a:xfrm>
            <a:off x="6464618" y="3308985"/>
            <a:ext cx="5193982" cy="3030855"/>
            <a:chOff x="6464618" y="3308985"/>
            <a:chExt cx="5193982" cy="3030855"/>
          </a:xfrm>
        </p:grpSpPr>
        <p:sp>
          <p:nvSpPr>
            <p:cNvPr id="108" name="Rectangle 108"/>
            <p:cNvSpPr/>
            <p:nvPr/>
          </p:nvSpPr>
          <p:spPr>
            <a:xfrm>
              <a:off x="6464618" y="3308985"/>
              <a:ext cx="5193982" cy="3030855"/>
            </a:xfrm>
            <a:prstGeom prst="roundRect">
              <a:avLst>
                <a:gd name="adj" fmla="val 440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9" name="Rectangle 109"/>
            <p:cNvSpPr/>
            <p:nvPr/>
          </p:nvSpPr>
          <p:spPr>
            <a:xfrm>
              <a:off x="6474142" y="3442335"/>
              <a:ext cx="47625" cy="276415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0" name="Rectangle 110"/>
            <p:cNvSpPr/>
            <p:nvPr/>
          </p:nvSpPr>
          <p:spPr>
            <a:xfrm>
              <a:off x="6689408" y="3495675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11" name="TextBox 111"/>
            <p:cNvSpPr txBox="1"/>
            <p:nvPr/>
          </p:nvSpPr>
          <p:spPr>
            <a:xfrm>
              <a:off x="6766827" y="3528536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位图逐对判断</a:t>
              </a:r>
            </a:p>
          </p:txBody>
        </p:sp>
        <p:sp>
          <p:nvSpPr>
            <p:cNvPr id="112" name="Ellipse 112"/>
            <p:cNvSpPr/>
            <p:nvPr/>
          </p:nvSpPr>
          <p:spPr>
            <a:xfrm>
              <a:off x="6697980" y="3895725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3" name="TextBox 113"/>
            <p:cNvSpPr txBox="1"/>
            <p:nvPr/>
          </p:nvSpPr>
          <p:spPr>
            <a:xfrm>
              <a:off x="6853999" y="3839527"/>
              <a:ext cx="418852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块组 0：(0,1)1　(2,3)1　(4,5)0　(6,7)0　(8,9)0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(10,11)0　(12,13)1　(14,15)0</a:t>
              </a:r>
            </a:p>
          </p:txBody>
        </p:sp>
        <p:sp>
          <p:nvSpPr>
            <p:cNvPr id="114" name="Ellipse 114"/>
            <p:cNvSpPr/>
            <p:nvPr/>
          </p:nvSpPr>
          <p:spPr>
            <a:xfrm>
              <a:off x="6697980" y="4452938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5" name="TextBox 115"/>
            <p:cNvSpPr txBox="1"/>
            <p:nvPr/>
          </p:nvSpPr>
          <p:spPr>
            <a:xfrm>
              <a:off x="6853999" y="4396740"/>
              <a:ext cx="403421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块组 1：(0–1,2–3)0　(4–5,6–7)1　(8–9,10–11)0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(12–13,14–15)1</a:t>
              </a:r>
            </a:p>
          </p:txBody>
        </p:sp>
        <p:sp>
          <p:nvSpPr>
            <p:cNvPr id="116" name="Ellipse 116"/>
            <p:cNvSpPr/>
            <p:nvPr/>
          </p:nvSpPr>
          <p:spPr>
            <a:xfrm>
              <a:off x="6697980" y="5010150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7" name="TextBox 117"/>
            <p:cNvSpPr txBox="1"/>
            <p:nvPr/>
          </p:nvSpPr>
          <p:spPr>
            <a:xfrm>
              <a:off x="6853999" y="4953952"/>
              <a:ext cx="441140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块组 2：(0–3,4–7)0　(8–11,12–15)1；块组 3：(0–7,8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–15)0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6683692" y="5507831"/>
              <a:ext cx="44441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原答案图只画了块组 0～2 的位图，块组 3 的一位（0）没有画出。</a:t>
              </a:r>
            </a:p>
          </p:txBody>
        </p:sp>
      </p:grpSp>
      <p:grpSp>
        <p:nvGrpSpPr>
          <p:cNvPr id="12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20" name="TextBox 120"/>
            <p:cNvSpPr txBox="1"/>
            <p:nvPr/>
          </p:nvSpPr>
          <p:spPr>
            <a:xfrm>
              <a:off x="528447" y="6581299"/>
              <a:ext cx="23120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操作系统原理 试题解析</a:t>
              </a:r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133347" cy="909257"/>
            <a:chOff x="520446" y="342900"/>
            <a:chExt cx="81333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4503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4524" y="407194"/>
              <a:ext cx="20027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试题解析 · 调度、死锁与分配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1333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四、解（2）：申请 3 页，分出块组 2 中的页框 8–11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steps-1"/>
          <p:cNvGrpSpPr/>
          <p:nvPr/>
        </p:nvGrpSpPr>
        <p:grpSpPr>
          <a:xfrm>
            <a:off x="533400" y="1533525"/>
            <a:ext cx="5204841" cy="2347246"/>
            <a:chOff x="533400" y="1533525"/>
            <a:chExt cx="5204841" cy="2347246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5363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8408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306990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31437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4880" y="156781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定块组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6023" y="1861661"/>
              <a:ext cx="28302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2¹ &lt; 3 ≤ 2²，在块组 2 分配 4 个页框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4880" y="2218372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取块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023" y="2512219"/>
              <a:ext cx="479221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块组 2 的空闲链只有首页框 8 的块，分出页框 8～11，块组 2 的链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变为 null；块大小正好，不用拆分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3104198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改位图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3397091"/>
              <a:ext cx="478409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块组 2 中伙伴 (8–11, 12–15) 变成两块都有占用，1 改为 0。块组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0、1 中 8～11 内部的几对由都空闲变为都占用，仍为 0</a:t>
              </a:r>
            </a:p>
          </p:txBody>
        </p:sp>
      </p:grpSp>
      <p:grpSp>
        <p:nvGrpSpPr>
          <p:cNvPr id="26" name="c1-card-2"/>
          <p:cNvGrpSpPr/>
          <p:nvPr/>
        </p:nvGrpSpPr>
        <p:grpSpPr>
          <a:xfrm>
            <a:off x="533400" y="4060508"/>
            <a:ext cx="5410200" cy="1989772"/>
            <a:chOff x="533400" y="4060508"/>
            <a:chExt cx="5410200" cy="1989772"/>
          </a:xfrm>
        </p:grpSpPr>
        <p:sp>
          <p:nvSpPr>
            <p:cNvPr id="21" name="Rectangle 21"/>
            <p:cNvSpPr/>
            <p:nvPr/>
          </p:nvSpPr>
          <p:spPr>
            <a:xfrm>
              <a:off x="533400" y="4060508"/>
              <a:ext cx="5410200" cy="1989772"/>
            </a:xfrm>
            <a:prstGeom prst="roundRect">
              <a:avLst>
                <a:gd name="adj" fmla="val 670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42925" y="4193858"/>
              <a:ext cx="47625" cy="172307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81050" y="427005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71258" y="430577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73430" y="4647248"/>
              <a:ext cx="45967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原答案图 (2) 的 free_area 多画了块组 5。16 个页框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最大只能组成 2⁴ 页的块，题目给出的块组为 0～4。</a:t>
              </a:r>
            </a:p>
          </p:txBody>
        </p:sp>
      </p:grpSp>
      <p:grpSp>
        <p:nvGrpSpPr>
          <p:cNvPr id="70" name="c2-cells-1"/>
          <p:cNvGrpSpPr/>
          <p:nvPr/>
        </p:nvGrpSpPr>
        <p:grpSpPr>
          <a:xfrm>
            <a:off x="6242304" y="1524000"/>
            <a:ext cx="5416296" cy="1431607"/>
            <a:chOff x="6242304" y="1524000"/>
            <a:chExt cx="5416296" cy="1431607"/>
          </a:xfrm>
        </p:grpSpPr>
        <p:sp>
          <p:nvSpPr>
            <p:cNvPr id="27" name="TextBox 27"/>
            <p:cNvSpPr txBox="1"/>
            <p:nvPr/>
          </p:nvSpPr>
          <p:spPr>
            <a:xfrm>
              <a:off x="6242304" y="1659255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0–7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734175" y="1524000"/>
              <a:ext cx="615315" cy="419100"/>
            </a:xfrm>
            <a:prstGeom prst="rect">
              <a:avLst/>
            </a:prstGeom>
            <a:solidFill>
              <a:srgbClr val="0E7C86"/>
            </a:solidFill>
            <a:ln w="15240">
              <a:solidFill>
                <a:srgbClr val="0E7C86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954964" y="1659255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占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349490" y="1524000"/>
              <a:ext cx="615315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0E7C86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7964805" y="1524000"/>
              <a:ext cx="615315" cy="419100"/>
            </a:xfrm>
            <a:prstGeom prst="rect">
              <a:avLst/>
            </a:prstGeom>
            <a:solidFill>
              <a:srgbClr val="0E7C86"/>
            </a:solidFill>
            <a:ln w="15240">
              <a:solidFill>
                <a:srgbClr val="0E7C86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185594" y="1659255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占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8581072" y="1524000"/>
              <a:ext cx="615315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0E7C86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9196388" y="1524000"/>
              <a:ext cx="615315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0E7C86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9811702" y="1524000"/>
              <a:ext cx="615315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0E7C8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10427018" y="1524000"/>
              <a:ext cx="615315" cy="419100"/>
            </a:xfrm>
            <a:prstGeom prst="rect">
              <a:avLst/>
            </a:prstGeom>
            <a:solidFill>
              <a:srgbClr val="0E7C86"/>
            </a:solidFill>
            <a:ln w="15240">
              <a:solidFill>
                <a:srgbClr val="0E7C86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648759" y="1659255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占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11043285" y="1524000"/>
              <a:ext cx="615315" cy="419100"/>
            </a:xfrm>
            <a:prstGeom prst="rect">
              <a:avLst/>
            </a:prstGeom>
            <a:solidFill>
              <a:srgbClr val="0E7C86"/>
            </a:solidFill>
            <a:ln w="15240">
              <a:solidFill>
                <a:srgbClr val="0E7C86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1264074" y="1659255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占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003752" y="19983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19067" y="19983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234382" y="19983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850649" y="19983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465964" y="19983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081279" y="19983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697547" y="19983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312862" y="19983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242304" y="2440305"/>
              <a:ext cx="3853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8–15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734175" y="2305050"/>
              <a:ext cx="615315" cy="4191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954964" y="2440305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新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7349490" y="2305050"/>
              <a:ext cx="615315" cy="4191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570280" y="2440305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新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7964805" y="2305050"/>
              <a:ext cx="615315" cy="4191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185594" y="2440305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新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8581072" y="2305050"/>
              <a:ext cx="615315" cy="4191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801862" y="2440305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新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9196388" y="2305050"/>
              <a:ext cx="615315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0E7C86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9811702" y="2305050"/>
              <a:ext cx="615315" cy="419100"/>
            </a:xfrm>
            <a:prstGeom prst="rect">
              <a:avLst/>
            </a:prstGeom>
            <a:solidFill>
              <a:srgbClr val="0E7C86"/>
            </a:solidFill>
            <a:ln w="15240">
              <a:solidFill>
                <a:srgbClr val="0E7C86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0032492" y="2440305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占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10427018" y="2305050"/>
              <a:ext cx="615315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0E7C86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11043285" y="2305050"/>
              <a:ext cx="615315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0E7C86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003752" y="277939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619067" y="277939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201063" y="277939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817331" y="277939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432646" y="277939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047961" y="277939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0664228" y="277939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279543" y="277939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  <p:grpSp>
        <p:nvGrpSpPr>
          <p:cNvPr id="102" name="c2-table-2"/>
          <p:cNvGrpSpPr/>
          <p:nvPr/>
        </p:nvGrpSpPr>
        <p:grpSpPr>
          <a:xfrm>
            <a:off x="6242685" y="3105150"/>
            <a:ext cx="5415915" cy="2988469"/>
            <a:chOff x="6242685" y="3105150"/>
            <a:chExt cx="5415915" cy="2988469"/>
          </a:xfrm>
        </p:grpSpPr>
        <p:sp>
          <p:nvSpPr>
            <p:cNvPr id="71" name="Rectangle 71"/>
            <p:cNvSpPr/>
            <p:nvPr/>
          </p:nvSpPr>
          <p:spPr>
            <a:xfrm>
              <a:off x="6248400" y="3105150"/>
              <a:ext cx="5410200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727801" y="3240881"/>
              <a:ext cx="4661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块组 i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261401" y="324088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空闲块链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0254031" y="324088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块组位图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904637" y="368950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781163" y="3689509"/>
              <a:ext cx="7883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↔ 3 ↔ 12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9659493" y="3689509"/>
              <a:ext cx="11329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1 1 0 0 0 0 1 0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6248400" y="399764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6248400" y="4002405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6904637" y="413813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781163" y="4138136"/>
              <a:ext cx="4954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↔ 14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9659493" y="4138136"/>
              <a:ext cx="5471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0 1 0 1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6248400" y="444722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6904637" y="458676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7682865" y="4461510"/>
              <a:ext cx="1859280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7781163" y="4586764"/>
              <a:ext cx="3058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null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9561195" y="4461510"/>
              <a:ext cx="2087880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9659493" y="4586764"/>
              <a:ext cx="2541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0 0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6248400" y="489585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0" name="Rectangle 90"/>
            <p:cNvSpPr/>
            <p:nvPr/>
          </p:nvSpPr>
          <p:spPr>
            <a:xfrm>
              <a:off x="6248400" y="4900612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6904637" y="503539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7781163" y="5035391"/>
              <a:ext cx="3058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null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9659493" y="503539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94" name="Rectangle 94"/>
            <p:cNvSpPr/>
            <p:nvPr/>
          </p:nvSpPr>
          <p:spPr>
            <a:xfrm>
              <a:off x="6248400" y="534447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6904637" y="548497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7781163" y="5484971"/>
              <a:ext cx="3058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null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9659493" y="548497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无伙伴</a:t>
              </a:r>
            </a:p>
          </p:txBody>
        </p:sp>
        <p:sp>
          <p:nvSpPr>
            <p:cNvPr id="98" name="Rectangle 98"/>
            <p:cNvSpPr/>
            <p:nvPr/>
          </p:nvSpPr>
          <p:spPr>
            <a:xfrm>
              <a:off x="6248400" y="3105150"/>
              <a:ext cx="5410200" cy="269271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99" name="Rectangle 99"/>
            <p:cNvSpPr/>
            <p:nvPr/>
          </p:nvSpPr>
          <p:spPr>
            <a:xfrm>
              <a:off x="7668578" y="310515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0" name="Rectangle 100"/>
            <p:cNvSpPr/>
            <p:nvPr/>
          </p:nvSpPr>
          <p:spPr>
            <a:xfrm>
              <a:off x="9546908" y="310515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6242685" y="5873591"/>
              <a:ext cx="41049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高亮为分配后改变的表项；3 页申请分到 4 页，内部碎片 1 页</a:t>
              </a:r>
            </a:p>
          </p:txBody>
        </p:sp>
      </p:grpSp>
      <p:grpSp>
        <p:nvGrpSpPr>
          <p:cNvPr id="10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3" name="TextBox 103"/>
            <p:cNvSpPr txBox="1"/>
            <p:nvPr/>
          </p:nvSpPr>
          <p:spPr>
            <a:xfrm>
              <a:off x="528447" y="6581299"/>
              <a:ext cx="23120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操作系统原理 试题解析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052870" cy="909257"/>
            <a:chOff x="520446" y="342900"/>
            <a:chExt cx="705287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4503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4524" y="407194"/>
              <a:ext cx="20027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试题解析 · 调度、死锁与分配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05287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伙伴堆释放举例：在上一步基础上释放页框 13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6638186" cy="278702"/>
            <a:chOff x="526161" y="1547336"/>
            <a:chExt cx="6638186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66381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课件中的释放例子：页框 8～11 已分配，此时释放页框 13，与伙伴逐级合并。</a:t>
              </a:r>
            </a:p>
          </p:txBody>
        </p:sp>
      </p:grpSp>
      <p:grpSp>
        <p:nvGrpSpPr>
          <p:cNvPr id="26" name="c1-steps-1"/>
          <p:cNvGrpSpPr/>
          <p:nvPr/>
        </p:nvGrpSpPr>
        <p:grpSpPr>
          <a:xfrm>
            <a:off x="533400" y="1950720"/>
            <a:ext cx="5264673" cy="2280762"/>
            <a:chOff x="533400" y="1950720"/>
            <a:chExt cx="5264673" cy="2280762"/>
          </a:xfrm>
        </p:grpSpPr>
        <p:sp>
          <p:nvSpPr>
            <p:cNvPr id="9" name="Rectangle 9"/>
            <p:cNvSpPr/>
            <p:nvPr/>
          </p:nvSpPr>
          <p:spPr>
            <a:xfrm>
              <a:off x="666750" y="2093595"/>
              <a:ext cx="19050" cy="176117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195072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0245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53841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6122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12515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19897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71189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37857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642" y="1983105"/>
              <a:ext cx="9601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次合并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785" y="2250281"/>
              <a:ext cx="35998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12、13 是一对伙伴，12 空闲，合并成 12–13（2 页）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642" y="2569845"/>
              <a:ext cx="9601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 次合并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785" y="2837021"/>
              <a:ext cx="41351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12–13 与 14–15 是伙伴，14–15 空闲，合并成 12–15（4 页）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642" y="315658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停止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785" y="3424714"/>
              <a:ext cx="39918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12–15 的伙伴 8–11 已分配，不能再合并，把 12 挂入块组 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5642" y="374332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调整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785" y="4011454"/>
              <a:ext cx="48512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块组 0 的链去掉 12，块组 1 的链去掉 14，三个块组的位图各有一位改变</a:t>
              </a:r>
            </a:p>
          </p:txBody>
        </p:sp>
      </p:grpSp>
      <p:grpSp>
        <p:nvGrpSpPr>
          <p:cNvPr id="37" name="c1-card-2"/>
          <p:cNvGrpSpPr/>
          <p:nvPr/>
        </p:nvGrpSpPr>
        <p:grpSpPr>
          <a:xfrm>
            <a:off x="533400" y="4400550"/>
            <a:ext cx="5410200" cy="1557338"/>
            <a:chOff x="533400" y="4400550"/>
            <a:chExt cx="5410200" cy="1557338"/>
          </a:xfrm>
        </p:grpSpPr>
        <p:sp>
          <p:nvSpPr>
            <p:cNvPr id="27" name="Rectangle 27"/>
            <p:cNvSpPr/>
            <p:nvPr/>
          </p:nvSpPr>
          <p:spPr>
            <a:xfrm>
              <a:off x="533400" y="4400550"/>
              <a:ext cx="5410200" cy="1557338"/>
            </a:xfrm>
            <a:prstGeom prst="roundRect">
              <a:avLst>
                <a:gd name="adj" fmla="val 85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42925" y="4533900"/>
              <a:ext cx="47625" cy="129063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63905" y="4592955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35342" y="4627245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用伙伴条件核对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72478" y="5005388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28497" y="4949190"/>
              <a:ext cx="35485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 与 13：各 1 页，13 + 1 = 14 是 2 的倍数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72478" y="5308282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28497" y="5252085"/>
              <a:ext cx="41482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12–13 与 14–15：各 2 页，15 + 1 = 16 是 4 的倍数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72478" y="5610225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28497" y="5554028"/>
              <a:ext cx="40482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8–11 与 12–15：各 4 页，15 + 1 = 16 是 8 的倍数</a:t>
              </a:r>
            </a:p>
          </p:txBody>
        </p:sp>
      </p:grpSp>
      <p:grpSp>
        <p:nvGrpSpPr>
          <p:cNvPr id="88" name="c2-cells-1"/>
          <p:cNvGrpSpPr/>
          <p:nvPr/>
        </p:nvGrpSpPr>
        <p:grpSpPr>
          <a:xfrm>
            <a:off x="6242685" y="1941195"/>
            <a:ext cx="5415915" cy="1315879"/>
            <a:chOff x="6242685" y="1941195"/>
            <a:chExt cx="5415915" cy="1315879"/>
          </a:xfrm>
        </p:grpSpPr>
        <p:sp>
          <p:nvSpPr>
            <p:cNvPr id="38" name="TextBox 38"/>
            <p:cNvSpPr txBox="1"/>
            <p:nvPr/>
          </p:nvSpPr>
          <p:spPr>
            <a:xfrm>
              <a:off x="6242685" y="2062639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0–7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710362" y="1941195"/>
              <a:ext cx="618172" cy="381000"/>
            </a:xfrm>
            <a:prstGeom prst="rect">
              <a:avLst/>
            </a:prstGeom>
            <a:solidFill>
              <a:srgbClr val="0E7C86"/>
            </a:solidFill>
            <a:ln w="15240">
              <a:solidFill>
                <a:srgbClr val="0E7C86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938823" y="206263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占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7328535" y="1941195"/>
              <a:ext cx="61817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56995" y="206263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7947660" y="1941195"/>
              <a:ext cx="618172" cy="381000"/>
            </a:xfrm>
            <a:prstGeom prst="rect">
              <a:avLst/>
            </a:prstGeom>
            <a:solidFill>
              <a:srgbClr val="0E7C86"/>
            </a:solidFill>
            <a:ln w="15240">
              <a:solidFill>
                <a:srgbClr val="0E7C86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175168" y="206263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占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8565832" y="1941195"/>
              <a:ext cx="61817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794293" y="206263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9184005" y="1941195"/>
              <a:ext cx="61817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412465" y="206263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9803130" y="1941195"/>
              <a:ext cx="61817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031590" y="206263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10421302" y="1941195"/>
              <a:ext cx="618172" cy="381000"/>
            </a:xfrm>
            <a:prstGeom prst="rect">
              <a:avLst/>
            </a:prstGeom>
            <a:solidFill>
              <a:srgbClr val="0E7C86"/>
            </a:solidFill>
            <a:ln w="15240">
              <a:solidFill>
                <a:srgbClr val="0E7C86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0649763" y="206263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占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11040428" y="1941195"/>
              <a:ext cx="618172" cy="381000"/>
            </a:xfrm>
            <a:prstGeom prst="rect">
              <a:avLst/>
            </a:prstGeom>
            <a:solidFill>
              <a:srgbClr val="0E7C86"/>
            </a:solidFill>
            <a:ln w="15240">
              <a:solidFill>
                <a:srgbClr val="0E7C86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1267935" y="206263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占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984806" y="23769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602978" y="23769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221151" y="23769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840276" y="23769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458448" y="23769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077573" y="23769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695746" y="23769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313918" y="23769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242685" y="2780824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8–15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710362" y="2660332"/>
              <a:ext cx="618172" cy="381000"/>
            </a:xfrm>
            <a:prstGeom prst="rect">
              <a:avLst/>
            </a:prstGeom>
            <a:solidFill>
              <a:srgbClr val="0E7C86"/>
            </a:solidFill>
            <a:ln w="15240">
              <a:solidFill>
                <a:srgbClr val="0E7C86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938823" y="278082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占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7328535" y="2660332"/>
              <a:ext cx="618172" cy="381000"/>
            </a:xfrm>
            <a:prstGeom prst="rect">
              <a:avLst/>
            </a:prstGeom>
            <a:solidFill>
              <a:srgbClr val="0E7C86"/>
            </a:solidFill>
            <a:ln w="15240">
              <a:solidFill>
                <a:srgbClr val="0E7C86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7556995" y="278082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占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7947660" y="2660332"/>
              <a:ext cx="618172" cy="381000"/>
            </a:xfrm>
            <a:prstGeom prst="rect">
              <a:avLst/>
            </a:prstGeom>
            <a:solidFill>
              <a:srgbClr val="0E7C86"/>
            </a:solidFill>
            <a:ln w="15240">
              <a:solidFill>
                <a:srgbClr val="0E7C86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8175168" y="278082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占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8565832" y="2660332"/>
              <a:ext cx="618172" cy="381000"/>
            </a:xfrm>
            <a:prstGeom prst="rect">
              <a:avLst/>
            </a:prstGeom>
            <a:solidFill>
              <a:srgbClr val="0E7C86"/>
            </a:solidFill>
            <a:ln w="15240">
              <a:solidFill>
                <a:srgbClr val="0E7C86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8794293" y="278082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占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9184005" y="2660332"/>
              <a:ext cx="618172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9412465" y="278082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空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9803130" y="2660332"/>
              <a:ext cx="618172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10031590" y="278082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空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10421302" y="2660332"/>
              <a:ext cx="618172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10649763" y="278082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空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11040428" y="2660332"/>
              <a:ext cx="618172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11267935" y="278082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空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6984806" y="309514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602978" y="309514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8190794" y="309514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8809919" y="309514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9428091" y="309514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0047216" y="309514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0665389" y="309514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1283561" y="309514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  <p:grpSp>
        <p:nvGrpSpPr>
          <p:cNvPr id="118" name="c2-table-2"/>
          <p:cNvGrpSpPr/>
          <p:nvPr/>
        </p:nvGrpSpPr>
        <p:grpSpPr>
          <a:xfrm>
            <a:off x="6243066" y="3397568"/>
            <a:ext cx="5415534" cy="2502789"/>
            <a:chOff x="6243066" y="3397568"/>
            <a:chExt cx="5415534" cy="2502789"/>
          </a:xfrm>
        </p:grpSpPr>
        <p:sp>
          <p:nvSpPr>
            <p:cNvPr id="89" name="Rectangle 89"/>
            <p:cNvSpPr/>
            <p:nvPr/>
          </p:nvSpPr>
          <p:spPr>
            <a:xfrm>
              <a:off x="6248400" y="3397568"/>
              <a:ext cx="5410200" cy="44481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6745508" y="3525202"/>
              <a:ext cx="4916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块组 i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8223123" y="352520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空闲块链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0186225" y="352520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块组位图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6932015" y="3970020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7832217" y="3970020"/>
              <a:ext cx="4226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↔ 3</a:t>
              </a:r>
            </a:p>
          </p:txBody>
        </p:sp>
        <p:sp>
          <p:nvSpPr>
            <p:cNvPr id="95" name="Rectangle 95"/>
            <p:cNvSpPr/>
            <p:nvPr/>
          </p:nvSpPr>
          <p:spPr>
            <a:xfrm>
              <a:off x="9463088" y="3851910"/>
              <a:ext cx="2185988" cy="42576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9552432" y="3970020"/>
              <a:ext cx="11950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1 1 0 0 0 0 0 0</a:t>
              </a:r>
            </a:p>
          </p:txBody>
        </p:sp>
        <p:sp>
          <p:nvSpPr>
            <p:cNvPr id="97" name="Rectangle 97"/>
            <p:cNvSpPr/>
            <p:nvPr/>
          </p:nvSpPr>
          <p:spPr>
            <a:xfrm>
              <a:off x="6248400" y="42814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8" name="Rectangle 98"/>
            <p:cNvSpPr/>
            <p:nvPr/>
          </p:nvSpPr>
          <p:spPr>
            <a:xfrm>
              <a:off x="6248400" y="4286250"/>
              <a:ext cx="5410200" cy="4448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6932015" y="441483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7832217" y="441483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01" name="Rectangle 101"/>
            <p:cNvSpPr/>
            <p:nvPr/>
          </p:nvSpPr>
          <p:spPr>
            <a:xfrm>
              <a:off x="9463088" y="4295775"/>
              <a:ext cx="2185988" cy="42576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9552432" y="4414838"/>
              <a:ext cx="5771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0 1 0 0</a:t>
              </a:r>
            </a:p>
          </p:txBody>
        </p:sp>
        <p:sp>
          <p:nvSpPr>
            <p:cNvPr id="103" name="Rectangle 103"/>
            <p:cNvSpPr/>
            <p:nvPr/>
          </p:nvSpPr>
          <p:spPr>
            <a:xfrm>
              <a:off x="6248400" y="472630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6932015" y="4859655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05" name="Rectangle 105"/>
            <p:cNvSpPr/>
            <p:nvPr/>
          </p:nvSpPr>
          <p:spPr>
            <a:xfrm>
              <a:off x="7742872" y="4740592"/>
              <a:ext cx="1701165" cy="42576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6" name="TextBox 106"/>
            <p:cNvSpPr txBox="1"/>
            <p:nvPr/>
          </p:nvSpPr>
          <p:spPr>
            <a:xfrm>
              <a:off x="7832217" y="4859655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107" name="Rectangle 107"/>
            <p:cNvSpPr/>
            <p:nvPr/>
          </p:nvSpPr>
          <p:spPr>
            <a:xfrm>
              <a:off x="9463088" y="4740592"/>
              <a:ext cx="2185988" cy="42576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8" name="TextBox 108"/>
            <p:cNvSpPr txBox="1"/>
            <p:nvPr/>
          </p:nvSpPr>
          <p:spPr>
            <a:xfrm>
              <a:off x="9552432" y="4859655"/>
              <a:ext cx="2681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0 1</a:t>
              </a:r>
            </a:p>
          </p:txBody>
        </p:sp>
        <p:sp>
          <p:nvSpPr>
            <p:cNvPr id="109" name="Rectangle 109"/>
            <p:cNvSpPr/>
            <p:nvPr/>
          </p:nvSpPr>
          <p:spPr>
            <a:xfrm>
              <a:off x="6248400" y="517112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0" name="Rectangle 110"/>
            <p:cNvSpPr/>
            <p:nvPr/>
          </p:nvSpPr>
          <p:spPr>
            <a:xfrm>
              <a:off x="6248400" y="5175885"/>
              <a:ext cx="5410200" cy="4448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11" name="TextBox 111"/>
            <p:cNvSpPr txBox="1"/>
            <p:nvPr/>
          </p:nvSpPr>
          <p:spPr>
            <a:xfrm>
              <a:off x="6932015" y="5303520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7832217" y="5303520"/>
              <a:ext cx="322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null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9552432" y="5303520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14" name="Rectangle 114"/>
            <p:cNvSpPr/>
            <p:nvPr/>
          </p:nvSpPr>
          <p:spPr>
            <a:xfrm>
              <a:off x="6248400" y="3397568"/>
              <a:ext cx="5410200" cy="22231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15" name="Rectangle 115"/>
            <p:cNvSpPr/>
            <p:nvPr/>
          </p:nvSpPr>
          <p:spPr>
            <a:xfrm>
              <a:off x="7728585" y="3397568"/>
              <a:ext cx="9525" cy="22231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6" name="Rectangle 116"/>
            <p:cNvSpPr/>
            <p:nvPr/>
          </p:nvSpPr>
          <p:spPr>
            <a:xfrm>
              <a:off x="9448800" y="3397568"/>
              <a:ext cx="9525" cy="22231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7" name="TextBox 117"/>
            <p:cNvSpPr txBox="1"/>
            <p:nvPr/>
          </p:nvSpPr>
          <p:spPr>
            <a:xfrm>
              <a:off x="6243066" y="5694998"/>
              <a:ext cx="52689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伙伴 (12,13)、(12–13,14–15) 都空闲，位变 0；(8–11,12–15) 一占一空，位变 1</a:t>
              </a:r>
            </a:p>
          </p:txBody>
        </p:sp>
      </p:grpSp>
      <p:grpSp>
        <p:nvGrpSpPr>
          <p:cNvPr id="1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9" name="TextBox 119"/>
            <p:cNvSpPr txBox="1"/>
            <p:nvPr/>
          </p:nvSpPr>
          <p:spPr>
            <a:xfrm>
              <a:off x="528447" y="6581299"/>
              <a:ext cx="23120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操作系统原理 试题解析</a:t>
              </a:r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709589" cy="909257"/>
            <a:chOff x="520446" y="342900"/>
            <a:chExt cx="670958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4503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4524" y="407194"/>
              <a:ext cx="20027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试题解析 · 调度、死锁与分配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70958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五、磁盘管理（10 分）：成组链接法的题目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410200" cy="4443412"/>
            <a:chOff x="533400" y="1524000"/>
            <a:chExt cx="5410200" cy="444341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443412"/>
            </a:xfrm>
            <a:prstGeom prst="roundRect">
              <a:avLst>
                <a:gd name="adj" fmla="val 300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31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题目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5330" y="2110740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某文件系统的磁盘空闲区管理采用成组链接数据结构，涉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及的数据结构类 C 伪代码定义如下：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42950" y="2707005"/>
              <a:ext cx="4991100" cy="2125028"/>
            </a:xfrm>
            <a:prstGeom prst="roundRect">
              <a:avLst>
                <a:gd name="adj" fmla="val 44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71347" y="2858929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70585" y="3120866"/>
              <a:ext cx="3851910" cy="16402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filesys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......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s_nfree;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本组空闲块个数，最大为 5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s_free[5];  /* s_free[0] 存下一组的块号，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                   s_free[1]~[4] 为本组块号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......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 super_block;</a:t>
              </a:r>
              <a:br/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启动后把第一个空闲块组表读入 super_block */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35330" y="4952048"/>
              <a:ext cx="47967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(1) 此时如果有长度为 1 个磁盘块的请求，文件系统分配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的磁盘块号是几？(2) 写出分配 1 个磁盘块后的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super_block 内容及空闲块组的链表图。</a:t>
              </a:r>
            </a:p>
          </p:txBody>
        </p:sp>
      </p:grpSp>
      <p:grpSp>
        <p:nvGrpSpPr>
          <p:cNvPr id="72" name="c2-cells-1"/>
          <p:cNvGrpSpPr/>
          <p:nvPr/>
        </p:nvGrpSpPr>
        <p:grpSpPr>
          <a:xfrm>
            <a:off x="6242304" y="1571149"/>
            <a:ext cx="5416296" cy="2448401"/>
            <a:chOff x="6242304" y="1571149"/>
            <a:chExt cx="5416296" cy="2448401"/>
          </a:xfrm>
        </p:grpSpPr>
        <p:sp>
          <p:nvSpPr>
            <p:cNvPr id="16" name="TextBox 16"/>
            <p:cNvSpPr txBox="1"/>
            <p:nvPr/>
          </p:nvSpPr>
          <p:spPr>
            <a:xfrm>
              <a:off x="6242304" y="1964055"/>
              <a:ext cx="9959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super_block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309485" y="1828800"/>
              <a:ext cx="62103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568211" y="196405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931468" y="1828800"/>
              <a:ext cx="62103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142595" y="196405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552498" y="1828800"/>
              <a:ext cx="62103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0E7C86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9173528" y="1828800"/>
              <a:ext cx="62103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0E7C8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9794558" y="1828800"/>
              <a:ext cx="62103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0E7C8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0416540" y="1828800"/>
              <a:ext cx="62103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0E7C8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349341" y="1571149"/>
              <a:ext cx="54322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s_nfree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7582852" y="173355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894183" y="1571149"/>
              <a:ext cx="69560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s_free[0]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8203882" y="173355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242304" y="2554605"/>
              <a:ext cx="4112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块 50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309485" y="2419350"/>
              <a:ext cx="62103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568211" y="255460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7931468" y="2419350"/>
              <a:ext cx="62103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095949" y="2554605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150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552498" y="2419350"/>
              <a:ext cx="62103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763625" y="255460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60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9173528" y="2419350"/>
              <a:ext cx="62103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384655" y="255460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63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9794558" y="2419350"/>
              <a:ext cx="62103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005685" y="255460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69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10416540" y="2419350"/>
              <a:ext cx="62103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627667" y="255460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80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242304" y="3145155"/>
              <a:ext cx="5044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块 150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7309485" y="3009900"/>
              <a:ext cx="62103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68211" y="314515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7931468" y="3009900"/>
              <a:ext cx="62103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095949" y="3145155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250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8552498" y="3009900"/>
              <a:ext cx="62103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716979" y="3145155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201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9173528" y="3009900"/>
              <a:ext cx="62103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9338009" y="3145155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202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9794558" y="3009900"/>
              <a:ext cx="62103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959039" y="3145155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203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10416540" y="3009900"/>
              <a:ext cx="62103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0581022" y="3145155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206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11037570" y="3009900"/>
              <a:ext cx="62103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1202052" y="3145155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210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242304" y="3735705"/>
              <a:ext cx="5044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块 250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7309485" y="3600450"/>
              <a:ext cx="62103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568211" y="373570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7931468" y="3600450"/>
              <a:ext cx="62103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8091708" y="3735705"/>
              <a:ext cx="3005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null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8552498" y="3600450"/>
              <a:ext cx="62103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8716979" y="3735705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170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9173528" y="3600450"/>
              <a:ext cx="62103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9338009" y="3735705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175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9794558" y="3600450"/>
              <a:ext cx="62103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9959039" y="3735705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177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10416540" y="3600450"/>
              <a:ext cx="62103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10581022" y="3735705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180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11037570" y="3600450"/>
              <a:ext cx="62103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11202052" y="3735705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188</a:t>
              </a:r>
            </a:p>
          </p:txBody>
        </p:sp>
      </p:grpSp>
      <p:grpSp>
        <p:nvGrpSpPr>
          <p:cNvPr id="79" name="c2-callout-2"/>
          <p:cNvGrpSpPr/>
          <p:nvPr/>
        </p:nvGrpSpPr>
        <p:grpSpPr>
          <a:xfrm>
            <a:off x="6248400" y="4210050"/>
            <a:ext cx="5410200" cy="1757362"/>
            <a:chOff x="6248400" y="4210050"/>
            <a:chExt cx="5410200" cy="1757362"/>
          </a:xfrm>
        </p:grpSpPr>
        <p:sp>
          <p:nvSpPr>
            <p:cNvPr id="73" name="Rectangle 73"/>
            <p:cNvSpPr/>
            <p:nvPr/>
          </p:nvSpPr>
          <p:spPr>
            <a:xfrm>
              <a:off x="6248400" y="4210050"/>
              <a:ext cx="5410200" cy="1757362"/>
            </a:xfrm>
            <a:prstGeom prst="roundRect">
              <a:avLst>
                <a:gd name="adj" fmla="val 6504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7" name="Group 77"/>
            <p:cNvGrpSpPr/>
            <p:nvPr/>
          </p:nvGrpSpPr>
          <p:grpSpPr>
            <a:xfrm>
              <a:off x="6453188" y="4988243"/>
              <a:ext cx="200026" cy="200026"/>
              <a:chOff x="6453188" y="4988243"/>
              <a:chExt cx="200026" cy="200026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6453188" y="498824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6553200" y="505491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6542088" y="508825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8" name="TextBox 78"/>
            <p:cNvSpPr txBox="1"/>
            <p:nvPr/>
          </p:nvSpPr>
          <p:spPr>
            <a:xfrm>
              <a:off x="6755130" y="4570095"/>
              <a:ext cx="4320540" cy="11220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磁盘块内开头存的是下一组的 s_nfree 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s_free[]：块 50 记着 150、60、63、69、80 这 5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块，其中 150 又是下一个链接块；块 250 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s_free[0] 为 null，是最后一组。</a:t>
              </a:r>
            </a:p>
          </p:txBody>
        </p:sp>
      </p:grpSp>
      <p:grpSp>
        <p:nvGrpSpPr>
          <p:cNvPr id="8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0" name="TextBox 80"/>
            <p:cNvSpPr txBox="1"/>
            <p:nvPr/>
          </p:nvSpPr>
          <p:spPr>
            <a:xfrm>
              <a:off x="528447" y="6581299"/>
              <a:ext cx="23120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操作系统原理 试题解析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434997" cy="909257"/>
            <a:chOff x="520446" y="342900"/>
            <a:chExt cx="843499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4503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4524" y="407194"/>
              <a:ext cx="20027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试题解析 · 调度、死锁与分配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43499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UNIX 文件卷与超级块：空闲块每组一张表，组与组相链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ells-1"/>
          <p:cNvGrpSpPr/>
          <p:nvPr/>
        </p:nvGrpSpPr>
        <p:grpSpPr>
          <a:xfrm>
            <a:off x="527685" y="1524000"/>
            <a:ext cx="5415915" cy="419100"/>
            <a:chOff x="527685" y="1524000"/>
            <a:chExt cx="5415915" cy="419100"/>
          </a:xfrm>
        </p:grpSpPr>
        <p:sp>
          <p:nvSpPr>
            <p:cNvPr id="7" name="TextBox 7"/>
            <p:cNvSpPr txBox="1"/>
            <p:nvPr/>
          </p:nvSpPr>
          <p:spPr>
            <a:xfrm>
              <a:off x="527685" y="166354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块号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951548" y="1524000"/>
              <a:ext cx="1247775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526184" y="16635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199322" y="1524000"/>
              <a:ext cx="1247775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773959" y="16635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447098" y="1524000"/>
              <a:ext cx="1247775" cy="4191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887168" y="1663541"/>
              <a:ext cx="3676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2 … k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695825" y="1524000"/>
              <a:ext cx="1247775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961751" y="1663541"/>
              <a:ext cx="7159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k+1 … n−1</a:t>
              </a:r>
            </a:p>
          </p:txBody>
        </p:sp>
      </p:grpSp>
      <p:grpSp>
        <p:nvGrpSpPr>
          <p:cNvPr id="28" name="c1-kv-2"/>
          <p:cNvGrpSpPr/>
          <p:nvPr/>
        </p:nvGrpSpPr>
        <p:grpSpPr>
          <a:xfrm>
            <a:off x="525780" y="2158365"/>
            <a:ext cx="5434203" cy="2459355"/>
            <a:chOff x="525780" y="2158365"/>
            <a:chExt cx="5434203" cy="2459355"/>
          </a:xfrm>
        </p:grpSpPr>
        <p:sp>
          <p:nvSpPr>
            <p:cNvPr id="17" name="TextBox 17"/>
            <p:cNvSpPr txBox="1"/>
            <p:nvPr/>
          </p:nvSpPr>
          <p:spPr>
            <a:xfrm>
              <a:off x="525780" y="2158365"/>
              <a:ext cx="9178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0# 引导块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765935" y="2158365"/>
              <a:ext cx="41940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系统启动时从磁盘上找到 UNIX 系统并装入内存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47840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25780" y="2598420"/>
              <a:ext cx="9178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1# 超级块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765935" y="2598420"/>
              <a:ext cx="3853815" cy="857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文件卷中最重要的数据结构：记载文件区的空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闲块和 inode 区中 100 个空闲 inode；安装时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读入内存，卸下时写回磁盘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348234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5780" y="3602355"/>
              <a:ext cx="8108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inode 区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765935" y="3602355"/>
              <a:ext cx="31754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每块 16 个 inode，从 0 起依次编号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92239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25780" y="404241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文件存储区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65935" y="4042410"/>
              <a:ext cx="3825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普通文件和目录文件；占用的块记在各文件的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inode 中</a:t>
              </a:r>
            </a:p>
          </p:txBody>
        </p:sp>
      </p:grpSp>
      <p:grpSp>
        <p:nvGrpSpPr>
          <p:cNvPr id="34" name="c1-card-3"/>
          <p:cNvGrpSpPr/>
          <p:nvPr/>
        </p:nvGrpSpPr>
        <p:grpSpPr>
          <a:xfrm>
            <a:off x="533400" y="4749165"/>
            <a:ext cx="5410200" cy="1602105"/>
            <a:chOff x="533400" y="4749165"/>
            <a:chExt cx="5410200" cy="1602105"/>
          </a:xfrm>
        </p:grpSpPr>
        <p:sp>
          <p:nvSpPr>
            <p:cNvPr id="29" name="Rectangle 29"/>
            <p:cNvSpPr/>
            <p:nvPr/>
          </p:nvSpPr>
          <p:spPr>
            <a:xfrm>
              <a:off x="533400" y="4749165"/>
              <a:ext cx="5410200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42925" y="4882515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81050" y="4958715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50557" y="499443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链接块里存什么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73430" y="5335905"/>
              <a:ext cx="44443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s_free[0] 指向链接块，块中存下一组的块数和块号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表；一组用完就把它读入超级块。最后一组的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s_free[0] 为 0（题图写作 null）。</a:t>
              </a:r>
            </a:p>
          </p:txBody>
        </p:sp>
      </p:grpSp>
      <p:grpSp>
        <p:nvGrpSpPr>
          <p:cNvPr id="38" name="c2-code-1"/>
          <p:cNvGrpSpPr/>
          <p:nvPr/>
        </p:nvGrpSpPr>
        <p:grpSpPr>
          <a:xfrm>
            <a:off x="6248400" y="1524000"/>
            <a:ext cx="5410200" cy="2733675"/>
            <a:chOff x="6248400" y="1524000"/>
            <a:chExt cx="5410200" cy="2733675"/>
          </a:xfrm>
        </p:grpSpPr>
        <p:sp>
          <p:nvSpPr>
            <p:cNvPr id="35" name="Rectangle 35"/>
            <p:cNvSpPr/>
            <p:nvPr/>
          </p:nvSpPr>
          <p:spPr>
            <a:xfrm>
              <a:off x="6248400" y="1524000"/>
              <a:ext cx="5410200" cy="2733675"/>
            </a:xfrm>
            <a:prstGeom prst="roundRect">
              <a:avLst>
                <a:gd name="adj" fmla="val 348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76797" y="167592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超级块结构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376035" y="1937861"/>
              <a:ext cx="3382518" cy="22488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filesys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s_isize;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inode 区块数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s_fsize;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整个卷的块数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s_nfree;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内存中空闲块数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s_free[100];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空闲块号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s_ninode;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空闲 inode 数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s_inode[100];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空闲 inode 号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s_flock, s_ilock;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加锁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s_fmod, s_ronly;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修改、只读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s_time[2];  </a:t>
              </a:r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pad[50];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};</a:t>
              </a:r>
            </a:p>
          </p:txBody>
        </p:sp>
      </p:grpSp>
      <p:grpSp>
        <p:nvGrpSpPr>
          <p:cNvPr id="44" name="c2-card-2"/>
          <p:cNvGrpSpPr/>
          <p:nvPr/>
        </p:nvGrpSpPr>
        <p:grpSpPr>
          <a:xfrm>
            <a:off x="6248400" y="4448175"/>
            <a:ext cx="5410200" cy="1903095"/>
            <a:chOff x="6248400" y="4448175"/>
            <a:chExt cx="5410200" cy="1903095"/>
          </a:xfrm>
        </p:grpSpPr>
        <p:sp>
          <p:nvSpPr>
            <p:cNvPr id="39" name="Rectangle 39"/>
            <p:cNvSpPr/>
            <p:nvPr/>
          </p:nvSpPr>
          <p:spPr>
            <a:xfrm>
              <a:off x="6248400" y="4448175"/>
              <a:ext cx="5410200" cy="1903095"/>
            </a:xfrm>
            <a:prstGeom prst="roundRect">
              <a:avLst>
                <a:gd name="adj" fmla="val 700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257925" y="4581525"/>
              <a:ext cx="47625" cy="163639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496050" y="465772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78359" y="46934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成组链接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488430" y="5034915"/>
              <a:ext cx="47682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 个空闲块为一组，每组的块号表存在上一组的链接块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里，超级块中只放当前一组。速度快，空间省。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23120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操作系统原理 试题解析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414643" cy="909257"/>
            <a:chOff x="520446" y="342900"/>
            <a:chExt cx="941464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4503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4524" y="407194"/>
              <a:ext cx="20027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试题解析 · 调度、死锁与分配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41464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五、解：s_nfree 减到 0 时，把链接块 50 的内容读入超级块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steps-1"/>
          <p:cNvGrpSpPr/>
          <p:nvPr/>
        </p:nvGrpSpPr>
        <p:grpSpPr>
          <a:xfrm>
            <a:off x="533400" y="1533525"/>
            <a:ext cx="4669536" cy="2011109"/>
            <a:chOff x="533400" y="1533525"/>
            <a:chExt cx="4669536" cy="2011109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4630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5455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283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99656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30703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5261" y="1566386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取块号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6404" y="1846898"/>
              <a:ext cx="30249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s_nfree 由 1 减为 0，取 s_free[0] = 50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5261" y="218741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换组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404" y="2467927"/>
              <a:ext cx="425653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s_nfree 为 0 说明 50 是链接块：把块 50 中的 s_nfree = 5 和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s_free[] = 150、60、63、69、80 读入超级块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261" y="302942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分配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404" y="3309938"/>
              <a:ext cx="26615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 50 的内容已转存，块 50 分配出去</a:t>
              </a:r>
            </a:p>
          </p:txBody>
        </p:sp>
      </p:grpSp>
      <p:grpSp>
        <p:nvGrpSpPr>
          <p:cNvPr id="26" name="c1-callout-2"/>
          <p:cNvGrpSpPr/>
          <p:nvPr/>
        </p:nvGrpSpPr>
        <p:grpSpPr>
          <a:xfrm>
            <a:off x="533400" y="3720465"/>
            <a:ext cx="5193982" cy="518160"/>
            <a:chOff x="533400" y="3720465"/>
            <a:chExt cx="5193982" cy="518160"/>
          </a:xfrm>
        </p:grpSpPr>
        <p:sp>
          <p:nvSpPr>
            <p:cNvPr id="21" name="Rectangle 21"/>
            <p:cNvSpPr/>
            <p:nvPr/>
          </p:nvSpPr>
          <p:spPr>
            <a:xfrm>
              <a:off x="533400" y="3720465"/>
              <a:ext cx="5193982" cy="518160"/>
            </a:xfrm>
            <a:prstGeom prst="roundRect">
              <a:avLst>
                <a:gd name="adj" fmla="val 2205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738188" y="3879533"/>
              <a:ext cx="200026" cy="200026"/>
              <a:chOff x="738188" y="3879533"/>
              <a:chExt cx="200026" cy="200026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738188" y="387953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04863" y="395732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040511" y="3880009"/>
              <a:ext cx="256646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 (1)：分配的磁盘块号是 50</a:t>
              </a:r>
            </a:p>
          </p:txBody>
        </p:sp>
      </p:grpSp>
      <p:grpSp>
        <p:nvGrpSpPr>
          <p:cNvPr id="32" name="c1-card-3"/>
          <p:cNvGrpSpPr/>
          <p:nvPr/>
        </p:nvGrpSpPr>
        <p:grpSpPr>
          <a:xfrm>
            <a:off x="533400" y="4424362"/>
            <a:ext cx="5193982" cy="1545908"/>
            <a:chOff x="533400" y="4424362"/>
            <a:chExt cx="5193982" cy="1545908"/>
          </a:xfrm>
        </p:grpSpPr>
        <p:sp>
          <p:nvSpPr>
            <p:cNvPr id="27" name="Rectangle 27"/>
            <p:cNvSpPr/>
            <p:nvPr/>
          </p:nvSpPr>
          <p:spPr>
            <a:xfrm>
              <a:off x="533400" y="4424362"/>
              <a:ext cx="5193982" cy="1545908"/>
            </a:xfrm>
            <a:prstGeom prst="roundRect">
              <a:avLst>
                <a:gd name="adj" fmla="val 86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42925" y="4557712"/>
              <a:ext cx="47625" cy="127920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75335" y="4628198"/>
              <a:ext cx="762952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58128" y="4663916"/>
              <a:ext cx="598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回收块 b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8096" y="5001101"/>
              <a:ext cx="4468876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s_nfree 已满（本题为 5），先把超级块中的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s_nfree 和 s_free[] 写入块 b，令 s_nfree = 0，b 成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为新的链接块；再执行 s_free[s_nfree++] = b。</a:t>
              </a:r>
            </a:p>
          </p:txBody>
        </p:sp>
      </p:grpSp>
      <p:grpSp>
        <p:nvGrpSpPr>
          <p:cNvPr id="80" name="c2-cells-1"/>
          <p:cNvGrpSpPr/>
          <p:nvPr/>
        </p:nvGrpSpPr>
        <p:grpSpPr>
          <a:xfrm>
            <a:off x="6026086" y="1571149"/>
            <a:ext cx="5632514" cy="1810227"/>
            <a:chOff x="6026086" y="1571149"/>
            <a:chExt cx="5632514" cy="1810227"/>
          </a:xfrm>
        </p:grpSpPr>
        <p:sp>
          <p:nvSpPr>
            <p:cNvPr id="33" name="TextBox 33"/>
            <p:cNvSpPr txBox="1"/>
            <p:nvPr/>
          </p:nvSpPr>
          <p:spPr>
            <a:xfrm>
              <a:off x="6026086" y="1957388"/>
              <a:ext cx="9959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super_block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7093268" y="1828800"/>
              <a:ext cx="65246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367233" y="19573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7745730" y="1828800"/>
              <a:ext cx="652462" cy="4067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925452" y="1957388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150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398192" y="1828800"/>
              <a:ext cx="65246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624560" y="195738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60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9049702" y="1828800"/>
              <a:ext cx="65246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277022" y="195738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63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9702165" y="1828800"/>
              <a:ext cx="65246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928532" y="195738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69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10354628" y="1828800"/>
              <a:ext cx="65246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0580995" y="195738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80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148363" y="1571149"/>
              <a:ext cx="54322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s_nfree</a:t>
              </a:r>
            </a:p>
          </p:txBody>
        </p:sp>
        <p:sp>
          <p:nvSpPr>
            <p:cNvPr id="47" name="Freeform 47"/>
            <p:cNvSpPr/>
            <p:nvPr/>
          </p:nvSpPr>
          <p:spPr>
            <a:xfrm>
              <a:off x="7381875" y="173355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723685" y="1571149"/>
              <a:ext cx="69560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s_free[0]</a:t>
              </a:r>
            </a:p>
          </p:txBody>
        </p:sp>
        <p:sp>
          <p:nvSpPr>
            <p:cNvPr id="49" name="Freeform 49"/>
            <p:cNvSpPr/>
            <p:nvPr/>
          </p:nvSpPr>
          <p:spPr>
            <a:xfrm>
              <a:off x="8033385" y="173355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026086" y="2529840"/>
              <a:ext cx="5044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块 150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7093268" y="2401252"/>
              <a:ext cx="65246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367233" y="252984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7745730" y="2401252"/>
              <a:ext cx="652462" cy="4067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925452" y="2529840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250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8398192" y="2401252"/>
              <a:ext cx="65246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577914" y="2529840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201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9049702" y="2401252"/>
              <a:ext cx="65246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9230377" y="2529840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202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9702165" y="2401252"/>
              <a:ext cx="65246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9881887" y="2529840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203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10354628" y="2401252"/>
              <a:ext cx="65246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10534349" y="2529840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206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11006138" y="2401252"/>
              <a:ext cx="65246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11186812" y="2529840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210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026086" y="3103245"/>
              <a:ext cx="5044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块 250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7093268" y="2974658"/>
              <a:ext cx="65246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7367233" y="310324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7745730" y="2974658"/>
              <a:ext cx="652462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7921211" y="3103245"/>
              <a:ext cx="3005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null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8398192" y="2974658"/>
              <a:ext cx="65246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8577914" y="3103245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170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9049702" y="2974658"/>
              <a:ext cx="65246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9230377" y="3103245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175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9702165" y="2974658"/>
              <a:ext cx="65246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9881887" y="3103245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177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10354628" y="2974658"/>
              <a:ext cx="65246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10534349" y="3103245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180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11006138" y="2974658"/>
              <a:ext cx="65246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11186812" y="3103245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188</a:t>
              </a:r>
            </a:p>
          </p:txBody>
        </p:sp>
      </p:grpSp>
      <p:grpSp>
        <p:nvGrpSpPr>
          <p:cNvPr id="86" name="c2-callout-2"/>
          <p:cNvGrpSpPr/>
          <p:nvPr/>
        </p:nvGrpSpPr>
        <p:grpSpPr>
          <a:xfrm>
            <a:off x="6032182" y="3566160"/>
            <a:ext cx="5626418" cy="756285"/>
            <a:chOff x="6032182" y="3566160"/>
            <a:chExt cx="5626418" cy="756285"/>
          </a:xfrm>
        </p:grpSpPr>
        <p:sp>
          <p:nvSpPr>
            <p:cNvPr id="81" name="Rectangle 81"/>
            <p:cNvSpPr/>
            <p:nvPr/>
          </p:nvSpPr>
          <p:spPr>
            <a:xfrm>
              <a:off x="6032182" y="3566160"/>
              <a:ext cx="5626418" cy="756285"/>
            </a:xfrm>
            <a:prstGeom prst="roundRect">
              <a:avLst>
                <a:gd name="adj" fmla="val 15113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84" name="Group 84"/>
            <p:cNvGrpSpPr/>
            <p:nvPr/>
          </p:nvGrpSpPr>
          <p:grpSpPr>
            <a:xfrm>
              <a:off x="6236970" y="3844292"/>
              <a:ext cx="200023" cy="200023"/>
              <a:chOff x="6236970" y="3844292"/>
              <a:chExt cx="200023" cy="200023"/>
            </a:xfrm>
          </p:grpSpPr>
          <p:sp>
            <p:nvSpPr>
              <p:cNvPr id="82" name="Freeform 82"/>
              <p:cNvSpPr/>
              <p:nvPr/>
            </p:nvSpPr>
            <p:spPr>
              <a:xfrm>
                <a:off x="6236970" y="384429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6370320" y="391096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85" name="TextBox 85"/>
            <p:cNvSpPr txBox="1"/>
            <p:nvPr/>
          </p:nvSpPr>
          <p:spPr>
            <a:xfrm>
              <a:off x="6539294" y="3713321"/>
              <a:ext cx="4721352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 (2)：s_nfree = 5，s_free[0]～[4] = 150、60、63、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69、80；链表为 super_block → 块 150 → 块 250 → null</a:t>
              </a:r>
            </a:p>
          </p:txBody>
        </p:sp>
      </p:grpSp>
      <p:grpSp>
        <p:nvGrpSpPr>
          <p:cNvPr id="92" name="c2-card-3"/>
          <p:cNvGrpSpPr/>
          <p:nvPr/>
        </p:nvGrpSpPr>
        <p:grpSpPr>
          <a:xfrm>
            <a:off x="6032182" y="4508182"/>
            <a:ext cx="5626418" cy="1463040"/>
            <a:chOff x="6032182" y="4508182"/>
            <a:chExt cx="5626418" cy="1463040"/>
          </a:xfrm>
        </p:grpSpPr>
        <p:sp>
          <p:nvSpPr>
            <p:cNvPr id="87" name="Rectangle 87"/>
            <p:cNvSpPr/>
            <p:nvPr/>
          </p:nvSpPr>
          <p:spPr>
            <a:xfrm>
              <a:off x="6032182" y="4508182"/>
              <a:ext cx="5626418" cy="1463040"/>
            </a:xfrm>
            <a:prstGeom prst="roundRect">
              <a:avLst>
                <a:gd name="adj" fmla="val 911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8" name="Rectangle 88"/>
            <p:cNvSpPr/>
            <p:nvPr/>
          </p:nvSpPr>
          <p:spPr>
            <a:xfrm>
              <a:off x="6041708" y="4641532"/>
              <a:ext cx="47625" cy="119634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89" name="Rectangle 89"/>
            <p:cNvSpPr/>
            <p:nvPr/>
          </p:nvSpPr>
          <p:spPr>
            <a:xfrm>
              <a:off x="6274118" y="4712018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6368275" y="474773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注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6266879" y="5084921"/>
              <a:ext cx="485660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原题图中块 150、250 除链接号外各列出 5 个块号（多出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210、188），与 s_free[5] 的定义不符，不影响本题答案。</a:t>
              </a:r>
            </a:p>
          </p:txBody>
        </p:sp>
      </p:grpSp>
      <p:grpSp>
        <p:nvGrpSpPr>
          <p:cNvPr id="9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3" name="TextBox 93"/>
            <p:cNvSpPr txBox="1"/>
            <p:nvPr/>
          </p:nvSpPr>
          <p:spPr>
            <a:xfrm>
              <a:off x="528447" y="6581299"/>
              <a:ext cx="23120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操作系统原理 试题解析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313170" cy="3675697"/>
            <a:chOff x="667512" y="1835468"/>
            <a:chExt cx="6313170" cy="367569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29592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 · 综合题（二）与补充练习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36752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同步、虚存、磁盘与练习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303264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六、信号量　七、虚拟存储　八、磁盘调度　补充：银行家算法、页</a:t>
              </a:r>
              <a:br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面置换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421195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4154805"/>
              <a:ext cx="28725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一条消息被 n 个消费者各读一次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56628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50913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地址拆分与二次机会淘汰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92061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863465"/>
              <a:ext cx="180232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步扫描与访问时间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527494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5217795"/>
              <a:ext cx="29001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安全性检查与 OPT、FIFO、LRU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3120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操作系统原理 试题解析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606622" cy="909257"/>
            <a:chOff x="520446" y="342900"/>
            <a:chExt cx="960662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7175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1722" y="407194"/>
              <a:ext cx="24551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试题解析 · 同步、虚存、磁盘与练习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60662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六、信号量与 P、V 操作（10 分）：先找合作关系，再放 P、V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193982" cy="2540318"/>
            <a:chOff x="533400" y="1524000"/>
            <a:chExt cx="5193982" cy="254031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2540318"/>
            </a:xfrm>
            <a:prstGeom prst="roundRect">
              <a:avLst>
                <a:gd name="adj" fmla="val 524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5805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7245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题目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8947" y="2072640"/>
              <a:ext cx="4497134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设系统有多个生产者进程向 1 个缓冲区不断发消息，n 个消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费者进程从该缓冲区取消息。该缓冲区只能存放 1 条消息，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并且对每条放入缓冲区的消息，所有消费者都必须接收 1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次，生产者才可以继续向缓冲区发消息。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8947" y="3147060"/>
              <a:ext cx="462572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用信号量和 P、V 操作完成生产者和消费者发、收消息的描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述：(1) 给出信号量的定义、初值及其含义；(2) 实现对缓冲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区及消息操作的互斥与同步；(3) 用类 C 语言伪代码描述。</a:t>
              </a:r>
            </a:p>
          </p:txBody>
        </p:sp>
      </p:grpSp>
      <p:grpSp>
        <p:nvGrpSpPr>
          <p:cNvPr id="26" name="c1-card-2"/>
          <p:cNvGrpSpPr/>
          <p:nvPr/>
        </p:nvGrpSpPr>
        <p:grpSpPr>
          <a:xfrm>
            <a:off x="533400" y="4239578"/>
            <a:ext cx="5193982" cy="1814512"/>
            <a:chOff x="533400" y="4239578"/>
            <a:chExt cx="5193982" cy="1814512"/>
          </a:xfrm>
        </p:grpSpPr>
        <p:sp>
          <p:nvSpPr>
            <p:cNvPr id="13" name="Rectangle 13"/>
            <p:cNvSpPr/>
            <p:nvPr/>
          </p:nvSpPr>
          <p:spPr>
            <a:xfrm>
              <a:off x="533400" y="4239578"/>
              <a:ext cx="5193982" cy="1814512"/>
            </a:xfrm>
            <a:prstGeom prst="roundRect">
              <a:avLst>
                <a:gd name="adj" fmla="val 734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4372928"/>
              <a:ext cx="47625" cy="1547812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63905" y="4431982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47344" y="446627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解题步骤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63905" y="4776788"/>
              <a:ext cx="192405" cy="19240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19583" y="481517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44702" y="4789170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找出活动体，写出各自的工作过程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63905" y="5078730"/>
              <a:ext cx="192405" cy="19240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9583" y="511806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44702" y="5091112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找出活动体之间的合作关系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63905" y="5381625"/>
              <a:ext cx="192405" cy="19240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19583" y="542001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44702" y="5394008"/>
              <a:ext cx="424853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需要等待的地方之前 P，需要唤醒的地方之后 V；有几类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资源就定义几类信号量</a:t>
              </a:r>
            </a:p>
          </p:txBody>
        </p:sp>
      </p:grpSp>
      <p:grpSp>
        <p:nvGrpSpPr>
          <p:cNvPr id="52" name="c2-table-1"/>
          <p:cNvGrpSpPr/>
          <p:nvPr/>
        </p:nvGrpSpPr>
        <p:grpSpPr>
          <a:xfrm>
            <a:off x="6026848" y="1524000"/>
            <a:ext cx="5631752" cy="2508504"/>
            <a:chOff x="6026848" y="1524000"/>
            <a:chExt cx="5631752" cy="2508504"/>
          </a:xfrm>
        </p:grpSpPr>
        <p:sp>
          <p:nvSpPr>
            <p:cNvPr id="27" name="Rectangle 27"/>
            <p:cNvSpPr/>
            <p:nvPr/>
          </p:nvSpPr>
          <p:spPr>
            <a:xfrm>
              <a:off x="6032182" y="1524000"/>
              <a:ext cx="5626418" cy="40576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185256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条件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003299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合作关系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658196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做法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292494" y="215407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①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751320" y="2054066"/>
              <a:ext cx="285623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生产者放入前，要确认所有消费者都取过上一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070783" y="2154079"/>
              <a:ext cx="9496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放入前 P(S1)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032182" y="253079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032182" y="2535555"/>
              <a:ext cx="562641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292494" y="26598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②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751320" y="2659856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消费者取之前，要确认缓冲区中有新消息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070783" y="2659856"/>
              <a:ext cx="9496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取之前 P(S2)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032182" y="293655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292494" y="306562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③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751320" y="3065621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生产者放入后要唤醒消费者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070783" y="3065621"/>
              <a:ext cx="9496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放入后 V(S2)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032182" y="334232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032182" y="3347085"/>
              <a:ext cx="562641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292494" y="347138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④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751320" y="3471386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消费者取完后要通知生产者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070783" y="3471386"/>
              <a:ext cx="9496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取完后 V(S1)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032182" y="1524000"/>
              <a:ext cx="5626418" cy="22288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6646545" y="1524000"/>
              <a:ext cx="9525" cy="22288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9966008" y="1524000"/>
              <a:ext cx="9525" cy="22288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026848" y="3827145"/>
              <a:ext cx="35444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活动体：生产者（生产、放入）、消费者（取出、消费）</a:t>
              </a:r>
            </a:p>
          </p:txBody>
        </p:sp>
      </p:grpSp>
      <p:grpSp>
        <p:nvGrpSpPr>
          <p:cNvPr id="59" name="c2-callout-2"/>
          <p:cNvGrpSpPr/>
          <p:nvPr/>
        </p:nvGrpSpPr>
        <p:grpSpPr>
          <a:xfrm>
            <a:off x="6032182" y="4166235"/>
            <a:ext cx="5626418" cy="729615"/>
            <a:chOff x="6032182" y="4166235"/>
            <a:chExt cx="5626418" cy="729615"/>
          </a:xfrm>
        </p:grpSpPr>
        <p:sp>
          <p:nvSpPr>
            <p:cNvPr id="53" name="Rectangle 53"/>
            <p:cNvSpPr/>
            <p:nvPr/>
          </p:nvSpPr>
          <p:spPr>
            <a:xfrm>
              <a:off x="6032182" y="4166235"/>
              <a:ext cx="5626418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6236970" y="4431030"/>
              <a:ext cx="200026" cy="200026"/>
              <a:chOff x="6236970" y="4431030"/>
              <a:chExt cx="200026" cy="200026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6236970" y="443103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6336983" y="449770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6325870" y="453104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6539674" y="4312920"/>
              <a:ext cx="470287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同步的基本形式：信号量初值 0，先动作的进程做完后 V(S)，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后动作的进程动作前 P(S)。</a:t>
              </a:r>
            </a:p>
          </p:txBody>
        </p:sp>
      </p:grpSp>
      <p:grpSp>
        <p:nvGrpSpPr>
          <p:cNvPr id="66" name="c2-callout-3"/>
          <p:cNvGrpSpPr/>
          <p:nvPr/>
        </p:nvGrpSpPr>
        <p:grpSpPr>
          <a:xfrm>
            <a:off x="6032182" y="5071110"/>
            <a:ext cx="5626418" cy="982980"/>
            <a:chOff x="6032182" y="5071110"/>
            <a:chExt cx="5626418" cy="982980"/>
          </a:xfrm>
        </p:grpSpPr>
        <p:sp>
          <p:nvSpPr>
            <p:cNvPr id="60" name="Rectangle 60"/>
            <p:cNvSpPr/>
            <p:nvPr/>
          </p:nvSpPr>
          <p:spPr>
            <a:xfrm>
              <a:off x="6032182" y="5071110"/>
              <a:ext cx="5626418" cy="982980"/>
            </a:xfrm>
            <a:prstGeom prst="roundRect">
              <a:avLst>
                <a:gd name="adj" fmla="val 11628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6224912" y="5458896"/>
              <a:ext cx="224134" cy="192560"/>
              <a:chOff x="6224912" y="5458896"/>
              <a:chExt cx="224134" cy="192560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6336983" y="55292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6224912" y="54588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6336983" y="56070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6539674" y="5344478"/>
              <a:ext cx="473716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难点：一条消息要 n 个消费者各读一次，S2 必须每个消费者一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个；S1 要等 n 个都读完才放行。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23120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操作系统原理 试题解析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778521" cy="909257"/>
            <a:chOff x="520446" y="342900"/>
            <a:chExt cx="977852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7175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1722" y="407194"/>
              <a:ext cx="24551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试题解析 · 同步、虚存、磁盘与练习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77852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六、解法 1：用计数器 count 统计本条消息已被几个消费者读过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626418" cy="3344228"/>
            <a:chOff x="533400" y="1524000"/>
            <a:chExt cx="5626418" cy="334422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3344228"/>
            </a:xfrm>
            <a:prstGeom prst="roundRect">
              <a:avLst>
                <a:gd name="adj" fmla="val 284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信号量定义与生产者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416" y="1937385"/>
              <a:ext cx="3871151" cy="28590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semaphore mutex = 1;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缓冲区读写互斥 */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semaphore S1 = 1;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上一条已被读完 */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semaphore S2[n];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各为 0，通知消费者 i */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message buffer;</a:t>
              </a:r>
              <a:br/>
              <a:r>
                <a:rPr lang="en-US" sz="105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count = 0;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本条已读人数 */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05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producer()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message ms;  </a:t>
              </a:r>
              <a:r>
                <a:rPr lang="en-US" sz="105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(1)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ms = produce();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P(S1);            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条件① */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P(mutex); write(buffer, ms); V(mutex);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5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= 0; i &lt; n; i++) V(S2[i]);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条件③ */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7" name="c1-callout-2"/>
          <p:cNvGrpSpPr/>
          <p:nvPr/>
        </p:nvGrpSpPr>
        <p:grpSpPr>
          <a:xfrm>
            <a:off x="533400" y="5048250"/>
            <a:ext cx="5626418" cy="1225868"/>
            <a:chOff x="533400" y="5048250"/>
            <a:chExt cx="5626418" cy="1225868"/>
          </a:xfrm>
        </p:grpSpPr>
        <p:sp>
          <p:nvSpPr>
            <p:cNvPr id="11" name="Rectangle 11"/>
            <p:cNvSpPr/>
            <p:nvPr/>
          </p:nvSpPr>
          <p:spPr>
            <a:xfrm>
              <a:off x="533400" y="5048250"/>
              <a:ext cx="5626418" cy="1225868"/>
            </a:xfrm>
            <a:prstGeom prst="roundRect">
              <a:avLst>
                <a:gd name="adj" fmla="val 9324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738188" y="5561648"/>
              <a:ext cx="200026" cy="200025"/>
              <a:chOff x="738188" y="5561648"/>
              <a:chExt cx="200026" cy="20002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38188" y="556164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777926" y="560609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12642" y="571722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040511" y="5430679"/>
              <a:ext cx="4595114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S1 初值为 1：第一条消息不用等；之后要等第 n 个消费者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读完才 V(S1)。</a:t>
              </a:r>
            </a:p>
          </p:txBody>
        </p:sp>
      </p:grpSp>
      <p:grpSp>
        <p:nvGrpSpPr>
          <p:cNvPr id="22" name="c2-code-1"/>
          <p:cNvGrpSpPr/>
          <p:nvPr/>
        </p:nvGrpSpPr>
        <p:grpSpPr>
          <a:xfrm>
            <a:off x="6464618" y="1524000"/>
            <a:ext cx="5193982" cy="2776538"/>
            <a:chOff x="6464618" y="1524000"/>
            <a:chExt cx="5193982" cy="2776538"/>
          </a:xfrm>
        </p:grpSpPr>
        <p:sp>
          <p:nvSpPr>
            <p:cNvPr id="18" name="Rectangle 18"/>
            <p:cNvSpPr/>
            <p:nvPr/>
          </p:nvSpPr>
          <p:spPr>
            <a:xfrm>
              <a:off x="6464618" y="1524000"/>
              <a:ext cx="5193982" cy="2776538"/>
            </a:xfrm>
            <a:prstGeom prst="roundRect">
              <a:avLst>
                <a:gd name="adj" fmla="val 343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593015" y="1675924"/>
              <a:ext cx="14175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消费者 i（0 ≤ i ≤ n−1）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483668" y="3223260"/>
              <a:ext cx="5155882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592634" y="1937385"/>
              <a:ext cx="4164521" cy="22903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consumer(</a:t>
              </a:r>
              <a:r>
                <a:rPr lang="en-US" sz="105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message ms;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(1)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P(S2[i]);         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条件② */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P(mutex);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ms = read(buffer);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count = count + 1;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5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(count == n) { count = 0; V(S1); }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条件④ */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V(mutex);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consume(ms);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8" name="c2-card-2"/>
          <p:cNvGrpSpPr/>
          <p:nvPr/>
        </p:nvGrpSpPr>
        <p:grpSpPr>
          <a:xfrm>
            <a:off x="6464618" y="4480560"/>
            <a:ext cx="5193982" cy="1793558"/>
            <a:chOff x="6464618" y="4480560"/>
            <a:chExt cx="5193982" cy="1793558"/>
          </a:xfrm>
        </p:grpSpPr>
        <p:sp>
          <p:nvSpPr>
            <p:cNvPr id="23" name="Rectangle 23"/>
            <p:cNvSpPr/>
            <p:nvPr/>
          </p:nvSpPr>
          <p:spPr>
            <a:xfrm>
              <a:off x="6464618" y="4480560"/>
              <a:ext cx="5193982" cy="1793558"/>
            </a:xfrm>
            <a:prstGeom prst="roundRect">
              <a:avLst>
                <a:gd name="adj" fmla="val 743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474142" y="4613910"/>
              <a:ext cx="47625" cy="152685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700838" y="467868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92278" y="4712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693598" y="5039201"/>
              <a:ext cx="4486910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原课件消费者没有把 count 清 0：第二条消息起 count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 n 继续增大，再也不等于 n，生产者永远阻塞在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P(S1)。用线程模拟验证过，加上 count = 0 后每条消息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个消费者各收到一次。</a:t>
              </a:r>
            </a:p>
          </p:txBody>
        </p:sp>
      </p:grpSp>
      <p:grpSp>
        <p:nvGrpSpPr>
          <p:cNvPr id="3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9" name="TextBox 29"/>
            <p:cNvSpPr txBox="1"/>
            <p:nvPr/>
          </p:nvSpPr>
          <p:spPr>
            <a:xfrm>
              <a:off x="528447" y="6581299"/>
              <a:ext cx="23120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操作系统原理 试题解析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897811" cy="909257"/>
            <a:chOff x="520446" y="342900"/>
            <a:chExt cx="989781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7175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1722" y="407194"/>
              <a:ext cx="24551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试题解析 · 同步、虚存、磁盘与练习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89781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六、解法 2：每个消费者一对信号量 read_n[k] 与 write_n[k]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626418" cy="3342322"/>
            <a:chOff x="533400" y="1524000"/>
            <a:chExt cx="5626418" cy="334232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3342322"/>
            </a:xfrm>
            <a:prstGeom prst="roundRect">
              <a:avLst>
                <a:gd name="adj" fmla="val 285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信号量定义与生产者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4726686" cy="2857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semaphore mutex = 1;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缓冲区读写互斥 */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semaphore read_n[n];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各为 1：k 已读完 */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semaphore write_n[n];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各为 0：已为 k 写入 */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message buffer;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producer()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i;  message ms;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(1)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ms = produce();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= 0; i &lt; n; i++) P(read_n[i]);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都读完？ */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P(mutex); write(buffer, ms); V(mutex);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= 0; i &lt; n; i++) V(write_n[i]);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通知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6" name="c1-card-2"/>
          <p:cNvGrpSpPr/>
          <p:nvPr/>
        </p:nvGrpSpPr>
        <p:grpSpPr>
          <a:xfrm>
            <a:off x="533400" y="5052060"/>
            <a:ext cx="5626418" cy="1274445"/>
            <a:chOff x="533400" y="5052060"/>
            <a:chExt cx="5626418" cy="1274445"/>
          </a:xfrm>
        </p:grpSpPr>
        <p:sp>
          <p:nvSpPr>
            <p:cNvPr id="11" name="Rectangle 11"/>
            <p:cNvSpPr/>
            <p:nvPr/>
          </p:nvSpPr>
          <p:spPr>
            <a:xfrm>
              <a:off x="533400" y="5052060"/>
              <a:ext cx="5626418" cy="1274445"/>
            </a:xfrm>
            <a:prstGeom prst="roundRect">
              <a:avLst>
                <a:gd name="adj" fmla="val 10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42925" y="5185410"/>
              <a:ext cx="47625" cy="100774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75335" y="5255895"/>
              <a:ext cx="177450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27138" y="5291614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多个生产者不会互相卡住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8096" y="5628799"/>
              <a:ext cx="471233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每个生产者都按 read_n[0]、read_n[1]、… 的同一顺序申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请，相当于有序分配，生产者之间形不成循环等待。</a:t>
              </a:r>
            </a:p>
          </p:txBody>
        </p:sp>
      </p:grpSp>
      <p:grpSp>
        <p:nvGrpSpPr>
          <p:cNvPr id="20" name="c2-code-1"/>
          <p:cNvGrpSpPr/>
          <p:nvPr/>
        </p:nvGrpSpPr>
        <p:grpSpPr>
          <a:xfrm>
            <a:off x="6464618" y="1524000"/>
            <a:ext cx="5193982" cy="2327910"/>
            <a:chOff x="6464618" y="1524000"/>
            <a:chExt cx="5193982" cy="2327910"/>
          </a:xfrm>
        </p:grpSpPr>
        <p:sp>
          <p:nvSpPr>
            <p:cNvPr id="17" name="Rectangle 17"/>
            <p:cNvSpPr/>
            <p:nvPr/>
          </p:nvSpPr>
          <p:spPr>
            <a:xfrm>
              <a:off x="6464618" y="1524000"/>
              <a:ext cx="5193982" cy="2327910"/>
            </a:xfrm>
            <a:prstGeom prst="roundRect">
              <a:avLst>
                <a:gd name="adj" fmla="val 409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593015" y="1675924"/>
              <a:ext cx="14868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消费者 k（0 ≤ k ≤ n−1）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92252" y="1937861"/>
              <a:ext cx="3610102" cy="1843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consumer(</a:t>
              </a:r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message ms;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(1)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P(write_n[k]);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有新消息？ */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P(mutex); ms = read(buffer); V(mutex);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V(read_n[k]);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告诉生产者 */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consume(ms);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7" name="c2-callout-2"/>
          <p:cNvGrpSpPr/>
          <p:nvPr/>
        </p:nvGrpSpPr>
        <p:grpSpPr>
          <a:xfrm>
            <a:off x="6464618" y="4037648"/>
            <a:ext cx="5193982" cy="756285"/>
            <a:chOff x="6464618" y="4037648"/>
            <a:chExt cx="5193982" cy="756285"/>
          </a:xfrm>
        </p:grpSpPr>
        <p:sp>
          <p:nvSpPr>
            <p:cNvPr id="21" name="Rectangle 21"/>
            <p:cNvSpPr/>
            <p:nvPr/>
          </p:nvSpPr>
          <p:spPr>
            <a:xfrm>
              <a:off x="6464618" y="4037648"/>
              <a:ext cx="5193982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6669405" y="4315778"/>
              <a:ext cx="200026" cy="200026"/>
              <a:chOff x="6669405" y="4315778"/>
              <a:chExt cx="200026" cy="200026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6669405" y="431577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769418" y="438245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758305" y="441579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6971729" y="4184809"/>
              <a:ext cx="3990975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与解法 1 相比：不用计数器，生产者逐个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P(read_n[k]) 就等于确认 n 个消费者都读完了。</a:t>
              </a:r>
            </a:p>
          </p:txBody>
        </p:sp>
      </p:grpSp>
      <p:grpSp>
        <p:nvGrpSpPr>
          <p:cNvPr id="33" name="c2-card-3"/>
          <p:cNvGrpSpPr/>
          <p:nvPr/>
        </p:nvGrpSpPr>
        <p:grpSpPr>
          <a:xfrm>
            <a:off x="6464618" y="4978718"/>
            <a:ext cx="5193982" cy="1347788"/>
            <a:chOff x="6464618" y="4978718"/>
            <a:chExt cx="5193982" cy="1347788"/>
          </a:xfrm>
        </p:grpSpPr>
        <p:sp>
          <p:nvSpPr>
            <p:cNvPr id="28" name="Rectangle 28"/>
            <p:cNvSpPr/>
            <p:nvPr/>
          </p:nvSpPr>
          <p:spPr>
            <a:xfrm>
              <a:off x="6464618" y="4978718"/>
              <a:ext cx="5193982" cy="1347788"/>
            </a:xfrm>
            <a:prstGeom prst="roundRect">
              <a:avLst>
                <a:gd name="adj" fmla="val 98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474142" y="5112068"/>
              <a:ext cx="47625" cy="108108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706552" y="518255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797713" y="521827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699314" y="5555456"/>
              <a:ext cx="45229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原课件代码中的 i&lt;m、read_m[k] 应为 i&lt;n、read_n[k]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（题中没有 m），whlie 应为 while。</a:t>
              </a:r>
            </a:p>
          </p:txBody>
        </p:sp>
      </p:grpSp>
      <p:grpSp>
        <p:nvGrpSpPr>
          <p:cNvPr id="3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4" name="TextBox 34"/>
            <p:cNvSpPr txBox="1"/>
            <p:nvPr/>
          </p:nvSpPr>
          <p:spPr>
            <a:xfrm>
              <a:off x="528447" y="6581299"/>
              <a:ext cx="23120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操作系统原理 试题解析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543374" cy="909257"/>
            <a:chOff x="520446" y="342900"/>
            <a:chExt cx="954337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7175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1722" y="407194"/>
              <a:ext cx="24551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试题解析 · 同步、虚存、磁盘与练习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54337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七、虚拟存储管理（10 分）：页长 512 字节，工作集固定为 4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626418" cy="2843212"/>
            <a:chOff x="533400" y="1524000"/>
            <a:chExt cx="5626418" cy="284321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843212"/>
            </a:xfrm>
            <a:prstGeom prst="roundRect">
              <a:avLst>
                <a:gd name="adj" fmla="val 469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5805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7245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题目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8947" y="2072640"/>
              <a:ext cx="4968621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某虚拟页式存储管理，页长为 512 Bytes，工作集固定为 4，缺页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中断时基于局部置换策略并采用二次机会（Second Chance）淘汰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算法。内存空间为 64 KB，进程最大空间为 64 KB。设进程 P 当前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页表如右。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8947" y="3147060"/>
              <a:ext cx="495147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(1) 进程 P 访问虚拟地址 0C9EH 和 15DBH 时，访问的逻辑页号分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别是多少？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18947" y="3707130"/>
              <a:ext cx="502005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(2) 问题 (1) 中两个虚拟地址访问对应的物理页框号和物理地址分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别是多少？</a:t>
              </a:r>
            </a:p>
          </p:txBody>
        </p:sp>
      </p:grpSp>
      <p:grpSp>
        <p:nvGrpSpPr>
          <p:cNvPr id="27" name="c1-steps-2"/>
          <p:cNvGrpSpPr/>
          <p:nvPr/>
        </p:nvGrpSpPr>
        <p:grpSpPr>
          <a:xfrm>
            <a:off x="533400" y="4551998"/>
            <a:ext cx="4701545" cy="1693069"/>
            <a:chOff x="533400" y="4551998"/>
            <a:chExt cx="4701545" cy="1693069"/>
          </a:xfrm>
        </p:grpSpPr>
        <p:sp>
          <p:nvSpPr>
            <p:cNvPr id="14" name="Rectangle 14"/>
            <p:cNvSpPr/>
            <p:nvPr/>
          </p:nvSpPr>
          <p:spPr>
            <a:xfrm>
              <a:off x="666750" y="4694872"/>
              <a:ext cx="19050" cy="1173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533400" y="455199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7024" y="46258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33400" y="513873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7024" y="52125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572547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7024" y="57992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5642" y="458343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拆地址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6785" y="4851559"/>
              <a:ext cx="42331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十六进制写成 16 位二进制，高 7 位是页号，低 9 位是页内地址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5642" y="517017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查页表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6785" y="5438299"/>
              <a:ext cx="2551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页号在表中：取页框号，访问标志置 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5642" y="575786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缺页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6785" y="6025039"/>
              <a:ext cx="42881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不在表中：在 P 的 4 页里按二次机会淘汰一页，装入后再拼地址</a:t>
              </a:r>
            </a:p>
          </p:txBody>
        </p:sp>
      </p:grpSp>
      <p:grpSp>
        <p:nvGrpSpPr>
          <p:cNvPr id="58" name="c2-table-1"/>
          <p:cNvGrpSpPr/>
          <p:nvPr/>
        </p:nvGrpSpPr>
        <p:grpSpPr>
          <a:xfrm>
            <a:off x="6464618" y="1524000"/>
            <a:ext cx="5193982" cy="2223136"/>
            <a:chOff x="6464618" y="1524000"/>
            <a:chExt cx="5193982" cy="2223136"/>
          </a:xfrm>
        </p:grpSpPr>
        <p:sp>
          <p:nvSpPr>
            <p:cNvPr id="28" name="Rectangle 28"/>
            <p:cNvSpPr/>
            <p:nvPr/>
          </p:nvSpPr>
          <p:spPr>
            <a:xfrm>
              <a:off x="6464618" y="1524000"/>
              <a:ext cx="5193982" cy="44481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764846" y="165163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逻辑页号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111109" y="1651635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页框号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276588" y="165163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访问标志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617708" y="165163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装入时间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075843" y="2096452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33737" y="2096452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590084" y="2096452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735837" y="2096452"/>
              <a:ext cx="5044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90 ms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464618" y="240887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64618" y="2413635"/>
              <a:ext cx="5193982" cy="4448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075843" y="2541270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33737" y="2541270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590084" y="2541270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735837" y="2541270"/>
              <a:ext cx="5044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80 ms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464618" y="285273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075843" y="298608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333737" y="298608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590084" y="298608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735837" y="2986088"/>
              <a:ext cx="5044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60 ms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464618" y="329755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464618" y="3302318"/>
              <a:ext cx="5193982" cy="4448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023366" y="3430905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283759" y="3430905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590084" y="3430905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735837" y="3430905"/>
              <a:ext cx="5044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70 ms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464618" y="1524000"/>
              <a:ext cx="5193982" cy="22231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7800975" y="1524000"/>
              <a:ext cx="9525" cy="22231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8971598" y="1524000"/>
              <a:ext cx="9525" cy="22231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10312718" y="1524000"/>
              <a:ext cx="9525" cy="22231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4" name="c2-cells-2"/>
          <p:cNvGrpSpPr/>
          <p:nvPr/>
        </p:nvGrpSpPr>
        <p:grpSpPr>
          <a:xfrm>
            <a:off x="6459284" y="3922395"/>
            <a:ext cx="5199316" cy="381000"/>
            <a:chOff x="6459284" y="3922395"/>
            <a:chExt cx="5199316" cy="381000"/>
          </a:xfrm>
        </p:grpSpPr>
        <p:sp>
          <p:nvSpPr>
            <p:cNvPr id="59" name="TextBox 59"/>
            <p:cNvSpPr txBox="1"/>
            <p:nvPr/>
          </p:nvSpPr>
          <p:spPr>
            <a:xfrm>
              <a:off x="6459284" y="404717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地址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864668" y="3922395"/>
              <a:ext cx="239649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548185" y="4047173"/>
              <a:ext cx="10294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页号（高 7 位）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9262110" y="3922395"/>
              <a:ext cx="239649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9804276" y="4047173"/>
              <a:ext cx="131215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页内地址（低 9 位）</a:t>
              </a:r>
            </a:p>
          </p:txBody>
        </p:sp>
      </p:grpSp>
      <p:grpSp>
        <p:nvGrpSpPr>
          <p:cNvPr id="73" name="c2-kv-3"/>
          <p:cNvGrpSpPr/>
          <p:nvPr/>
        </p:nvGrpSpPr>
        <p:grpSpPr>
          <a:xfrm>
            <a:off x="6457760" y="4500562"/>
            <a:ext cx="5200840" cy="1313688"/>
            <a:chOff x="6457760" y="4500562"/>
            <a:chExt cx="5200840" cy="1313688"/>
          </a:xfrm>
        </p:grpSpPr>
        <p:sp>
          <p:nvSpPr>
            <p:cNvPr id="65" name="TextBox 65"/>
            <p:cNvSpPr txBox="1"/>
            <p:nvPr/>
          </p:nvSpPr>
          <p:spPr>
            <a:xfrm>
              <a:off x="6457760" y="450056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页内地址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419784" y="4500562"/>
              <a:ext cx="16584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512 = 2⁹，占低 9 位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6464618" y="479012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457760" y="489870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虚拟地址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419784" y="4898708"/>
              <a:ext cx="31850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64 KB = 2¹⁶，共 16 位，高 7 位为页号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6464618" y="518731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457760" y="529685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物理地址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419784" y="5296852"/>
              <a:ext cx="3871341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内存也是 64 KB，16 位 = 页框号 7 位 + 页内地址 9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4" name="TextBox 74"/>
            <p:cNvSpPr txBox="1"/>
            <p:nvPr/>
          </p:nvSpPr>
          <p:spPr>
            <a:xfrm>
              <a:off x="528447" y="6581299"/>
              <a:ext cx="23120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操作系统原理 试题解析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17723" cy="909257"/>
            <a:chOff x="520446" y="342900"/>
            <a:chExt cx="68177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7175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1722" y="407194"/>
              <a:ext cx="24551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试题解析 · 同步、虚存、磁盘与练习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177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七、解（1）：写成二进制，高 7 位就是页号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1" name="c1-cells-1"/>
          <p:cNvGrpSpPr/>
          <p:nvPr/>
        </p:nvGrpSpPr>
        <p:grpSpPr>
          <a:xfrm>
            <a:off x="527685" y="1569720"/>
            <a:ext cx="6281737" cy="2180272"/>
            <a:chOff x="527685" y="1569720"/>
            <a:chExt cx="6281737" cy="2180272"/>
          </a:xfrm>
        </p:grpSpPr>
        <p:sp>
          <p:nvSpPr>
            <p:cNvPr id="7" name="TextBox 7"/>
            <p:cNvSpPr txBox="1"/>
            <p:nvPr/>
          </p:nvSpPr>
          <p:spPr>
            <a:xfrm>
              <a:off x="527685" y="1958816"/>
              <a:ext cx="4714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0C9EH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077278" y="1819275"/>
              <a:ext cx="358140" cy="4191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207096" y="19588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435418" y="1819275"/>
              <a:ext cx="358140" cy="4191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565236" y="19588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793558" y="1819275"/>
              <a:ext cx="358140" cy="4191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923376" y="19588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152650" y="1819275"/>
              <a:ext cx="358140" cy="4191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282469" y="19588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510790" y="1819275"/>
              <a:ext cx="358140" cy="4191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640609" y="19588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868930" y="1819275"/>
              <a:ext cx="358140" cy="4191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998749" y="19588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227070" y="1819275"/>
              <a:ext cx="358140" cy="4191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356889" y="19588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585210" y="1819275"/>
              <a:ext cx="35814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715029" y="19588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3943350" y="1819275"/>
              <a:ext cx="35814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073169" y="19588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301490" y="1819275"/>
              <a:ext cx="35814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431309" y="19588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659630" y="1819275"/>
              <a:ext cx="35814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789449" y="19588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017770" y="1819275"/>
              <a:ext cx="35814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147589" y="19588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75910" y="1819275"/>
              <a:ext cx="35814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505729" y="19588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735002" y="1819275"/>
              <a:ext cx="35814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864821" y="19588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093142" y="1819275"/>
              <a:ext cx="35814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222961" y="19588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451282" y="1819275"/>
              <a:ext cx="35814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81101" y="19588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833693" y="1569720"/>
              <a:ext cx="9960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页号 0000110 = 6</a:t>
              </a:r>
            </a:p>
          </p:txBody>
        </p:sp>
        <p:sp>
          <p:nvSpPr>
            <p:cNvPr id="41" name="Freeform 41"/>
            <p:cNvSpPr/>
            <p:nvPr/>
          </p:nvSpPr>
          <p:spPr>
            <a:xfrm>
              <a:off x="2293620" y="172402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5158740" y="225742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4698813" y="2388870"/>
              <a:ext cx="9960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页内 0 1001 1110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27685" y="3143726"/>
              <a:ext cx="4714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15DBH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1077278" y="3004185"/>
              <a:ext cx="358140" cy="4191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207096" y="31437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1435418" y="3004185"/>
              <a:ext cx="358140" cy="4191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565236" y="31437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793558" y="3004185"/>
              <a:ext cx="358140" cy="4191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923376" y="31437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2152650" y="3004185"/>
              <a:ext cx="358140" cy="4191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2282469" y="31437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2510790" y="3004185"/>
              <a:ext cx="358140" cy="4191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2640609" y="31437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2868930" y="3004185"/>
              <a:ext cx="358140" cy="4191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2998749" y="31437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3227070" y="3004185"/>
              <a:ext cx="358140" cy="4191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3356889" y="31437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3585210" y="3004185"/>
              <a:ext cx="35814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3715029" y="31437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3943350" y="3004185"/>
              <a:ext cx="35814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4073169" y="31437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4301490" y="3004185"/>
              <a:ext cx="35814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4431309" y="31437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4659630" y="3004185"/>
              <a:ext cx="35814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4789449" y="31437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5017770" y="3004185"/>
              <a:ext cx="35814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5147589" y="31437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5375910" y="3004185"/>
              <a:ext cx="35814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5505729" y="31437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5735002" y="3004185"/>
              <a:ext cx="35814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5864821" y="31437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6093142" y="3004185"/>
              <a:ext cx="35814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222961" y="31437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6451282" y="3004185"/>
              <a:ext cx="35814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6581101" y="31437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798709" y="2754630"/>
              <a:ext cx="106602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页号 0001010 = 10</a:t>
              </a:r>
            </a:p>
          </p:txBody>
        </p:sp>
        <p:sp>
          <p:nvSpPr>
            <p:cNvPr id="78" name="Freeform 78"/>
            <p:cNvSpPr/>
            <p:nvPr/>
          </p:nvSpPr>
          <p:spPr>
            <a:xfrm>
              <a:off x="2293620" y="290893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79" name="Freeform 79"/>
            <p:cNvSpPr/>
            <p:nvPr/>
          </p:nvSpPr>
          <p:spPr>
            <a:xfrm>
              <a:off x="5158740" y="344233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4698813" y="3573780"/>
              <a:ext cx="9960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页内 1 1101 1011</a:t>
              </a:r>
            </a:p>
          </p:txBody>
        </p:sp>
      </p:grpSp>
      <p:grpSp>
        <p:nvGrpSpPr>
          <p:cNvPr id="102" name="c1-table-2"/>
          <p:cNvGrpSpPr/>
          <p:nvPr/>
        </p:nvGrpSpPr>
        <p:grpSpPr>
          <a:xfrm>
            <a:off x="527685" y="3912870"/>
            <a:ext cx="6281737" cy="1642587"/>
            <a:chOff x="527685" y="3912870"/>
            <a:chExt cx="6281737" cy="1642587"/>
          </a:xfrm>
        </p:grpSpPr>
        <p:sp>
          <p:nvSpPr>
            <p:cNvPr id="82" name="Rectangle 82"/>
            <p:cNvSpPr/>
            <p:nvPr/>
          </p:nvSpPr>
          <p:spPr>
            <a:xfrm>
              <a:off x="533400" y="3912870"/>
              <a:ext cx="6276022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856577" y="404860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地址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2567356" y="404860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逐位展开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4558944" y="404860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页号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5642026" y="404860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页内地址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766031" y="4497229"/>
              <a:ext cx="5386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0C9EH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2076262" y="4497229"/>
              <a:ext cx="16843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0000 1100 1001 1110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4683872" y="449722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5531485" y="4497229"/>
              <a:ext cx="9232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09EH = 158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533400" y="480536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2" name="Rectangle 92"/>
            <p:cNvSpPr/>
            <p:nvPr/>
          </p:nvSpPr>
          <p:spPr>
            <a:xfrm>
              <a:off x="533400" y="4810125"/>
              <a:ext cx="627602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766031" y="4945856"/>
              <a:ext cx="5386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15DBH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2076262" y="4945856"/>
              <a:ext cx="16843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0001 0101 1101 1011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4636486" y="494585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5531485" y="4945856"/>
              <a:ext cx="9232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1DBH = 475</a:t>
              </a:r>
            </a:p>
          </p:txBody>
        </p:sp>
        <p:sp>
          <p:nvSpPr>
            <p:cNvPr id="97" name="Rectangle 97"/>
            <p:cNvSpPr/>
            <p:nvPr/>
          </p:nvSpPr>
          <p:spPr>
            <a:xfrm>
              <a:off x="533400" y="3912870"/>
              <a:ext cx="6276022" cy="13468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98" name="Rectangle 98"/>
            <p:cNvSpPr/>
            <p:nvPr/>
          </p:nvSpPr>
          <p:spPr>
            <a:xfrm>
              <a:off x="1532572" y="391287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9" name="Rectangle 99"/>
            <p:cNvSpPr/>
            <p:nvPr/>
          </p:nvSpPr>
          <p:spPr>
            <a:xfrm>
              <a:off x="4293870" y="391287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0" name="Rectangle 100"/>
            <p:cNvSpPr/>
            <p:nvPr/>
          </p:nvSpPr>
          <p:spPr>
            <a:xfrm>
              <a:off x="5173028" y="391287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527685" y="5335429"/>
              <a:ext cx="36752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每个十六进制数字写成 4 位二进制，再从左数 7 位切开</a:t>
              </a:r>
            </a:p>
          </p:txBody>
        </p:sp>
      </p:grpSp>
      <p:grpSp>
        <p:nvGrpSpPr>
          <p:cNvPr id="108" name="c1-callout-3"/>
          <p:cNvGrpSpPr/>
          <p:nvPr/>
        </p:nvGrpSpPr>
        <p:grpSpPr>
          <a:xfrm>
            <a:off x="533400" y="5701665"/>
            <a:ext cx="6276022" cy="533400"/>
            <a:chOff x="533400" y="5701665"/>
            <a:chExt cx="6276022" cy="533400"/>
          </a:xfrm>
        </p:grpSpPr>
        <p:sp>
          <p:nvSpPr>
            <p:cNvPr id="103" name="Rectangle 103"/>
            <p:cNvSpPr/>
            <p:nvPr/>
          </p:nvSpPr>
          <p:spPr>
            <a:xfrm>
              <a:off x="533400" y="5701665"/>
              <a:ext cx="6276022" cy="533400"/>
            </a:xfrm>
            <a:prstGeom prst="roundRect">
              <a:avLst>
                <a:gd name="adj" fmla="val 2142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106" name="Group 106"/>
            <p:cNvGrpSpPr/>
            <p:nvPr/>
          </p:nvGrpSpPr>
          <p:grpSpPr>
            <a:xfrm>
              <a:off x="738188" y="5868353"/>
              <a:ext cx="200026" cy="200026"/>
              <a:chOff x="738188" y="5868353"/>
              <a:chExt cx="200026" cy="200026"/>
            </a:xfrm>
          </p:grpSpPr>
          <p:sp>
            <p:nvSpPr>
              <p:cNvPr id="104" name="Freeform 104"/>
              <p:cNvSpPr/>
              <p:nvPr/>
            </p:nvSpPr>
            <p:spPr>
              <a:xfrm>
                <a:off x="738188" y="586835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105" name="Freeform 105"/>
              <p:cNvSpPr/>
              <p:nvPr/>
            </p:nvSpPr>
            <p:spPr>
              <a:xfrm>
                <a:off x="804863" y="594614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107" name="TextBox 107"/>
            <p:cNvSpPr txBox="1"/>
            <p:nvPr/>
          </p:nvSpPr>
          <p:spPr>
            <a:xfrm>
              <a:off x="1040130" y="5863590"/>
              <a:ext cx="45072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 (1)：0C9EH 访问第 6 页，15DBH 访问第 10 页</a:t>
              </a:r>
            </a:p>
          </p:txBody>
        </p:sp>
      </p:grpSp>
      <p:grpSp>
        <p:nvGrpSpPr>
          <p:cNvPr id="122" name="c2-steps-1"/>
          <p:cNvGrpSpPr/>
          <p:nvPr/>
        </p:nvGrpSpPr>
        <p:grpSpPr>
          <a:xfrm>
            <a:off x="7114222" y="1533525"/>
            <a:ext cx="4190630" cy="2347246"/>
            <a:chOff x="7114222" y="1533525"/>
            <a:chExt cx="4190630" cy="2347246"/>
          </a:xfrm>
        </p:grpSpPr>
        <p:sp>
          <p:nvSpPr>
            <p:cNvPr id="109" name="Rectangle 109"/>
            <p:cNvSpPr/>
            <p:nvPr/>
          </p:nvSpPr>
          <p:spPr>
            <a:xfrm>
              <a:off x="7247572" y="1676400"/>
              <a:ext cx="19050" cy="15363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0" name="Ellipse 110"/>
            <p:cNvSpPr/>
            <p:nvPr/>
          </p:nvSpPr>
          <p:spPr>
            <a:xfrm>
              <a:off x="7114222" y="153352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1" name="TextBox 111"/>
            <p:cNvSpPr txBox="1"/>
            <p:nvPr/>
          </p:nvSpPr>
          <p:spPr>
            <a:xfrm>
              <a:off x="7207846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2" name="Ellipse 112"/>
            <p:cNvSpPr/>
            <p:nvPr/>
          </p:nvSpPr>
          <p:spPr>
            <a:xfrm>
              <a:off x="7114222" y="218408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3" name="TextBox 113"/>
            <p:cNvSpPr txBox="1"/>
            <p:nvPr/>
          </p:nvSpPr>
          <p:spPr>
            <a:xfrm>
              <a:off x="7207846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14" name="Ellipse 114"/>
            <p:cNvSpPr/>
            <p:nvPr/>
          </p:nvSpPr>
          <p:spPr>
            <a:xfrm>
              <a:off x="7114222" y="306990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5" name="TextBox 115"/>
            <p:cNvSpPr txBox="1"/>
            <p:nvPr/>
          </p:nvSpPr>
          <p:spPr>
            <a:xfrm>
              <a:off x="7207846" y="31437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7525702" y="1567815"/>
              <a:ext cx="13043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0C9EH 查页表</a:t>
              </a:r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7526846" y="1861661"/>
              <a:ext cx="37780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6 页在内存，页框号 8，访问标志置 1，不缺页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7525702" y="2218372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拼物理地址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7526846" y="2512219"/>
              <a:ext cx="376809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页框号 8 = 0001000 作高 7 位，接上页内地址 0 100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1 1110</a:t>
              </a:r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7525702" y="3104198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7526846" y="3397091"/>
              <a:ext cx="361365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0001 0000 1001 1110B = 109EH（8 × 512 + 158 =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4254）</a:t>
              </a:r>
            </a:p>
          </p:txBody>
        </p:sp>
      </p:grpSp>
      <p:grpSp>
        <p:nvGrpSpPr>
          <p:cNvPr id="128" name="c2-callout-2"/>
          <p:cNvGrpSpPr/>
          <p:nvPr/>
        </p:nvGrpSpPr>
        <p:grpSpPr>
          <a:xfrm>
            <a:off x="7114222" y="4060508"/>
            <a:ext cx="4544378" cy="782955"/>
            <a:chOff x="7114222" y="4060508"/>
            <a:chExt cx="4544378" cy="782955"/>
          </a:xfrm>
        </p:grpSpPr>
        <p:sp>
          <p:nvSpPr>
            <p:cNvPr id="123" name="Rectangle 123"/>
            <p:cNvSpPr/>
            <p:nvPr/>
          </p:nvSpPr>
          <p:spPr>
            <a:xfrm>
              <a:off x="7114222" y="4060508"/>
              <a:ext cx="4544378" cy="782955"/>
            </a:xfrm>
            <a:prstGeom prst="roundRect">
              <a:avLst>
                <a:gd name="adj" fmla="val 1459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126" name="Group 126"/>
            <p:cNvGrpSpPr/>
            <p:nvPr/>
          </p:nvGrpSpPr>
          <p:grpSpPr>
            <a:xfrm>
              <a:off x="7319010" y="4351973"/>
              <a:ext cx="200026" cy="200026"/>
              <a:chOff x="7319010" y="4351973"/>
              <a:chExt cx="200026" cy="200026"/>
            </a:xfrm>
          </p:grpSpPr>
          <p:sp>
            <p:nvSpPr>
              <p:cNvPr id="124" name="Freeform 124"/>
              <p:cNvSpPr/>
              <p:nvPr/>
            </p:nvSpPr>
            <p:spPr>
              <a:xfrm>
                <a:off x="7319010" y="43519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125" name="Freeform 125"/>
              <p:cNvSpPr/>
              <p:nvPr/>
            </p:nvSpPr>
            <p:spPr>
              <a:xfrm>
                <a:off x="7385685" y="442976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127" name="TextBox 127"/>
            <p:cNvSpPr txBox="1"/>
            <p:nvPr/>
          </p:nvSpPr>
          <p:spPr>
            <a:xfrm>
              <a:off x="7620952" y="4209098"/>
              <a:ext cx="36633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 (2) 之一：0C9EH 对应页框 8，物理地址</a:t>
              </a:r>
              <a:br/>
              <a:r>
                <a:rPr lang="en-US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109EH</a:t>
              </a:r>
            </a:p>
          </p:txBody>
        </p:sp>
      </p:grpSp>
      <p:grpSp>
        <p:nvGrpSpPr>
          <p:cNvPr id="13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29" name="TextBox 129"/>
            <p:cNvSpPr txBox="1"/>
            <p:nvPr/>
          </p:nvSpPr>
          <p:spPr>
            <a:xfrm>
              <a:off x="528447" y="6581299"/>
              <a:ext cx="23120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操作系统原理 试题解析</a:t>
              </a:r>
            </a:p>
          </p:txBody>
        </p:sp>
        <p:sp>
          <p:nvSpPr>
            <p:cNvPr id="130" name="TextBox 13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520834" cy="909257"/>
            <a:chOff x="520446" y="342900"/>
            <a:chExt cx="852083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7175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1722" y="407194"/>
              <a:ext cx="24551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试题解析 · 同步、虚存、磁盘与练习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52083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七、解（2）：15DBH 缺页，二次机会算法淘汰第 12 页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steps-1"/>
          <p:cNvGrpSpPr/>
          <p:nvPr/>
        </p:nvGrpSpPr>
        <p:grpSpPr>
          <a:xfrm>
            <a:off x="533400" y="1533525"/>
            <a:ext cx="5140071" cy="2487454"/>
            <a:chOff x="533400" y="1533525"/>
            <a:chExt cx="5140071" cy="2487454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9678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32791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40172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91465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9884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50139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5752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5642" y="1564957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缺页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785" y="1833086"/>
              <a:ext cx="4726686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页表中没有第 10 页。工作集固定为 4 且局部置换，只能在 P 自己的 4 页中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淘汰一页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642" y="235934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按装入先后排队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785" y="2627471"/>
              <a:ext cx="43461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9（60 ms）、12（70）、6（80）、4（90），从最早装入的看起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642" y="294608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给第二次机会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785" y="3214211"/>
              <a:ext cx="45949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9 页访问标志为 1：清 0，移到队尾；第 12 页访问标志为 0：淘汰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642" y="353282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装入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785" y="3800951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10 页装入第 12 页腾出的 13 号页框</a:t>
              </a:r>
            </a:p>
          </p:txBody>
        </p:sp>
      </p:grpSp>
      <p:grpSp>
        <p:nvGrpSpPr>
          <p:cNvPr id="30" name="c1-callout-2"/>
          <p:cNvGrpSpPr/>
          <p:nvPr/>
        </p:nvGrpSpPr>
        <p:grpSpPr>
          <a:xfrm>
            <a:off x="533400" y="4190048"/>
            <a:ext cx="5410200" cy="488632"/>
            <a:chOff x="533400" y="4190048"/>
            <a:chExt cx="5410200" cy="488632"/>
          </a:xfrm>
        </p:grpSpPr>
        <p:sp>
          <p:nvSpPr>
            <p:cNvPr id="25" name="Rectangle 25"/>
            <p:cNvSpPr/>
            <p:nvPr/>
          </p:nvSpPr>
          <p:spPr>
            <a:xfrm>
              <a:off x="533400" y="4190048"/>
              <a:ext cx="5410200" cy="488632"/>
            </a:xfrm>
            <a:prstGeom prst="roundRect">
              <a:avLst>
                <a:gd name="adj" fmla="val 23392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738188" y="4333875"/>
              <a:ext cx="200026" cy="200026"/>
              <a:chOff x="738188" y="4333875"/>
              <a:chExt cx="200026" cy="200026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38188" y="433387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04863" y="441166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1040892" y="4339590"/>
              <a:ext cx="42109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 (2) 之二：15DBH 对应页框 13，物理地址 1BDBH</a:t>
              </a:r>
            </a:p>
          </p:txBody>
        </p:sp>
      </p:grpSp>
      <p:grpSp>
        <p:nvGrpSpPr>
          <p:cNvPr id="36" name="c1-card-3"/>
          <p:cNvGrpSpPr/>
          <p:nvPr/>
        </p:nvGrpSpPr>
        <p:grpSpPr>
          <a:xfrm>
            <a:off x="533400" y="4853940"/>
            <a:ext cx="5410200" cy="1466850"/>
            <a:chOff x="533400" y="4853940"/>
            <a:chExt cx="5410200" cy="1466850"/>
          </a:xfrm>
        </p:grpSpPr>
        <p:sp>
          <p:nvSpPr>
            <p:cNvPr id="31" name="Rectangle 31"/>
            <p:cNvSpPr/>
            <p:nvPr/>
          </p:nvSpPr>
          <p:spPr>
            <a:xfrm>
              <a:off x="533400" y="4853940"/>
              <a:ext cx="5410200" cy="146685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542925" y="4987290"/>
              <a:ext cx="47625" cy="120015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63905" y="5046345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39343" y="508063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二次机会算法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57047" y="5402580"/>
              <a:ext cx="477145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FIFO 的改进：按装入先后检查，访问位为 1 的清 0 并当作新装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入的页排到队尾，遇到访问位为 0 的就淘汰。所有页访问位都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 1 时，转一圈后退化为 FIFO。</a:t>
              </a:r>
            </a:p>
          </p:txBody>
        </p:sp>
      </p:grpSp>
      <p:grpSp>
        <p:nvGrpSpPr>
          <p:cNvPr id="57" name="c2-cells-1"/>
          <p:cNvGrpSpPr/>
          <p:nvPr/>
        </p:nvGrpSpPr>
        <p:grpSpPr>
          <a:xfrm>
            <a:off x="6242685" y="1569720"/>
            <a:ext cx="5415915" cy="1167765"/>
            <a:chOff x="6242685" y="1569720"/>
            <a:chExt cx="5415915" cy="1167765"/>
          </a:xfrm>
        </p:grpSpPr>
        <p:sp>
          <p:nvSpPr>
            <p:cNvPr id="37" name="TextBox 37"/>
            <p:cNvSpPr txBox="1"/>
            <p:nvPr/>
          </p:nvSpPr>
          <p:spPr>
            <a:xfrm>
              <a:off x="6242685" y="193976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淘汰前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808470" y="1819275"/>
              <a:ext cx="1212532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210654" y="1939766"/>
              <a:ext cx="4072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 (1)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8021002" y="1819275"/>
              <a:ext cx="1212532" cy="3810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379650" y="1939766"/>
              <a:ext cx="494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12 (0)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9233535" y="1819275"/>
              <a:ext cx="121253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635719" y="1939766"/>
              <a:ext cx="4072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(1)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10446068" y="1819275"/>
              <a:ext cx="121253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0848251" y="1939766"/>
              <a:ext cx="4072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(0)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288339" y="156972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队首</a:t>
              </a:r>
            </a:p>
          </p:txBody>
        </p:sp>
        <p:sp>
          <p:nvSpPr>
            <p:cNvPr id="47" name="Freeform 47"/>
            <p:cNvSpPr/>
            <p:nvPr/>
          </p:nvSpPr>
          <p:spPr>
            <a:xfrm>
              <a:off x="7376160" y="172402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242685" y="247697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淘汰后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808470" y="2356485"/>
              <a:ext cx="121253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210654" y="2476976"/>
              <a:ext cx="4072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(1)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8021002" y="2356485"/>
              <a:ext cx="121253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423186" y="2476976"/>
              <a:ext cx="4072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(0)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9233535" y="2356485"/>
              <a:ext cx="1212532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635719" y="2476976"/>
              <a:ext cx="4072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 (0)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10446068" y="2356485"/>
              <a:ext cx="1212532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0804715" y="2476976"/>
              <a:ext cx="494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10 (1)</a:t>
              </a:r>
            </a:p>
          </p:txBody>
        </p:sp>
      </p:grpSp>
      <p:grpSp>
        <p:nvGrpSpPr>
          <p:cNvPr id="59" name="c2-text-2"/>
          <p:cNvGrpSpPr/>
          <p:nvPr/>
        </p:nvGrpSpPr>
        <p:grpSpPr>
          <a:xfrm>
            <a:off x="6242685" y="2931319"/>
            <a:ext cx="4316039" cy="220028"/>
            <a:chOff x="6242685" y="2931319"/>
            <a:chExt cx="4316039" cy="220028"/>
          </a:xfrm>
        </p:grpSpPr>
        <p:sp>
          <p:nvSpPr>
            <p:cNvPr id="58" name="TextBox 58"/>
            <p:cNvSpPr txBox="1"/>
            <p:nvPr/>
          </p:nvSpPr>
          <p:spPr>
            <a:xfrm>
              <a:off x="6242685" y="2931319"/>
              <a:ext cx="43160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括号内为访问标志。第 10 页装入后立即被访问，访问标志为 1。</a:t>
              </a:r>
            </a:p>
          </p:txBody>
        </p:sp>
      </p:grpSp>
      <p:grpSp>
        <p:nvGrpSpPr>
          <p:cNvPr id="80" name="c2-table-3"/>
          <p:cNvGrpSpPr/>
          <p:nvPr/>
        </p:nvGrpSpPr>
        <p:grpSpPr>
          <a:xfrm>
            <a:off x="6243066" y="3282315"/>
            <a:ext cx="5415534" cy="1902714"/>
            <a:chOff x="6243066" y="3282315"/>
            <a:chExt cx="5415534" cy="1902714"/>
          </a:xfrm>
        </p:grpSpPr>
        <p:sp>
          <p:nvSpPr>
            <p:cNvPr id="60" name="Rectangle 60"/>
            <p:cNvSpPr/>
            <p:nvPr/>
          </p:nvSpPr>
          <p:spPr>
            <a:xfrm>
              <a:off x="6248400" y="3282315"/>
              <a:ext cx="5410200" cy="40576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944398" y="340661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组成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867356" y="340661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二进制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644581" y="340661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十六进制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348412" y="3812381"/>
              <a:ext cx="6853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页框号 13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803277" y="3812381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0001101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904667" y="381238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6248400" y="408908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6248400" y="4093845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348412" y="4218146"/>
              <a:ext cx="9232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页内地址 475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675119" y="4218146"/>
              <a:ext cx="8482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1 1101 1011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0770890" y="4218146"/>
              <a:ext cx="3619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1DBH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6248400" y="449484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348412" y="462391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物理地址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362262" y="4623911"/>
              <a:ext cx="14739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0001 1011 1101 1011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727080" y="4623911"/>
              <a:ext cx="4495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1BDBH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6248400" y="3282315"/>
              <a:ext cx="5410200" cy="16230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7" name="Rectangle 77"/>
            <p:cNvSpPr/>
            <p:nvPr/>
          </p:nvSpPr>
          <p:spPr>
            <a:xfrm>
              <a:off x="7947660" y="328231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10240328" y="328231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6243066" y="4979670"/>
              <a:ext cx="20941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 × 512 + 475 = 7131 = 1BDBH</a:t>
              </a:r>
            </a:p>
          </p:txBody>
        </p:sp>
      </p:grpSp>
      <p:grpSp>
        <p:nvGrpSpPr>
          <p:cNvPr id="87" name="c2-callout-4"/>
          <p:cNvGrpSpPr/>
          <p:nvPr/>
        </p:nvGrpSpPr>
        <p:grpSpPr>
          <a:xfrm>
            <a:off x="6248400" y="5318760"/>
            <a:ext cx="5410200" cy="1001078"/>
            <a:chOff x="6248400" y="5318760"/>
            <a:chExt cx="5410200" cy="1001078"/>
          </a:xfrm>
        </p:grpSpPr>
        <p:sp>
          <p:nvSpPr>
            <p:cNvPr id="81" name="Rectangle 81"/>
            <p:cNvSpPr/>
            <p:nvPr/>
          </p:nvSpPr>
          <p:spPr>
            <a:xfrm>
              <a:off x="6248400" y="5318760"/>
              <a:ext cx="5410200" cy="1001078"/>
            </a:xfrm>
            <a:prstGeom prst="roundRect">
              <a:avLst>
                <a:gd name="adj" fmla="val 11418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85" name="Group 85"/>
            <p:cNvGrpSpPr/>
            <p:nvPr/>
          </p:nvGrpSpPr>
          <p:grpSpPr>
            <a:xfrm>
              <a:off x="6453188" y="5719763"/>
              <a:ext cx="200026" cy="200026"/>
              <a:chOff x="6453188" y="5719763"/>
              <a:chExt cx="200026" cy="200026"/>
            </a:xfrm>
          </p:grpSpPr>
          <p:sp>
            <p:nvSpPr>
              <p:cNvPr id="82" name="Freeform 82"/>
              <p:cNvSpPr/>
              <p:nvPr/>
            </p:nvSpPr>
            <p:spPr>
              <a:xfrm>
                <a:off x="6453188" y="571976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6553200" y="578643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6542088" y="581977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86" name="TextBox 86"/>
            <p:cNvSpPr txBox="1"/>
            <p:nvPr/>
          </p:nvSpPr>
          <p:spPr>
            <a:xfrm>
              <a:off x="6755892" y="5600700"/>
              <a:ext cx="446284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页表更新：删去第 12 页，第 10 页填页框 13，第 9 页访问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标志变为 0。</a:t>
              </a:r>
            </a:p>
          </p:txBody>
        </p:sp>
      </p:grpSp>
      <p:grpSp>
        <p:nvGrpSpPr>
          <p:cNvPr id="9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8" name="TextBox 88"/>
            <p:cNvSpPr txBox="1"/>
            <p:nvPr/>
          </p:nvSpPr>
          <p:spPr>
            <a:xfrm>
              <a:off x="528447" y="6581299"/>
              <a:ext cx="23120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操作系统原理 试题解析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167270" cy="909257"/>
            <a:chOff x="520446" y="342900"/>
            <a:chExt cx="716727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7175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1722" y="407194"/>
              <a:ext cx="24551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试题解析 · 同步、虚存、磁盘与练习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16727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八、设备与 I/O 管理（10 分）：5 步扫描调度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626418" cy="3543300"/>
            <a:chOff x="533400" y="1524000"/>
            <a:chExt cx="5626418" cy="35433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3543300"/>
            </a:xfrm>
            <a:prstGeom prst="roundRect">
              <a:avLst>
                <a:gd name="adj" fmla="val 376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372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274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题目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29996" y="2100739"/>
              <a:ext cx="4973828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系统磁盘只有一个移动磁头，磁道由外向内编号为 0～199；磁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头移动一个磁道需 1 毫秒；每磁道 100 个扇区，每扇区 128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Bytes；磁盘转速 R = 6000 r/min。当前磁头在第 102 磁道，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移动方向由外向内。磁道 I/O 请求序列为：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29996" y="3235166"/>
              <a:ext cx="495579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70、130、50、112、125、120、80、30、60、40、90、20、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110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29996" y="3826669"/>
              <a:ext cx="4883658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每个请求读/写磁道上的 1 个扇区，采用 5 步扫描（5-step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SCAN）调度算法。(1) 写出调度序列，计算磁头移动量；(2)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计算总寻道时间（忽略启动时间）、总旋转延迟时间、总传输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时间和总访问处理时间。</a:t>
              </a:r>
            </a:p>
          </p:txBody>
        </p:sp>
      </p:grpSp>
      <p:grpSp>
        <p:nvGrpSpPr>
          <p:cNvPr id="20" name="c1-callout-2"/>
          <p:cNvGrpSpPr/>
          <p:nvPr/>
        </p:nvGrpSpPr>
        <p:grpSpPr>
          <a:xfrm>
            <a:off x="533400" y="5253038"/>
            <a:ext cx="5626418" cy="1063942"/>
            <a:chOff x="533400" y="5253038"/>
            <a:chExt cx="5626418" cy="1063942"/>
          </a:xfrm>
        </p:grpSpPr>
        <p:sp>
          <p:nvSpPr>
            <p:cNvPr id="14" name="Rectangle 14"/>
            <p:cNvSpPr/>
            <p:nvPr/>
          </p:nvSpPr>
          <p:spPr>
            <a:xfrm>
              <a:off x="533400" y="5253038"/>
              <a:ext cx="5626418" cy="1063942"/>
            </a:xfrm>
            <a:prstGeom prst="roundRect">
              <a:avLst>
                <a:gd name="adj" fmla="val 1074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738188" y="5684520"/>
              <a:ext cx="200026" cy="200026"/>
              <a:chOff x="738188" y="5684520"/>
              <a:chExt cx="200026" cy="200026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738188" y="568452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38200" y="575119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827088" y="578453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040511" y="5423059"/>
              <a:ext cx="4694301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思路：按到达顺序每 5 个一组，组内用 SCAN 扫到尽头再回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头；移动量 × 1 ms 即寻道时间，再加旋转延迟与传输时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间。</a:t>
              </a:r>
            </a:p>
          </p:txBody>
        </p:sp>
      </p:grpSp>
      <p:grpSp>
        <p:nvGrpSpPr>
          <p:cNvPr id="29" name="c2-card-1"/>
          <p:cNvGrpSpPr/>
          <p:nvPr/>
        </p:nvGrpSpPr>
        <p:grpSpPr>
          <a:xfrm>
            <a:off x="6464618" y="1524000"/>
            <a:ext cx="5193982" cy="1594485"/>
            <a:chOff x="6464618" y="1524000"/>
            <a:chExt cx="5193982" cy="1594485"/>
          </a:xfrm>
        </p:grpSpPr>
        <p:sp>
          <p:nvSpPr>
            <p:cNvPr id="21" name="Rectangle 21"/>
            <p:cNvSpPr/>
            <p:nvPr/>
          </p:nvSpPr>
          <p:spPr>
            <a:xfrm>
              <a:off x="6464618" y="1524000"/>
              <a:ext cx="5193982" cy="1594485"/>
            </a:xfrm>
            <a:prstGeom prst="roundRect">
              <a:avLst>
                <a:gd name="adj" fmla="val 83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474142" y="1657350"/>
              <a:ext cx="47625" cy="132778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706552" y="1727835"/>
              <a:ext cx="1913572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36527" y="1763554"/>
              <a:ext cx="18545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N 步扫描（N-step SCAN）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6714172" y="216122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870764" y="2100739"/>
              <a:ext cx="436968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把请求队列分成长度为 N 的子队列，每个子队列内采用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SCAN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714172" y="2752725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70764" y="2692241"/>
              <a:ext cx="362272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很大时接近 SCAN；N = 1 时退化为 FCFS</a:t>
              </a:r>
            </a:p>
          </p:txBody>
        </p:sp>
      </p:grpSp>
      <p:grpSp>
        <p:nvGrpSpPr>
          <p:cNvPr id="35" name="c2-card-2"/>
          <p:cNvGrpSpPr/>
          <p:nvPr/>
        </p:nvGrpSpPr>
        <p:grpSpPr>
          <a:xfrm>
            <a:off x="6464618" y="3304222"/>
            <a:ext cx="5193982" cy="1274445"/>
            <a:chOff x="6464618" y="3304222"/>
            <a:chExt cx="5193982" cy="1274445"/>
          </a:xfrm>
        </p:grpSpPr>
        <p:sp>
          <p:nvSpPr>
            <p:cNvPr id="30" name="Rectangle 30"/>
            <p:cNvSpPr/>
            <p:nvPr/>
          </p:nvSpPr>
          <p:spPr>
            <a:xfrm>
              <a:off x="6464618" y="3304222"/>
              <a:ext cx="5193982" cy="1274445"/>
            </a:xfrm>
            <a:prstGeom prst="roundRect">
              <a:avLst>
                <a:gd name="adj" fmla="val 10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474142" y="3437572"/>
              <a:ext cx="47625" cy="100774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706552" y="3508058"/>
              <a:ext cx="1391602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760790" y="3543776"/>
              <a:ext cx="12840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扫描算法（SCAN）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699314" y="3880961"/>
              <a:ext cx="45229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磁头往复扫描各柱面，为途经柱面上的请求服务；每次都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扫描到柱面尽头再改变方向，无论尽头有没有请求。</a:t>
              </a:r>
            </a:p>
          </p:txBody>
        </p:sp>
      </p:grpSp>
      <p:grpSp>
        <p:nvGrpSpPr>
          <p:cNvPr id="65" name="c2-cells-3"/>
          <p:cNvGrpSpPr/>
          <p:nvPr/>
        </p:nvGrpSpPr>
        <p:grpSpPr>
          <a:xfrm>
            <a:off x="6458902" y="4764405"/>
            <a:ext cx="5199698" cy="1552575"/>
            <a:chOff x="6458902" y="4764405"/>
            <a:chExt cx="5199698" cy="1552575"/>
          </a:xfrm>
        </p:grpSpPr>
        <p:sp>
          <p:nvSpPr>
            <p:cNvPr id="36" name="TextBox 36"/>
            <p:cNvSpPr txBox="1"/>
            <p:nvPr/>
          </p:nvSpPr>
          <p:spPr>
            <a:xfrm>
              <a:off x="6458902" y="4897279"/>
              <a:ext cx="4950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 1 组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7054215" y="4764405"/>
              <a:ext cx="921068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422438" y="489727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70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7975282" y="4764405"/>
              <a:ext cx="921068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299017" y="4897279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130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8896350" y="4764405"/>
              <a:ext cx="921068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263620" y="489727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9816465" y="4764405"/>
              <a:ext cx="921068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0141152" y="4897279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112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10737532" y="4764405"/>
              <a:ext cx="921068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1062219" y="4897279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125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458902" y="5470684"/>
              <a:ext cx="4950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 2 组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7054215" y="5336858"/>
              <a:ext cx="921068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378902" y="5470684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120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7975282" y="5336858"/>
              <a:ext cx="921068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342553" y="547068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80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8896350" y="5336858"/>
              <a:ext cx="921068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263620" y="547068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9816465" y="5336858"/>
              <a:ext cx="921068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0184688" y="547068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60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10737532" y="5336858"/>
              <a:ext cx="921068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1105755" y="547068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458902" y="6043136"/>
              <a:ext cx="4950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 3 组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7054215" y="5910262"/>
              <a:ext cx="921068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422438" y="604313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90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7975282" y="5910262"/>
              <a:ext cx="921068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342553" y="604313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8896350" y="5910262"/>
              <a:ext cx="921068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9220084" y="6043136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110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23120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操作系统原理 试题解析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00774" cy="909257"/>
            <a:chOff x="520446" y="342900"/>
            <a:chExt cx="790077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7175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1722" y="407194"/>
              <a:ext cx="24551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试题解析 · 同步、虚存、磁盘与练习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0077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八、解（1）：分三组扫描，磁头共移动 674 个磁道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steps-1"/>
          <p:cNvGrpSpPr/>
          <p:nvPr/>
        </p:nvGrpSpPr>
        <p:grpSpPr>
          <a:xfrm>
            <a:off x="533400" y="1533525"/>
            <a:ext cx="5029200" cy="1790128"/>
            <a:chOff x="533400" y="1533525"/>
            <a:chExt cx="5029200" cy="1790128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242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5455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283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77558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8494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5261" y="1566386"/>
              <a:ext cx="62762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组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6404" y="1846898"/>
              <a:ext cx="46161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 102 向内：112、125、130，扫到 199 折返：70、50，扫到 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5261" y="2187416"/>
              <a:ext cx="62762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 组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404" y="2467927"/>
              <a:ext cx="32673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 0 向内：30、40、60、80、120，扫到 199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261" y="2808446"/>
              <a:ext cx="62762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3 组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404" y="3088957"/>
              <a:ext cx="19668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 199 向外：110、90、20</a:t>
              </a:r>
            </a:p>
          </p:txBody>
        </p:sp>
      </p:grpSp>
      <p:grpSp>
        <p:nvGrpSpPr>
          <p:cNvPr id="27" name="c1-card-2"/>
          <p:cNvGrpSpPr/>
          <p:nvPr/>
        </p:nvGrpSpPr>
        <p:grpSpPr>
          <a:xfrm>
            <a:off x="533400" y="3499485"/>
            <a:ext cx="4977765" cy="1556385"/>
            <a:chOff x="533400" y="3499485"/>
            <a:chExt cx="4977765" cy="1556385"/>
          </a:xfrm>
        </p:grpSpPr>
        <p:sp>
          <p:nvSpPr>
            <p:cNvPr id="21" name="Rectangle 21"/>
            <p:cNvSpPr/>
            <p:nvPr/>
          </p:nvSpPr>
          <p:spPr>
            <a:xfrm>
              <a:off x="533400" y="3499485"/>
              <a:ext cx="4977765" cy="1556385"/>
            </a:xfrm>
            <a:prstGeom prst="roundRect">
              <a:avLst>
                <a:gd name="adj" fmla="val 856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42925" y="3632835"/>
              <a:ext cx="47625" cy="128968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75335" y="370332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61593" y="373903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移动量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8096" y="4076224"/>
              <a:ext cx="427050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 + 13 + 5 + 69 + 129 + 20 + 50 + 30 + 10 + 20 + 20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+ 40 + 79 + 89 + 20 + 70 = 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674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个磁道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9239" y="4664392"/>
              <a:ext cx="38569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图中虚线表示扫到端点，括号里的 199、0 不是请求。</a:t>
              </a:r>
            </a:p>
          </p:txBody>
        </p:sp>
      </p:grpSp>
      <p:grpSp>
        <p:nvGrpSpPr>
          <p:cNvPr id="34" name="c1-callout-3"/>
          <p:cNvGrpSpPr/>
          <p:nvPr/>
        </p:nvGrpSpPr>
        <p:grpSpPr>
          <a:xfrm>
            <a:off x="533400" y="5240655"/>
            <a:ext cx="4977765" cy="756285"/>
            <a:chOff x="533400" y="5240655"/>
            <a:chExt cx="4977765" cy="756285"/>
          </a:xfrm>
        </p:grpSpPr>
        <p:sp>
          <p:nvSpPr>
            <p:cNvPr id="28" name="Rectangle 28"/>
            <p:cNvSpPr/>
            <p:nvPr/>
          </p:nvSpPr>
          <p:spPr>
            <a:xfrm>
              <a:off x="533400" y="5240655"/>
              <a:ext cx="4977765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738188" y="5518785"/>
              <a:ext cx="200026" cy="200025"/>
              <a:chOff x="738188" y="5518785"/>
              <a:chExt cx="200026" cy="200025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738188" y="551878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777926" y="556323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12642" y="567436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040511" y="5388769"/>
              <a:ext cx="4009009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若第 1 组服务完 50 立即换第 2 组，去 0 途中先服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务 40、30，移动量同样是 674。</a:t>
              </a:r>
            </a:p>
          </p:txBody>
        </p:sp>
      </p:grpSp>
      <p:grpSp>
        <p:nvGrpSpPr>
          <p:cNvPr id="104" name="c2-graph-1"/>
          <p:cNvGrpSpPr/>
          <p:nvPr/>
        </p:nvGrpSpPr>
        <p:grpSpPr>
          <a:xfrm>
            <a:off x="5914480" y="1549241"/>
            <a:ext cx="5608249" cy="4750118"/>
            <a:chOff x="5914480" y="1549241"/>
            <a:chExt cx="5608249" cy="4750118"/>
          </a:xfrm>
        </p:grpSpPr>
        <p:sp>
          <p:nvSpPr>
            <p:cNvPr id="35" name="Freeform 35"/>
            <p:cNvSpPr/>
            <p:nvPr/>
          </p:nvSpPr>
          <p:spPr>
            <a:xfrm>
              <a:off x="8843962" y="2047875"/>
              <a:ext cx="115253" cy="114300"/>
            </a:xfrm>
            <a:custGeom>
              <a:avLst/>
              <a:gdLst/>
              <a:ahLst/>
              <a:cxnLst/>
              <a:rect l="l" t="t" r="r" b="b"/>
              <a:pathLst>
                <a:path w="115253" h="114300">
                  <a:moveTo>
                    <a:pt x="0" y="0"/>
                  </a:moveTo>
                  <a:lnTo>
                    <a:pt x="115253" y="114300"/>
                  </a:lnTo>
                </a:path>
              </a:pathLst>
            </a:custGeom>
            <a:noFill/>
            <a:ln w="17145">
              <a:solidFill>
                <a:srgbClr val="0E7C86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8924925" y="2127885"/>
              <a:ext cx="101918" cy="100965"/>
            </a:xfrm>
            <a:custGeom>
              <a:avLst/>
              <a:gdLst/>
              <a:ahLst/>
              <a:cxnLst/>
              <a:rect l="l" t="t" r="r" b="b"/>
              <a:pathLst>
                <a:path w="101918" h="100965">
                  <a:moveTo>
                    <a:pt x="101918" y="100965"/>
                  </a:moveTo>
                  <a:lnTo>
                    <a:pt x="0" y="67627"/>
                  </a:lnTo>
                  <a:lnTo>
                    <a:pt x="67628" y="0"/>
                  </a:lnTo>
                  <a:close/>
                </a:path>
              </a:pathLst>
            </a:custGeom>
            <a:solidFill>
              <a:srgbClr val="0E7C86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9112568" y="2304098"/>
              <a:ext cx="177165" cy="134302"/>
            </a:xfrm>
            <a:custGeom>
              <a:avLst/>
              <a:gdLst/>
              <a:ahLst/>
              <a:cxnLst/>
              <a:rect l="l" t="t" r="r" b="b"/>
              <a:pathLst>
                <a:path w="177165" h="134302">
                  <a:moveTo>
                    <a:pt x="0" y="0"/>
                  </a:moveTo>
                  <a:lnTo>
                    <a:pt x="177165" y="134302"/>
                  </a:lnTo>
                </a:path>
              </a:pathLst>
            </a:custGeom>
            <a:noFill/>
            <a:ln w="17145">
              <a:solidFill>
                <a:srgbClr val="0E7C86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9260205" y="2400300"/>
              <a:ext cx="104775" cy="95250"/>
            </a:xfrm>
            <a:custGeom>
              <a:avLst/>
              <a:gdLst/>
              <a:ahLst/>
              <a:cxnLst/>
              <a:rect l="l" t="t" r="r" b="b"/>
              <a:pathLst>
                <a:path w="104775" h="95250">
                  <a:moveTo>
                    <a:pt x="104775" y="95250"/>
                  </a:moveTo>
                  <a:lnTo>
                    <a:pt x="0" y="76200"/>
                  </a:lnTo>
                  <a:lnTo>
                    <a:pt x="58102" y="0"/>
                  </a:lnTo>
                  <a:close/>
                </a:path>
              </a:pathLst>
            </a:custGeom>
            <a:solidFill>
              <a:srgbClr val="0E7C86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9436418" y="2581275"/>
              <a:ext cx="38100" cy="74295"/>
            </a:xfrm>
            <a:custGeom>
              <a:avLst/>
              <a:gdLst/>
              <a:ahLst/>
              <a:cxnLst/>
              <a:rect l="l" t="t" r="r" b="b"/>
              <a:pathLst>
                <a:path w="38100" h="74295">
                  <a:moveTo>
                    <a:pt x="0" y="0"/>
                  </a:moveTo>
                  <a:lnTo>
                    <a:pt x="38100" y="74295"/>
                  </a:lnTo>
                </a:path>
              </a:pathLst>
            </a:custGeom>
            <a:noFill/>
            <a:ln w="17145">
              <a:solidFill>
                <a:srgbClr val="0E7C86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9431655" y="2634615"/>
              <a:ext cx="85725" cy="105727"/>
            </a:xfrm>
            <a:custGeom>
              <a:avLst/>
              <a:gdLst/>
              <a:ahLst/>
              <a:cxnLst/>
              <a:rect l="l" t="t" r="r" b="b"/>
              <a:pathLst>
                <a:path w="85725" h="105727">
                  <a:moveTo>
                    <a:pt x="85725" y="105727"/>
                  </a:moveTo>
                  <a:lnTo>
                    <a:pt x="0" y="42862"/>
                  </a:lnTo>
                  <a:lnTo>
                    <a:pt x="84772" y="0"/>
                  </a:lnTo>
                  <a:close/>
                </a:path>
              </a:pathLst>
            </a:custGeom>
            <a:solidFill>
              <a:srgbClr val="0E7C86"/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9599295" y="2799398"/>
              <a:ext cx="1616393" cy="232410"/>
            </a:xfrm>
            <a:custGeom>
              <a:avLst/>
              <a:gdLst/>
              <a:ahLst/>
              <a:cxnLst/>
              <a:rect l="l" t="t" r="r" b="b"/>
              <a:pathLst>
                <a:path w="1616393" h="232410">
                  <a:moveTo>
                    <a:pt x="0" y="0"/>
                  </a:moveTo>
                  <a:lnTo>
                    <a:pt x="1616393" y="232410"/>
                  </a:lnTo>
                </a:path>
              </a:pathLst>
            </a:custGeom>
            <a:noFill/>
            <a:ln w="17145">
              <a:solidFill>
                <a:srgbClr val="0E7C86"/>
              </a:solidFill>
              <a:custDash>
                <a:ds d="333333" sp="222222"/>
              </a:custDash>
            </a:ln>
          </p:spPr>
        </p:sp>
        <p:sp>
          <p:nvSpPr>
            <p:cNvPr id="42" name="Freeform 42"/>
            <p:cNvSpPr/>
            <p:nvPr/>
          </p:nvSpPr>
          <p:spPr>
            <a:xfrm>
              <a:off x="11209020" y="2984182"/>
              <a:ext cx="100965" cy="94297"/>
            </a:xfrm>
            <a:custGeom>
              <a:avLst/>
              <a:gdLst/>
              <a:ahLst/>
              <a:cxnLst/>
              <a:rect l="l" t="t" r="r" b="b"/>
              <a:pathLst>
                <a:path w="100965" h="94297">
                  <a:moveTo>
                    <a:pt x="100965" y="60960"/>
                  </a:moveTo>
                  <a:lnTo>
                    <a:pt x="0" y="94297"/>
                  </a:lnTo>
                  <a:lnTo>
                    <a:pt x="13335" y="0"/>
                  </a:lnTo>
                  <a:close/>
                </a:path>
              </a:pathLst>
            </a:custGeom>
            <a:solidFill>
              <a:srgbClr val="0E7C86"/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8109585" y="3057525"/>
              <a:ext cx="3199448" cy="244792"/>
            </a:xfrm>
            <a:custGeom>
              <a:avLst/>
              <a:gdLst/>
              <a:ahLst/>
              <a:cxnLst/>
              <a:rect l="l" t="t" r="r" b="b"/>
              <a:pathLst>
                <a:path w="3199448" h="244792">
                  <a:moveTo>
                    <a:pt x="3199448" y="0"/>
                  </a:moveTo>
                  <a:lnTo>
                    <a:pt x="0" y="244792"/>
                  </a:lnTo>
                </a:path>
              </a:pathLst>
            </a:custGeom>
            <a:noFill/>
            <a:ln w="17145">
              <a:solidFill>
                <a:srgbClr val="0E7C86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8014335" y="3255645"/>
              <a:ext cx="99060" cy="94297"/>
            </a:xfrm>
            <a:custGeom>
              <a:avLst/>
              <a:gdLst/>
              <a:ahLst/>
              <a:cxnLst/>
              <a:rect l="l" t="t" r="r" b="b"/>
              <a:pathLst>
                <a:path w="99060" h="94297">
                  <a:moveTo>
                    <a:pt x="0" y="54292"/>
                  </a:moveTo>
                  <a:lnTo>
                    <a:pt x="91440" y="0"/>
                  </a:lnTo>
                  <a:lnTo>
                    <a:pt x="99060" y="94297"/>
                  </a:lnTo>
                  <a:close/>
                </a:path>
              </a:pathLst>
            </a:custGeom>
            <a:solidFill>
              <a:srgbClr val="0E7C86"/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7565708" y="3339465"/>
              <a:ext cx="340995" cy="168592"/>
            </a:xfrm>
            <a:custGeom>
              <a:avLst/>
              <a:gdLst/>
              <a:ahLst/>
              <a:cxnLst/>
              <a:rect l="l" t="t" r="r" b="b"/>
              <a:pathLst>
                <a:path w="340995" h="168592">
                  <a:moveTo>
                    <a:pt x="340995" y="0"/>
                  </a:moveTo>
                  <a:lnTo>
                    <a:pt x="0" y="168592"/>
                  </a:lnTo>
                </a:path>
              </a:pathLst>
            </a:custGeom>
            <a:noFill/>
            <a:ln w="17145">
              <a:solidFill>
                <a:srgbClr val="0E7C86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7479982" y="3465195"/>
              <a:ext cx="106680" cy="85725"/>
            </a:xfrm>
            <a:custGeom>
              <a:avLst/>
              <a:gdLst/>
              <a:ahLst/>
              <a:cxnLst/>
              <a:rect l="l" t="t" r="r" b="b"/>
              <a:pathLst>
                <a:path w="106680" h="85725">
                  <a:moveTo>
                    <a:pt x="0" y="84772"/>
                  </a:moveTo>
                  <a:lnTo>
                    <a:pt x="64770" y="0"/>
                  </a:lnTo>
                  <a:lnTo>
                    <a:pt x="106680" y="85725"/>
                  </a:lnTo>
                  <a:close/>
                </a:path>
              </a:pathLst>
            </a:custGeom>
            <a:solidFill>
              <a:srgbClr val="0E7C86"/>
            </a:solidFill>
            <a:ln>
              <a:noFill/>
            </a:ln>
          </p:spPr>
        </p:sp>
        <p:sp>
          <p:nvSpPr>
            <p:cNvPr id="47" name="Freeform 47"/>
            <p:cNvSpPr/>
            <p:nvPr/>
          </p:nvSpPr>
          <p:spPr>
            <a:xfrm>
              <a:off x="6256972" y="3587115"/>
              <a:ext cx="1115378" cy="220027"/>
            </a:xfrm>
            <a:custGeom>
              <a:avLst/>
              <a:gdLst/>
              <a:ahLst/>
              <a:cxnLst/>
              <a:rect l="l" t="t" r="r" b="b"/>
              <a:pathLst>
                <a:path w="1115378" h="220027">
                  <a:moveTo>
                    <a:pt x="1115378" y="0"/>
                  </a:moveTo>
                  <a:lnTo>
                    <a:pt x="0" y="220027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48" name="Freeform 48"/>
            <p:cNvSpPr/>
            <p:nvPr/>
          </p:nvSpPr>
          <p:spPr>
            <a:xfrm>
              <a:off x="6163628" y="3760470"/>
              <a:ext cx="102870" cy="93345"/>
            </a:xfrm>
            <a:custGeom>
              <a:avLst/>
              <a:gdLst/>
              <a:ahLst/>
              <a:cxnLst/>
              <a:rect l="l" t="t" r="r" b="b"/>
              <a:pathLst>
                <a:path w="102870" h="93345">
                  <a:moveTo>
                    <a:pt x="0" y="65722"/>
                  </a:moveTo>
                  <a:lnTo>
                    <a:pt x="84772" y="0"/>
                  </a:lnTo>
                  <a:lnTo>
                    <a:pt x="102870" y="9334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9" name="Freeform 49"/>
            <p:cNvSpPr/>
            <p:nvPr/>
          </p:nvSpPr>
          <p:spPr>
            <a:xfrm>
              <a:off x="6161722" y="3854768"/>
              <a:ext cx="594360" cy="195262"/>
            </a:xfrm>
            <a:custGeom>
              <a:avLst/>
              <a:gdLst/>
              <a:ahLst/>
              <a:cxnLst/>
              <a:rect l="l" t="t" r="r" b="b"/>
              <a:pathLst>
                <a:path w="594360" h="195262">
                  <a:moveTo>
                    <a:pt x="0" y="0"/>
                  </a:moveTo>
                  <a:lnTo>
                    <a:pt x="594360" y="195262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6740842" y="4005262"/>
              <a:ext cx="105727" cy="90488"/>
            </a:xfrm>
            <a:custGeom>
              <a:avLst/>
              <a:gdLst/>
              <a:ahLst/>
              <a:cxnLst/>
              <a:rect l="l" t="t" r="r" b="b"/>
              <a:pathLst>
                <a:path w="105727" h="90488">
                  <a:moveTo>
                    <a:pt x="105727" y="75247"/>
                  </a:moveTo>
                  <a:lnTo>
                    <a:pt x="0" y="90488"/>
                  </a:lnTo>
                  <a:lnTo>
                    <a:pt x="29527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51" name="Freeform 51"/>
            <p:cNvSpPr/>
            <p:nvPr/>
          </p:nvSpPr>
          <p:spPr>
            <a:xfrm>
              <a:off x="6940868" y="4138612"/>
              <a:ext cx="115252" cy="113347"/>
            </a:xfrm>
            <a:custGeom>
              <a:avLst/>
              <a:gdLst/>
              <a:ahLst/>
              <a:cxnLst/>
              <a:rect l="l" t="t" r="r" b="b"/>
              <a:pathLst>
                <a:path w="115252" h="113347">
                  <a:moveTo>
                    <a:pt x="0" y="0"/>
                  </a:moveTo>
                  <a:lnTo>
                    <a:pt x="115252" y="113347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7022782" y="4218622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5" h="100965">
                  <a:moveTo>
                    <a:pt x="100965" y="100965"/>
                  </a:moveTo>
                  <a:lnTo>
                    <a:pt x="0" y="67628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53" name="Freeform 53"/>
            <p:cNvSpPr/>
            <p:nvPr/>
          </p:nvSpPr>
          <p:spPr>
            <a:xfrm>
              <a:off x="7216140" y="4384358"/>
              <a:ext cx="340995" cy="168592"/>
            </a:xfrm>
            <a:custGeom>
              <a:avLst/>
              <a:gdLst/>
              <a:ahLst/>
              <a:cxnLst/>
              <a:rect l="l" t="t" r="r" b="b"/>
              <a:pathLst>
                <a:path w="340995" h="168592">
                  <a:moveTo>
                    <a:pt x="0" y="0"/>
                  </a:moveTo>
                  <a:lnTo>
                    <a:pt x="340995" y="168592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7536180" y="4510088"/>
              <a:ext cx="105727" cy="85725"/>
            </a:xfrm>
            <a:custGeom>
              <a:avLst/>
              <a:gdLst/>
              <a:ahLst/>
              <a:cxnLst/>
              <a:rect l="l" t="t" r="r" b="b"/>
              <a:pathLst>
                <a:path w="105727" h="85725">
                  <a:moveTo>
                    <a:pt x="105727" y="85725"/>
                  </a:moveTo>
                  <a:lnTo>
                    <a:pt x="0" y="85725"/>
                  </a:lnTo>
                  <a:lnTo>
                    <a:pt x="4191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55" name="Freeform 55"/>
            <p:cNvSpPr/>
            <p:nvPr/>
          </p:nvSpPr>
          <p:spPr>
            <a:xfrm>
              <a:off x="7744778" y="4646295"/>
              <a:ext cx="340042" cy="168592"/>
            </a:xfrm>
            <a:custGeom>
              <a:avLst/>
              <a:gdLst/>
              <a:ahLst/>
              <a:cxnLst/>
              <a:rect l="l" t="t" r="r" b="b"/>
              <a:pathLst>
                <a:path w="340042" h="168592">
                  <a:moveTo>
                    <a:pt x="0" y="0"/>
                  </a:moveTo>
                  <a:lnTo>
                    <a:pt x="340042" y="168592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8063865" y="4772025"/>
              <a:ext cx="106680" cy="84772"/>
            </a:xfrm>
            <a:custGeom>
              <a:avLst/>
              <a:gdLst/>
              <a:ahLst/>
              <a:cxnLst/>
              <a:rect l="l" t="t" r="r" b="b"/>
              <a:pathLst>
                <a:path w="106680" h="84772">
                  <a:moveTo>
                    <a:pt x="106680" y="84772"/>
                  </a:moveTo>
                  <a:lnTo>
                    <a:pt x="0" y="84772"/>
                  </a:lnTo>
                  <a:lnTo>
                    <a:pt x="42862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57" name="Freeform 57"/>
            <p:cNvSpPr/>
            <p:nvPr/>
          </p:nvSpPr>
          <p:spPr>
            <a:xfrm>
              <a:off x="8277225" y="4895850"/>
              <a:ext cx="853440" cy="210503"/>
            </a:xfrm>
            <a:custGeom>
              <a:avLst/>
              <a:gdLst/>
              <a:ahLst/>
              <a:cxnLst/>
              <a:rect l="l" t="t" r="r" b="b"/>
              <a:pathLst>
                <a:path w="853440" h="210503">
                  <a:moveTo>
                    <a:pt x="0" y="0"/>
                  </a:moveTo>
                  <a:lnTo>
                    <a:pt x="853440" y="210503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58" name="Freeform 58"/>
            <p:cNvSpPr/>
            <p:nvPr/>
          </p:nvSpPr>
          <p:spPr>
            <a:xfrm>
              <a:off x="9119235" y="5060632"/>
              <a:ext cx="103822" cy="92393"/>
            </a:xfrm>
            <a:custGeom>
              <a:avLst/>
              <a:gdLst/>
              <a:ahLst/>
              <a:cxnLst/>
              <a:rect l="l" t="t" r="r" b="b"/>
              <a:pathLst>
                <a:path w="103822" h="92393">
                  <a:moveTo>
                    <a:pt x="103822" y="68580"/>
                  </a:moveTo>
                  <a:lnTo>
                    <a:pt x="0" y="92393"/>
                  </a:lnTo>
                  <a:lnTo>
                    <a:pt x="2286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59" name="Freeform 59"/>
            <p:cNvSpPr/>
            <p:nvPr/>
          </p:nvSpPr>
          <p:spPr>
            <a:xfrm>
              <a:off x="9335452" y="5150168"/>
              <a:ext cx="1880235" cy="235267"/>
            </a:xfrm>
            <a:custGeom>
              <a:avLst/>
              <a:gdLst/>
              <a:ahLst/>
              <a:cxnLst/>
              <a:rect l="l" t="t" r="r" b="b"/>
              <a:pathLst>
                <a:path w="1880235" h="235267">
                  <a:moveTo>
                    <a:pt x="0" y="0"/>
                  </a:moveTo>
                  <a:lnTo>
                    <a:pt x="1880235" y="235267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60" name="Freeform 60"/>
            <p:cNvSpPr/>
            <p:nvPr/>
          </p:nvSpPr>
          <p:spPr>
            <a:xfrm>
              <a:off x="11209020" y="5338762"/>
              <a:ext cx="100965" cy="94297"/>
            </a:xfrm>
            <a:custGeom>
              <a:avLst/>
              <a:gdLst/>
              <a:ahLst/>
              <a:cxnLst/>
              <a:rect l="l" t="t" r="r" b="b"/>
              <a:pathLst>
                <a:path w="100965" h="94297">
                  <a:moveTo>
                    <a:pt x="100965" y="59055"/>
                  </a:moveTo>
                  <a:lnTo>
                    <a:pt x="0" y="94297"/>
                  </a:lnTo>
                  <a:lnTo>
                    <a:pt x="12382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61" name="Freeform 61"/>
            <p:cNvSpPr/>
            <p:nvPr/>
          </p:nvSpPr>
          <p:spPr>
            <a:xfrm>
              <a:off x="9165908" y="5411152"/>
              <a:ext cx="2144078" cy="238125"/>
            </a:xfrm>
            <a:custGeom>
              <a:avLst/>
              <a:gdLst/>
              <a:ahLst/>
              <a:cxnLst/>
              <a:rect l="l" t="t" r="r" b="b"/>
              <a:pathLst>
                <a:path w="2144078" h="238125">
                  <a:moveTo>
                    <a:pt x="2144078" y="0"/>
                  </a:moveTo>
                  <a:lnTo>
                    <a:pt x="0" y="238125"/>
                  </a:lnTo>
                </a:path>
              </a:pathLst>
            </a:custGeom>
            <a:noFill/>
            <a:ln w="17145">
              <a:solidFill>
                <a:srgbClr val="14A38B"/>
              </a:solidFill>
            </a:ln>
          </p:spPr>
        </p:sp>
        <p:sp>
          <p:nvSpPr>
            <p:cNvPr id="62" name="Freeform 62"/>
            <p:cNvSpPr/>
            <p:nvPr/>
          </p:nvSpPr>
          <p:spPr>
            <a:xfrm>
              <a:off x="9071610" y="5601652"/>
              <a:ext cx="100012" cy="95250"/>
            </a:xfrm>
            <a:custGeom>
              <a:avLst/>
              <a:gdLst/>
              <a:ahLst/>
              <a:cxnLst/>
              <a:rect l="l" t="t" r="r" b="b"/>
              <a:pathLst>
                <a:path w="100012" h="95250">
                  <a:moveTo>
                    <a:pt x="0" y="58103"/>
                  </a:moveTo>
                  <a:lnTo>
                    <a:pt x="89535" y="0"/>
                  </a:lnTo>
                  <a:lnTo>
                    <a:pt x="100012" y="95250"/>
                  </a:lnTo>
                  <a:close/>
                </a:path>
              </a:pathLst>
            </a:custGeom>
            <a:solidFill>
              <a:srgbClr val="14A38B"/>
            </a:solidFill>
            <a:ln>
              <a:noFill/>
            </a:ln>
          </p:spPr>
        </p:sp>
        <p:sp>
          <p:nvSpPr>
            <p:cNvPr id="63" name="Freeform 63"/>
            <p:cNvSpPr/>
            <p:nvPr/>
          </p:nvSpPr>
          <p:spPr>
            <a:xfrm>
              <a:off x="8622030" y="5691188"/>
              <a:ext cx="340995" cy="168593"/>
            </a:xfrm>
            <a:custGeom>
              <a:avLst/>
              <a:gdLst/>
              <a:ahLst/>
              <a:cxnLst/>
              <a:rect l="l" t="t" r="r" b="b"/>
              <a:pathLst>
                <a:path w="340995" h="168593">
                  <a:moveTo>
                    <a:pt x="340995" y="0"/>
                  </a:moveTo>
                  <a:lnTo>
                    <a:pt x="0" y="168593"/>
                  </a:lnTo>
                </a:path>
              </a:pathLst>
            </a:custGeom>
            <a:noFill/>
            <a:ln w="17145">
              <a:solidFill>
                <a:srgbClr val="14A38B"/>
              </a:solidFill>
            </a:ln>
          </p:spPr>
        </p:sp>
        <p:sp>
          <p:nvSpPr>
            <p:cNvPr id="64" name="Freeform 64"/>
            <p:cNvSpPr/>
            <p:nvPr/>
          </p:nvSpPr>
          <p:spPr>
            <a:xfrm>
              <a:off x="8537258" y="5816918"/>
              <a:ext cx="106680" cy="85725"/>
            </a:xfrm>
            <a:custGeom>
              <a:avLst/>
              <a:gdLst/>
              <a:ahLst/>
              <a:cxnLst/>
              <a:rect l="l" t="t" r="r" b="b"/>
              <a:pathLst>
                <a:path w="106680" h="85725">
                  <a:moveTo>
                    <a:pt x="0" y="84772"/>
                  </a:moveTo>
                  <a:lnTo>
                    <a:pt x="63818" y="0"/>
                  </a:lnTo>
                  <a:lnTo>
                    <a:pt x="106680" y="85725"/>
                  </a:lnTo>
                  <a:close/>
                </a:path>
              </a:pathLst>
            </a:custGeom>
            <a:solidFill>
              <a:srgbClr val="14A38B"/>
            </a:solidFill>
            <a:ln>
              <a:noFill/>
            </a:ln>
          </p:spPr>
        </p:sp>
        <p:sp>
          <p:nvSpPr>
            <p:cNvPr id="65" name="Freeform 65"/>
            <p:cNvSpPr/>
            <p:nvPr/>
          </p:nvSpPr>
          <p:spPr>
            <a:xfrm>
              <a:off x="6787515" y="5935028"/>
              <a:ext cx="1642110" cy="232410"/>
            </a:xfrm>
            <a:custGeom>
              <a:avLst/>
              <a:gdLst/>
              <a:ahLst/>
              <a:cxnLst/>
              <a:rect l="l" t="t" r="r" b="b"/>
              <a:pathLst>
                <a:path w="1642110" h="232410">
                  <a:moveTo>
                    <a:pt x="1642110" y="0"/>
                  </a:moveTo>
                  <a:lnTo>
                    <a:pt x="0" y="232410"/>
                  </a:lnTo>
                </a:path>
              </a:pathLst>
            </a:custGeom>
            <a:noFill/>
            <a:ln w="17145">
              <a:solidFill>
                <a:srgbClr val="14A38B"/>
              </a:solidFill>
            </a:ln>
          </p:spPr>
        </p:sp>
        <p:sp>
          <p:nvSpPr>
            <p:cNvPr id="66" name="Freeform 66"/>
            <p:cNvSpPr/>
            <p:nvPr/>
          </p:nvSpPr>
          <p:spPr>
            <a:xfrm>
              <a:off x="6693218" y="6119812"/>
              <a:ext cx="100965" cy="94297"/>
            </a:xfrm>
            <a:custGeom>
              <a:avLst/>
              <a:gdLst/>
              <a:ahLst/>
              <a:cxnLst/>
              <a:rect l="l" t="t" r="r" b="b"/>
              <a:pathLst>
                <a:path w="100965" h="94297">
                  <a:moveTo>
                    <a:pt x="0" y="60960"/>
                  </a:moveTo>
                  <a:lnTo>
                    <a:pt x="87630" y="0"/>
                  </a:lnTo>
                  <a:lnTo>
                    <a:pt x="100965" y="94297"/>
                  </a:lnTo>
                  <a:close/>
                </a:path>
              </a:pathLst>
            </a:custGeom>
            <a:solidFill>
              <a:srgbClr val="14A38B"/>
            </a:solidFill>
            <a:ln>
              <a:noFill/>
            </a:ln>
          </p:spPr>
        </p:sp>
        <p:sp>
          <p:nvSpPr>
            <p:cNvPr id="67" name="Ellipse 67"/>
            <p:cNvSpPr/>
            <p:nvPr/>
          </p:nvSpPr>
          <p:spPr>
            <a:xfrm>
              <a:off x="8755380" y="1960245"/>
              <a:ext cx="95250" cy="952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Ellipse 68"/>
            <p:cNvSpPr/>
            <p:nvPr/>
          </p:nvSpPr>
          <p:spPr>
            <a:xfrm>
              <a:off x="9019222" y="2221230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9" name="Ellipse 69"/>
            <p:cNvSpPr/>
            <p:nvPr/>
          </p:nvSpPr>
          <p:spPr>
            <a:xfrm>
              <a:off x="9363075" y="2483168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0" name="Ellipse 70"/>
            <p:cNvSpPr/>
            <p:nvPr/>
          </p:nvSpPr>
          <p:spPr>
            <a:xfrm>
              <a:off x="9495472" y="2744152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1" name="Ellipse 71"/>
            <p:cNvSpPr/>
            <p:nvPr/>
          </p:nvSpPr>
          <p:spPr>
            <a:xfrm>
              <a:off x="11318558" y="3005138"/>
              <a:ext cx="95250" cy="952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Ellipse 72"/>
            <p:cNvSpPr/>
            <p:nvPr/>
          </p:nvSpPr>
          <p:spPr>
            <a:xfrm>
              <a:off x="7909560" y="3267075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3" name="Ellipse 73"/>
            <p:cNvSpPr/>
            <p:nvPr/>
          </p:nvSpPr>
          <p:spPr>
            <a:xfrm>
              <a:off x="7380922" y="3528060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4" name="Ellipse 74"/>
            <p:cNvSpPr/>
            <p:nvPr/>
          </p:nvSpPr>
          <p:spPr>
            <a:xfrm>
              <a:off x="6059805" y="3789045"/>
              <a:ext cx="95250" cy="952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Ellipse 75"/>
            <p:cNvSpPr/>
            <p:nvPr/>
          </p:nvSpPr>
          <p:spPr>
            <a:xfrm>
              <a:off x="6853238" y="4050982"/>
              <a:ext cx="95250" cy="952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76" name="Ellipse 76"/>
            <p:cNvSpPr/>
            <p:nvPr/>
          </p:nvSpPr>
          <p:spPr>
            <a:xfrm>
              <a:off x="7117080" y="4311968"/>
              <a:ext cx="95250" cy="952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77" name="Ellipse 77"/>
            <p:cNvSpPr/>
            <p:nvPr/>
          </p:nvSpPr>
          <p:spPr>
            <a:xfrm>
              <a:off x="7645718" y="4572952"/>
              <a:ext cx="95250" cy="952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78" name="Ellipse 78"/>
            <p:cNvSpPr/>
            <p:nvPr/>
          </p:nvSpPr>
          <p:spPr>
            <a:xfrm>
              <a:off x="8174355" y="4834890"/>
              <a:ext cx="95250" cy="952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79" name="Ellipse 79"/>
            <p:cNvSpPr/>
            <p:nvPr/>
          </p:nvSpPr>
          <p:spPr>
            <a:xfrm>
              <a:off x="9230678" y="5095875"/>
              <a:ext cx="95250" cy="952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80" name="Ellipse 80"/>
            <p:cNvSpPr/>
            <p:nvPr/>
          </p:nvSpPr>
          <p:spPr>
            <a:xfrm>
              <a:off x="11318558" y="5356860"/>
              <a:ext cx="95250" cy="952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1" name="Ellipse 81"/>
            <p:cNvSpPr/>
            <p:nvPr/>
          </p:nvSpPr>
          <p:spPr>
            <a:xfrm>
              <a:off x="8966835" y="5617845"/>
              <a:ext cx="95250" cy="95250"/>
            </a:xfrm>
            <a:prstGeom prst="ellipse">
              <a:avLst/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82" name="Ellipse 82"/>
            <p:cNvSpPr/>
            <p:nvPr/>
          </p:nvSpPr>
          <p:spPr>
            <a:xfrm>
              <a:off x="8438198" y="5879782"/>
              <a:ext cx="95250" cy="95250"/>
            </a:xfrm>
            <a:prstGeom prst="ellipse">
              <a:avLst/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83" name="Ellipse 83"/>
            <p:cNvSpPr/>
            <p:nvPr/>
          </p:nvSpPr>
          <p:spPr>
            <a:xfrm>
              <a:off x="6588442" y="6140768"/>
              <a:ext cx="95250" cy="95250"/>
            </a:xfrm>
            <a:prstGeom prst="ellipse">
              <a:avLst/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8903018" y="1956911"/>
              <a:ext cx="44555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102 起点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9166860" y="2217896"/>
              <a:ext cx="19166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112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9510712" y="2478881"/>
              <a:ext cx="19166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125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9447265" y="2874169"/>
              <a:ext cx="19166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130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1209636" y="3135154"/>
              <a:ext cx="3130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(199)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7726220" y="326278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70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7363071" y="338185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6011597" y="3919061"/>
              <a:ext cx="19166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(0)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7000875" y="404669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7264718" y="430768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7793355" y="456961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60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8156504" y="468868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80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9182470" y="5225891"/>
              <a:ext cx="19166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120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11209636" y="5486876"/>
              <a:ext cx="3130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(199)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8722782" y="5614511"/>
              <a:ext cx="19166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110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8420346" y="573357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90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6405103" y="613743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5914480" y="1549241"/>
              <a:ext cx="38590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磁道 0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8634919" y="1549241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100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11252389" y="1549241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199</a:t>
              </a:r>
            </a:p>
          </p:txBody>
        </p:sp>
      </p:grpSp>
      <p:grpSp>
        <p:nvGrpSpPr>
          <p:cNvPr id="10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5" name="TextBox 105"/>
            <p:cNvSpPr txBox="1"/>
            <p:nvPr/>
          </p:nvSpPr>
          <p:spPr>
            <a:xfrm>
              <a:off x="528447" y="6581299"/>
              <a:ext cx="23120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操作系统原理 试题解析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80958" cy="909257"/>
            <a:chOff x="520446" y="342900"/>
            <a:chExt cx="828095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7175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1722" y="407194"/>
              <a:ext cx="24551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试题解析 · 同步、虚存、磁盘与练习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8095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八、解（2）：13 次访盘的寻道、旋转延迟与传输时间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8" name="c1-table-1"/>
          <p:cNvGrpSpPr/>
          <p:nvPr/>
        </p:nvGrpSpPr>
        <p:grpSpPr>
          <a:xfrm>
            <a:off x="533400" y="1524000"/>
            <a:ext cx="5842635" cy="2150745"/>
            <a:chOff x="533400" y="1524000"/>
            <a:chExt cx="5842635" cy="215074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43053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66800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项目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586038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公式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930015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一次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132588" y="1655445"/>
              <a:ext cx="7342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13 次合计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8746" y="208502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寻道时间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040827" y="2085022"/>
              <a:ext cx="13287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移动量 × 每道时间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047134" y="208502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867656" y="2085022"/>
              <a:ext cx="12641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674 × 1 = 674 ms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37934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384108"/>
              <a:ext cx="584263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8746" y="251555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旋转延迟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040827" y="2515552"/>
              <a:ext cx="9256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Tr = 1/(2r)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917899" y="2515552"/>
              <a:ext cx="3595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ms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275555" y="2515552"/>
              <a:ext cx="4483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65 ms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280987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8746" y="294608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传输时间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040827" y="2946082"/>
              <a:ext cx="9290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Tt = b/(rN)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829050" y="2946082"/>
              <a:ext cx="5372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 ms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231130" y="2946082"/>
              <a:ext cx="5372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1.3 ms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23945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3244215"/>
              <a:ext cx="584263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8746" y="33756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总访问处理时间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040827" y="33756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三项相加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047134" y="33756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4632960" y="3253740"/>
              <a:ext cx="1733550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142281" y="3375660"/>
              <a:ext cx="7149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740.3 ms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1524000"/>
              <a:ext cx="5842635" cy="21507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1930718" y="152400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3567112" y="152400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618672" y="152400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4" name="c1-callout-2"/>
          <p:cNvGrpSpPr/>
          <p:nvPr/>
        </p:nvGrpSpPr>
        <p:grpSpPr>
          <a:xfrm>
            <a:off x="533400" y="3860482"/>
            <a:ext cx="5842635" cy="756285"/>
            <a:chOff x="533400" y="3860482"/>
            <a:chExt cx="5842635" cy="756285"/>
          </a:xfrm>
        </p:grpSpPr>
        <p:sp>
          <p:nvSpPr>
            <p:cNvPr id="39" name="Rectangle 39"/>
            <p:cNvSpPr/>
            <p:nvPr/>
          </p:nvSpPr>
          <p:spPr>
            <a:xfrm>
              <a:off x="533400" y="3860482"/>
              <a:ext cx="5842635" cy="756285"/>
            </a:xfrm>
            <a:prstGeom prst="roundRect">
              <a:avLst>
                <a:gd name="adj" fmla="val 15113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738188" y="4138615"/>
              <a:ext cx="200023" cy="200023"/>
              <a:chOff x="738188" y="4138615"/>
              <a:chExt cx="200023" cy="200023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738188" y="413861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71538" y="420528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1040511" y="4007644"/>
              <a:ext cx="4604131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 (2)：总寻道 674 ms，总旋转延迟 65 ms，总传输 1.3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ms，总访问处理 740.3 ms</a:t>
              </a:r>
            </a:p>
          </p:txBody>
        </p:sp>
      </p:grpSp>
      <p:grpSp>
        <p:nvGrpSpPr>
          <p:cNvPr id="50" name="c1-card-3"/>
          <p:cNvGrpSpPr/>
          <p:nvPr/>
        </p:nvGrpSpPr>
        <p:grpSpPr>
          <a:xfrm>
            <a:off x="533400" y="4801552"/>
            <a:ext cx="5842635" cy="1274445"/>
            <a:chOff x="533400" y="4801552"/>
            <a:chExt cx="5842635" cy="1274445"/>
          </a:xfrm>
        </p:grpSpPr>
        <p:sp>
          <p:nvSpPr>
            <p:cNvPr id="45" name="Rectangle 45"/>
            <p:cNvSpPr/>
            <p:nvPr/>
          </p:nvSpPr>
          <p:spPr>
            <a:xfrm>
              <a:off x="533400" y="4801552"/>
              <a:ext cx="5842635" cy="1274445"/>
            </a:xfrm>
            <a:prstGeom prst="roundRect">
              <a:avLst>
                <a:gd name="adj" fmla="val 10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542925" y="4934902"/>
              <a:ext cx="47625" cy="100774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775335" y="500538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65543" y="504110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68096" y="5378291"/>
              <a:ext cx="513613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原课件第④步写作“总访问处理时间 = 总访盘处理时间 + 总旋转延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迟时间 + 总传输时间”，第一项应为总寻道时间。</a:t>
              </a:r>
            </a:p>
          </p:txBody>
        </p:sp>
      </p:grpSp>
      <p:grpSp>
        <p:nvGrpSpPr>
          <p:cNvPr id="68" name="c2-steps-1"/>
          <p:cNvGrpSpPr/>
          <p:nvPr/>
        </p:nvGrpSpPr>
        <p:grpSpPr>
          <a:xfrm>
            <a:off x="6680835" y="1533525"/>
            <a:ext cx="4509516" cy="2632139"/>
            <a:chOff x="6680835" y="1533525"/>
            <a:chExt cx="4509516" cy="2632139"/>
          </a:xfrm>
        </p:grpSpPr>
        <p:sp>
          <p:nvSpPr>
            <p:cNvPr id="51" name="Rectangle 51"/>
            <p:cNvSpPr/>
            <p:nvPr/>
          </p:nvSpPr>
          <p:spPr>
            <a:xfrm>
              <a:off x="6814185" y="1676400"/>
              <a:ext cx="19050" cy="20831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Ellipse 52"/>
            <p:cNvSpPr/>
            <p:nvPr/>
          </p:nvSpPr>
          <p:spPr>
            <a:xfrm>
              <a:off x="6680835" y="153352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77445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6680835" y="215455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774459" y="22283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6680835" y="277558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774459" y="28494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6680835" y="361664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774459" y="36904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092696" y="156638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换算转速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093839" y="1846898"/>
              <a:ext cx="30249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 = 6000 r/min = 100 r/s，转一圈 10 ms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092696" y="218741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旋转延迟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093839" y="2467927"/>
              <a:ext cx="31461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转半圈 1/(2 × 100) s = 5 ms，13 次 65 ms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092696" y="280844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传输时间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093839" y="3088957"/>
              <a:ext cx="409651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128/(100 × 12800) s = 0.1 ms，即转 1/100 圈；13 次 1.3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ms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092696" y="365045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合计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093839" y="3930968"/>
              <a:ext cx="19830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674 + 65 + 1.3 = 740.3 ms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23120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操作系统原理 试题解析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7175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1722" y="407194"/>
              <a:ext cx="24551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试题解析 · 同步、虚存、磁盘与练习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补充练习：银行家算法的题目与安全性算法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1" name="c1-card-1"/>
          <p:cNvGrpSpPr/>
          <p:nvPr/>
        </p:nvGrpSpPr>
        <p:grpSpPr>
          <a:xfrm>
            <a:off x="533400" y="1524000"/>
            <a:ext cx="5193982" cy="4786312"/>
            <a:chOff x="533400" y="1524000"/>
            <a:chExt cx="5193982" cy="478631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4786312"/>
            </a:xfrm>
            <a:prstGeom prst="roundRect">
              <a:avLst>
                <a:gd name="adj" fmla="val 278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5805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7245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题目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8947" y="2072640"/>
              <a:ext cx="439426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在银行家算法中，若出现下面的资源分配情况（资源 A B C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D）：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25805" y="2610802"/>
              <a:ext cx="4809172" cy="40576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270356" y="273510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进程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657496" y="2735104"/>
              <a:ext cx="7676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Allocation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562079" y="2735104"/>
              <a:ext cx="364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Need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29129" y="3140869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801917" y="3140869"/>
              <a:ext cx="4788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0 0 3 2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504987" y="3140869"/>
              <a:ext cx="4788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0 0 1 2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25805" y="3417570"/>
              <a:ext cx="480917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25805" y="3422332"/>
              <a:ext cx="480917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329129" y="3546634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801917" y="3546634"/>
              <a:ext cx="4788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1 0 0 0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04987" y="3546634"/>
              <a:ext cx="4788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1 6 5 0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25805" y="3823335"/>
              <a:ext cx="480917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329129" y="3952399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801917" y="3952399"/>
              <a:ext cx="4788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1 3 5 4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04987" y="3952399"/>
              <a:ext cx="4788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2 3 5 6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25805" y="4229100"/>
              <a:ext cx="480917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25805" y="4233862"/>
              <a:ext cx="480917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329129" y="4358164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801917" y="4358164"/>
              <a:ext cx="4788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0 0 3 2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04987" y="4358164"/>
              <a:ext cx="4788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0 6 5 2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725805" y="4634865"/>
              <a:ext cx="480917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329129" y="4763929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801917" y="4763929"/>
              <a:ext cx="4788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0 0 1 4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504987" y="4763929"/>
              <a:ext cx="4788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0 6 5 6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725805" y="2610802"/>
              <a:ext cx="4809172" cy="24345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2123122" y="2610802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3950018" y="2610802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20471" y="5119688"/>
              <a:ext cx="16037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Available = (1, 6, 2, 2)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18947" y="5392102"/>
              <a:ext cx="460000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(1) 该状态是否安全？(2) 若 P2 提出请求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Request(1,2,2,2)，系统能否分配？(3) 如果系统立即满足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 的上述请求，系统是否立即进入死锁状态？</a:t>
              </a:r>
            </a:p>
          </p:txBody>
        </p:sp>
      </p:grpSp>
      <p:grpSp>
        <p:nvGrpSpPr>
          <p:cNvPr id="47" name="c2-card-1"/>
          <p:cNvGrpSpPr/>
          <p:nvPr/>
        </p:nvGrpSpPr>
        <p:grpSpPr>
          <a:xfrm>
            <a:off x="6032182" y="1524000"/>
            <a:ext cx="5626418" cy="1466850"/>
            <a:chOff x="6032182" y="1524000"/>
            <a:chExt cx="5626418" cy="1466850"/>
          </a:xfrm>
        </p:grpSpPr>
        <p:sp>
          <p:nvSpPr>
            <p:cNvPr id="42" name="Rectangle 42"/>
            <p:cNvSpPr/>
            <p:nvPr/>
          </p:nvSpPr>
          <p:spPr>
            <a:xfrm>
              <a:off x="6032182" y="1524000"/>
              <a:ext cx="5626418" cy="146685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041708" y="1657350"/>
              <a:ext cx="47625" cy="120015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262688" y="1716405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346127" y="175069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安全状态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255830" y="2072640"/>
              <a:ext cx="49857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系统能按某种顺序（如 P1, P2, …, Pn）为各进程分配所需资源直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至最大需求，使每个进程都能顺序完成，这个序列称为安全序列。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不存在安全序列就是不安全状态。</a:t>
              </a:r>
            </a:p>
          </p:txBody>
        </p:sp>
      </p:grpSp>
      <p:grpSp>
        <p:nvGrpSpPr>
          <p:cNvPr id="61" name="c2-steps-2"/>
          <p:cNvGrpSpPr/>
          <p:nvPr/>
        </p:nvGrpSpPr>
        <p:grpSpPr>
          <a:xfrm>
            <a:off x="6032182" y="3175635"/>
            <a:ext cx="5132959" cy="2107407"/>
            <a:chOff x="6032182" y="3175635"/>
            <a:chExt cx="5132959" cy="2107407"/>
          </a:xfrm>
        </p:grpSpPr>
        <p:sp>
          <p:nvSpPr>
            <p:cNvPr id="48" name="Rectangle 48"/>
            <p:cNvSpPr/>
            <p:nvPr/>
          </p:nvSpPr>
          <p:spPr>
            <a:xfrm>
              <a:off x="6165532" y="3318510"/>
              <a:ext cx="19050" cy="15878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6032182" y="317563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125806" y="324945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6032182" y="396906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125806" y="404288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6032182" y="476345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125806" y="483727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444424" y="32070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检查请求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445567" y="3474244"/>
              <a:ext cx="4719574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Request[i] ≤ Need[i]，否则出错（超过声明的最大需求）；Request[i] ≤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Available，否则 Pi 等待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444424" y="400145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试分配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445567" y="4268629"/>
              <a:ext cx="445643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Available −= Request[i]；Allocation[i] += Request[i]；Need[i] −=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Request[i]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444424" y="4794885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安全性检查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445567" y="5063014"/>
              <a:ext cx="35532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安全则真正分配；不安全则 Pi 等待，三个量恢复原值</a:t>
              </a:r>
            </a:p>
          </p:txBody>
        </p:sp>
      </p:grpSp>
      <p:grpSp>
        <p:nvGrpSpPr>
          <p:cNvPr id="68" name="c2-callout-3"/>
          <p:cNvGrpSpPr/>
          <p:nvPr/>
        </p:nvGrpSpPr>
        <p:grpSpPr>
          <a:xfrm>
            <a:off x="6032182" y="5452110"/>
            <a:ext cx="5626418" cy="858202"/>
            <a:chOff x="6032182" y="5452110"/>
            <a:chExt cx="5626418" cy="858202"/>
          </a:xfrm>
        </p:grpSpPr>
        <p:sp>
          <p:nvSpPr>
            <p:cNvPr id="62" name="Rectangle 62"/>
            <p:cNvSpPr/>
            <p:nvPr/>
          </p:nvSpPr>
          <p:spPr>
            <a:xfrm>
              <a:off x="6032182" y="5452110"/>
              <a:ext cx="5626418" cy="858202"/>
            </a:xfrm>
            <a:prstGeom prst="roundRect">
              <a:avLst>
                <a:gd name="adj" fmla="val 1331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6236970" y="5780723"/>
              <a:ext cx="200026" cy="200026"/>
              <a:chOff x="6236970" y="5780723"/>
              <a:chExt cx="200026" cy="200026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6236970" y="578072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6336983" y="584739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6325870" y="588073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6539674" y="5786438"/>
              <a:ext cx="49660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上面是资源请求算法，第 (2) 问要用；安全性算法见下一页。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23120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操作系统原理 试题解析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952817" cy="909257"/>
            <a:chOff x="520446" y="342900"/>
            <a:chExt cx="895281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7175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1722" y="407194"/>
              <a:ext cx="24551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试题解析 · 同步、虚存、磁盘与练习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95281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（1）安全性检查：找到安全序列 &lt;P0, P3, P4, P1, P2&gt;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7" name="c1-table-1"/>
          <p:cNvGrpSpPr/>
          <p:nvPr/>
        </p:nvGrpSpPr>
        <p:grpSpPr>
          <a:xfrm>
            <a:off x="528066" y="1524000"/>
            <a:ext cx="6713792" cy="2714244"/>
            <a:chOff x="528066" y="1524000"/>
            <a:chExt cx="6713792" cy="2714244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708458" cy="40576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73151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进程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54233" y="1648301"/>
              <a:ext cx="3967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Work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682796" y="1648301"/>
              <a:ext cx="364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Need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575706" y="1648301"/>
              <a:ext cx="7676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Allocation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773605" y="1648301"/>
              <a:ext cx="13360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Work + Allocation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49498" y="1648301"/>
              <a:ext cx="4588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Finish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31924" y="2054066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613197" y="2054066"/>
              <a:ext cx="4788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1 6 2 2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625705" y="2054066"/>
              <a:ext cx="4788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0 0 1 2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720127" y="2054066"/>
              <a:ext cx="4788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0 0 3 2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202217" y="2054066"/>
              <a:ext cx="4788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1 6 5 4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607376" y="205406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true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233076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2335530"/>
              <a:ext cx="670845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31924" y="2459831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613197" y="2459831"/>
              <a:ext cx="4788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1 6 5 4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625705" y="2459831"/>
              <a:ext cx="4788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0 6 5 2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720127" y="2459831"/>
              <a:ext cx="4788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0 0 3 2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202217" y="2459831"/>
              <a:ext cx="4788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1 6 8 6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607376" y="245983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true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2736532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31924" y="2865596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613197" y="2865596"/>
              <a:ext cx="4788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1 6 8 6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625705" y="2865596"/>
              <a:ext cx="4788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0 6 5 6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720127" y="2865596"/>
              <a:ext cx="4788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0 0 1 4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160754" y="2865596"/>
              <a:ext cx="5617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1 6 9 10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607376" y="286559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true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314229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33400" y="3147060"/>
              <a:ext cx="670845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31924" y="3271361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571734" y="3271361"/>
              <a:ext cx="5617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1 6 9 10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625705" y="3271361"/>
              <a:ext cx="4788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1 6 5 0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720127" y="3271361"/>
              <a:ext cx="4788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1 0 0 0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160754" y="3271361"/>
              <a:ext cx="5617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2 6 9 10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07376" y="327136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true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3548062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31924" y="3677126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571734" y="3677126"/>
              <a:ext cx="5617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2 6 9 10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625705" y="3677126"/>
              <a:ext cx="4788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2 3 5 6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720127" y="3677126"/>
              <a:ext cx="4788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1 3 5 4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119291" y="3677126"/>
              <a:ext cx="64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3 9 14 14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607376" y="367712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true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33400" y="1524000"/>
              <a:ext cx="6708458" cy="24345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1321118" y="1524000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2374582" y="1524000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3345180" y="1524000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4563428" y="1524000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311265" y="1524000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28066" y="4032885"/>
              <a:ext cx="40474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每一行先检查 Need ≤ Work，成立才把 Allocation 加到 Work 上</a:t>
              </a:r>
            </a:p>
          </p:txBody>
        </p:sp>
      </p:grpSp>
      <p:grpSp>
        <p:nvGrpSpPr>
          <p:cNvPr id="63" name="c1-callout-2"/>
          <p:cNvGrpSpPr/>
          <p:nvPr/>
        </p:nvGrpSpPr>
        <p:grpSpPr>
          <a:xfrm>
            <a:off x="533400" y="4371975"/>
            <a:ext cx="6708458" cy="488632"/>
            <a:chOff x="533400" y="4371975"/>
            <a:chExt cx="6708458" cy="488632"/>
          </a:xfrm>
        </p:grpSpPr>
        <p:sp>
          <p:nvSpPr>
            <p:cNvPr id="58" name="Rectangle 58"/>
            <p:cNvSpPr/>
            <p:nvPr/>
          </p:nvSpPr>
          <p:spPr>
            <a:xfrm>
              <a:off x="533400" y="4371975"/>
              <a:ext cx="6708458" cy="488632"/>
            </a:xfrm>
            <a:prstGeom prst="roundRect">
              <a:avLst>
                <a:gd name="adj" fmla="val 23392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738188" y="4516755"/>
              <a:ext cx="200026" cy="200026"/>
              <a:chOff x="738188" y="4516755"/>
              <a:chExt cx="200026" cy="200026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738188" y="451675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04863" y="459454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1040892" y="4522470"/>
              <a:ext cx="48902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 (1)：存在安全序列 &lt;P0, P3, P4, P1, P2&gt;，该状态安全</a:t>
              </a:r>
            </a:p>
          </p:txBody>
        </p:sp>
      </p:grpSp>
      <p:grpSp>
        <p:nvGrpSpPr>
          <p:cNvPr id="69" name="c1-card-3"/>
          <p:cNvGrpSpPr/>
          <p:nvPr/>
        </p:nvGrpSpPr>
        <p:grpSpPr>
          <a:xfrm>
            <a:off x="533400" y="5035868"/>
            <a:ext cx="6708458" cy="1209675"/>
            <a:chOff x="533400" y="5035868"/>
            <a:chExt cx="6708458" cy="1209675"/>
          </a:xfrm>
        </p:grpSpPr>
        <p:sp>
          <p:nvSpPr>
            <p:cNvPr id="64" name="Rectangle 64"/>
            <p:cNvSpPr/>
            <p:nvPr/>
          </p:nvSpPr>
          <p:spPr>
            <a:xfrm>
              <a:off x="533400" y="5035868"/>
              <a:ext cx="6708458" cy="1209675"/>
            </a:xfrm>
            <a:prstGeom prst="roundRect">
              <a:avLst>
                <a:gd name="adj" fmla="val 110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542925" y="5169218"/>
              <a:ext cx="47625" cy="94297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763905" y="5228272"/>
              <a:ext cx="1072515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831677" y="5262562"/>
              <a:ext cx="9369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为什么先选 P0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57047" y="5585460"/>
              <a:ext cx="603161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初始 Work = (1,6,2,2)：P1 要 5 个 C，P2 要 2 个 A，P3、P4 各要 5 个 C，只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 P0 能满足。安全序列不唯一，&lt;P0, P1, P3, P2, P4&gt; 也成立。</a:t>
              </a:r>
            </a:p>
          </p:txBody>
        </p:sp>
      </p:grpSp>
      <p:grpSp>
        <p:nvGrpSpPr>
          <p:cNvPr id="73" name="c2-code-1"/>
          <p:cNvGrpSpPr/>
          <p:nvPr/>
        </p:nvGrpSpPr>
        <p:grpSpPr>
          <a:xfrm>
            <a:off x="7546658" y="1524000"/>
            <a:ext cx="4111942" cy="2207895"/>
            <a:chOff x="7546658" y="1524000"/>
            <a:chExt cx="4111942" cy="2207895"/>
          </a:xfrm>
        </p:grpSpPr>
        <p:sp>
          <p:nvSpPr>
            <p:cNvPr id="70" name="Rectangle 70"/>
            <p:cNvSpPr/>
            <p:nvPr/>
          </p:nvSpPr>
          <p:spPr>
            <a:xfrm>
              <a:off x="7546658" y="1524000"/>
              <a:ext cx="4111942" cy="2207895"/>
            </a:xfrm>
            <a:prstGeom prst="roundRect">
              <a:avLst>
                <a:gd name="adj" fmla="val 431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675054" y="167592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安全性算法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674674" y="1937385"/>
              <a:ext cx="2357628" cy="17217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1. Work := Available;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Finish[i] := false  (所有 i)</a:t>
              </a:r>
            </a:p>
            <a:p>
              <a:pPr algn="l">
                <a:lnSpc>
                  <a:spcPts val="149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2. 找 i 满足 Finish[i] = false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且 Need[i] ≤ Work；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找不到则转 4</a:t>
              </a:r>
            </a:p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3. Work := Work + Allocation[i];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Finish[i] := true;  转 2</a:t>
              </a:r>
            </a:p>
            <a:p>
              <a:pPr algn="l">
                <a:lnSpc>
                  <a:spcPts val="149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4. 所有 Finish[i] = true 则安全，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否则不安全</a:t>
              </a:r>
            </a:p>
          </p:txBody>
        </p:sp>
      </p:grpSp>
      <p:grpSp>
        <p:nvGrpSpPr>
          <p:cNvPr id="79" name="c2-card-2"/>
          <p:cNvGrpSpPr/>
          <p:nvPr/>
        </p:nvGrpSpPr>
        <p:grpSpPr>
          <a:xfrm>
            <a:off x="7546658" y="3907155"/>
            <a:ext cx="4111942" cy="2338388"/>
            <a:chOff x="7546658" y="3907155"/>
            <a:chExt cx="4111942" cy="2338388"/>
          </a:xfrm>
        </p:grpSpPr>
        <p:sp>
          <p:nvSpPr>
            <p:cNvPr id="74" name="Rectangle 74"/>
            <p:cNvSpPr/>
            <p:nvPr/>
          </p:nvSpPr>
          <p:spPr>
            <a:xfrm>
              <a:off x="7546658" y="3907155"/>
              <a:ext cx="4111942" cy="2338388"/>
            </a:xfrm>
            <a:prstGeom prst="roundRect">
              <a:avLst>
                <a:gd name="adj" fmla="val 570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5" name="Rectangle 75"/>
            <p:cNvSpPr/>
            <p:nvPr/>
          </p:nvSpPr>
          <p:spPr>
            <a:xfrm>
              <a:off x="7556182" y="4040505"/>
              <a:ext cx="47625" cy="2071688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7777162" y="4099560"/>
              <a:ext cx="987742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7850949" y="4133850"/>
              <a:ext cx="8411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Work 的含义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770304" y="4456748"/>
              <a:ext cx="34427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假设已选中的进程都运行完、释放了资源后，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系统手里的资源数。每选中一个进程，就把它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 Allocation 加回 Work。</a:t>
              </a:r>
            </a:p>
          </p:txBody>
        </p:sp>
      </p:grpSp>
      <p:grpSp>
        <p:nvGrpSpPr>
          <p:cNvPr id="8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0" name="TextBox 80"/>
            <p:cNvSpPr txBox="1"/>
            <p:nvPr/>
          </p:nvSpPr>
          <p:spPr>
            <a:xfrm>
              <a:off x="528447" y="6581299"/>
              <a:ext cx="23120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操作系统原理 试题解析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370260" cy="909257"/>
            <a:chOff x="520446" y="342900"/>
            <a:chExt cx="937026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7175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1722" y="407194"/>
              <a:ext cx="24551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试题解析 · 同步、虚存、磁盘与练习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37026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（2）（3）P2 请求 (1,2,2,2)：试分配后不安全，不能分配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steps-1"/>
          <p:cNvGrpSpPr/>
          <p:nvPr/>
        </p:nvGrpSpPr>
        <p:grpSpPr>
          <a:xfrm>
            <a:off x="533400" y="1533525"/>
            <a:ext cx="5229225" cy="3234023"/>
            <a:chOff x="533400" y="1533525"/>
            <a:chExt cx="5229225" cy="3234023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265652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41935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4931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330422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33780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419004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42638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4880" y="156781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检查请求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023" y="1861661"/>
              <a:ext cx="458901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Request = (1,2,2,2) ≤ Need₂ = (2,3,5,6)，且 ≤ Available =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(1,6,2,2)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245364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试分配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2746534"/>
              <a:ext cx="445084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Available = (0,4,0,0)；Allocation₂ = (2,5,7,6)；Need₂ =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(1,1,3,4)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880" y="3338512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安全性检查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023" y="3632359"/>
              <a:ext cx="481660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Work = (0,4,0,0)，右表中没有一个进程满足 Need ≤ Work，第一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步就找不到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880" y="4224338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4518184"/>
              <a:ext cx="23356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不安全，撤销试分配，P2 等待</a:t>
              </a:r>
            </a:p>
          </p:txBody>
        </p:sp>
      </p:grpSp>
      <p:grpSp>
        <p:nvGrpSpPr>
          <p:cNvPr id="31" name="c1-callout-2"/>
          <p:cNvGrpSpPr/>
          <p:nvPr/>
        </p:nvGrpSpPr>
        <p:grpSpPr>
          <a:xfrm>
            <a:off x="533400" y="4945380"/>
            <a:ext cx="5626418" cy="1349692"/>
            <a:chOff x="533400" y="4945380"/>
            <a:chExt cx="5626418" cy="1349692"/>
          </a:xfrm>
        </p:grpSpPr>
        <p:sp>
          <p:nvSpPr>
            <p:cNvPr id="25" name="Rectangle 25"/>
            <p:cNvSpPr/>
            <p:nvPr/>
          </p:nvSpPr>
          <p:spPr>
            <a:xfrm>
              <a:off x="533400" y="4945380"/>
              <a:ext cx="5626418" cy="1349692"/>
            </a:xfrm>
            <a:prstGeom prst="roundRect">
              <a:avLst>
                <a:gd name="adj" fmla="val 846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726129" y="5516998"/>
              <a:ext cx="224134" cy="192560"/>
              <a:chOff x="726129" y="5516998"/>
              <a:chExt cx="224134" cy="19256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838200" y="558736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726129" y="551699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38200" y="566515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040130" y="5515928"/>
              <a:ext cx="21212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答 (2)：不能分配给 P2</a:t>
              </a:r>
            </a:p>
          </p:txBody>
        </p:sp>
      </p:grpSp>
      <p:grpSp>
        <p:nvGrpSpPr>
          <p:cNvPr id="60" name="c2-table-1"/>
          <p:cNvGrpSpPr/>
          <p:nvPr/>
        </p:nvGrpSpPr>
        <p:grpSpPr>
          <a:xfrm>
            <a:off x="6464618" y="1524000"/>
            <a:ext cx="5193982" cy="2692718"/>
            <a:chOff x="6464618" y="1524000"/>
            <a:chExt cx="5193982" cy="2692718"/>
          </a:xfrm>
        </p:grpSpPr>
        <p:sp>
          <p:nvSpPr>
            <p:cNvPr id="32" name="Rectangle 32"/>
            <p:cNvSpPr/>
            <p:nvPr/>
          </p:nvSpPr>
          <p:spPr>
            <a:xfrm>
              <a:off x="6464618" y="1524000"/>
              <a:ext cx="5193982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85542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进程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067957" y="1659731"/>
              <a:ext cx="4166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Need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281350" y="1659731"/>
              <a:ext cx="20436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与 Work (0,4,0,0) 比较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922592" y="2108359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P0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002709" y="2108359"/>
              <a:ext cx="5471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0 0 1 2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055608" y="2108359"/>
              <a:ext cx="7847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C、D 不够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464618" y="241649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464618" y="2421255"/>
              <a:ext cx="51939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922592" y="2556986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002709" y="2556986"/>
              <a:ext cx="5471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1 6 5 0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055608" y="2556986"/>
              <a:ext cx="10572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A、B、C 不够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464618" y="286607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922592" y="3005614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002709" y="3005614"/>
              <a:ext cx="5471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1 1 3 4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055608" y="3005614"/>
              <a:ext cx="10572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A、C、D 不够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464618" y="331470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464618" y="3319462"/>
              <a:ext cx="51939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922592" y="3454241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P3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002709" y="3454241"/>
              <a:ext cx="5471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0 6 5 2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055608" y="3454241"/>
              <a:ext cx="10572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B、C、D 不够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464618" y="376332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922592" y="3903821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P4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002709" y="3903821"/>
              <a:ext cx="5471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0 6 5 6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055608" y="3903821"/>
              <a:ext cx="10572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B、C、D 不够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464618" y="1524000"/>
              <a:ext cx="5193982" cy="269271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7599998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8943022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6" name="c2-card-2"/>
          <p:cNvGrpSpPr/>
          <p:nvPr/>
        </p:nvGrpSpPr>
        <p:grpSpPr>
          <a:xfrm>
            <a:off x="6464618" y="4407218"/>
            <a:ext cx="5193982" cy="1887855"/>
            <a:chOff x="6464618" y="4407218"/>
            <a:chExt cx="5193982" cy="1887855"/>
          </a:xfrm>
        </p:grpSpPr>
        <p:sp>
          <p:nvSpPr>
            <p:cNvPr id="61" name="Rectangle 61"/>
            <p:cNvSpPr/>
            <p:nvPr/>
          </p:nvSpPr>
          <p:spPr>
            <a:xfrm>
              <a:off x="6464618" y="4407218"/>
              <a:ext cx="5193982" cy="1887855"/>
            </a:xfrm>
            <a:prstGeom prst="roundRect">
              <a:avLst>
                <a:gd name="adj" fmla="val 70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6474142" y="4540568"/>
              <a:ext cx="47625" cy="162115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6712268" y="4616768"/>
              <a:ext cx="642938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798755" y="4652486"/>
              <a:ext cx="4709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答 (3)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704648" y="4993958"/>
              <a:ext cx="439674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不会立即死锁。满足请求后系统只是进入不安全状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态，各进程此刻并没有提出新的申请；只有以后进程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继续申请资源，使所有未完成的进程都因得不到资源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而阻塞时，才进入死锁状态。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23120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操作系统原理 试题解析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696231" cy="909257"/>
            <a:chOff x="520446" y="342900"/>
            <a:chExt cx="969623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7175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1722" y="407194"/>
              <a:ext cx="24551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试题解析 · 同步、虚存、磁盘与练习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69623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页面置换（1）：OPT 淘汰以后最长时间不再用的页，缺页 6 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10235565" cy="569595"/>
            <a:chOff x="525780" y="1548765"/>
            <a:chExt cx="10235565" cy="569595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102355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页面走向 6, 0, 1, 2, 0, 3, 0, 4, 2, 3，分配 M = 3 个物理块，每调进一个新页就发生一次缺页中断（开头装入的 3 页也</a:t>
              </a:r>
              <a:br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算）。</a:t>
              </a:r>
            </a:p>
          </p:txBody>
        </p:sp>
      </p:grpSp>
      <p:grpSp>
        <p:nvGrpSpPr>
          <p:cNvPr id="95" name="c1-table-1"/>
          <p:cNvGrpSpPr/>
          <p:nvPr/>
        </p:nvGrpSpPr>
        <p:grpSpPr>
          <a:xfrm>
            <a:off x="533400" y="2230755"/>
            <a:ext cx="6924675" cy="3283268"/>
            <a:chOff x="533400" y="2230755"/>
            <a:chExt cx="6924675" cy="3283268"/>
          </a:xfrm>
        </p:grpSpPr>
        <p:sp>
          <p:nvSpPr>
            <p:cNvPr id="9" name="Rectangle 9"/>
            <p:cNvSpPr/>
            <p:nvPr/>
          </p:nvSpPr>
          <p:spPr>
            <a:xfrm>
              <a:off x="533400" y="2230755"/>
              <a:ext cx="6924675" cy="46863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57936" y="2365534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时刻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01631" y="2365534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569321" y="2365534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137011" y="2365534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704701" y="2365534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272391" y="2365534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841033" y="2365534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408723" y="2365534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976413" y="2365534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44103" y="2365534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056596" y="2365534"/>
              <a:ext cx="23526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7604" y="283511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004259" y="2835116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571949" y="2835116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139639" y="2835116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707329" y="2835116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275019" y="2835116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843662" y="2835116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411352" y="2835116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979042" y="2835116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546732" y="2835116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114422" y="2835116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3164205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3168968"/>
              <a:ext cx="6924675" cy="4686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7604" y="3303746"/>
              <a:ext cx="37624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 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004259" y="3303746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571949" y="3303746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139639" y="3303746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3492818" y="3178492"/>
              <a:ext cx="548640" cy="4495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3707329" y="3303746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275019" y="3303746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843662" y="3303746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411352" y="3303746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979042" y="3303746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546732" y="3303746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114422" y="3303746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3632835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37604" y="3772376"/>
              <a:ext cx="37624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 2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571949" y="3772376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139639" y="3772376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707329" y="3772376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275019" y="3772376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843662" y="3772376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411352" y="3772376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764530" y="3647122"/>
              <a:ext cx="548640" cy="4495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979042" y="3772376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546732" y="3772376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114422" y="3772376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533400" y="4102418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533400" y="4107180"/>
              <a:ext cx="6924675" cy="4686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37604" y="4241959"/>
              <a:ext cx="37624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 3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3139639" y="4241959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3707329" y="4241959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4275019" y="4241959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4629150" y="4116705"/>
              <a:ext cx="548640" cy="4495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4843662" y="4241959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5411352" y="4241959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5979042" y="4241959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546732" y="4241959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114422" y="4241959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533400" y="4571048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37604" y="471058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缺页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961248" y="4710589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2528938" y="4710589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3096628" y="4710589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3664318" y="4710589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4800651" y="4710589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5936031" y="4710589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533400" y="5039678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533400" y="5044440"/>
              <a:ext cx="6924675" cy="4686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637604" y="518017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淘汰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3707329" y="5180171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4843662" y="5180171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5979042" y="5180171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533400" y="2230755"/>
              <a:ext cx="6924675" cy="328326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5" name="Rectangle 85"/>
            <p:cNvSpPr/>
            <p:nvPr/>
          </p:nvSpPr>
          <p:spPr>
            <a:xfrm>
              <a:off x="1775460" y="2230755"/>
              <a:ext cx="9525" cy="328326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6" name="Rectangle 86"/>
            <p:cNvSpPr/>
            <p:nvPr/>
          </p:nvSpPr>
          <p:spPr>
            <a:xfrm>
              <a:off x="2343150" y="2230755"/>
              <a:ext cx="9525" cy="328326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7" name="Rectangle 87"/>
            <p:cNvSpPr/>
            <p:nvPr/>
          </p:nvSpPr>
          <p:spPr>
            <a:xfrm>
              <a:off x="2910840" y="2230755"/>
              <a:ext cx="9525" cy="328326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8" name="Rectangle 88"/>
            <p:cNvSpPr/>
            <p:nvPr/>
          </p:nvSpPr>
          <p:spPr>
            <a:xfrm>
              <a:off x="3478530" y="2230755"/>
              <a:ext cx="9525" cy="328326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9" name="Rectangle 89"/>
            <p:cNvSpPr/>
            <p:nvPr/>
          </p:nvSpPr>
          <p:spPr>
            <a:xfrm>
              <a:off x="4046220" y="2230755"/>
              <a:ext cx="9525" cy="328326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0" name="Rectangle 90"/>
            <p:cNvSpPr/>
            <p:nvPr/>
          </p:nvSpPr>
          <p:spPr>
            <a:xfrm>
              <a:off x="4614862" y="2230755"/>
              <a:ext cx="9525" cy="328326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1" name="Rectangle 91"/>
            <p:cNvSpPr/>
            <p:nvPr/>
          </p:nvSpPr>
          <p:spPr>
            <a:xfrm>
              <a:off x="5182552" y="2230755"/>
              <a:ext cx="9525" cy="328326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2" name="Rectangle 92"/>
            <p:cNvSpPr/>
            <p:nvPr/>
          </p:nvSpPr>
          <p:spPr>
            <a:xfrm>
              <a:off x="5750242" y="2230755"/>
              <a:ext cx="9525" cy="328326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3" name="Rectangle 93"/>
            <p:cNvSpPr/>
            <p:nvPr/>
          </p:nvSpPr>
          <p:spPr>
            <a:xfrm>
              <a:off x="6317932" y="2230755"/>
              <a:ext cx="9525" cy="328326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4" name="Rectangle 94"/>
            <p:cNvSpPr/>
            <p:nvPr/>
          </p:nvSpPr>
          <p:spPr>
            <a:xfrm>
              <a:off x="6885622" y="2230755"/>
              <a:ext cx="9525" cy="328326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01" name="c1-callout-2"/>
          <p:cNvGrpSpPr/>
          <p:nvPr/>
        </p:nvGrpSpPr>
        <p:grpSpPr>
          <a:xfrm>
            <a:off x="533400" y="5698808"/>
            <a:ext cx="6924675" cy="518160"/>
            <a:chOff x="533400" y="5698808"/>
            <a:chExt cx="6924675" cy="518160"/>
          </a:xfrm>
        </p:grpSpPr>
        <p:sp>
          <p:nvSpPr>
            <p:cNvPr id="96" name="Rectangle 96"/>
            <p:cNvSpPr/>
            <p:nvPr/>
          </p:nvSpPr>
          <p:spPr>
            <a:xfrm>
              <a:off x="533400" y="5698808"/>
              <a:ext cx="6924675" cy="518160"/>
            </a:xfrm>
            <a:prstGeom prst="roundRect">
              <a:avLst>
                <a:gd name="adj" fmla="val 2205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99" name="Group 99"/>
            <p:cNvGrpSpPr/>
            <p:nvPr/>
          </p:nvGrpSpPr>
          <p:grpSpPr>
            <a:xfrm>
              <a:off x="738188" y="5858828"/>
              <a:ext cx="200026" cy="200026"/>
              <a:chOff x="738188" y="5858828"/>
              <a:chExt cx="200026" cy="200026"/>
            </a:xfrm>
          </p:grpSpPr>
          <p:sp>
            <p:nvSpPr>
              <p:cNvPr id="97" name="Freeform 97"/>
              <p:cNvSpPr/>
              <p:nvPr/>
            </p:nvSpPr>
            <p:spPr>
              <a:xfrm>
                <a:off x="738188" y="585882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98" name="Freeform 98"/>
              <p:cNvSpPr/>
              <p:nvPr/>
            </p:nvSpPr>
            <p:spPr>
              <a:xfrm>
                <a:off x="804863" y="593661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100" name="TextBox 100"/>
            <p:cNvSpPr txBox="1"/>
            <p:nvPr/>
          </p:nvSpPr>
          <p:spPr>
            <a:xfrm>
              <a:off x="1040511" y="5859304"/>
              <a:ext cx="305807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OPT 缺页 6 次，缺页率 6/10 = 60%</a:t>
              </a:r>
            </a:p>
          </p:txBody>
        </p:sp>
      </p:grpSp>
      <p:grpSp>
        <p:nvGrpSpPr>
          <p:cNvPr id="115" name="c2-steps-1"/>
          <p:cNvGrpSpPr/>
          <p:nvPr/>
        </p:nvGrpSpPr>
        <p:grpSpPr>
          <a:xfrm>
            <a:off x="7762875" y="2240280"/>
            <a:ext cx="3656076" cy="2453068"/>
            <a:chOff x="7762875" y="2240280"/>
            <a:chExt cx="3656076" cy="2453068"/>
          </a:xfrm>
        </p:grpSpPr>
        <p:sp>
          <p:nvSpPr>
            <p:cNvPr id="102" name="Rectangle 102"/>
            <p:cNvSpPr/>
            <p:nvPr/>
          </p:nvSpPr>
          <p:spPr>
            <a:xfrm>
              <a:off x="7896225" y="2383155"/>
              <a:ext cx="19050" cy="16840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3" name="Ellipse 103"/>
            <p:cNvSpPr/>
            <p:nvPr/>
          </p:nvSpPr>
          <p:spPr>
            <a:xfrm>
              <a:off x="7762875" y="224028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7856499" y="23140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5" name="Ellipse 105"/>
            <p:cNvSpPr/>
            <p:nvPr/>
          </p:nvSpPr>
          <p:spPr>
            <a:xfrm>
              <a:off x="7762875" y="308229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6" name="TextBox 106"/>
            <p:cNvSpPr txBox="1"/>
            <p:nvPr/>
          </p:nvSpPr>
          <p:spPr>
            <a:xfrm>
              <a:off x="7856499" y="31561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07" name="Ellipse 107"/>
            <p:cNvSpPr/>
            <p:nvPr/>
          </p:nvSpPr>
          <p:spPr>
            <a:xfrm>
              <a:off x="7762875" y="392430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8" name="TextBox 108"/>
            <p:cNvSpPr txBox="1"/>
            <p:nvPr/>
          </p:nvSpPr>
          <p:spPr>
            <a:xfrm>
              <a:off x="7856499" y="399811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8174736" y="2273141"/>
              <a:ext cx="118055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时刻 4 访问 2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8175879" y="2553652"/>
              <a:ext cx="320497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块中 6、0、1：0 在时刻 5 还要用，6 和 1 以后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都不用，淘汰 6（淘汰 1 缺页数相同）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8174736" y="3115151"/>
              <a:ext cx="118055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时刻 6 访问 3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8175879" y="3395662"/>
              <a:ext cx="324307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块中 2、0、1：0 在时刻 7、2 在时刻 9 要用，1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不再用，淘汰 1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8174736" y="3957161"/>
              <a:ext cx="118055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时刻 8 访问 4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8175879" y="4237672"/>
              <a:ext cx="324307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块中 2、0、3：2 在时刻 9、3 在时刻 10 要用，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不再用，淘汰 0</a:t>
              </a:r>
            </a:p>
          </p:txBody>
        </p:sp>
      </p:grpSp>
      <p:grpSp>
        <p:nvGrpSpPr>
          <p:cNvPr id="11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6" name="TextBox 116"/>
            <p:cNvSpPr txBox="1"/>
            <p:nvPr/>
          </p:nvSpPr>
          <p:spPr>
            <a:xfrm>
              <a:off x="528447" y="6581299"/>
              <a:ext cx="23120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操作系统原理 试题解析</a:t>
              </a:r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094080" cy="909257"/>
            <a:chOff x="520446" y="342900"/>
            <a:chExt cx="80940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7175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1722" y="407194"/>
              <a:ext cx="24551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试题解析 · 同步、虚存、磁盘与练习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0940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页面置换（2）：FIFO 淘汰最早调入的页，缺页 9 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2" name="c1-table-1"/>
          <p:cNvGrpSpPr/>
          <p:nvPr/>
        </p:nvGrpSpPr>
        <p:grpSpPr>
          <a:xfrm>
            <a:off x="533400" y="1524000"/>
            <a:ext cx="6924675" cy="3413760"/>
            <a:chOff x="533400" y="1524000"/>
            <a:chExt cx="6924675" cy="341376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924675" cy="48768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46785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时刻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998140" y="166306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565830" y="166306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133520" y="166306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701210" y="166306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268900" y="166306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837543" y="166306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405233" y="166306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972923" y="166306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40613" y="166306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49995" y="166306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0080" y="215074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000917" y="215074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568607" y="215074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136297" y="215074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703987" y="215074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271677" y="215074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840319" y="215074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408009" y="215074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975699" y="215074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543389" y="215074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111079" y="215074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2494598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33400" y="2499360"/>
              <a:ext cx="6924675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40080" y="2638425"/>
              <a:ext cx="3973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 1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000917" y="263842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568607" y="263842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136297" y="263842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3492818" y="2508885"/>
              <a:ext cx="548640" cy="46863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703987" y="263842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271677" y="263842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840319" y="263842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408009" y="263842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764530" y="2508885"/>
              <a:ext cx="548640" cy="46863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975699" y="263842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543389" y="263842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111079" y="263842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33400" y="2982278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40080" y="3126105"/>
              <a:ext cx="3973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 2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568607" y="312610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136297" y="312610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703987" y="312610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271677" y="312610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4629150" y="2996565"/>
              <a:ext cx="548640" cy="46863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4840319" y="312610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408009" y="312610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975699" y="312610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332220" y="2996565"/>
              <a:ext cx="548640" cy="46863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543389" y="312610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111079" y="312610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533400" y="3469958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533400" y="3474720"/>
              <a:ext cx="6924675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40080" y="3613785"/>
              <a:ext cx="3973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 3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3136297" y="361378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3703987" y="361378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4271677" y="361378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4840319" y="361378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5196840" y="3484245"/>
              <a:ext cx="548640" cy="46863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5408009" y="361378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5975699" y="361378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543389" y="361378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6899910" y="3484245"/>
              <a:ext cx="548640" cy="46863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111079" y="361378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533400" y="3957638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40080" y="41014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缺页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955482" y="410146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2523172" y="410146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3090862" y="410146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3658552" y="410146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4794885" y="410146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5362575" y="410146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5930265" y="410146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6497955" y="410146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065645" y="410146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533400" y="4445318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533400" y="4450080"/>
              <a:ext cx="6924675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640080" y="458914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淘汰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3703987" y="458914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4840319" y="458914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5408009" y="458914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5975699" y="458914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6543389" y="458914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7111079" y="458914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533400" y="1524000"/>
              <a:ext cx="6924675" cy="34137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92" name="Rectangle 92"/>
            <p:cNvSpPr/>
            <p:nvPr/>
          </p:nvSpPr>
          <p:spPr>
            <a:xfrm>
              <a:off x="1775460" y="1524000"/>
              <a:ext cx="9525" cy="34137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3" name="Rectangle 93"/>
            <p:cNvSpPr/>
            <p:nvPr/>
          </p:nvSpPr>
          <p:spPr>
            <a:xfrm>
              <a:off x="2343150" y="1524000"/>
              <a:ext cx="9525" cy="34137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4" name="Rectangle 94"/>
            <p:cNvSpPr/>
            <p:nvPr/>
          </p:nvSpPr>
          <p:spPr>
            <a:xfrm>
              <a:off x="2910840" y="1524000"/>
              <a:ext cx="9525" cy="34137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5" name="Rectangle 95"/>
            <p:cNvSpPr/>
            <p:nvPr/>
          </p:nvSpPr>
          <p:spPr>
            <a:xfrm>
              <a:off x="3478530" y="1524000"/>
              <a:ext cx="9525" cy="34137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6" name="Rectangle 96"/>
            <p:cNvSpPr/>
            <p:nvPr/>
          </p:nvSpPr>
          <p:spPr>
            <a:xfrm>
              <a:off x="4046220" y="1524000"/>
              <a:ext cx="9525" cy="34137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7" name="Rectangle 97"/>
            <p:cNvSpPr/>
            <p:nvPr/>
          </p:nvSpPr>
          <p:spPr>
            <a:xfrm>
              <a:off x="4614862" y="1524000"/>
              <a:ext cx="9525" cy="34137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8" name="Rectangle 98"/>
            <p:cNvSpPr/>
            <p:nvPr/>
          </p:nvSpPr>
          <p:spPr>
            <a:xfrm>
              <a:off x="5182552" y="1524000"/>
              <a:ext cx="9525" cy="34137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9" name="Rectangle 99"/>
            <p:cNvSpPr/>
            <p:nvPr/>
          </p:nvSpPr>
          <p:spPr>
            <a:xfrm>
              <a:off x="5750242" y="1524000"/>
              <a:ext cx="9525" cy="34137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0" name="Rectangle 100"/>
            <p:cNvSpPr/>
            <p:nvPr/>
          </p:nvSpPr>
          <p:spPr>
            <a:xfrm>
              <a:off x="6317932" y="1524000"/>
              <a:ext cx="9525" cy="34137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1" name="Rectangle 101"/>
            <p:cNvSpPr/>
            <p:nvPr/>
          </p:nvSpPr>
          <p:spPr>
            <a:xfrm>
              <a:off x="6885622" y="1524000"/>
              <a:ext cx="9525" cy="34137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08" name="c1-callout-2"/>
          <p:cNvGrpSpPr/>
          <p:nvPr/>
        </p:nvGrpSpPr>
        <p:grpSpPr>
          <a:xfrm>
            <a:off x="533400" y="5128260"/>
            <a:ext cx="6924675" cy="786765"/>
            <a:chOff x="533400" y="5128260"/>
            <a:chExt cx="6924675" cy="786765"/>
          </a:xfrm>
        </p:grpSpPr>
        <p:sp>
          <p:nvSpPr>
            <p:cNvPr id="103" name="Rectangle 103"/>
            <p:cNvSpPr/>
            <p:nvPr/>
          </p:nvSpPr>
          <p:spPr>
            <a:xfrm>
              <a:off x="533400" y="5128260"/>
              <a:ext cx="6924675" cy="786765"/>
            </a:xfrm>
            <a:prstGeom prst="roundRect">
              <a:avLst>
                <a:gd name="adj" fmla="val 14528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106" name="Group 106"/>
            <p:cNvGrpSpPr/>
            <p:nvPr/>
          </p:nvGrpSpPr>
          <p:grpSpPr>
            <a:xfrm>
              <a:off x="738188" y="5421630"/>
              <a:ext cx="200026" cy="200026"/>
              <a:chOff x="738188" y="5421630"/>
              <a:chExt cx="200026" cy="200026"/>
            </a:xfrm>
          </p:grpSpPr>
          <p:sp>
            <p:nvSpPr>
              <p:cNvPr id="104" name="Freeform 104"/>
              <p:cNvSpPr/>
              <p:nvPr/>
            </p:nvSpPr>
            <p:spPr>
              <a:xfrm>
                <a:off x="738188" y="542163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105" name="Freeform 105"/>
              <p:cNvSpPr/>
              <p:nvPr/>
            </p:nvSpPr>
            <p:spPr>
              <a:xfrm>
                <a:off x="804863" y="549941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107" name="TextBox 107"/>
            <p:cNvSpPr txBox="1"/>
            <p:nvPr/>
          </p:nvSpPr>
          <p:spPr>
            <a:xfrm>
              <a:off x="1040130" y="5416868"/>
              <a:ext cx="261785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FIFO 缺页 9 次，缺页率 90%</a:t>
              </a:r>
            </a:p>
          </p:txBody>
        </p:sp>
      </p:grpSp>
      <p:grpSp>
        <p:nvGrpSpPr>
          <p:cNvPr id="142" name="c2-table-1"/>
          <p:cNvGrpSpPr/>
          <p:nvPr/>
        </p:nvGrpSpPr>
        <p:grpSpPr>
          <a:xfrm>
            <a:off x="7762875" y="1524000"/>
            <a:ext cx="3895725" cy="3141346"/>
            <a:chOff x="7762875" y="1524000"/>
            <a:chExt cx="3895725" cy="3141346"/>
          </a:xfrm>
        </p:grpSpPr>
        <p:sp>
          <p:nvSpPr>
            <p:cNvPr id="109" name="Rectangle 109"/>
            <p:cNvSpPr/>
            <p:nvPr/>
          </p:nvSpPr>
          <p:spPr>
            <a:xfrm>
              <a:off x="7762875" y="1524000"/>
              <a:ext cx="3895725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0" name="TextBox 110"/>
            <p:cNvSpPr txBox="1"/>
            <p:nvPr/>
          </p:nvSpPr>
          <p:spPr>
            <a:xfrm>
              <a:off x="812510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时刻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920714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淘汰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10269360" y="165973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它的调入时刻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8247662" y="210835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9332072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10738914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6" name="Rectangle 116"/>
            <p:cNvSpPr/>
            <p:nvPr/>
          </p:nvSpPr>
          <p:spPr>
            <a:xfrm>
              <a:off x="7762875" y="2416492"/>
              <a:ext cx="389572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7" name="Rectangle 117"/>
            <p:cNvSpPr/>
            <p:nvPr/>
          </p:nvSpPr>
          <p:spPr>
            <a:xfrm>
              <a:off x="7762875" y="2421255"/>
              <a:ext cx="389572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18" name="TextBox 118"/>
            <p:cNvSpPr txBox="1"/>
            <p:nvPr/>
          </p:nvSpPr>
          <p:spPr>
            <a:xfrm>
              <a:off x="8247662" y="255698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9332072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10738914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1" name="Rectangle 121"/>
            <p:cNvSpPr/>
            <p:nvPr/>
          </p:nvSpPr>
          <p:spPr>
            <a:xfrm>
              <a:off x="7762875" y="2866072"/>
              <a:ext cx="389572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2" name="TextBox 122"/>
            <p:cNvSpPr txBox="1"/>
            <p:nvPr/>
          </p:nvSpPr>
          <p:spPr>
            <a:xfrm>
              <a:off x="8247662" y="300561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23" name="TextBox 123"/>
            <p:cNvSpPr txBox="1"/>
            <p:nvPr/>
          </p:nvSpPr>
          <p:spPr>
            <a:xfrm>
              <a:off x="9332072" y="30056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10738914" y="30056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25" name="Rectangle 125"/>
            <p:cNvSpPr/>
            <p:nvPr/>
          </p:nvSpPr>
          <p:spPr>
            <a:xfrm>
              <a:off x="7762875" y="3314700"/>
              <a:ext cx="389572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6" name="Rectangle 126"/>
            <p:cNvSpPr/>
            <p:nvPr/>
          </p:nvSpPr>
          <p:spPr>
            <a:xfrm>
              <a:off x="7762875" y="3319462"/>
              <a:ext cx="389572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27" name="TextBox 127"/>
            <p:cNvSpPr txBox="1"/>
            <p:nvPr/>
          </p:nvSpPr>
          <p:spPr>
            <a:xfrm>
              <a:off x="8247662" y="345424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28" name="TextBox 128"/>
            <p:cNvSpPr txBox="1"/>
            <p:nvPr/>
          </p:nvSpPr>
          <p:spPr>
            <a:xfrm>
              <a:off x="9332072" y="345424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9" name="TextBox 129"/>
            <p:cNvSpPr txBox="1"/>
            <p:nvPr/>
          </p:nvSpPr>
          <p:spPr>
            <a:xfrm>
              <a:off x="10738914" y="345424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30" name="Rectangle 130"/>
            <p:cNvSpPr/>
            <p:nvPr/>
          </p:nvSpPr>
          <p:spPr>
            <a:xfrm>
              <a:off x="7762875" y="3763328"/>
              <a:ext cx="389572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1" name="TextBox 131"/>
            <p:cNvSpPr txBox="1"/>
            <p:nvPr/>
          </p:nvSpPr>
          <p:spPr>
            <a:xfrm>
              <a:off x="8247662" y="390382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32" name="TextBox 132"/>
            <p:cNvSpPr txBox="1"/>
            <p:nvPr/>
          </p:nvSpPr>
          <p:spPr>
            <a:xfrm>
              <a:off x="9332072" y="390382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33" name="TextBox 133"/>
            <p:cNvSpPr txBox="1"/>
            <p:nvPr/>
          </p:nvSpPr>
          <p:spPr>
            <a:xfrm>
              <a:off x="10738914" y="390382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34" name="Rectangle 134"/>
            <p:cNvSpPr/>
            <p:nvPr/>
          </p:nvSpPr>
          <p:spPr>
            <a:xfrm>
              <a:off x="7762875" y="4211955"/>
              <a:ext cx="389572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5" name="Rectangle 135"/>
            <p:cNvSpPr/>
            <p:nvPr/>
          </p:nvSpPr>
          <p:spPr>
            <a:xfrm>
              <a:off x="7762875" y="4216718"/>
              <a:ext cx="389572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36" name="TextBox 136"/>
            <p:cNvSpPr txBox="1"/>
            <p:nvPr/>
          </p:nvSpPr>
          <p:spPr>
            <a:xfrm>
              <a:off x="8197907" y="4352449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37" name="TextBox 137"/>
            <p:cNvSpPr txBox="1"/>
            <p:nvPr/>
          </p:nvSpPr>
          <p:spPr>
            <a:xfrm>
              <a:off x="9332072" y="435244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38" name="TextBox 138"/>
            <p:cNvSpPr txBox="1"/>
            <p:nvPr/>
          </p:nvSpPr>
          <p:spPr>
            <a:xfrm>
              <a:off x="10738914" y="435244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39" name="Rectangle 139"/>
            <p:cNvSpPr/>
            <p:nvPr/>
          </p:nvSpPr>
          <p:spPr>
            <a:xfrm>
              <a:off x="7762875" y="1524000"/>
              <a:ext cx="3895725" cy="31413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40" name="Rectangle 140"/>
            <p:cNvSpPr/>
            <p:nvPr/>
          </p:nvSpPr>
          <p:spPr>
            <a:xfrm>
              <a:off x="8840152" y="1524000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1" name="Rectangle 141"/>
            <p:cNvSpPr/>
            <p:nvPr/>
          </p:nvSpPr>
          <p:spPr>
            <a:xfrm>
              <a:off x="9922192" y="1524000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49" name="c2-callout-2"/>
          <p:cNvGrpSpPr/>
          <p:nvPr/>
        </p:nvGrpSpPr>
        <p:grpSpPr>
          <a:xfrm>
            <a:off x="7762875" y="4855845"/>
            <a:ext cx="3895725" cy="1059180"/>
            <a:chOff x="7762875" y="4855845"/>
            <a:chExt cx="3895725" cy="1059180"/>
          </a:xfrm>
        </p:grpSpPr>
        <p:sp>
          <p:nvSpPr>
            <p:cNvPr id="143" name="Rectangle 143"/>
            <p:cNvSpPr/>
            <p:nvPr/>
          </p:nvSpPr>
          <p:spPr>
            <a:xfrm>
              <a:off x="7762875" y="4855845"/>
              <a:ext cx="3895725" cy="1059180"/>
            </a:xfrm>
            <a:prstGeom prst="roundRect">
              <a:avLst>
                <a:gd name="adj" fmla="val 10791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47" name="Group 147"/>
            <p:cNvGrpSpPr/>
            <p:nvPr/>
          </p:nvGrpSpPr>
          <p:grpSpPr>
            <a:xfrm>
              <a:off x="7955604" y="5281731"/>
              <a:ext cx="224134" cy="192560"/>
              <a:chOff x="7955604" y="5281731"/>
              <a:chExt cx="224134" cy="192560"/>
            </a:xfrm>
          </p:grpSpPr>
          <p:sp>
            <p:nvSpPr>
              <p:cNvPr id="144" name="Freeform 144"/>
              <p:cNvSpPr/>
              <p:nvPr/>
            </p:nvSpPr>
            <p:spPr>
              <a:xfrm>
                <a:off x="8067675" y="535209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45" name="Freeform 145"/>
              <p:cNvSpPr/>
              <p:nvPr/>
            </p:nvSpPr>
            <p:spPr>
              <a:xfrm>
                <a:off x="7955604" y="528173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46" name="Freeform 146"/>
              <p:cNvSpPr/>
              <p:nvPr/>
            </p:nvSpPr>
            <p:spPr>
              <a:xfrm>
                <a:off x="8067675" y="542988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148" name="TextBox 148"/>
            <p:cNvSpPr txBox="1"/>
            <p:nvPr/>
          </p:nvSpPr>
          <p:spPr>
            <a:xfrm>
              <a:off x="8269605" y="5004435"/>
              <a:ext cx="29870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页 0 访问得最频繁，却在时刻 6 被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淘汰，时刻 7 马上又缺页。FIFO 只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看调入先后，不看使用情况。</a:t>
              </a:r>
            </a:p>
          </p:txBody>
        </p:sp>
      </p:grpSp>
      <p:grpSp>
        <p:nvGrpSpPr>
          <p:cNvPr id="1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50" name="TextBox 150"/>
            <p:cNvSpPr txBox="1"/>
            <p:nvPr/>
          </p:nvSpPr>
          <p:spPr>
            <a:xfrm>
              <a:off x="528447" y="6581299"/>
              <a:ext cx="23120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操作系统原理 试题解析</a:t>
              </a:r>
            </a:p>
          </p:txBody>
        </p:sp>
        <p:sp>
          <p:nvSpPr>
            <p:cNvPr id="151" name="TextBox 1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933499" cy="909257"/>
            <a:chOff x="520446" y="342900"/>
            <a:chExt cx="89334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7175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1722" y="407194"/>
              <a:ext cx="24551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试题解析 · 同步、虚存、磁盘与练习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9334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页面置换（3）：LRU 淘汰最近最久未使用的页，缺页 8 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95" name="c1-table-1"/>
          <p:cNvGrpSpPr/>
          <p:nvPr/>
        </p:nvGrpSpPr>
        <p:grpSpPr>
          <a:xfrm>
            <a:off x="527685" y="1524000"/>
            <a:ext cx="6930390" cy="3709512"/>
            <a:chOff x="527685" y="1524000"/>
            <a:chExt cx="6930390" cy="370951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924675" cy="48768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46785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时刻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998140" y="166306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565830" y="166306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133520" y="166306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701210" y="166306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268900" y="166306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837543" y="166306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405233" y="166306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972923" y="166306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40613" y="166306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49995" y="166306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0080" y="215074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000917" y="215074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568607" y="215074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136297" y="215074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703987" y="215074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271677" y="215074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840319" y="215074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408009" y="215074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975699" y="215074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543389" y="215074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111079" y="215074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2494598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33400" y="2499360"/>
              <a:ext cx="6924675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40080" y="263842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最近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000917" y="263842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568607" y="263842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136297" y="263842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703987" y="263842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271677" y="263842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840319" y="263842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408009" y="263842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975699" y="263842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543389" y="263842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111079" y="263842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2982278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40080" y="312610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其次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568607" y="312610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136297" y="312610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703987" y="312610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271677" y="312610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840319" y="312610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408009" y="312610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975699" y="312610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543389" y="312610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111079" y="312610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33400" y="3469958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533400" y="3474720"/>
              <a:ext cx="6924675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40080" y="361378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最久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3136297" y="361378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3703987" y="361378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271677" y="361378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4840319" y="361378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408009" y="361378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5975699" y="361378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543389" y="361378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111079" y="361378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533400" y="3957638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40080" y="41014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缺页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955482" y="410146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2523172" y="410146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3090862" y="410146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3658552" y="410146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4794885" y="410146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5930265" y="410146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497955" y="410146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065645" y="410146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533400" y="4445318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533400" y="4450080"/>
              <a:ext cx="6924675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640080" y="458914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淘汰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3703987" y="458914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4840319" y="458914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5975699" y="458914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6543389" y="458914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7111079" y="458914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533400" y="1524000"/>
              <a:ext cx="6924675" cy="34137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4" name="Rectangle 84"/>
            <p:cNvSpPr/>
            <p:nvPr/>
          </p:nvSpPr>
          <p:spPr>
            <a:xfrm>
              <a:off x="1775460" y="1524000"/>
              <a:ext cx="9525" cy="34137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5" name="Rectangle 85"/>
            <p:cNvSpPr/>
            <p:nvPr/>
          </p:nvSpPr>
          <p:spPr>
            <a:xfrm>
              <a:off x="2343150" y="1524000"/>
              <a:ext cx="9525" cy="34137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6" name="Rectangle 86"/>
            <p:cNvSpPr/>
            <p:nvPr/>
          </p:nvSpPr>
          <p:spPr>
            <a:xfrm>
              <a:off x="2910840" y="1524000"/>
              <a:ext cx="9525" cy="34137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7" name="Rectangle 87"/>
            <p:cNvSpPr/>
            <p:nvPr/>
          </p:nvSpPr>
          <p:spPr>
            <a:xfrm>
              <a:off x="3478530" y="1524000"/>
              <a:ext cx="9525" cy="34137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8" name="Rectangle 88"/>
            <p:cNvSpPr/>
            <p:nvPr/>
          </p:nvSpPr>
          <p:spPr>
            <a:xfrm>
              <a:off x="4046220" y="1524000"/>
              <a:ext cx="9525" cy="34137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9" name="Rectangle 89"/>
            <p:cNvSpPr/>
            <p:nvPr/>
          </p:nvSpPr>
          <p:spPr>
            <a:xfrm>
              <a:off x="4614862" y="1524000"/>
              <a:ext cx="9525" cy="34137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0" name="Rectangle 90"/>
            <p:cNvSpPr/>
            <p:nvPr/>
          </p:nvSpPr>
          <p:spPr>
            <a:xfrm>
              <a:off x="5182552" y="1524000"/>
              <a:ext cx="9525" cy="34137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1" name="Rectangle 91"/>
            <p:cNvSpPr/>
            <p:nvPr/>
          </p:nvSpPr>
          <p:spPr>
            <a:xfrm>
              <a:off x="5750242" y="1524000"/>
              <a:ext cx="9525" cy="34137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2" name="Rectangle 92"/>
            <p:cNvSpPr/>
            <p:nvPr/>
          </p:nvSpPr>
          <p:spPr>
            <a:xfrm>
              <a:off x="6317932" y="1524000"/>
              <a:ext cx="9525" cy="34137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3" name="Rectangle 93"/>
            <p:cNvSpPr/>
            <p:nvPr/>
          </p:nvSpPr>
          <p:spPr>
            <a:xfrm>
              <a:off x="6885622" y="1524000"/>
              <a:ext cx="9525" cy="34137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527685" y="5013484"/>
              <a:ext cx="53036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三行按最近使用的先后排列（栈顶在上）；缺页时淘汰上一时刻“最久”一行的页</a:t>
              </a:r>
            </a:p>
          </p:txBody>
        </p:sp>
      </p:grpSp>
      <p:grpSp>
        <p:nvGrpSpPr>
          <p:cNvPr id="101" name="c1-callout-2"/>
          <p:cNvGrpSpPr/>
          <p:nvPr/>
        </p:nvGrpSpPr>
        <p:grpSpPr>
          <a:xfrm>
            <a:off x="533400" y="5379720"/>
            <a:ext cx="6924675" cy="533400"/>
            <a:chOff x="533400" y="5379720"/>
            <a:chExt cx="6924675" cy="533400"/>
          </a:xfrm>
        </p:grpSpPr>
        <p:sp>
          <p:nvSpPr>
            <p:cNvPr id="96" name="Rectangle 96"/>
            <p:cNvSpPr/>
            <p:nvPr/>
          </p:nvSpPr>
          <p:spPr>
            <a:xfrm>
              <a:off x="533400" y="5379720"/>
              <a:ext cx="6924675" cy="533400"/>
            </a:xfrm>
            <a:prstGeom prst="roundRect">
              <a:avLst>
                <a:gd name="adj" fmla="val 2142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99" name="Group 99"/>
            <p:cNvGrpSpPr/>
            <p:nvPr/>
          </p:nvGrpSpPr>
          <p:grpSpPr>
            <a:xfrm>
              <a:off x="738188" y="5546408"/>
              <a:ext cx="200026" cy="200026"/>
              <a:chOff x="738188" y="5546408"/>
              <a:chExt cx="200026" cy="200026"/>
            </a:xfrm>
          </p:grpSpPr>
          <p:sp>
            <p:nvSpPr>
              <p:cNvPr id="97" name="Freeform 97"/>
              <p:cNvSpPr/>
              <p:nvPr/>
            </p:nvSpPr>
            <p:spPr>
              <a:xfrm>
                <a:off x="738188" y="554640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98" name="Freeform 98"/>
              <p:cNvSpPr/>
              <p:nvPr/>
            </p:nvSpPr>
            <p:spPr>
              <a:xfrm>
                <a:off x="804863" y="562419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100" name="TextBox 100"/>
            <p:cNvSpPr txBox="1"/>
            <p:nvPr/>
          </p:nvSpPr>
          <p:spPr>
            <a:xfrm>
              <a:off x="1040130" y="5541645"/>
              <a:ext cx="25111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LRU 缺页 8 次，缺页率 80%</a:t>
              </a:r>
            </a:p>
          </p:txBody>
        </p:sp>
      </p:grpSp>
      <p:grpSp>
        <p:nvGrpSpPr>
          <p:cNvPr id="121" name="c2-table-1"/>
          <p:cNvGrpSpPr/>
          <p:nvPr/>
        </p:nvGrpSpPr>
        <p:grpSpPr>
          <a:xfrm>
            <a:off x="7762875" y="1524000"/>
            <a:ext cx="3895725" cy="2475548"/>
            <a:chOff x="7762875" y="1524000"/>
            <a:chExt cx="3895725" cy="2475548"/>
          </a:xfrm>
        </p:grpSpPr>
        <p:sp>
          <p:nvSpPr>
            <p:cNvPr id="102" name="Rectangle 102"/>
            <p:cNvSpPr/>
            <p:nvPr/>
          </p:nvSpPr>
          <p:spPr>
            <a:xfrm>
              <a:off x="7762875" y="1524000"/>
              <a:ext cx="3895725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801270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算法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879185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缺页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1031109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依据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8008190" y="2221706"/>
              <a:ext cx="3666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OPT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8916782" y="222170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9428988" y="2108359"/>
              <a:ext cx="19636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以后最长时间不用；要预知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未来，只能作比较标准</a:t>
              </a:r>
            </a:p>
          </p:txBody>
        </p:sp>
        <p:sp>
          <p:nvSpPr>
            <p:cNvPr id="109" name="Rectangle 109"/>
            <p:cNvSpPr/>
            <p:nvPr/>
          </p:nvSpPr>
          <p:spPr>
            <a:xfrm>
              <a:off x="7762875" y="2643188"/>
              <a:ext cx="389572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0" name="Rectangle 110"/>
            <p:cNvSpPr/>
            <p:nvPr/>
          </p:nvSpPr>
          <p:spPr>
            <a:xfrm>
              <a:off x="7762875" y="2647950"/>
              <a:ext cx="389572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11" name="TextBox 111"/>
            <p:cNvSpPr txBox="1"/>
            <p:nvPr/>
          </p:nvSpPr>
          <p:spPr>
            <a:xfrm>
              <a:off x="8027307" y="2897029"/>
              <a:ext cx="3283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LRU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8916782" y="289702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9428988" y="2783681"/>
              <a:ext cx="19636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过去最久没用；用局部性近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似 OPT</a:t>
              </a:r>
            </a:p>
          </p:txBody>
        </p:sp>
        <p:sp>
          <p:nvSpPr>
            <p:cNvPr id="114" name="Rectangle 114"/>
            <p:cNvSpPr/>
            <p:nvPr/>
          </p:nvSpPr>
          <p:spPr>
            <a:xfrm>
              <a:off x="7762875" y="3319462"/>
              <a:ext cx="389572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5" name="TextBox 115"/>
            <p:cNvSpPr txBox="1"/>
            <p:nvPr/>
          </p:nvSpPr>
          <p:spPr>
            <a:xfrm>
              <a:off x="7979515" y="3572351"/>
              <a:ext cx="4239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FIFO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8916782" y="357235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9428988" y="3459004"/>
              <a:ext cx="19636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调入最早；实现简单，常用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页也会被淘汰</a:t>
              </a:r>
            </a:p>
          </p:txBody>
        </p:sp>
        <p:sp>
          <p:nvSpPr>
            <p:cNvPr id="118" name="Rectangle 118"/>
            <p:cNvSpPr/>
            <p:nvPr/>
          </p:nvSpPr>
          <p:spPr>
            <a:xfrm>
              <a:off x="7762875" y="1524000"/>
              <a:ext cx="3895725" cy="247554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19" name="Rectangle 119"/>
            <p:cNvSpPr/>
            <p:nvPr/>
          </p:nvSpPr>
          <p:spPr>
            <a:xfrm>
              <a:off x="8615362" y="1524000"/>
              <a:ext cx="9525" cy="24755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0" name="Rectangle 120"/>
            <p:cNvSpPr/>
            <p:nvPr/>
          </p:nvSpPr>
          <p:spPr>
            <a:xfrm>
              <a:off x="9316402" y="1524000"/>
              <a:ext cx="9525" cy="24755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28" name="c2-callout-2"/>
          <p:cNvGrpSpPr/>
          <p:nvPr/>
        </p:nvGrpSpPr>
        <p:grpSpPr>
          <a:xfrm>
            <a:off x="7762875" y="4190048"/>
            <a:ext cx="3895725" cy="1723072"/>
            <a:chOff x="7762875" y="4190048"/>
            <a:chExt cx="3895725" cy="1723072"/>
          </a:xfrm>
        </p:grpSpPr>
        <p:sp>
          <p:nvSpPr>
            <p:cNvPr id="122" name="Rectangle 122"/>
            <p:cNvSpPr/>
            <p:nvPr/>
          </p:nvSpPr>
          <p:spPr>
            <a:xfrm>
              <a:off x="7762875" y="4190048"/>
              <a:ext cx="3895725" cy="1723072"/>
            </a:xfrm>
            <a:prstGeom prst="roundRect">
              <a:avLst>
                <a:gd name="adj" fmla="val 663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26" name="Group 126"/>
            <p:cNvGrpSpPr/>
            <p:nvPr/>
          </p:nvGrpSpPr>
          <p:grpSpPr>
            <a:xfrm>
              <a:off x="7967663" y="4951095"/>
              <a:ext cx="200026" cy="200025"/>
              <a:chOff x="7967663" y="4951095"/>
              <a:chExt cx="200026" cy="200025"/>
            </a:xfrm>
          </p:grpSpPr>
          <p:sp>
            <p:nvSpPr>
              <p:cNvPr id="123" name="Freeform 123"/>
              <p:cNvSpPr/>
              <p:nvPr/>
            </p:nvSpPr>
            <p:spPr>
              <a:xfrm>
                <a:off x="7967663" y="49510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24" name="Freeform 124"/>
              <p:cNvSpPr/>
              <p:nvPr/>
            </p:nvSpPr>
            <p:spPr>
              <a:xfrm>
                <a:off x="8007401" y="49955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25" name="Freeform 125"/>
              <p:cNvSpPr/>
              <p:nvPr/>
            </p:nvSpPr>
            <p:spPr>
              <a:xfrm>
                <a:off x="8042117" y="51066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27" name="TextBox 127"/>
            <p:cNvSpPr txBox="1"/>
            <p:nvPr/>
          </p:nvSpPr>
          <p:spPr>
            <a:xfrm>
              <a:off x="8269605" y="4808220"/>
              <a:ext cx="27108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物理块改为 4 个时，同一走向用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FIFO 缺页 6 次。</a:t>
              </a:r>
            </a:p>
          </p:txBody>
        </p:sp>
      </p:grpSp>
      <p:grpSp>
        <p:nvGrpSpPr>
          <p:cNvPr id="13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29" name="TextBox 129"/>
            <p:cNvSpPr txBox="1"/>
            <p:nvPr/>
          </p:nvSpPr>
          <p:spPr>
            <a:xfrm>
              <a:off x="528447" y="6581299"/>
              <a:ext cx="23120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操作系统原理 试题解析</a:t>
              </a:r>
            </a:p>
          </p:txBody>
        </p:sp>
        <p:sp>
          <p:nvSpPr>
            <p:cNvPr id="130" name="TextBox 13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584704" cy="909257"/>
            <a:chOff x="520446" y="342900"/>
            <a:chExt cx="25847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7175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1722" y="407194"/>
              <a:ext cx="24551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试题解析 · 同步、虚存、磁盘与练习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557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485900"/>
            <a:chOff x="533400" y="1524000"/>
            <a:chExt cx="5410200" cy="14859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485900"/>
            </a:xfrm>
            <a:prstGeom prst="roundRect">
              <a:avLst>
                <a:gd name="adj" fmla="val 89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0090" y="171069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09547" y="174355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3232" y="2054542"/>
              <a:ext cx="471401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系统有 8 台磁带机，每个进程最多需要 3 台，每次申请一台。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最多允许几个进程竞争才一定不死锁？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3232" y="2612708"/>
              <a:ext cx="38149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 3N &lt; 8 + N，得 N &lt; 4，最多 3 个进程。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179445"/>
            <a:ext cx="5410200" cy="1485900"/>
            <a:chOff x="533400" y="3179445"/>
            <a:chExt cx="5410200" cy="1485900"/>
          </a:xfrm>
        </p:grpSpPr>
        <p:sp>
          <p:nvSpPr>
            <p:cNvPr id="13" name="Rectangle 13"/>
            <p:cNvSpPr/>
            <p:nvPr/>
          </p:nvSpPr>
          <p:spPr>
            <a:xfrm>
              <a:off x="533400" y="3179445"/>
              <a:ext cx="5410200" cy="1485900"/>
            </a:xfrm>
            <a:prstGeom prst="roundRect">
              <a:avLst>
                <a:gd name="adj" fmla="val 89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0090" y="336613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09547" y="339899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3232" y="3710940"/>
              <a:ext cx="4773597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char bitmap[100] 管理内存，页框和位都从 0 编号，页框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 对应哪一位？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3232" y="4268152"/>
              <a:ext cx="38665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 = 12 × 8 + 4，bitmap[12] 的第 4 位。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4835842"/>
            <a:ext cx="5410200" cy="1485900"/>
            <a:chOff x="533400" y="4835842"/>
            <a:chExt cx="5410200" cy="1485900"/>
          </a:xfrm>
        </p:grpSpPr>
        <p:sp>
          <p:nvSpPr>
            <p:cNvPr id="19" name="Rectangle 19"/>
            <p:cNvSpPr/>
            <p:nvPr/>
          </p:nvSpPr>
          <p:spPr>
            <a:xfrm>
              <a:off x="533400" y="4835842"/>
              <a:ext cx="5410200" cy="1485900"/>
            </a:xfrm>
            <a:prstGeom prst="roundRect">
              <a:avLst>
                <a:gd name="adj" fmla="val 89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20090" y="502253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09547" y="505539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3232" y="5366385"/>
              <a:ext cx="44131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伙伴堆中申请 5 个页框，从哪个块组分配？浪费几页？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3232" y="5666423"/>
              <a:ext cx="41027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2² &lt; 5 ≤ 2³，在块组 3 分配 8 页，浪费 3 页。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248400" y="1524000"/>
            <a:ext cx="5410200" cy="1485900"/>
            <a:chOff x="6248400" y="1524000"/>
            <a:chExt cx="5410200" cy="1485900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1485900"/>
            </a:xfrm>
            <a:prstGeom prst="roundRect">
              <a:avLst>
                <a:gd name="adj" fmla="val 89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35090" y="171069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24547" y="174355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28232" y="2054542"/>
              <a:ext cx="4813030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信号量 S 初值为 2，当前值为 1，可用资源数和等待进程数各是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多少？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28232" y="2612708"/>
              <a:ext cx="27670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可用 1 个，没有进程在等待。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248400" y="3179445"/>
            <a:ext cx="5410200" cy="1743075"/>
            <a:chOff x="6248400" y="3179445"/>
            <a:chExt cx="5410200" cy="1743075"/>
          </a:xfrm>
        </p:grpSpPr>
        <p:sp>
          <p:nvSpPr>
            <p:cNvPr id="31" name="Rectangle 31"/>
            <p:cNvSpPr/>
            <p:nvPr/>
          </p:nvSpPr>
          <p:spPr>
            <a:xfrm>
              <a:off x="6248400" y="3179445"/>
              <a:ext cx="5410200" cy="1743075"/>
            </a:xfrm>
            <a:prstGeom prst="roundRect">
              <a:avLst>
                <a:gd name="adj" fmla="val 765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35090" y="336613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24547" y="339899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28232" y="3710940"/>
              <a:ext cx="4677585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按综合题七的页表，进程访问虚拟地址 1234H，物理地址是多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少？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28232" y="4268152"/>
              <a:ext cx="478002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 7 位为 9，页内地址 034H；第 9 页在 5 号页框，物理地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址 5 × 512 + 52 = 0A34H。</a:t>
              </a:r>
            </a:p>
          </p:txBody>
        </p:sp>
      </p:grpSp>
      <p:grpSp>
        <p:nvGrpSpPr>
          <p:cNvPr id="42" name="c2-card-3"/>
          <p:cNvGrpSpPr/>
          <p:nvPr/>
        </p:nvGrpSpPr>
        <p:grpSpPr>
          <a:xfrm>
            <a:off x="6248400" y="5093018"/>
            <a:ext cx="5410200" cy="1228725"/>
            <a:chOff x="6248400" y="5093018"/>
            <a:chExt cx="5410200" cy="1228725"/>
          </a:xfrm>
        </p:grpSpPr>
        <p:sp>
          <p:nvSpPr>
            <p:cNvPr id="37" name="Rectangle 37"/>
            <p:cNvSpPr/>
            <p:nvPr/>
          </p:nvSpPr>
          <p:spPr>
            <a:xfrm>
              <a:off x="6248400" y="5093018"/>
              <a:ext cx="5410200" cy="1228725"/>
            </a:xfrm>
            <a:prstGeom prst="roundRect">
              <a:avLst>
                <a:gd name="adj" fmla="val 1085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35090" y="527970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24547" y="531256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28232" y="5623560"/>
              <a:ext cx="37893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磁盘转速 3000 r/min，平均旋转延迟是多少？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28232" y="5923598"/>
              <a:ext cx="36575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 r/s，转半圈 1/(2 × 50) s = 10 ms。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23120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操作系统原理 试题解析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83534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44284" y="4071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试题解析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本讲小结：单选答案速查与更正清单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97" name="c1-table-1"/>
          <p:cNvGrpSpPr/>
          <p:nvPr/>
        </p:nvGrpSpPr>
        <p:grpSpPr>
          <a:xfrm>
            <a:off x="533400" y="1524000"/>
            <a:ext cx="5626418" cy="4732020"/>
            <a:chOff x="533400" y="1524000"/>
            <a:chExt cx="5626418" cy="47320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43053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56094" y="1655445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题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34465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答案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275332" y="1655445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291840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答案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469892" y="1655445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题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345430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答案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90221" y="208502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549070" y="2085022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267255" y="208502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406445" y="2085022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61815" y="208502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460035" y="2085022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237934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2384108"/>
              <a:ext cx="5626418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90221" y="251555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549070" y="2515552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267255" y="251555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406445" y="2515552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461815" y="251555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460035" y="2515552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280987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90221" y="294608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549070" y="2946082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267255" y="294608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406445" y="2946082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461815" y="294608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460035" y="2946082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323945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33400" y="3244215"/>
              <a:ext cx="5626418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90221" y="33756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549070" y="3375660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267255" y="33756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406445" y="3375660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461815" y="33756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460035" y="3375660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366998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90221" y="380619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549070" y="3806190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267255" y="380619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406445" y="3806190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461815" y="380619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460035" y="3806190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33400" y="410051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533400" y="4105275"/>
              <a:ext cx="5626418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90221" y="423576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549070" y="4235768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2267255" y="4235768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3406445" y="4235768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461815" y="4235768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460035" y="4235768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533400" y="453009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90221" y="466629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549070" y="4666298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2267255" y="4666298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3406445" y="4666298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4461815" y="4666298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5460035" y="4666298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533400" y="496062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533400" y="4965382"/>
              <a:ext cx="5626418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790221" y="509682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549070" y="5096828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2267255" y="5096828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2681288" y="4974908"/>
              <a:ext cx="1556385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3091586" y="5096828"/>
              <a:ext cx="7357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C（原 A）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4461815" y="5096828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5460035" y="5096828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533400" y="539019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790221" y="552640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549070" y="5526405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2267255" y="552640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2681288" y="5404485"/>
              <a:ext cx="1556385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3091586" y="5526405"/>
              <a:ext cx="7357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D（原 C）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4461815" y="552640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5460035" y="5526405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533400" y="582072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533400" y="5825490"/>
              <a:ext cx="5626418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743575" y="595693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549070" y="5956935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2267255" y="595693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2681288" y="5835015"/>
              <a:ext cx="1556385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2876017" y="5956935"/>
              <a:ext cx="11669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1.5 ms（原 B）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4461815" y="595693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5460035" y="5956935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533400" y="1524000"/>
              <a:ext cx="5626418" cy="47320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92" name="Rectangle 92"/>
            <p:cNvSpPr/>
            <p:nvPr/>
          </p:nvSpPr>
          <p:spPr>
            <a:xfrm>
              <a:off x="1147762" y="1524000"/>
              <a:ext cx="9525" cy="47320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3" name="Rectangle 93"/>
            <p:cNvSpPr/>
            <p:nvPr/>
          </p:nvSpPr>
          <p:spPr>
            <a:xfrm>
              <a:off x="2047875" y="1524000"/>
              <a:ext cx="9525" cy="47320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4" name="Rectangle 94"/>
            <p:cNvSpPr/>
            <p:nvPr/>
          </p:nvSpPr>
          <p:spPr>
            <a:xfrm>
              <a:off x="2667000" y="1524000"/>
              <a:ext cx="9525" cy="47320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5" name="Rectangle 95"/>
            <p:cNvSpPr/>
            <p:nvPr/>
          </p:nvSpPr>
          <p:spPr>
            <a:xfrm>
              <a:off x="4242435" y="1524000"/>
              <a:ext cx="9525" cy="47320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6" name="Rectangle 96"/>
            <p:cNvSpPr/>
            <p:nvPr/>
          </p:nvSpPr>
          <p:spPr>
            <a:xfrm>
              <a:off x="4861560" y="1524000"/>
              <a:ext cx="9525" cy="47320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13" name="c2-bullets-1"/>
          <p:cNvGrpSpPr/>
          <p:nvPr/>
        </p:nvGrpSpPr>
        <p:grpSpPr>
          <a:xfrm>
            <a:off x="6464618" y="1532572"/>
            <a:ext cx="5127917" cy="2093024"/>
            <a:chOff x="6464618" y="1532572"/>
            <a:chExt cx="5127917" cy="2093024"/>
          </a:xfrm>
        </p:grpSpPr>
        <p:sp>
          <p:nvSpPr>
            <p:cNvPr id="98" name="Ellipse 98"/>
            <p:cNvSpPr/>
            <p:nvPr/>
          </p:nvSpPr>
          <p:spPr>
            <a:xfrm>
              <a:off x="6464618" y="1532572"/>
              <a:ext cx="171450" cy="1714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6513705" y="1567196"/>
              <a:ext cx="73274" cy="160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6724269" y="1544002"/>
              <a:ext cx="48682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可抢占 SJF：每有进程到达就比较剩余时间，带权周转时间没有单位</a:t>
              </a:r>
            </a:p>
          </p:txBody>
        </p:sp>
        <p:sp>
          <p:nvSpPr>
            <p:cNvPr id="101" name="Ellipse 101"/>
            <p:cNvSpPr/>
            <p:nvPr/>
          </p:nvSpPr>
          <p:spPr>
            <a:xfrm>
              <a:off x="6464618" y="1823085"/>
              <a:ext cx="171450" cy="1714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6513705" y="1856756"/>
              <a:ext cx="73274" cy="160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6724269" y="1834515"/>
              <a:ext cx="473659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静态分析：列状态、连弧、找环，再排除有相同进程或相同占有资源的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环</a:t>
              </a:r>
            </a:p>
          </p:txBody>
        </p:sp>
        <p:sp>
          <p:nvSpPr>
            <p:cNvPr id="104" name="Ellipse 104"/>
            <p:cNvSpPr/>
            <p:nvPr/>
          </p:nvSpPr>
          <p:spPr>
            <a:xfrm>
              <a:off x="6464618" y="2342198"/>
              <a:ext cx="171450" cy="1714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6513705" y="2375868"/>
              <a:ext cx="73274" cy="160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6724269" y="2353628"/>
              <a:ext cx="40750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伙伴堆：按 2 的幂分块，位图记录每对伙伴是否一空一占</a:t>
              </a:r>
            </a:p>
          </p:txBody>
        </p:sp>
        <p:sp>
          <p:nvSpPr>
            <p:cNvPr id="107" name="Ellipse 107"/>
            <p:cNvSpPr/>
            <p:nvPr/>
          </p:nvSpPr>
          <p:spPr>
            <a:xfrm>
              <a:off x="6464618" y="2632710"/>
              <a:ext cx="171450" cy="1714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8" name="TextBox 108"/>
            <p:cNvSpPr txBox="1"/>
            <p:nvPr/>
          </p:nvSpPr>
          <p:spPr>
            <a:xfrm>
              <a:off x="6513705" y="2666381"/>
              <a:ext cx="73274" cy="160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6724269" y="2644140"/>
              <a:ext cx="462991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成组链接：s_nfree 减到 0 时先把链接块内容读入超级块，再分出该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</a:t>
              </a:r>
            </a:p>
          </p:txBody>
        </p:sp>
        <p:sp>
          <p:nvSpPr>
            <p:cNvPr id="110" name="Ellipse 110"/>
            <p:cNvSpPr/>
            <p:nvPr/>
          </p:nvSpPr>
          <p:spPr>
            <a:xfrm>
              <a:off x="6464618" y="3151822"/>
              <a:ext cx="171450" cy="1714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1" name="TextBox 111"/>
            <p:cNvSpPr txBox="1"/>
            <p:nvPr/>
          </p:nvSpPr>
          <p:spPr>
            <a:xfrm>
              <a:off x="6513705" y="3185493"/>
              <a:ext cx="73274" cy="160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6724269" y="3162300"/>
              <a:ext cx="465277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地址变换：页长为 2 的 k 次方时，低 k 位是页内地址；缺页时按淘汰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算法选页框</a:t>
              </a:r>
            </a:p>
          </p:txBody>
        </p:sp>
      </p:grpSp>
      <p:grpSp>
        <p:nvGrpSpPr>
          <p:cNvPr id="128" name="c2-card-2"/>
          <p:cNvGrpSpPr/>
          <p:nvPr/>
        </p:nvGrpSpPr>
        <p:grpSpPr>
          <a:xfrm>
            <a:off x="6464618" y="3764280"/>
            <a:ext cx="5193982" cy="2491740"/>
            <a:chOff x="6464618" y="3764280"/>
            <a:chExt cx="5193982" cy="2491740"/>
          </a:xfrm>
        </p:grpSpPr>
        <p:sp>
          <p:nvSpPr>
            <p:cNvPr id="114" name="Rectangle 114"/>
            <p:cNvSpPr/>
            <p:nvPr/>
          </p:nvSpPr>
          <p:spPr>
            <a:xfrm>
              <a:off x="6464618" y="3764280"/>
              <a:ext cx="5193982" cy="2491740"/>
            </a:xfrm>
            <a:prstGeom prst="roundRect">
              <a:avLst>
                <a:gd name="adj" fmla="val 535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15" name="Rectangle 115"/>
            <p:cNvSpPr/>
            <p:nvPr/>
          </p:nvSpPr>
          <p:spPr>
            <a:xfrm>
              <a:off x="6474142" y="3897630"/>
              <a:ext cx="47625" cy="222504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16" name="Rectangle 116"/>
            <p:cNvSpPr/>
            <p:nvPr/>
          </p:nvSpPr>
          <p:spPr>
            <a:xfrm>
              <a:off x="6706552" y="3968115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17" name="TextBox 117"/>
            <p:cNvSpPr txBox="1"/>
            <p:nvPr/>
          </p:nvSpPr>
          <p:spPr>
            <a:xfrm>
              <a:off x="6776060" y="400383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对原课件的更正</a:t>
              </a:r>
            </a:p>
          </p:txBody>
        </p:sp>
        <p:sp>
          <p:nvSpPr>
            <p:cNvPr id="118" name="Ellipse 118"/>
            <p:cNvSpPr/>
            <p:nvPr/>
          </p:nvSpPr>
          <p:spPr>
            <a:xfrm>
              <a:off x="6714172" y="440150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9" name="TextBox 119"/>
            <p:cNvSpPr txBox="1"/>
            <p:nvPr/>
          </p:nvSpPr>
          <p:spPr>
            <a:xfrm>
              <a:off x="6870764" y="4341019"/>
              <a:ext cx="20981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单选 18、19、20 的答案</a:t>
              </a:r>
            </a:p>
          </p:txBody>
        </p:sp>
        <p:sp>
          <p:nvSpPr>
            <p:cNvPr id="120" name="Ellipse 120"/>
            <p:cNvSpPr/>
            <p:nvPr/>
          </p:nvSpPr>
          <p:spPr>
            <a:xfrm>
              <a:off x="6714172" y="472154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21" name="TextBox 121"/>
            <p:cNvSpPr txBox="1"/>
            <p:nvPr/>
          </p:nvSpPr>
          <p:spPr>
            <a:xfrm>
              <a:off x="6870764" y="4661059"/>
              <a:ext cx="410531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二：平均带权周转时间为 31/21 ≈ 1.48，无单位</a:t>
              </a:r>
            </a:p>
          </p:txBody>
        </p:sp>
        <p:sp>
          <p:nvSpPr>
            <p:cNvPr id="122" name="Ellipse 122"/>
            <p:cNvSpPr/>
            <p:nvPr/>
          </p:nvSpPr>
          <p:spPr>
            <a:xfrm>
              <a:off x="6714172" y="504158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23" name="TextBox 123"/>
            <p:cNvSpPr txBox="1"/>
            <p:nvPr/>
          </p:nvSpPr>
          <p:spPr>
            <a:xfrm>
              <a:off x="6870764" y="4981099"/>
              <a:ext cx="251867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四：答案图 (2) 不应有块组 5</a:t>
              </a:r>
            </a:p>
          </p:txBody>
        </p:sp>
        <p:sp>
          <p:nvSpPr>
            <p:cNvPr id="124" name="Ellipse 124"/>
            <p:cNvSpPr/>
            <p:nvPr/>
          </p:nvSpPr>
          <p:spPr>
            <a:xfrm>
              <a:off x="6714172" y="536162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25" name="TextBox 125"/>
            <p:cNvSpPr txBox="1"/>
            <p:nvPr/>
          </p:nvSpPr>
          <p:spPr>
            <a:xfrm>
              <a:off x="6870764" y="5301139"/>
              <a:ext cx="41626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六：解法 1 要把 count 清 0；解法 2 的 m 应为 n</a:t>
              </a:r>
            </a:p>
          </p:txBody>
        </p:sp>
        <p:sp>
          <p:nvSpPr>
            <p:cNvPr id="126" name="Ellipse 126"/>
            <p:cNvSpPr/>
            <p:nvPr/>
          </p:nvSpPr>
          <p:spPr>
            <a:xfrm>
              <a:off x="6714172" y="568166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27" name="TextBox 127"/>
            <p:cNvSpPr txBox="1"/>
            <p:nvPr/>
          </p:nvSpPr>
          <p:spPr>
            <a:xfrm>
              <a:off x="6870764" y="5621179"/>
              <a:ext cx="32642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八：总访问时间第一项应为总寻道时间</a:t>
              </a:r>
            </a:p>
          </p:txBody>
        </p:sp>
      </p:grpSp>
      <p:grpSp>
        <p:nvGrpSpPr>
          <p:cNvPr id="13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29" name="TextBox 129"/>
            <p:cNvSpPr txBox="1"/>
            <p:nvPr/>
          </p:nvSpPr>
          <p:spPr>
            <a:xfrm>
              <a:off x="528447" y="6581299"/>
              <a:ext cx="23120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操作系统原理 试题解析</a:t>
              </a:r>
            </a:p>
          </p:txBody>
        </p:sp>
        <p:sp>
          <p:nvSpPr>
            <p:cNvPr id="130" name="TextBox 13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s_exam">
  <a:themeElements>
    <a:clrScheme name="os_exam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s_exam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s_exa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62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2026-09-23T06:09:11Z</dcterms:created>
  <dcterms:modified xsi:type="dcterms:W3CDTF">2026-09-23T06:09:11Z</dcterms:modified>
  <cp:category/>
  <cp:contentStatus/>
</cp:coreProperties>
</file>