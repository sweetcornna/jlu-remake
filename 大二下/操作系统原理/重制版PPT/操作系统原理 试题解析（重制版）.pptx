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exam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exam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bd4aa6181f973fb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134609383f4a639.png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ce598da7c0e31c6.png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870242" cy="3437763"/>
            <a:chOff x="666750" y="1619250"/>
            <a:chExt cx="587024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0507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0294" y="1718310"/>
              <a:ext cx="1822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试题讲解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87024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操作系统原理 试题解析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1982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 道单选、7 道综合题，逐题写出过程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单选题按考点逐题讲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调度、死锁与伙伴堆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信号量、地址变换与磁盘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银行家与页面置换练习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940342" cy="205359"/>
            <a:chOff x="680466" y="6192202"/>
            <a:chExt cx="594034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940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自学复习版｜据吉林大学《操作系统原理》试题解析课件（2013.11.23 试卷）整理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696110"/>
            <a:chOff x="521970" y="1515428"/>
            <a:chExt cx="6287453" cy="469611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7104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单项选择题 1–30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53774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按章节考点分组：接口与中断、调度与同步、存储、文件与设备、分布式与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41649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52126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557462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二、三：进程调度与死锁静态分析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875121"/>
              <a:ext cx="50750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可抢占 SJF 的甘特图和平均时间；状态图找环，判断能否同时到达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318801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29374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32994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四、五：伙伴堆与成组链接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646646"/>
              <a:ext cx="40192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free_area 链表与块组位图；超级块分配一个磁盘块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96049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406527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4101465"/>
              <a:ext cx="24348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六：信号量与 P、V 操作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419124"/>
              <a:ext cx="27958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一条消息必须被 n 个消费者各读一次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73202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83774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873942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七、八：地址变换与磁盘调度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5190649"/>
              <a:ext cx="27441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二次机会淘汰；5 步扫描与访问时间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50449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60927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645467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补充练习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962174"/>
              <a:ext cx="31640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银行家算法；OPT、FIFO、LRU 页面置换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637722"/>
            <a:chOff x="7114222" y="1524000"/>
            <a:chExt cx="4544378" cy="4637722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637722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37102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做选择题时说出考点和每个错误选项的毛病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446020"/>
              <a:ext cx="3625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手算可抢占 SJF、伙伴堆分配、成组链接分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06705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用状态图判断活动序列有无死锁可能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4651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40233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写出多消费者广播消息的信号量解法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380047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373761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完成地址变换、磁盘调度、银行家和页面置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换的计算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62604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单项选择题（30 题）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每题先读题，再看考点，最后给出答案和排除理由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接口、中断与进程切换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调度、同步与死锁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存储管理与虚拟存储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文件、设备、分布式与安全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12556" cy="909257"/>
            <a:chOff x="520446" y="342900"/>
            <a:chExt cx="91125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125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2、6：用户接口有哪几种；多道程序的道数受什么限制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134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7971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计算机系统的下述机制中，Ⅰ. 库函数　Ⅱ. 终端命令　Ⅲ. GUI 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　Ⅳ. 系统调用，属于操作系统提供给用户的接口是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43555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Ⅰ、Ⅱ和Ⅲ　B. Ⅰ、Ⅱ和Ⅳ　C. Ⅱ、Ⅲ和Ⅳ　D. Ⅰ、Ⅲ和Ⅳ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179445"/>
            <a:ext cx="5410200" cy="2254568"/>
            <a:chOff x="533400" y="3179445"/>
            <a:chExt cx="5410200" cy="2254568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2254568"/>
            </a:xfrm>
            <a:prstGeom prst="roundRect">
              <a:avLst>
                <a:gd name="adj" fmla="val 59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312795"/>
              <a:ext cx="47625" cy="198786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3366135"/>
              <a:ext cx="157829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7258" y="3398996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考点：操作系统界面形式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7671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710940"/>
              <a:ext cx="4179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交互终端命令，如 UNIX shell：</a:t>
              </a:r>
              <a:r>
                <a:rPr lang="zh-CN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$ 命令名 -选项 参数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6762" y="406717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2782" y="4010977"/>
              <a:ext cx="27137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图形界面 GUI；作业控制语言 JCL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6762" y="436721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2782" y="4311015"/>
              <a:ext cx="45571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系统调用：高级语言形式 </a:t>
              </a:r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fd = open(name, mode)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；汇编形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式为准备参数、</a:t>
              </a:r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trap 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、取返回值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2475" y="4864894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调用层次：应用程序调用系统库，系统库再发系统调用进入操作系统，操作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系统执行机器指令操作硬件。库函数属于语言运行库。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5604510"/>
            <a:ext cx="5410200" cy="481012"/>
            <a:chOff x="533400" y="5604510"/>
            <a:chExt cx="5410200" cy="481012"/>
          </a:xfrm>
        </p:grpSpPr>
        <p:sp>
          <p:nvSpPr>
            <p:cNvPr id="25" name="Rectangle 25"/>
            <p:cNvSpPr/>
            <p:nvPr/>
          </p:nvSpPr>
          <p:spPr>
            <a:xfrm>
              <a:off x="533400" y="5604510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744528"/>
              <a:ext cx="200026" cy="200026"/>
              <a:chOff x="738188" y="5744528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7445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04863" y="582231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5750242"/>
              <a:ext cx="28083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C：终端命令、GUI、系统调用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1743075"/>
            <a:chOff x="6248400" y="1524000"/>
            <a:chExt cx="5410200" cy="174307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134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2054542"/>
              <a:ext cx="47114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对系统的如下指标，Ⅰ. 内存容量　Ⅱ. 设备数量　Ⅲ. CPU 速度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Ⅳ. 中断响应时间，在多道程序设计中，道数限制要考虑的因素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2869882"/>
              <a:ext cx="32061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Ⅰ和Ⅱ　B. Ⅱ和Ⅳ　C. Ⅲ和Ⅳ　D. Ⅰ和Ⅳ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248400" y="3436620"/>
            <a:ext cx="5410200" cy="2211705"/>
            <a:chOff x="6248400" y="3436620"/>
            <a:chExt cx="5410200" cy="2211705"/>
          </a:xfrm>
        </p:grpSpPr>
        <p:sp>
          <p:nvSpPr>
            <p:cNvPr id="37" name="Rectangle 37"/>
            <p:cNvSpPr/>
            <p:nvPr/>
          </p:nvSpPr>
          <p:spPr>
            <a:xfrm>
              <a:off x="6248400" y="3436620"/>
              <a:ext cx="5410200" cy="2211705"/>
            </a:xfrm>
            <a:prstGeom prst="roundRect">
              <a:avLst>
                <a:gd name="adj" fmla="val 6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57925" y="3569970"/>
              <a:ext cx="47625" cy="19450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3190" y="3623310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39408" y="365617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考点：多道程序设计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81762" y="402431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37782" y="396811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目的：提高处理机、设备、内存等资源的利用率，从而提高系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统效率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81762" y="458152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37782" y="452532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道数应与系统资源数量相当：过少则资源利用率低，过多则系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统开销增大、响应变慢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67475" y="5079206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能同时装入几道程序看内存容量；各道程序都要用设备，设备数量也限制道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数。CPU 速度和中断响应时间只影响快慢。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248400" y="5818822"/>
            <a:ext cx="5410200" cy="481012"/>
            <a:chOff x="6248400" y="5818822"/>
            <a:chExt cx="5410200" cy="481012"/>
          </a:xfrm>
        </p:grpSpPr>
        <p:sp>
          <p:nvSpPr>
            <p:cNvPr id="47" name="Rectangle 47"/>
            <p:cNvSpPr/>
            <p:nvPr/>
          </p:nvSpPr>
          <p:spPr>
            <a:xfrm>
              <a:off x="6248400" y="5818822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5958840"/>
              <a:ext cx="200026" cy="200026"/>
              <a:chOff x="6453188" y="5958840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453188" y="59588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19863" y="603662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892" y="5964555"/>
              <a:ext cx="23577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A：内存容量和设备数量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06622" cy="909257"/>
            <a:chOff x="520446" y="342900"/>
            <a:chExt cx="43066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066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3、8：中断的两种分法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085398" cy="2429828"/>
            <a:chOff x="533400" y="1524000"/>
            <a:chExt cx="5085398" cy="24298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429828"/>
            </a:xfrm>
            <a:prstGeom prst="roundRect">
              <a:avLst>
                <a:gd name="adj" fmla="val 548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89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3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37870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对如下中断事件，Ⅰ. 时钟中断　Ⅱ. 访管中断　Ⅲ. 缺页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　Ⅳ. 控制台中断，能引起外部中断的事件是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3372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Ⅰ和Ⅱ　B. Ⅱ和Ⅲ　C. Ⅲ和Ⅳ　D. Ⅰ和Ⅳ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989421"/>
              <a:ext cx="436833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。时钟、控制台中断来自 CPU 之外，可以屏蔽，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是外部中断；访管、缺页由正在执行的指令引起，是内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部中断。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133850"/>
            <a:ext cx="5085398" cy="2158365"/>
            <a:chOff x="533400" y="4133850"/>
            <a:chExt cx="5085398" cy="2158365"/>
          </a:xfrm>
        </p:grpSpPr>
        <p:sp>
          <p:nvSpPr>
            <p:cNvPr id="14" name="Rectangle 14"/>
            <p:cNvSpPr/>
            <p:nvPr/>
          </p:nvSpPr>
          <p:spPr>
            <a:xfrm>
              <a:off x="533400" y="4133850"/>
              <a:ext cx="5085398" cy="2158365"/>
            </a:xfrm>
            <a:prstGeom prst="roundRect">
              <a:avLst>
                <a:gd name="adj" fmla="val 617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31520" y="433197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8937" y="436626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9249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不属于强迫性中断的是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4281" y="5010626"/>
              <a:ext cx="445084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内存校验错误　B. 越界中断　C. 缺页中断　D. 访管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4281" y="5599271"/>
              <a:ext cx="43232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。访管中断是程序主动执行访管指令请求系统服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务，是运行程序期望的，属于自愿性中断。</a:t>
              </a:r>
            </a:p>
          </p:txBody>
        </p:sp>
      </p:grpSp>
      <p:grpSp>
        <p:nvGrpSpPr>
          <p:cNvPr id="47" name="c2-tree-1"/>
          <p:cNvGrpSpPr/>
          <p:nvPr/>
        </p:nvGrpSpPr>
        <p:grpSpPr>
          <a:xfrm>
            <a:off x="5923598" y="1570672"/>
            <a:ext cx="5735002" cy="3810001"/>
            <a:chOff x="5923598" y="1570672"/>
            <a:chExt cx="5735002" cy="3810001"/>
          </a:xfrm>
        </p:grpSpPr>
        <p:sp>
          <p:nvSpPr>
            <p:cNvPr id="21" name="Freeform 21"/>
            <p:cNvSpPr/>
            <p:nvPr/>
          </p:nvSpPr>
          <p:spPr>
            <a:xfrm>
              <a:off x="9606915" y="1848802"/>
              <a:ext cx="419100" cy="325755"/>
            </a:xfrm>
            <a:custGeom>
              <a:avLst/>
              <a:gdLst/>
              <a:ahLst/>
              <a:cxnLst/>
              <a:rect l="l" t="t" r="r" b="b"/>
              <a:pathLst>
                <a:path w="419100" h="325755">
                  <a:moveTo>
                    <a:pt x="0" y="325755"/>
                  </a:moveTo>
                  <a:lnTo>
                    <a:pt x="209550" y="32575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9606915" y="2174558"/>
              <a:ext cx="419100" cy="324802"/>
            </a:xfrm>
            <a:custGeom>
              <a:avLst/>
              <a:gdLst/>
              <a:ahLst/>
              <a:cxnLst/>
              <a:rect l="l" t="t" r="r" b="b"/>
              <a:pathLst>
                <a:path w="419100" h="324802">
                  <a:moveTo>
                    <a:pt x="0" y="0"/>
                  </a:moveTo>
                  <a:lnTo>
                    <a:pt x="209550" y="0"/>
                  </a:lnTo>
                  <a:lnTo>
                    <a:pt x="209550" y="324802"/>
                  </a:lnTo>
                  <a:lnTo>
                    <a:pt x="419100" y="32480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9606915" y="3149918"/>
              <a:ext cx="419100" cy="975360"/>
            </a:xfrm>
            <a:custGeom>
              <a:avLst/>
              <a:gdLst/>
              <a:ahLst/>
              <a:cxnLst/>
              <a:rect l="l" t="t" r="r" b="b"/>
              <a:pathLst>
                <a:path w="419100" h="975360">
                  <a:moveTo>
                    <a:pt x="0" y="975360"/>
                  </a:moveTo>
                  <a:lnTo>
                    <a:pt x="209550" y="97536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9606915" y="3800475"/>
              <a:ext cx="419100" cy="324803"/>
            </a:xfrm>
            <a:custGeom>
              <a:avLst/>
              <a:gdLst/>
              <a:ahLst/>
              <a:cxnLst/>
              <a:rect l="l" t="t" r="r" b="b"/>
              <a:pathLst>
                <a:path w="419100" h="324803">
                  <a:moveTo>
                    <a:pt x="0" y="324803"/>
                  </a:moveTo>
                  <a:lnTo>
                    <a:pt x="209550" y="324803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9606915" y="4125278"/>
              <a:ext cx="419100" cy="325755"/>
            </a:xfrm>
            <a:custGeom>
              <a:avLst/>
              <a:gdLst/>
              <a:ahLst/>
              <a:cxnLst/>
              <a:rect l="l" t="t" r="r" b="b"/>
              <a:pathLst>
                <a:path w="419100" h="325755">
                  <a:moveTo>
                    <a:pt x="0" y="0"/>
                  </a:moveTo>
                  <a:lnTo>
                    <a:pt x="209550" y="0"/>
                  </a:lnTo>
                  <a:lnTo>
                    <a:pt x="209550" y="325755"/>
                  </a:lnTo>
                  <a:lnTo>
                    <a:pt x="419100" y="32575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9606915" y="4125278"/>
              <a:ext cx="419100" cy="975360"/>
            </a:xfrm>
            <a:custGeom>
              <a:avLst/>
              <a:gdLst/>
              <a:ahLst/>
              <a:cxnLst/>
              <a:rect l="l" t="t" r="r" b="b"/>
              <a:pathLst>
                <a:path w="419100" h="975360">
                  <a:moveTo>
                    <a:pt x="0" y="0"/>
                  </a:moveTo>
                  <a:lnTo>
                    <a:pt x="209550" y="0"/>
                  </a:lnTo>
                  <a:lnTo>
                    <a:pt x="209550" y="975360"/>
                  </a:lnTo>
                  <a:lnTo>
                    <a:pt x="419100" y="97536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7556182" y="2174558"/>
              <a:ext cx="419100" cy="975360"/>
            </a:xfrm>
            <a:custGeom>
              <a:avLst/>
              <a:gdLst/>
              <a:ahLst/>
              <a:cxnLst/>
              <a:rect l="l" t="t" r="r" b="b"/>
              <a:pathLst>
                <a:path w="419100" h="975360">
                  <a:moveTo>
                    <a:pt x="0" y="975360"/>
                  </a:moveTo>
                  <a:lnTo>
                    <a:pt x="209550" y="97536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556182" y="3149918"/>
              <a:ext cx="419100" cy="975360"/>
            </a:xfrm>
            <a:custGeom>
              <a:avLst/>
              <a:gdLst/>
              <a:ahLst/>
              <a:cxnLst/>
              <a:rect l="l" t="t" r="r" b="b"/>
              <a:pathLst>
                <a:path w="419100" h="975360">
                  <a:moveTo>
                    <a:pt x="0" y="0"/>
                  </a:moveTo>
                  <a:lnTo>
                    <a:pt x="209550" y="0"/>
                  </a:lnTo>
                  <a:lnTo>
                    <a:pt x="209550" y="975360"/>
                  </a:lnTo>
                  <a:lnTo>
                    <a:pt x="419100" y="97536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0026015" y="1570672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026015" y="2121218"/>
              <a:ext cx="1632585" cy="756285"/>
            </a:xfrm>
            <a:prstGeom prst="roundRect">
              <a:avLst>
                <a:gd name="adj" fmla="val 1259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75282" y="1895475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026015" y="2870835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026015" y="3521392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026015" y="4171950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026015" y="4822508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975282" y="3846195"/>
              <a:ext cx="1632585" cy="558165"/>
            </a:xfrm>
            <a:prstGeom prst="roundRect">
              <a:avLst>
                <a:gd name="adj" fmla="val 17065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923598" y="2969895"/>
              <a:ext cx="1632585" cy="360045"/>
            </a:xfrm>
            <a:prstGeom prst="roundRect">
              <a:avLst>
                <a:gd name="adj" fmla="val 26455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115169" y="1665922"/>
              <a:ext cx="12694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系统调用，如 fd =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open(…)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115169" y="2217420"/>
              <a:ext cx="1307592" cy="6309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访管指令：准备参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数、svc n、取返回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64436" y="1991678"/>
              <a:ext cx="12313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自愿性（程序期望</a:t>
              </a:r>
              <a:br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的）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15169" y="2967038"/>
              <a:ext cx="121615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时钟中断、I/O 中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断、控制台中断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15169" y="3617595"/>
              <a:ext cx="13837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硬件故障：掉电、内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存校验错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15169" y="4268152"/>
              <a:ext cx="12313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程序性：越界、越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权、缺页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115169" y="4917758"/>
              <a:ext cx="12313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程序性：溢出、除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0、非法指令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64436" y="3942398"/>
              <a:ext cx="1383792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60"/>
                </a:lnSpc>
              </a:pPr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强迫性（程序不期望</a:t>
              </a:r>
              <a:br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的）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12752" y="306609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中断事件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5923598" y="5606415"/>
            <a:ext cx="5735002" cy="756285"/>
            <a:chOff x="5923598" y="5606415"/>
            <a:chExt cx="5735002" cy="756285"/>
          </a:xfrm>
        </p:grpSpPr>
        <p:sp>
          <p:nvSpPr>
            <p:cNvPr id="48" name="Rectangle 48"/>
            <p:cNvSpPr/>
            <p:nvPr/>
          </p:nvSpPr>
          <p:spPr>
            <a:xfrm>
              <a:off x="5923598" y="5606415"/>
              <a:ext cx="573500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128385" y="5884545"/>
              <a:ext cx="200026" cy="200026"/>
              <a:chOff x="6128385" y="5884545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128385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228398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217285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430708" y="5753576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课件的另一种分法：外部中断可以屏蔽（时钟、控制台）；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内部中断不能屏蔽（程序性中断、访管指令）。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84468" cy="909257"/>
            <a:chOff x="520446" y="342900"/>
            <a:chExt cx="78844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844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9：中断向量按类设置，不是每个中断事件一个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3564255"/>
            <a:chOff x="533400" y="1524000"/>
            <a:chExt cx="5193982" cy="35642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3564255"/>
            </a:xfrm>
            <a:prstGeom prst="roundRect">
              <a:avLst>
                <a:gd name="adj" fmla="val 37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96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9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关于中断向量的错误论述是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中断向量保存中断处理程序的运行环境与入口地址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（PSW, PC）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3067050"/>
              <a:ext cx="29390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每个中断事件有一个中断向量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3402330"/>
              <a:ext cx="35448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中断向量的存放位置是由硬件规定的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3737610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中断向量的内容是操作系统在系统初始化时设置好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5330" y="4358640"/>
              <a:ext cx="456676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。中断向量按类设置，同一类的中断事件共用一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个中断向量，进入处理程序后再细分具体原因。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5278755"/>
            <a:ext cx="5193982" cy="782955"/>
            <a:chOff x="533400" y="5278755"/>
            <a:chExt cx="5193982" cy="782955"/>
          </a:xfrm>
        </p:grpSpPr>
        <p:sp>
          <p:nvSpPr>
            <p:cNvPr id="17" name="Rectangle 17"/>
            <p:cNvSpPr/>
            <p:nvPr/>
          </p:nvSpPr>
          <p:spPr>
            <a:xfrm>
              <a:off x="533400" y="527875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570220"/>
              <a:ext cx="200026" cy="200026"/>
              <a:chOff x="738188" y="5570220"/>
              <a:chExt cx="200026" cy="20002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5702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38200" y="56368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27088" y="56702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5427345"/>
              <a:ext cx="4177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其余三项都对：向量存放 PSW 和 PC，存放位置由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硬件规定，内容由操作系统初始化时填入。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032182" y="1524000"/>
            <a:ext cx="5626418" cy="1986915"/>
            <a:chOff x="6032182" y="1524000"/>
            <a:chExt cx="5626418" cy="1986915"/>
          </a:xfrm>
        </p:grpSpPr>
        <p:sp>
          <p:nvSpPr>
            <p:cNvPr id="24" name="Rectangle 24"/>
            <p:cNvSpPr/>
            <p:nvPr/>
          </p:nvSpPr>
          <p:spPr>
            <a:xfrm>
              <a:off x="6032182" y="1524000"/>
              <a:ext cx="5626418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041708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79832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838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考点：中断向量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8554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43662" y="2110740"/>
              <a:ext cx="4368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内容：中断处理程序的运行环境与入口地址（PSW，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PC），其中 PSW 的 mode 为系统态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8554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43662" y="273177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中断事件有一个中断向量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85548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43662" y="306705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存放位置由硬件规定；内容由操作系统在初始化时设置</a:t>
              </a:r>
            </a:p>
          </p:txBody>
        </p:sp>
      </p:grpSp>
      <p:grpSp>
        <p:nvGrpSpPr>
          <p:cNvPr id="48" name="c2-steps-2"/>
          <p:cNvGrpSpPr/>
          <p:nvPr/>
        </p:nvGrpSpPr>
        <p:grpSpPr>
          <a:xfrm>
            <a:off x="6032182" y="3710940"/>
            <a:ext cx="5424298" cy="2112931"/>
            <a:chOff x="6032182" y="3710940"/>
            <a:chExt cx="5424298" cy="2112931"/>
          </a:xfrm>
        </p:grpSpPr>
        <p:sp>
          <p:nvSpPr>
            <p:cNvPr id="35" name="Rectangle 35"/>
            <p:cNvSpPr/>
            <p:nvPr/>
          </p:nvSpPr>
          <p:spPr>
            <a:xfrm>
              <a:off x="6165532" y="385381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6032182" y="37109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25806" y="37847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032182" y="43614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25806" y="44353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032182" y="50120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25806" y="5085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43662" y="37452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中断发生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44806" y="403907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硬件判断中断属于哪一类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43662" y="439578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找向量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44806" y="468963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到硬件规定的位置取出这一类的中断向量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43662" y="50463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进入处理程序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44806" y="5340191"/>
              <a:ext cx="50116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保存被中断程序的 PSW、PC，把向量中的 PSW、PC 装入 CPU，转到系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统态执行处理程序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99118" cy="909257"/>
            <a:chOff x="520446" y="342900"/>
            <a:chExt cx="97991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991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13：最内层中断返回时恢复上一层中断的现场，不切换进程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193982" cy="3228975"/>
            <a:chOff x="533400" y="1524000"/>
            <a:chExt cx="5193982" cy="32289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3228975"/>
            </a:xfrm>
            <a:prstGeom prst="roundRect">
              <a:avLst>
                <a:gd name="adj" fmla="val 41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13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在多级中断系统中，多层嵌套中断的最内层中断处理结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束后，以下论述中正确的是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1506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如果该中断是强迫性中断，则需要进程切换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3067050"/>
              <a:ext cx="41506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如果该中断是自愿性中断，则需要进程切换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3402330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无论该中断是强迫性中断还是自愿性中断，都需要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进程切换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4023360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无论该中断是强迫性中断还是自愿性中断，都不需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要进程切换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4943475"/>
            <a:ext cx="5193982" cy="533400"/>
            <a:chOff x="533400" y="4943475"/>
            <a:chExt cx="5193982" cy="533400"/>
          </a:xfrm>
        </p:grpSpPr>
        <p:sp>
          <p:nvSpPr>
            <p:cNvPr id="16" name="Rectangle 16"/>
            <p:cNvSpPr/>
            <p:nvPr/>
          </p:nvSpPr>
          <p:spPr>
            <a:xfrm>
              <a:off x="533400" y="4943475"/>
              <a:ext cx="5193982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110163"/>
              <a:ext cx="200026" cy="200026"/>
              <a:chOff x="738188" y="5110163"/>
              <a:chExt cx="200026" cy="20002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51101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04863" y="518795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5105400"/>
              <a:ext cx="600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032182" y="1524000"/>
            <a:ext cx="5626418" cy="1986915"/>
            <a:chOff x="6032182" y="1524000"/>
            <a:chExt cx="5626418" cy="1986915"/>
          </a:xfrm>
        </p:grpSpPr>
        <p:sp>
          <p:nvSpPr>
            <p:cNvPr id="22" name="Rectangle 22"/>
            <p:cNvSpPr/>
            <p:nvPr/>
          </p:nvSpPr>
          <p:spPr>
            <a:xfrm>
              <a:off x="6032182" y="1524000"/>
              <a:ext cx="5626418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41708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79832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838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考点：中断嵌套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8554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43662" y="211074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在中断处理过程中又响应新的中断，称为中断嵌套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85548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43662" y="244602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原则：高优先级中断可以嵌入低优先级中断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85548" y="28441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43662" y="278130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实现：中断响应后立即屏蔽不高于当前中断优先级的中断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</a:t>
              </a:r>
            </a:p>
          </p:txBody>
        </p:sp>
      </p:grpSp>
      <p:grpSp>
        <p:nvGrpSpPr>
          <p:cNvPr id="40" name="c2-cells-2"/>
          <p:cNvGrpSpPr/>
          <p:nvPr/>
        </p:nvGrpSpPr>
        <p:grpSpPr>
          <a:xfrm>
            <a:off x="6025706" y="3749993"/>
            <a:ext cx="4698491" cy="684847"/>
            <a:chOff x="6025706" y="3749993"/>
            <a:chExt cx="4698491" cy="684847"/>
          </a:xfrm>
        </p:grpSpPr>
        <p:sp>
          <p:nvSpPr>
            <p:cNvPr id="33" name="TextBox 33"/>
            <p:cNvSpPr txBox="1"/>
            <p:nvPr/>
          </p:nvSpPr>
          <p:spPr>
            <a:xfrm>
              <a:off x="6025706" y="414575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系统栈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653212" y="4015740"/>
              <a:ext cx="2035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23298" y="4145756"/>
              <a:ext cx="10943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 的现场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688705" y="4015740"/>
              <a:ext cx="203549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52726" y="414575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低级中断处理程序的现场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560242" y="37499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栈顶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9668828" y="392049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47" name="c2-callout-3"/>
          <p:cNvGrpSpPr/>
          <p:nvPr/>
        </p:nvGrpSpPr>
        <p:grpSpPr>
          <a:xfrm>
            <a:off x="6032182" y="4625340"/>
            <a:ext cx="5626418" cy="1059180"/>
            <a:chOff x="6032182" y="4625340"/>
            <a:chExt cx="5626418" cy="1059180"/>
          </a:xfrm>
        </p:grpSpPr>
        <p:sp>
          <p:nvSpPr>
            <p:cNvPr id="41" name="Rectangle 41"/>
            <p:cNvSpPr/>
            <p:nvPr/>
          </p:nvSpPr>
          <p:spPr>
            <a:xfrm>
              <a:off x="6032182" y="4625340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236970" y="5054918"/>
              <a:ext cx="200026" cy="200026"/>
              <a:chOff x="6236970" y="5054918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236970" y="50549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336983" y="51215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325870" y="51549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538912" y="4773930"/>
              <a:ext cx="4587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最内层处理完，弹出的是低级中断处理程序的现场，回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到上一层接着处理，不涉及进程切换。退到最外层、准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备返回进程时才可能调度。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84468" cy="909257"/>
            <a:chOff x="520446" y="342900"/>
            <a:chExt cx="78844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844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7：中断是进程切换的必要条件，不是充分条件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1886902"/>
            <a:chOff x="533400" y="1524000"/>
            <a:chExt cx="4760595" cy="18869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886902"/>
            </a:xfrm>
            <a:prstGeom prst="roundRect">
              <a:avLst>
                <a:gd name="adj" fmla="val 70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89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下列选项中，Ⅰ. I/O 请求　Ⅱ. 时钟中断　Ⅲ. I/O 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　Ⅳ. 设备进行 I/O，可能引起进程切换的是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22023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Ⅰ、Ⅱ和Ⅲ　B. Ⅱ、Ⅲ和Ⅳ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989421"/>
              <a:ext cx="22023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Ⅰ、Ⅱ和Ⅳ　D. Ⅰ、Ⅲ和Ⅳ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590925"/>
            <a:ext cx="4760595" cy="1840230"/>
            <a:chOff x="533400" y="3590925"/>
            <a:chExt cx="4760595" cy="1840230"/>
          </a:xfrm>
        </p:grpSpPr>
        <p:sp>
          <p:nvSpPr>
            <p:cNvPr id="14" name="Rectangle 14"/>
            <p:cNvSpPr/>
            <p:nvPr/>
          </p:nvSpPr>
          <p:spPr>
            <a:xfrm>
              <a:off x="533400" y="3590925"/>
              <a:ext cx="4760595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724275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378904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9056" y="382333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考点：中断与进程切换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421005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4149566"/>
              <a:ext cx="38647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必然引起切换：进程自愿结束 exit()；进程被强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行终止（非法指令、越界、kill）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7240" y="479869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3831" y="4739164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可能引起切换：时钟中断、系统调用、输入输出中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5611178"/>
            <a:ext cx="4760595" cy="503872"/>
            <a:chOff x="533400" y="5611178"/>
            <a:chExt cx="4760595" cy="503872"/>
          </a:xfrm>
        </p:grpSpPr>
        <p:sp>
          <p:nvSpPr>
            <p:cNvPr id="23" name="Rectangle 23"/>
            <p:cNvSpPr/>
            <p:nvPr/>
          </p:nvSpPr>
          <p:spPr>
            <a:xfrm>
              <a:off x="533400" y="5611178"/>
              <a:ext cx="476059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762625"/>
              <a:ext cx="200026" cy="200026"/>
              <a:chOff x="738188" y="5762625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7626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04863" y="584041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511" y="5763101"/>
              <a:ext cx="14752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A：Ⅰ、Ⅱ、Ⅲ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5598795" y="1524000"/>
            <a:ext cx="6059805" cy="3076575"/>
            <a:chOff x="5598795" y="1524000"/>
            <a:chExt cx="6059805" cy="3076575"/>
          </a:xfrm>
        </p:grpSpPr>
        <p:sp>
          <p:nvSpPr>
            <p:cNvPr id="29" name="Rectangle 29"/>
            <p:cNvSpPr/>
            <p:nvPr/>
          </p:nvSpPr>
          <p:spPr>
            <a:xfrm>
              <a:off x="5598795" y="1524000"/>
              <a:ext cx="6059805" cy="4629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67146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43558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发生了什么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06710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会不会切换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00141" y="2246471"/>
              <a:ext cx="9800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Ⅰ I/O 请求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33641" y="2119789"/>
              <a:ext cx="2935986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进程发出 I/O 请求后进入等待态，必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须调度别的进程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89031" y="2246471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598795" y="26993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598795" y="2704148"/>
              <a:ext cx="605980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00141" y="2836069"/>
              <a:ext cx="9593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Ⅱ 时钟中断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33641" y="283606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当前进程的时间片可能用完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793451" y="283606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598795" y="31623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700141" y="3425666"/>
              <a:ext cx="9800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Ⅲ I/O 完成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33641" y="3298984"/>
              <a:ext cx="2935986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 I/O 的进程被唤醒，若它优先级更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高就会抢占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793451" y="342566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598795" y="38795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598795" y="3884295"/>
              <a:ext cx="6059805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700141" y="4016216"/>
              <a:ext cx="896791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Ⅳ 设备进行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33641" y="4016216"/>
              <a:ext cx="2890901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设备在独立工作，CPU 上没有发生中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断事件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793451" y="414289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1524000"/>
              <a:ext cx="6059805" cy="30765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927532" y="1524000"/>
              <a:ext cx="9525" cy="3076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320338" y="1524000"/>
              <a:ext cx="9525" cy="3076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5598795" y="4780598"/>
            <a:ext cx="6059805" cy="756285"/>
            <a:chOff x="5598795" y="4780598"/>
            <a:chExt cx="6059805" cy="756285"/>
          </a:xfrm>
        </p:grpSpPr>
        <p:sp>
          <p:nvSpPr>
            <p:cNvPr id="54" name="Rectangle 54"/>
            <p:cNvSpPr/>
            <p:nvPr/>
          </p:nvSpPr>
          <p:spPr>
            <a:xfrm>
              <a:off x="5598795" y="4780598"/>
              <a:ext cx="605980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5803583" y="5058728"/>
              <a:ext cx="200026" cy="200025"/>
              <a:chOff x="5803583" y="5058728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5803583" y="50587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5843321" y="51031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878037" y="52143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105906" y="4927759"/>
              <a:ext cx="505498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题目问“可能”：只要存在会切换的情况就算。Ⅳ 根本没有中断，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先排除。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38992" cy="909257"/>
            <a:chOff x="520446" y="342900"/>
            <a:chExt cx="93389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389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11：进程切换时现场从系统栈存入 PCB，再从 PCB 恢复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544378" cy="3042285"/>
            <a:chOff x="533400" y="1524000"/>
            <a:chExt cx="4544378" cy="30422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3042285"/>
            </a:xfrm>
            <a:prstGeom prst="roundRect">
              <a:avLst>
                <a:gd name="adj" fmla="val 43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关于进程切换有如下论述：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3140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Ⅰ. 根据系统栈保存下降进程的现场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781300"/>
              <a:ext cx="3015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Ⅱ. 根据 PCB 保存下降进程的现场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3116580"/>
              <a:ext cx="3140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Ⅲ. 根据系统栈恢复上升进程的现场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3451860"/>
              <a:ext cx="3015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Ⅳ. 根据 PCB 恢复上升进程的现场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5330" y="378714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其中论述正确的是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122420"/>
              <a:ext cx="3562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Ⅰ和Ⅲ　B. Ⅰ和Ⅳ　C. Ⅱ和Ⅲ　D. Ⅱ和Ⅳ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756785"/>
            <a:ext cx="4544378" cy="533400"/>
            <a:chOff x="533400" y="4756785"/>
            <a:chExt cx="4544378" cy="533400"/>
          </a:xfrm>
        </p:grpSpPr>
        <p:sp>
          <p:nvSpPr>
            <p:cNvPr id="18" name="Rectangle 18"/>
            <p:cNvSpPr/>
            <p:nvPr/>
          </p:nvSpPr>
          <p:spPr>
            <a:xfrm>
              <a:off x="533400" y="4756785"/>
              <a:ext cx="4544378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4923473"/>
              <a:ext cx="200026" cy="200026"/>
              <a:chOff x="738188" y="4923473"/>
              <a:chExt cx="200026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9234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04863" y="50012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918710"/>
              <a:ext cx="12390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B：Ⅰ和Ⅳ</a:t>
              </a:r>
            </a:p>
          </p:txBody>
        </p:sp>
      </p:grpSp>
      <p:grpSp>
        <p:nvGrpSpPr>
          <p:cNvPr id="40" name="c2-flow-1"/>
          <p:cNvGrpSpPr/>
          <p:nvPr/>
        </p:nvGrpSpPr>
        <p:grpSpPr>
          <a:xfrm>
            <a:off x="5529262" y="1695450"/>
            <a:ext cx="5982652" cy="1929764"/>
            <a:chOff x="5529262" y="1695450"/>
            <a:chExt cx="5982652" cy="1929764"/>
          </a:xfrm>
        </p:grpSpPr>
        <p:sp>
          <p:nvSpPr>
            <p:cNvPr id="24" name="Freeform 24"/>
            <p:cNvSpPr/>
            <p:nvPr/>
          </p:nvSpPr>
          <p:spPr>
            <a:xfrm>
              <a:off x="7328535" y="2119312"/>
              <a:ext cx="2279333" cy="9525"/>
            </a:xfrm>
            <a:custGeom>
              <a:avLst/>
              <a:gdLst/>
              <a:ahLst/>
              <a:cxnLst/>
              <a:rect l="l" t="t" r="r" b="b"/>
              <a:pathLst>
                <a:path w="2279333" h="9525">
                  <a:moveTo>
                    <a:pt x="0" y="0"/>
                  </a:moveTo>
                  <a:lnTo>
                    <a:pt x="227933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9607868" y="20669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7328535" y="3309938"/>
              <a:ext cx="2279333" cy="9525"/>
            </a:xfrm>
            <a:custGeom>
              <a:avLst/>
              <a:gdLst/>
              <a:ahLst/>
              <a:cxnLst/>
              <a:rect l="l" t="t" r="r" b="b"/>
              <a:pathLst>
                <a:path w="2279333" h="9525">
                  <a:moveTo>
                    <a:pt x="0" y="0"/>
                  </a:moveTo>
                  <a:lnTo>
                    <a:pt x="227933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607868" y="32575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529262" y="1695450"/>
              <a:ext cx="1799272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712642" y="1900238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529262" y="3090862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9712642" y="2995612"/>
              <a:ext cx="1799272" cy="629602"/>
            </a:xfrm>
            <a:prstGeom prst="roundRect">
              <a:avLst>
                <a:gd name="adj" fmla="val 4992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771706" y="1812131"/>
              <a:ext cx="1313434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下降进程的现场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（中断时已压入系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统栈）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997978" y="2030254"/>
              <a:ext cx="12295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下降进程的 PCB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813646" y="3220879"/>
              <a:ext cx="12295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上升进程的 PCB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956038" y="3111341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装入寄存器，上升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进程接着运行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40065" y="1903095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162354" y="192976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弹出并保存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340090" y="309372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374380" y="31203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恢复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5382578" y="4095750"/>
            <a:ext cx="6276022" cy="2133600"/>
            <a:chOff x="5382578" y="4095750"/>
            <a:chExt cx="6276022" cy="2133600"/>
          </a:xfrm>
        </p:grpSpPr>
        <p:sp>
          <p:nvSpPr>
            <p:cNvPr id="41" name="Rectangle 41"/>
            <p:cNvSpPr/>
            <p:nvPr/>
          </p:nvSpPr>
          <p:spPr>
            <a:xfrm>
              <a:off x="5382578" y="4095750"/>
              <a:ext cx="6276022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92102" y="422910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630228" y="430530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699735" y="434101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考点：进程切换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622608" y="4682490"/>
              <a:ext cx="5349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进程切换伴随系统栈的切换：下降进程的现场信息从系统栈中弹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出，保存到它的 PCB 中；上升进程的现场从它自己的 PCB 中恢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623751" y="5585936"/>
              <a:ext cx="54993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上升进程上次被换下时，现场已经存进了 PCB，所以恢复时取 PCB，Ⅲ 错；保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存时现场的来源是系统栈，Ⅱ 说反了。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23027" cy="909257"/>
            <a:chOff x="520446" y="342900"/>
            <a:chExt cx="60230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230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10：短进程优先可能让长进程饿死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328160" cy="1886902"/>
            <a:chOff x="533400" y="1524000"/>
            <a:chExt cx="4328160" cy="18869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1886902"/>
            </a:xfrm>
            <a:prstGeom prst="roundRect">
              <a:avLst>
                <a:gd name="adj" fmla="val 70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36212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下列进程调度算法中，可能造成进程饿死的调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度算法是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24916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循环轮换　B. 短进程优先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989421"/>
              <a:ext cx="3065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先来先服务　D. 最高响应比优先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590925"/>
            <a:ext cx="4328160" cy="1868805"/>
            <a:chOff x="533400" y="3590925"/>
            <a:chExt cx="4328160" cy="1868805"/>
          </a:xfrm>
        </p:grpSpPr>
        <p:sp>
          <p:nvSpPr>
            <p:cNvPr id="14" name="Rectangle 14"/>
            <p:cNvSpPr/>
            <p:nvPr/>
          </p:nvSpPr>
          <p:spPr>
            <a:xfrm>
              <a:off x="533400" y="3590925"/>
              <a:ext cx="4328160" cy="1868805"/>
            </a:xfrm>
            <a:prstGeom prst="roundRect">
              <a:avLst>
                <a:gd name="adj" fmla="val 71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724275"/>
              <a:ext cx="47625" cy="16021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378904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7059" y="38233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响应比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3"/>
                <p:cNvSpPr txBox="1">
                  <a:spLocks noGrp="1"/>
                </p:cNvSpPr>
                <p:nvPr/>
              </p:nvSpPr>
              <p:spPr>
                <a:xfrm>
                  <a:off x="769620" y="4126230"/>
                  <a:ext cx="389382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RR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BT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WT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BT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WT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BT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TextBox 19"/>
            <p:cNvSpPr txBox="1"/>
            <p:nvPr/>
          </p:nvSpPr>
          <p:spPr>
            <a:xfrm>
              <a:off x="763524" y="4852988"/>
              <a:ext cx="3669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BT 为阵发（运行）时间，WT 为已等待时间。等得越久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响应比越高，长作业迟早会被选中。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5639752"/>
            <a:ext cx="4328160" cy="503872"/>
            <a:chOff x="533400" y="5639752"/>
            <a:chExt cx="4328160" cy="503872"/>
          </a:xfrm>
        </p:grpSpPr>
        <p:sp>
          <p:nvSpPr>
            <p:cNvPr id="21" name="Rectangle 21"/>
            <p:cNvSpPr/>
            <p:nvPr/>
          </p:nvSpPr>
          <p:spPr>
            <a:xfrm>
              <a:off x="533400" y="5639752"/>
              <a:ext cx="4328160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791200"/>
              <a:ext cx="200026" cy="200026"/>
              <a:chOff x="738188" y="5791200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7912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04863" y="586898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511" y="5791676"/>
              <a:ext cx="5684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166360" y="1524000"/>
            <a:ext cx="6492240" cy="2975610"/>
            <a:chOff x="5166360" y="1524000"/>
            <a:chExt cx="6492240" cy="2975610"/>
          </a:xfrm>
        </p:grpSpPr>
        <p:sp>
          <p:nvSpPr>
            <p:cNvPr id="27" name="Rectangle 27"/>
            <p:cNvSpPr/>
            <p:nvPr/>
          </p:nvSpPr>
          <p:spPr>
            <a:xfrm>
              <a:off x="5166360" y="1524000"/>
              <a:ext cx="649224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68071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38135" y="16525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调度规则与特点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745533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会饿死吗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68849" y="218313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循环轮转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31876" y="2076450"/>
              <a:ext cx="3517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每个进程一个时间片，用完到队尾排队，可剥夺。时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间片过长响应慢，过短切换开销大；适合分时系统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907078" y="218313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166360" y="258127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166360" y="2586038"/>
              <a:ext cx="649224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68849" y="282130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短进程优先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31876" y="2714625"/>
              <a:ext cx="35554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CPU 阵发时间递增调度。同时到达时平均等待时间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最短；短作业不断到达时，长作业一直轮不到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987850" y="2821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会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166360" y="321945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68849" y="345948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先来先服务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31876" y="3352800"/>
              <a:ext cx="35326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按进入就绪态的次序调度，“公平”；短作业等待时间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长，平均等待时间较长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907078" y="34594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166360" y="385667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166360" y="3861435"/>
              <a:ext cx="649224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68849" y="409670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最高响应比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31876" y="3990022"/>
              <a:ext cx="34792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FCFS 与 SJF 的折中：同时到达时短者优先，长作业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的响应比随等待时间增加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907078" y="409670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166360" y="1524000"/>
              <a:ext cx="6492240" cy="29756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524625" y="1524000"/>
              <a:ext cx="9525" cy="29756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485120" y="1524000"/>
              <a:ext cx="9525" cy="29756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llout-2"/>
          <p:cNvGrpSpPr/>
          <p:nvPr/>
        </p:nvGrpSpPr>
        <p:grpSpPr>
          <a:xfrm>
            <a:off x="5166360" y="4679632"/>
            <a:ext cx="6492240" cy="756285"/>
            <a:chOff x="5166360" y="4679632"/>
            <a:chExt cx="6492240" cy="756285"/>
          </a:xfrm>
        </p:grpSpPr>
        <p:sp>
          <p:nvSpPr>
            <p:cNvPr id="52" name="Rectangle 52"/>
            <p:cNvSpPr/>
            <p:nvPr/>
          </p:nvSpPr>
          <p:spPr>
            <a:xfrm>
              <a:off x="5166360" y="4679632"/>
              <a:ext cx="649224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5371148" y="4957763"/>
              <a:ext cx="200026" cy="200026"/>
              <a:chOff x="5371148" y="4957763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5371148" y="49577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471160" y="50244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460048" y="50577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5673471" y="4826794"/>
              <a:ext cx="54246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循环轮转分两种：基本轮转时间片固定，所有进程等速推进；改进轮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转的时间片长度可变。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66308" cy="909257"/>
            <a:chOff x="520446" y="342900"/>
            <a:chExt cx="63663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663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12：时间片用完时降低优先级最合理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328160" cy="4815840"/>
            <a:chOff x="533400" y="1524000"/>
            <a:chExt cx="4328160" cy="48158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4815840"/>
            </a:xfrm>
            <a:prstGeom prst="roundRect">
              <a:avLst>
                <a:gd name="adj" fmla="val 308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下列选项中，降低进程优先级的合理时机是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1929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进程的时间片用完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781300"/>
              <a:ext cx="3206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进程等待 I/O 完成进入就绪队列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3116580"/>
              <a:ext cx="27371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进程在就绪队列中超过时限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3451860"/>
              <a:ext cx="2131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进程从就绪转为运行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5330" y="3787140"/>
              <a:ext cx="36061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。进程刚用完 CPU，降低优先级让别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的进程有机会运行；C 在就绪队列中等待超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时，要做的是提高优先级。</a:t>
              </a:r>
            </a:p>
          </p:txBody>
        </p:sp>
      </p:grpSp>
      <p:grpSp>
        <p:nvGrpSpPr>
          <p:cNvPr id="39" name="c2-graph-1"/>
          <p:cNvGrpSpPr/>
          <p:nvPr/>
        </p:nvGrpSpPr>
        <p:grpSpPr>
          <a:xfrm>
            <a:off x="5503545" y="1980248"/>
            <a:ext cx="5817870" cy="1761457"/>
            <a:chOff x="5503545" y="1980248"/>
            <a:chExt cx="5817870" cy="1761457"/>
          </a:xfrm>
        </p:grpSpPr>
        <p:sp>
          <p:nvSpPr>
            <p:cNvPr id="17" name="Freeform 17"/>
            <p:cNvSpPr/>
            <p:nvPr/>
          </p:nvSpPr>
          <p:spPr>
            <a:xfrm>
              <a:off x="6646545" y="2566035"/>
              <a:ext cx="3439478" cy="289878"/>
            </a:xfrm>
            <a:custGeom>
              <a:avLst/>
              <a:gdLst/>
              <a:ahLst/>
              <a:cxnLst/>
              <a:rect l="l" t="t" r="r" b="b"/>
              <a:pathLst>
                <a:path w="3439478" h="289878">
                  <a:moveTo>
                    <a:pt x="0" y="0"/>
                  </a:moveTo>
                  <a:cubicBezTo>
                    <a:pt x="1177290" y="282575"/>
                    <a:pt x="2323783" y="289878"/>
                    <a:pt x="3439478" y="21908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074592" y="2542222"/>
              <a:ext cx="103822" cy="92393"/>
            </a:xfrm>
            <a:custGeom>
              <a:avLst/>
              <a:gdLst/>
              <a:ahLst/>
              <a:cxnLst/>
              <a:rect l="l" t="t" r="r" b="b"/>
              <a:pathLst>
                <a:path w="103822" h="92393">
                  <a:moveTo>
                    <a:pt x="103822" y="23812"/>
                  </a:moveTo>
                  <a:lnTo>
                    <a:pt x="21907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738938" y="2001838"/>
              <a:ext cx="3439477" cy="289878"/>
            </a:xfrm>
            <a:custGeom>
              <a:avLst/>
              <a:gdLst/>
              <a:ahLst/>
              <a:cxnLst/>
              <a:rect l="l" t="t" r="r" b="b"/>
              <a:pathLst>
                <a:path w="3439477" h="289878">
                  <a:moveTo>
                    <a:pt x="3439477" y="289878"/>
                  </a:moveTo>
                  <a:cubicBezTo>
                    <a:pt x="2262188" y="7303"/>
                    <a:pt x="1115695" y="0"/>
                    <a:pt x="0" y="267970"/>
                  </a:cubicBez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646545" y="2223135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0" y="68580"/>
                  </a:moveTo>
                  <a:lnTo>
                    <a:pt x="81915" y="0"/>
                  </a:lnTo>
                  <a:lnTo>
                    <a:pt x="103823" y="9239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845868" y="2599372"/>
              <a:ext cx="1556385" cy="761048"/>
            </a:xfrm>
            <a:custGeom>
              <a:avLst/>
              <a:gdLst/>
              <a:ahLst/>
              <a:cxnLst/>
              <a:rect l="l" t="t" r="r" b="b"/>
              <a:pathLst>
                <a:path w="1556385" h="761048">
                  <a:moveTo>
                    <a:pt x="1556385" y="0"/>
                  </a:moveTo>
                  <a:lnTo>
                    <a:pt x="0" y="76104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760142" y="3317558"/>
              <a:ext cx="106680" cy="84772"/>
            </a:xfrm>
            <a:custGeom>
              <a:avLst/>
              <a:gdLst/>
              <a:ahLst/>
              <a:cxnLst/>
              <a:rect l="l" t="t" r="r" b="b"/>
              <a:pathLst>
                <a:path w="106680" h="84772">
                  <a:moveTo>
                    <a:pt x="0" y="83820"/>
                  </a:moveTo>
                  <a:lnTo>
                    <a:pt x="64770" y="0"/>
                  </a:lnTo>
                  <a:lnTo>
                    <a:pt x="106680" y="8477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6508432" y="2640330"/>
              <a:ext cx="1556385" cy="761048"/>
            </a:xfrm>
            <a:custGeom>
              <a:avLst/>
              <a:gdLst/>
              <a:ahLst/>
              <a:cxnLst/>
              <a:rect l="l" t="t" r="r" b="b"/>
              <a:pathLst>
                <a:path w="1556385" h="761048">
                  <a:moveTo>
                    <a:pt x="1556385" y="76104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422708" y="2598420"/>
              <a:ext cx="106680" cy="84772"/>
            </a:xfrm>
            <a:custGeom>
              <a:avLst/>
              <a:gdLst/>
              <a:ahLst/>
              <a:cxnLst/>
              <a:rect l="l" t="t" r="r" b="b"/>
              <a:pathLst>
                <a:path w="106680" h="84772">
                  <a:moveTo>
                    <a:pt x="0" y="952"/>
                  </a:moveTo>
                  <a:lnTo>
                    <a:pt x="106680" y="0"/>
                  </a:lnTo>
                  <a:lnTo>
                    <a:pt x="64770" y="8477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503545" y="2259330"/>
              <a:ext cx="1143000" cy="340042"/>
            </a:xfrm>
            <a:prstGeom prst="roundRect">
              <a:avLst>
                <a:gd name="adj" fmla="val 2801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0178415" y="2259330"/>
              <a:ext cx="1143000" cy="340042"/>
            </a:xfrm>
            <a:prstGeom prst="roundRect">
              <a:avLst>
                <a:gd name="adj" fmla="val 2801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840980" y="3401378"/>
              <a:ext cx="1143000" cy="340042"/>
            </a:xfrm>
            <a:prstGeom prst="roundRect">
              <a:avLst>
                <a:gd name="adj" fmla="val 2801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896254" y="23493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571124" y="23493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33689" y="34923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117205" y="2677478"/>
              <a:ext cx="589598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1645" y="2715578"/>
              <a:ext cx="561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 被调度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983855" y="1980248"/>
              <a:ext cx="856298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90294" y="2017395"/>
              <a:ext cx="8443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时间片用完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283065" y="2900362"/>
              <a:ext cx="596265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92628" y="2937510"/>
              <a:ext cx="5771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I/O 请求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889432" y="2900362"/>
              <a:ext cx="709612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91719" y="2937510"/>
              <a:ext cx="7040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 I/O 完成</a:t>
              </a:r>
            </a:p>
          </p:txBody>
        </p:sp>
      </p:grpSp>
      <p:grpSp>
        <p:nvGrpSpPr>
          <p:cNvPr id="64" name="c2-table-2"/>
          <p:cNvGrpSpPr/>
          <p:nvPr/>
        </p:nvGrpSpPr>
        <p:grpSpPr>
          <a:xfrm>
            <a:off x="5166360" y="4095750"/>
            <a:ext cx="6492240" cy="2244090"/>
            <a:chOff x="5166360" y="4095750"/>
            <a:chExt cx="6492240" cy="2244090"/>
          </a:xfrm>
        </p:grpSpPr>
        <p:sp>
          <p:nvSpPr>
            <p:cNvPr id="40" name="Rectangle 40"/>
            <p:cNvSpPr/>
            <p:nvPr/>
          </p:nvSpPr>
          <p:spPr>
            <a:xfrm>
              <a:off x="5166360" y="4095750"/>
              <a:ext cx="649224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312372" y="42314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08887" y="42314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744048" y="42314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优先级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432114" y="468010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923788" y="4680109"/>
              <a:ext cx="39865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进程刚占用完 CPU，可以降低，给其他进程运行机会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830204" y="46801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降低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66360" y="498824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166360" y="499300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32114" y="512873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923788" y="512873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进程已经等了一段时间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571734" y="51287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提高或不变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166360" y="54378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32114" y="5577364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923788" y="55773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在就绪队列超时说明等得太久，为防止饥饿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830204" y="55773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166360" y="588645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166360" y="5891212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432114" y="602599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923788" y="60259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进程已经占有处理机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744048" y="602599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不必改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166360" y="4095750"/>
              <a:ext cx="649224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5811202" y="409575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355580" y="409575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12418" cy="909257"/>
            <a:chOff x="520446" y="342900"/>
            <a:chExt cx="76124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124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4：共享变量 x 让两个进程的输出结果不确定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410200" cy="4749165"/>
            <a:chOff x="533400" y="1524000"/>
            <a:chExt cx="5410200" cy="47491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749165"/>
            </a:xfrm>
            <a:prstGeom prst="roundRect">
              <a:avLst>
                <a:gd name="adj" fmla="val 280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89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4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19836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int x; 为全局变量，进程 P1、P2 定义如下。运行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cobegin P1; P2 coend; 时，正确的说法是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31520" y="2648902"/>
              <a:ext cx="5013960" cy="2019300"/>
            </a:xfrm>
            <a:prstGeom prst="roundRect">
              <a:avLst>
                <a:gd name="adj" fmla="val 47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9917" y="2800826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9536" y="3062288"/>
              <a:ext cx="3311081" cy="15321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/* P1 */</a:t>
              </a:r>
              <a:br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main() {  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m, n;      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m, 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 = 1;  m = 0;         x = 0;  m = 0;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(x == 1) m++;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(x == 0) m++;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 = m;                 n = m;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printf(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"n=%d\n"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n);   printf(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"n=%d\n"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n);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                     }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4281" y="4780121"/>
              <a:ext cx="29974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P1 和 P2 的输出结果一定都是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4281" y="5098256"/>
              <a:ext cx="40551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P1 输出结果一定为 1，P2 输出结果一定为 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5416391"/>
              <a:ext cx="40551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P1 输出结果一定为 0，P2 输出结果一定为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5733574"/>
              <a:ext cx="26438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P1 和 P2 的输出结果不确定</a:t>
              </a:r>
            </a:p>
          </p:txBody>
        </p:sp>
      </p:grpSp>
      <p:grpSp>
        <p:nvGrpSpPr>
          <p:cNvPr id="39" name="c2-table-1"/>
          <p:cNvGrpSpPr/>
          <p:nvPr/>
        </p:nvGrpSpPr>
        <p:grpSpPr>
          <a:xfrm>
            <a:off x="6243066" y="1524000"/>
            <a:ext cx="5415534" cy="2404682"/>
            <a:chOff x="6243066" y="1524000"/>
            <a:chExt cx="5415534" cy="2404682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51242" y="16525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执行顺序举例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36637" y="165258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148167" y="165258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50889" y="2076450"/>
              <a:ext cx="19679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整个执行完，再执行 P2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9078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20231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48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48400" y="2372678"/>
              <a:ext cx="5410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0889" y="2501265"/>
              <a:ext cx="3337179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置 x 为 1，P2 置 x 为 0，P1 再判断 x 是否为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1：不成立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90784" y="2607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02314" y="2607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48400" y="30060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0889" y="3139440"/>
              <a:ext cx="3337179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置 x 为 0，P1 置 x 为 1，P2 再判断 x 是否为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0：不成立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90784" y="32461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02314" y="32461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21240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030778" y="1524000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10842308" y="1524000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43066" y="3723323"/>
              <a:ext cx="42724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用脚本穷举全部交叉顺序，只出现这三种输出；两个都输出 0 不可能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248400" y="4067175"/>
            <a:ext cx="5410200" cy="1522095"/>
            <a:chOff x="6248400" y="4067175"/>
            <a:chExt cx="5410200" cy="1522095"/>
          </a:xfrm>
        </p:grpSpPr>
        <p:sp>
          <p:nvSpPr>
            <p:cNvPr id="40" name="Rectangle 40"/>
            <p:cNvSpPr/>
            <p:nvPr/>
          </p:nvSpPr>
          <p:spPr>
            <a:xfrm>
              <a:off x="6248400" y="4067175"/>
              <a:ext cx="5410200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4200525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84620" y="4265295"/>
              <a:ext cx="16764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40056" y="4299585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考点：与时间有关的错误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77381" y="4625816"/>
              <a:ext cx="473036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进程推进速度不同，执行会交叉（interleave）。交叉中涉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及公共变量 x 时，某些交叉会得出不正确的结果，必须去掉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这些交叉。</a:t>
              </a:r>
            </a:p>
          </p:txBody>
        </p:sp>
      </p:grpSp>
      <p:grpSp>
        <p:nvGrpSpPr>
          <p:cNvPr id="51" name="c2-callout-3"/>
          <p:cNvGrpSpPr/>
          <p:nvPr/>
        </p:nvGrpSpPr>
        <p:grpSpPr>
          <a:xfrm>
            <a:off x="6248400" y="5770245"/>
            <a:ext cx="5410200" cy="503872"/>
            <a:chOff x="6248400" y="5770245"/>
            <a:chExt cx="5410200" cy="503872"/>
          </a:xfrm>
        </p:grpSpPr>
        <p:sp>
          <p:nvSpPr>
            <p:cNvPr id="46" name="Rectangle 46"/>
            <p:cNvSpPr/>
            <p:nvPr/>
          </p:nvSpPr>
          <p:spPr>
            <a:xfrm>
              <a:off x="6248400" y="5770245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53188" y="5921693"/>
              <a:ext cx="200026" cy="200026"/>
              <a:chOff x="6453188" y="5921693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59216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19863" y="599948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511" y="5922169"/>
              <a:ext cx="38182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D：输出取决于两个进程交叉执行的次序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96151" cy="909257"/>
            <a:chOff x="520446" y="342900"/>
            <a:chExt cx="73961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961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14：信号量为负时，绝对值就是等待进程数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760595" cy="1840230"/>
            <a:chOff x="533400" y="1524000"/>
            <a:chExt cx="4760595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14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1622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设与某类资源 R 相关联的信号量 S 的初值为 3，S 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前值为 −2。若 M 表示 R 的可用个数，N 表示等待 R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的进程数，则当前 M、N 分别是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943701"/>
              <a:ext cx="33486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3、0　B. 0、3　C. 0、2　D. 2、0</a:t>
              </a:r>
            </a:p>
          </p:txBody>
        </p:sp>
      </p:grpSp>
      <p:grpSp>
        <p:nvGrpSpPr>
          <p:cNvPr id="27" name="c1-cells-2"/>
          <p:cNvGrpSpPr/>
          <p:nvPr/>
        </p:nvGrpSpPr>
        <p:grpSpPr>
          <a:xfrm>
            <a:off x="527304" y="3544252"/>
            <a:ext cx="2521648" cy="949643"/>
            <a:chOff x="527304" y="3544252"/>
            <a:chExt cx="2521648" cy="949643"/>
          </a:xfrm>
        </p:grpSpPr>
        <p:sp>
          <p:nvSpPr>
            <p:cNvPr id="13" name="TextBox 13"/>
            <p:cNvSpPr txBox="1"/>
            <p:nvPr/>
          </p:nvSpPr>
          <p:spPr>
            <a:xfrm>
              <a:off x="527304" y="3667125"/>
              <a:ext cx="628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S.value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283018" y="3544252"/>
              <a:ext cx="71628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41770" y="366712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7304" y="4221480"/>
              <a:ext cx="6713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S.queue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283018" y="409956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84333" y="422148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794510" y="409956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870710" y="4268152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899285" y="4296728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242185" y="4253865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327910" y="409956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430178" y="422148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839402" y="409956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899972" y="42291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4673918"/>
            <a:ext cx="4760595" cy="756285"/>
            <a:chOff x="533400" y="4673918"/>
            <a:chExt cx="4760595" cy="756285"/>
          </a:xfrm>
        </p:grpSpPr>
        <p:sp>
          <p:nvSpPr>
            <p:cNvPr id="28" name="Rectangle 28"/>
            <p:cNvSpPr/>
            <p:nvPr/>
          </p:nvSpPr>
          <p:spPr>
            <a:xfrm>
              <a:off x="533400" y="4673918"/>
              <a:ext cx="4760595" cy="756285"/>
            </a:xfrm>
            <a:prstGeom prst="roundRect">
              <a:avLst>
                <a:gd name="adj" fmla="val 1511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952048"/>
              <a:ext cx="200026" cy="200026"/>
              <a:chOff x="738188" y="4952048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49520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04863" y="502983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511" y="4821079"/>
              <a:ext cx="376555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C：value &lt; 0 表示资源已用完，M = 0；队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列里有 |−2| = 2 个进程，N = 2</a:t>
              </a:r>
            </a:p>
          </p:txBody>
        </p:sp>
      </p:grpSp>
      <p:grpSp>
        <p:nvGrpSpPr>
          <p:cNvPr id="37" name="c2-code-1"/>
          <p:cNvGrpSpPr/>
          <p:nvPr/>
        </p:nvGrpSpPr>
        <p:grpSpPr>
          <a:xfrm>
            <a:off x="5598795" y="1524000"/>
            <a:ext cx="6059805" cy="2207895"/>
            <a:chOff x="5598795" y="1524000"/>
            <a:chExt cx="6059805" cy="2207895"/>
          </a:xfrm>
        </p:grpSpPr>
        <p:sp>
          <p:nvSpPr>
            <p:cNvPr id="34" name="Rectangle 34"/>
            <p:cNvSpPr/>
            <p:nvPr/>
          </p:nvSpPr>
          <p:spPr>
            <a:xfrm>
              <a:off x="5598795" y="1524000"/>
              <a:ext cx="6059805" cy="2207895"/>
            </a:xfrm>
            <a:prstGeom prst="roundRect">
              <a:avLst>
                <a:gd name="adj" fmla="val 431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727192" y="1675924"/>
              <a:ext cx="20618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P、V 操作原语（执行中不可中断）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26811" y="1937385"/>
              <a:ext cx="2797683" cy="17217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P(var s: semaphore)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s.value := s.value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s.value &lt; 0 then asleep(s.queue)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V(var s: semaphore)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s.value := s.value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s.value &lt;= 0 then wakeup(s.queue)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5598795" y="3912870"/>
            <a:ext cx="6059805" cy="2386012"/>
            <a:chOff x="5598795" y="3912870"/>
            <a:chExt cx="6059805" cy="2386012"/>
          </a:xfrm>
        </p:grpSpPr>
        <p:sp>
          <p:nvSpPr>
            <p:cNvPr id="38" name="Rectangle 38"/>
            <p:cNvSpPr/>
            <p:nvPr/>
          </p:nvSpPr>
          <p:spPr>
            <a:xfrm>
              <a:off x="5598795" y="3912870"/>
              <a:ext cx="6059805" cy="2386012"/>
            </a:xfrm>
            <a:prstGeom prst="roundRect">
              <a:avLst>
                <a:gd name="adj" fmla="val 55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608320" y="4046220"/>
              <a:ext cx="47625" cy="211931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35015" y="411099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14454" y="414528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规定和结论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42635" y="453104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99226" y="4471511"/>
              <a:ext cx="52706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必须置一次、且只能置一次初值，初值 ≥ 0；只能做 P、V 操作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42635" y="484917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99226" y="4788694"/>
              <a:ext cx="51451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s.value ≥ 0 时 s.queue 为空；s.value &lt; 0 时 |s.value| 为队列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长度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42635" y="543782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99226" y="537829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初值为 1 可实现互斥；初值为 0 可实现同步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28919" y="5692140"/>
              <a:ext cx="51633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asleep：本进程 PCB 入队尾，状态改为等待，转处理机调度。wakeup：队首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PCB 出队，进入就绪队列。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62155" cy="909257"/>
            <a:chOff x="520446" y="342900"/>
            <a:chExt cx="786215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6215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管程的组成：三类队列，以及 wait、signal 的含义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graph-1"/>
          <p:cNvGrpSpPr/>
          <p:nvPr/>
        </p:nvGrpSpPr>
        <p:grpSpPr>
          <a:xfrm>
            <a:off x="623888" y="1644491"/>
            <a:ext cx="4915852" cy="4680776"/>
            <a:chOff x="623888" y="1644491"/>
            <a:chExt cx="4915852" cy="4680776"/>
          </a:xfrm>
        </p:grpSpPr>
        <p:sp>
          <p:nvSpPr>
            <p:cNvPr id="7" name="Freeform 7"/>
            <p:cNvSpPr/>
            <p:nvPr/>
          </p:nvSpPr>
          <p:spPr>
            <a:xfrm>
              <a:off x="1661160" y="3222308"/>
              <a:ext cx="1027748" cy="416242"/>
            </a:xfrm>
            <a:custGeom>
              <a:avLst/>
              <a:gdLst/>
              <a:ahLst/>
              <a:cxnLst/>
              <a:rect l="l" t="t" r="r" b="b"/>
              <a:pathLst>
                <a:path w="1027748" h="416242">
                  <a:moveTo>
                    <a:pt x="0" y="0"/>
                  </a:moveTo>
                  <a:lnTo>
                    <a:pt x="1027748" y="4162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70810" y="3594735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0010"/>
                  </a:moveTo>
                  <a:lnTo>
                    <a:pt x="0" y="87630"/>
                  </a:lnTo>
                  <a:lnTo>
                    <a:pt x="3619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49742" y="4829175"/>
              <a:ext cx="939165" cy="380047"/>
            </a:xfrm>
            <a:custGeom>
              <a:avLst/>
              <a:gdLst/>
              <a:ahLst/>
              <a:cxnLst/>
              <a:rect l="l" t="t" r="r" b="b"/>
              <a:pathLst>
                <a:path w="939165" h="380047">
                  <a:moveTo>
                    <a:pt x="0" y="380047"/>
                  </a:moveTo>
                  <a:lnTo>
                    <a:pt x="93916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670810" y="4784408"/>
              <a:ext cx="106680" cy="88583"/>
            </a:xfrm>
            <a:custGeom>
              <a:avLst/>
              <a:gdLst/>
              <a:ahLst/>
              <a:cxnLst/>
              <a:rect l="l" t="t" r="r" b="b"/>
              <a:pathLst>
                <a:path w="106680" h="88583">
                  <a:moveTo>
                    <a:pt x="106680" y="8572"/>
                  </a:moveTo>
                  <a:lnTo>
                    <a:pt x="36195" y="88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661160" y="5165408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0" y="79058"/>
                  </a:moveTo>
                  <a:lnTo>
                    <a:pt x="70485" y="0"/>
                  </a:lnTo>
                  <a:lnTo>
                    <a:pt x="106680" y="8763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777490" y="2328862"/>
              <a:ext cx="2762250" cy="3810000"/>
            </a:xfrm>
            <a:prstGeom prst="roundRect">
              <a:avLst>
                <a:gd name="adj" fmla="val 344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015615" y="2438400"/>
              <a:ext cx="2286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015615" y="3261360"/>
              <a:ext cx="2286000" cy="300038"/>
            </a:xfrm>
            <a:prstGeom prst="roundRect">
              <a:avLst>
                <a:gd name="adj" fmla="val 3174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015615" y="4083368"/>
              <a:ext cx="2286000" cy="300038"/>
            </a:xfrm>
            <a:prstGeom prst="roundRect">
              <a:avLst>
                <a:gd name="adj" fmla="val 3174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015615" y="4906328"/>
              <a:ext cx="2286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015615" y="5729288"/>
              <a:ext cx="2286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3888" y="2922270"/>
              <a:ext cx="1333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3888" y="5244465"/>
              <a:ext cx="1333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51351" y="25188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共享变量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90623" y="3340894"/>
              <a:ext cx="1335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条件 c1 的等待队列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90623" y="4163854"/>
              <a:ext cx="1335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条件 c2 的等待队列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25755" y="4985861"/>
              <a:ext cx="1065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 1 … 操作 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75964" y="580882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初始化代码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2599" y="30027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入口等待队列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2599" y="532495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紧急等待队列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952625" y="336232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972246" y="339471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申请进入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832610" y="4932998"/>
              <a:ext cx="77343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845031" y="4965382"/>
              <a:ext cx="7485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signal 者进出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22092" y="164449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管程：任一时刻只有一个活动进程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0682" y="5966936"/>
              <a:ext cx="1752346" cy="3583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紧急队列中的进程优先于入口队</a:t>
              </a:r>
              <a:br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列进入管程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240780" y="1548765"/>
            <a:ext cx="5417820" cy="1861185"/>
            <a:chOff x="6240780" y="1548765"/>
            <a:chExt cx="5417820" cy="1861185"/>
          </a:xfrm>
        </p:grpSpPr>
        <p:sp>
          <p:nvSpPr>
            <p:cNvPr id="34" name="TextBox 34"/>
            <p:cNvSpPr txBox="1"/>
            <p:nvPr/>
          </p:nvSpPr>
          <p:spPr>
            <a:xfrm>
              <a:off x="6240780" y="1548765"/>
              <a:ext cx="8209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wait(c)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15212" y="1548765"/>
              <a:ext cx="404431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条件不满足时执行：本进程进入 c 的等待队列；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紧急等待队列有进程就唤醒其中一个，否则唤醒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入口等待队列中的一个，并释放管程使用权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24326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240780" y="2552700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signal(c)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15212" y="2552700"/>
              <a:ext cx="4015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条件发生时执行：唤醒 c 等待队列中的一个进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程。这时管程里有两个活动进程，必须有一个让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</a:t>
              </a:r>
            </a:p>
          </p:txBody>
        </p:sp>
      </p:grpSp>
      <p:grpSp>
        <p:nvGrpSpPr>
          <p:cNvPr id="55" name="c2-table-2"/>
          <p:cNvGrpSpPr/>
          <p:nvPr/>
        </p:nvGrpSpPr>
        <p:grpSpPr>
          <a:xfrm>
            <a:off x="6248400" y="3541395"/>
            <a:ext cx="5410200" cy="1800225"/>
            <a:chOff x="6248400" y="3541395"/>
            <a:chExt cx="5410200" cy="1800225"/>
          </a:xfrm>
        </p:grpSpPr>
        <p:sp>
          <p:nvSpPr>
            <p:cNvPr id="40" name="Rectangle 40"/>
            <p:cNvSpPr/>
            <p:nvPr/>
          </p:nvSpPr>
          <p:spPr>
            <a:xfrm>
              <a:off x="6248400" y="3541395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0629" y="367712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18552" y="367712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被唤醒的进程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61209" y="3677126"/>
              <a:ext cx="14896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 signal 的进程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6223" y="4239101"/>
              <a:ext cx="516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Hoare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38263" y="423910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立即继续执行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061323" y="4125754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进入紧急等待队列，被唤醒后继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续执行管程内其余代码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46605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4665345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56223" y="4914424"/>
              <a:ext cx="6156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Hansen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38263" y="49144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继续执行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61323" y="4801076"/>
              <a:ext cx="23050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离开管程（signal 是管程过程的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最后一条语句）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3541395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25678" y="354139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948738" y="354139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llout-3"/>
          <p:cNvGrpSpPr/>
          <p:nvPr/>
        </p:nvGrpSpPr>
        <p:grpSpPr>
          <a:xfrm>
            <a:off x="6248400" y="5532120"/>
            <a:ext cx="5410200" cy="782955"/>
            <a:chOff x="6248400" y="5532120"/>
            <a:chExt cx="5410200" cy="782955"/>
          </a:xfrm>
        </p:grpSpPr>
        <p:sp>
          <p:nvSpPr>
            <p:cNvPr id="56" name="Rectangle 56"/>
            <p:cNvSpPr/>
            <p:nvPr/>
          </p:nvSpPr>
          <p:spPr>
            <a:xfrm>
              <a:off x="6248400" y="553212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453188" y="5823585"/>
              <a:ext cx="200026" cy="200026"/>
              <a:chOff x="6453188" y="5823585"/>
              <a:chExt cx="200026" cy="200026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53188" y="58235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53200" y="58902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542088" y="59235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755130" y="568071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入口、紧急两个等待队列定义管程时就自动存在；条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件等待队列有几个条件变量就有几个。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46905" cy="909257"/>
            <a:chOff x="520446" y="342900"/>
            <a:chExt cx="90469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469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15：Hoare 管程执行 signal 后，唤醒者进入紧急队列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760595" cy="4720590"/>
            <a:chOff x="533400" y="1524000"/>
            <a:chExt cx="4760595" cy="47205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720590"/>
            </a:xfrm>
            <a:prstGeom prst="roundRect">
              <a:avLst>
                <a:gd name="adj" fmla="val 282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135247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Hoare 管程中，设入口等待队列 EQ 中有 P0、紧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急等待队列 UQ 中有 P1、条件变量 C 的等待队列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CQ 中有 P2，P3 拥有该管程的互斥权。当依次发生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申请该管程互斥权、P3 执行 signal(C) 后，各队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列中的进程和运行进程是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3486626"/>
              <a:ext cx="39769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EQ：P0；UQ：P4；CQ：P2、P3；P1 运行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3803809"/>
              <a:ext cx="39769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EQ：P0、P4；UQ：P1；CQ：P3；P2 运行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4281" y="4121944"/>
              <a:ext cx="42286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EQ：P0、P4；UQ：P2、P3；CQ 空；P1 运行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4281" y="4440079"/>
              <a:ext cx="42286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EQ：P0、P4；UQ：P1、P3；CQ 空；P2 运行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5598795" y="1524000"/>
            <a:ext cx="6059805" cy="1853565"/>
            <a:chOff x="5598795" y="1524000"/>
            <a:chExt cx="6059805" cy="1853565"/>
          </a:xfrm>
        </p:grpSpPr>
        <p:sp>
          <p:nvSpPr>
            <p:cNvPr id="16" name="Rectangle 16"/>
            <p:cNvSpPr/>
            <p:nvPr/>
          </p:nvSpPr>
          <p:spPr>
            <a:xfrm>
              <a:off x="5598795" y="1524000"/>
              <a:ext cx="6059805" cy="4629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10033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16857" y="1655921"/>
              <a:ext cx="2901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EQ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908422" y="1655921"/>
              <a:ext cx="2901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UQ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77114" y="1655921"/>
              <a:ext cx="2901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CQ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54411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00141" y="211978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3619" y="2119789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35184" y="2119789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03877" y="2119789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934482" y="2119789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598795" y="244602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598795" y="2450782"/>
              <a:ext cx="605980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700141" y="2582704"/>
              <a:ext cx="1076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申请进入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46688" y="2582704"/>
              <a:ext cx="6305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P0, P4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35184" y="2582704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03877" y="2582704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934482" y="2582704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598795" y="29089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700141" y="3045619"/>
              <a:ext cx="16548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执行 signal(C)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46688" y="3045619"/>
              <a:ext cx="6305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P0, P4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517255" y="2923222"/>
              <a:ext cx="1071562" cy="4438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38253" y="3045619"/>
              <a:ext cx="6305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P1, P3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919386" y="3045619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0456545" y="2923222"/>
              <a:ext cx="1192530" cy="4438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934482" y="3045619"/>
              <a:ext cx="23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1524000"/>
              <a:ext cx="6059805" cy="1853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412355" y="1524000"/>
              <a:ext cx="9525" cy="1853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502968" y="1524000"/>
              <a:ext cx="9525" cy="1853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593580" y="1524000"/>
              <a:ext cx="9525" cy="1853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442258" y="1524000"/>
              <a:ext cx="9525" cy="1853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steps-2"/>
          <p:cNvGrpSpPr/>
          <p:nvPr/>
        </p:nvGrpSpPr>
        <p:grpSpPr>
          <a:xfrm>
            <a:off x="5598795" y="3567112"/>
            <a:ext cx="5675376" cy="2002536"/>
            <a:chOff x="5598795" y="3567112"/>
            <a:chExt cx="5675376" cy="2002536"/>
          </a:xfrm>
        </p:grpSpPr>
        <p:sp>
          <p:nvSpPr>
            <p:cNvPr id="48" name="Rectangle 48"/>
            <p:cNvSpPr/>
            <p:nvPr/>
          </p:nvSpPr>
          <p:spPr>
            <a:xfrm>
              <a:off x="5732145" y="3709988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5598795" y="35671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692419" y="36409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5598795" y="41833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2419" y="4257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598795" y="50215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92419" y="50953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010656" y="3599974"/>
              <a:ext cx="6937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申请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11799" y="3880485"/>
              <a:ext cx="3450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管程被 P3 占用，P4 排到入口等待队列 EQ 队尾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010656" y="4217194"/>
              <a:ext cx="16548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执行 signal(C)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011799" y="4497705"/>
              <a:ext cx="52623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唤醒 CQ 中的 P2。Hoare 管程让被唤醒的 P2 立即运行，P3 排到紧急等待队列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UQ 队尾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10656" y="505444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对照选项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011799" y="5334952"/>
              <a:ext cx="3700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EQ 为 P0、P4，UQ 为 P1、P3，CQ 为空，P2 运行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5598795" y="5740718"/>
            <a:ext cx="6059805" cy="503872"/>
            <a:chOff x="5598795" y="5740718"/>
            <a:chExt cx="6059805" cy="503872"/>
          </a:xfrm>
        </p:grpSpPr>
        <p:sp>
          <p:nvSpPr>
            <p:cNvPr id="62" name="Rectangle 62"/>
            <p:cNvSpPr/>
            <p:nvPr/>
          </p:nvSpPr>
          <p:spPr>
            <a:xfrm>
              <a:off x="5598795" y="5740718"/>
              <a:ext cx="605980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5803583" y="5893118"/>
              <a:ext cx="200026" cy="200026"/>
              <a:chOff x="5803583" y="5893118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803583" y="58931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5870258" y="597090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105906" y="5893594"/>
              <a:ext cx="5684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60322" cy="909257"/>
            <a:chOff x="520446" y="342900"/>
            <a:chExt cx="84603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603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16：6 台打印机，最多 5 个进程竞争才一定不死锁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1840230"/>
            <a:chOff x="533400" y="1524000"/>
            <a:chExt cx="5193982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16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57708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某计算机系统中有 6 台打印机，多个进程均最多需要 2 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打印机，规定每个进程一次仅允许申请一台。为保证一定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不发生死锁，允许参与打印机资源竞争的最大进程数是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943701"/>
              <a:ext cx="2163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3　B. 4　C. 5　D. 6</a:t>
              </a:r>
            </a:p>
          </p:txBody>
        </p:sp>
      </p:grpSp>
      <p:grpSp>
        <p:nvGrpSpPr>
          <p:cNvPr id="26" name="c1-steps-2"/>
          <p:cNvGrpSpPr/>
          <p:nvPr/>
        </p:nvGrpSpPr>
        <p:grpSpPr>
          <a:xfrm>
            <a:off x="533400" y="3553778"/>
            <a:ext cx="5246370" cy="1782508"/>
            <a:chOff x="533400" y="3553778"/>
            <a:chExt cx="5246370" cy="1782508"/>
          </a:xfrm>
        </p:grpSpPr>
        <p:sp>
          <p:nvSpPr>
            <p:cNvPr id="13" name="Rectangle 13"/>
            <p:cNvSpPr/>
            <p:nvPr/>
          </p:nvSpPr>
          <p:spPr>
            <a:xfrm>
              <a:off x="666750" y="3696652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55377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627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1709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244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787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861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58663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867150"/>
              <a:ext cx="33904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6，N 个进程每个要 2 台，需求总量 Σ = 2N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420385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列不等式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4484370"/>
              <a:ext cx="2621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&lt; M + N，即 2N &lt; 6 + N，得 N &lt; 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482107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验证边界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5101590"/>
              <a:ext cx="48333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6 时每个进程各拿到 1 台，6 台分完，全部在等第 2 台，会死锁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5507355"/>
            <a:ext cx="5193982" cy="503872"/>
            <a:chOff x="533400" y="5507355"/>
            <a:chExt cx="5193982" cy="503872"/>
          </a:xfrm>
        </p:grpSpPr>
        <p:sp>
          <p:nvSpPr>
            <p:cNvPr id="27" name="Rectangle 27"/>
            <p:cNvSpPr/>
            <p:nvPr/>
          </p:nvSpPr>
          <p:spPr>
            <a:xfrm>
              <a:off x="533400" y="5507355"/>
              <a:ext cx="5193982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658803"/>
              <a:ext cx="200026" cy="200026"/>
              <a:chOff x="738188" y="5658803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6588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04863" y="573659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5659279"/>
              <a:ext cx="19352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C：最多 5 个进程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032182" y="1524000"/>
            <a:ext cx="5626418" cy="2475548"/>
            <a:chOff x="6032182" y="1524000"/>
            <a:chExt cx="5626418" cy="2475548"/>
          </a:xfrm>
        </p:grpSpPr>
        <p:sp>
          <p:nvSpPr>
            <p:cNvPr id="33" name="Rectangle 33"/>
            <p:cNvSpPr/>
            <p:nvPr/>
          </p:nvSpPr>
          <p:spPr>
            <a:xfrm>
              <a:off x="6032182" y="1524000"/>
              <a:ext cx="5626418" cy="2475548"/>
            </a:xfrm>
            <a:prstGeom prst="roundRect">
              <a:avLst>
                <a:gd name="adj" fmla="val 53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41708" y="1657350"/>
              <a:ext cx="47625" cy="220884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68402" y="1722120"/>
              <a:ext cx="19431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15837" y="175641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同种组合资源死锁的必要条件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61164" y="2082641"/>
              <a:ext cx="483857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为资源数，N 为使用该资源的进程数，Σ 为所有进程的需求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总量。设有 n 个进程参与死锁（2 ≤ n ≤ N）：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276022" y="27317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32614" y="2672239"/>
              <a:ext cx="479348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参与死锁的进程占满 M 个资源，且每个至少还差 1 个，需求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≥ M + n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276022" y="332136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32614" y="3260884"/>
              <a:ext cx="50949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未参与死锁的 N − n 个进程每个至少需要 1 个，需求 ≥ N − n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276022" y="363950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32614" y="3579019"/>
              <a:ext cx="12956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 Σ ≥ M + N</a:t>
              </a:r>
            </a:p>
          </p:txBody>
        </p:sp>
      </p:grpSp>
      <p:grpSp>
        <p:nvGrpSpPr>
          <p:cNvPr id="56" name="c2-table-2"/>
          <p:cNvGrpSpPr/>
          <p:nvPr/>
        </p:nvGrpSpPr>
        <p:grpSpPr>
          <a:xfrm>
            <a:off x="6032182" y="4179570"/>
            <a:ext cx="5626418" cy="1389698"/>
            <a:chOff x="6032182" y="4179570"/>
            <a:chExt cx="5626418" cy="1389698"/>
          </a:xfrm>
        </p:grpSpPr>
        <p:sp>
          <p:nvSpPr>
            <p:cNvPr id="45" name="Rectangle 45"/>
            <p:cNvSpPr/>
            <p:nvPr/>
          </p:nvSpPr>
          <p:spPr>
            <a:xfrm>
              <a:off x="6032182" y="4179570"/>
              <a:ext cx="5626418" cy="4629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42735" y="431244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需求总量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547581" y="431244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133529" y="4775359"/>
              <a:ext cx="8946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&lt; M + N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33754" y="477535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一定没有死锁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51015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32182" y="5106352"/>
              <a:ext cx="5626418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33529" y="5238274"/>
              <a:ext cx="8946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≥ M + 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33754" y="5238274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至少有一种交叉执行顺序会死锁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32182" y="4179570"/>
              <a:ext cx="5626418" cy="138969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27645" y="4179570"/>
              <a:ext cx="9525" cy="1389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79203" cy="909257"/>
            <a:chOff x="520446" y="342900"/>
            <a:chExt cx="84792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792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17、22：分区管理代价最小；段式地址的段内位数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568768"/>
            <a:chOff x="533400" y="1524000"/>
            <a:chExt cx="5410200" cy="15687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操作系统为实现多道程序并发，对内存管理可以采用多种方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式，其中代价最小的是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9687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分区管理　B. 分页管理　C. 分段管理　D. 段页式管理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33400" y="3272790"/>
            <a:ext cx="5410200" cy="2123123"/>
            <a:chOff x="533400" y="3272790"/>
            <a:chExt cx="5410200" cy="2123123"/>
          </a:xfrm>
        </p:grpSpPr>
        <p:sp>
          <p:nvSpPr>
            <p:cNvPr id="13" name="Rectangle 13"/>
            <p:cNvSpPr/>
            <p:nvPr/>
          </p:nvSpPr>
          <p:spPr>
            <a:xfrm>
              <a:off x="533400" y="3272790"/>
              <a:ext cx="5410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80491" y="340137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管理方式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78368" y="340137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045648" y="340137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额外开销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5889" y="382619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分区（界地址）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88439" y="382619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08554" y="3826192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只要界地址寄存器，没有页表、段表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1167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412146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889" y="42500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88439" y="42500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08554" y="4250055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每个进程一张页表，地址变换要查表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5415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889" y="46748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988439" y="46748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08554" y="467487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每个进程一张段表，查表并检查段长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9663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97109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889" y="509873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88439" y="509873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08554" y="509873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一张段表加多张页表，变换最复杂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272790"/>
              <a:ext cx="541020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881188" y="327279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2801302" y="327279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allout-3"/>
          <p:cNvGrpSpPr/>
          <p:nvPr/>
        </p:nvGrpSpPr>
        <p:grpSpPr>
          <a:xfrm>
            <a:off x="533400" y="5574982"/>
            <a:ext cx="5410200" cy="503872"/>
            <a:chOff x="533400" y="5574982"/>
            <a:chExt cx="5410200" cy="503872"/>
          </a:xfrm>
        </p:grpSpPr>
        <p:sp>
          <p:nvSpPr>
            <p:cNvPr id="38" name="Rectangle 38"/>
            <p:cNvSpPr/>
            <p:nvPr/>
          </p:nvSpPr>
          <p:spPr>
            <a:xfrm>
              <a:off x="533400" y="5574982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727383"/>
              <a:ext cx="200026" cy="200026"/>
              <a:chOff x="738188" y="572738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7273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04863" y="580517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511" y="5727859"/>
              <a:ext cx="40093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A：不用额外保存表格，地址变换也最简单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6248400" y="1524000"/>
            <a:ext cx="5410200" cy="1568768"/>
            <a:chOff x="6248400" y="1524000"/>
            <a:chExt cx="5410200" cy="1568768"/>
          </a:xfrm>
        </p:grpSpPr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46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32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39281" y="2082641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采用段式存储管理的系统中，若地址用 24 位表示，其中 8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位表示段号，则允许程序每个逻辑段的最大相对地址是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39281" y="2672239"/>
              <a:ext cx="34964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2²⁴　B. 2²⁴−1　C. 2¹⁶　D. 2¹⁶−1</a:t>
              </a:r>
            </a:p>
          </p:txBody>
        </p:sp>
      </p:grpSp>
      <p:grpSp>
        <p:nvGrpSpPr>
          <p:cNvPr id="55" name="c2-cells-2"/>
          <p:cNvGrpSpPr/>
          <p:nvPr/>
        </p:nvGrpSpPr>
        <p:grpSpPr>
          <a:xfrm>
            <a:off x="6242304" y="3272790"/>
            <a:ext cx="3825622" cy="394335"/>
            <a:chOff x="6242304" y="3272790"/>
            <a:chExt cx="3825622" cy="394335"/>
          </a:xfrm>
        </p:grpSpPr>
        <p:sp>
          <p:nvSpPr>
            <p:cNvPr id="50" name="TextBox 50"/>
            <p:cNvSpPr txBox="1"/>
            <p:nvPr/>
          </p:nvSpPr>
          <p:spPr>
            <a:xfrm>
              <a:off x="6242304" y="33956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991350" y="3272790"/>
              <a:ext cx="153828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78925" y="3395662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段号（8 位）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529638" y="3272790"/>
              <a:ext cx="153828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609023" y="3395662"/>
              <a:ext cx="13804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段内地址（16 位）</a:t>
              </a:r>
            </a:p>
          </p:txBody>
        </p:sp>
      </p:grpSp>
      <p:grpSp>
        <p:nvGrpSpPr>
          <p:cNvPr id="65" name="c2-steps-3"/>
          <p:cNvGrpSpPr/>
          <p:nvPr/>
        </p:nvGrpSpPr>
        <p:grpSpPr>
          <a:xfrm>
            <a:off x="6248400" y="3856672"/>
            <a:ext cx="4455719" cy="1165289"/>
            <a:chOff x="6248400" y="3856672"/>
            <a:chExt cx="4455719" cy="1165289"/>
          </a:xfrm>
        </p:grpSpPr>
        <p:sp>
          <p:nvSpPr>
            <p:cNvPr id="56" name="Rectangle 56"/>
            <p:cNvSpPr/>
            <p:nvPr/>
          </p:nvSpPr>
          <p:spPr>
            <a:xfrm>
              <a:off x="6381750" y="3999548"/>
              <a:ext cx="19050" cy="6172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6248400" y="385667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42024" y="39304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248400" y="44738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2024" y="4547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60261" y="388953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段内地址位数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661404" y="4170045"/>
              <a:ext cx="10379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24 − 8 = 16 位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660261" y="450675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最大相对地址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661404" y="4787265"/>
              <a:ext cx="4042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段内地址从 0 编到 2¹⁶ − 1 = 65535，每段最长 2¹⁶ 字节</a:t>
              </a:r>
            </a:p>
          </p:txBody>
        </p:sp>
      </p:grpSp>
      <p:grpSp>
        <p:nvGrpSpPr>
          <p:cNvPr id="71" name="c2-callout-4"/>
          <p:cNvGrpSpPr/>
          <p:nvPr/>
        </p:nvGrpSpPr>
        <p:grpSpPr>
          <a:xfrm>
            <a:off x="6248400" y="5193030"/>
            <a:ext cx="5410200" cy="503872"/>
            <a:chOff x="6248400" y="5193030"/>
            <a:chExt cx="5410200" cy="503872"/>
          </a:xfrm>
        </p:grpSpPr>
        <p:sp>
          <p:nvSpPr>
            <p:cNvPr id="66" name="Rectangle 66"/>
            <p:cNvSpPr/>
            <p:nvPr/>
          </p:nvSpPr>
          <p:spPr>
            <a:xfrm>
              <a:off x="6248400" y="5193030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6453188" y="5344478"/>
              <a:ext cx="200026" cy="200026"/>
              <a:chOff x="6453188" y="534447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6453188" y="53444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6519863" y="542226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6755511" y="5344954"/>
              <a:ext cx="5684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142399" cy="909257"/>
            <a:chOff x="520446" y="342900"/>
            <a:chExt cx="101423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1423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18：页表项在程序运行时把页号换成页框号，属于动态重定位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986915"/>
            <a:chOff x="533400" y="1524000"/>
            <a:chExt cx="4977765" cy="1986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986915"/>
            </a:xfrm>
            <a:prstGeom prst="roundRect">
              <a:avLst>
                <a:gd name="adj" fmla="val 671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在页式存储管理中，每个页表的表项实际上是用于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30358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访问内存单元　B. 静态重定位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3067050"/>
              <a:ext cx="26319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动态重定位　D. 装载程序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3701415"/>
            <a:ext cx="4977765" cy="533400"/>
            <a:chOff x="533400" y="3701415"/>
            <a:chExt cx="4977765" cy="533400"/>
          </a:xfrm>
        </p:grpSpPr>
        <p:sp>
          <p:nvSpPr>
            <p:cNvPr id="14" name="Rectangle 14"/>
            <p:cNvSpPr/>
            <p:nvPr/>
          </p:nvSpPr>
          <p:spPr>
            <a:xfrm>
              <a:off x="533400" y="3701415"/>
              <a:ext cx="4977765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3868103"/>
              <a:ext cx="200026" cy="200026"/>
              <a:chOff x="738188" y="3868103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38681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394589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3863340"/>
              <a:ext cx="18120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C：动态重定位</a:t>
              </a:r>
            </a:p>
          </p:txBody>
        </p:sp>
      </p:grpSp>
      <p:grpSp>
        <p:nvGrpSpPr>
          <p:cNvPr id="25" name="c1-card-3"/>
          <p:cNvGrpSpPr/>
          <p:nvPr/>
        </p:nvGrpSpPr>
        <p:grpSpPr>
          <a:xfrm>
            <a:off x="533400" y="4425315"/>
            <a:ext cx="4977765" cy="1887855"/>
            <a:chOff x="533400" y="4425315"/>
            <a:chExt cx="4977765" cy="1887855"/>
          </a:xfrm>
        </p:grpSpPr>
        <p:sp>
          <p:nvSpPr>
            <p:cNvPr id="20" name="Rectangle 20"/>
            <p:cNvSpPr/>
            <p:nvPr/>
          </p:nvSpPr>
          <p:spPr>
            <a:xfrm>
              <a:off x="533400" y="4425315"/>
              <a:ext cx="497776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558665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81050" y="46348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71258" y="46705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3430" y="5012055"/>
              <a:ext cx="43110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原课件答案为 A。页表项记录逻辑页号与页框号的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对应，地址变换机构在程序执行、每次访问地址时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查用它，正符合课件对动态重定位的定义；“访问内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存单元”是地址变换完成以后的事。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5810250" y="1524000"/>
            <a:ext cx="5848350" cy="2539842"/>
            <a:chOff x="5810250" y="1524000"/>
            <a:chExt cx="5848350" cy="2539842"/>
          </a:xfrm>
        </p:grpSpPr>
        <p:sp>
          <p:nvSpPr>
            <p:cNvPr id="26" name="Rectangle 26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96600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73475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页框号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60872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7173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815965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815965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260872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37173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815965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60872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137173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33147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815965" y="331946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60872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37173" y="345424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815965" y="1524000"/>
              <a:ext cx="584263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81348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10250" y="3843814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页表每个进程一张；页框号是物理地址的高位部分，与页内地址拼成物理地址</a:t>
              </a:r>
            </a:p>
          </p:txBody>
        </p:sp>
      </p:grpSp>
      <p:grpSp>
        <p:nvGrpSpPr>
          <p:cNvPr id="54" name="c2-kv-2"/>
          <p:cNvGrpSpPr/>
          <p:nvPr/>
        </p:nvGrpSpPr>
        <p:grpSpPr>
          <a:xfrm>
            <a:off x="5808345" y="4234815"/>
            <a:ext cx="5850255" cy="1737360"/>
            <a:chOff x="5808345" y="4234815"/>
            <a:chExt cx="5850255" cy="1737360"/>
          </a:xfrm>
        </p:grpSpPr>
        <p:sp>
          <p:nvSpPr>
            <p:cNvPr id="46" name="TextBox 46"/>
            <p:cNvSpPr txBox="1"/>
            <p:nvPr/>
          </p:nvSpPr>
          <p:spPr>
            <a:xfrm>
              <a:off x="5808345" y="4234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重定位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47548" y="4234815"/>
              <a:ext cx="4396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被换出的进程再次装入时位置通常与换出前不同，程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序编址必须与存放位置无关，这种程序称为可重定位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511873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808345" y="523875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静态重定位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47548" y="523875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在进程运行前，编译或装入时进行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815965" y="55587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808345" y="567880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动态重定位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47548" y="567880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在进程运行时进行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99390" cy="909257"/>
            <a:chOff x="520446" y="342900"/>
            <a:chExt cx="83993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993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19：位示图中页框 380 在 bitmap[47] 的第 4 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785938"/>
            <a:chOff x="533400" y="1524000"/>
            <a:chExt cx="4977765" cy="1785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785938"/>
            </a:xfrm>
            <a:prstGeom prst="roundRect">
              <a:avLst>
                <a:gd name="adj" fmla="val 74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7235" y="1743551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19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39742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某系统用位示图管理内存，位示图定义为 </a:t>
              </a:r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char</a:t>
              </a:r>
              <a:br/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bitmap[400]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。页框号为 380 对应 bitmap 的位置是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4323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bitmap[46] 的第 3 位　B. bitmap[46] 的第 4 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912745"/>
              <a:ext cx="4323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bitmap[47] 的第 3 位　D. bitmap[47] 的第 4 位</a:t>
              </a:r>
            </a:p>
          </p:txBody>
        </p:sp>
      </p:grpSp>
      <p:grpSp>
        <p:nvGrpSpPr>
          <p:cNvPr id="23" name="c1-steps-2"/>
          <p:cNvGrpSpPr/>
          <p:nvPr/>
        </p:nvGrpSpPr>
        <p:grpSpPr>
          <a:xfrm>
            <a:off x="533400" y="3489960"/>
            <a:ext cx="3802162" cy="1101567"/>
            <a:chOff x="533400" y="3489960"/>
            <a:chExt cx="3802162" cy="1101567"/>
          </a:xfrm>
        </p:grpSpPr>
        <p:sp>
          <p:nvSpPr>
            <p:cNvPr id="14" name="Rectangle 14"/>
            <p:cNvSpPr/>
            <p:nvPr/>
          </p:nvSpPr>
          <p:spPr>
            <a:xfrm>
              <a:off x="666750" y="3632835"/>
              <a:ext cx="19050" cy="5829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348996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35637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40728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41467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642" y="3521392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每字节 8 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785" y="3788569"/>
              <a:ext cx="33887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 × 8 = 3200 位，每位描述一个页框，位号 0～7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642" y="410432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做除法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4371499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380 ÷ 8 = 47 余 4：字节下标 47，位号 4</a:t>
              </a:r>
            </a:p>
          </p:txBody>
        </p:sp>
      </p:grpSp>
      <p:grpSp>
        <p:nvGrpSpPr>
          <p:cNvPr id="29" name="c1-callout-3"/>
          <p:cNvGrpSpPr/>
          <p:nvPr/>
        </p:nvGrpSpPr>
        <p:grpSpPr>
          <a:xfrm>
            <a:off x="533400" y="4755832"/>
            <a:ext cx="4977765" cy="481012"/>
            <a:chOff x="533400" y="4755832"/>
            <a:chExt cx="4977765" cy="481012"/>
          </a:xfrm>
        </p:grpSpPr>
        <p:sp>
          <p:nvSpPr>
            <p:cNvPr id="24" name="Rectangle 24"/>
            <p:cNvSpPr/>
            <p:nvPr/>
          </p:nvSpPr>
          <p:spPr>
            <a:xfrm>
              <a:off x="533400" y="4755832"/>
              <a:ext cx="4977765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4895850"/>
              <a:ext cx="200026" cy="200026"/>
              <a:chOff x="738188" y="4895850"/>
              <a:chExt cx="200026" cy="2000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8958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04863" y="497363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4901565"/>
              <a:ext cx="25213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D：bitmap[47] 的第 4 位</a:t>
              </a:r>
            </a:p>
          </p:txBody>
        </p:sp>
      </p:grpSp>
      <p:grpSp>
        <p:nvGrpSpPr>
          <p:cNvPr id="82" name="c2-cells-1"/>
          <p:cNvGrpSpPr/>
          <p:nvPr/>
        </p:nvGrpSpPr>
        <p:grpSpPr>
          <a:xfrm>
            <a:off x="5810250" y="1524000"/>
            <a:ext cx="4905376" cy="1580674"/>
            <a:chOff x="5810250" y="1524000"/>
            <a:chExt cx="4905376" cy="1580674"/>
          </a:xfrm>
        </p:grpSpPr>
        <p:sp>
          <p:nvSpPr>
            <p:cNvPr id="30" name="TextBox 30"/>
            <p:cNvSpPr txBox="1"/>
            <p:nvPr/>
          </p:nvSpPr>
          <p:spPr>
            <a:xfrm>
              <a:off x="5810250" y="1638776"/>
              <a:ext cx="874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bitmap[46]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62750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74077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368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257098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367472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369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751445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861819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244840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56167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739188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849562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233535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343909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373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26930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38257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0221278" y="1524000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332604" y="163877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7528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6867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63023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45737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95076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45113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939461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4338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810250" y="2634139"/>
              <a:ext cx="874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bitmap[47]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762750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874077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376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257098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367472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377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751445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861819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378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244840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56167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739188" y="2520315"/>
              <a:ext cx="494348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849562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380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233535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343909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381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726930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838257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10221278" y="2520315"/>
              <a:ext cx="49434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0332604" y="26341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975281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468676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963023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457371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950766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445113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939461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433808" y="294274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735929" y="2270760"/>
              <a:ext cx="4999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页框 380</a:t>
              </a:r>
            </a:p>
          </p:txBody>
        </p:sp>
        <p:sp>
          <p:nvSpPr>
            <p:cNvPr id="81" name="Freeform 81"/>
            <p:cNvSpPr/>
            <p:nvPr/>
          </p:nvSpPr>
          <p:spPr>
            <a:xfrm>
              <a:off x="8947785" y="24250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91" name="c2-card-2"/>
          <p:cNvGrpSpPr/>
          <p:nvPr/>
        </p:nvGrpSpPr>
        <p:grpSpPr>
          <a:xfrm>
            <a:off x="5815965" y="3239452"/>
            <a:ext cx="5842635" cy="1485900"/>
            <a:chOff x="5815965" y="3239452"/>
            <a:chExt cx="5842635" cy="1485900"/>
          </a:xfrm>
        </p:grpSpPr>
        <p:sp>
          <p:nvSpPr>
            <p:cNvPr id="83" name="Rectangle 83"/>
            <p:cNvSpPr/>
            <p:nvPr/>
          </p:nvSpPr>
          <p:spPr>
            <a:xfrm>
              <a:off x="5815965" y="3239452"/>
              <a:ext cx="5842635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5825490" y="3372802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6040755" y="3426142"/>
              <a:ext cx="129540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107803" y="3459004"/>
              <a:ext cx="11613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位示图（bit map）</a:t>
              </a:r>
            </a:p>
          </p:txBody>
        </p:sp>
        <p:sp>
          <p:nvSpPr>
            <p:cNvPr id="87" name="Ellipse 87"/>
            <p:cNvSpPr/>
            <p:nvPr/>
          </p:nvSpPr>
          <p:spPr>
            <a:xfrm>
              <a:off x="6049328" y="382714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205347" y="3770948"/>
              <a:ext cx="35939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一位代表一个页框：0 表示空闲，1 表示占用</a:t>
              </a:r>
            </a:p>
          </p:txBody>
        </p:sp>
        <p:sp>
          <p:nvSpPr>
            <p:cNvPr id="89" name="Ellipse 89"/>
            <p:cNvSpPr/>
            <p:nvPr/>
          </p:nvSpPr>
          <p:spPr>
            <a:xfrm>
              <a:off x="6049328" y="412718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205347" y="407098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分配：从头找第一个为 0 的位，改为 1，返回页号；去配：把对应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 0</a:t>
              </a:r>
            </a:p>
          </p:txBody>
        </p:sp>
      </p:grpSp>
      <p:grpSp>
        <p:nvGrpSpPr>
          <p:cNvPr id="97" name="c2-card-3"/>
          <p:cNvGrpSpPr/>
          <p:nvPr/>
        </p:nvGrpSpPr>
        <p:grpSpPr>
          <a:xfrm>
            <a:off x="5815965" y="4895850"/>
            <a:ext cx="5842635" cy="1443038"/>
            <a:chOff x="5815965" y="4895850"/>
            <a:chExt cx="5842635" cy="1443038"/>
          </a:xfrm>
        </p:grpSpPr>
        <p:sp>
          <p:nvSpPr>
            <p:cNvPr id="92" name="Rectangle 92"/>
            <p:cNvSpPr/>
            <p:nvPr/>
          </p:nvSpPr>
          <p:spPr>
            <a:xfrm>
              <a:off x="5815965" y="4895850"/>
              <a:ext cx="584263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5825490" y="502920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6040755" y="50825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132474" y="51154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033897" y="5426392"/>
              <a:ext cx="52086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原课件答案为 C，而同页备注算出的是 380/8 = 47 余 4。课件的位示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图从“第 0 页”编号，位号也从 0 起，应选 D；页框从 1 编号时 380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号才落在第 3 位。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9432" cy="909257"/>
            <a:chOff x="520446" y="342900"/>
            <a:chExt cx="77394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94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21：下次适应算法让空闲区在地址上分布均匀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3895725" cy="1886902"/>
            <a:chOff x="533400" y="1524000"/>
            <a:chExt cx="3895725" cy="18869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895725" cy="1886902"/>
            </a:xfrm>
            <a:prstGeom prst="roundRect">
              <a:avLst>
                <a:gd name="adj" fmla="val 70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在动态异长分区的存储分配算法中，能保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证空闲区按地址均匀分布的分配算法是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32126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First Fit 算法　B. Next Fit 算法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989421"/>
              <a:ext cx="33002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Best Fit 算法　D. Worst Fit 算法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3590925"/>
            <a:ext cx="3895725" cy="503872"/>
            <a:chOff x="533400" y="3590925"/>
            <a:chExt cx="3895725" cy="503872"/>
          </a:xfrm>
        </p:grpSpPr>
        <p:sp>
          <p:nvSpPr>
            <p:cNvPr id="14" name="Rectangle 14"/>
            <p:cNvSpPr/>
            <p:nvPr/>
          </p:nvSpPr>
          <p:spPr>
            <a:xfrm>
              <a:off x="533400" y="3590925"/>
              <a:ext cx="389572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3742373"/>
              <a:ext cx="200026" cy="200026"/>
              <a:chOff x="738188" y="3742373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3742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38201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511" y="3742849"/>
              <a:ext cx="5684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</a:t>
              </a:r>
            </a:p>
          </p:txBody>
        </p:sp>
      </p:grpSp>
      <p:grpSp>
        <p:nvGrpSpPr>
          <p:cNvPr id="35" name="c1-table-3"/>
          <p:cNvGrpSpPr/>
          <p:nvPr/>
        </p:nvGrpSpPr>
        <p:grpSpPr>
          <a:xfrm>
            <a:off x="528066" y="4274820"/>
            <a:ext cx="3901059" cy="1977009"/>
            <a:chOff x="528066" y="4274820"/>
            <a:chExt cx="3901059" cy="1977009"/>
          </a:xfrm>
        </p:grpSpPr>
        <p:sp>
          <p:nvSpPr>
            <p:cNvPr id="20" name="Rectangle 20"/>
            <p:cNvSpPr/>
            <p:nvPr/>
          </p:nvSpPr>
          <p:spPr>
            <a:xfrm>
              <a:off x="533400" y="4274820"/>
              <a:ext cx="389572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11199" y="440340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空闲区首址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401378" y="440340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长度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75122" y="482727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474072" y="482727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118735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5123498"/>
              <a:ext cx="389572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475122" y="525208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474072" y="52520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543550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428476" y="567594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429648" y="567594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74820"/>
              <a:ext cx="3895725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705100" y="427482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8066" y="6046470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右表举例用的空闲区表，四种算法都按首址递增排列</a:t>
              </a:r>
            </a:p>
          </p:txBody>
        </p:sp>
      </p:grpSp>
      <p:grpSp>
        <p:nvGrpSpPr>
          <p:cNvPr id="66" name="c2-table-1"/>
          <p:cNvGrpSpPr/>
          <p:nvPr/>
        </p:nvGrpSpPr>
        <p:grpSpPr>
          <a:xfrm>
            <a:off x="4733925" y="1524000"/>
            <a:ext cx="6924675" cy="3188970"/>
            <a:chOff x="4733925" y="1524000"/>
            <a:chExt cx="6924675" cy="3188970"/>
          </a:xfrm>
        </p:grpSpPr>
        <p:sp>
          <p:nvSpPr>
            <p:cNvPr id="36" name="Rectangle 36"/>
            <p:cNvSpPr/>
            <p:nvPr/>
          </p:nvSpPr>
          <p:spPr>
            <a:xfrm>
              <a:off x="4733925" y="1524000"/>
              <a:ext cx="692467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18922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97434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申请时取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05912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798492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36414" y="2076450"/>
              <a:ext cx="684276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最先适应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First Fit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82284" y="2076450"/>
              <a:ext cx="2145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第一个可满足的区域。例：申请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分割第一个区域 (128, 64)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575929" y="2076450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尽量用低地址，高地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址保持大空闲区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376154" y="2076450"/>
              <a:ext cx="1078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可能分割大空闲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733925" y="258127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733925" y="2586038"/>
              <a:ext cx="6924675" cy="85153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836414" y="2821305"/>
              <a:ext cx="636270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最佳适应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Best Fit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82284" y="2714625"/>
              <a:ext cx="203149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最小的可满足区域。例：申请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 选 (256, 32)，留下长度 2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的空闲区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575929" y="2821305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尽量用小空闲区，保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持大空闲区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76154" y="292798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可能形成碎片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33925" y="343281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836414" y="3566160"/>
              <a:ext cx="756285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最坏适应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Worst Fit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82284" y="3566160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最大的可满足区域。例：申请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 选 (1024, 256)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75929" y="367284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防止形成碎片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376154" y="367284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分割大空闲区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733925" y="407003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4733925" y="4074795"/>
              <a:ext cx="692467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4836414" y="4203382"/>
              <a:ext cx="636270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下次适应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Next Fit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82284" y="4203382"/>
              <a:ext cx="2145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从上次分配区域的下一个位置开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始，取第一个可满足的区域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575929" y="4203382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查找开销小，空闲区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分布更均匀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376154" y="431006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分割大空闲区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4733925" y="1524000"/>
              <a:ext cx="6924675" cy="31889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5975032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8468678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268902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callout-2"/>
          <p:cNvGrpSpPr/>
          <p:nvPr/>
        </p:nvGrpSpPr>
        <p:grpSpPr>
          <a:xfrm>
            <a:off x="4733925" y="4892992"/>
            <a:ext cx="6924675" cy="1018222"/>
            <a:chOff x="4733925" y="4892992"/>
            <a:chExt cx="6924675" cy="1018222"/>
          </a:xfrm>
        </p:grpSpPr>
        <p:sp>
          <p:nvSpPr>
            <p:cNvPr id="67" name="Rectangle 67"/>
            <p:cNvSpPr/>
            <p:nvPr/>
          </p:nvSpPr>
          <p:spPr>
            <a:xfrm>
              <a:off x="4733925" y="4892992"/>
              <a:ext cx="6924675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4938713" y="5302568"/>
              <a:ext cx="200026" cy="200025"/>
              <a:chOff x="4938713" y="5302568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4938713" y="53025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4978451" y="53470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5013167" y="54581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5241036" y="5040154"/>
              <a:ext cx="596569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为什么是 B：最先适应每次都从低地址找起，低地址区被切得很碎；下次适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应的查找起点沿空闲区链轮转，各处被使用的机会相近，空闲区在地址上分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布均匀。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82713" cy="909257"/>
            <a:chOff x="520446" y="342900"/>
            <a:chExt cx="80827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827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23：工作集大小是窗口内访问过的不同页面个数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544378" cy="4786312"/>
            <a:chOff x="533400" y="1524000"/>
            <a:chExt cx="4544378" cy="47863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4786312"/>
            </a:xfrm>
            <a:prstGeom prst="roundRect">
              <a:avLst>
                <a:gd name="adj" fmla="val 29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23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395490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假设虚拟页式存储管理采用工作集模型。如果在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 周期内确定某进程的工作集大小为 n，则 n 的含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943701"/>
              <a:ext cx="32057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该进程在 Δ 周期内淘汰页面的个数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3260884"/>
              <a:ext cx="32057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该进程在 Δ 周期内访问页面的个数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4281" y="3579019"/>
              <a:ext cx="32057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该进程在 Δ 周期内发生缺页的次数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4281" y="3897154"/>
              <a:ext cx="32057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该进程在 Δ 周期内访问页面的次数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4281" y="4214336"/>
              <a:ext cx="39625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。工作集是集合，大小是窗口内不同页面的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个数。</a:t>
              </a:r>
            </a:p>
          </p:txBody>
        </p:sp>
      </p:grpSp>
      <p:grpSp>
        <p:nvGrpSpPr>
          <p:cNvPr id="54" name="c2-cells-1"/>
          <p:cNvGrpSpPr/>
          <p:nvPr/>
        </p:nvGrpSpPr>
        <p:grpSpPr>
          <a:xfrm>
            <a:off x="5376482" y="1571149"/>
            <a:ext cx="6282118" cy="651986"/>
            <a:chOff x="5376482" y="1571149"/>
            <a:chExt cx="6282118" cy="651986"/>
          </a:xfrm>
        </p:grpSpPr>
        <p:sp>
          <p:nvSpPr>
            <p:cNvPr id="17" name="TextBox 17"/>
            <p:cNvSpPr txBox="1"/>
            <p:nvPr/>
          </p:nvSpPr>
          <p:spPr>
            <a:xfrm>
              <a:off x="5376482" y="195072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访问串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973128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98503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328410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53786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683692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09068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038975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164351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394258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19633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749540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874916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104822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30198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461058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585481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816340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940763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171622" y="1828800"/>
              <a:ext cx="35528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96046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526905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1328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882188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006611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0237470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361893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0592752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717176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0948035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072458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1303318" y="1828800"/>
              <a:ext cx="35528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427741" y="1950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882437" y="15711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窗口起点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6113145" y="1733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05740" y="157114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9310688" y="1733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63" name="c2-card-2"/>
          <p:cNvGrpSpPr/>
          <p:nvPr/>
        </p:nvGrpSpPr>
        <p:grpSpPr>
          <a:xfrm>
            <a:off x="5382578" y="2403158"/>
            <a:ext cx="6276022" cy="1568768"/>
            <a:chOff x="5382578" y="2403158"/>
            <a:chExt cx="6276022" cy="1568768"/>
          </a:xfrm>
        </p:grpSpPr>
        <p:sp>
          <p:nvSpPr>
            <p:cNvPr id="55" name="Rectangle 55"/>
            <p:cNvSpPr/>
            <p:nvPr/>
          </p:nvSpPr>
          <p:spPr>
            <a:xfrm>
              <a:off x="5382578" y="2403158"/>
              <a:ext cx="6276022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392102" y="2536508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618798" y="2601278"/>
              <a:ext cx="236791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653361" y="2635568"/>
              <a:ext cx="2298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工作集模型（working set model）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626417" y="302133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83008" y="2961799"/>
              <a:ext cx="528040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工作集：进程在一段时间内所访问页面的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集合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，记为 WS(t, Δ)；Δ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称为窗口尺寸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5626417" y="361092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783008" y="3551396"/>
              <a:ext cx="47804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Denning 认为：为使程序有效运行，工作集应能放入内存</a:t>
              </a:r>
            </a:p>
          </p:txBody>
        </p:sp>
      </p:grpSp>
      <p:grpSp>
        <p:nvGrpSpPr>
          <p:cNvPr id="73" name="c2-card-3"/>
          <p:cNvGrpSpPr/>
          <p:nvPr/>
        </p:nvGrpSpPr>
        <p:grpSpPr>
          <a:xfrm>
            <a:off x="5382578" y="4151948"/>
            <a:ext cx="6276022" cy="2158365"/>
            <a:chOff x="5382578" y="4151948"/>
            <a:chExt cx="6276022" cy="2158365"/>
          </a:xfrm>
        </p:grpSpPr>
        <p:sp>
          <p:nvSpPr>
            <p:cNvPr id="64" name="Rectangle 64"/>
            <p:cNvSpPr/>
            <p:nvPr/>
          </p:nvSpPr>
          <p:spPr>
            <a:xfrm>
              <a:off x="5382578" y="4151948"/>
              <a:ext cx="6276022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392102" y="4285298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618798" y="4350068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678234" y="4384358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例：数一数上图的窗口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611558" y="4710589"/>
              <a:ext cx="550583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窗口覆盖上图深色的 10 次访问：WS(t, Δ) = {5, 7, 1, 6, 2}，工作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集大小为 5。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5626417" y="535971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783008" y="5300186"/>
              <a:ext cx="38946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访问次数是 10：重复访问的页只算一次，D 错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5626417" y="567785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5783008" y="5617369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淘汰页数、缺页次数取决于分到的页框和置换算法，与工作集的定义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无关，A、C 错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53454" cy="909257"/>
            <a:chOff x="520446" y="342900"/>
            <a:chExt cx="100534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534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5、24：FCB 建立文件时创建；分成主部和次部是为了查得快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977765" cy="2085975"/>
            <a:chOff x="533400" y="1524000"/>
            <a:chExt cx="4977765" cy="20859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85975"/>
            </a:xfrm>
            <a:prstGeom prst="roundRect">
              <a:avLst>
                <a:gd name="adj" fmla="val 639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134" y="174355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3287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操作系统的文件管理中，文件控制块（FCB）的建立是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355532"/>
              <a:ext cx="37045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在调用 creat() 时　B. 在调用 open() 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655570"/>
              <a:ext cx="36954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在调用 read() 时　D. 在调用 write() 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2955608"/>
              <a:ext cx="42558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。open() 是按文件名找到已有的 FCB；read()、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write() 使用已打开文件的 FCB。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780472"/>
            <a:ext cx="4977765" cy="2085975"/>
            <a:chOff x="533400" y="3780472"/>
            <a:chExt cx="4977765" cy="2085975"/>
          </a:xfrm>
        </p:grpSpPr>
        <p:sp>
          <p:nvSpPr>
            <p:cNvPr id="15" name="Rectangle 15"/>
            <p:cNvSpPr/>
            <p:nvPr/>
          </p:nvSpPr>
          <p:spPr>
            <a:xfrm>
              <a:off x="533400" y="3780472"/>
              <a:ext cx="4977765" cy="2085975"/>
            </a:xfrm>
            <a:prstGeom prst="roundRect">
              <a:avLst>
                <a:gd name="adj" fmla="val 639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0090" y="3967162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7235" y="4000024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232" y="4311015"/>
              <a:ext cx="37170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文件系统中，把 FCB 分为次部和主部的好处是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3232" y="4611052"/>
              <a:ext cx="3891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提高文件的查找速度　B. 减少 FCB 所占空间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3232" y="4912042"/>
              <a:ext cx="4677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防止进程修改 FCB 信息　D. 减少文件 I/O 操作的时间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13232" y="521208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。目录在外存上按块读入内存逐项比较文件名；目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录项只放次部，一块能装的目录项增多，读的块数减少。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5815965" y="1524000"/>
            <a:ext cx="5842635" cy="2420302"/>
            <a:chOff x="5815965" y="1524000"/>
            <a:chExt cx="5842635" cy="2420302"/>
          </a:xfrm>
        </p:grpSpPr>
        <p:sp>
          <p:nvSpPr>
            <p:cNvPr id="23" name="Rectangle 23"/>
            <p:cNvSpPr/>
            <p:nvPr/>
          </p:nvSpPr>
          <p:spPr>
            <a:xfrm>
              <a:off x="5815965" y="1524000"/>
              <a:ext cx="5842635" cy="2420302"/>
            </a:xfrm>
            <a:prstGeom prst="roundRect">
              <a:avLst>
                <a:gd name="adj" fmla="val 55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25490" y="1657350"/>
              <a:ext cx="47625" cy="215360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040755" y="1710690"/>
              <a:ext cx="142113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96953" y="1743551"/>
              <a:ext cx="13068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FCB：文件存在的标志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40755" y="2032635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10338" y="21559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785610" y="2032635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56146" y="21559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文件号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531418" y="2032635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01001" y="21559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77225" y="2032635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80844" y="215598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文件类型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022080" y="2032635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26652" y="215598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文件属性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40755" y="2552700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44374" y="2676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共享说明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785610" y="2552700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90182" y="2676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文件长度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531418" y="2552700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35037" y="2676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文件地址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277225" y="2552700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80844" y="2676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建立日期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022080" y="2552700"/>
              <a:ext cx="7458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58579" y="26760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口令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040755" y="3071812"/>
              <a:ext cx="9944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37224" y="319611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最后修改日期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035165" y="3071812"/>
              <a:ext cx="9944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31634" y="319611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最后访问日期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029575" y="3071812"/>
              <a:ext cx="99441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389899" y="31961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33897" y="3547110"/>
              <a:ext cx="3295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建立文件时创建 FCB，删除文件时撤消。</a:t>
              </a:r>
            </a:p>
          </p:txBody>
        </p:sp>
      </p:grpSp>
      <p:grpSp>
        <p:nvGrpSpPr>
          <p:cNvPr id="63" name="c2-kv-2"/>
          <p:cNvGrpSpPr/>
          <p:nvPr/>
        </p:nvGrpSpPr>
        <p:grpSpPr>
          <a:xfrm>
            <a:off x="5809107" y="4136708"/>
            <a:ext cx="5849493" cy="1555623"/>
            <a:chOff x="5809107" y="4136708"/>
            <a:chExt cx="5849493" cy="1555623"/>
          </a:xfrm>
        </p:grpSpPr>
        <p:sp>
          <p:nvSpPr>
            <p:cNvPr id="55" name="TextBox 55"/>
            <p:cNvSpPr txBox="1"/>
            <p:nvPr/>
          </p:nvSpPr>
          <p:spPr>
            <a:xfrm>
              <a:off x="5809107" y="413670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次部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13944" y="413670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只有文件名和文件号，保存在目录文件中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815965" y="442341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809107" y="452913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主部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13944" y="4529138"/>
              <a:ext cx="5028629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其余全部信息加连接计数，存在 inode 区，从 0 编号即文件号；等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长，由文件号可算出位置，打开时读入内存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15965" y="50692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809107" y="5174933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好处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13944" y="5174933"/>
              <a:ext cx="493433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查找速度提高；多个次部指向同一主部可实现文件连接（link），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连接计数为 0 表示空闲主部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73760" cy="909257"/>
            <a:chOff x="520446" y="342900"/>
            <a:chExt cx="77737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737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25：3 次转储后恢复，差分转储只需 2 盘磁带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328160" cy="4086225"/>
            <a:chOff x="533400" y="1524000"/>
            <a:chExt cx="4328160" cy="4086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4086225"/>
            </a:xfrm>
            <a:prstGeom prst="roundRect">
              <a:avLst>
                <a:gd name="adj" fmla="val 32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6633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为保证磁盘文件安全，需要对磁盘文件进行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转储。假设系统对磁盘文件进行了 3 次转储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后发生了磁盘数据丢失。下述对恢复的论述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正确的是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330327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完全转储策略只需要 2 盘转储磁带恢复磁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盘数据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392430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增量转储策略只需要 2 盘转储磁带恢复磁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盘数据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454533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差分转储策略只需要 2 盘转储磁带恢复磁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盘数据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5166360"/>
              <a:ext cx="1929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上述论述都不正确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5800725"/>
            <a:ext cx="4328160" cy="533400"/>
            <a:chOff x="533400" y="5800725"/>
            <a:chExt cx="4328160" cy="533400"/>
          </a:xfrm>
        </p:grpSpPr>
        <p:sp>
          <p:nvSpPr>
            <p:cNvPr id="16" name="Rectangle 16"/>
            <p:cNvSpPr/>
            <p:nvPr/>
          </p:nvSpPr>
          <p:spPr>
            <a:xfrm>
              <a:off x="533400" y="5800725"/>
              <a:ext cx="432816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967413"/>
              <a:ext cx="200026" cy="200026"/>
              <a:chOff x="738188" y="5967413"/>
              <a:chExt cx="200026" cy="20002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59674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04863" y="604520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5962650"/>
              <a:ext cx="600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C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5166360" y="1524000"/>
            <a:ext cx="6492240" cy="3155632"/>
            <a:chOff x="5166360" y="1524000"/>
            <a:chExt cx="6492240" cy="3155632"/>
          </a:xfrm>
        </p:grpSpPr>
        <p:sp>
          <p:nvSpPr>
            <p:cNvPr id="22" name="Rectangle 22"/>
            <p:cNvSpPr/>
            <p:nvPr/>
          </p:nvSpPr>
          <p:spPr>
            <a:xfrm>
              <a:off x="5166360" y="1524000"/>
              <a:ext cx="649224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47429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策略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58420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每次复制什么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34125" y="1659731"/>
              <a:ext cx="12006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 次后恢复要用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47396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74183" y="23350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完全转储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247638" y="233505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磁盘上的全部文件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30730" y="2221706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盘：第 3 次的磁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753790" y="2108359"/>
              <a:ext cx="163855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能完全恢复；备份数据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大量重复，占空间、耗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166360" y="286988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166360" y="2874645"/>
              <a:ext cx="6492240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74183" y="32370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增量转储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47638" y="3123724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上次转储后修改过的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30730" y="3123724"/>
              <a:ext cx="12809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盘：第 1、2、3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次依次恢复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753790" y="3010376"/>
              <a:ext cx="163855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省空间、备份快；恢复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麻烦，任何一盘出错整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条链都断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166360" y="377285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74183" y="41390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差分转储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47638" y="3912394"/>
              <a:ext cx="147599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开始完全转储一次，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以后复制与第一次不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同的全部数据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032432" y="3787140"/>
              <a:ext cx="1604010" cy="88296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30730" y="402574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盘：第 1 次与第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53790" y="402574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备份时间短、省磁带，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恢复方便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166360" y="1524000"/>
              <a:ext cx="6492240" cy="315563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135052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18145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641205" y="1524000"/>
              <a:ext cx="9525" cy="31556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llout-2"/>
          <p:cNvGrpSpPr/>
          <p:nvPr/>
        </p:nvGrpSpPr>
        <p:grpSpPr>
          <a:xfrm>
            <a:off x="5166360" y="4870132"/>
            <a:ext cx="6492240" cy="782955"/>
            <a:chOff x="5166360" y="4870132"/>
            <a:chExt cx="6492240" cy="782955"/>
          </a:xfrm>
        </p:grpSpPr>
        <p:sp>
          <p:nvSpPr>
            <p:cNvPr id="48" name="Rectangle 48"/>
            <p:cNvSpPr/>
            <p:nvPr/>
          </p:nvSpPr>
          <p:spPr>
            <a:xfrm>
              <a:off x="5166360" y="4870132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5371148" y="5161598"/>
              <a:ext cx="200026" cy="200026"/>
              <a:chOff x="5371148" y="5161598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5371148" y="51615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5471160" y="52282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5460048" y="52616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5673090" y="5018722"/>
              <a:ext cx="5406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Backup：定期把磁盘上的文件复制到磁带，故障时由磁带恢复。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只能恢复到最后一次转储时的状态（limited recovery）。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07910" cy="909257"/>
            <a:chOff x="520446" y="342900"/>
            <a:chExt cx="90079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079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1：SPOOLing 由预输入、缓输出和作业调度程序组成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2429828"/>
            <a:chOff x="533400" y="1524000"/>
            <a:chExt cx="4977765" cy="24298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429828"/>
            </a:xfrm>
            <a:prstGeom prst="roundRect">
              <a:avLst>
                <a:gd name="adj" fmla="val 548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8937" y="175641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35165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SPOOLing 系统是在主机控制下，通过通道把 I/O 工作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脱机处理，SPOOLing 不包括的程序是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01802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预输入程序　B. 作业调度程序　C. 缓输出程序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连接程序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3260884"/>
              <a:ext cx="39625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。连接程序把目标模块连成可执行程序，与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SPOOLing 无关。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4133850"/>
            <a:ext cx="4977765" cy="2158365"/>
            <a:chOff x="533400" y="4133850"/>
            <a:chExt cx="4977765" cy="2158365"/>
          </a:xfrm>
        </p:grpSpPr>
        <p:sp>
          <p:nvSpPr>
            <p:cNvPr id="14" name="Rectangle 14"/>
            <p:cNvSpPr/>
            <p:nvPr/>
          </p:nvSpPr>
          <p:spPr>
            <a:xfrm>
              <a:off x="533400" y="4133850"/>
              <a:ext cx="4977765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4267200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4331970"/>
              <a:ext cx="23431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053" y="4366260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假脱机：用磁盘上的井模拟独占设备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475297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4692491"/>
              <a:ext cx="43440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 I/O 速度：对低速设备的 I/O 变成对井的读写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7240" y="507015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3831" y="5010626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设备不分配给进程：进程分到井中一块存储区和一张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请求表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7240" y="565975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3831" y="559927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实现虚拟设备：多个进程同时用一台独享设备，各自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觉得独占</a:t>
              </a:r>
            </a:p>
          </p:txBody>
        </p:sp>
      </p:grpSp>
      <p:grpSp>
        <p:nvGrpSpPr>
          <p:cNvPr id="53" name="c2-flow-1"/>
          <p:cNvGrpSpPr/>
          <p:nvPr/>
        </p:nvGrpSpPr>
        <p:grpSpPr>
          <a:xfrm>
            <a:off x="5952172" y="1683068"/>
            <a:ext cx="5570221" cy="1872615"/>
            <a:chOff x="5952172" y="1683068"/>
            <a:chExt cx="5570221" cy="1872615"/>
          </a:xfrm>
        </p:grpSpPr>
        <p:sp>
          <p:nvSpPr>
            <p:cNvPr id="25" name="Freeform 25"/>
            <p:cNvSpPr/>
            <p:nvPr/>
          </p:nvSpPr>
          <p:spPr>
            <a:xfrm>
              <a:off x="7626668" y="1888808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795260" y="18364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9574530" y="1888808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0" y="0"/>
                  </a:moveTo>
                  <a:lnTo>
                    <a:pt x="1676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742170" y="18364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0685145" y="2095500"/>
              <a:ext cx="9525" cy="117158"/>
            </a:xfrm>
            <a:custGeom>
              <a:avLst/>
              <a:gdLst/>
              <a:ahLst/>
              <a:cxnLst/>
              <a:rect l="l" t="t" r="r" b="b"/>
              <a:pathLst>
                <a:path w="9525" h="117158">
                  <a:moveTo>
                    <a:pt x="0" y="0"/>
                  </a:moveTo>
                  <a:lnTo>
                    <a:pt x="0" y="1171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632758" y="22126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10685145" y="2921318"/>
              <a:ext cx="9525" cy="117158"/>
            </a:xfrm>
            <a:custGeom>
              <a:avLst/>
              <a:gdLst/>
              <a:ahLst/>
              <a:cxnLst/>
              <a:rect l="l" t="t" r="r" b="b"/>
              <a:pathLst>
                <a:path w="9525" h="117158">
                  <a:moveTo>
                    <a:pt x="0" y="0"/>
                  </a:moveTo>
                  <a:lnTo>
                    <a:pt x="0" y="1171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632758" y="3038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9679305" y="3349942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16764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574530" y="32975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7731442" y="3349942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16859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626668" y="32975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5952172" y="1683068"/>
              <a:ext cx="1674495" cy="412433"/>
            </a:xfrm>
            <a:custGeom>
              <a:avLst/>
              <a:gdLst/>
              <a:ahLst/>
              <a:cxnLst/>
              <a:rect l="l" t="t" r="r" b="b"/>
              <a:pathLst>
                <a:path w="1674495" h="412433">
                  <a:moveTo>
                    <a:pt x="133350" y="0"/>
                  </a:moveTo>
                  <a:lnTo>
                    <a:pt x="1674495" y="0"/>
                  </a:lnTo>
                  <a:lnTo>
                    <a:pt x="1541145" y="412433"/>
                  </a:lnTo>
                  <a:lnTo>
                    <a:pt x="0" y="412433"/>
                  </a:lnTo>
                  <a:close/>
                </a:path>
              </a:pathLst>
            </a:custGeom>
            <a:solidFill>
              <a:srgbClr val="E2F3F4"/>
            </a:solidFill>
            <a:ln w="13335">
              <a:solidFill>
                <a:srgbClr val="0E7C8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00035" y="1683068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46945" y="1683068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846945" y="2317432"/>
              <a:ext cx="1675448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846945" y="3143250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900035" y="3143250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5952172" y="3143250"/>
              <a:ext cx="1674495" cy="412433"/>
            </a:xfrm>
            <a:custGeom>
              <a:avLst/>
              <a:gdLst/>
              <a:ahLst/>
              <a:cxnLst/>
              <a:rect l="l" t="t" r="r" b="b"/>
              <a:pathLst>
                <a:path w="1674495" h="412433">
                  <a:moveTo>
                    <a:pt x="133350" y="0"/>
                  </a:moveTo>
                  <a:lnTo>
                    <a:pt x="1674495" y="0"/>
                  </a:lnTo>
                  <a:lnTo>
                    <a:pt x="1541145" y="412433"/>
                  </a:lnTo>
                  <a:lnTo>
                    <a:pt x="0" y="412433"/>
                  </a:lnTo>
                  <a:close/>
                </a:path>
              </a:pathLst>
            </a:custGeom>
            <a:solidFill>
              <a:srgbClr val="E2F3F4"/>
            </a:solidFill>
            <a:ln w="13335">
              <a:solidFill>
                <a:srgbClr val="0E7C8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88380" y="2317432"/>
              <a:ext cx="3349942" cy="603885"/>
            </a:xfrm>
            <a:prstGeom prst="roundRect">
              <a:avLst>
                <a:gd name="adj" fmla="val 12618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41008" y="18049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27326" y="180498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预输入进程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113645" y="18049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输入井（磁盘）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069449" y="2432685"/>
              <a:ext cx="12313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作业调度：选作业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装入内存运行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113645" y="326612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输出井（磁盘）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27326" y="32661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缓输出进程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41008" y="32661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49009" y="2432685"/>
              <a:ext cx="242773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输入机、输出机经通道连接；一个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SPOOLing 程序，每台设备一个进程</a:t>
              </a:r>
            </a:p>
          </p:txBody>
        </p:sp>
      </p:grpSp>
      <p:grpSp>
        <p:nvGrpSpPr>
          <p:cNvPr id="56" name="c2-image-2"/>
          <p:cNvGrpSpPr/>
          <p:nvPr/>
        </p:nvGrpSpPr>
        <p:grpSpPr>
          <a:xfrm>
            <a:off x="6823710" y="3894772"/>
            <a:ext cx="3827145" cy="2490407"/>
            <a:chOff x="6823710" y="3894772"/>
            <a:chExt cx="3827145" cy="2490407"/>
          </a:xfrm>
        </p:grpSpPr>
        <p:pic>
          <p:nvPicPr>
            <p:cNvPr id="54" name="Image 54"/>
            <p:cNvPicPr>
              <a:picLocks noChangeAspect="1"/>
            </p:cNvPicPr>
            <p:nvPr/>
          </p:nvPicPr>
          <p:blipFill>
            <a:blip r:embed="rId2"/>
            <a:srcRect l="0" t="6" r="0" b="5"/>
            <a:stretch>
              <a:fillRect/>
            </a:stretch>
          </p:blipFill>
          <p:spPr>
            <a:xfrm>
              <a:off x="7276148" y="3894772"/>
              <a:ext cx="2921318" cy="2190750"/>
            </a:xfrm>
            <a:prstGeom prst="roundRect">
              <a:avLst>
                <a:gd name="adj" fmla="val 6086"/>
              </a:avLst>
            </a:prstGeom>
          </p:spPr>
        </p:pic>
        <p:sp>
          <p:nvSpPr>
            <p:cNvPr id="55" name="TextBox 55"/>
            <p:cNvSpPr txBox="1"/>
            <p:nvPr/>
          </p:nvSpPr>
          <p:spPr>
            <a:xfrm>
              <a:off x="6823710" y="6179820"/>
              <a:ext cx="38271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大家把文件放进同一个托盘就能离开，打印员按顺序逐份打印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12457" cy="909257"/>
            <a:chOff x="520446" y="342900"/>
            <a:chExt cx="74124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124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20：读一个扇区的时间是转一圈时间的 1/8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1485900"/>
            <a:chOff x="533400" y="1524000"/>
            <a:chExt cx="5193982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7235" y="1743551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设磁盘格式化时把每磁道等分为 8 个扇区，磁盘转速为 5000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转/分钟。则（忽略启动时间）读取一个扇区所花费时间是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44103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0.05 ms　B. 0.15 ms　C. 0.25 ms　D. 0.35 ms</a:t>
              </a:r>
            </a:p>
          </p:txBody>
        </p:sp>
      </p:grpSp>
      <p:grpSp>
        <p:nvGrpSpPr>
          <p:cNvPr id="22" name="c1-steps-2"/>
          <p:cNvGrpSpPr/>
          <p:nvPr/>
        </p:nvGrpSpPr>
        <p:grpSpPr>
          <a:xfrm>
            <a:off x="533400" y="3188970"/>
            <a:ext cx="4583543" cy="1102519"/>
            <a:chOff x="533400" y="3188970"/>
            <a:chExt cx="4583543" cy="1102519"/>
          </a:xfrm>
        </p:grpSpPr>
        <p:sp>
          <p:nvSpPr>
            <p:cNvPr id="13" name="Rectangle 13"/>
            <p:cNvSpPr/>
            <p:nvPr/>
          </p:nvSpPr>
          <p:spPr>
            <a:xfrm>
              <a:off x="666750" y="3331845"/>
              <a:ext cx="19050" cy="5829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18897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627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77190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8457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322135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转一圈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488531"/>
              <a:ext cx="21071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s ÷ 5000 = 0.012 s = 12 ms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380428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读一个扇区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4071461"/>
              <a:ext cx="4170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Tt = b/(rN)，读 1 个扇区要转过 1/8 圈：12 ÷ 8 = 1.5 ms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455795"/>
            <a:ext cx="5193982" cy="1443038"/>
            <a:chOff x="533400" y="4455795"/>
            <a:chExt cx="5193982" cy="1443038"/>
          </a:xfrm>
        </p:grpSpPr>
        <p:sp>
          <p:nvSpPr>
            <p:cNvPr id="23" name="Rectangle 23"/>
            <p:cNvSpPr/>
            <p:nvPr/>
          </p:nvSpPr>
          <p:spPr>
            <a:xfrm>
              <a:off x="533400" y="4455795"/>
              <a:ext cx="5193982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589145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8190" y="464248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0862" y="46753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1332" y="4986338"/>
              <a:ext cx="454856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原课件答案为 B（0.15 ms）。按题目数据算得 1.5 ms，四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个选项都不对，B 小了 10 倍；转速为 50000 转/分钟时结果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才是 0.15 ms。题目数据或选项有误。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032182" y="1524000"/>
            <a:ext cx="5626418" cy="4373880"/>
            <a:chOff x="6032182" y="1524000"/>
            <a:chExt cx="5626418" cy="4373880"/>
          </a:xfrm>
        </p:grpSpPr>
        <p:sp>
          <p:nvSpPr>
            <p:cNvPr id="29" name="Rectangle 29"/>
            <p:cNvSpPr/>
            <p:nvPr/>
          </p:nvSpPr>
          <p:spPr>
            <a:xfrm>
              <a:off x="6032182" y="1524000"/>
              <a:ext cx="5626418" cy="4373880"/>
            </a:xfrm>
            <a:prstGeom prst="roundRect">
              <a:avLst>
                <a:gd name="adj" fmla="val 30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041708" y="1657350"/>
              <a:ext cx="47625" cy="410718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6972" y="1710690"/>
              <a:ext cx="99536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24368" y="1743551"/>
              <a:ext cx="8596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磁盘 I/O 参数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58824" y="1745932"/>
              <a:ext cx="28529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访问时间 = 寻道 + 旋转延迟 + 传输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50114" y="207168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寻道时间：把磁盘引臂移到指定柱面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formula14"/>
                <p:cNvSpPr txBox="1">
                  <a:spLocks noGrp="1"/>
                </p:cNvSpPr>
                <p:nvPr/>
              </p:nvSpPr>
              <p:spPr>
                <a:xfrm>
                  <a:off x="6256972" y="2349818"/>
                  <a:ext cx="5214938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s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6" name="TextBox 36"/>
            <p:cNvSpPr txBox="1"/>
            <p:nvPr/>
          </p:nvSpPr>
          <p:spPr>
            <a:xfrm>
              <a:off x="6251258" y="2852261"/>
              <a:ext cx="38938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为跨越磁道数，m 为跨越一个磁道的时间，s 为启动时间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50114" y="3117532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旋转延迟：指定扇区转到磁头下，平均取转半圈的时间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formula15"/>
                <p:cNvSpPr txBox="1">
                  <a:spLocks noGrp="1"/>
                </p:cNvSpPr>
                <p:nvPr/>
              </p:nvSpPr>
              <p:spPr>
                <a:xfrm>
                  <a:off x="6256972" y="3394710"/>
                  <a:ext cx="5214938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2r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9" name="TextBox 39"/>
            <p:cNvSpPr txBox="1"/>
            <p:nvPr/>
          </p:nvSpPr>
          <p:spPr>
            <a:xfrm>
              <a:off x="6250114" y="404145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传输时间：读/写一个扇区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16"/>
                <p:cNvSpPr txBox="1">
                  <a:spLocks noGrp="1"/>
                </p:cNvSpPr>
                <p:nvPr/>
              </p:nvSpPr>
              <p:spPr>
                <a:xfrm>
                  <a:off x="6256972" y="4319588"/>
                  <a:ext cx="5214938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251258" y="4962049"/>
              <a:ext cx="3569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 为转速，b 为读写字节数，N 为一条磁道上的字节数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25994" cy="909257"/>
            <a:chOff x="520446" y="342900"/>
            <a:chExt cx="84259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259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26：向打印机输出的软缓冲区是内存中的链式队列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785938"/>
            <a:chOff x="533400" y="1524000"/>
            <a:chExt cx="4977765" cy="1785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785938"/>
            </a:xfrm>
            <a:prstGeom prst="roundRect">
              <a:avLst>
                <a:gd name="adj" fmla="val 74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7235" y="1743551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26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假设操作系统利用缓冲技术在进程与打印机之间通过软缓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冲区实现向打印机的输出，则该缓冲区的结构是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32774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外存连续空间队列　B. 外存链式队列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912745"/>
              <a:ext cx="32774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内存连续空间队列　D. 内存链式队列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3480435"/>
            <a:ext cx="4977765" cy="729615"/>
            <a:chOff x="533400" y="3480435"/>
            <a:chExt cx="4977765" cy="729615"/>
          </a:xfrm>
        </p:grpSpPr>
        <p:sp>
          <p:nvSpPr>
            <p:cNvPr id="14" name="Rectangle 14"/>
            <p:cNvSpPr/>
            <p:nvPr/>
          </p:nvSpPr>
          <p:spPr>
            <a:xfrm>
              <a:off x="533400" y="3480435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3745230"/>
              <a:ext cx="200026" cy="200026"/>
              <a:chOff x="738188" y="3745230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37452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382301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892" y="3626168"/>
              <a:ext cx="41027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D：软缓冲区设在内存系统空间，缓冲池用链表管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</p:grpSp>
      <p:grpSp>
        <p:nvGrpSpPr>
          <p:cNvPr id="28" name="c1-kv-3"/>
          <p:cNvGrpSpPr/>
          <p:nvPr/>
        </p:nvGrpSpPr>
        <p:grpSpPr>
          <a:xfrm>
            <a:off x="527685" y="4398169"/>
            <a:ext cx="4983480" cy="1561148"/>
            <a:chOff x="527685" y="4398169"/>
            <a:chExt cx="4983480" cy="1561148"/>
          </a:xfrm>
        </p:grpSpPr>
        <p:sp>
          <p:nvSpPr>
            <p:cNvPr id="20" name="TextBox 20"/>
            <p:cNvSpPr txBox="1"/>
            <p:nvPr/>
          </p:nvSpPr>
          <p:spPr>
            <a:xfrm>
              <a:off x="527685" y="43981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缓冲与高速缓存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12608" y="4398169"/>
              <a:ext cx="3425190" cy="4314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6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buffering 解决数据到达与离开速度不一致，数据没有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副本；caching 为减少访盘次数，数据在磁盘上有副本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86060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7685" y="496300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硬缓冲与软缓冲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12608" y="4963001"/>
              <a:ext cx="3282950" cy="4314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6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硬缓冲区通常设在设备中；软缓冲区设在内存系统空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间，由操作系统管理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42544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7685" y="552783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私用与公用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12608" y="5527834"/>
              <a:ext cx="3425190" cy="4314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6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私用缓冲固定属于一台设备，利用率低；公用缓冲由系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统统一管理，按需分给正在传输的设备</a:t>
              </a:r>
            </a:p>
          </p:txBody>
        </p:sp>
      </p:grpSp>
      <p:grpSp>
        <p:nvGrpSpPr>
          <p:cNvPr id="56" name="c2-cells-1"/>
          <p:cNvGrpSpPr/>
          <p:nvPr/>
        </p:nvGrpSpPr>
        <p:grpSpPr>
          <a:xfrm>
            <a:off x="5810250" y="1569720"/>
            <a:ext cx="5073015" cy="618173"/>
            <a:chOff x="5810250" y="1569720"/>
            <a:chExt cx="5073015" cy="618173"/>
          </a:xfrm>
        </p:grpSpPr>
        <p:sp>
          <p:nvSpPr>
            <p:cNvPr id="29" name="TextBox 29"/>
            <p:cNvSpPr txBox="1"/>
            <p:nvPr/>
          </p:nvSpPr>
          <p:spPr>
            <a:xfrm>
              <a:off x="5810250" y="193405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缓冲池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76035" y="181927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81343" y="193405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空缓冲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050405" y="181927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7126605" y="197548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7155180" y="200406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498080" y="196119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3805" y="181927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89113" y="193405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空缓冲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258175" y="181927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8334375" y="197548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8362950" y="200406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705850" y="196119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791575" y="181927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079509" y="19340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465945" y="181927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9542145" y="197548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9570720" y="200406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913620" y="196119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999345" y="181927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104653" y="193405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空缓冲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73715" y="181927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0737257" y="194167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68520" y="1569720"/>
              <a:ext cx="2894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head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6675120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223634" y="1569720"/>
              <a:ext cx="2257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tail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0298430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82" name="c2-table-2"/>
          <p:cNvGrpSpPr/>
          <p:nvPr/>
        </p:nvGrpSpPr>
        <p:grpSpPr>
          <a:xfrm>
            <a:off x="5811012" y="2358390"/>
            <a:ext cx="5847588" cy="2263806"/>
            <a:chOff x="5811012" y="2358390"/>
            <a:chExt cx="5847588" cy="2263806"/>
          </a:xfrm>
        </p:grpSpPr>
        <p:sp>
          <p:nvSpPr>
            <p:cNvPr id="57" name="Rectangle 57"/>
            <p:cNvSpPr/>
            <p:nvPr/>
          </p:nvSpPr>
          <p:spPr>
            <a:xfrm>
              <a:off x="5815965" y="2358390"/>
              <a:ext cx="584263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068098" y="24798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56132" y="24798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申请一个缓冲区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868827" y="24798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释放一个缓冲区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175336" y="2879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730365" y="2879884"/>
              <a:ext cx="877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P(buf_num)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243060" y="2879884"/>
              <a:ext cx="711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P(mutex)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815965" y="31537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5815965" y="315849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175336" y="32799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730365" y="3279934"/>
              <a:ext cx="711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P(mutex)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243060" y="32799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空缓冲挂到链尾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815965" y="35537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175336" y="36799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730365" y="367998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取下链头的空缓冲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243060" y="3679984"/>
              <a:ext cx="711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V(mutex)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815965" y="39538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5815965" y="395859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175336" y="40800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730365" y="4080034"/>
              <a:ext cx="711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V(mutex)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243060" y="4080034"/>
              <a:ext cx="877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V(buf_num)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5815965" y="2358390"/>
              <a:ext cx="584263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6628448" y="235839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141142" y="235839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5811012" y="4431506"/>
              <a:ext cx="28199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buf_num 初值 n（空缓冲个数），mutex 初值 1</a:t>
              </a:r>
            </a:p>
          </p:txBody>
        </p:sp>
      </p:grpSp>
      <p:grpSp>
        <p:nvGrpSpPr>
          <p:cNvPr id="89" name="c2-callout-3"/>
          <p:cNvGrpSpPr/>
          <p:nvPr/>
        </p:nvGrpSpPr>
        <p:grpSpPr>
          <a:xfrm>
            <a:off x="5815965" y="4753928"/>
            <a:ext cx="5842635" cy="729615"/>
            <a:chOff x="5815965" y="4753928"/>
            <a:chExt cx="5842635" cy="729615"/>
          </a:xfrm>
        </p:grpSpPr>
        <p:sp>
          <p:nvSpPr>
            <p:cNvPr id="83" name="Rectangle 83"/>
            <p:cNvSpPr/>
            <p:nvPr/>
          </p:nvSpPr>
          <p:spPr>
            <a:xfrm>
              <a:off x="5815965" y="4753928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7" name="Group 87"/>
            <p:cNvGrpSpPr/>
            <p:nvPr/>
          </p:nvGrpSpPr>
          <p:grpSpPr>
            <a:xfrm>
              <a:off x="6020753" y="5018723"/>
              <a:ext cx="200026" cy="200025"/>
              <a:chOff x="6020753" y="5018723"/>
              <a:chExt cx="200026" cy="200025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6020753" y="50187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6060491" y="50631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6095207" y="51742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8" name="TextBox 88"/>
            <p:cNvSpPr txBox="1"/>
            <p:nvPr/>
          </p:nvSpPr>
          <p:spPr>
            <a:xfrm>
              <a:off x="6323457" y="4899660"/>
              <a:ext cx="489146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申请时先 P(buf_num) 再 P(mutex)。顺序反过来，拿着 mutex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等缓冲区，释放者进不了链表，就会死锁。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33498" cy="909257"/>
            <a:chOff x="520446" y="342900"/>
            <a:chExt cx="82334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334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27：既能并行读、又能有条件并行写的是 RAID 5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328160" cy="1785938"/>
            <a:chOff x="533400" y="1524000"/>
            <a:chExt cx="4328160" cy="1785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1785938"/>
            </a:xfrm>
            <a:prstGeom prst="roundRect">
              <a:avLst>
                <a:gd name="adj" fmla="val 74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7235" y="1743551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370846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RAID 数据存储标准中，既能进行并行读、又能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有条件进行并行写的 RAID 级别是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1954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Level 2　B. Level 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912745"/>
              <a:ext cx="1954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Level 4　D. Level 5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3480435"/>
            <a:ext cx="4328160" cy="481012"/>
            <a:chOff x="533400" y="3480435"/>
            <a:chExt cx="4328160" cy="481012"/>
          </a:xfrm>
        </p:grpSpPr>
        <p:sp>
          <p:nvSpPr>
            <p:cNvPr id="14" name="Rectangle 14"/>
            <p:cNvSpPr/>
            <p:nvPr/>
          </p:nvSpPr>
          <p:spPr>
            <a:xfrm>
              <a:off x="533400" y="3480435"/>
              <a:ext cx="432816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3620453"/>
              <a:ext cx="200026" cy="200026"/>
              <a:chOff x="738188" y="3620453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36204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369824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892" y="3626168"/>
              <a:ext cx="5404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</a:p>
          </p:txBody>
        </p:sp>
      </p:grpSp>
      <p:grpSp>
        <p:nvGrpSpPr>
          <p:cNvPr id="29" name="c1-card-3"/>
          <p:cNvGrpSpPr/>
          <p:nvPr/>
        </p:nvGrpSpPr>
        <p:grpSpPr>
          <a:xfrm>
            <a:off x="533400" y="4130992"/>
            <a:ext cx="4328160" cy="2043112"/>
            <a:chOff x="533400" y="4130992"/>
            <a:chExt cx="4328160" cy="2043112"/>
          </a:xfrm>
        </p:grpSpPr>
        <p:sp>
          <p:nvSpPr>
            <p:cNvPr id="20" name="Rectangle 20"/>
            <p:cNvSpPr/>
            <p:nvPr/>
          </p:nvSpPr>
          <p:spPr>
            <a:xfrm>
              <a:off x="533400" y="4130992"/>
              <a:ext cx="4328160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264342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58190" y="4317682"/>
              <a:ext cx="46482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2941" y="4350544"/>
              <a:ext cx="29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RAID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1332" y="4661535"/>
              <a:ext cx="365702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物理磁盘的集合，作为一个逻辑磁盘使用，数据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分散存放在多个盘上。RAID 级别是数据在多盘上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存放方法的行业标准。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66762" y="553212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2782" y="5475923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分条：位级分条、块级分条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66762" y="583311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2782" y="577691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衡量指标：速度、可靠性、成本</a:t>
              </a:r>
            </a:p>
          </p:txBody>
        </p:sp>
      </p:grpSp>
      <p:grpSp>
        <p:nvGrpSpPr>
          <p:cNvPr id="81" name="c2-table-1"/>
          <p:cNvGrpSpPr/>
          <p:nvPr/>
        </p:nvGrpSpPr>
        <p:grpSpPr>
          <a:xfrm>
            <a:off x="5166360" y="1524000"/>
            <a:ext cx="6492240" cy="2800350"/>
            <a:chOff x="5166360" y="1524000"/>
            <a:chExt cx="6492240" cy="2800350"/>
          </a:xfrm>
        </p:grpSpPr>
        <p:sp>
          <p:nvSpPr>
            <p:cNvPr id="30" name="Rectangle 30"/>
            <p:cNvSpPr/>
            <p:nvPr/>
          </p:nvSpPr>
          <p:spPr>
            <a:xfrm>
              <a:off x="5166360" y="1524000"/>
              <a:ext cx="649224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36705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级别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6019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分条粒度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09041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读并发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83448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写并发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77501" y="1645444"/>
              <a:ext cx="13046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冗余（容错/开销）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474296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86360" y="20454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84428" y="2045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58836" y="2045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899208" y="20454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166360" y="23193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166360" y="23241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74296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86360" y="24455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84428" y="24455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83448" y="24455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899208" y="24455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镜像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166360" y="27193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74296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86360" y="28455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09041" y="28455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083448" y="28455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99208" y="284559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汉明纠错码奇偶校验与恢复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166360" y="31194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166360" y="31242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474296" y="3245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86360" y="32456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09041" y="32456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083448" y="32456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99208" y="32456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单个奇偶校验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166360" y="35194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474296" y="36456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86360" y="36456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84428" y="36456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083448" y="36456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99208" y="364569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块级异或校验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166360" y="39195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166360" y="39243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5175885" y="3933825"/>
              <a:ext cx="69532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474296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86360" y="40457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84428" y="40457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38122" y="3933825"/>
              <a:ext cx="95440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158836" y="40457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899208" y="40457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块级分布式异或校验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166360" y="1524000"/>
              <a:ext cx="649224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587597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84942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7823835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8797290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8" name="c2-callout-2"/>
          <p:cNvGrpSpPr/>
          <p:nvPr/>
        </p:nvGrpSpPr>
        <p:grpSpPr>
          <a:xfrm>
            <a:off x="5166360" y="4493895"/>
            <a:ext cx="6492240" cy="978218"/>
            <a:chOff x="5166360" y="4493895"/>
            <a:chExt cx="6492240" cy="978218"/>
          </a:xfrm>
        </p:grpSpPr>
        <p:sp>
          <p:nvSpPr>
            <p:cNvPr id="82" name="Rectangle 82"/>
            <p:cNvSpPr/>
            <p:nvPr/>
          </p:nvSpPr>
          <p:spPr>
            <a:xfrm>
              <a:off x="5166360" y="4493895"/>
              <a:ext cx="6492240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5371148" y="4883468"/>
              <a:ext cx="200026" cy="200026"/>
              <a:chOff x="5371148" y="4883468"/>
              <a:chExt cx="200026" cy="200026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5371148" y="48834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5471160" y="49501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5460048" y="49834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5673852" y="4640580"/>
              <a:ext cx="553440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RAID 4 的校验块集中在一个盘，每次写都要改它，写只能排队。RAID 5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校验块分散在各盘，两个写操作用到的数据盘和校验盘互不相同时才能并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行，所以说“有条件”。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82713" cy="909257"/>
            <a:chOff x="520446" y="342900"/>
            <a:chExt cx="80827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827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28：探测信令回到发起者，说明出现了等待环路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3129915"/>
            <a:chOff x="533400" y="1524000"/>
            <a:chExt cx="4977765" cy="3129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129915"/>
            </a:xfrm>
            <a:prstGeom prst="roundRect">
              <a:avLst>
                <a:gd name="adj" fmla="val 426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28244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假设某分布式操作系统采用分布式的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Chandy-Misra-Haas 算法进行死锁检测。当进程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Pj 接收到进程 Pk 发出的探测信令 (i, k, j) 这一时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刻，系统出现了可能造成死锁的环路，则下面成立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的式子是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3589020"/>
              <a:ext cx="33162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 = k　B. i = j　C. k = j　D. i ≠ j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3924300"/>
              <a:ext cx="39381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B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。探测信令写作（发起者, 发送者, 接收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者），接收者 Pj 就是发起者 Pi 时成环。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4844415"/>
            <a:ext cx="4977765" cy="782955"/>
            <a:chOff x="533400" y="4844415"/>
            <a:chExt cx="4977765" cy="782955"/>
          </a:xfrm>
        </p:grpSpPr>
        <p:sp>
          <p:nvSpPr>
            <p:cNvPr id="14" name="Rectangle 14"/>
            <p:cNvSpPr/>
            <p:nvPr/>
          </p:nvSpPr>
          <p:spPr>
            <a:xfrm>
              <a:off x="533400" y="4844415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135880"/>
              <a:ext cx="200026" cy="200026"/>
              <a:chOff x="738188" y="5135880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135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202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7088" y="5235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993005"/>
              <a:ext cx="3987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本题与第 29 题属于课件第 9 章分布式操作系统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的内容。</a:t>
              </a:r>
            </a:p>
          </p:txBody>
        </p:sp>
      </p:grpSp>
      <p:grpSp>
        <p:nvGrpSpPr>
          <p:cNvPr id="40" name="c2-graph-1"/>
          <p:cNvGrpSpPr/>
          <p:nvPr/>
        </p:nvGrpSpPr>
        <p:grpSpPr>
          <a:xfrm>
            <a:off x="6415850" y="1799272"/>
            <a:ext cx="4614100" cy="936880"/>
            <a:chOff x="6415850" y="1799272"/>
            <a:chExt cx="4614100" cy="936880"/>
          </a:xfrm>
        </p:grpSpPr>
        <p:sp>
          <p:nvSpPr>
            <p:cNvPr id="21" name="Freeform 21"/>
            <p:cNvSpPr/>
            <p:nvPr/>
          </p:nvSpPr>
          <p:spPr>
            <a:xfrm>
              <a:off x="6811328" y="2137410"/>
              <a:ext cx="1614488" cy="9525"/>
            </a:xfrm>
            <a:custGeom>
              <a:avLst/>
              <a:gdLst/>
              <a:ahLst/>
              <a:cxnLst/>
              <a:rect l="l" t="t" r="r" b="b"/>
              <a:pathLst>
                <a:path w="1614488" h="9525">
                  <a:moveTo>
                    <a:pt x="0" y="0"/>
                  </a:moveTo>
                  <a:lnTo>
                    <a:pt x="16144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425815" y="20897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952548" y="2137410"/>
              <a:ext cx="1594485" cy="9525"/>
            </a:xfrm>
            <a:custGeom>
              <a:avLst/>
              <a:gdLst/>
              <a:ahLst/>
              <a:cxnLst/>
              <a:rect l="l" t="t" r="r" b="b"/>
              <a:pathLst>
                <a:path w="1594485" h="9525">
                  <a:moveTo>
                    <a:pt x="0" y="0"/>
                  </a:moveTo>
                  <a:lnTo>
                    <a:pt x="15944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547032" y="20897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886575" y="2210752"/>
              <a:ext cx="3769995" cy="521018"/>
            </a:xfrm>
            <a:custGeom>
              <a:avLst/>
              <a:gdLst/>
              <a:ahLst/>
              <a:cxnLst/>
              <a:rect l="l" t="t" r="r" b="b"/>
              <a:pathLst>
                <a:path w="3769995" h="521018">
                  <a:moveTo>
                    <a:pt x="3769995" y="0"/>
                  </a:moveTo>
                  <a:cubicBezTo>
                    <a:pt x="2490470" y="511810"/>
                    <a:pt x="1233805" y="521018"/>
                    <a:pt x="0" y="27623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797992" y="2194560"/>
              <a:ext cx="106680" cy="88582"/>
            </a:xfrm>
            <a:custGeom>
              <a:avLst/>
              <a:gdLst/>
              <a:ahLst/>
              <a:cxnLst/>
              <a:rect l="l" t="t" r="r" b="b"/>
              <a:pathLst>
                <a:path w="106680" h="88582">
                  <a:moveTo>
                    <a:pt x="0" y="8573"/>
                  </a:moveTo>
                  <a:lnTo>
                    <a:pt x="106680" y="0"/>
                  </a:lnTo>
                  <a:lnTo>
                    <a:pt x="71438" y="8858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6465570" y="1969770"/>
              <a:ext cx="335280" cy="33528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8531542" y="1931670"/>
              <a:ext cx="411480" cy="41148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10650855" y="1947862"/>
              <a:ext cx="379095" cy="379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47662" y="2057876"/>
              <a:ext cx="1710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15850" y="179927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发起者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609873" y="2057876"/>
              <a:ext cx="2548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731598" y="2057876"/>
              <a:ext cx="2176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351395" y="2037398"/>
              <a:ext cx="629602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67083" y="2074545"/>
              <a:ext cx="5972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(i, i, m)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465945" y="2037398"/>
              <a:ext cx="662940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481109" y="2074545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(i, m, k)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030528" y="2492692"/>
              <a:ext cx="1403032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23965" y="2530793"/>
              <a:ext cx="14171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(i, k, i)：回到发起者</a:t>
              </a:r>
            </a:p>
          </p:txBody>
        </p:sp>
      </p:grpSp>
      <p:grpSp>
        <p:nvGrpSpPr>
          <p:cNvPr id="54" name="c2-steps-2"/>
          <p:cNvGrpSpPr/>
          <p:nvPr/>
        </p:nvGrpSpPr>
        <p:grpSpPr>
          <a:xfrm>
            <a:off x="5815965" y="3914775"/>
            <a:ext cx="5578729" cy="2112930"/>
            <a:chOff x="5815965" y="3914775"/>
            <a:chExt cx="5578729" cy="2112930"/>
          </a:xfrm>
        </p:grpSpPr>
        <p:sp>
          <p:nvSpPr>
            <p:cNvPr id="41" name="Rectangle 41"/>
            <p:cNvSpPr/>
            <p:nvPr/>
          </p:nvSpPr>
          <p:spPr>
            <a:xfrm>
              <a:off x="5949315" y="405765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5815965" y="391477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09589" y="3988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15965" y="45653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09589" y="46391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15965" y="545115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09589" y="55249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27445" y="3949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28588" y="4242911"/>
              <a:ext cx="42415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因等待 Pm 占有的资源而阻塞，向 Pm 发出 (i, i, m)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27445" y="459962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转发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28588" y="4893469"/>
              <a:ext cx="51661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收到信令的进程若也在等待，就把第 2、3 项改成自己和它所等的进程，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项保持 i 不变，继续发送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27445" y="548544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判环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28588" y="5778341"/>
              <a:ext cx="48534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信令又被 Pi 收到，即 (i, k, j) 中 j = i，说明等待关系首尾相接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99118" cy="909257"/>
            <a:chOff x="520446" y="342900"/>
            <a:chExt cx="97991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991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29：无状态服务的每个请求自带全部信息，服务器不记状态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977765" cy="4730115"/>
            <a:chOff x="533400" y="1524000"/>
            <a:chExt cx="4977765" cy="47301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730115"/>
            </a:xfrm>
            <a:prstGeom prst="roundRect">
              <a:avLst>
                <a:gd name="adj" fmla="val 281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6724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7175" y="1756410"/>
              <a:ext cx="501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29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分布式操作系统的文件系统中，对于文件访问的无状态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服务有如下论述：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35080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Ⅰ. API 界面中不包含文件打开和关闭命令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989421"/>
              <a:ext cx="441477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Ⅱ. 服务器端在内存文件控制表中应保持远程文件访问的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控制信息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4281" y="3579019"/>
              <a:ext cx="360324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Ⅲ. 每个文件读/写命令必须是自包含的（self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contained）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4281" y="4168616"/>
              <a:ext cx="1826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Ⅳ. 打开文件数有限制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4281" y="4485799"/>
              <a:ext cx="427050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其中正确的论述是　A. Ⅰ和Ⅲ　B. Ⅰ和Ⅳ　C. Ⅱ和Ⅲ　D.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Ⅱ和Ⅳ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5075396"/>
              <a:ext cx="29626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A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。Ⅱ、Ⅳ 说的是有状态服务。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5815965" y="1524000"/>
            <a:ext cx="5842635" cy="3792855"/>
            <a:chOff x="5815965" y="1524000"/>
            <a:chExt cx="5842635" cy="3792855"/>
          </a:xfrm>
        </p:grpSpPr>
        <p:sp>
          <p:nvSpPr>
            <p:cNvPr id="18" name="Rectangle 18"/>
            <p:cNvSpPr/>
            <p:nvPr/>
          </p:nvSpPr>
          <p:spPr>
            <a:xfrm>
              <a:off x="5815965" y="1524000"/>
              <a:ext cx="5842635" cy="4629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8285" y="165592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05458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有状态服务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50475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无状态服务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17311" y="2119789"/>
              <a:ext cx="14571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服务器保存访问信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69911" y="2119789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保存（内存中的打开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文件表）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714928" y="224647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不保存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815965" y="26993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815965" y="2704148"/>
              <a:ext cx="5842635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17311" y="2836069"/>
              <a:ext cx="1321943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open、close 命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69911" y="2962751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714928" y="296275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815965" y="341566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17311" y="367903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每个读写请求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69911" y="3552349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带上打开时得到的文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件标识即可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14928" y="3552349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自带文件名、读写位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置等全部信息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41328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15965" y="4137660"/>
              <a:ext cx="584263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17311" y="426958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打开文件数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69911" y="426958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受表长限制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14928" y="426958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不受限制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459581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17311" y="485917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服务器崩溃后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69911" y="4732496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表中状态丢失，要重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14928" y="485917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重启后照常处理请求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1524000"/>
              <a:ext cx="5842635" cy="37928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563802" y="1524000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608820" y="1524000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llout-2"/>
          <p:cNvGrpSpPr/>
          <p:nvPr/>
        </p:nvGrpSpPr>
        <p:grpSpPr>
          <a:xfrm>
            <a:off x="5815965" y="5497830"/>
            <a:ext cx="5842635" cy="756285"/>
            <a:chOff x="5815965" y="5497830"/>
            <a:chExt cx="5842635" cy="756285"/>
          </a:xfrm>
        </p:grpSpPr>
        <p:sp>
          <p:nvSpPr>
            <p:cNvPr id="47" name="Rectangle 47"/>
            <p:cNvSpPr/>
            <p:nvPr/>
          </p:nvSpPr>
          <p:spPr>
            <a:xfrm>
              <a:off x="5815965" y="5497830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020753" y="5775960"/>
              <a:ext cx="200026" cy="200025"/>
              <a:chOff x="6020753" y="5775960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020753" y="57759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060491" y="58204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095207" y="59315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323076" y="5644991"/>
              <a:ext cx="490169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记法：无状态就是服务器“什么都不记”，所以命令要自包含，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也谈不上打开文件表的长度限制。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21175" cy="909257"/>
            <a:chOff x="520446" y="342900"/>
            <a:chExt cx="92211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单项选择题（30 题）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211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30：一次性口令，主机用 f(Pi) 核对上一次收到的口令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544378" cy="3202305"/>
            <a:chOff x="533400" y="1524000"/>
            <a:chExt cx="4544378" cy="3202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3202305"/>
            </a:xfrm>
            <a:prstGeom prst="roundRect">
              <a:avLst>
                <a:gd name="adj" fmla="val 416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114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单选 30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949065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假设用户远程登录采用一次性口令。设单向函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数为 y = f(x)，用户初次选定口令为 S，S 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用次数为 n。用户第 i 次登录时传送给主机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Pi，主机验证用户登录口令要计算 f(Pi)，实际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上与 f(Pi) 相等的是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9"/>
                <p:cNvSpPr txBox="1">
                  <a:spLocks noGrp="1"/>
                </p:cNvSpPr>
                <p:nvPr/>
              </p:nvSpPr>
              <p:spPr>
                <a:xfrm>
                  <a:off x="742950" y="3564255"/>
                  <a:ext cx="412527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A.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B.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0"/>
                <p:cNvSpPr txBox="1">
                  <a:spLocks noGrp="1"/>
                </p:cNvSpPr>
                <p:nvPr/>
              </p:nvSpPr>
              <p:spPr>
                <a:xfrm>
                  <a:off x="742950" y="4078605"/>
                  <a:ext cx="412527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C.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D.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9" name="c1-callout-2"/>
          <p:cNvGrpSpPr/>
          <p:nvPr/>
        </p:nvGrpSpPr>
        <p:grpSpPr>
          <a:xfrm>
            <a:off x="533400" y="4916805"/>
            <a:ext cx="4544378" cy="533400"/>
            <a:chOff x="533400" y="4916805"/>
            <a:chExt cx="4544378" cy="533400"/>
          </a:xfrm>
        </p:grpSpPr>
        <p:sp>
          <p:nvSpPr>
            <p:cNvPr id="14" name="Rectangle 14"/>
            <p:cNvSpPr/>
            <p:nvPr/>
          </p:nvSpPr>
          <p:spPr>
            <a:xfrm>
              <a:off x="533400" y="4916805"/>
              <a:ext cx="4544378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5083493"/>
              <a:ext cx="200026" cy="200026"/>
              <a:chOff x="738188" y="5083493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0834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516128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5078730"/>
              <a:ext cx="600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答案 D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382578" y="1524000"/>
            <a:ext cx="6276022" cy="2244090"/>
            <a:chOff x="5382578" y="1524000"/>
            <a:chExt cx="6276022" cy="2244090"/>
          </a:xfrm>
        </p:grpSpPr>
        <p:sp>
          <p:nvSpPr>
            <p:cNvPr id="20" name="Rectangle 20"/>
            <p:cNvSpPr/>
            <p:nvPr/>
          </p:nvSpPr>
          <p:spPr>
            <a:xfrm>
              <a:off x="5382578" y="15240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7057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554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客户端发送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3458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主机计算并比较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232733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之后口令文件存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90401" y="210835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48942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6916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156899" y="2108359"/>
              <a:ext cx="13708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 = fⁿ⁺¹(S)，n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82578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82578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490401" y="2556986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49288" y="2556986"/>
              <a:ext cx="9070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= fⁿ(S)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25727" y="2556986"/>
              <a:ext cx="17946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f(P1) = fⁿ⁺¹(S) = P0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55684" y="2556986"/>
              <a:ext cx="7732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P1，n − 1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82578" y="28660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490401" y="3005614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50939" y="3005614"/>
              <a:ext cx="11037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= fⁿ⁻¹(S)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23718" y="3005614"/>
              <a:ext cx="15986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f(P2) = fⁿ(S) = P1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55684" y="3005614"/>
              <a:ext cx="7732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P2，n − 2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82578" y="33147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82578" y="331946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490401" y="3454241"/>
              <a:ext cx="5204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i 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80591" y="3454241"/>
              <a:ext cx="12444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= fⁿ⁻ⁱ⁺¹(S)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027670" y="3328988"/>
              <a:ext cx="198882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258831" y="3454241"/>
              <a:ext cx="1528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f(Pi) = fⁿ⁻ⁱ⁺²(S)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760525" y="3454241"/>
              <a:ext cx="1635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1524000"/>
              <a:ext cx="627602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38175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01338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02220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rd-2"/>
          <p:cNvGrpSpPr/>
          <p:nvPr/>
        </p:nvGrpSpPr>
        <p:grpSpPr>
          <a:xfrm>
            <a:off x="5382578" y="3958590"/>
            <a:ext cx="6276022" cy="1937385"/>
            <a:chOff x="5382578" y="3958590"/>
            <a:chExt cx="6276022" cy="1937385"/>
          </a:xfrm>
        </p:grpSpPr>
        <p:sp>
          <p:nvSpPr>
            <p:cNvPr id="52" name="Rectangle 52"/>
            <p:cNvSpPr/>
            <p:nvPr/>
          </p:nvSpPr>
          <p:spPr>
            <a:xfrm>
              <a:off x="5382578" y="3958590"/>
              <a:ext cx="6276022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92102" y="409194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630228" y="4168140"/>
              <a:ext cx="25498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658838" y="4203859"/>
              <a:ext cx="2491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一次性口令（one time password）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5635942" y="46081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794058" y="4545330"/>
              <a:ext cx="5415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基于单向函数 y = f(x)：给定 x 容易算出 y，给定 y 在计算上不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可能求出 x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5635942" y="52292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794058" y="5166360"/>
              <a:ext cx="5320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用户每次输入的都是 s，客户端算出本次口令再发送；截获的口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令已用过，主机又无法由它倒推下一次的口令，因此能抗截取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246114" cy="3351847"/>
            <a:chOff x="667512" y="1835468"/>
            <a:chExt cx="624611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2050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 · 综合题（一）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调度、死锁与分配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二、进程调度　三、死锁静态分析　四、伙伴堆　五、成组链接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9184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可抢占 SJF 的甘特图与平均时间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状态图找环，判断能否同时到达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850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 与块组位图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超级块分配一个磁盘块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12556" cy="909257"/>
            <a:chOff x="520446" y="342900"/>
            <a:chExt cx="91125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125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二、进程调度（10 分）：到达即比较剩余时间，画出甘特图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card-1"/>
          <p:cNvGrpSpPr/>
          <p:nvPr/>
        </p:nvGrpSpPr>
        <p:grpSpPr>
          <a:xfrm>
            <a:off x="533400" y="1524000"/>
            <a:ext cx="4760595" cy="4641532"/>
            <a:chOff x="533400" y="1524000"/>
            <a:chExt cx="4760595" cy="46415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641532"/>
            </a:xfrm>
            <a:prstGeom prst="roundRect">
              <a:avLst>
                <a:gd name="adj" fmla="val 287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29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20738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已知四个进程到达就绪队列的时间和 CPU 阵发时间如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下（单位：毫秒）：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31520" y="2648902"/>
              <a:ext cx="436435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89672" y="277653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32113" y="27765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到达时间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988498" y="27765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阵发时间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2644" y="3201352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10777" y="32013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67162" y="32013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31520" y="3492818"/>
              <a:ext cx="43643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1520" y="3497580"/>
              <a:ext cx="436435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52644" y="362616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10777" y="362616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67162" y="362616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31520" y="3916680"/>
              <a:ext cx="43643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52644" y="405003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10777" y="40500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67162" y="40500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31520" y="4341495"/>
              <a:ext cx="43643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1520" y="4346258"/>
              <a:ext cx="436435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52644" y="447484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66352" y="447484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67162" y="44748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31520" y="2648902"/>
              <a:ext cx="4364355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978342" y="264890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3534728" y="264890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24281" y="4883944"/>
              <a:ext cx="419836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画出按可抢占短作业优先 CPU 调度算法得到的调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度结果甘特图；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4281" y="5472589"/>
              <a:ext cx="415328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计算四个进程的平均等待时间、平均周转时间、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平均带权周转时间。</a:t>
              </a:r>
            </a:p>
          </p:txBody>
        </p:sp>
      </p:grpSp>
      <p:grpSp>
        <p:nvGrpSpPr>
          <p:cNvPr id="57" name="c2-graph-1"/>
          <p:cNvGrpSpPr/>
          <p:nvPr/>
        </p:nvGrpSpPr>
        <p:grpSpPr>
          <a:xfrm>
            <a:off x="5797477" y="1619250"/>
            <a:ext cx="5702265" cy="819721"/>
            <a:chOff x="5797477" y="1619250"/>
            <a:chExt cx="5702265" cy="819721"/>
          </a:xfrm>
        </p:grpSpPr>
        <p:sp>
          <p:nvSpPr>
            <p:cNvPr id="38" name="Rectangle 38"/>
            <p:cNvSpPr/>
            <p:nvPr/>
          </p:nvSpPr>
          <p:spPr>
            <a:xfrm>
              <a:off x="5876925" y="1619250"/>
              <a:ext cx="376238" cy="394335"/>
            </a:xfrm>
            <a:prstGeom prst="roundRect">
              <a:avLst>
                <a:gd name="adj" fmla="val 2531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339840" y="1619250"/>
              <a:ext cx="787718" cy="394335"/>
            </a:xfrm>
            <a:prstGeom prst="roundRect">
              <a:avLst>
                <a:gd name="adj" fmla="val 24155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239952" y="1619250"/>
              <a:ext cx="993458" cy="394335"/>
            </a:xfrm>
            <a:prstGeom prst="roundRect">
              <a:avLst>
                <a:gd name="adj" fmla="val 24155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329612" y="1619250"/>
              <a:ext cx="376238" cy="394335"/>
            </a:xfrm>
            <a:prstGeom prst="roundRect">
              <a:avLst>
                <a:gd name="adj" fmla="val 2531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801100" y="1619250"/>
              <a:ext cx="993458" cy="394335"/>
            </a:xfrm>
            <a:prstGeom prst="roundRect">
              <a:avLst>
                <a:gd name="adj" fmla="val 24155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32670" y="1619250"/>
              <a:ext cx="1405890" cy="394335"/>
            </a:xfrm>
            <a:prstGeom prst="roundRect">
              <a:avLst>
                <a:gd name="adj" fmla="val 2415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66852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35507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39442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419539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00589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37899" y="174640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97477" y="223361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43247" y="223361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35739" y="223361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211293" y="223361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57063" y="223361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772440" y="223361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33588" y="223361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  <p:grpSp>
        <p:nvGrpSpPr>
          <p:cNvPr id="95" name="c2-table-2"/>
          <p:cNvGrpSpPr/>
          <p:nvPr/>
        </p:nvGrpSpPr>
        <p:grpSpPr>
          <a:xfrm>
            <a:off x="5598795" y="2618422"/>
            <a:ext cx="6059805" cy="3395662"/>
            <a:chOff x="5598795" y="2618422"/>
            <a:chExt cx="6059805" cy="3395662"/>
          </a:xfrm>
        </p:grpSpPr>
        <p:sp>
          <p:nvSpPr>
            <p:cNvPr id="58" name="Rectangle 58"/>
            <p:cNvSpPr/>
            <p:nvPr/>
          </p:nvSpPr>
          <p:spPr>
            <a:xfrm>
              <a:off x="5598795" y="2618422"/>
              <a:ext cx="605980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825490" y="27470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97774" y="27470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事件与比较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975658" y="27470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940388" y="317182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89002" y="3171825"/>
              <a:ext cx="948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P1 到达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043323" y="3171825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598795" y="3462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598795" y="3467100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940388" y="35956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489002" y="3595688"/>
              <a:ext cx="2209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到达：4 &lt; P1 剩余 5，抢占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043323" y="3595688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598795" y="38871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940388" y="40205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89002" y="4020502"/>
              <a:ext cx="2371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到达：9 &gt; P2 剩余 2，不抢占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043323" y="4020502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598795" y="43119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5598795" y="4316730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5940388" y="44443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489002" y="4444365"/>
              <a:ext cx="21770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完成：P1 剩余 5 &lt; P3 的 9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043323" y="4444365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598795" y="473583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893742" y="486918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489002" y="4869180"/>
              <a:ext cx="1297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完成，只剩 P3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043323" y="4869180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5598795" y="516064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5598795" y="5165408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893742" y="529399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6489002" y="5293995"/>
              <a:ext cx="2209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到达：5 &lt; P3 剩余 7，抢占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043323" y="5293995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598795" y="558450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5893742" y="571785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489002" y="5717858"/>
              <a:ext cx="1685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完成，P3 运行到 25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043323" y="5717858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5598795" y="2618422"/>
              <a:ext cx="6059805" cy="33956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3" name="Rectangle 93"/>
            <p:cNvSpPr/>
            <p:nvPr/>
          </p:nvSpPr>
          <p:spPr>
            <a:xfrm>
              <a:off x="6381750" y="2618422"/>
              <a:ext cx="9525" cy="33956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10624185" y="2618422"/>
              <a:ext cx="9525" cy="33956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6" name="TextBox 96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76335" cy="909257"/>
            <a:chOff x="520446" y="342900"/>
            <a:chExt cx="77763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763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二、解（2）：列表算出等待、周转和带权周转时间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6" name="c1-table-1"/>
          <p:cNvGrpSpPr/>
          <p:nvPr/>
        </p:nvGrpSpPr>
        <p:grpSpPr>
          <a:xfrm>
            <a:off x="528447" y="1524000"/>
            <a:ext cx="6064758" cy="2263806"/>
            <a:chOff x="528447" y="1524000"/>
            <a:chExt cx="6064758" cy="22638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8934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1420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到达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43907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6393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975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周转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1462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73063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带权周转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8117" y="204549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23520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4838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31787" y="20454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57604" y="20454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2393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66331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11/7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319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3241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8117" y="244554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23520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4838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73250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99067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23932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990720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27193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48117" y="284559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23520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4838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331787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57604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982469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866331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21/9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1194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33400" y="31242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8117" y="324564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682057" y="32456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548385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331787" y="32456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199067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023932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90720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1524000"/>
              <a:ext cx="605980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353502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2178368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3003232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3829050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653915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478780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8447" y="3597116"/>
              <a:ext cx="38226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周转 = 完成 − 到达；等待 = 周转 − 运行；带权周转 = 周转 ÷ 运行</a:t>
              </a:r>
            </a:p>
          </p:txBody>
        </p:sp>
      </p:grpSp>
      <p:grpSp>
        <p:nvGrpSpPr>
          <p:cNvPr id="70" name="c1-steps-2"/>
          <p:cNvGrpSpPr/>
          <p:nvPr/>
        </p:nvGrpSpPr>
        <p:grpSpPr>
          <a:xfrm>
            <a:off x="533400" y="3929062"/>
            <a:ext cx="4382643" cy="1685450"/>
            <a:chOff x="533400" y="3929062"/>
            <a:chExt cx="4382643" cy="1685450"/>
          </a:xfrm>
        </p:grpSpPr>
        <p:sp>
          <p:nvSpPr>
            <p:cNvPr id="57" name="Rectangle 57"/>
            <p:cNvSpPr/>
            <p:nvPr/>
          </p:nvSpPr>
          <p:spPr>
            <a:xfrm>
              <a:off x="666750" y="4071938"/>
              <a:ext cx="19050" cy="1165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533400" y="392906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27024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533400" y="45119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7024" y="4585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533400" y="509492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27024" y="51687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45642" y="396144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平均等待时间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46785" y="4228624"/>
              <a:ext cx="1865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 + 0 + 12 + 0) ÷ 4 = 4 ms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45642" y="454437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平均周转时间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46785" y="481155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(11 + 4 + 21 + 5) ÷ 4 = 41 ÷ 4 = 10.25 ms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45642" y="512730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平均带权周转时间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46785" y="5394484"/>
              <a:ext cx="39692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(11/7 + 1 + 21/9 + 1) ÷ 4 = (372/63) ÷ 4 = 31/21 ≈ 1.48</a:t>
              </a:r>
            </a:p>
          </p:txBody>
        </p:sp>
      </p:grpSp>
      <p:grpSp>
        <p:nvGrpSpPr>
          <p:cNvPr id="78" name="c2-card-1"/>
          <p:cNvGrpSpPr/>
          <p:nvPr/>
        </p:nvGrpSpPr>
        <p:grpSpPr>
          <a:xfrm>
            <a:off x="6898005" y="1524000"/>
            <a:ext cx="4760595" cy="2106930"/>
            <a:chOff x="6898005" y="1524000"/>
            <a:chExt cx="4760595" cy="2106930"/>
          </a:xfrm>
        </p:grpSpPr>
        <p:sp>
          <p:nvSpPr>
            <p:cNvPr id="71" name="Rectangle 71"/>
            <p:cNvSpPr/>
            <p:nvPr/>
          </p:nvSpPr>
          <p:spPr>
            <a:xfrm>
              <a:off x="6898005" y="1524000"/>
              <a:ext cx="4760595" cy="2106930"/>
            </a:xfrm>
            <a:prstGeom prst="roundRect">
              <a:avLst>
                <a:gd name="adj" fmla="val 63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6907530" y="1657350"/>
              <a:ext cx="47625" cy="18402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122795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214514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formula27"/>
                <p:cNvSpPr txBox="1">
                  <a:spLocks noGrp="1"/>
                </p:cNvSpPr>
                <p:nvPr/>
              </p:nvSpPr>
              <p:spPr>
                <a:xfrm>
                  <a:off x="7122795" y="2032635"/>
                  <a:ext cx="4349115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T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W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formula28"/>
                <p:cNvSpPr txBox="1">
                  <a:spLocks noGrp="1"/>
                </p:cNvSpPr>
                <p:nvPr/>
              </p:nvSpPr>
              <p:spPr>
                <a:xfrm>
                  <a:off x="7122795" y="2605088"/>
                  <a:ext cx="4349115" cy="5610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bar>
                          <m:barPr>
                            <m:pos m:val="top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bar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</m:ba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bar>
                          <m:barPr>
                            <m:pos m:val="top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bar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</m:e>
                        </m:ba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77" name="TextBox 77"/>
            <p:cNvSpPr txBox="1"/>
            <p:nvPr/>
          </p:nvSpPr>
          <p:spPr>
            <a:xfrm>
              <a:off x="7117080" y="3268504"/>
              <a:ext cx="29964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t_f 完成时间，t_s 进入时间，R 运行时间。</a:t>
              </a:r>
            </a:p>
          </p:txBody>
        </p:sp>
      </p:grpSp>
      <p:grpSp>
        <p:nvGrpSpPr>
          <p:cNvPr id="84" name="c2-card-2"/>
          <p:cNvGrpSpPr/>
          <p:nvPr/>
        </p:nvGrpSpPr>
        <p:grpSpPr>
          <a:xfrm>
            <a:off x="6898005" y="3800475"/>
            <a:ext cx="4760595" cy="1443038"/>
            <a:chOff x="6898005" y="3800475"/>
            <a:chExt cx="4760595" cy="1443038"/>
          </a:xfrm>
        </p:grpSpPr>
        <p:sp>
          <p:nvSpPr>
            <p:cNvPr id="79" name="Rectangle 79"/>
            <p:cNvSpPr/>
            <p:nvPr/>
          </p:nvSpPr>
          <p:spPr>
            <a:xfrm>
              <a:off x="6898005" y="3800475"/>
              <a:ext cx="476059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6907530" y="3933825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7122795" y="398716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214514" y="40200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115937" y="4331970"/>
              <a:ext cx="38027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原课件最后一步写作“372/63×4≈1.475ms”。应为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372/63 ÷ 4 = 31/21 ≈ 1.476；带权周转时间是比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值，没有 ms 单位。</a:t>
              </a:r>
            </a:p>
          </p:txBody>
        </p:sp>
      </p:grpSp>
      <p:grpSp>
        <p:nvGrpSpPr>
          <p:cNvPr id="91" name="c2-callout-3"/>
          <p:cNvGrpSpPr/>
          <p:nvPr/>
        </p:nvGrpSpPr>
        <p:grpSpPr>
          <a:xfrm>
            <a:off x="6898005" y="5414010"/>
            <a:ext cx="4760595" cy="729615"/>
            <a:chOff x="6898005" y="5414010"/>
            <a:chExt cx="4760595" cy="729615"/>
          </a:xfrm>
        </p:grpSpPr>
        <p:sp>
          <p:nvSpPr>
            <p:cNvPr id="85" name="Rectangle 85"/>
            <p:cNvSpPr/>
            <p:nvPr/>
          </p:nvSpPr>
          <p:spPr>
            <a:xfrm>
              <a:off x="6898005" y="5414010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7102793" y="5678805"/>
              <a:ext cx="200026" cy="200025"/>
              <a:chOff x="7102793" y="5678805"/>
              <a:chExt cx="200026" cy="200025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7102793" y="56788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7142531" y="57232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7177247" y="58343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7405497" y="5559742"/>
              <a:ext cx="386276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自查：P3 在 4～11 和 13～18 两段共等待 12 ms，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与表中一致。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99118" cy="909257"/>
            <a:chOff x="520446" y="342900"/>
            <a:chExt cx="97991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991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三、死锁静态分析（10 分）：已知活动序列，判断有无死锁可能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3117532"/>
            <a:chOff x="533400" y="1524000"/>
            <a:chExt cx="5410200" cy="31175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117532"/>
            </a:xfrm>
            <a:prstGeom prst="roundRect">
              <a:avLst>
                <a:gd name="adj" fmla="val 42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2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8057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设有 7 个简单资源 A～G，申请命令分别为 a～g，释放命令这里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写作 −a～−g（原题在字母上加横线）。三个进程有关资源的活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动序列为：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20090" y="2847022"/>
              <a:ext cx="5036820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8487" y="29989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8487" y="3259931"/>
              <a:ext cx="2542667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P1: a  b  -a  -b  e  f  g  -e  -f  -g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P2: b  c  -b  -c  d  a  -d  -a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P3: c  d  -c  -d  g  f  e  -e  -f  -g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3232" y="3987165"/>
              <a:ext cx="47971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 P1、P2、P3 并发执行时，是否有发生死锁的可能性，并说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明原因。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4812030"/>
            <a:ext cx="5410200" cy="1446848"/>
            <a:chOff x="533400" y="4812030"/>
            <a:chExt cx="5410200" cy="1446848"/>
          </a:xfrm>
        </p:grpSpPr>
        <p:sp>
          <p:nvSpPr>
            <p:cNvPr id="16" name="Rectangle 16"/>
            <p:cNvSpPr/>
            <p:nvPr/>
          </p:nvSpPr>
          <p:spPr>
            <a:xfrm>
              <a:off x="533400" y="4812030"/>
              <a:ext cx="5410200" cy="1446848"/>
            </a:xfrm>
            <a:prstGeom prst="roundRect">
              <a:avLst>
                <a:gd name="adj" fmla="val 92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945380"/>
              <a:ext cx="47625" cy="118014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8190" y="499872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0862" y="503158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死锁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332" y="5342573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一组进程中的每一个进程，均无限期地等待此组进程中某个其他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进程占有的、因而永远无法得到的资源。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2475" y="5896451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发生条件：资源独占、不可掠夺、保持申请、循环等待。</a:t>
              </a:r>
            </a:p>
          </p:txBody>
        </p:sp>
      </p:grpSp>
      <p:grpSp>
        <p:nvGrpSpPr>
          <p:cNvPr id="44" name="c2-steps-1"/>
          <p:cNvGrpSpPr/>
          <p:nvPr/>
        </p:nvGrpSpPr>
        <p:grpSpPr>
          <a:xfrm>
            <a:off x="6248400" y="1533525"/>
            <a:ext cx="5309906" cy="3265646"/>
            <a:chOff x="6248400" y="1533525"/>
            <a:chExt cx="5309906" cy="3265646"/>
          </a:xfrm>
        </p:grpSpPr>
        <p:sp>
          <p:nvSpPr>
            <p:cNvPr id="23" name="Rectangle 23"/>
            <p:cNvSpPr/>
            <p:nvPr/>
          </p:nvSpPr>
          <p:spPr>
            <a:xfrm>
              <a:off x="6381750" y="1676400"/>
              <a:ext cx="19050" cy="2538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48400" y="21164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2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48400" y="269938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2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48400" y="34890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42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48400" y="407193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2024" y="41457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0642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列状态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1785" y="1833086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进程每次“占着资源又申请一个资源”记为一个状态（进程 : 请求 : 占有）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0642" y="21478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画节点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1785" y="241601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每个状态作为一个节点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0642" y="27308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61785" y="2998946"/>
              <a:ext cx="47764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 申请的资源被 s2 占有，就由 s1 向 s2 画有向弧；同一进程的状态之间不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0642" y="352139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1785" y="37885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找出所有环路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60642" y="410432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判可达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61785" y="4371499"/>
              <a:ext cx="45631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环上状态能同时到达则有死锁可能。环中有相同进程或相同的被占有资源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时，一定不能同时到达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6248400" y="4962525"/>
            <a:ext cx="5410200" cy="729615"/>
            <a:chOff x="6248400" y="4962525"/>
            <a:chExt cx="5410200" cy="729615"/>
          </a:xfrm>
        </p:grpSpPr>
        <p:sp>
          <p:nvSpPr>
            <p:cNvPr id="45" name="Rectangle 45"/>
            <p:cNvSpPr/>
            <p:nvPr/>
          </p:nvSpPr>
          <p:spPr>
            <a:xfrm>
              <a:off x="6248400" y="496252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53188" y="5227320"/>
              <a:ext cx="200026" cy="200026"/>
              <a:chOff x="6453188" y="5227320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453188" y="52273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53200" y="52939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42088" y="53273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892" y="5109210"/>
              <a:ext cx="431711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例：P1 占 a 再申请 b，记为 (P1 : b : a)；P2 释放 b、c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后空手申请 d，不构成状态。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34128" cy="909257"/>
            <a:chOff x="520446" y="342900"/>
            <a:chExt cx="85341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341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三、解（1）：列出 8 个状态，画出申请与占有的状态图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28447" y="1524000"/>
            <a:ext cx="3900678" cy="2263806"/>
            <a:chOff x="528447" y="1524000"/>
            <a:chExt cx="3900678" cy="22638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89572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648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29188" y="1645444"/>
              <a:ext cx="1883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状态（进程 : 请求 : 占有）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14550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09700" y="2045494"/>
              <a:ext cx="174675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(P1 : b : a)、(P1 : f : e)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(P1 : g : e,f)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19362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524125"/>
              <a:ext cx="389572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64556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09700" y="2645569"/>
              <a:ext cx="18827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(P2 : c : b)、(P2 : a : d)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19412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314563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09700" y="3045619"/>
              <a:ext cx="174675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(P3 : d : c)、(P3 : f : g)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(P3 : e : f,g)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389572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307782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8447" y="3597116"/>
              <a:ext cx="31365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申请 a、b 等第一个资源时还没占有资源，不构成状态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3919538"/>
            <a:ext cx="3895725" cy="2004060"/>
            <a:chOff x="533400" y="3919538"/>
            <a:chExt cx="3895725" cy="2004060"/>
          </a:xfrm>
        </p:grpSpPr>
        <p:sp>
          <p:nvSpPr>
            <p:cNvPr id="23" name="Rectangle 23"/>
            <p:cNvSpPr/>
            <p:nvPr/>
          </p:nvSpPr>
          <p:spPr>
            <a:xfrm>
              <a:off x="533400" y="3919538"/>
              <a:ext cx="3895725" cy="2004060"/>
            </a:xfrm>
            <a:prstGeom prst="roundRect">
              <a:avLst>
                <a:gd name="adj" fmla="val 66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052888"/>
              <a:ext cx="47625" cy="173736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8190" y="410622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2759" y="413908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连弧举例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66762" y="45072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2782" y="4451032"/>
              <a:ext cx="30655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(P1 : b : a) 要 b，b 被 (P2 : c : b) 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着，画一条弧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66762" y="506444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2782" y="5008245"/>
              <a:ext cx="30655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(P1 : g : e,f) 要 g，占着 g 的有 (P3 :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: g) 和 (P3 : e : f,g)，画两条弧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2475" y="556212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红色为可能死锁的环路，灰色为不可能出现的环路。</a:t>
              </a:r>
            </a:p>
          </p:txBody>
        </p:sp>
      </p:grpSp>
      <p:grpSp>
        <p:nvGrpSpPr>
          <p:cNvPr id="77" name="c2-graph-1"/>
          <p:cNvGrpSpPr/>
          <p:nvPr/>
        </p:nvGrpSpPr>
        <p:grpSpPr>
          <a:xfrm>
            <a:off x="5220652" y="1878330"/>
            <a:ext cx="5951221" cy="4406741"/>
            <a:chOff x="5220652" y="1878330"/>
            <a:chExt cx="5951221" cy="4406741"/>
          </a:xfrm>
        </p:grpSpPr>
        <p:sp>
          <p:nvSpPr>
            <p:cNvPr id="33" name="Freeform 33"/>
            <p:cNvSpPr/>
            <p:nvPr/>
          </p:nvSpPr>
          <p:spPr>
            <a:xfrm>
              <a:off x="6183630" y="2007870"/>
              <a:ext cx="1437322" cy="9525"/>
            </a:xfrm>
            <a:custGeom>
              <a:avLst/>
              <a:gdLst/>
              <a:ahLst/>
              <a:cxnLst/>
              <a:rect l="l" t="t" r="r" b="b"/>
              <a:pathLst>
                <a:path w="1437322" h="9525">
                  <a:moveTo>
                    <a:pt x="0" y="0"/>
                  </a:moveTo>
                  <a:lnTo>
                    <a:pt x="143732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620952" y="19602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8676322" y="2007870"/>
              <a:ext cx="1437322" cy="9525"/>
            </a:xfrm>
            <a:custGeom>
              <a:avLst/>
              <a:gdLst/>
              <a:ahLst/>
              <a:cxnLst/>
              <a:rect l="l" t="t" r="r" b="b"/>
              <a:pathLst>
                <a:path w="1437322" h="9525">
                  <a:moveTo>
                    <a:pt x="0" y="0"/>
                  </a:moveTo>
                  <a:lnTo>
                    <a:pt x="143732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113645" y="19602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561070" y="2138362"/>
              <a:ext cx="1848803" cy="860108"/>
            </a:xfrm>
            <a:custGeom>
              <a:avLst/>
              <a:gdLst/>
              <a:ahLst/>
              <a:cxnLst/>
              <a:rect l="l" t="t" r="r" b="b"/>
              <a:pathLst>
                <a:path w="1848803" h="860108">
                  <a:moveTo>
                    <a:pt x="1848803" y="0"/>
                  </a:moveTo>
                  <a:lnTo>
                    <a:pt x="0" y="86010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475345" y="2955608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0" y="83820"/>
                  </a:moveTo>
                  <a:lnTo>
                    <a:pt x="65723" y="0"/>
                  </a:lnTo>
                  <a:lnTo>
                    <a:pt x="106680" y="8667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6068378" y="2178368"/>
              <a:ext cx="1848803" cy="861060"/>
            </a:xfrm>
            <a:custGeom>
              <a:avLst/>
              <a:gdLst/>
              <a:ahLst/>
              <a:cxnLst/>
              <a:rect l="l" t="t" r="r" b="b"/>
              <a:pathLst>
                <a:path w="1848803" h="861060">
                  <a:moveTo>
                    <a:pt x="1848803" y="86106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5981700" y="2134552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0" y="3810"/>
                  </a:moveTo>
                  <a:lnTo>
                    <a:pt x="106680" y="0"/>
                  </a:lnTo>
                  <a:lnTo>
                    <a:pt x="66675" y="8667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6252210" y="4523422"/>
              <a:ext cx="3722370" cy="270193"/>
            </a:xfrm>
            <a:custGeom>
              <a:avLst/>
              <a:gdLst/>
              <a:ahLst/>
              <a:cxnLst/>
              <a:rect l="l" t="t" r="r" b="b"/>
              <a:pathLst>
                <a:path w="3722370" h="270193">
                  <a:moveTo>
                    <a:pt x="0" y="0"/>
                  </a:moveTo>
                  <a:cubicBezTo>
                    <a:pt x="1296035" y="259080"/>
                    <a:pt x="2536825" y="270193"/>
                    <a:pt x="3722370" y="33338"/>
                  </a:cubicBez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965055" y="451008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102870" y="27622"/>
                  </a:moveTo>
                  <a:lnTo>
                    <a:pt x="19050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6345555" y="4065905"/>
              <a:ext cx="3722370" cy="250825"/>
            </a:xfrm>
            <a:custGeom>
              <a:avLst/>
              <a:gdLst/>
              <a:ahLst/>
              <a:cxnLst/>
              <a:rect l="l" t="t" r="r" b="b"/>
              <a:pathLst>
                <a:path w="3722370" h="250825">
                  <a:moveTo>
                    <a:pt x="3722370" y="250825"/>
                  </a:moveTo>
                  <a:cubicBezTo>
                    <a:pt x="2474595" y="1270"/>
                    <a:pt x="1233805" y="0"/>
                    <a:pt x="0" y="247015"/>
                  </a:cubicBez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6252210" y="426624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0" y="64770"/>
                  </a:moveTo>
                  <a:lnTo>
                    <a:pt x="84772" y="0"/>
                  </a:lnTo>
                  <a:lnTo>
                    <a:pt x="102870" y="9334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6324600" y="5989320"/>
              <a:ext cx="3721418" cy="250825"/>
            </a:xfrm>
            <a:custGeom>
              <a:avLst/>
              <a:gdLst/>
              <a:ahLst/>
              <a:cxnLst/>
              <a:rect l="l" t="t" r="r" b="b"/>
              <a:pathLst>
                <a:path w="3721418" h="250825">
                  <a:moveTo>
                    <a:pt x="0" y="0"/>
                  </a:moveTo>
                  <a:cubicBezTo>
                    <a:pt x="1247775" y="249555"/>
                    <a:pt x="2488248" y="250825"/>
                    <a:pt x="3721418" y="3810"/>
                  </a:cubicBez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036492" y="594645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102870" y="28575"/>
                  </a:moveTo>
                  <a:lnTo>
                    <a:pt x="19050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6417945" y="5512435"/>
              <a:ext cx="3721418" cy="270193"/>
            </a:xfrm>
            <a:custGeom>
              <a:avLst/>
              <a:gdLst/>
              <a:ahLst/>
              <a:cxnLst/>
              <a:rect l="l" t="t" r="r" b="b"/>
              <a:pathLst>
                <a:path w="3721418" h="270193">
                  <a:moveTo>
                    <a:pt x="3721418" y="270193"/>
                  </a:moveTo>
                  <a:cubicBezTo>
                    <a:pt x="2426018" y="11112"/>
                    <a:pt x="1185545" y="0"/>
                    <a:pt x="0" y="236855"/>
                  </a:cubicBez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6324600" y="570261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0" y="65722"/>
                  </a:moveTo>
                  <a:lnTo>
                    <a:pt x="83820" y="0"/>
                  </a:lnTo>
                  <a:lnTo>
                    <a:pt x="102870" y="93345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6324600" y="4593908"/>
              <a:ext cx="3890962" cy="1178242"/>
            </a:xfrm>
            <a:custGeom>
              <a:avLst/>
              <a:gdLst/>
              <a:ahLst/>
              <a:cxnLst/>
              <a:rect l="l" t="t" r="r" b="b"/>
              <a:pathLst>
                <a:path w="3890962" h="1178242">
                  <a:moveTo>
                    <a:pt x="0" y="1178242"/>
                  </a:moveTo>
                  <a:cubicBezTo>
                    <a:pt x="1296035" y="926783"/>
                    <a:pt x="2593022" y="534035"/>
                    <a:pt x="3890962" y="0"/>
                  </a:cubicBez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197465" y="4549140"/>
              <a:ext cx="106680" cy="88582"/>
            </a:xfrm>
            <a:custGeom>
              <a:avLst/>
              <a:gdLst/>
              <a:ahLst/>
              <a:cxnLst/>
              <a:rect l="l" t="t" r="r" b="b"/>
              <a:pathLst>
                <a:path w="106680" h="88582">
                  <a:moveTo>
                    <a:pt x="106680" y="7620"/>
                  </a:moveTo>
                  <a:lnTo>
                    <a:pt x="37148" y="885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6176010" y="4533900"/>
              <a:ext cx="3891915" cy="1178243"/>
            </a:xfrm>
            <a:custGeom>
              <a:avLst/>
              <a:gdLst/>
              <a:ahLst/>
              <a:cxnLst/>
              <a:rect l="l" t="t" r="r" b="b"/>
              <a:pathLst>
                <a:path w="3891915" h="1178243">
                  <a:moveTo>
                    <a:pt x="3891915" y="0"/>
                  </a:moveTo>
                  <a:cubicBezTo>
                    <a:pt x="2595880" y="251460"/>
                    <a:pt x="1298575" y="644207"/>
                    <a:pt x="0" y="1178243"/>
                  </a:cubicBez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6088380" y="5668328"/>
              <a:ext cx="105727" cy="88582"/>
            </a:xfrm>
            <a:custGeom>
              <a:avLst/>
              <a:gdLst/>
              <a:ahLst/>
              <a:cxnLst/>
              <a:rect l="l" t="t" r="r" b="b"/>
              <a:pathLst>
                <a:path w="105727" h="88582">
                  <a:moveTo>
                    <a:pt x="0" y="80962"/>
                  </a:moveTo>
                  <a:lnTo>
                    <a:pt x="69532" y="0"/>
                  </a:lnTo>
                  <a:lnTo>
                    <a:pt x="105727" y="88582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222558" y="1878330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16202" y="1878330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208895" y="1878330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716202" y="3039428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5292090" y="4297680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220652" y="5749290"/>
              <a:ext cx="1103948" cy="260032"/>
            </a:xfrm>
            <a:prstGeom prst="roundRect">
              <a:avLst>
                <a:gd name="adj" fmla="val 36630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67925" y="4297680"/>
              <a:ext cx="1103948" cy="260032"/>
            </a:xfrm>
            <a:prstGeom prst="roundRect">
              <a:avLst>
                <a:gd name="adj" fmla="val 36630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39362" y="5749290"/>
              <a:ext cx="960120" cy="260032"/>
            </a:xfrm>
            <a:prstGeom prst="roundRect">
              <a:avLst>
                <a:gd name="adj" fmla="val 36630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302479" y="1947386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(P1 : b : a)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796124" y="1947386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(P2 : c : b)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288817" y="1947386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(P3 : d : c)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96124" y="3108484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(P2 : a : d)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372012" y="4366736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(P1 : f : e)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296575" y="5818346"/>
              <a:ext cx="951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(P1 : g : e,f)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143847" y="4366736"/>
              <a:ext cx="951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(P3 : e : f,g)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219284" y="5818346"/>
              <a:ext cx="800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(P3 : f : g)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256395" y="1929765"/>
              <a:ext cx="3733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280067" y="1958816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环路 1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991475" y="4642485"/>
              <a:ext cx="3733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016099" y="4671536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环路 4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8027670" y="6094095"/>
              <a:ext cx="3733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052294" y="6123146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环路 2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104822" y="5201602"/>
              <a:ext cx="3733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129447" y="5230654"/>
              <a:ext cx="324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环路 3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48639" cy="909257"/>
            <a:chOff x="520446" y="342900"/>
            <a:chExt cx="89486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486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三、解（2）：逐个判断环路，环路 2 和环路 4 有死锁可能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5842635" cy="3150870"/>
            <a:chOff x="533400" y="1524000"/>
            <a:chExt cx="5842635" cy="3150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32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2399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环上的状态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951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 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59420" y="2108359"/>
              <a:ext cx="14109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P1:b:a、P2:c:b、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P3:d:c、P2:a:d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79698" y="2108359"/>
              <a:ext cx="24676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有两个 P2 的状态，P2 不能同时处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在两处，</a:t>
              </a: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不会死锁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897029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59420" y="2897029"/>
              <a:ext cx="16386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P1:g:e,f 与 P3:f:g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698" y="2783681"/>
              <a:ext cx="23863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占有资源 {e,f} 与 {g} 不重叠，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能同时到达，</a:t>
              </a: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有死锁可能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572351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 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9420" y="3572351"/>
              <a:ext cx="1827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P1:g:e,f 与 P3:e:f,g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698" y="3459004"/>
              <a:ext cx="24025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两个状态都占有 F，F 只有一个，</a:t>
              </a:r>
              <a:br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不会死锁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9947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999548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2476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环路 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9420" y="4247674"/>
              <a:ext cx="16386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P1:f:e 与 P3:e:f,g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79698" y="4134326"/>
              <a:ext cx="23863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占有资源 {e} 与 {f,g} 不重叠，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能同时到达，</a:t>
              </a: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有死锁可能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5842635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346835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67112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llout-2"/>
          <p:cNvGrpSpPr/>
          <p:nvPr/>
        </p:nvGrpSpPr>
        <p:grpSpPr>
          <a:xfrm>
            <a:off x="533400" y="4865370"/>
            <a:ext cx="5842635" cy="782955"/>
            <a:chOff x="533400" y="4865370"/>
            <a:chExt cx="5842635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486537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156837"/>
              <a:ext cx="200023" cy="200023"/>
              <a:chOff x="738188" y="5156837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15683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52235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013960"/>
              <a:ext cx="4939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结论：三个进程并发执行时有发生死锁的可能（环路 2、环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 4）</a:t>
              </a:r>
            </a:p>
          </p:txBody>
        </p:sp>
      </p:grpSp>
      <p:grpSp>
        <p:nvGrpSpPr>
          <p:cNvPr id="41" name="c2-code-1"/>
          <p:cNvGrpSpPr/>
          <p:nvPr/>
        </p:nvGrpSpPr>
        <p:grpSpPr>
          <a:xfrm>
            <a:off x="6680835" y="1524000"/>
            <a:ext cx="4977765" cy="907732"/>
            <a:chOff x="6680835" y="1524000"/>
            <a:chExt cx="4977765" cy="907732"/>
          </a:xfrm>
        </p:grpSpPr>
        <p:sp>
          <p:nvSpPr>
            <p:cNvPr id="38" name="Rectangle 38"/>
            <p:cNvSpPr/>
            <p:nvPr/>
          </p:nvSpPr>
          <p:spPr>
            <a:xfrm>
              <a:off x="6680835" y="1524000"/>
              <a:ext cx="4977765" cy="907732"/>
            </a:xfrm>
            <a:prstGeom prst="roundRect">
              <a:avLst>
                <a:gd name="adj" fmla="val 104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09232" y="1675924"/>
              <a:ext cx="19746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环路 2：两个进程同时走到竖线处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08470" y="1937861"/>
              <a:ext cx="2358390" cy="422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P1: a b -a -b e f | g -e -f -g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P3: c d -c -d g | f e -e -f -g</a:t>
              </a:r>
            </a:p>
          </p:txBody>
        </p:sp>
      </p:grpSp>
      <p:grpSp>
        <p:nvGrpSpPr>
          <p:cNvPr id="43" name="c2-text-2"/>
          <p:cNvGrpSpPr/>
          <p:nvPr/>
        </p:nvGrpSpPr>
        <p:grpSpPr>
          <a:xfrm>
            <a:off x="6674358" y="2643664"/>
            <a:ext cx="3137357" cy="249364"/>
            <a:chOff x="6674358" y="2643664"/>
            <a:chExt cx="3137357" cy="249364"/>
          </a:xfrm>
        </p:grpSpPr>
        <p:sp>
          <p:nvSpPr>
            <p:cNvPr id="42" name="TextBox 42"/>
            <p:cNvSpPr txBox="1"/>
            <p:nvPr/>
          </p:nvSpPr>
          <p:spPr>
            <a:xfrm>
              <a:off x="6674358" y="2643664"/>
              <a:ext cx="31373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占 E、F，申请 G；P3 占 G，申请 F。</a:t>
              </a:r>
            </a:p>
          </p:txBody>
        </p:sp>
      </p:grpSp>
      <p:grpSp>
        <p:nvGrpSpPr>
          <p:cNvPr id="47" name="c2-code-3"/>
          <p:cNvGrpSpPr/>
          <p:nvPr/>
        </p:nvGrpSpPr>
        <p:grpSpPr>
          <a:xfrm>
            <a:off x="6680835" y="3032760"/>
            <a:ext cx="4977765" cy="907732"/>
            <a:chOff x="6680835" y="3032760"/>
            <a:chExt cx="4977765" cy="907732"/>
          </a:xfrm>
        </p:grpSpPr>
        <p:sp>
          <p:nvSpPr>
            <p:cNvPr id="44" name="Rectangle 44"/>
            <p:cNvSpPr/>
            <p:nvPr/>
          </p:nvSpPr>
          <p:spPr>
            <a:xfrm>
              <a:off x="6680835" y="3032760"/>
              <a:ext cx="4977765" cy="907732"/>
            </a:xfrm>
            <a:prstGeom prst="roundRect">
              <a:avLst>
                <a:gd name="adj" fmla="val 104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09232" y="3184684"/>
              <a:ext cx="19746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环路 4：两个进程同时走到竖线处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08470" y="3447574"/>
              <a:ext cx="2358390" cy="422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P1: a b -a -b e | f g -e -f -g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P3: c d -c -d g f | e -e -f -g</a:t>
              </a:r>
            </a:p>
          </p:txBody>
        </p:sp>
      </p:grpSp>
      <p:grpSp>
        <p:nvGrpSpPr>
          <p:cNvPr id="49" name="c2-text-4"/>
          <p:cNvGrpSpPr/>
          <p:nvPr/>
        </p:nvGrpSpPr>
        <p:grpSpPr>
          <a:xfrm>
            <a:off x="6674358" y="4152424"/>
            <a:ext cx="3137357" cy="249364"/>
            <a:chOff x="6674358" y="4152424"/>
            <a:chExt cx="3137357" cy="249364"/>
          </a:xfrm>
        </p:grpSpPr>
        <p:sp>
          <p:nvSpPr>
            <p:cNvPr id="48" name="TextBox 48"/>
            <p:cNvSpPr txBox="1"/>
            <p:nvPr/>
          </p:nvSpPr>
          <p:spPr>
            <a:xfrm>
              <a:off x="6674358" y="4152424"/>
              <a:ext cx="31373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占 E，申请 F；P3 占 G、F，申请 E。</a:t>
              </a:r>
            </a:p>
          </p:txBody>
        </p:sp>
      </p:grpSp>
      <p:grpSp>
        <p:nvGrpSpPr>
          <p:cNvPr id="56" name="c2-callout-5"/>
          <p:cNvGrpSpPr/>
          <p:nvPr/>
        </p:nvGrpSpPr>
        <p:grpSpPr>
          <a:xfrm>
            <a:off x="6680835" y="4541520"/>
            <a:ext cx="4977765" cy="782955"/>
            <a:chOff x="6680835" y="4541520"/>
            <a:chExt cx="4977765" cy="782955"/>
          </a:xfrm>
        </p:grpSpPr>
        <p:sp>
          <p:nvSpPr>
            <p:cNvPr id="50" name="Rectangle 50"/>
            <p:cNvSpPr/>
            <p:nvPr/>
          </p:nvSpPr>
          <p:spPr>
            <a:xfrm>
              <a:off x="6680835" y="454152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885623" y="4832985"/>
              <a:ext cx="200026" cy="200026"/>
              <a:chOff x="6885623" y="4832985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885623" y="48329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85635" y="48996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974523" y="49329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187565" y="469011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用脚本穷举三个进程的全部交叉顺序，能卡死的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局面恰好就是这两种。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09589" cy="909257"/>
            <a:chOff x="520446" y="342900"/>
            <a:chExt cx="67095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095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四、内存管理（10 分）：伙伴堆算法的题目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3328988"/>
            <a:chOff x="533400" y="1524000"/>
            <a:chExt cx="5410200" cy="33289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28988"/>
            </a:xfrm>
            <a:prstGeom prst="roundRect">
              <a:avLst>
                <a:gd name="adj" fmla="val 400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2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762881" cy="15499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设某计算机主存有 16 个页框，内存分配和释放采用伙伴堆算法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（Buddy heap algorithm）。主存空闲区表的表项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free_area[i] 由“空闲块组 i 的位图指针”和“空闲块组 i 的指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针”组成；空闲块组链的结点结构包括前、后结点指针和本空闲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块组的首页框号 3 个数据域。当前主存映像如右图，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 有块组 0～4。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3641408"/>
              <a:ext cx="47285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根据主存映像图，写出 free_area 各表项的空闲块组链表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和块组位图的数据结构；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4198620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基于 (1)，设有长度为 3 页的内存申请，写出按伙伴堆算法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分配页框后的主存映像图和数据结构图。</a:t>
              </a:r>
            </a:p>
          </p:txBody>
        </p:sp>
      </p:grpSp>
      <p:grpSp>
        <p:nvGrpSpPr>
          <p:cNvPr id="41" name="c1-table-2"/>
          <p:cNvGrpSpPr/>
          <p:nvPr/>
        </p:nvGrpSpPr>
        <p:grpSpPr>
          <a:xfrm>
            <a:off x="533400" y="5023485"/>
            <a:ext cx="5410200" cy="1200150"/>
            <a:chOff x="533400" y="5023485"/>
            <a:chExt cx="5410200" cy="1200150"/>
          </a:xfrm>
        </p:grpSpPr>
        <p:sp>
          <p:nvSpPr>
            <p:cNvPr id="14" name="Rectangle 14"/>
            <p:cNvSpPr/>
            <p:nvPr/>
          </p:nvSpPr>
          <p:spPr>
            <a:xfrm>
              <a:off x="533400" y="5023485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2344" y="5144929"/>
              <a:ext cx="4079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 i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22436" y="5144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47301" y="5144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3119" y="5144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98936" y="5144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02859" y="5144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4451" y="55449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块大小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26506" y="554497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51371" y="554497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77189" y="554497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03006" y="554497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265466" y="5544979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页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8188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582358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89064" y="59450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位图位数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24510" y="59450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49375" y="59450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675192" y="59450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01010" y="594502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20233" y="594502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无伙伴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5023485"/>
              <a:ext cx="5410200" cy="12001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653540" y="5023485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479358" y="5023485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305175" y="5023485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130040" y="5023485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5858" y="5023485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1" name="c2-cells-1"/>
          <p:cNvGrpSpPr/>
          <p:nvPr/>
        </p:nvGrpSpPr>
        <p:grpSpPr>
          <a:xfrm>
            <a:off x="6243066" y="1524000"/>
            <a:ext cx="4870704" cy="1285399"/>
            <a:chOff x="6243066" y="1524000"/>
            <a:chExt cx="4870704" cy="1285399"/>
          </a:xfrm>
        </p:grpSpPr>
        <p:sp>
          <p:nvSpPr>
            <p:cNvPr id="42" name="TextBox 42"/>
            <p:cNvSpPr txBox="1"/>
            <p:nvPr/>
          </p:nvSpPr>
          <p:spPr>
            <a:xfrm>
              <a:off x="6243066" y="1643062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页框 0–7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998970" y="1524000"/>
              <a:ext cx="51435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109460" y="1643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513320" y="152400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027670" y="1524000"/>
              <a:ext cx="51435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138160" y="1643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42020" y="152400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056370" y="152400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570720" y="152400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85070" y="1524000"/>
              <a:ext cx="51435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195560" y="1643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0599420" y="1524000"/>
              <a:ext cx="51435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709910" y="1643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22102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3537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4972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76407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27842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79277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30712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821476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43066" y="2344102"/>
              <a:ext cx="6644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页框 8–15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99897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51332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802767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854202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5637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9570720" y="2225040"/>
              <a:ext cx="51435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681210" y="23441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08507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599420" y="2225040"/>
              <a:ext cx="51435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221026" y="264747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735376" y="264747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21936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73371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24806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76241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27676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791119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84" name="c2-image-2"/>
          <p:cNvGrpSpPr/>
          <p:nvPr/>
        </p:nvGrpSpPr>
        <p:grpSpPr>
          <a:xfrm>
            <a:off x="6817916" y="2944178"/>
            <a:ext cx="4271167" cy="3438238"/>
            <a:chOff x="6817916" y="2944178"/>
            <a:chExt cx="4271167" cy="3438238"/>
          </a:xfrm>
        </p:grpSpPr>
        <p:pic>
          <p:nvPicPr>
            <p:cNvPr id="82" name="Image 8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0380" y="2944178"/>
              <a:ext cx="4206240" cy="3154680"/>
            </a:xfrm>
            <a:prstGeom prst="roundRect">
              <a:avLst>
                <a:gd name="adj" fmla="val 4227"/>
              </a:avLst>
            </a:prstGeom>
          </p:spPr>
        </p:pic>
        <p:sp>
          <p:nvSpPr>
            <p:cNvPr id="83" name="TextBox 83"/>
            <p:cNvSpPr txBox="1"/>
            <p:nvPr/>
          </p:nvSpPr>
          <p:spPr>
            <a:xfrm>
              <a:off x="6817916" y="6191726"/>
              <a:ext cx="42711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一整块按 1/2、1/4、1/8、1/8 拆开；释放时相邻的等大“伙伴”再拼回去</a:t>
              </a:r>
            </a:p>
          </p:txBody>
        </p:sp>
      </p:grpSp>
      <p:grpSp>
        <p:nvGrpSpPr>
          <p:cNvPr id="8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5" name="TextBox 8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伙伴堆的规则：块组、位图，以及分配时拆分、释放时合并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2043112"/>
            <a:chOff x="533400" y="1524000"/>
            <a:chExt cx="5410200" cy="20431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126873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6085" y="1743551"/>
              <a:ext cx="11329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块组与 free_area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7114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 用 DMA 方式输入输出，DMA 不做地址变换，进程在内存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中必须占连续页面，所以把连续的空闲页面成组管理。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612708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 4 KB；空闲页面分 10 个块组 i = 0～9，块组 i 每块 2ⁱ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个连续页框，同组的块链成链表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322611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3169920"/>
              <a:ext cx="39119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free_area[i] = (空闲块组指针, 块组位图指针)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737610"/>
            <a:ext cx="5410200" cy="2342198"/>
            <a:chOff x="533400" y="3737610"/>
            <a:chExt cx="5410200" cy="2342198"/>
          </a:xfrm>
        </p:grpSpPr>
        <p:sp>
          <p:nvSpPr>
            <p:cNvPr id="17" name="Rectangle 17"/>
            <p:cNvSpPr/>
            <p:nvPr/>
          </p:nvSpPr>
          <p:spPr>
            <a:xfrm>
              <a:off x="533400" y="3737610"/>
              <a:ext cx="5410200" cy="2342198"/>
            </a:xfrm>
            <a:prstGeom prst="roundRect">
              <a:avLst>
                <a:gd name="adj" fmla="val 56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70960"/>
              <a:ext cx="47625" cy="20754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8190" y="3924300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4408" y="395716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块组位图与伙伴条件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1332" y="4268152"/>
              <a:ext cx="474573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i 把全部页面（含占用的）每 2ⁱ 页划成一块，相邻两块结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成一对伙伴，每对占 1 位：一块空闲、另一块全部或部分占用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 1；两块都空闲，或都被全部或部分占用置 0。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2475" y="5079206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伙伴条件：大小相同（b 页）；地址相连；页框从 0 编号时，后一块最后页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框号 + 1 是 2b 的整数倍。</a:t>
              </a:r>
            </a:p>
          </p:txBody>
        </p:sp>
      </p:grpSp>
      <p:grpSp>
        <p:nvGrpSpPr>
          <p:cNvPr id="41" name="c2-steps-1"/>
          <p:cNvGrpSpPr/>
          <p:nvPr/>
        </p:nvGrpSpPr>
        <p:grpSpPr>
          <a:xfrm>
            <a:off x="6248400" y="1533525"/>
            <a:ext cx="5118735" cy="2682716"/>
            <a:chOff x="6248400" y="1533525"/>
            <a:chExt cx="5118735" cy="2682716"/>
          </a:xfrm>
        </p:grpSpPr>
        <p:sp>
          <p:nvSpPr>
            <p:cNvPr id="24" name="Rectangle 24"/>
            <p:cNvSpPr/>
            <p:nvPr/>
          </p:nvSpPr>
          <p:spPr>
            <a:xfrm>
              <a:off x="6381750" y="1676400"/>
              <a:ext cx="19050" cy="19554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48400" y="21164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42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48400" y="269938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42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248400" y="34890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42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0642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定块组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1785" y="1833086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 fn 页，取 2ⁱ⁻¹ &lt; fn ≤ 2ⁱ，以 2ⁱ 页为分配单位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0642" y="21478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1785" y="2416016"/>
              <a:ext cx="4308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从块组 i 往上找第一个有空闲块的块组 j，取第一块，调整空闲链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0642" y="27308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1785" y="2998946"/>
              <a:ext cx="46200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&gt; i 时，剩下的 2ʲ − 2ⁱ 页按 2 的整数次幂挂入各组。例：要 128 页而第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7、8 组都空，取第 9 组一块拆两次，余下 128、256 页挂入第 7、8 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60642" y="352139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1785" y="3788569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与空闲的伙伴逐级合并，得到的空闲块挂入对应块组；分配和释放都要改位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248400" y="4379595"/>
            <a:ext cx="5410200" cy="1700212"/>
            <a:chOff x="6248400" y="4379595"/>
            <a:chExt cx="5410200" cy="1700212"/>
          </a:xfrm>
        </p:grpSpPr>
        <p:sp>
          <p:nvSpPr>
            <p:cNvPr id="42" name="Rectangle 42"/>
            <p:cNvSpPr/>
            <p:nvPr/>
          </p:nvSpPr>
          <p:spPr>
            <a:xfrm>
              <a:off x="6248400" y="4379595"/>
              <a:ext cx="5410200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4512945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3190" y="456628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57759" y="459914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内部碎片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66332" y="4911090"/>
              <a:ext cx="464286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 17 页时 2⁴ &lt; 17 ≤ 2⁵，要分 32 页，浪费 15 页。多出部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分按 2 的整数次幂切成 slab，交给 second memory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allocator；进程物理空间不要求连续时，由 third memory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allocator 分配。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33054" cy="909257"/>
            <a:chOff x="520446" y="342900"/>
            <a:chExt cx="74330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330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四、解（1）：先拆出空闲块，再逐对伙伴写位图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table-1"/>
          <p:cNvGrpSpPr/>
          <p:nvPr/>
        </p:nvGrpSpPr>
        <p:grpSpPr>
          <a:xfrm>
            <a:off x="528447" y="1524000"/>
            <a:ext cx="5631371" cy="2897219"/>
            <a:chOff x="528447" y="1524000"/>
            <a:chExt cx="5631371" cy="289721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3910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1893" y="1648778"/>
              <a:ext cx="491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 i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63612" y="164877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块大小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67190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空闲块链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664583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块组位图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8400" y="208788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68110" y="2087880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61044" y="2087880"/>
              <a:ext cx="8315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↔ 3 ↔ 12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05072" y="2087880"/>
              <a:ext cx="11950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1 1 0 0 0 0 1 0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974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02205"/>
              <a:ext cx="5626418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68400" y="252698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68110" y="2526982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61044" y="2526982"/>
              <a:ext cx="522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↔ 14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005072" y="2526982"/>
              <a:ext cx="5771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0 1 0 1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355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68400" y="296608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68110" y="2966085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61044" y="2966085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005072" y="2966085"/>
              <a:ext cx="2681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746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79458"/>
              <a:ext cx="5626418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68400" y="340518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68110" y="340518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页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61044" y="3405188"/>
              <a:ext cx="322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05072" y="3405188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7137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68400" y="384333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8133" y="3843338"/>
              <a:ext cx="4498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61044" y="3843338"/>
              <a:ext cx="322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05072" y="384333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无伙伴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5626418" cy="26336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316355" y="1524000"/>
              <a:ext cx="9525" cy="26336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2160270" y="1524000"/>
              <a:ext cx="9525" cy="26336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904298" y="1524000"/>
              <a:ext cx="9525" cy="26336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447" y="4230529"/>
              <a:ext cx="3308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链表结点写首页框号，双向链接；位图按页框号从小到大</a:t>
              </a:r>
            </a:p>
          </p:txBody>
        </p:sp>
      </p:grpSp>
      <p:grpSp>
        <p:nvGrpSpPr>
          <p:cNvPr id="54" name="c1-card-2"/>
          <p:cNvGrpSpPr/>
          <p:nvPr/>
        </p:nvGrpSpPr>
        <p:grpSpPr>
          <a:xfrm>
            <a:off x="533400" y="4552950"/>
            <a:ext cx="5626418" cy="1785938"/>
            <a:chOff x="533400" y="4552950"/>
            <a:chExt cx="5626418" cy="1785938"/>
          </a:xfrm>
        </p:grpSpPr>
        <p:sp>
          <p:nvSpPr>
            <p:cNvPr id="44" name="Rectangle 44"/>
            <p:cNvSpPr/>
            <p:nvPr/>
          </p:nvSpPr>
          <p:spPr>
            <a:xfrm>
              <a:off x="533400" y="4552950"/>
              <a:ext cx="5626418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42925" y="4686300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58190" y="473964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46811" y="477250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怎么拆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66762" y="513969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2782" y="5083492"/>
              <a:ext cx="40937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1、3、12 的伙伴 0、2、13 被占用，只能是 1 页块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66762" y="544068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22782" y="5384483"/>
              <a:ext cx="47200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4–5 的伙伴 6–7 被占用；14–15 的伙伴 12–13 有占用：都是 2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页块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66762" y="599789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2782" y="594169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8–11 整块空闲，伙伴 12–15 有占用：是 4 页块</a:t>
              </a:r>
            </a:p>
          </p:txBody>
        </p:sp>
      </p:grpSp>
      <p:grpSp>
        <p:nvGrpSpPr>
          <p:cNvPr id="105" name="c2-cells-1"/>
          <p:cNvGrpSpPr/>
          <p:nvPr/>
        </p:nvGrpSpPr>
        <p:grpSpPr>
          <a:xfrm>
            <a:off x="6459284" y="1524000"/>
            <a:ext cx="3800094" cy="1285399"/>
            <a:chOff x="6459284" y="1524000"/>
            <a:chExt cx="3800094" cy="1285399"/>
          </a:xfrm>
        </p:grpSpPr>
        <p:sp>
          <p:nvSpPr>
            <p:cNvPr id="55" name="TextBox 55"/>
            <p:cNvSpPr txBox="1"/>
            <p:nvPr/>
          </p:nvSpPr>
          <p:spPr>
            <a:xfrm>
              <a:off x="6459284" y="1643062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0–7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906578" y="15240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040118" y="1643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325678" y="1524000"/>
              <a:ext cx="4191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489078" y="1643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744778" y="15240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878318" y="1643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163878" y="1524000"/>
              <a:ext cx="4191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27278" y="1643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582978" y="15240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746378" y="1643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002078" y="15240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165478" y="1643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421178" y="15240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554718" y="1643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9840278" y="15240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973818" y="1643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0810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5001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9192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3383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7574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1765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5956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014708" y="194643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459284" y="234410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8–15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906578" y="2225040"/>
              <a:ext cx="41910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0699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7325678" y="2225040"/>
              <a:ext cx="41910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4890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744778" y="2225040"/>
              <a:ext cx="41910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9081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8163878" y="2225040"/>
              <a:ext cx="41910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83272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8582978" y="2225040"/>
              <a:ext cx="4191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87463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9002078" y="222504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9135618" y="23441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9421178" y="222504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95845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9840278" y="222504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10003678" y="2344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081008" y="264747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7500108" y="264747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8888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3079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7270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91461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95652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9984351" y="26474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107" name="c2-text-2"/>
          <p:cNvGrpSpPr/>
          <p:nvPr/>
        </p:nvGrpSpPr>
        <p:grpSpPr>
          <a:xfrm>
            <a:off x="6458902" y="2962751"/>
            <a:ext cx="3946642" cy="220028"/>
            <a:chOff x="6458902" y="2962751"/>
            <a:chExt cx="3946642" cy="220028"/>
          </a:xfrm>
        </p:grpSpPr>
        <p:sp>
          <p:nvSpPr>
            <p:cNvPr id="106" name="TextBox 106"/>
            <p:cNvSpPr txBox="1"/>
            <p:nvPr/>
          </p:nvSpPr>
          <p:spPr>
            <a:xfrm>
              <a:off x="6458902" y="2962751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格内数字是该页框所在空闲块的大小（页），“占”为占用。</a:t>
              </a:r>
            </a:p>
          </p:txBody>
        </p:sp>
      </p:grpSp>
      <p:grpSp>
        <p:nvGrpSpPr>
          <p:cNvPr id="119" name="c2-card-3"/>
          <p:cNvGrpSpPr/>
          <p:nvPr/>
        </p:nvGrpSpPr>
        <p:grpSpPr>
          <a:xfrm>
            <a:off x="6464618" y="3308985"/>
            <a:ext cx="5193982" cy="3030855"/>
            <a:chOff x="6464618" y="3308985"/>
            <a:chExt cx="5193982" cy="3030855"/>
          </a:xfrm>
        </p:grpSpPr>
        <p:sp>
          <p:nvSpPr>
            <p:cNvPr id="108" name="Rectangle 108"/>
            <p:cNvSpPr/>
            <p:nvPr/>
          </p:nvSpPr>
          <p:spPr>
            <a:xfrm>
              <a:off x="6464618" y="3308985"/>
              <a:ext cx="5193982" cy="3030855"/>
            </a:xfrm>
            <a:prstGeom prst="roundRect">
              <a:avLst>
                <a:gd name="adj" fmla="val 44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6474142" y="3442335"/>
              <a:ext cx="47625" cy="27641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6689408" y="349567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766827" y="352853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位图逐对判断</a:t>
              </a:r>
            </a:p>
          </p:txBody>
        </p:sp>
        <p:sp>
          <p:nvSpPr>
            <p:cNvPr id="112" name="Ellipse 112"/>
            <p:cNvSpPr/>
            <p:nvPr/>
          </p:nvSpPr>
          <p:spPr>
            <a:xfrm>
              <a:off x="6697980" y="389572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6853999" y="3839527"/>
              <a:ext cx="41885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0：(0,1)1　(2,3)1　(4,5)0　(6,7)0　(8,9)0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(10,11)0　(12,13)1　(14,15)0</a:t>
              </a:r>
            </a:p>
          </p:txBody>
        </p:sp>
        <p:sp>
          <p:nvSpPr>
            <p:cNvPr id="114" name="Ellipse 114"/>
            <p:cNvSpPr/>
            <p:nvPr/>
          </p:nvSpPr>
          <p:spPr>
            <a:xfrm>
              <a:off x="6697980" y="44529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6853999" y="4396740"/>
              <a:ext cx="40342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1：(0–1,2–3)0　(4–5,6–7)1　(8–9,10–11)0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(12–13,14–15)1</a:t>
              </a:r>
            </a:p>
          </p:txBody>
        </p:sp>
        <p:sp>
          <p:nvSpPr>
            <p:cNvPr id="116" name="Ellipse 116"/>
            <p:cNvSpPr/>
            <p:nvPr/>
          </p:nvSpPr>
          <p:spPr>
            <a:xfrm>
              <a:off x="6697980" y="50101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853999" y="4953952"/>
              <a:ext cx="44114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2：(0–3,4–7)0　(8–11,12–15)1；块组 3：(0–7,8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–15)0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6683692" y="5507831"/>
              <a:ext cx="4444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原答案图只画了块组 0～2 的位图，块组 3 的一位（0）没有画出。</a:t>
              </a:r>
            </a:p>
          </p:txBody>
        </p:sp>
      </p:grpSp>
      <p:grpSp>
        <p:nvGrpSpPr>
          <p:cNvPr id="12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0" name="TextBox 12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33347" cy="909257"/>
            <a:chOff x="520446" y="342900"/>
            <a:chExt cx="81333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333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四、解（2）：申请 3 页，分出块组 2 中的页框 8–11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204841" cy="2347246"/>
            <a:chOff x="533400" y="1533525"/>
            <a:chExt cx="5204841" cy="234724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定块组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2830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2¹ &lt; 3 ≤ 2²，在块组 2 分配 4 个页框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47922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2 的空闲链只有首页框 8 的块，分出页框 8～11，块组 2 的链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变为 null；块大小正好，不用拆分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10419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改位图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397091"/>
              <a:ext cx="47840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2 中伙伴 (8–11, 12–15) 变成两块都有占用，1 改为 0。块组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0、1 中 8～11 内部的几对由都空闲变为都占用，仍为 0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060508"/>
            <a:ext cx="5410200" cy="1989772"/>
            <a:chOff x="533400" y="4060508"/>
            <a:chExt cx="5410200" cy="1989772"/>
          </a:xfrm>
        </p:grpSpPr>
        <p:sp>
          <p:nvSpPr>
            <p:cNvPr id="21" name="Rectangle 21"/>
            <p:cNvSpPr/>
            <p:nvPr/>
          </p:nvSpPr>
          <p:spPr>
            <a:xfrm>
              <a:off x="533400" y="4060508"/>
              <a:ext cx="5410200" cy="1989772"/>
            </a:xfrm>
            <a:prstGeom prst="roundRect">
              <a:avLst>
                <a:gd name="adj" fmla="val 67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193858"/>
              <a:ext cx="47625" cy="172307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81050" y="427005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1258" y="43057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3430" y="4647248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原答案图 (2) 的 free_area 多画了块组 5。16 个页框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最大只能组成 2⁴ 页的块，题目给出的块组为 0～4。</a:t>
              </a:r>
            </a:p>
          </p:txBody>
        </p:sp>
      </p:grpSp>
      <p:grpSp>
        <p:nvGrpSpPr>
          <p:cNvPr id="70" name="c2-cells-1"/>
          <p:cNvGrpSpPr/>
          <p:nvPr/>
        </p:nvGrpSpPr>
        <p:grpSpPr>
          <a:xfrm>
            <a:off x="6242304" y="1524000"/>
            <a:ext cx="3844671" cy="1431607"/>
            <a:chOff x="6242304" y="1524000"/>
            <a:chExt cx="3844671" cy="1431607"/>
          </a:xfrm>
        </p:grpSpPr>
        <p:sp>
          <p:nvSpPr>
            <p:cNvPr id="27" name="TextBox 27"/>
            <p:cNvSpPr txBox="1"/>
            <p:nvPr/>
          </p:nvSpPr>
          <p:spPr>
            <a:xfrm>
              <a:off x="6242304" y="16592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0–7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34175" y="1524000"/>
              <a:ext cx="419100" cy="419100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56857" y="165925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153275" y="152400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72375" y="1524000"/>
              <a:ext cx="419100" cy="419100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95057" y="165925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991475" y="152400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410575" y="152400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829675" y="152400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48775" y="1524000"/>
              <a:ext cx="419100" cy="419100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371457" y="165925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667875" y="1524000"/>
              <a:ext cx="419100" cy="419100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790557" y="165925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056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247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438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629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820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011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202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39344" y="199834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42304" y="2440305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8–15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734175" y="2305050"/>
              <a:ext cx="41910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856857" y="2440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新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153275" y="2305050"/>
              <a:ext cx="41910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75957" y="2440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新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572375" y="2305050"/>
              <a:ext cx="41910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695057" y="2440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新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991475" y="2305050"/>
              <a:ext cx="41910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14157" y="2440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新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410575" y="230505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8829675" y="2305050"/>
              <a:ext cx="419100" cy="419100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952357" y="2440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248775" y="230505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9667875" y="2305050"/>
              <a:ext cx="4191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905644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24744" y="277939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105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1296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5487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9678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3869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806026" y="2779395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102" name="c2-table-2"/>
          <p:cNvGrpSpPr/>
          <p:nvPr/>
        </p:nvGrpSpPr>
        <p:grpSpPr>
          <a:xfrm>
            <a:off x="6242685" y="3105150"/>
            <a:ext cx="5415915" cy="2988469"/>
            <a:chOff x="6242685" y="3105150"/>
            <a:chExt cx="5415915" cy="2988469"/>
          </a:xfrm>
        </p:grpSpPr>
        <p:sp>
          <p:nvSpPr>
            <p:cNvPr id="71" name="Rectangle 71"/>
            <p:cNvSpPr/>
            <p:nvPr/>
          </p:nvSpPr>
          <p:spPr>
            <a:xfrm>
              <a:off x="6248400" y="3105150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727801" y="3240881"/>
              <a:ext cx="4661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 i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61401" y="32408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空闲块链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254031" y="32408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块组位图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904637" y="368950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781163" y="3689509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↔ 3 ↔ 12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659493" y="3689509"/>
              <a:ext cx="1132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1 1 0 0 0 0 1 0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248400" y="39976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6248400" y="400240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904637" y="413813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781163" y="4138136"/>
              <a:ext cx="4954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↔ 14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659493" y="4138136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0 1 0 1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248400" y="44472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904637" y="45867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682865" y="4461510"/>
              <a:ext cx="185928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781163" y="4586764"/>
              <a:ext cx="3058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9561195" y="4461510"/>
              <a:ext cx="208788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9659493" y="4586764"/>
              <a:ext cx="2541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248400" y="48958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6248400" y="490061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6904637" y="503539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781163" y="5035391"/>
              <a:ext cx="3058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9659493" y="50353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6248400" y="53444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904637" y="54849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781163" y="5484971"/>
              <a:ext cx="3058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659493" y="54849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无伙伴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248400" y="3105150"/>
              <a:ext cx="5410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7668578" y="310515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9546908" y="310515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242685" y="5873591"/>
              <a:ext cx="4104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高亮为分配后改变的表项；3 页申请分到 4 页，内部碎片 1 页</a:t>
              </a:r>
            </a:p>
          </p:txBody>
        </p:sp>
      </p:grpSp>
      <p:grpSp>
        <p:nvGrpSpPr>
          <p:cNvPr id="10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3" name="TextBox 10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52870" cy="909257"/>
            <a:chOff x="520446" y="342900"/>
            <a:chExt cx="70528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528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伙伴堆释放举例：在上一步基础上释放页框 13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310903" cy="264033"/>
            <a:chOff x="526542" y="1545907"/>
            <a:chExt cx="631090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3109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课件中的释放例子：页框 8～11 已分配，此时释放页框 13，与伙伴逐级合并。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38338"/>
            <a:ext cx="5264673" cy="2268379"/>
            <a:chOff x="533400" y="1938338"/>
            <a:chExt cx="5264673" cy="2268379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2126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595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041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78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68712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7609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969770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次合并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237899"/>
              <a:ext cx="3599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12、13 是一对伙伴，12 空闲，合并成 12–13（2 页）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552700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次合并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2820829"/>
              <a:ext cx="4135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12–13 与 14–15 是伙伴，14–15 空闲，合并成 12–15（4 页）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1356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403759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12–15 的伙伴 8–11 已分配，不能再合并，把 12 挂入块组 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71856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986689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0 的链去掉 12，块组 1 的链去掉 14，三个块组的位图各有一位改变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4370070"/>
            <a:ext cx="5410200" cy="1528762"/>
            <a:chOff x="533400" y="4370070"/>
            <a:chExt cx="5410200" cy="1528762"/>
          </a:xfrm>
        </p:grpSpPr>
        <p:sp>
          <p:nvSpPr>
            <p:cNvPr id="27" name="Rectangle 27"/>
            <p:cNvSpPr/>
            <p:nvPr/>
          </p:nvSpPr>
          <p:spPr>
            <a:xfrm>
              <a:off x="533400" y="4370070"/>
              <a:ext cx="5410200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503420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58190" y="455676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558" y="458962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用伙伴条件核对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66762" y="495681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782" y="4900612"/>
              <a:ext cx="35485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与 13：各 1 页，13 + 1 = 14 是 2 的倍数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66762" y="525780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782" y="5201602"/>
              <a:ext cx="41482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12–13 与 14–15：各 2 页，15 + 1 = 16 是 4 的倍数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66762" y="55578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782" y="5501640"/>
              <a:ext cx="40482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8–11 与 12–15：各 4 页，15 + 1 = 16 是 8 的倍数</a:t>
              </a:r>
            </a:p>
          </p:txBody>
        </p:sp>
      </p:grpSp>
      <p:grpSp>
        <p:nvGrpSpPr>
          <p:cNvPr id="88" name="c2-cells-1"/>
          <p:cNvGrpSpPr/>
          <p:nvPr/>
        </p:nvGrpSpPr>
        <p:grpSpPr>
          <a:xfrm>
            <a:off x="6243066" y="1928812"/>
            <a:ext cx="3799142" cy="1285399"/>
            <a:chOff x="6243066" y="1928812"/>
            <a:chExt cx="3799142" cy="1285399"/>
          </a:xfrm>
        </p:grpSpPr>
        <p:sp>
          <p:nvSpPr>
            <p:cNvPr id="38" name="TextBox 38"/>
            <p:cNvSpPr txBox="1"/>
            <p:nvPr/>
          </p:nvSpPr>
          <p:spPr>
            <a:xfrm>
              <a:off x="6243066" y="204787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0–7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89408" y="1928812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229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108508" y="192881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2420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527608" y="1928812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6611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946708" y="192881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0802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365808" y="192881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993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784908" y="192881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9184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204008" y="1928812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375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623108" y="1928812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756648" y="2047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638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829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020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1211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5402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9593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3784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97538" y="235124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43066" y="274796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8–15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689408" y="26289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8229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108508" y="26289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2420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7527608" y="26289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6611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946708" y="2628900"/>
              <a:ext cx="419100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0802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8365808" y="26289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4993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784908" y="26289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89184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204008" y="26289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375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9623108" y="262890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756648" y="27479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863838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282938" y="305228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6716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0907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5098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9289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3480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767181" y="305228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118" name="c2-table-2"/>
          <p:cNvGrpSpPr/>
          <p:nvPr/>
        </p:nvGrpSpPr>
        <p:grpSpPr>
          <a:xfrm>
            <a:off x="6243447" y="3348990"/>
            <a:ext cx="5415153" cy="2458116"/>
            <a:chOff x="6243447" y="3348990"/>
            <a:chExt cx="5415153" cy="2458116"/>
          </a:xfrm>
        </p:grpSpPr>
        <p:sp>
          <p:nvSpPr>
            <p:cNvPr id="89" name="Rectangle 89"/>
            <p:cNvSpPr/>
            <p:nvPr/>
          </p:nvSpPr>
          <p:spPr>
            <a:xfrm>
              <a:off x="6248400" y="3348990"/>
              <a:ext cx="5410200" cy="43910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745508" y="3473768"/>
              <a:ext cx="491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 i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223123" y="34737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空闲块链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186225" y="34737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块组位图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932015" y="391287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829360" y="391287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↔ 3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9463088" y="3797618"/>
              <a:ext cx="2185988" cy="4200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9549574" y="3912870"/>
              <a:ext cx="11950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1 1 0 0 0 0 0 0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6248400" y="42224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6248400" y="4227195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932015" y="435197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7829360" y="435197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9463088" y="4236720"/>
              <a:ext cx="2185988" cy="4200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9549574" y="4351972"/>
              <a:ext cx="5771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0 1 0 0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6248400" y="46605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932015" y="479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7742872" y="4674870"/>
              <a:ext cx="1701165" cy="4200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7829360" y="4791075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9463088" y="4674870"/>
              <a:ext cx="2185988" cy="4200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9549574" y="4791075"/>
              <a:ext cx="2681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6248400" y="50996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6248400" y="5104448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932015" y="523017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7829360" y="5230178"/>
              <a:ext cx="322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9549574" y="5230178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6248400" y="3348990"/>
              <a:ext cx="5410200" cy="21945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7728585" y="334899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9448800" y="334899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243447" y="5616416"/>
              <a:ext cx="49176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伙伴 (12,13)、(12–13,14–15) 都空闲，位变 0；(8–11,12–15) 一占一空，位变 1</a:t>
              </a:r>
            </a:p>
          </p:txBody>
        </p:sp>
      </p:grpSp>
      <p:grpSp>
        <p:nvGrpSpPr>
          <p:cNvPr id="1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9" name="TextBox 11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09589" cy="909257"/>
            <a:chOff x="520446" y="342900"/>
            <a:chExt cx="67095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095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五、磁盘管理（10 分）：成组链接法的题目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4443412"/>
            <a:chOff x="533400" y="1524000"/>
            <a:chExt cx="5410200" cy="44434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43412"/>
            </a:xfrm>
            <a:prstGeom prst="roundRect">
              <a:avLst>
                <a:gd name="adj" fmla="val 300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某文件系统的磁盘空闲区管理采用成组链接数据结构，涉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及的数据结构类 C 伪代码定义如下：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42950" y="2707005"/>
              <a:ext cx="4991100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347" y="285892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0585" y="3120866"/>
              <a:ext cx="3851910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filesys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......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s_nfree;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本组空闲块个数，最大为 5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s_free[5];  /* s_free[0] 存下一组的块号，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              s_free[1]~[4] 为本组块号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......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super_block;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启动后把第一个空闲块组表读入 super_block */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4952048"/>
              <a:ext cx="47967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此时如果有长度为 1 个磁盘块的请求，文件系统分配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的磁盘块号是几？(2) 写出分配 1 个磁盘块后的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super_block 内容及空闲块组的链表图。</a:t>
              </a:r>
            </a:p>
          </p:txBody>
        </p:sp>
      </p:grpSp>
      <p:grpSp>
        <p:nvGrpSpPr>
          <p:cNvPr id="72" name="c2-cells-1"/>
          <p:cNvGrpSpPr/>
          <p:nvPr/>
        </p:nvGrpSpPr>
        <p:grpSpPr>
          <a:xfrm>
            <a:off x="6242304" y="1571149"/>
            <a:ext cx="4705731" cy="2448401"/>
            <a:chOff x="6242304" y="1571149"/>
            <a:chExt cx="4705731" cy="2448401"/>
          </a:xfrm>
        </p:grpSpPr>
        <p:sp>
          <p:nvSpPr>
            <p:cNvPr id="16" name="TextBox 16"/>
            <p:cNvSpPr txBox="1"/>
            <p:nvPr/>
          </p:nvSpPr>
          <p:spPr>
            <a:xfrm>
              <a:off x="6242304" y="1964055"/>
              <a:ext cx="9959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super_block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309485" y="1828800"/>
              <a:ext cx="4238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469151" y="19640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733348" y="1828800"/>
              <a:ext cx="42386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846367" y="196405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157210" y="1828800"/>
              <a:ext cx="423862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581072" y="1828800"/>
              <a:ext cx="423862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004935" y="1828800"/>
              <a:ext cx="423862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9427845" y="1828800"/>
              <a:ext cx="423862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250281" y="157114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s_nfree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7483792" y="1733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97955" y="1571149"/>
              <a:ext cx="6956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s_free[0]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7907655" y="1733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42304" y="2554605"/>
              <a:ext cx="411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 50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309485" y="241935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12966" y="25546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821930" y="2419350"/>
              <a:ext cx="51149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931167" y="25546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333422" y="241935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89305" y="2554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844915" y="241935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001750" y="2554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356408" y="241935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513242" y="2554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867900" y="241935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024735" y="2554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42304" y="3145155"/>
              <a:ext cx="5044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 150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309485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12966" y="31451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821930" y="3009900"/>
              <a:ext cx="51149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931167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333422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42659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844915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955104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356408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466597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867900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978089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10380345" y="3009900"/>
              <a:ext cx="51149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489582" y="314515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42304" y="3735705"/>
              <a:ext cx="5044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 250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309485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516776" y="37357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829550" y="3600450"/>
              <a:ext cx="520065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939308" y="3735705"/>
              <a:ext cx="3005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49615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462662" y="3735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868728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982727" y="3735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175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388792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502792" y="3735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177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907905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0021904" y="3735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180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10427970" y="3600450"/>
              <a:ext cx="52006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0541969" y="3735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188</a:t>
              </a:r>
            </a:p>
          </p:txBody>
        </p:sp>
      </p:grpSp>
      <p:grpSp>
        <p:nvGrpSpPr>
          <p:cNvPr id="79" name="c2-callout-2"/>
          <p:cNvGrpSpPr/>
          <p:nvPr/>
        </p:nvGrpSpPr>
        <p:grpSpPr>
          <a:xfrm>
            <a:off x="6248400" y="4210050"/>
            <a:ext cx="5410200" cy="1335405"/>
            <a:chOff x="6248400" y="4210050"/>
            <a:chExt cx="5410200" cy="1335405"/>
          </a:xfrm>
        </p:grpSpPr>
        <p:sp>
          <p:nvSpPr>
            <p:cNvPr id="73" name="Rectangle 73"/>
            <p:cNvSpPr/>
            <p:nvPr/>
          </p:nvSpPr>
          <p:spPr>
            <a:xfrm>
              <a:off x="6248400" y="4210050"/>
              <a:ext cx="5410200" cy="1335405"/>
            </a:xfrm>
            <a:prstGeom prst="roundRect">
              <a:avLst>
                <a:gd name="adj" fmla="val 85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6453188" y="4777740"/>
              <a:ext cx="200026" cy="200026"/>
              <a:chOff x="6453188" y="4777740"/>
              <a:chExt cx="200026" cy="200026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6453188" y="47777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6553200" y="48444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542088" y="48777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6755130" y="4358640"/>
              <a:ext cx="432054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磁盘块内开头存的是下一组的 s_nfree 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s_free[]：块 50 记着 150、60、63、69、80 这 5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块，其中 150 又是下一个链接块；块 250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s_free[0] 为 null，是最后一组。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34997" cy="909257"/>
            <a:chOff x="520446" y="342900"/>
            <a:chExt cx="84349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349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文件卷与超级块：空闲块每组一张表，组与组相链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ells-1"/>
          <p:cNvGrpSpPr/>
          <p:nvPr/>
        </p:nvGrpSpPr>
        <p:grpSpPr>
          <a:xfrm>
            <a:off x="527685" y="1524000"/>
            <a:ext cx="4072890" cy="419100"/>
            <a:chOff x="527685" y="1524000"/>
            <a:chExt cx="4072890" cy="419100"/>
          </a:xfrm>
        </p:grpSpPr>
        <p:sp>
          <p:nvSpPr>
            <p:cNvPr id="7" name="TextBox 7"/>
            <p:cNvSpPr txBox="1"/>
            <p:nvPr/>
          </p:nvSpPr>
          <p:spPr>
            <a:xfrm>
              <a:off x="527685" y="16635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951548" y="1524000"/>
              <a:ext cx="912495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58544" y="1663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63090" y="1524000"/>
              <a:ext cx="912495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270086" y="1663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775585" y="1524000"/>
              <a:ext cx="912495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48015" y="1663541"/>
              <a:ext cx="367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 … k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88080" y="1524000"/>
              <a:ext cx="91249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86366" y="1663541"/>
              <a:ext cx="715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k+1 … n−1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5780" y="2158365"/>
            <a:ext cx="5434203" cy="2459355"/>
            <a:chOff x="525780" y="2158365"/>
            <a:chExt cx="5434203" cy="2459355"/>
          </a:xfrm>
        </p:grpSpPr>
        <p:sp>
          <p:nvSpPr>
            <p:cNvPr id="17" name="TextBox 17"/>
            <p:cNvSpPr txBox="1"/>
            <p:nvPr/>
          </p:nvSpPr>
          <p:spPr>
            <a:xfrm>
              <a:off x="525780" y="2158365"/>
              <a:ext cx="9178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0# 引导块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65935" y="2158365"/>
              <a:ext cx="41940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系统启动时从磁盘上找到 UNIX 系统并装入内存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4784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5780" y="2598420"/>
              <a:ext cx="9178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1# 超级块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65935" y="2598420"/>
              <a:ext cx="4015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文件卷中最重要的数据结构：记载文件区的空闲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块和 inode 区中 100 个空闲 inode；安装时读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入内存，卸下时写回磁盘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4823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5780" y="3602355"/>
              <a:ext cx="8108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inode 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65935" y="3602355"/>
              <a:ext cx="3175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每块 16 个 inode，从 0 起依次编号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9223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5780" y="404241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文件存储区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65935" y="4042410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普通文件和目录文件；占用的块记在各文件的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inode 中</a:t>
              </a:r>
            </a:p>
          </p:txBody>
        </p:sp>
      </p:grpSp>
      <p:grpSp>
        <p:nvGrpSpPr>
          <p:cNvPr id="34" name="c1-card-3"/>
          <p:cNvGrpSpPr/>
          <p:nvPr/>
        </p:nvGrpSpPr>
        <p:grpSpPr>
          <a:xfrm>
            <a:off x="533400" y="4749165"/>
            <a:ext cx="5410200" cy="1602105"/>
            <a:chOff x="533400" y="4749165"/>
            <a:chExt cx="5410200" cy="1602105"/>
          </a:xfrm>
        </p:grpSpPr>
        <p:sp>
          <p:nvSpPr>
            <p:cNvPr id="29" name="Rectangle 29"/>
            <p:cNvSpPr/>
            <p:nvPr/>
          </p:nvSpPr>
          <p:spPr>
            <a:xfrm>
              <a:off x="533400" y="474916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88251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81050" y="495871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0557" y="49944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链接块里存什么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3430" y="5335905"/>
              <a:ext cx="44443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s_free[0] 指向链接块，块中存下一组的块数和块号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表；一组用完就把它读入超级块。最后一组的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s_free[0] 为 0（题图写作 null）。</a:t>
              </a:r>
            </a:p>
          </p:txBody>
        </p:sp>
      </p:grpSp>
      <p:grpSp>
        <p:nvGrpSpPr>
          <p:cNvPr id="38" name="c2-code-1"/>
          <p:cNvGrpSpPr/>
          <p:nvPr/>
        </p:nvGrpSpPr>
        <p:grpSpPr>
          <a:xfrm>
            <a:off x="6248400" y="1524000"/>
            <a:ext cx="5410200" cy="2733675"/>
            <a:chOff x="6248400" y="1524000"/>
            <a:chExt cx="5410200" cy="2733675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76797" y="16759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超级块结构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76035" y="1937861"/>
              <a:ext cx="3382518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filesys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s_isize;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inode 区块数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s_fsize;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整个卷的块数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s_nfree;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内存中空闲块数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s_free[100];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空闲块号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s_ninode;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空闲 inode 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s_inode[100];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空闲 inode 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s_flock, s_ilock;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加锁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s_fmod, s_ronly;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修改、只读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s_time[2];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pad[50];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248400" y="4448175"/>
            <a:ext cx="5410200" cy="1903095"/>
            <a:chOff x="6248400" y="4448175"/>
            <a:chExt cx="5410200" cy="1903095"/>
          </a:xfrm>
        </p:grpSpPr>
        <p:sp>
          <p:nvSpPr>
            <p:cNvPr id="39" name="Rectangle 39"/>
            <p:cNvSpPr/>
            <p:nvPr/>
          </p:nvSpPr>
          <p:spPr>
            <a:xfrm>
              <a:off x="6248400" y="4448175"/>
              <a:ext cx="5410200" cy="1903095"/>
            </a:xfrm>
            <a:prstGeom prst="roundRect">
              <a:avLst>
                <a:gd name="adj" fmla="val 70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4581525"/>
              <a:ext cx="47625" cy="163639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96050" y="465772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78359" y="4693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成组链接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88430" y="5034915"/>
              <a:ext cx="4768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个空闲块为一组，每组的块号表存在上一组的链接块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里，超级块中只放当前一组。速度快，空间省。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14643" cy="909257"/>
            <a:chOff x="520446" y="342900"/>
            <a:chExt cx="941464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调度、死锁与分配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146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五、解：s_nfree 减到 0 时，把链接块 50 的内容读入超级块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669536" cy="2002536"/>
            <a:chOff x="533400" y="1533525"/>
            <a:chExt cx="4669536" cy="200253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879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061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261" y="15663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取块号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1846898"/>
              <a:ext cx="3024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s_nfree 由 1 减为 0，取 s_free[0] = 50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218360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464118"/>
              <a:ext cx="42565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s_nfree 为 0 说明 50 是链接块：把块 50 中的 s_nfree = 5 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s_free[] = 150、60、63、69、80 读入超级块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302085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301365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50 的内容已转存，块 50 分配出去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3707130"/>
            <a:ext cx="5193982" cy="503872"/>
            <a:chOff x="533400" y="3707130"/>
            <a:chExt cx="5193982" cy="503872"/>
          </a:xfrm>
        </p:grpSpPr>
        <p:sp>
          <p:nvSpPr>
            <p:cNvPr id="21" name="Rectangle 21"/>
            <p:cNvSpPr/>
            <p:nvPr/>
          </p:nvSpPr>
          <p:spPr>
            <a:xfrm>
              <a:off x="533400" y="3707130"/>
              <a:ext cx="5193982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3859530"/>
              <a:ext cx="200026" cy="200026"/>
              <a:chOff x="738188" y="3859530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38595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04863" y="393731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511" y="3860006"/>
              <a:ext cx="25664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 (1)：分配的磁盘块号是 50</a:t>
              </a:r>
            </a:p>
          </p:txBody>
        </p:sp>
      </p:grpSp>
      <p:grpSp>
        <p:nvGrpSpPr>
          <p:cNvPr id="32" name="c1-card-3"/>
          <p:cNvGrpSpPr/>
          <p:nvPr/>
        </p:nvGrpSpPr>
        <p:grpSpPr>
          <a:xfrm>
            <a:off x="533400" y="4391025"/>
            <a:ext cx="5193982" cy="1522095"/>
            <a:chOff x="533400" y="4391025"/>
            <a:chExt cx="5193982" cy="1522095"/>
          </a:xfrm>
        </p:grpSpPr>
        <p:sp>
          <p:nvSpPr>
            <p:cNvPr id="27" name="Rectangle 27"/>
            <p:cNvSpPr/>
            <p:nvPr/>
          </p:nvSpPr>
          <p:spPr>
            <a:xfrm>
              <a:off x="533400" y="4391025"/>
              <a:ext cx="5193982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524375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9620" y="4589145"/>
              <a:ext cx="728662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3037" y="4623435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回收块 b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381" y="4950619"/>
              <a:ext cx="446887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s_nfree 已满（本题为 5），先把超级块中的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s_nfree 和 s_free[] 写入块 b，令 s_nfree = 0，b 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为新的链接块；再执行 s_free[s_nfree++] = b。</a:t>
              </a:r>
            </a:p>
          </p:txBody>
        </p:sp>
      </p:grpSp>
      <p:grpSp>
        <p:nvGrpSpPr>
          <p:cNvPr id="80" name="c2-cells-1"/>
          <p:cNvGrpSpPr/>
          <p:nvPr/>
        </p:nvGrpSpPr>
        <p:grpSpPr>
          <a:xfrm>
            <a:off x="6026467" y="1569720"/>
            <a:ext cx="4516756" cy="1754505"/>
            <a:chOff x="6026467" y="1569720"/>
            <a:chExt cx="4516756" cy="1754505"/>
          </a:xfrm>
        </p:grpSpPr>
        <p:sp>
          <p:nvSpPr>
            <p:cNvPr id="33" name="TextBox 33"/>
            <p:cNvSpPr txBox="1"/>
            <p:nvPr/>
          </p:nvSpPr>
          <p:spPr>
            <a:xfrm>
              <a:off x="6026467" y="1946434"/>
              <a:ext cx="9296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super_block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031355" y="1819275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229754" y="19464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525702" y="1819275"/>
              <a:ext cx="494348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36077" y="194643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020050" y="1819275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73960" y="194643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13445" y="1819275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668308" y="194643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007792" y="1819275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161703" y="194643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502140" y="1819275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656050" y="194643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29352" y="1569720"/>
              <a:ext cx="4993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s_nfree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7240905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452778" y="1569720"/>
              <a:ext cx="63924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s_free[0]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7734300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26467" y="2501741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 150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031355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29754" y="25017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525702" y="2374582"/>
              <a:ext cx="494348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636077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020050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30424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513445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624772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9007792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118167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203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9502140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612514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206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9996488" y="2374582"/>
              <a:ext cx="49434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0106862" y="25017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026467" y="3056096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 250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031355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233564" y="30560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7533322" y="2929890"/>
              <a:ext cx="501968" cy="39433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643549" y="3056096"/>
              <a:ext cx="280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null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034338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149474" y="3056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170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8536305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650489" y="3056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175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9037320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9152457" y="3056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177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539288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653472" y="3056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180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10041255" y="2929890"/>
              <a:ext cx="50196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10155439" y="30560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188</a:t>
              </a:r>
            </a:p>
          </p:txBody>
        </p:sp>
      </p:grpSp>
      <p:grpSp>
        <p:nvGrpSpPr>
          <p:cNvPr id="86" name="c2-callout-2"/>
          <p:cNvGrpSpPr/>
          <p:nvPr/>
        </p:nvGrpSpPr>
        <p:grpSpPr>
          <a:xfrm>
            <a:off x="6032182" y="3503295"/>
            <a:ext cx="5626418" cy="756285"/>
            <a:chOff x="6032182" y="3503295"/>
            <a:chExt cx="5626418" cy="756285"/>
          </a:xfrm>
        </p:grpSpPr>
        <p:sp>
          <p:nvSpPr>
            <p:cNvPr id="81" name="Rectangle 81"/>
            <p:cNvSpPr/>
            <p:nvPr/>
          </p:nvSpPr>
          <p:spPr>
            <a:xfrm>
              <a:off x="6032182" y="3503295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6236970" y="3781427"/>
              <a:ext cx="200023" cy="200023"/>
              <a:chOff x="6236970" y="3781427"/>
              <a:chExt cx="200023" cy="200023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6236970" y="37814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370320" y="3848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6539294" y="3651409"/>
              <a:ext cx="472135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 (2)：s_nfree = 5，s_free[0]～[4] = 150、60、63、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69、80；链表为 super_block → 块 150 → 块 250 → null</a:t>
              </a:r>
            </a:p>
          </p:txBody>
        </p:sp>
      </p:grpSp>
      <p:grpSp>
        <p:nvGrpSpPr>
          <p:cNvPr id="92" name="c2-card-3"/>
          <p:cNvGrpSpPr/>
          <p:nvPr/>
        </p:nvGrpSpPr>
        <p:grpSpPr>
          <a:xfrm>
            <a:off x="6032182" y="4440555"/>
            <a:ext cx="5626418" cy="1473518"/>
            <a:chOff x="6032182" y="4440555"/>
            <a:chExt cx="5626418" cy="1473518"/>
          </a:xfrm>
        </p:grpSpPr>
        <p:sp>
          <p:nvSpPr>
            <p:cNvPr id="87" name="Rectangle 87"/>
            <p:cNvSpPr/>
            <p:nvPr/>
          </p:nvSpPr>
          <p:spPr>
            <a:xfrm>
              <a:off x="6032182" y="4440555"/>
              <a:ext cx="5626418" cy="1473518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8" name="Rectangle 88"/>
            <p:cNvSpPr/>
            <p:nvPr/>
          </p:nvSpPr>
          <p:spPr>
            <a:xfrm>
              <a:off x="6041708" y="4573905"/>
              <a:ext cx="47625" cy="12068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6268402" y="463867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363843" y="467296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261164" y="4999196"/>
              <a:ext cx="485660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原题图中块 150、250 除链接号外各列出 5 个块号（多出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210、188），与 s_free[5] 的定义不符，不影响本题答案。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13170" cy="3675697"/>
            <a:chOff x="667512" y="1835468"/>
            <a:chExt cx="6313170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29592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 · 综合题（二）与补充练习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同步、虚存、磁盘与练习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032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六、信号量　七、虚拟存储　八、磁盘调度　补充：银行家算法、页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面置换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872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一条消息被 n 个消费者各读一次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地址拆分与二次机会淘汰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18023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步扫描与访问时间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29001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安全性检查与 OPT、FIFO、LRU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06622" cy="909257"/>
            <a:chOff x="520446" y="342900"/>
            <a:chExt cx="96066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066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六、信号量与 P、V 操作（10 分）：先找合作关系，再放 P、V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2514600"/>
            <a:chOff x="533400" y="1524000"/>
            <a:chExt cx="5193982" cy="2514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514600"/>
            </a:xfrm>
            <a:prstGeom prst="roundRect">
              <a:avLst>
                <a:gd name="adj" fmla="val 530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2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64286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设系统有多个生产者进程向 1 个缓冲区不断发消息，n 个消费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者进程从该缓冲区取消息。该缓冲区只能存放 1 条消息，并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且对每条放入缓冲区的消息，所有消费者都必须接收 1 次，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生产者才可以继续向缓冲区发消息。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3127058"/>
              <a:ext cx="462572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用信号量和 P、V 操作完成生产者和消费者发、收消息的描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述：(1) 给出信号量的定义、初值及其含义；(2) 实现对缓冲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区及消息操作的互斥与同步；(3) 用类 C 语言伪代码描述。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208145"/>
            <a:ext cx="5193982" cy="1785938"/>
            <a:chOff x="533400" y="4208145"/>
            <a:chExt cx="5193982" cy="1785938"/>
          </a:xfrm>
        </p:grpSpPr>
        <p:sp>
          <p:nvSpPr>
            <p:cNvPr id="13" name="Rectangle 13"/>
            <p:cNvSpPr/>
            <p:nvPr/>
          </p:nvSpPr>
          <p:spPr>
            <a:xfrm>
              <a:off x="533400" y="4208145"/>
              <a:ext cx="5193982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341495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439483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759" y="44276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解题步骤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58190" y="472725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3868" y="47656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8987" y="473964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找出活动体，写出各自的工作过程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8190" y="502729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3868" y="506568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8987" y="503967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找出活动体之间的合作关系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8190" y="532733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868" y="536667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8987" y="5339715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需要等待的地方之前 P，需要唤醒的地方之后 V；有几类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资源就定义几类信号量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6027230" y="1524000"/>
            <a:ext cx="5631370" cy="2463831"/>
            <a:chOff x="6027230" y="1524000"/>
            <a:chExt cx="5631370" cy="2463831"/>
          </a:xfrm>
        </p:grpSpPr>
        <p:sp>
          <p:nvSpPr>
            <p:cNvPr id="27" name="Rectangle 27"/>
            <p:cNvSpPr/>
            <p:nvPr/>
          </p:nvSpPr>
          <p:spPr>
            <a:xfrm>
              <a:off x="6032182" y="1524000"/>
              <a:ext cx="562641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18525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0329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合作关系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5819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92494" y="21455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48462" y="2045494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生产者放入前，要确认所有消费者都取过上一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67925" y="2145506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放入前 P(S1)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32182" y="25193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32182" y="2524125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92494" y="26455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8462" y="2645569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消费者取之前，要确认缓冲区中有新消息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067925" y="2645569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取之前 P(S2)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29194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92494" y="30456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48462" y="304561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生产者放入后要唤醒消费者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067925" y="3045619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放入后 V(S2)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32182" y="33194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32182" y="3324225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92494" y="34456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④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48462" y="344566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消费者取完后要通知生产者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67925" y="3445669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取完后 V(S1)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32182" y="1524000"/>
              <a:ext cx="5626418" cy="2200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646545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966008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027230" y="3797141"/>
              <a:ext cx="3308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活动体：生产者（生产、放入）、消费者（取出、消费）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032182" y="4119562"/>
            <a:ext cx="5626418" cy="729615"/>
            <a:chOff x="6032182" y="4119562"/>
            <a:chExt cx="5626418" cy="729615"/>
          </a:xfrm>
        </p:grpSpPr>
        <p:sp>
          <p:nvSpPr>
            <p:cNvPr id="53" name="Rectangle 53"/>
            <p:cNvSpPr/>
            <p:nvPr/>
          </p:nvSpPr>
          <p:spPr>
            <a:xfrm>
              <a:off x="6032182" y="4119562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236970" y="4384358"/>
              <a:ext cx="200026" cy="200026"/>
              <a:chOff x="6236970" y="4384358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236970" y="43843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336983" y="44510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325870" y="44843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539674" y="4266248"/>
              <a:ext cx="470287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同步的基本形式：信号量初值 0，先动作的进程做完后 V(S)，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后动作的进程动作前 P(S)。</a:t>
              </a:r>
            </a:p>
          </p:txBody>
        </p:sp>
      </p:grpSp>
      <p:grpSp>
        <p:nvGrpSpPr>
          <p:cNvPr id="66" name="c2-callout-3"/>
          <p:cNvGrpSpPr/>
          <p:nvPr/>
        </p:nvGrpSpPr>
        <p:grpSpPr>
          <a:xfrm>
            <a:off x="6032182" y="5018722"/>
            <a:ext cx="5626418" cy="729615"/>
            <a:chOff x="6032182" y="5018722"/>
            <a:chExt cx="5626418" cy="729615"/>
          </a:xfrm>
        </p:grpSpPr>
        <p:sp>
          <p:nvSpPr>
            <p:cNvPr id="60" name="Rectangle 60"/>
            <p:cNvSpPr/>
            <p:nvPr/>
          </p:nvSpPr>
          <p:spPr>
            <a:xfrm>
              <a:off x="6032182" y="5018722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6224912" y="5279826"/>
              <a:ext cx="224134" cy="192560"/>
              <a:chOff x="6224912" y="527982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336983" y="535019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224912" y="527982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336983" y="542798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539674" y="5165408"/>
              <a:ext cx="47371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难点：一条消息要 n 个消费者各读一次，S2 必须每个消费者一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个；S1 要等 n 个都读完才放行。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778521" cy="909257"/>
            <a:chOff x="520446" y="342900"/>
            <a:chExt cx="97785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7785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六、解法 1：用计数器 count 统计本条消息已被几个消费者读过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3344228"/>
            <a:chOff x="533400" y="1524000"/>
            <a:chExt cx="5626418" cy="33442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344228"/>
            </a:xfrm>
            <a:prstGeom prst="roundRect">
              <a:avLst>
                <a:gd name="adj" fmla="val 284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信号量定义与生产者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3871151" cy="28590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mutex = 1;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缓冲区读写互斥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S1 = 1;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上一条已被读完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S2[n];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各为 0，通知消费者 i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message buffer;</a:t>
              </a:r>
              <a:br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 = 0;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本条已读人数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producer()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message ms;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(1)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ms = produce();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P(S1);        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条件①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P(mutex); write(buffer, ms); V(mutex);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n; i++) V(S2[i]);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条件③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048250"/>
            <a:ext cx="5626418" cy="756285"/>
            <a:chOff x="533400" y="5048250"/>
            <a:chExt cx="5626418" cy="756285"/>
          </a:xfrm>
        </p:grpSpPr>
        <p:sp>
          <p:nvSpPr>
            <p:cNvPr id="11" name="Rectangle 11"/>
            <p:cNvSpPr/>
            <p:nvPr/>
          </p:nvSpPr>
          <p:spPr>
            <a:xfrm>
              <a:off x="533400" y="5048250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326380"/>
              <a:ext cx="200026" cy="200025"/>
              <a:chOff x="738188" y="5326380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3263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53708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54819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5196364"/>
              <a:ext cx="459511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S1 初值为 1：第一条消息不用等；之后要等第 n 个消费者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读完才 V(S1)。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464618" y="1524000"/>
            <a:ext cx="5193982" cy="2776538"/>
            <a:chOff x="6464618" y="1524000"/>
            <a:chExt cx="5193982" cy="2776538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2776538"/>
            </a:xfrm>
            <a:prstGeom prst="roundRect">
              <a:avLst>
                <a:gd name="adj" fmla="val 343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93015" y="1675924"/>
              <a:ext cx="14175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消费者 i（0 ≤ i ≤ n−1）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483668" y="3223260"/>
              <a:ext cx="51558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92634" y="1937385"/>
              <a:ext cx="4164521" cy="2290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consumer(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message ms;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(1)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P(S2[i]);     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条件②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ms = read(buffer);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count = count + 1;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(count == n) { count = 0; V(S1); }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条件④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V(mutex);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consume(ms);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464618" y="4480560"/>
            <a:ext cx="5193982" cy="1793558"/>
            <a:chOff x="6464618" y="4480560"/>
            <a:chExt cx="5193982" cy="1793558"/>
          </a:xfrm>
        </p:grpSpPr>
        <p:sp>
          <p:nvSpPr>
            <p:cNvPr id="23" name="Rectangle 23"/>
            <p:cNvSpPr/>
            <p:nvPr/>
          </p:nvSpPr>
          <p:spPr>
            <a:xfrm>
              <a:off x="6464618" y="4480560"/>
              <a:ext cx="5193982" cy="1793558"/>
            </a:xfrm>
            <a:prstGeom prst="roundRect">
              <a:avLst>
                <a:gd name="adj" fmla="val 74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4613910"/>
              <a:ext cx="47625" cy="15268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00838" y="467868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92278" y="4712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93598" y="5039201"/>
              <a:ext cx="4486910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原课件消费者没有把 count 清 0：第二条消息起 count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n 继续增大，再也不等于 n，生产者永远阻塞在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P(S1)。用线程模拟验证过，加上 count = 0 后每条消息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个消费者各收到一次。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897811" cy="909257"/>
            <a:chOff x="520446" y="342900"/>
            <a:chExt cx="98978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8978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六、解法 2：每个消费者一对信号量 read_n[k] 与 write_n[k]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3154680"/>
            <a:chOff x="533400" y="1524000"/>
            <a:chExt cx="5626418" cy="31546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154680"/>
            </a:xfrm>
            <a:prstGeom prst="roundRect">
              <a:avLst>
                <a:gd name="adj" fmla="val 3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信号量定义与生产者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4431221" cy="26694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mutex = 1;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缓冲区读写互斥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read_n[n];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各为 1：k 已读完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write_n[n];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各为 0：已为 k 写入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message buffer;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producer()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  message ms;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(1)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ms = produce();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n; i++) P(read_n[i]);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都读完？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P(mutex); write(buffer, ms); V(mutex);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n; i++) V(write_n[i]);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通知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ard-2"/>
          <p:cNvGrpSpPr/>
          <p:nvPr/>
        </p:nvGrpSpPr>
        <p:grpSpPr>
          <a:xfrm>
            <a:off x="533400" y="4859655"/>
            <a:ext cx="5626418" cy="1250632"/>
            <a:chOff x="533400" y="4859655"/>
            <a:chExt cx="5626418" cy="1250632"/>
          </a:xfrm>
        </p:grpSpPr>
        <p:sp>
          <p:nvSpPr>
            <p:cNvPr id="11" name="Rectangle 11"/>
            <p:cNvSpPr/>
            <p:nvPr/>
          </p:nvSpPr>
          <p:spPr>
            <a:xfrm>
              <a:off x="533400" y="4859655"/>
              <a:ext cx="5626418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993005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69620" y="5057775"/>
              <a:ext cx="16764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5056" y="5092065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多个生产者不会互相卡住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381" y="5418296"/>
              <a:ext cx="471233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每个生产者都按 read_n[0]、read_n[1]、… 的同一顺序申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请，相当于有序分配，生产者之间形不成循环等待。</a:t>
              </a:r>
            </a:p>
          </p:txBody>
        </p:sp>
      </p:grpSp>
      <p:grpSp>
        <p:nvGrpSpPr>
          <p:cNvPr id="20" name="c2-code-1"/>
          <p:cNvGrpSpPr/>
          <p:nvPr/>
        </p:nvGrpSpPr>
        <p:grpSpPr>
          <a:xfrm>
            <a:off x="6464618" y="1524000"/>
            <a:ext cx="5193982" cy="2207895"/>
            <a:chOff x="6464618" y="1524000"/>
            <a:chExt cx="5193982" cy="2207895"/>
          </a:xfrm>
        </p:grpSpPr>
        <p:sp>
          <p:nvSpPr>
            <p:cNvPr id="17" name="Rectangle 17"/>
            <p:cNvSpPr/>
            <p:nvPr/>
          </p:nvSpPr>
          <p:spPr>
            <a:xfrm>
              <a:off x="6464618" y="1524000"/>
              <a:ext cx="5193982" cy="2207895"/>
            </a:xfrm>
            <a:prstGeom prst="roundRect">
              <a:avLst>
                <a:gd name="adj" fmla="val 431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93015" y="1675924"/>
              <a:ext cx="14868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消费者 k（0 ≤ k ≤ n−1）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92634" y="1937385"/>
              <a:ext cx="3384423" cy="17217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consumer(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message ms;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(1)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P(write_n[k]);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有新消息？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P(mutex); ms = read(buffer); V(mutex);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V(read_n[k]);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告诉生产者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consume(ms);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6464618" y="3912870"/>
            <a:ext cx="5193982" cy="756285"/>
            <a:chOff x="6464618" y="3912870"/>
            <a:chExt cx="5193982" cy="756285"/>
          </a:xfrm>
        </p:grpSpPr>
        <p:sp>
          <p:nvSpPr>
            <p:cNvPr id="21" name="Rectangle 21"/>
            <p:cNvSpPr/>
            <p:nvPr/>
          </p:nvSpPr>
          <p:spPr>
            <a:xfrm>
              <a:off x="6464618" y="3912870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6669405" y="4191000"/>
              <a:ext cx="200026" cy="200026"/>
              <a:chOff x="6669405" y="4191000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669405" y="41910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69418" y="42576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758305" y="42910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971729" y="4060031"/>
              <a:ext cx="399097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与解法 1 相比：不用计数器，生产者逐个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P(read_n[k]) 就等于确认 n 个消费者都读完了。</a:t>
              </a:r>
            </a:p>
          </p:txBody>
        </p:sp>
      </p:grpSp>
      <p:grpSp>
        <p:nvGrpSpPr>
          <p:cNvPr id="33" name="c2-card-3"/>
          <p:cNvGrpSpPr/>
          <p:nvPr/>
        </p:nvGrpSpPr>
        <p:grpSpPr>
          <a:xfrm>
            <a:off x="6464618" y="4849178"/>
            <a:ext cx="5193982" cy="1261110"/>
            <a:chOff x="6464618" y="4849178"/>
            <a:chExt cx="5193982" cy="1261110"/>
          </a:xfrm>
        </p:grpSpPr>
        <p:sp>
          <p:nvSpPr>
            <p:cNvPr id="28" name="Rectangle 28"/>
            <p:cNvSpPr/>
            <p:nvPr/>
          </p:nvSpPr>
          <p:spPr>
            <a:xfrm>
              <a:off x="6464618" y="4849178"/>
              <a:ext cx="5193982" cy="1261110"/>
            </a:xfrm>
            <a:prstGeom prst="roundRect">
              <a:avLst>
                <a:gd name="adj" fmla="val 105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4982528"/>
              <a:ext cx="47625" cy="9944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0838" y="504729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92278" y="50815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93598" y="540781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原课件代码中的 i&lt;m、read_m[k] 应为 i&lt;n、read_n[k]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（题中没有 m），whlie 应为 while。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543374" cy="909257"/>
            <a:chOff x="520446" y="342900"/>
            <a:chExt cx="95433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5433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七、虚拟存储管理（10 分）：页长 512 字节，工作集固定为 4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2814638"/>
            <a:chOff x="533400" y="1524000"/>
            <a:chExt cx="5626418" cy="28146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814638"/>
            </a:xfrm>
            <a:prstGeom prst="roundRect">
              <a:avLst>
                <a:gd name="adj" fmla="val 473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2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96862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某虚拟页式存储管理，页长为 512 Bytes，工作集固定为 4，缺页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中断时基于局部置换策略并采用二次机会（Second Chance）淘汰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算法。内存空间为 64 KB，进程最大空间为 64 KB。设进程 P 当前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页表如右。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3127058"/>
              <a:ext cx="49514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进程 P 访问虚拟地址 0C9EH 和 15DBH 时，访问的逻辑页号分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别是多少？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3684270"/>
              <a:ext cx="50200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问题 (1) 中两个虚拟地址访问对应的物理页框号和物理地址分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别是多少？</a:t>
              </a:r>
            </a:p>
          </p:txBody>
        </p:sp>
      </p:grpSp>
      <p:grpSp>
        <p:nvGrpSpPr>
          <p:cNvPr id="27" name="c1-steps-2"/>
          <p:cNvGrpSpPr/>
          <p:nvPr/>
        </p:nvGrpSpPr>
        <p:grpSpPr>
          <a:xfrm>
            <a:off x="533400" y="4518660"/>
            <a:ext cx="4701545" cy="1684497"/>
            <a:chOff x="533400" y="4518660"/>
            <a:chExt cx="4701545" cy="1684497"/>
          </a:xfrm>
        </p:grpSpPr>
        <p:sp>
          <p:nvSpPr>
            <p:cNvPr id="14" name="Rectangle 14"/>
            <p:cNvSpPr/>
            <p:nvPr/>
          </p:nvSpPr>
          <p:spPr>
            <a:xfrm>
              <a:off x="666750" y="4661535"/>
              <a:ext cx="19050" cy="1165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33400" y="451866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45924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51015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51754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568452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57583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642" y="455009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拆地址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4817269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十六进制写成 16 位二进制，高 7 位是页号，低 9 位是页内地址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642" y="5133023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785" y="5400199"/>
              <a:ext cx="2551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页号在表中：取页框号，访问标志置 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642" y="571595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785" y="5983129"/>
              <a:ext cx="42881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不在表中：在 P 的 4 页里按二次机会淘汰一页，装入后再拼地址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6464618" y="1524000"/>
            <a:ext cx="5193982" cy="2194560"/>
            <a:chOff x="6464618" y="1524000"/>
            <a:chExt cx="5193982" cy="2194560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43910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64846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11109" y="164877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页框号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76588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访问标志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17708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装入时间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75843" y="208788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3737" y="2087880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90084" y="2087880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735837" y="2087880"/>
              <a:ext cx="504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 ms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239744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64618" y="2402205"/>
              <a:ext cx="5193982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75843" y="252698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33737" y="252698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590084" y="252698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735837" y="2526982"/>
              <a:ext cx="504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 ms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64618" y="28355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075843" y="296608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33737" y="2966085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590084" y="2966085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735837" y="2966085"/>
              <a:ext cx="504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ms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464618" y="327469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64618" y="3279458"/>
              <a:ext cx="5193982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23366" y="3405188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83759" y="340518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590084" y="3405188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735837" y="3405188"/>
              <a:ext cx="504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 ms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1524000"/>
              <a:ext cx="5193982" cy="21945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00975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971598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312718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2-cells-2"/>
          <p:cNvGrpSpPr/>
          <p:nvPr/>
        </p:nvGrpSpPr>
        <p:grpSpPr>
          <a:xfrm>
            <a:off x="6459665" y="3888105"/>
            <a:ext cx="3174873" cy="368618"/>
            <a:chOff x="6459665" y="3888105"/>
            <a:chExt cx="3174873" cy="368618"/>
          </a:xfrm>
        </p:grpSpPr>
        <p:sp>
          <p:nvSpPr>
            <p:cNvPr id="59" name="TextBox 59"/>
            <p:cNvSpPr txBox="1"/>
            <p:nvPr/>
          </p:nvSpPr>
          <p:spPr>
            <a:xfrm>
              <a:off x="6459665" y="40124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847522" y="3888105"/>
              <a:ext cx="13935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63413" y="4012406"/>
              <a:ext cx="9607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页号（高 7 位）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241030" y="3888105"/>
              <a:ext cx="13935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24993" y="4012406"/>
              <a:ext cx="1224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页内地址（低 9 位）</a:t>
              </a:r>
            </a:p>
          </p:txBody>
        </p:sp>
      </p:grpSp>
      <p:grpSp>
        <p:nvGrpSpPr>
          <p:cNvPr id="73" name="c2-kv-3"/>
          <p:cNvGrpSpPr/>
          <p:nvPr/>
        </p:nvGrpSpPr>
        <p:grpSpPr>
          <a:xfrm>
            <a:off x="6457760" y="4449128"/>
            <a:ext cx="5200840" cy="1302258"/>
            <a:chOff x="6457760" y="4449128"/>
            <a:chExt cx="5200840" cy="1302258"/>
          </a:xfrm>
        </p:grpSpPr>
        <p:sp>
          <p:nvSpPr>
            <p:cNvPr id="65" name="TextBox 65"/>
            <p:cNvSpPr txBox="1"/>
            <p:nvPr/>
          </p:nvSpPr>
          <p:spPr>
            <a:xfrm>
              <a:off x="6457760" y="444912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页内地址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419784" y="4449128"/>
              <a:ext cx="16584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512 = 2⁹，占低 9 位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464618" y="47358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457760" y="484155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19784" y="4841558"/>
              <a:ext cx="3185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KB = 2¹⁶，共 16 位，高 7 位为页号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64618" y="5128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457760" y="523398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419784" y="5233988"/>
              <a:ext cx="387134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内存也是 64 KB，16 位 = 页框号 7 位 + 页内地址 9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17723" cy="909257"/>
            <a:chOff x="520446" y="342900"/>
            <a:chExt cx="68177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177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七、解（1）：写成二进制，高 7 位就是页号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1" name="c1-cells-1"/>
          <p:cNvGrpSpPr/>
          <p:nvPr/>
        </p:nvGrpSpPr>
        <p:grpSpPr>
          <a:xfrm>
            <a:off x="527685" y="1569720"/>
            <a:ext cx="6281737" cy="2147887"/>
            <a:chOff x="527685" y="1569720"/>
            <a:chExt cx="6281737" cy="2147887"/>
          </a:xfrm>
        </p:grpSpPr>
        <p:sp>
          <p:nvSpPr>
            <p:cNvPr id="7" name="TextBox 7"/>
            <p:cNvSpPr txBox="1"/>
            <p:nvPr/>
          </p:nvSpPr>
          <p:spPr>
            <a:xfrm>
              <a:off x="527685" y="1958816"/>
              <a:ext cx="471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0C9EH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77278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07096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35418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65236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793558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923376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152650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28246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510790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4060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868930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99874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227070" y="1819275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35688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58521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1502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94335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07316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30149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3130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65963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78944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01777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4758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75910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505729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35002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64821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3142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222961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51282" y="1819275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81101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33693" y="1569720"/>
              <a:ext cx="9960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页号 0000110 = 6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2293620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5158740" y="22574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698813" y="2388870"/>
              <a:ext cx="9960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页内 0 1001 1110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7685" y="3111341"/>
              <a:ext cx="471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15DBH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077278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207096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435418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565236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793558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923376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152650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28246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510790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64060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868930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99874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227070" y="2971800"/>
              <a:ext cx="35814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35688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358521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71502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94335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07316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430149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43130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65963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78944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01777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14758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375910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505729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735002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5864821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093142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222961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451282" y="2971800"/>
              <a:ext cx="3581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581101" y="3111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798709" y="2722245"/>
              <a:ext cx="10660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页号 0001010 = 10</a:t>
              </a:r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93620" y="2876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79" name="Freeform 79"/>
            <p:cNvSpPr/>
            <p:nvPr/>
          </p:nvSpPr>
          <p:spPr>
            <a:xfrm>
              <a:off x="5158740" y="34099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4698813" y="3541395"/>
              <a:ext cx="9960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页内 1 1101 1011</a:t>
              </a:r>
            </a:p>
          </p:txBody>
        </p:sp>
      </p:grpSp>
      <p:grpSp>
        <p:nvGrpSpPr>
          <p:cNvPr id="102" name="c1-table-2"/>
          <p:cNvGrpSpPr/>
          <p:nvPr/>
        </p:nvGrpSpPr>
        <p:grpSpPr>
          <a:xfrm>
            <a:off x="527685" y="3848100"/>
            <a:ext cx="6281737" cy="1642587"/>
            <a:chOff x="527685" y="3848100"/>
            <a:chExt cx="6281737" cy="1642587"/>
          </a:xfrm>
        </p:grpSpPr>
        <p:sp>
          <p:nvSpPr>
            <p:cNvPr id="82" name="Rectangle 82"/>
            <p:cNvSpPr/>
            <p:nvPr/>
          </p:nvSpPr>
          <p:spPr>
            <a:xfrm>
              <a:off x="533400" y="38481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56577" y="39838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2567356" y="39838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逐位展开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4558944" y="39838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页号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5642026" y="39838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页内地址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66031" y="4432459"/>
              <a:ext cx="538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0C9EH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2076262" y="4432459"/>
              <a:ext cx="1684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0000 1100 1001 1110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683872" y="44324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5531485" y="4432459"/>
              <a:ext cx="923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09EH = 158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33400" y="47405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533400" y="47453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766031" y="4881086"/>
              <a:ext cx="538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15DBH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2076262" y="4881086"/>
              <a:ext cx="1684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0001 0101 1101 1011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4636486" y="48810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5531485" y="4881086"/>
              <a:ext cx="923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1DBH = 475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533400" y="3848100"/>
              <a:ext cx="627602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1532572" y="38481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4293870" y="38481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5173028" y="38481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527685" y="5270659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每个十六进制数字写成 4 位二进制，再从左数 7 位切开</a:t>
              </a:r>
            </a:p>
          </p:txBody>
        </p:sp>
      </p:grpSp>
      <p:grpSp>
        <p:nvGrpSpPr>
          <p:cNvPr id="108" name="c1-callout-3"/>
          <p:cNvGrpSpPr/>
          <p:nvPr/>
        </p:nvGrpSpPr>
        <p:grpSpPr>
          <a:xfrm>
            <a:off x="533400" y="5636895"/>
            <a:ext cx="6276022" cy="533400"/>
            <a:chOff x="533400" y="5636895"/>
            <a:chExt cx="6276022" cy="533400"/>
          </a:xfrm>
        </p:grpSpPr>
        <p:sp>
          <p:nvSpPr>
            <p:cNvPr id="103" name="Rectangle 103"/>
            <p:cNvSpPr/>
            <p:nvPr/>
          </p:nvSpPr>
          <p:spPr>
            <a:xfrm>
              <a:off x="533400" y="5636895"/>
              <a:ext cx="6276022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738188" y="5803583"/>
              <a:ext cx="200026" cy="200026"/>
              <a:chOff x="738188" y="5803583"/>
              <a:chExt cx="200026" cy="200026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738188" y="58035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804863" y="588137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1040130" y="5798820"/>
              <a:ext cx="4507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 (1)：0C9EH 访问第 6 页，15DBH 访问第 10 页</a:t>
              </a:r>
            </a:p>
          </p:txBody>
        </p:sp>
      </p:grpSp>
      <p:grpSp>
        <p:nvGrpSpPr>
          <p:cNvPr id="122" name="c2-steps-1"/>
          <p:cNvGrpSpPr/>
          <p:nvPr/>
        </p:nvGrpSpPr>
        <p:grpSpPr>
          <a:xfrm>
            <a:off x="7114222" y="1533525"/>
            <a:ext cx="4190630" cy="2347246"/>
            <a:chOff x="7114222" y="1533525"/>
            <a:chExt cx="4190630" cy="2347246"/>
          </a:xfrm>
        </p:grpSpPr>
        <p:sp>
          <p:nvSpPr>
            <p:cNvPr id="109" name="Rectangle 109"/>
            <p:cNvSpPr/>
            <p:nvPr/>
          </p:nvSpPr>
          <p:spPr>
            <a:xfrm>
              <a:off x="7247572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Ellipse 110"/>
            <p:cNvSpPr/>
            <p:nvPr/>
          </p:nvSpPr>
          <p:spPr>
            <a:xfrm>
              <a:off x="7114222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720784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2" name="Ellipse 112"/>
            <p:cNvSpPr/>
            <p:nvPr/>
          </p:nvSpPr>
          <p:spPr>
            <a:xfrm>
              <a:off x="7114222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7207846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4" name="Ellipse 114"/>
            <p:cNvSpPr/>
            <p:nvPr/>
          </p:nvSpPr>
          <p:spPr>
            <a:xfrm>
              <a:off x="7114222" y="30699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7207846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7525702" y="1567815"/>
              <a:ext cx="13043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0C9EH 查页表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7526846" y="1861661"/>
              <a:ext cx="37780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 页在内存，页框号 8，访问标志置 1，不缺页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7525702" y="221837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拼物理地址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7526846" y="2512219"/>
              <a:ext cx="37680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页框号 8 = 0001000 作高 7 位，接上页内地址 0 100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1 1110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7525702" y="310419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7526846" y="3397091"/>
              <a:ext cx="36136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 0000 1001 1110B = 109EH（8 × 512 + 158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4254）</a:t>
              </a:r>
            </a:p>
          </p:txBody>
        </p:sp>
      </p:grpSp>
      <p:grpSp>
        <p:nvGrpSpPr>
          <p:cNvPr id="128" name="c2-callout-2"/>
          <p:cNvGrpSpPr/>
          <p:nvPr/>
        </p:nvGrpSpPr>
        <p:grpSpPr>
          <a:xfrm>
            <a:off x="7114222" y="4060508"/>
            <a:ext cx="4544378" cy="782955"/>
            <a:chOff x="7114222" y="4060508"/>
            <a:chExt cx="4544378" cy="782955"/>
          </a:xfrm>
        </p:grpSpPr>
        <p:sp>
          <p:nvSpPr>
            <p:cNvPr id="123" name="Rectangle 123"/>
            <p:cNvSpPr/>
            <p:nvPr/>
          </p:nvSpPr>
          <p:spPr>
            <a:xfrm>
              <a:off x="7114222" y="4060508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26" name="Group 126"/>
            <p:cNvGrpSpPr/>
            <p:nvPr/>
          </p:nvGrpSpPr>
          <p:grpSpPr>
            <a:xfrm>
              <a:off x="7319010" y="4351973"/>
              <a:ext cx="200026" cy="200026"/>
              <a:chOff x="7319010" y="4351973"/>
              <a:chExt cx="200026" cy="200026"/>
            </a:xfrm>
          </p:grpSpPr>
          <p:sp>
            <p:nvSpPr>
              <p:cNvPr id="124" name="Freeform 124"/>
              <p:cNvSpPr/>
              <p:nvPr/>
            </p:nvSpPr>
            <p:spPr>
              <a:xfrm>
                <a:off x="7319010" y="43519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25" name="Freeform 125"/>
              <p:cNvSpPr/>
              <p:nvPr/>
            </p:nvSpPr>
            <p:spPr>
              <a:xfrm>
                <a:off x="7385685" y="44297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27" name="TextBox 127"/>
            <p:cNvSpPr txBox="1"/>
            <p:nvPr/>
          </p:nvSpPr>
          <p:spPr>
            <a:xfrm>
              <a:off x="7620952" y="4209098"/>
              <a:ext cx="3663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 (2) 之一：0C9EH 对应页框 8，物理地址</a:t>
              </a:r>
              <a:br/>
              <a:r>
                <a:rPr lang="en-US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109EH</a:t>
              </a:r>
            </a:p>
          </p:txBody>
        </p:sp>
      </p:grpSp>
      <p:grpSp>
        <p:nvGrpSpPr>
          <p:cNvPr id="1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9" name="TextBox 12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20834" cy="909257"/>
            <a:chOff x="520446" y="342900"/>
            <a:chExt cx="85208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208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七、解（2）：15DBH 缺页，二次机会算法淘汰第 12 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140071" cy="2475072"/>
            <a:chOff x="533400" y="1533525"/>
            <a:chExt cx="5140071" cy="2475072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54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314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0607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798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90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472668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页表中没有第 10 页。工作集固定为 4 且局部置换，只能在 P 自己的 4 页中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淘汰一页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35553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按装入先后排队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622709"/>
              <a:ext cx="43461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9（60 ms）、12（70）、6（80）、4（90），从最早装入的看起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93846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给第二次机会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205639"/>
              <a:ext cx="45949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 页访问标志为 1：清 0，移到队尾；第 12 页访问标志为 0：淘汰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52139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788569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10 页装入第 12 页腾出的 13 号页框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172902"/>
            <a:ext cx="5410200" cy="481012"/>
            <a:chOff x="533400" y="4172902"/>
            <a:chExt cx="5410200" cy="481012"/>
          </a:xfrm>
        </p:grpSpPr>
        <p:sp>
          <p:nvSpPr>
            <p:cNvPr id="25" name="Rectangle 25"/>
            <p:cNvSpPr/>
            <p:nvPr/>
          </p:nvSpPr>
          <p:spPr>
            <a:xfrm>
              <a:off x="533400" y="4172902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312920"/>
              <a:ext cx="200026" cy="200026"/>
              <a:chOff x="738188" y="4312920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3129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04863" y="439070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4318635"/>
              <a:ext cx="42109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 (2) 之二：15DBH 对应页框 13，物理地址 1BDBH</a:t>
              </a:r>
            </a:p>
          </p:txBody>
        </p:sp>
      </p:grpSp>
      <p:grpSp>
        <p:nvGrpSpPr>
          <p:cNvPr id="36" name="c1-card-3"/>
          <p:cNvGrpSpPr/>
          <p:nvPr/>
        </p:nvGrpSpPr>
        <p:grpSpPr>
          <a:xfrm>
            <a:off x="533400" y="4823460"/>
            <a:ext cx="5410200" cy="1443038"/>
            <a:chOff x="533400" y="4823460"/>
            <a:chExt cx="5410200" cy="1443038"/>
          </a:xfrm>
        </p:grpSpPr>
        <p:sp>
          <p:nvSpPr>
            <p:cNvPr id="31" name="Rectangle 31"/>
            <p:cNvSpPr/>
            <p:nvPr/>
          </p:nvSpPr>
          <p:spPr>
            <a:xfrm>
              <a:off x="533400" y="4823460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2925" y="495681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58190" y="501015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5609" y="504301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二次机会算法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1332" y="5354002"/>
              <a:ext cx="477145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FIFO 的改进：按装入先后检查，访问位为 1 的清 0 并当作新装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入的页排到队尾，遇到访问位为 0 的就淘汰。所有页访问位都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1 时，转一圈后退化为 FIFO。</a:t>
              </a:r>
            </a:p>
          </p:txBody>
        </p:sp>
      </p:grpSp>
      <p:grpSp>
        <p:nvGrpSpPr>
          <p:cNvPr id="57" name="c2-cells-1"/>
          <p:cNvGrpSpPr/>
          <p:nvPr/>
        </p:nvGrpSpPr>
        <p:grpSpPr>
          <a:xfrm>
            <a:off x="6243066" y="1568291"/>
            <a:ext cx="3237166" cy="1130142"/>
            <a:chOff x="6243066" y="1568291"/>
            <a:chExt cx="3237166" cy="1130142"/>
          </a:xfrm>
        </p:grpSpPr>
        <p:sp>
          <p:nvSpPr>
            <p:cNvPr id="37" name="TextBox 37"/>
            <p:cNvSpPr txBox="1"/>
            <p:nvPr/>
          </p:nvSpPr>
          <p:spPr>
            <a:xfrm>
              <a:off x="6243066" y="192881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淘汰前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81800" y="1809750"/>
              <a:ext cx="67437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28128" y="1928812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(1)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456170" y="1809750"/>
              <a:ext cx="674370" cy="368618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62635" y="1928812"/>
              <a:ext cx="4633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12 (0)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31492" y="1809750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277820" y="1928812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(1)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805862" y="1809750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952190" y="1928812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(0)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03834" y="15682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队首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7080885" y="17145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43066" y="24488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淘汰后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781800" y="232981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28128" y="244887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(1)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456170" y="2329815"/>
              <a:ext cx="67437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603450" y="244887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(0)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131492" y="2329815"/>
              <a:ext cx="67437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77820" y="2448878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(0)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805862" y="2329815"/>
              <a:ext cx="67437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911375" y="2448878"/>
              <a:ext cx="4633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 (1)</a:t>
              </a:r>
            </a:p>
          </p:txBody>
        </p:sp>
      </p:grpSp>
      <p:grpSp>
        <p:nvGrpSpPr>
          <p:cNvPr id="59" name="c2-text-2"/>
          <p:cNvGrpSpPr/>
          <p:nvPr/>
        </p:nvGrpSpPr>
        <p:grpSpPr>
          <a:xfrm>
            <a:off x="6242685" y="2886551"/>
            <a:ext cx="4316039" cy="220028"/>
            <a:chOff x="6242685" y="2886551"/>
            <a:chExt cx="4316039" cy="220028"/>
          </a:xfrm>
        </p:grpSpPr>
        <p:sp>
          <p:nvSpPr>
            <p:cNvPr id="58" name="TextBox 58"/>
            <p:cNvSpPr txBox="1"/>
            <p:nvPr/>
          </p:nvSpPr>
          <p:spPr>
            <a:xfrm>
              <a:off x="6242685" y="2886551"/>
              <a:ext cx="4316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括号内为访问标志。第 10 页装入后立即被访问，访问标志为 1。</a:t>
              </a:r>
            </a:p>
          </p:txBody>
        </p:sp>
      </p:grpSp>
      <p:grpSp>
        <p:nvGrpSpPr>
          <p:cNvPr id="80" name="c2-table-3"/>
          <p:cNvGrpSpPr/>
          <p:nvPr/>
        </p:nvGrpSpPr>
        <p:grpSpPr>
          <a:xfrm>
            <a:off x="6243447" y="3232785"/>
            <a:ext cx="5415153" cy="1863756"/>
            <a:chOff x="6243447" y="3232785"/>
            <a:chExt cx="5415153" cy="1863756"/>
          </a:xfrm>
        </p:grpSpPr>
        <p:sp>
          <p:nvSpPr>
            <p:cNvPr id="60" name="Rectangle 60"/>
            <p:cNvSpPr/>
            <p:nvPr/>
          </p:nvSpPr>
          <p:spPr>
            <a:xfrm>
              <a:off x="6248400" y="3232785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944398" y="335422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67356" y="335422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二进制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644581" y="33542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十六进制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345555" y="3754279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页框号 13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03277" y="375427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0001101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904667" y="37542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248400" y="40281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248400" y="403288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345555" y="4154329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 475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675119" y="4154329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1 1101 1011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770890" y="4154329"/>
              <a:ext cx="3619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1DBH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248400" y="44281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345555" y="45543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362262" y="4554379"/>
              <a:ext cx="14739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0001 1011 1101 1011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727080" y="4554379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1BDBH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248400" y="3232785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7947660" y="323278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240328" y="323278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243447" y="4905851"/>
              <a:ext cx="19544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 × 512 + 475 = 7131 = 1BDBH</a:t>
              </a:r>
            </a:p>
          </p:txBody>
        </p:sp>
      </p:grpSp>
      <p:grpSp>
        <p:nvGrpSpPr>
          <p:cNvPr id="87" name="c2-callout-4"/>
          <p:cNvGrpSpPr/>
          <p:nvPr/>
        </p:nvGrpSpPr>
        <p:grpSpPr>
          <a:xfrm>
            <a:off x="6248400" y="5228272"/>
            <a:ext cx="5410200" cy="729615"/>
            <a:chOff x="6248400" y="5228272"/>
            <a:chExt cx="5410200" cy="729615"/>
          </a:xfrm>
        </p:grpSpPr>
        <p:sp>
          <p:nvSpPr>
            <p:cNvPr id="81" name="Rectangle 81"/>
            <p:cNvSpPr/>
            <p:nvPr/>
          </p:nvSpPr>
          <p:spPr>
            <a:xfrm>
              <a:off x="6248400" y="522827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6453188" y="5493068"/>
              <a:ext cx="200026" cy="200026"/>
              <a:chOff x="6453188" y="5493068"/>
              <a:chExt cx="200026" cy="200026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6453188" y="54930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553200" y="55597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6542088" y="55930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6755892" y="5374005"/>
              <a:ext cx="446284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页表更新：删去第 12 页，第 10 页填页框 13，第 9 页访问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标志变为 0。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67270" cy="909257"/>
            <a:chOff x="520446" y="342900"/>
            <a:chExt cx="71672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672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八、设备与 I/O 管理（10 分）：5 步扫描调度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3515678"/>
            <a:chOff x="533400" y="1524000"/>
            <a:chExt cx="5626418" cy="35156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515678"/>
            </a:xfrm>
            <a:prstGeom prst="roundRect">
              <a:avLst>
                <a:gd name="adj" fmla="val 379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29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97382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系统磁盘只有一个移动磁头，磁道由外向内编号为 0～199；磁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头移动一个磁道需 1 毫秒；每磁道 100 个扇区，每扇区 128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Bytes；磁盘转速 R = 6000 r/min。当前磁头在第 102 磁道，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移动方向由外向内。磁道 I/O 请求序列为：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3215164"/>
              <a:ext cx="495579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70、130、50、112、125、120、80、30、60、40、90、20、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3803809"/>
              <a:ext cx="488365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每个请求读/写磁道上的 1 个扇区，采用 5 步扫描（5-step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SCAN）调度算法。(1) 写出调度序列，计算磁头移动量；(2)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计算总寻道时间（忽略启动时间）、总旋转延迟时间、总传输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时间和总访问处理时间。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5219700"/>
            <a:ext cx="5626418" cy="1018222"/>
            <a:chOff x="533400" y="5219700"/>
            <a:chExt cx="5626418" cy="1018222"/>
          </a:xfrm>
        </p:grpSpPr>
        <p:sp>
          <p:nvSpPr>
            <p:cNvPr id="14" name="Rectangle 14"/>
            <p:cNvSpPr/>
            <p:nvPr/>
          </p:nvSpPr>
          <p:spPr>
            <a:xfrm>
              <a:off x="533400" y="5219700"/>
              <a:ext cx="5626418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629275"/>
              <a:ext cx="200026" cy="200026"/>
              <a:chOff x="738188" y="5629275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6292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6959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7088" y="572928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511" y="5366861"/>
              <a:ext cx="469430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思路：按到达顺序每 5 个一组，组内用 SCAN 扫到尽头再回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头；移动量 × 1 ms 即寻道时间，再加旋转延迟与传输时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464618" y="1524000"/>
            <a:ext cx="5193982" cy="1568768"/>
            <a:chOff x="6464618" y="1524000"/>
            <a:chExt cx="5193982" cy="1568768"/>
          </a:xfrm>
        </p:grpSpPr>
        <p:sp>
          <p:nvSpPr>
            <p:cNvPr id="21" name="Rectangle 21"/>
            <p:cNvSpPr/>
            <p:nvPr/>
          </p:nvSpPr>
          <p:spPr>
            <a:xfrm>
              <a:off x="6464618" y="1524000"/>
              <a:ext cx="5193982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4142" y="1657350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00838" y="1722120"/>
              <a:ext cx="180784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35451" y="1756410"/>
              <a:ext cx="1738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N 步扫描（N-step SCAN）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708458" y="214312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65048" y="2082641"/>
              <a:ext cx="43696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把请求队列分成长度为 N 的子队列，每个子队列内采用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SCAN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708458" y="27317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65048" y="2672239"/>
              <a:ext cx="36227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很大时接近 SCAN；N = 1 时退化为 FCFS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464618" y="3272790"/>
            <a:ext cx="5193982" cy="1250632"/>
            <a:chOff x="6464618" y="3272790"/>
            <a:chExt cx="5193982" cy="1250632"/>
          </a:xfrm>
        </p:grpSpPr>
        <p:sp>
          <p:nvSpPr>
            <p:cNvPr id="30" name="Rectangle 30"/>
            <p:cNvSpPr/>
            <p:nvPr/>
          </p:nvSpPr>
          <p:spPr>
            <a:xfrm>
              <a:off x="6464618" y="3272790"/>
              <a:ext cx="5193982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340614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700838" y="3470910"/>
              <a:ext cx="131730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58079" y="3505200"/>
              <a:ext cx="12037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扫描算法（SCAN）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93598" y="383143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磁头往复扫描各柱面，为途经柱面上的请求服务；每次都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扫描到柱面尽头再改变方向，无论尽头有没有请求。</a:t>
              </a:r>
            </a:p>
          </p:txBody>
        </p:sp>
      </p:grpSp>
      <p:grpSp>
        <p:nvGrpSpPr>
          <p:cNvPr id="65" name="c2-cells-3"/>
          <p:cNvGrpSpPr/>
          <p:nvPr/>
        </p:nvGrpSpPr>
        <p:grpSpPr>
          <a:xfrm>
            <a:off x="6459284" y="4704398"/>
            <a:ext cx="2959989" cy="1503997"/>
            <a:chOff x="6459284" y="4704398"/>
            <a:chExt cx="2959989" cy="1503997"/>
          </a:xfrm>
        </p:grpSpPr>
        <p:sp>
          <p:nvSpPr>
            <p:cNvPr id="36" name="TextBox 36"/>
            <p:cNvSpPr txBox="1"/>
            <p:nvPr/>
          </p:nvSpPr>
          <p:spPr>
            <a:xfrm>
              <a:off x="6459284" y="4835842"/>
              <a:ext cx="4640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 1 组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025640" y="4704398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178706" y="483584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504748" y="4704398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616046" y="4835842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982902" y="4704398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135968" y="483584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462010" y="4704398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573308" y="4835842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940165" y="4704398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052416" y="4835842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59284" y="5391150"/>
              <a:ext cx="4640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 2 组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025640" y="5259705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37891" y="5391150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120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504748" y="5259705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656861" y="5391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982902" y="5259705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135968" y="5391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462010" y="5259705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614123" y="5391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940165" y="5259705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093231" y="53911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59284" y="5946458"/>
              <a:ext cx="4640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 3 组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025640" y="5814060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178706" y="59464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504748" y="5814060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656861" y="594645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982902" y="5814060"/>
              <a:ext cx="479108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095153" y="594645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110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00774" cy="909257"/>
            <a:chOff x="520446" y="342900"/>
            <a:chExt cx="79007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007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八、解（1）：分三组扫描，磁头共移动 674 个磁道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029200" cy="1781556"/>
            <a:chOff x="533400" y="1533525"/>
            <a:chExt cx="5029200" cy="178155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670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261" y="1566386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1846898"/>
              <a:ext cx="46161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102 向内：112、125、130，扫到 199 折返：70、50，扫到 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2183606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464118"/>
              <a:ext cx="3267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0 向内：30、40、60、80、120，扫到 199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799874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080385"/>
              <a:ext cx="19668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199 向外：110、90、20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486150"/>
            <a:ext cx="4977765" cy="1529715"/>
            <a:chOff x="533400" y="3486150"/>
            <a:chExt cx="4977765" cy="1529715"/>
          </a:xfrm>
        </p:grpSpPr>
        <p:sp>
          <p:nvSpPr>
            <p:cNvPr id="21" name="Rectangle 21"/>
            <p:cNvSpPr/>
            <p:nvPr/>
          </p:nvSpPr>
          <p:spPr>
            <a:xfrm>
              <a:off x="533400" y="3486150"/>
              <a:ext cx="4977765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619500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620" y="368427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7059" y="371856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移动量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381" y="4045744"/>
              <a:ext cx="427050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+ 13 + 5 + 69 + 129 + 20 + 50 + 30 + 10 + 20 + 20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+ 40 + 79 + 89 + 20 + 70 =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674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个磁道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3524" y="4631055"/>
              <a:ext cx="3856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图中虚线表示扫到端点，括号里的 199、0 不是请求。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5196840"/>
            <a:ext cx="4977765" cy="756285"/>
            <a:chOff x="533400" y="5196840"/>
            <a:chExt cx="4977765" cy="756285"/>
          </a:xfrm>
        </p:grpSpPr>
        <p:sp>
          <p:nvSpPr>
            <p:cNvPr id="28" name="Rectangle 28"/>
            <p:cNvSpPr/>
            <p:nvPr/>
          </p:nvSpPr>
          <p:spPr>
            <a:xfrm>
              <a:off x="533400" y="5196840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474970"/>
              <a:ext cx="200026" cy="200025"/>
              <a:chOff x="738188" y="5474970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4749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5194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6305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5344001"/>
              <a:ext cx="400900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若第 1 组服务完 50 立即换第 2 组，去 0 途中先服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务 40、30，移动量同样是 674。</a:t>
              </a:r>
            </a:p>
          </p:txBody>
        </p:sp>
      </p:grpSp>
      <p:grpSp>
        <p:nvGrpSpPr>
          <p:cNvPr id="104" name="c2-graph-1"/>
          <p:cNvGrpSpPr/>
          <p:nvPr/>
        </p:nvGrpSpPr>
        <p:grpSpPr>
          <a:xfrm>
            <a:off x="5930017" y="1546860"/>
            <a:ext cx="5592712" cy="4752499"/>
            <a:chOff x="5930017" y="1546860"/>
            <a:chExt cx="5592712" cy="4752499"/>
          </a:xfrm>
        </p:grpSpPr>
        <p:sp>
          <p:nvSpPr>
            <p:cNvPr id="35" name="Freeform 35"/>
            <p:cNvSpPr/>
            <p:nvPr/>
          </p:nvSpPr>
          <p:spPr>
            <a:xfrm>
              <a:off x="8843962" y="2047875"/>
              <a:ext cx="115253" cy="114300"/>
            </a:xfrm>
            <a:custGeom>
              <a:avLst/>
              <a:gdLst/>
              <a:ahLst/>
              <a:cxnLst/>
              <a:rect l="l" t="t" r="r" b="b"/>
              <a:pathLst>
                <a:path w="115253" h="114300">
                  <a:moveTo>
                    <a:pt x="0" y="0"/>
                  </a:moveTo>
                  <a:lnTo>
                    <a:pt x="115253" y="11430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24925" y="2127885"/>
              <a:ext cx="101918" cy="100965"/>
            </a:xfrm>
            <a:custGeom>
              <a:avLst/>
              <a:gdLst/>
              <a:ahLst/>
              <a:cxnLst/>
              <a:rect l="l" t="t" r="r" b="b"/>
              <a:pathLst>
                <a:path w="101918" h="100965">
                  <a:moveTo>
                    <a:pt x="101918" y="100965"/>
                  </a:moveTo>
                  <a:lnTo>
                    <a:pt x="0" y="67627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9112568" y="2304098"/>
              <a:ext cx="177165" cy="134302"/>
            </a:xfrm>
            <a:custGeom>
              <a:avLst/>
              <a:gdLst/>
              <a:ahLst/>
              <a:cxnLst/>
              <a:rect l="l" t="t" r="r" b="b"/>
              <a:pathLst>
                <a:path w="177165" h="134302">
                  <a:moveTo>
                    <a:pt x="0" y="0"/>
                  </a:moveTo>
                  <a:lnTo>
                    <a:pt x="177165" y="134302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260205" y="2400300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95250"/>
                  </a:moveTo>
                  <a:lnTo>
                    <a:pt x="0" y="76200"/>
                  </a:lnTo>
                  <a:lnTo>
                    <a:pt x="58102" y="0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9436418" y="2581275"/>
              <a:ext cx="38100" cy="74295"/>
            </a:xfrm>
            <a:custGeom>
              <a:avLst/>
              <a:gdLst/>
              <a:ahLst/>
              <a:cxnLst/>
              <a:rect l="l" t="t" r="r" b="b"/>
              <a:pathLst>
                <a:path w="38100" h="74295">
                  <a:moveTo>
                    <a:pt x="0" y="0"/>
                  </a:moveTo>
                  <a:lnTo>
                    <a:pt x="38100" y="74295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431655" y="2634615"/>
              <a:ext cx="85725" cy="105727"/>
            </a:xfrm>
            <a:custGeom>
              <a:avLst/>
              <a:gdLst/>
              <a:ahLst/>
              <a:cxnLst/>
              <a:rect l="l" t="t" r="r" b="b"/>
              <a:pathLst>
                <a:path w="85725" h="105727">
                  <a:moveTo>
                    <a:pt x="85725" y="105727"/>
                  </a:moveTo>
                  <a:lnTo>
                    <a:pt x="0" y="42862"/>
                  </a:lnTo>
                  <a:lnTo>
                    <a:pt x="84772" y="0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9599295" y="2799398"/>
              <a:ext cx="1616393" cy="232410"/>
            </a:xfrm>
            <a:custGeom>
              <a:avLst/>
              <a:gdLst/>
              <a:ahLst/>
              <a:cxnLst/>
              <a:rect l="l" t="t" r="r" b="b"/>
              <a:pathLst>
                <a:path w="1616393" h="232410">
                  <a:moveTo>
                    <a:pt x="0" y="0"/>
                  </a:moveTo>
                  <a:lnTo>
                    <a:pt x="1616393" y="232410"/>
                  </a:lnTo>
                </a:path>
              </a:pathLst>
            </a:custGeom>
            <a:noFill/>
            <a:ln w="17145">
              <a:solidFill>
                <a:srgbClr val="0E7C86"/>
              </a:solidFill>
              <a:custDash>
                <a:ds d="333333" sp="222222"/>
              </a:custDash>
            </a:ln>
          </p:spPr>
        </p:sp>
        <p:sp>
          <p:nvSpPr>
            <p:cNvPr id="42" name="Freeform 42"/>
            <p:cNvSpPr/>
            <p:nvPr/>
          </p:nvSpPr>
          <p:spPr>
            <a:xfrm>
              <a:off x="11209020" y="2984182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60960"/>
                  </a:moveTo>
                  <a:lnTo>
                    <a:pt x="0" y="94297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109585" y="3057525"/>
              <a:ext cx="3199448" cy="244792"/>
            </a:xfrm>
            <a:custGeom>
              <a:avLst/>
              <a:gdLst/>
              <a:ahLst/>
              <a:cxnLst/>
              <a:rect l="l" t="t" r="r" b="b"/>
              <a:pathLst>
                <a:path w="3199448" h="244792">
                  <a:moveTo>
                    <a:pt x="3199448" y="0"/>
                  </a:moveTo>
                  <a:lnTo>
                    <a:pt x="0" y="244792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014335" y="3255645"/>
              <a:ext cx="99060" cy="94297"/>
            </a:xfrm>
            <a:custGeom>
              <a:avLst/>
              <a:gdLst/>
              <a:ahLst/>
              <a:cxnLst/>
              <a:rect l="l" t="t" r="r" b="b"/>
              <a:pathLst>
                <a:path w="99060" h="94297">
                  <a:moveTo>
                    <a:pt x="0" y="54292"/>
                  </a:moveTo>
                  <a:lnTo>
                    <a:pt x="91440" y="0"/>
                  </a:lnTo>
                  <a:lnTo>
                    <a:pt x="99060" y="94297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7565708" y="3339465"/>
              <a:ext cx="340995" cy="168592"/>
            </a:xfrm>
            <a:custGeom>
              <a:avLst/>
              <a:gdLst/>
              <a:ahLst/>
              <a:cxnLst/>
              <a:rect l="l" t="t" r="r" b="b"/>
              <a:pathLst>
                <a:path w="340995" h="168592">
                  <a:moveTo>
                    <a:pt x="340995" y="0"/>
                  </a:moveTo>
                  <a:lnTo>
                    <a:pt x="0" y="168592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479982" y="3465195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0" y="84772"/>
                  </a:moveTo>
                  <a:lnTo>
                    <a:pt x="64770" y="0"/>
                  </a:lnTo>
                  <a:lnTo>
                    <a:pt x="106680" y="85725"/>
                  </a:lnTo>
                  <a:close/>
                </a:path>
              </a:pathLst>
            </a:custGeom>
            <a:solidFill>
              <a:srgbClr val="0E7C86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6256972" y="3587115"/>
              <a:ext cx="1115378" cy="220027"/>
            </a:xfrm>
            <a:custGeom>
              <a:avLst/>
              <a:gdLst/>
              <a:ahLst/>
              <a:cxnLst/>
              <a:rect l="l" t="t" r="r" b="b"/>
              <a:pathLst>
                <a:path w="1115378" h="220027">
                  <a:moveTo>
                    <a:pt x="1115378" y="0"/>
                  </a:moveTo>
                  <a:lnTo>
                    <a:pt x="0" y="220027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48" name="Freeform 48"/>
            <p:cNvSpPr/>
            <p:nvPr/>
          </p:nvSpPr>
          <p:spPr>
            <a:xfrm>
              <a:off x="6163628" y="3760470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0" y="65722"/>
                  </a:moveTo>
                  <a:lnTo>
                    <a:pt x="84772" y="0"/>
                  </a:lnTo>
                  <a:lnTo>
                    <a:pt x="102870" y="9334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6161722" y="3854768"/>
              <a:ext cx="594360" cy="195262"/>
            </a:xfrm>
            <a:custGeom>
              <a:avLst/>
              <a:gdLst/>
              <a:ahLst/>
              <a:cxnLst/>
              <a:rect l="l" t="t" r="r" b="b"/>
              <a:pathLst>
                <a:path w="594360" h="195262">
                  <a:moveTo>
                    <a:pt x="0" y="0"/>
                  </a:moveTo>
                  <a:lnTo>
                    <a:pt x="594360" y="195262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6740842" y="4005262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75247"/>
                  </a:moveTo>
                  <a:lnTo>
                    <a:pt x="0" y="90488"/>
                  </a:lnTo>
                  <a:lnTo>
                    <a:pt x="29527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6940868" y="4138612"/>
              <a:ext cx="115252" cy="113347"/>
            </a:xfrm>
            <a:custGeom>
              <a:avLst/>
              <a:gdLst/>
              <a:ahLst/>
              <a:cxnLst/>
              <a:rect l="l" t="t" r="r" b="b"/>
              <a:pathLst>
                <a:path w="115252" h="113347">
                  <a:moveTo>
                    <a:pt x="0" y="0"/>
                  </a:moveTo>
                  <a:lnTo>
                    <a:pt x="115252" y="113347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022782" y="421862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100965"/>
                  </a:moveTo>
                  <a:lnTo>
                    <a:pt x="0" y="67628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7216140" y="4384358"/>
              <a:ext cx="340995" cy="168592"/>
            </a:xfrm>
            <a:custGeom>
              <a:avLst/>
              <a:gdLst/>
              <a:ahLst/>
              <a:cxnLst/>
              <a:rect l="l" t="t" r="r" b="b"/>
              <a:pathLst>
                <a:path w="340995" h="168592">
                  <a:moveTo>
                    <a:pt x="0" y="0"/>
                  </a:moveTo>
                  <a:lnTo>
                    <a:pt x="340995" y="168592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7536180" y="4510088"/>
              <a:ext cx="105727" cy="85725"/>
            </a:xfrm>
            <a:custGeom>
              <a:avLst/>
              <a:gdLst/>
              <a:ahLst/>
              <a:cxnLst/>
              <a:rect l="l" t="t" r="r" b="b"/>
              <a:pathLst>
                <a:path w="105727" h="85725">
                  <a:moveTo>
                    <a:pt x="105727" y="85725"/>
                  </a:moveTo>
                  <a:lnTo>
                    <a:pt x="0" y="85725"/>
                  </a:lnTo>
                  <a:lnTo>
                    <a:pt x="4191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7744778" y="4646295"/>
              <a:ext cx="340042" cy="168592"/>
            </a:xfrm>
            <a:custGeom>
              <a:avLst/>
              <a:gdLst/>
              <a:ahLst/>
              <a:cxnLst/>
              <a:rect l="l" t="t" r="r" b="b"/>
              <a:pathLst>
                <a:path w="340042" h="168592">
                  <a:moveTo>
                    <a:pt x="0" y="0"/>
                  </a:moveTo>
                  <a:lnTo>
                    <a:pt x="340042" y="168592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8063865" y="4772025"/>
              <a:ext cx="106680" cy="84772"/>
            </a:xfrm>
            <a:custGeom>
              <a:avLst/>
              <a:gdLst/>
              <a:ahLst/>
              <a:cxnLst/>
              <a:rect l="l" t="t" r="r" b="b"/>
              <a:pathLst>
                <a:path w="106680" h="84772">
                  <a:moveTo>
                    <a:pt x="106680" y="84772"/>
                  </a:moveTo>
                  <a:lnTo>
                    <a:pt x="0" y="84772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8277225" y="4895850"/>
              <a:ext cx="853440" cy="210503"/>
            </a:xfrm>
            <a:custGeom>
              <a:avLst/>
              <a:gdLst/>
              <a:ahLst/>
              <a:cxnLst/>
              <a:rect l="l" t="t" r="r" b="b"/>
              <a:pathLst>
                <a:path w="853440" h="210503">
                  <a:moveTo>
                    <a:pt x="0" y="0"/>
                  </a:moveTo>
                  <a:lnTo>
                    <a:pt x="853440" y="210503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119235" y="5060632"/>
              <a:ext cx="103822" cy="92393"/>
            </a:xfrm>
            <a:custGeom>
              <a:avLst/>
              <a:gdLst/>
              <a:ahLst/>
              <a:cxnLst/>
              <a:rect l="l" t="t" r="r" b="b"/>
              <a:pathLst>
                <a:path w="103822" h="92393">
                  <a:moveTo>
                    <a:pt x="103822" y="68580"/>
                  </a:moveTo>
                  <a:lnTo>
                    <a:pt x="0" y="92393"/>
                  </a:lnTo>
                  <a:lnTo>
                    <a:pt x="2286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9335452" y="5150168"/>
              <a:ext cx="1880235" cy="235267"/>
            </a:xfrm>
            <a:custGeom>
              <a:avLst/>
              <a:gdLst/>
              <a:ahLst/>
              <a:cxnLst/>
              <a:rect l="l" t="t" r="r" b="b"/>
              <a:pathLst>
                <a:path w="1880235" h="235267">
                  <a:moveTo>
                    <a:pt x="0" y="0"/>
                  </a:moveTo>
                  <a:lnTo>
                    <a:pt x="1880235" y="235267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60" name="Freeform 60"/>
            <p:cNvSpPr/>
            <p:nvPr/>
          </p:nvSpPr>
          <p:spPr>
            <a:xfrm>
              <a:off x="11209020" y="5338762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59055"/>
                  </a:moveTo>
                  <a:lnTo>
                    <a:pt x="0" y="94297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9165908" y="5411152"/>
              <a:ext cx="2144078" cy="238125"/>
            </a:xfrm>
            <a:custGeom>
              <a:avLst/>
              <a:gdLst/>
              <a:ahLst/>
              <a:cxnLst/>
              <a:rect l="l" t="t" r="r" b="b"/>
              <a:pathLst>
                <a:path w="2144078" h="238125">
                  <a:moveTo>
                    <a:pt x="2144078" y="0"/>
                  </a:moveTo>
                  <a:lnTo>
                    <a:pt x="0" y="238125"/>
                  </a:lnTo>
                </a:path>
              </a:pathLst>
            </a:custGeom>
            <a:noFill/>
            <a:ln w="17145">
              <a:solidFill>
                <a:srgbClr val="14A38B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9071610" y="5601652"/>
              <a:ext cx="100012" cy="95250"/>
            </a:xfrm>
            <a:custGeom>
              <a:avLst/>
              <a:gdLst/>
              <a:ahLst/>
              <a:cxnLst/>
              <a:rect l="l" t="t" r="r" b="b"/>
              <a:pathLst>
                <a:path w="100012" h="95250">
                  <a:moveTo>
                    <a:pt x="0" y="58103"/>
                  </a:moveTo>
                  <a:lnTo>
                    <a:pt x="89535" y="0"/>
                  </a:lnTo>
                  <a:lnTo>
                    <a:pt x="100012" y="95250"/>
                  </a:lnTo>
                  <a:close/>
                </a:path>
              </a:pathLst>
            </a:custGeom>
            <a:solidFill>
              <a:srgbClr val="14A38B"/>
            </a:solidFill>
            <a:ln>
              <a:noFill/>
            </a:ln>
          </p:spPr>
        </p:sp>
        <p:sp>
          <p:nvSpPr>
            <p:cNvPr id="63" name="Freeform 63"/>
            <p:cNvSpPr/>
            <p:nvPr/>
          </p:nvSpPr>
          <p:spPr>
            <a:xfrm>
              <a:off x="8622030" y="5691188"/>
              <a:ext cx="340995" cy="168593"/>
            </a:xfrm>
            <a:custGeom>
              <a:avLst/>
              <a:gdLst/>
              <a:ahLst/>
              <a:cxnLst/>
              <a:rect l="l" t="t" r="r" b="b"/>
              <a:pathLst>
                <a:path w="340995" h="168593">
                  <a:moveTo>
                    <a:pt x="340995" y="0"/>
                  </a:moveTo>
                  <a:lnTo>
                    <a:pt x="0" y="168593"/>
                  </a:lnTo>
                </a:path>
              </a:pathLst>
            </a:custGeom>
            <a:noFill/>
            <a:ln w="17145">
              <a:solidFill>
                <a:srgbClr val="14A38B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8537258" y="5816918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0" y="84772"/>
                  </a:moveTo>
                  <a:lnTo>
                    <a:pt x="63818" y="0"/>
                  </a:lnTo>
                  <a:lnTo>
                    <a:pt x="106680" y="85725"/>
                  </a:lnTo>
                  <a:close/>
                </a:path>
              </a:pathLst>
            </a:custGeom>
            <a:solidFill>
              <a:srgbClr val="14A38B"/>
            </a:solidFill>
            <a:ln>
              <a:noFill/>
            </a:ln>
          </p:spPr>
        </p:sp>
        <p:sp>
          <p:nvSpPr>
            <p:cNvPr id="65" name="Freeform 65"/>
            <p:cNvSpPr/>
            <p:nvPr/>
          </p:nvSpPr>
          <p:spPr>
            <a:xfrm>
              <a:off x="6787515" y="5935028"/>
              <a:ext cx="1642110" cy="232410"/>
            </a:xfrm>
            <a:custGeom>
              <a:avLst/>
              <a:gdLst/>
              <a:ahLst/>
              <a:cxnLst/>
              <a:rect l="l" t="t" r="r" b="b"/>
              <a:pathLst>
                <a:path w="1642110" h="232410">
                  <a:moveTo>
                    <a:pt x="1642110" y="0"/>
                  </a:moveTo>
                  <a:lnTo>
                    <a:pt x="0" y="232410"/>
                  </a:lnTo>
                </a:path>
              </a:pathLst>
            </a:custGeom>
            <a:noFill/>
            <a:ln w="17145">
              <a:solidFill>
                <a:srgbClr val="14A38B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6693218" y="6119812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0" y="60960"/>
                  </a:moveTo>
                  <a:lnTo>
                    <a:pt x="87630" y="0"/>
                  </a:lnTo>
                  <a:lnTo>
                    <a:pt x="100965" y="94297"/>
                  </a:lnTo>
                  <a:close/>
                </a:path>
              </a:pathLst>
            </a:custGeom>
            <a:solidFill>
              <a:srgbClr val="14A38B"/>
            </a:solidFill>
            <a:ln>
              <a:noFill/>
            </a:ln>
          </p:spPr>
        </p:sp>
        <p:sp>
          <p:nvSpPr>
            <p:cNvPr id="67" name="Ellipse 67"/>
            <p:cNvSpPr/>
            <p:nvPr/>
          </p:nvSpPr>
          <p:spPr>
            <a:xfrm>
              <a:off x="8755380" y="196024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9019222" y="2221230"/>
              <a:ext cx="95250" cy="952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9" name="Ellipse 69"/>
            <p:cNvSpPr/>
            <p:nvPr/>
          </p:nvSpPr>
          <p:spPr>
            <a:xfrm>
              <a:off x="9363075" y="2483168"/>
              <a:ext cx="95250" cy="952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Ellipse 70"/>
            <p:cNvSpPr/>
            <p:nvPr/>
          </p:nvSpPr>
          <p:spPr>
            <a:xfrm>
              <a:off x="9495472" y="2744152"/>
              <a:ext cx="95250" cy="952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Ellipse 71"/>
            <p:cNvSpPr/>
            <p:nvPr/>
          </p:nvSpPr>
          <p:spPr>
            <a:xfrm>
              <a:off x="11318558" y="3005138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7909560" y="3267075"/>
              <a:ext cx="95250" cy="952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7380922" y="3528060"/>
              <a:ext cx="95250" cy="952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4" name="Ellipse 74"/>
            <p:cNvSpPr/>
            <p:nvPr/>
          </p:nvSpPr>
          <p:spPr>
            <a:xfrm>
              <a:off x="6059805" y="378904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Ellipse 75"/>
            <p:cNvSpPr/>
            <p:nvPr/>
          </p:nvSpPr>
          <p:spPr>
            <a:xfrm>
              <a:off x="6853238" y="405098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6" name="Ellipse 76"/>
            <p:cNvSpPr/>
            <p:nvPr/>
          </p:nvSpPr>
          <p:spPr>
            <a:xfrm>
              <a:off x="7117080" y="431196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7645718" y="457295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8174355" y="4834890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9" name="Ellipse 79"/>
            <p:cNvSpPr/>
            <p:nvPr/>
          </p:nvSpPr>
          <p:spPr>
            <a:xfrm>
              <a:off x="9230678" y="5095875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80" name="Ellipse 80"/>
            <p:cNvSpPr/>
            <p:nvPr/>
          </p:nvSpPr>
          <p:spPr>
            <a:xfrm>
              <a:off x="11318558" y="5356860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Ellipse 81"/>
            <p:cNvSpPr/>
            <p:nvPr/>
          </p:nvSpPr>
          <p:spPr>
            <a:xfrm>
              <a:off x="8966835" y="5617845"/>
              <a:ext cx="95250" cy="9525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82" name="Ellipse 82"/>
            <p:cNvSpPr/>
            <p:nvPr/>
          </p:nvSpPr>
          <p:spPr>
            <a:xfrm>
              <a:off x="8438198" y="5879782"/>
              <a:ext cx="95250" cy="9525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83" name="Ellipse 83"/>
            <p:cNvSpPr/>
            <p:nvPr/>
          </p:nvSpPr>
          <p:spPr>
            <a:xfrm>
              <a:off x="6588442" y="6140768"/>
              <a:ext cx="95250" cy="9525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8903018" y="1956911"/>
              <a:ext cx="4455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102 起点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166860" y="2217896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112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510712" y="2478881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125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447265" y="2874169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130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9636" y="3135154"/>
              <a:ext cx="3130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(199)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7726220" y="326278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70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363071" y="338185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011597" y="3919061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(0)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000875" y="404669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264718" y="430768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793355" y="456961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8156504" y="468868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9182470" y="5225891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120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1209636" y="5486876"/>
              <a:ext cx="3130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(199)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722782" y="5614511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110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420346" y="573357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90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6405103" y="613743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5930017" y="1546860"/>
              <a:ext cx="3548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磁道 0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643995" y="1546860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1261465" y="1546860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199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5" name="TextBox 105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80958" cy="909257"/>
            <a:chOff x="520446" y="342900"/>
            <a:chExt cx="82809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809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八、解（2）：13 次访盘的寻道、旋转延迟与传输时间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33400" y="1524000"/>
            <a:ext cx="5842635" cy="2122170"/>
            <a:chOff x="533400" y="1524000"/>
            <a:chExt cx="5842635" cy="21221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6680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8603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3001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32588" y="1652588"/>
              <a:ext cx="7342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13 次合计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076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寻道时间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37969" y="207645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移动量 × 每道时间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4713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67656" y="2076450"/>
              <a:ext cx="1264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674 × 1 = 674 ms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6791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72678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旋转延迟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37969" y="2501265"/>
              <a:ext cx="9256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 = 1/(2r)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17899" y="2501265"/>
              <a:ext cx="3595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ms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75555" y="2501265"/>
              <a:ext cx="4483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 ms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9273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29260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传输时间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37969" y="2926080"/>
              <a:ext cx="9290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Tt = b/(rN)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29050" y="2926080"/>
              <a:ext cx="537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ms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231130" y="2926080"/>
              <a:ext cx="537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ms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165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21355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334994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总访问处理时间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37969" y="33499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三项相加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047134" y="33499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632960" y="3230880"/>
              <a:ext cx="17335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142281" y="3349942"/>
              <a:ext cx="7149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740.3 ms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524000"/>
              <a:ext cx="5842635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930718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567112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618672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llout-2"/>
          <p:cNvGrpSpPr/>
          <p:nvPr/>
        </p:nvGrpSpPr>
        <p:grpSpPr>
          <a:xfrm>
            <a:off x="533400" y="3826192"/>
            <a:ext cx="5842635" cy="756285"/>
            <a:chOff x="533400" y="3826192"/>
            <a:chExt cx="5842635" cy="756285"/>
          </a:xfrm>
        </p:grpSpPr>
        <p:sp>
          <p:nvSpPr>
            <p:cNvPr id="39" name="Rectangle 39"/>
            <p:cNvSpPr/>
            <p:nvPr/>
          </p:nvSpPr>
          <p:spPr>
            <a:xfrm>
              <a:off x="533400" y="3826192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4104325"/>
              <a:ext cx="200023" cy="200023"/>
              <a:chOff x="738188" y="4104325"/>
              <a:chExt cx="200023" cy="20002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41043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71538" y="41709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511" y="3973354"/>
              <a:ext cx="460413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 (2)：总寻道 674 ms，总旋转延迟 65 ms，总传输 1.3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ms，总访问处理 740.3 ms</a:t>
              </a:r>
            </a:p>
          </p:txBody>
        </p:sp>
      </p:grpSp>
      <p:grpSp>
        <p:nvGrpSpPr>
          <p:cNvPr id="50" name="c1-card-3"/>
          <p:cNvGrpSpPr/>
          <p:nvPr/>
        </p:nvGrpSpPr>
        <p:grpSpPr>
          <a:xfrm>
            <a:off x="533400" y="4762500"/>
            <a:ext cx="5842635" cy="1250632"/>
            <a:chOff x="533400" y="4762500"/>
            <a:chExt cx="5842635" cy="1250632"/>
          </a:xfrm>
        </p:grpSpPr>
        <p:sp>
          <p:nvSpPr>
            <p:cNvPr id="45" name="Rectangle 45"/>
            <p:cNvSpPr/>
            <p:nvPr/>
          </p:nvSpPr>
          <p:spPr>
            <a:xfrm>
              <a:off x="533400" y="4762500"/>
              <a:ext cx="584263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42925" y="48958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69620" y="49606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61060" y="49949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2381" y="5322094"/>
              <a:ext cx="513613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原课件第④步写作“总访问处理时间 = 总访盘处理时间 + 总旋转延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迟时间 + 总传输时间”，第一项应为总寻道时间。</a:t>
              </a:r>
            </a:p>
          </p:txBody>
        </p:sp>
      </p:grpSp>
      <p:grpSp>
        <p:nvGrpSpPr>
          <p:cNvPr id="68" name="c2-steps-1"/>
          <p:cNvGrpSpPr/>
          <p:nvPr/>
        </p:nvGrpSpPr>
        <p:grpSpPr>
          <a:xfrm>
            <a:off x="6680835" y="1533525"/>
            <a:ext cx="4509516" cy="2619756"/>
            <a:chOff x="6680835" y="1533525"/>
            <a:chExt cx="4509516" cy="2619756"/>
          </a:xfrm>
        </p:grpSpPr>
        <p:sp>
          <p:nvSpPr>
            <p:cNvPr id="51" name="Rectangle 51"/>
            <p:cNvSpPr/>
            <p:nvPr/>
          </p:nvSpPr>
          <p:spPr>
            <a:xfrm>
              <a:off x="6814185" y="1676400"/>
              <a:ext cx="19050" cy="20716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680835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74459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680835" y="27670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74459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680835" y="36052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74459" y="3679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092696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换算转速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93839" y="1846898"/>
              <a:ext cx="3024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6000 r/min = 100 r/s，转一圈 10 ms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092696" y="21836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旋转延迟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93839" y="2464118"/>
              <a:ext cx="31461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转半圈 1/(2 × 100) s = 5 ms，13 次 65 ms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92696" y="279987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传输时间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93839" y="3080385"/>
              <a:ext cx="40965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128/(100 × 12800) s = 0.1 ms，即转 1/100 圈；13 次 1.3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92696" y="363807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093839" y="3918585"/>
              <a:ext cx="19830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674 + 65 + 1.3 = 740.3 ms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补充练习：银行家算法的题目与安全性算法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card-1"/>
          <p:cNvGrpSpPr/>
          <p:nvPr/>
        </p:nvGrpSpPr>
        <p:grpSpPr>
          <a:xfrm>
            <a:off x="533400" y="1524000"/>
            <a:ext cx="5193982" cy="4710112"/>
            <a:chOff x="533400" y="1524000"/>
            <a:chExt cx="5193982" cy="47101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710112"/>
            </a:xfrm>
            <a:prstGeom prst="roundRect">
              <a:avLst>
                <a:gd name="adj" fmla="val 283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2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3942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在银行家算法中，若出现下面的资源分配情况（资源 A B C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D）：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20090" y="2589848"/>
              <a:ext cx="4820602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66546" y="27112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57496" y="2711291"/>
              <a:ext cx="7676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Allocation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65889" y="2711291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25319" y="311134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01917" y="31113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0 0 3 2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08797" y="31113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0 0 1 2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20090" y="3385185"/>
              <a:ext cx="48206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0090" y="3389948"/>
              <a:ext cx="482060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25319" y="351139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01917" y="351139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1 0 0 0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08797" y="351139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1 6 5 0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20090" y="3785235"/>
              <a:ext cx="48206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325319" y="391144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01917" y="39114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1 3 5 4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8797" y="39114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2 3 5 6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20090" y="4185285"/>
              <a:ext cx="48206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20090" y="4190048"/>
              <a:ext cx="482060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25319" y="431149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801917" y="431149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0 0 3 2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08797" y="431149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20090" y="4585335"/>
              <a:ext cx="48206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325319" y="471154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801917" y="47115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0 0 1 4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08797" y="4711541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0090" y="2589848"/>
              <a:ext cx="4820602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121218" y="2589848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951922" y="2589848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15137" y="5063966"/>
              <a:ext cx="14967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Available = (1, 6, 2, 2)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3232" y="5321618"/>
              <a:ext cx="460000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该状态是否安全？(2) 若 P2 提出请求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Request(1,2,2,2)，系统能否分配？(3) 如果系统立即满足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的上述请求，系统是否立即进入死锁状态？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032182" y="1524000"/>
            <a:ext cx="5626418" cy="1443038"/>
            <a:chOff x="6032182" y="1524000"/>
            <a:chExt cx="5626418" cy="1443038"/>
          </a:xfrm>
        </p:grpSpPr>
        <p:sp>
          <p:nvSpPr>
            <p:cNvPr id="42" name="Rectangle 42"/>
            <p:cNvSpPr/>
            <p:nvPr/>
          </p:nvSpPr>
          <p:spPr>
            <a:xfrm>
              <a:off x="6032182" y="1524000"/>
              <a:ext cx="5626418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41708" y="165735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56972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41542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安全状态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50114" y="2054542"/>
              <a:ext cx="49857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系统能按某种顺序（如 P1, P2, …, Pn）为各进程分配所需资源直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至最大需求，使每个进程都能顺序完成，这个序列称为安全序列。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不存在安全序列就是不安全状态。</a:t>
              </a:r>
            </a:p>
          </p:txBody>
        </p:sp>
      </p:grpSp>
      <p:grpSp>
        <p:nvGrpSpPr>
          <p:cNvPr id="61" name="c2-steps-2"/>
          <p:cNvGrpSpPr/>
          <p:nvPr/>
        </p:nvGrpSpPr>
        <p:grpSpPr>
          <a:xfrm>
            <a:off x="6032182" y="3146108"/>
            <a:ext cx="5132959" cy="2099786"/>
            <a:chOff x="6032182" y="3146108"/>
            <a:chExt cx="5132959" cy="2099786"/>
          </a:xfrm>
        </p:grpSpPr>
        <p:sp>
          <p:nvSpPr>
            <p:cNvPr id="48" name="Rectangle 48"/>
            <p:cNvSpPr/>
            <p:nvPr/>
          </p:nvSpPr>
          <p:spPr>
            <a:xfrm>
              <a:off x="6165532" y="3288982"/>
              <a:ext cx="19050" cy="1580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6032182" y="31461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25806" y="32199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032182" y="39366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25806" y="40105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032182" y="47263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25806" y="48001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44424" y="317849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检查请求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45567" y="3445669"/>
              <a:ext cx="47195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Request[i] ≤ Need[i]，否则出错（超过声明的最大需求）；Request[i] ≤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Available，否则 Pi 等待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44424" y="396811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45567" y="4236244"/>
              <a:ext cx="44564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Available −= Request[i]；Allocation[i] += Request[i]；Need[i] −=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Request[i]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44424" y="47586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安全性检查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45567" y="5025866"/>
              <a:ext cx="35532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安全则真正分配；不安全则 Pi 等待，三个量恢复原值</a:t>
              </a:r>
            </a:p>
          </p:txBody>
        </p:sp>
      </p:grpSp>
      <p:grpSp>
        <p:nvGrpSpPr>
          <p:cNvPr id="68" name="c2-callout-3"/>
          <p:cNvGrpSpPr/>
          <p:nvPr/>
        </p:nvGrpSpPr>
        <p:grpSpPr>
          <a:xfrm>
            <a:off x="6032182" y="5409248"/>
            <a:ext cx="5626418" cy="481012"/>
            <a:chOff x="6032182" y="5409248"/>
            <a:chExt cx="5626418" cy="481012"/>
          </a:xfrm>
        </p:grpSpPr>
        <p:sp>
          <p:nvSpPr>
            <p:cNvPr id="62" name="Rectangle 62"/>
            <p:cNvSpPr/>
            <p:nvPr/>
          </p:nvSpPr>
          <p:spPr>
            <a:xfrm>
              <a:off x="6032182" y="5409248"/>
              <a:ext cx="5626418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6236970" y="5550218"/>
              <a:ext cx="200026" cy="200026"/>
              <a:chOff x="6236970" y="5550218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236970" y="55502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336983" y="56168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6325870" y="56502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6539674" y="5555933"/>
              <a:ext cx="4966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上面是资源请求算法，第 (2) 问要用；安全性算法见下一页。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2817" cy="909257"/>
            <a:chOff x="520446" y="342900"/>
            <a:chExt cx="89528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28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（1）安全性检查：找到安全序列 &lt;P0, P3, P4, P1, P2&gt;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7" name="c1-table-1"/>
          <p:cNvGrpSpPr/>
          <p:nvPr/>
        </p:nvGrpSpPr>
        <p:grpSpPr>
          <a:xfrm>
            <a:off x="528447" y="1524000"/>
            <a:ext cx="6713411" cy="2663856"/>
            <a:chOff x="528447" y="1524000"/>
            <a:chExt cx="6713411" cy="266385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7315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54233" y="1645444"/>
              <a:ext cx="396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Work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82796" y="1645444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75706" y="1645444"/>
              <a:ext cx="7676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Allocation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73605" y="1645444"/>
              <a:ext cx="13360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Work + Allocation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49498" y="1645444"/>
              <a:ext cx="458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Finish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31924" y="204549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3197" y="20454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1 6 2 2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25705" y="20454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720127" y="20454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0 0 3 2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02217" y="20454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1 6 5 4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737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3193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3241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1924" y="244554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13197" y="24455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1 6 5 4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25705" y="24455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20127" y="24455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0 0 3 2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202217" y="24455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1 6 8 6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07376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7193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924" y="284559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13197" y="28455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1 6 8 6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25705" y="28455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20127" y="28455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0 0 1 4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160754" y="284559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1 6 9 10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7376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1194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1242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1924" y="324564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71734" y="324564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1 6 9 10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25705" y="32456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1 6 5 0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720127" y="324564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1 0 0 0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160754" y="324564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2 6 9 10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07376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5194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1924" y="364569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571734" y="364569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2 6 9 10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25705" y="36456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2 3 5 6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720127" y="36456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1 3 5 4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119291" y="3645694"/>
              <a:ext cx="644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3 9 14 14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07376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670845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321118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2374582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345180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563428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311265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28447" y="3997166"/>
              <a:ext cx="37775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每一行先检查 Need ≤ Work，成立才把 Allocation 加到 Work 上</a:t>
              </a:r>
            </a:p>
          </p:txBody>
        </p:sp>
      </p:grpSp>
      <p:grpSp>
        <p:nvGrpSpPr>
          <p:cNvPr id="63" name="c1-callout-2"/>
          <p:cNvGrpSpPr/>
          <p:nvPr/>
        </p:nvGrpSpPr>
        <p:grpSpPr>
          <a:xfrm>
            <a:off x="533400" y="4319588"/>
            <a:ext cx="6708458" cy="481012"/>
            <a:chOff x="533400" y="4319588"/>
            <a:chExt cx="6708458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4319588"/>
              <a:ext cx="6708458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4460558"/>
              <a:ext cx="200026" cy="200026"/>
              <a:chOff x="738188" y="446055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44605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04863" y="453834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4466272"/>
              <a:ext cx="48902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 (1)：存在安全序列 &lt;P0, P3, P4, P1, P2&gt;，该状态安全</a:t>
              </a:r>
            </a:p>
          </p:txBody>
        </p:sp>
      </p:grpSp>
      <p:grpSp>
        <p:nvGrpSpPr>
          <p:cNvPr id="69" name="c1-card-3"/>
          <p:cNvGrpSpPr/>
          <p:nvPr/>
        </p:nvGrpSpPr>
        <p:grpSpPr>
          <a:xfrm>
            <a:off x="533400" y="4970145"/>
            <a:ext cx="6708458" cy="1185862"/>
            <a:chOff x="533400" y="4970145"/>
            <a:chExt cx="6708458" cy="1185862"/>
          </a:xfrm>
        </p:grpSpPr>
        <p:sp>
          <p:nvSpPr>
            <p:cNvPr id="64" name="Rectangle 64"/>
            <p:cNvSpPr/>
            <p:nvPr/>
          </p:nvSpPr>
          <p:spPr>
            <a:xfrm>
              <a:off x="533400" y="4970145"/>
              <a:ext cx="6708458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42925" y="510349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758190" y="5156835"/>
              <a:ext cx="101441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28645" y="5189696"/>
              <a:ext cx="8744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为什么先选 P0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51332" y="5501640"/>
              <a:ext cx="60316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 Work = (1,6,2,2)：P1 要 5 个 C，P2 要 2 个 A，P3、P4 各要 5 个 C，只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P0 能满足。安全序列不唯一，&lt;P0, P1, P3, P2, P4&gt; 也成立。</a:t>
              </a:r>
            </a:p>
          </p:txBody>
        </p:sp>
      </p:grpSp>
      <p:grpSp>
        <p:nvGrpSpPr>
          <p:cNvPr id="73" name="c2-code-1"/>
          <p:cNvGrpSpPr/>
          <p:nvPr/>
        </p:nvGrpSpPr>
        <p:grpSpPr>
          <a:xfrm>
            <a:off x="7546658" y="1524000"/>
            <a:ext cx="4111942" cy="2088832"/>
            <a:chOff x="7546658" y="1524000"/>
            <a:chExt cx="4111942" cy="2088832"/>
          </a:xfrm>
        </p:grpSpPr>
        <p:sp>
          <p:nvSpPr>
            <p:cNvPr id="70" name="Rectangle 70"/>
            <p:cNvSpPr/>
            <p:nvPr/>
          </p:nvSpPr>
          <p:spPr>
            <a:xfrm>
              <a:off x="7546658" y="1524000"/>
              <a:ext cx="4111942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675054" y="16759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安全性算法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675054" y="1935956"/>
              <a:ext cx="2200402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1. Work := Available;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Finish[i] := false  (所有 i)</a:t>
              </a:r>
            </a:p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2. 找 i 满足 Finish[i] = false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且 Need[i] ≤ Work；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找不到则转 4</a:t>
              </a:r>
            </a:p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3. Work := Work + Allocation[i];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Finish[i] := true;  转 2</a:t>
              </a:r>
            </a:p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4. 所有 Finish[i] = true 则安全，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否则不安全</a:t>
              </a:r>
            </a:p>
          </p:txBody>
        </p:sp>
      </p:grpSp>
      <p:grpSp>
        <p:nvGrpSpPr>
          <p:cNvPr id="79" name="c2-card-2"/>
          <p:cNvGrpSpPr/>
          <p:nvPr/>
        </p:nvGrpSpPr>
        <p:grpSpPr>
          <a:xfrm>
            <a:off x="7546658" y="3782378"/>
            <a:ext cx="4111942" cy="2373630"/>
            <a:chOff x="7546658" y="3782378"/>
            <a:chExt cx="4111942" cy="2373630"/>
          </a:xfrm>
        </p:grpSpPr>
        <p:sp>
          <p:nvSpPr>
            <p:cNvPr id="74" name="Rectangle 74"/>
            <p:cNvSpPr/>
            <p:nvPr/>
          </p:nvSpPr>
          <p:spPr>
            <a:xfrm>
              <a:off x="7546658" y="3782378"/>
              <a:ext cx="4111942" cy="2373630"/>
            </a:xfrm>
            <a:prstGeom prst="roundRect">
              <a:avLst>
                <a:gd name="adj" fmla="val 56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7556182" y="3915728"/>
              <a:ext cx="47625" cy="21069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7771448" y="3969068"/>
              <a:ext cx="93535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846627" y="4001929"/>
              <a:ext cx="7849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Work 的含义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764589" y="4313872"/>
              <a:ext cx="34427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假设已选中的进程都运行完、释放了资源后，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系统手里的资源数。每选中一个进程，就把它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Allocation 加回 Work。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70260" cy="909257"/>
            <a:chOff x="520446" y="342900"/>
            <a:chExt cx="93702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702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（2）（3）P2 请求 (1,2,2,2)：试分配后不安全，不能分配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229225" cy="3234023"/>
            <a:chOff x="533400" y="1533525"/>
            <a:chExt cx="5229225" cy="323402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6565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419004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42638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检查请求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 = (1,2,2,2) ≤ Need₂ = (2,3,5,6)，且 ≤ Available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(1,6,2,2)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45364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试分配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746534"/>
              <a:ext cx="44508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Available = (0,4,0,0)；Allocation₂ = (2,5,7,6)；Need₂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(1,1,3,4)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33851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安全性检查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632359"/>
              <a:ext cx="48166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 = (0,4,0,0)，右表中没有一个进程满足 Need ≤ Work，第一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步就找不到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422433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518184"/>
              <a:ext cx="23356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不安全，撤销试分配，P2 等待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945380"/>
            <a:ext cx="5626418" cy="533400"/>
            <a:chOff x="533400" y="4945380"/>
            <a:chExt cx="5626418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4945380"/>
              <a:ext cx="5626418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26129" y="5108376"/>
              <a:ext cx="224134" cy="192560"/>
              <a:chOff x="726129" y="5108376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38200" y="51787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26129" y="51083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2565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107305"/>
              <a:ext cx="21212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答 (2)：不能分配给 P2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6464618" y="1524000"/>
            <a:ext cx="5193982" cy="2692718"/>
            <a:chOff x="6464618" y="1524000"/>
            <a:chExt cx="5193982" cy="2692718"/>
          </a:xfrm>
        </p:grpSpPr>
        <p:sp>
          <p:nvSpPr>
            <p:cNvPr id="32" name="Rectangle 32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5542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67957" y="1659731"/>
              <a:ext cx="4166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81350" y="1659731"/>
              <a:ext cx="20436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 Work (0,4,0,0) 比较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22592" y="2108359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02709" y="2108359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0 0 1 2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55608" y="2108359"/>
              <a:ext cx="7847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C、D 不够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22592" y="255698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02709" y="2556986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1 6 5 0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55608" y="2556986"/>
              <a:ext cx="1057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A、B、C 不够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22592" y="3005614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02709" y="3005614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1 1 3 4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055608" y="3005614"/>
              <a:ext cx="1057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A、C、D 不够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464618" y="33147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64618" y="331946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22592" y="345424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02709" y="3454241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55608" y="3454241"/>
              <a:ext cx="1057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B、C、D 不够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37633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22592" y="390382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02709" y="3903821"/>
              <a:ext cx="5471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0 6 5 6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055608" y="3903821"/>
              <a:ext cx="1057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B、C、D 不够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64618" y="1524000"/>
              <a:ext cx="5193982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59999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894302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ard-2"/>
          <p:cNvGrpSpPr/>
          <p:nvPr/>
        </p:nvGrpSpPr>
        <p:grpSpPr>
          <a:xfrm>
            <a:off x="6464618" y="4407218"/>
            <a:ext cx="5193982" cy="1887855"/>
            <a:chOff x="6464618" y="4407218"/>
            <a:chExt cx="5193982" cy="1887855"/>
          </a:xfrm>
        </p:grpSpPr>
        <p:sp>
          <p:nvSpPr>
            <p:cNvPr id="61" name="Rectangle 61"/>
            <p:cNvSpPr/>
            <p:nvPr/>
          </p:nvSpPr>
          <p:spPr>
            <a:xfrm>
              <a:off x="6464618" y="4407218"/>
              <a:ext cx="5193982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74142" y="4540568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712268" y="4616768"/>
              <a:ext cx="64293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798755" y="4652486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答 (3)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04648" y="4993958"/>
              <a:ext cx="4396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不会立即死锁。满足请求后系统只是进入不安全状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态，各进程此刻并没有提出新的申请；只有以后进程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继续申请资源，使所有未完成的进程都因得不到资源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而阻塞时，才进入死锁状态。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96231" cy="909257"/>
            <a:chOff x="520446" y="342900"/>
            <a:chExt cx="96962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962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页面置换（1）：OPT 淘汰以后最长时间不再用的页，缺页 6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235565" cy="569595"/>
            <a:chOff x="525780" y="1548765"/>
            <a:chExt cx="1023556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235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页面走向 6, 0, 1, 2, 0, 3, 0, 4, 2, 3，分配 M = 3 个物理块，每调进一个新页就发生一次缺页中断（开头装入的 3 页也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算）。</a:t>
              </a:r>
            </a:p>
          </p:txBody>
        </p:sp>
      </p:grpSp>
      <p:grpSp>
        <p:nvGrpSpPr>
          <p:cNvPr id="95" name="c1-table-1"/>
          <p:cNvGrpSpPr/>
          <p:nvPr/>
        </p:nvGrpSpPr>
        <p:grpSpPr>
          <a:xfrm>
            <a:off x="533400" y="2230755"/>
            <a:ext cx="6924675" cy="3243262"/>
            <a:chOff x="533400" y="2230755"/>
            <a:chExt cx="6924675" cy="3243262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6924675" cy="4629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57936" y="23626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01631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69321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37011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04701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72391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841033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08723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976413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4103" y="2362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56596" y="2362676"/>
              <a:ext cx="2352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4746" y="282654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04259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71949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39639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07329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75019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43662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11352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79042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46732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14422" y="282654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15277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157538"/>
              <a:ext cx="692467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4746" y="3289459"/>
              <a:ext cx="3762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04259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571949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139639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492818" y="3167062"/>
              <a:ext cx="548640" cy="4438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707329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75019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43662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411352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979042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46732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14422" y="32894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361569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746" y="3752374"/>
              <a:ext cx="3762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571949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139639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707329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275019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843662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411352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764530" y="3629978"/>
              <a:ext cx="548640" cy="4438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979042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546732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114422" y="375237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407955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3400" y="4084320"/>
              <a:ext cx="692467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746" y="4216241"/>
              <a:ext cx="3762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139639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707329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275019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4629150" y="4093845"/>
              <a:ext cx="548640" cy="4438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843662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411352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79042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546732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114422" y="421624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33400" y="454247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4746" y="46791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961248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528938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3096628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3664318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4800651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936031" y="467915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533400" y="500538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533400" y="5010150"/>
              <a:ext cx="692467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34746" y="514302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707329" y="514302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843662" y="514302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979042" y="514302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533400" y="2230755"/>
              <a:ext cx="6924675" cy="32432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1775460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2343150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2910840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3478530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4046220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4614862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5182552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5750242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6317932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6885622" y="2230755"/>
              <a:ext cx="9525" cy="32432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1" name="c1-callout-2"/>
          <p:cNvGrpSpPr/>
          <p:nvPr/>
        </p:nvGrpSpPr>
        <p:grpSpPr>
          <a:xfrm>
            <a:off x="533400" y="5654040"/>
            <a:ext cx="6924675" cy="503872"/>
            <a:chOff x="533400" y="5654040"/>
            <a:chExt cx="6924675" cy="503872"/>
          </a:xfrm>
        </p:grpSpPr>
        <p:sp>
          <p:nvSpPr>
            <p:cNvPr id="96" name="Rectangle 96"/>
            <p:cNvSpPr/>
            <p:nvPr/>
          </p:nvSpPr>
          <p:spPr>
            <a:xfrm>
              <a:off x="533400" y="5654040"/>
              <a:ext cx="692467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738188" y="5805488"/>
              <a:ext cx="200026" cy="200026"/>
              <a:chOff x="738188" y="5805488"/>
              <a:chExt cx="200026" cy="200026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738188" y="58054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804863" y="58832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00" name="TextBox 100"/>
            <p:cNvSpPr txBox="1"/>
            <p:nvPr/>
          </p:nvSpPr>
          <p:spPr>
            <a:xfrm>
              <a:off x="1040511" y="5805964"/>
              <a:ext cx="30580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OPT 缺页 6 次，缺页率 6/10 = 60%</a:t>
              </a:r>
            </a:p>
          </p:txBody>
        </p:sp>
      </p:grpSp>
      <p:grpSp>
        <p:nvGrpSpPr>
          <p:cNvPr id="115" name="c2-steps-1"/>
          <p:cNvGrpSpPr/>
          <p:nvPr/>
        </p:nvGrpSpPr>
        <p:grpSpPr>
          <a:xfrm>
            <a:off x="7762875" y="2240280"/>
            <a:ext cx="3656076" cy="2444496"/>
            <a:chOff x="7762875" y="2240280"/>
            <a:chExt cx="3656076" cy="2444496"/>
          </a:xfrm>
        </p:grpSpPr>
        <p:sp>
          <p:nvSpPr>
            <p:cNvPr id="102" name="Rectangle 102"/>
            <p:cNvSpPr/>
            <p:nvPr/>
          </p:nvSpPr>
          <p:spPr>
            <a:xfrm>
              <a:off x="7896225" y="2383155"/>
              <a:ext cx="19050" cy="16754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Ellipse 103"/>
            <p:cNvSpPr/>
            <p:nvPr/>
          </p:nvSpPr>
          <p:spPr>
            <a:xfrm>
              <a:off x="7762875" y="22402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7856499" y="23140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7762875" y="30784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7856499" y="31522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7762875" y="391572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7856499" y="39895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8174736" y="2273141"/>
              <a:ext cx="11805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时刻 4 访问 2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8175879" y="2553652"/>
              <a:ext cx="32049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块中 6、0、1：0 在时刻 5 还要用，6 和 1 以后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都不用，淘汰 6（淘汰 1 缺页数相同）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8174736" y="3111341"/>
              <a:ext cx="11805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时刻 6 访问 3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8175879" y="3391852"/>
              <a:ext cx="32430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块中 2、0、1：0 在时刻 7、2 在时刻 9 要用，1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不再用，淘汰 1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8174736" y="3948589"/>
              <a:ext cx="11805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时刻 8 访问 4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8175879" y="4229100"/>
              <a:ext cx="32430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块中 2、0、3：2 在时刻 9、3 在时刻 10 要用，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不再用，淘汰 0</a:t>
              </a:r>
            </a:p>
          </p:txBody>
        </p:sp>
      </p:grpSp>
      <p:grpSp>
        <p:nvGrpSpPr>
          <p:cNvPr id="11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6" name="TextBox 116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94080" cy="909257"/>
            <a:chOff x="520446" y="342900"/>
            <a:chExt cx="80940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940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页面置换（2）：FIFO 淘汰最早调入的页，缺页 9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2" name="c1-table-1"/>
          <p:cNvGrpSpPr/>
          <p:nvPr/>
        </p:nvGrpSpPr>
        <p:grpSpPr>
          <a:xfrm>
            <a:off x="533400" y="1524000"/>
            <a:ext cx="6924675" cy="3413760"/>
            <a:chOff x="533400" y="1524000"/>
            <a:chExt cx="6924675" cy="34137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924675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678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9814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6583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3352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121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6890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3754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0523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7292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061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4999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0080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0091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6860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3629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0398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7167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4031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0800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7569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4338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1107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249459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249936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0080" y="2638425"/>
              <a:ext cx="397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0091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6860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13629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492818" y="250888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70398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7167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84031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0800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64530" y="250888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7569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4338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1107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298227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0080" y="3126105"/>
              <a:ext cx="397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56860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13629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70398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27167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629150" y="299656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84031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40800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97569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332220" y="299656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4338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11107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346995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3400" y="347472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40080" y="3613785"/>
              <a:ext cx="397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 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13629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70398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27167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84031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196840" y="348424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40800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7569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54338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899910" y="3484245"/>
              <a:ext cx="548640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11107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33400" y="395763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40080" y="41014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95548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52317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309086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65855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479488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36257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93026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49795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06564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533400" y="444531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533400" y="445008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40080" y="45891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3703987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84031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540800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597569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654338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11107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33400" y="1524000"/>
              <a:ext cx="6924675" cy="34137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2" name="Rectangle 92"/>
            <p:cNvSpPr/>
            <p:nvPr/>
          </p:nvSpPr>
          <p:spPr>
            <a:xfrm>
              <a:off x="177546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234315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291084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347853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404622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461486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518255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575024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631793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688562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8" name="c1-callout-2"/>
          <p:cNvGrpSpPr/>
          <p:nvPr/>
        </p:nvGrpSpPr>
        <p:grpSpPr>
          <a:xfrm>
            <a:off x="533400" y="5128260"/>
            <a:ext cx="6924675" cy="533400"/>
            <a:chOff x="533400" y="5128260"/>
            <a:chExt cx="6924675" cy="533400"/>
          </a:xfrm>
        </p:grpSpPr>
        <p:sp>
          <p:nvSpPr>
            <p:cNvPr id="103" name="Rectangle 103"/>
            <p:cNvSpPr/>
            <p:nvPr/>
          </p:nvSpPr>
          <p:spPr>
            <a:xfrm>
              <a:off x="533400" y="5128260"/>
              <a:ext cx="6924675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738188" y="5294948"/>
              <a:ext cx="200026" cy="200026"/>
              <a:chOff x="738188" y="5294948"/>
              <a:chExt cx="200026" cy="200026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738188" y="52949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804863" y="537273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1040130" y="5290185"/>
              <a:ext cx="26178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FIFO 缺页 9 次，缺页率 90%</a:t>
              </a:r>
            </a:p>
          </p:txBody>
        </p:sp>
      </p:grpSp>
      <p:grpSp>
        <p:nvGrpSpPr>
          <p:cNvPr id="142" name="c2-table-1"/>
          <p:cNvGrpSpPr/>
          <p:nvPr/>
        </p:nvGrpSpPr>
        <p:grpSpPr>
          <a:xfrm>
            <a:off x="7762875" y="1524000"/>
            <a:ext cx="3895725" cy="3141346"/>
            <a:chOff x="7762875" y="1524000"/>
            <a:chExt cx="3895725" cy="3141346"/>
          </a:xfrm>
        </p:grpSpPr>
        <p:sp>
          <p:nvSpPr>
            <p:cNvPr id="109" name="Rectangle 109"/>
            <p:cNvSpPr/>
            <p:nvPr/>
          </p:nvSpPr>
          <p:spPr>
            <a:xfrm>
              <a:off x="7762875" y="1524000"/>
              <a:ext cx="389572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81251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920714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269360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它的调入时刻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8247662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9332072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073891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6" name="Rectangle 116"/>
            <p:cNvSpPr/>
            <p:nvPr/>
          </p:nvSpPr>
          <p:spPr>
            <a:xfrm>
              <a:off x="7762875" y="2416492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7762875" y="2421255"/>
              <a:ext cx="389572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8247662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9332072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073891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1" name="Rectangle 121"/>
            <p:cNvSpPr/>
            <p:nvPr/>
          </p:nvSpPr>
          <p:spPr>
            <a:xfrm>
              <a:off x="7762875" y="2866072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8247662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9332072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1073891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7762875" y="3314700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7762875" y="3319462"/>
              <a:ext cx="389572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7" name="TextBox 127"/>
            <p:cNvSpPr txBox="1"/>
            <p:nvPr/>
          </p:nvSpPr>
          <p:spPr>
            <a:xfrm>
              <a:off x="8247662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9332072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1073891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0" name="Rectangle 130"/>
            <p:cNvSpPr/>
            <p:nvPr/>
          </p:nvSpPr>
          <p:spPr>
            <a:xfrm>
              <a:off x="7762875" y="3763328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1" name="TextBox 131"/>
            <p:cNvSpPr txBox="1"/>
            <p:nvPr/>
          </p:nvSpPr>
          <p:spPr>
            <a:xfrm>
              <a:off x="8247662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9332072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10738914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34" name="Rectangle 134"/>
            <p:cNvSpPr/>
            <p:nvPr/>
          </p:nvSpPr>
          <p:spPr>
            <a:xfrm>
              <a:off x="7762875" y="4211955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5" name="Rectangle 135"/>
            <p:cNvSpPr/>
            <p:nvPr/>
          </p:nvSpPr>
          <p:spPr>
            <a:xfrm>
              <a:off x="7762875" y="4216718"/>
              <a:ext cx="389572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8197907" y="435244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9332072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10738914" y="43524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7762875" y="1524000"/>
              <a:ext cx="389572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884015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1" name="Rectangle 141"/>
            <p:cNvSpPr/>
            <p:nvPr/>
          </p:nvSpPr>
          <p:spPr>
            <a:xfrm>
              <a:off x="992219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49" name="c2-callout-2"/>
          <p:cNvGrpSpPr/>
          <p:nvPr/>
        </p:nvGrpSpPr>
        <p:grpSpPr>
          <a:xfrm>
            <a:off x="7762875" y="4855845"/>
            <a:ext cx="3895725" cy="1059180"/>
            <a:chOff x="7762875" y="4855845"/>
            <a:chExt cx="3895725" cy="1059180"/>
          </a:xfrm>
        </p:grpSpPr>
        <p:sp>
          <p:nvSpPr>
            <p:cNvPr id="143" name="Rectangle 143"/>
            <p:cNvSpPr/>
            <p:nvPr/>
          </p:nvSpPr>
          <p:spPr>
            <a:xfrm>
              <a:off x="7762875" y="4855845"/>
              <a:ext cx="389572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47" name="Group 147"/>
            <p:cNvGrpSpPr/>
            <p:nvPr/>
          </p:nvGrpSpPr>
          <p:grpSpPr>
            <a:xfrm>
              <a:off x="7955604" y="5281731"/>
              <a:ext cx="224134" cy="192560"/>
              <a:chOff x="7955604" y="5281731"/>
              <a:chExt cx="224134" cy="192560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8067675" y="535209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5" name="Freeform 145"/>
              <p:cNvSpPr/>
              <p:nvPr/>
            </p:nvSpPr>
            <p:spPr>
              <a:xfrm>
                <a:off x="7955604" y="528173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6" name="Freeform 146"/>
              <p:cNvSpPr/>
              <p:nvPr/>
            </p:nvSpPr>
            <p:spPr>
              <a:xfrm>
                <a:off x="8067675" y="542988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48" name="TextBox 148"/>
            <p:cNvSpPr txBox="1"/>
            <p:nvPr/>
          </p:nvSpPr>
          <p:spPr>
            <a:xfrm>
              <a:off x="8269605" y="5004435"/>
              <a:ext cx="29870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页 0 访问得最频繁，却在时刻 6 被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淘汰，时刻 7 马上又缺页。FIFO 只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看调入先后，不看使用情况。</a:t>
              </a:r>
            </a:p>
          </p:txBody>
        </p:sp>
      </p:grpSp>
      <p:grpSp>
        <p:nvGrpSpPr>
          <p:cNvPr id="1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0" name="TextBox 150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33499" cy="909257"/>
            <a:chOff x="520446" y="342900"/>
            <a:chExt cx="89334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3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页面置换（3）：LRU 淘汰最近最久未使用的页，缺页 8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5" name="c1-table-1"/>
          <p:cNvGrpSpPr/>
          <p:nvPr/>
        </p:nvGrpSpPr>
        <p:grpSpPr>
          <a:xfrm>
            <a:off x="527685" y="1524000"/>
            <a:ext cx="6930390" cy="3709512"/>
            <a:chOff x="527685" y="1524000"/>
            <a:chExt cx="6930390" cy="37095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924675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678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9814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6583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3352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121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68900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3754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0523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7292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0613" y="166306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4999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0080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0091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6860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3629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0398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7167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4031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0800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7569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4338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11079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249459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249936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0080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0091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6860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13629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0398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27167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4031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0800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97569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4338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11079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298227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0080" y="312610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其次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6860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13629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70398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271677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84031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40800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97569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4338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11079" y="312610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400" y="346995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33400" y="347472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0080" y="361378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最久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13629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70398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271677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84031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40800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97569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54338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11079" y="361378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33400" y="395763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40080" y="41014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95548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252317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09086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658552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479488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593026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9795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065645" y="41014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533400" y="444531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533400" y="4450080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40080" y="45891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3703987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84031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97569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54338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111079" y="45891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533400" y="1524000"/>
              <a:ext cx="6924675" cy="34137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177546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234315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291084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347853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404622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461486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518255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575024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631793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6885622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527685" y="5013484"/>
              <a:ext cx="53036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三行按最近使用的先后排列（栈顶在上）；缺页时淘汰上一时刻“最久”一行的页</a:t>
              </a:r>
            </a:p>
          </p:txBody>
        </p:sp>
      </p:grpSp>
      <p:grpSp>
        <p:nvGrpSpPr>
          <p:cNvPr id="101" name="c1-callout-2"/>
          <p:cNvGrpSpPr/>
          <p:nvPr/>
        </p:nvGrpSpPr>
        <p:grpSpPr>
          <a:xfrm>
            <a:off x="533400" y="5379720"/>
            <a:ext cx="6924675" cy="533400"/>
            <a:chOff x="533400" y="5379720"/>
            <a:chExt cx="6924675" cy="533400"/>
          </a:xfrm>
        </p:grpSpPr>
        <p:sp>
          <p:nvSpPr>
            <p:cNvPr id="96" name="Rectangle 96"/>
            <p:cNvSpPr/>
            <p:nvPr/>
          </p:nvSpPr>
          <p:spPr>
            <a:xfrm>
              <a:off x="533400" y="5379720"/>
              <a:ext cx="6924675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738188" y="5546408"/>
              <a:ext cx="200026" cy="200026"/>
              <a:chOff x="738188" y="5546408"/>
              <a:chExt cx="200026" cy="200026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738188" y="55464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804863" y="562419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00" name="TextBox 100"/>
            <p:cNvSpPr txBox="1"/>
            <p:nvPr/>
          </p:nvSpPr>
          <p:spPr>
            <a:xfrm>
              <a:off x="1040130" y="5541645"/>
              <a:ext cx="25111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LRU 缺页 8 次，缺页率 80%</a:t>
              </a:r>
            </a:p>
          </p:txBody>
        </p:sp>
      </p:grpSp>
      <p:grpSp>
        <p:nvGrpSpPr>
          <p:cNvPr id="121" name="c2-table-1"/>
          <p:cNvGrpSpPr/>
          <p:nvPr/>
        </p:nvGrpSpPr>
        <p:grpSpPr>
          <a:xfrm>
            <a:off x="7762875" y="1524000"/>
            <a:ext cx="3895725" cy="2475548"/>
            <a:chOff x="7762875" y="1524000"/>
            <a:chExt cx="3895725" cy="2475548"/>
          </a:xfrm>
        </p:grpSpPr>
        <p:sp>
          <p:nvSpPr>
            <p:cNvPr id="102" name="Rectangle 102"/>
            <p:cNvSpPr/>
            <p:nvPr/>
          </p:nvSpPr>
          <p:spPr>
            <a:xfrm>
              <a:off x="7762875" y="1524000"/>
              <a:ext cx="389572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801270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7918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031109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008190" y="2221706"/>
              <a:ext cx="3666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OPT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916782" y="22217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9428988" y="210835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以后最长时间不用；要预知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未来，只能作比较标准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7762875" y="2643188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7762875" y="2647950"/>
              <a:ext cx="389572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8027307" y="2897029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8916782" y="289702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9428988" y="2783681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过去最久没用；用局部性近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似 OPT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7762875" y="3319462"/>
              <a:ext cx="389572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7979515" y="3572351"/>
              <a:ext cx="4239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FIFO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8916782" y="35723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9428988" y="3459004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调入最早；实现简单，常用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页也会被淘汰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7762875" y="1524000"/>
              <a:ext cx="3895725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9" name="Rectangle 119"/>
            <p:cNvSpPr/>
            <p:nvPr/>
          </p:nvSpPr>
          <p:spPr>
            <a:xfrm>
              <a:off x="8615362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9316402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28" name="c2-callout-2"/>
          <p:cNvGrpSpPr/>
          <p:nvPr/>
        </p:nvGrpSpPr>
        <p:grpSpPr>
          <a:xfrm>
            <a:off x="7762875" y="4190048"/>
            <a:ext cx="3895725" cy="782955"/>
            <a:chOff x="7762875" y="4190048"/>
            <a:chExt cx="3895725" cy="782955"/>
          </a:xfrm>
        </p:grpSpPr>
        <p:sp>
          <p:nvSpPr>
            <p:cNvPr id="122" name="Rectangle 122"/>
            <p:cNvSpPr/>
            <p:nvPr/>
          </p:nvSpPr>
          <p:spPr>
            <a:xfrm>
              <a:off x="7762875" y="4190048"/>
              <a:ext cx="389572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26" name="Group 126"/>
            <p:cNvGrpSpPr/>
            <p:nvPr/>
          </p:nvGrpSpPr>
          <p:grpSpPr>
            <a:xfrm>
              <a:off x="7967663" y="4481513"/>
              <a:ext cx="200026" cy="200025"/>
              <a:chOff x="7967663" y="4481513"/>
              <a:chExt cx="200026" cy="20002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7967663" y="44815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24" name="Freeform 124"/>
              <p:cNvSpPr/>
              <p:nvPr/>
            </p:nvSpPr>
            <p:spPr>
              <a:xfrm>
                <a:off x="8007401" y="45259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25" name="Freeform 125"/>
              <p:cNvSpPr/>
              <p:nvPr/>
            </p:nvSpPr>
            <p:spPr>
              <a:xfrm>
                <a:off x="8042117" y="46370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27" name="TextBox 127"/>
            <p:cNvSpPr txBox="1"/>
            <p:nvPr/>
          </p:nvSpPr>
          <p:spPr>
            <a:xfrm>
              <a:off x="8269605" y="4338638"/>
              <a:ext cx="2710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物理块改为 4 个时，同一走向用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FIFO 缺页 6 次。</a:t>
              </a:r>
            </a:p>
          </p:txBody>
        </p:sp>
      </p:grpSp>
      <p:grpSp>
        <p:nvGrpSpPr>
          <p:cNvPr id="1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9" name="TextBox 12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84704" cy="909257"/>
            <a:chOff x="520446" y="342900"/>
            <a:chExt cx="25847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7140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系统有 8 台磁带机，每个进程最多需要 3 台，每次申请一台。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最多允许几个进程竞争才一定不死锁？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38149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 3N &lt; 8 + N，得 N &lt; 4，最多 3 个进程。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485900"/>
            <a:chOff x="533400" y="3179445"/>
            <a:chExt cx="5410200" cy="1485900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4773597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char bitmap[100] 管理内存，页框和位都从 0 编号，页框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对应哪一位？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268152"/>
              <a:ext cx="3866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= 12 × 8 + 4，bitmap[12] 的第 4 位。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835842"/>
            <a:ext cx="5410200" cy="1485900"/>
            <a:chOff x="533400" y="4835842"/>
            <a:chExt cx="5410200" cy="1485900"/>
          </a:xfrm>
        </p:grpSpPr>
        <p:sp>
          <p:nvSpPr>
            <p:cNvPr id="19" name="Rectangle 19"/>
            <p:cNvSpPr/>
            <p:nvPr/>
          </p:nvSpPr>
          <p:spPr>
            <a:xfrm>
              <a:off x="533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366385"/>
              <a:ext cx="44131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伙伴堆中申请 5 个页框，从哪个块组分配？浪费几页？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102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2² &lt; 5 ≤ 2³，在块组 3 分配 8 页，浪费 3 页。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481303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 S 初值为 2，当前值为 1，可用资源数和等待进程数各是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612708"/>
              <a:ext cx="27670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可用 1 个，没有进程在等待。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743075"/>
            <a:chOff x="6248400" y="3179445"/>
            <a:chExt cx="5410200" cy="1743075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4677585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按综合题七的页表，进程访问虚拟地址 1234H，物理地址是多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268152"/>
              <a:ext cx="47800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 7 位为 9，页内地址 034H；第 9 页在 5 号页框，物理地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 5 × 512 + 52 = 0A34H。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5093018"/>
            <a:ext cx="5410200" cy="1228725"/>
            <a:chOff x="6248400" y="5093018"/>
            <a:chExt cx="5410200" cy="1228725"/>
          </a:xfrm>
        </p:grpSpPr>
        <p:sp>
          <p:nvSpPr>
            <p:cNvPr id="37" name="Rectangle 37"/>
            <p:cNvSpPr/>
            <p:nvPr/>
          </p:nvSpPr>
          <p:spPr>
            <a:xfrm>
              <a:off x="6248400" y="5093018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52797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53125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623560"/>
              <a:ext cx="37893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磁盘转速 3000 r/min，平均旋转延迟是多少？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923598"/>
              <a:ext cx="3657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r/s，转半圈 1/(2 × 50) s = 10 ms。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试题解析 · 同步、虚存、磁盘与练习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本讲小结：单选答案速查与更正清单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7" name="c1-table-1"/>
          <p:cNvGrpSpPr/>
          <p:nvPr/>
        </p:nvGrpSpPr>
        <p:grpSpPr>
          <a:xfrm>
            <a:off x="533400" y="1524000"/>
            <a:ext cx="5626418" cy="4669155"/>
            <a:chOff x="533400" y="1524000"/>
            <a:chExt cx="5626418" cy="4669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6094" y="16525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3446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75332" y="16525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9184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69892" y="16525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4543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答案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0221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49070" y="207645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67255" y="20764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06445" y="207645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61815" y="20764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60035" y="207645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3679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37267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90221" y="2501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49070" y="250126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67255" y="250126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06445" y="250126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61815" y="250126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60035" y="250126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79273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90221" y="2926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49070" y="292608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67255" y="292608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406445" y="292608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61815" y="292608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60035" y="292608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2165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221355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0221" y="33499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49070" y="334994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267255" y="334994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406445" y="334994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461815" y="334994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460035" y="334994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64140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90221" y="377475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549070" y="3774757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267255" y="3774757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06445" y="3774757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461815" y="3774757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460035" y="3774757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40662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4070985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90221" y="41986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549070" y="419862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267255" y="419862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406445" y="419862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61815" y="419862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460035" y="419862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44900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90221" y="46234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549070" y="462343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267255" y="46234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406445" y="462343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461815" y="46234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460035" y="4623435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33400" y="49149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33400" y="4919662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90221" y="50482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549070" y="504825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2267255" y="50482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2681288" y="4929188"/>
              <a:ext cx="1556385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3091586" y="5048250"/>
              <a:ext cx="735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C（原 A）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4461815" y="504825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460035" y="5048250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33400" y="53387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90221" y="54721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549070" y="547211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2267255" y="547211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2681288" y="5353050"/>
              <a:ext cx="1556385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3091586" y="5472112"/>
              <a:ext cx="735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D（原 C）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4461815" y="547211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460035" y="547211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533400" y="57635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533400" y="5768340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43575" y="589692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549070" y="5896928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2267255" y="589692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2681288" y="5777865"/>
              <a:ext cx="1556385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2876017" y="5896928"/>
              <a:ext cx="11669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 ms（原 B）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461815" y="589692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5460035" y="5896928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33400" y="1524000"/>
              <a:ext cx="5626418" cy="4669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2" name="Rectangle 92"/>
            <p:cNvSpPr/>
            <p:nvPr/>
          </p:nvSpPr>
          <p:spPr>
            <a:xfrm>
              <a:off x="1147762" y="1524000"/>
              <a:ext cx="9525" cy="4669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2047875" y="1524000"/>
              <a:ext cx="9525" cy="4669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2667000" y="1524000"/>
              <a:ext cx="9525" cy="4669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4242435" y="1524000"/>
              <a:ext cx="9525" cy="4669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4861560" y="1524000"/>
              <a:ext cx="9525" cy="4669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3" name="c2-bullets-1"/>
          <p:cNvGrpSpPr/>
          <p:nvPr/>
        </p:nvGrpSpPr>
        <p:grpSpPr>
          <a:xfrm>
            <a:off x="6464618" y="1532572"/>
            <a:ext cx="5127917" cy="2083499"/>
            <a:chOff x="6464618" y="1532572"/>
            <a:chExt cx="5127917" cy="2083499"/>
          </a:xfrm>
        </p:grpSpPr>
        <p:sp>
          <p:nvSpPr>
            <p:cNvPr id="98" name="Ellipse 98"/>
            <p:cNvSpPr/>
            <p:nvPr/>
          </p:nvSpPr>
          <p:spPr>
            <a:xfrm>
              <a:off x="6464618" y="1532572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513705" y="1567196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6724269" y="1544002"/>
              <a:ext cx="48682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可抢占 SJF：每有进程到达就比较剩余时间，带权周转时间没有单位</a:t>
              </a:r>
            </a:p>
          </p:txBody>
        </p:sp>
        <p:sp>
          <p:nvSpPr>
            <p:cNvPr id="101" name="Ellipse 101"/>
            <p:cNvSpPr/>
            <p:nvPr/>
          </p:nvSpPr>
          <p:spPr>
            <a:xfrm>
              <a:off x="6464618" y="1820228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6513705" y="1854851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6724269" y="1831658"/>
              <a:ext cx="47365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静态分析：列状态、连弧、找环，再排除有相同进程或相同占有资源的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6464618" y="2337435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513705" y="2371106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6724269" y="2347913"/>
              <a:ext cx="40750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伙伴堆：按 2 的幂分块，位图记录每对伙伴是否一空一占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6464618" y="2625090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6513705" y="2658761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6724269" y="2635568"/>
              <a:ext cx="462991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成组链接：s_nfree 减到 0 时先把链接块内容读入超级块，再分出该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110" name="Ellipse 110"/>
            <p:cNvSpPr/>
            <p:nvPr/>
          </p:nvSpPr>
          <p:spPr>
            <a:xfrm>
              <a:off x="6464618" y="3141345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513705" y="3175016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6724269" y="3152775"/>
              <a:ext cx="465277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地址变换：页长为 2 的 k 次方时，低 k 位是页内地址；缺页时按淘汰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算法选页框</a:t>
              </a:r>
            </a:p>
          </p:txBody>
        </p:sp>
      </p:grpSp>
      <p:grpSp>
        <p:nvGrpSpPr>
          <p:cNvPr id="128" name="c2-card-2"/>
          <p:cNvGrpSpPr/>
          <p:nvPr/>
        </p:nvGrpSpPr>
        <p:grpSpPr>
          <a:xfrm>
            <a:off x="6464618" y="3749040"/>
            <a:ext cx="5193982" cy="2444115"/>
            <a:chOff x="6464618" y="3749040"/>
            <a:chExt cx="5193982" cy="2444115"/>
          </a:xfrm>
        </p:grpSpPr>
        <p:sp>
          <p:nvSpPr>
            <p:cNvPr id="114" name="Rectangle 114"/>
            <p:cNvSpPr/>
            <p:nvPr/>
          </p:nvSpPr>
          <p:spPr>
            <a:xfrm>
              <a:off x="6464618" y="3749040"/>
              <a:ext cx="5193982" cy="2444115"/>
            </a:xfrm>
            <a:prstGeom prst="roundRect">
              <a:avLst>
                <a:gd name="adj" fmla="val 54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6474142" y="3882390"/>
              <a:ext cx="47625" cy="21774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6700838" y="394716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772275" y="398145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对原课件的更正</a:t>
              </a:r>
            </a:p>
          </p:txBody>
        </p:sp>
        <p:sp>
          <p:nvSpPr>
            <p:cNvPr id="118" name="Ellipse 118"/>
            <p:cNvSpPr/>
            <p:nvPr/>
          </p:nvSpPr>
          <p:spPr>
            <a:xfrm>
              <a:off x="6708458" y="436721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6865048" y="4307681"/>
              <a:ext cx="20981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单选 18、19、20 的答案</a:t>
              </a:r>
            </a:p>
          </p:txBody>
        </p:sp>
        <p:sp>
          <p:nvSpPr>
            <p:cNvPr id="120" name="Ellipse 120"/>
            <p:cNvSpPr/>
            <p:nvPr/>
          </p:nvSpPr>
          <p:spPr>
            <a:xfrm>
              <a:off x="6708458" y="468534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6865048" y="4624864"/>
              <a:ext cx="41053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二：平均带权周转时间为 31/21 ≈ 1.48，无单位</a:t>
              </a:r>
            </a:p>
          </p:txBody>
        </p:sp>
        <p:sp>
          <p:nvSpPr>
            <p:cNvPr id="122" name="Ellipse 122"/>
            <p:cNvSpPr/>
            <p:nvPr/>
          </p:nvSpPr>
          <p:spPr>
            <a:xfrm>
              <a:off x="6708458" y="500348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6865048" y="4942999"/>
              <a:ext cx="25186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四：答案图 (2) 不应有块组 5</a:t>
              </a:r>
            </a:p>
          </p:txBody>
        </p:sp>
        <p:sp>
          <p:nvSpPr>
            <p:cNvPr id="124" name="Ellipse 124"/>
            <p:cNvSpPr/>
            <p:nvPr/>
          </p:nvSpPr>
          <p:spPr>
            <a:xfrm>
              <a:off x="6708458" y="532066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6865048" y="5261134"/>
              <a:ext cx="41626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六：解法 1 要把 count 清 0；解法 2 的 m 应为 n</a:t>
              </a:r>
            </a:p>
          </p:txBody>
        </p:sp>
        <p:sp>
          <p:nvSpPr>
            <p:cNvPr id="126" name="Ellipse 126"/>
            <p:cNvSpPr/>
            <p:nvPr/>
          </p:nvSpPr>
          <p:spPr>
            <a:xfrm>
              <a:off x="6708458" y="563880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7" name="TextBox 127"/>
            <p:cNvSpPr txBox="1"/>
            <p:nvPr/>
          </p:nvSpPr>
          <p:spPr>
            <a:xfrm>
              <a:off x="6865048" y="557831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八：总访问时间第一项应为总寻道时间</a:t>
              </a:r>
            </a:p>
          </p:txBody>
        </p:sp>
      </p:grpSp>
      <p:grpSp>
        <p:nvGrpSpPr>
          <p:cNvPr id="1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9" name="TextBox 129"/>
            <p:cNvSpPr txBox="1"/>
            <p:nvPr/>
          </p:nvSpPr>
          <p:spPr>
            <a:xfrm>
              <a:off x="528447" y="6581299"/>
              <a:ext cx="23120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操作系统原理 试题解析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exam">
  <a:themeElements>
    <a:clrScheme name="os_exa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exam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exa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2026-09-17T07:23:52Z</dcterms:created>
  <dcterms:modified xsi:type="dcterms:W3CDTF">2026-09-17T07:23:52Z</dcterms:modified>
  <cp:category/>
  <cp:contentStatus/>
</cp:coreProperties>
</file>