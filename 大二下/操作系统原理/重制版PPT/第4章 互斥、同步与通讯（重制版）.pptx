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s_ch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s_ch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d8ecb413d9564b8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d2f20be63b6b8c6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89932364cdc93b2.png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561332" cy="3437763"/>
            <a:chOff x="666750" y="1619250"/>
            <a:chExt cx="456133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操作系统原理 · 第四章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互斥、同步与通讯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临界区、信号量、管程与进程间通信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临界区与互斥算法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信号量与经典同步问题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条件临界区、管程与会合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消息传递、信箱与管道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120507" cy="205359"/>
            <a:chOff x="680466" y="6192202"/>
            <a:chExt cx="5120507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120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自学复习版｜据吉林大学《操作系统原理》第四章课件（上、下）整理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并发进程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4646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前趋图、Bernstein 条件、与时间有关的错误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进程互斥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临界区的三条要求、软件算法、硬件指令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9905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信号量与 P、V 操作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原语的定义与实现，互斥和同步两种用法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经典同步问题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1657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生产者-消费者、读者-写者、哲学家、吸烟者及应用题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条件临界区与管程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848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Hoare 管程、SCAN 调度、理发师问题、Java 管程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会合与进程通信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1123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Ada 会合、消息缓冲、信箱、管道与信号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91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Bernstein 条件判断两段程序能否并发，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举出与时间有关的错误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206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说出临界区管理的三条要求，判断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Peterson、Lamport 等算法是否满足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P、V 原语，用信号量解决生产者-消费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者、读者-写者、哲学家就餐问题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检查一个同步解法有没有死锁、饥饿、忙等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和唤醒丢失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749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Hoare 管程和 Ada 会合写同步程序，说出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消息传递的几种方式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57622" cy="3351847"/>
            <a:chOff x="667512" y="1835468"/>
            <a:chExt cx="535762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并发进程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程序并发执行后失去封闭性，结果可能随交叉方式变化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36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4.1.1 前趋图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7206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4.1.2–4.1.3 顺序程序与并发程序的特性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64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4.1.4 Bernstein 条件与并发语句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46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4.1.6 与时间有关的错误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并发进程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前趋图描述先后关系；顺序程序与并发程序特性相反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760595" cy="2577465"/>
            <a:chOff x="533400" y="1524000"/>
            <a:chExt cx="4760595" cy="2577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4964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478" y="1769269"/>
              <a:ext cx="7958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4.1.1 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37372" y="1768792"/>
              <a:ext cx="28377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前趋图（precedence graph）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有向无环图。结点表示一个语句、一个计算步骤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或一个进程，可带权重（程序量或计算时间）。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3777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 Pi → Pj：Pj 启动之前 Pi 必须已经完成，称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 是 Pj 的前趋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7185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没有前趋的是初始结点，没有后继的是终止结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</p:grpSp>
      <p:grpSp>
        <p:nvGrpSpPr>
          <p:cNvPr id="50" name="c1-graph-2"/>
          <p:cNvGrpSpPr/>
          <p:nvPr/>
        </p:nvGrpSpPr>
        <p:grpSpPr>
          <a:xfrm>
            <a:off x="737235" y="4404360"/>
            <a:ext cx="4258627" cy="1845945"/>
            <a:chOff x="737235" y="4404360"/>
            <a:chExt cx="4258627" cy="1845945"/>
          </a:xfrm>
        </p:grpSpPr>
        <p:sp>
          <p:nvSpPr>
            <p:cNvPr id="18" name="Freeform 18"/>
            <p:cNvSpPr/>
            <p:nvPr/>
          </p:nvSpPr>
          <p:spPr>
            <a:xfrm>
              <a:off x="1074420" y="4727258"/>
              <a:ext cx="836295" cy="503873"/>
            </a:xfrm>
            <a:custGeom>
              <a:avLst/>
              <a:gdLst/>
              <a:ahLst/>
              <a:cxnLst/>
              <a:rect l="l" t="t" r="r" b="b"/>
              <a:pathLst>
                <a:path w="836295" h="503873">
                  <a:moveTo>
                    <a:pt x="0" y="503873"/>
                  </a:moveTo>
                  <a:lnTo>
                    <a:pt x="8362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885950" y="4678680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0"/>
                  </a:moveTo>
                  <a:lnTo>
                    <a:pt x="48577" y="89535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101090" y="5327332"/>
              <a:ext cx="768668" cy="9525"/>
            </a:xfrm>
            <a:custGeom>
              <a:avLst/>
              <a:gdLst/>
              <a:ahLst/>
              <a:cxnLst/>
              <a:rect l="l" t="t" r="r" b="b"/>
              <a:pathLst>
                <a:path w="768668" h="9525">
                  <a:moveTo>
                    <a:pt x="0" y="0"/>
                  </a:moveTo>
                  <a:lnTo>
                    <a:pt x="7686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869758" y="52797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074420" y="5423535"/>
              <a:ext cx="836295" cy="503872"/>
            </a:xfrm>
            <a:custGeom>
              <a:avLst/>
              <a:gdLst/>
              <a:ahLst/>
              <a:cxnLst/>
              <a:rect l="l" t="t" r="r" b="b"/>
              <a:pathLst>
                <a:path w="836295" h="503872">
                  <a:moveTo>
                    <a:pt x="0" y="0"/>
                  </a:moveTo>
                  <a:lnTo>
                    <a:pt x="836295" y="5038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885950" y="5886450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89535"/>
                  </a:moveTo>
                  <a:lnTo>
                    <a:pt x="0" y="81915"/>
                  </a:lnTo>
                  <a:lnTo>
                    <a:pt x="4857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2331720" y="4632008"/>
              <a:ext cx="882015" cy="246698"/>
            </a:xfrm>
            <a:custGeom>
              <a:avLst/>
              <a:gdLst/>
              <a:ahLst/>
              <a:cxnLst/>
              <a:rect l="l" t="t" r="r" b="b"/>
              <a:pathLst>
                <a:path w="882015" h="246698">
                  <a:moveTo>
                    <a:pt x="0" y="0"/>
                  </a:moveTo>
                  <a:lnTo>
                    <a:pt x="882015" y="24669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200400" y="4832985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1438"/>
                  </a:moveTo>
                  <a:lnTo>
                    <a:pt x="0" y="91440"/>
                  </a:lnTo>
                  <a:lnTo>
                    <a:pt x="2571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2331720" y="5030152"/>
              <a:ext cx="882015" cy="246697"/>
            </a:xfrm>
            <a:custGeom>
              <a:avLst/>
              <a:gdLst/>
              <a:ahLst/>
              <a:cxnLst/>
              <a:rect l="l" t="t" r="r" b="b"/>
              <a:pathLst>
                <a:path w="882015" h="246697">
                  <a:moveTo>
                    <a:pt x="0" y="246697"/>
                  </a:moveTo>
                  <a:lnTo>
                    <a:pt x="8820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200400" y="4984432"/>
              <a:ext cx="104775" cy="92393"/>
            </a:xfrm>
            <a:custGeom>
              <a:avLst/>
              <a:gdLst/>
              <a:ahLst/>
              <a:cxnLst/>
              <a:rect l="l" t="t" r="r" b="b"/>
              <a:pathLst>
                <a:path w="104775" h="92393">
                  <a:moveTo>
                    <a:pt x="104775" y="20955"/>
                  </a:moveTo>
                  <a:lnTo>
                    <a:pt x="25717" y="92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2295525" y="5135880"/>
              <a:ext cx="973455" cy="817245"/>
            </a:xfrm>
            <a:custGeom>
              <a:avLst/>
              <a:gdLst/>
              <a:ahLst/>
              <a:cxnLst/>
              <a:rect l="l" t="t" r="r" b="b"/>
              <a:pathLst>
                <a:path w="973455" h="817245">
                  <a:moveTo>
                    <a:pt x="0" y="817245"/>
                  </a:moveTo>
                  <a:lnTo>
                    <a:pt x="9734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238500" y="5074920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0"/>
                  </a:moveTo>
                  <a:lnTo>
                    <a:pt x="60960" y="97155"/>
                  </a:lnTo>
                  <a:lnTo>
                    <a:pt x="0" y="2476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2339340" y="6073140"/>
              <a:ext cx="863918" cy="9525"/>
            </a:xfrm>
            <a:custGeom>
              <a:avLst/>
              <a:gdLst/>
              <a:ahLst/>
              <a:cxnLst/>
              <a:rect l="l" t="t" r="r" b="b"/>
              <a:pathLst>
                <a:path w="863918" h="9525">
                  <a:moveTo>
                    <a:pt x="0" y="0"/>
                  </a:moveTo>
                  <a:lnTo>
                    <a:pt x="86391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3203258" y="60255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3660458" y="5019675"/>
              <a:ext cx="893445" cy="333375"/>
            </a:xfrm>
            <a:custGeom>
              <a:avLst/>
              <a:gdLst/>
              <a:ahLst/>
              <a:cxnLst/>
              <a:rect l="l" t="t" r="r" b="b"/>
              <a:pathLst>
                <a:path w="893445" h="333375">
                  <a:moveTo>
                    <a:pt x="0" y="0"/>
                  </a:moveTo>
                  <a:lnTo>
                    <a:pt x="893445" y="333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4537710" y="5308282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78105"/>
                  </a:moveTo>
                  <a:lnTo>
                    <a:pt x="0" y="89535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3654742" y="5571172"/>
              <a:ext cx="907733" cy="422910"/>
            </a:xfrm>
            <a:custGeom>
              <a:avLst/>
              <a:gdLst/>
              <a:ahLst/>
              <a:cxnLst/>
              <a:rect l="l" t="t" r="r" b="b"/>
              <a:pathLst>
                <a:path w="907733" h="422910">
                  <a:moveTo>
                    <a:pt x="0" y="422910"/>
                  </a:moveTo>
                  <a:lnTo>
                    <a:pt x="90773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4542472" y="5527358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2858"/>
                  </a:moveTo>
                  <a:lnTo>
                    <a:pt x="40005" y="86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37235" y="5150167"/>
              <a:ext cx="354330" cy="3543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974532" y="4404360"/>
              <a:ext cx="354330" cy="3543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974532" y="5150167"/>
              <a:ext cx="354330" cy="3543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974532" y="5895975"/>
              <a:ext cx="354330" cy="3543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3308032" y="4777740"/>
              <a:ext cx="354330" cy="3543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3308032" y="5895975"/>
              <a:ext cx="354330" cy="3543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4641532" y="5273992"/>
              <a:ext cx="354330" cy="3543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16684" y="525732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53982" y="451151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053982" y="525732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53982" y="60031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87482" y="488489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87482" y="60031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20982" y="538114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P7</a:t>
              </a:r>
            </a:p>
          </p:txBody>
        </p:sp>
      </p:grpSp>
      <p:grpSp>
        <p:nvGrpSpPr>
          <p:cNvPr id="75" name="c2-table-1"/>
          <p:cNvGrpSpPr/>
          <p:nvPr/>
        </p:nvGrpSpPr>
        <p:grpSpPr>
          <a:xfrm>
            <a:off x="5598795" y="1524000"/>
            <a:ext cx="6059805" cy="3150870"/>
            <a:chOff x="5598795" y="1524000"/>
            <a:chExt cx="6059805" cy="3150870"/>
          </a:xfrm>
        </p:grpSpPr>
        <p:sp>
          <p:nvSpPr>
            <p:cNvPr id="51" name="Rectangle 51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1867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2986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顺序程序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97399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并发程序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706618" y="23350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执行方式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76263" y="2108359"/>
              <a:ext cx="19636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内部顺序性：一个进程的指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令按序执行；外部顺序性：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多个进程依次执行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100376" y="2108359"/>
              <a:ext cx="228879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内部并发性：程序内部的语句可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以同时执行；外部并发性：多个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程序交叉执行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598795" y="28698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598795" y="287464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706618" y="30103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连续与否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76263" y="301037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连续性：指令逐条执行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00376" y="301037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间断性：程序交叉执行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598795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706618" y="35723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封闭与否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76263" y="3459004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封闭性：不受其他程序和外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界因素影响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100376" y="3459004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非封闭性：运行环境可能被其他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进程改变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598795" y="39947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598795" y="3999548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706618" y="42476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76263" y="4134326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可再现性：结果与推进速度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无关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100376" y="4134326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不可再现性：多次执行可能对应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不同交叉，结果不同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598795" y="1524000"/>
              <a:ext cx="6059805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563678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8987790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2" name="c2-callout-2"/>
          <p:cNvGrpSpPr/>
          <p:nvPr/>
        </p:nvGrpSpPr>
        <p:grpSpPr>
          <a:xfrm>
            <a:off x="5598795" y="4865370"/>
            <a:ext cx="6059805" cy="1059180"/>
            <a:chOff x="5598795" y="4865370"/>
            <a:chExt cx="6059805" cy="1059180"/>
          </a:xfrm>
        </p:grpSpPr>
        <p:sp>
          <p:nvSpPr>
            <p:cNvPr id="76" name="Rectangle 76"/>
            <p:cNvSpPr/>
            <p:nvPr/>
          </p:nvSpPr>
          <p:spPr>
            <a:xfrm>
              <a:off x="5598795" y="4865370"/>
              <a:ext cx="605980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5803583" y="5294948"/>
              <a:ext cx="200026" cy="200025"/>
              <a:chOff x="5803583" y="5294948"/>
              <a:chExt cx="200026" cy="200025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5803583" y="52949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5843321" y="53393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5878037" y="54505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6105525" y="5013960"/>
              <a:ext cx="50253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内部并发的例子：S1 a:=x+2 与 S2 b:=y+4 互不依赖，可以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同时算；S3 c:=a+b 要等两者完成；S4 d:=c+6 之后才能算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S5 e:=c−d。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70621" cy="909257"/>
            <a:chOff x="520446" y="342900"/>
            <a:chExt cx="84706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并发进程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706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不可再现性的例子，以及保证可再现的 Bernstein 条件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085398" cy="1261110"/>
            <a:chOff x="533400" y="1524000"/>
            <a:chExt cx="5085398" cy="12611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3988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例：P 累计计数，Q 打印累计结果后清零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2504313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进程 P：             进程 Q：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A1: N := 0;          B1: PRINT(N);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A2: N := N + 1;      B2: N := 0;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A3: GOTO A2;         B3: GOTO B1;</a:t>
              </a:r>
            </a:p>
          </p:txBody>
        </p:sp>
      </p:grpSp>
      <p:grpSp>
        <p:nvGrpSpPr>
          <p:cNvPr id="25" name="c1-table-2"/>
          <p:cNvGrpSpPr/>
          <p:nvPr/>
        </p:nvGrpSpPr>
        <p:grpSpPr>
          <a:xfrm>
            <a:off x="533400" y="2966085"/>
            <a:ext cx="5085398" cy="2337435"/>
            <a:chOff x="533400" y="2966085"/>
            <a:chExt cx="5085398" cy="2337435"/>
          </a:xfrm>
        </p:grpSpPr>
        <p:sp>
          <p:nvSpPr>
            <p:cNvPr id="11" name="Rectangle 11"/>
            <p:cNvSpPr/>
            <p:nvPr/>
          </p:nvSpPr>
          <p:spPr>
            <a:xfrm>
              <a:off x="533400" y="2966085"/>
              <a:ext cx="5085398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984439" y="30937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交叉方式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88205" y="30937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5889" y="3518535"/>
              <a:ext cx="3105531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循环 5 次，Q 执行 1 轮；P 再循环 3 次，Q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再执行 1 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95382" y="362521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5，3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023360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4028122"/>
              <a:ext cx="5085398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889" y="4156710"/>
              <a:ext cx="3105531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循环 2 次，Q 执行 1 轮；P 再循环 6 次，Q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再执行 1 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95382" y="426339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2，6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66058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5889" y="4793932"/>
              <a:ext cx="3113151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执行完 B1 被中断，P 执行一次 N:=N+1，Q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再执行 B2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95382" y="4793932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这次计数被清零丢</a:t>
              </a:r>
              <a:br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失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966085"/>
              <a:ext cx="5085398" cy="23374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088130" y="2966085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2-kv-1"/>
          <p:cNvGrpSpPr/>
          <p:nvPr/>
        </p:nvGrpSpPr>
        <p:grpSpPr>
          <a:xfrm>
            <a:off x="5916358" y="1547336"/>
            <a:ext cx="5742242" cy="694945"/>
            <a:chOff x="5916358" y="1547336"/>
            <a:chExt cx="5742242" cy="694945"/>
          </a:xfrm>
        </p:grpSpPr>
        <p:sp>
          <p:nvSpPr>
            <p:cNvPr id="26" name="TextBox 26"/>
            <p:cNvSpPr txBox="1"/>
            <p:nvPr/>
          </p:nvSpPr>
          <p:spPr>
            <a:xfrm>
              <a:off x="5916358" y="1547336"/>
              <a:ext cx="9127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读集 R(p)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63168" y="1547336"/>
              <a:ext cx="29105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 p 执行期间要读取的全部变量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923598" y="185070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16358" y="1963579"/>
              <a:ext cx="9540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写集 W(p)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63168" y="1963579"/>
              <a:ext cx="29105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 p 执行期间要改变的全部变量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4"/>
              <p:cNvSpPr txBox="1">
                <a:spLocks noGrp="1"/>
              </p:cNvSpPr>
              <p:nvPr/>
            </p:nvSpPr>
            <p:spPr>
              <a:xfrm>
                <a:off x="5923598" y="2366962"/>
                <a:ext cx="5735002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∩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 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∪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 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∩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 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∪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 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∩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=∅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58" name="c2-table-3"/>
          <p:cNvGrpSpPr/>
          <p:nvPr/>
        </p:nvGrpSpPr>
        <p:grpSpPr>
          <a:xfrm>
            <a:off x="5918264" y="2947035"/>
            <a:ext cx="5761365" cy="2401824"/>
            <a:chOff x="5918264" y="2947035"/>
            <a:chExt cx="5761365" cy="2401824"/>
          </a:xfrm>
        </p:grpSpPr>
        <p:sp>
          <p:nvSpPr>
            <p:cNvPr id="33" name="Rectangle 33"/>
            <p:cNvSpPr/>
            <p:nvPr/>
          </p:nvSpPr>
          <p:spPr>
            <a:xfrm>
              <a:off x="5923598" y="2947035"/>
              <a:ext cx="5735002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05740" y="307562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语句对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51532" y="30756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26458" y="30756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能否并发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16373" y="3499485"/>
              <a:ext cx="675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 与 S2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88149" y="34994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三个交集都为空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68774" y="349948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923598" y="3790950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923598" y="3795712"/>
              <a:ext cx="573500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16373" y="3924300"/>
              <a:ext cx="675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 与 S3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88149" y="3924300"/>
              <a:ext cx="1540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W(S1)∩R(S3) = {a}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768774" y="392430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923598" y="421576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16373" y="4348162"/>
              <a:ext cx="675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 与 S3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88149" y="4348162"/>
              <a:ext cx="1540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W(S2)∩R(S3) = {b}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768774" y="434816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923598" y="463962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923598" y="4644390"/>
              <a:ext cx="573500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16373" y="4772978"/>
              <a:ext cx="675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S3 与 S4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88149" y="4772978"/>
              <a:ext cx="1540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W(S3)∩R(S4) = {c}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768774" y="477297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923598" y="2947035"/>
              <a:ext cx="5735002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80898" y="2947035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047922" y="2947035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18264" y="5143500"/>
              <a:ext cx="57613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S1: a:=x+y；S2: b:=z+1；S3: c:=a−b；S4: w:=c+1。条件由 Bernstein 于 1966 年提出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59" name="Rectangle 59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511" y="5753576"/>
              <a:ext cx="999629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并发语句：cobegin S1; S2; …; Sn coend（或 parbegin … parend）。执行到它时系统同时创建 n 个进程或线程分别执行 S1…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Sn，全部结束后并发语句才结束。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46492" cy="909257"/>
            <a:chOff x="520446" y="342900"/>
            <a:chExt cx="67464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并发进程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464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与时间有关的错误（1）：一本书被借出两次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4544378" cy="2327910"/>
            <a:chOff x="533400" y="1524000"/>
            <a:chExt cx="4544378" cy="23279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7019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终端 1 和终端 2 执行同样的程序（x 为某书册数，当前 x = 1）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301240"/>
              <a:ext cx="450627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707005"/>
              <a:ext cx="450627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035" y="1937861"/>
              <a:ext cx="2628646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CYCLE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等待借书者;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x &gt;= 1 THEN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 1、2 步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BEGIN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 := x - 1;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 3 步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借书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ELSE 无书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15" name="c1-image-2"/>
          <p:cNvGrpSpPr/>
          <p:nvPr/>
        </p:nvGrpSpPr>
        <p:grpSpPr>
          <a:xfrm>
            <a:off x="533400" y="4042410"/>
            <a:ext cx="4544378" cy="2345532"/>
            <a:chOff x="533400" y="4042410"/>
            <a:chExt cx="4544378" cy="2345532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rcRect l="0" t="20209" r="0" b="20209"/>
            <a:stretch>
              <a:fillRect/>
            </a:stretch>
          </p:blipFill>
          <p:spPr>
            <a:xfrm>
              <a:off x="533400" y="4042410"/>
              <a:ext cx="4544378" cy="2030730"/>
            </a:xfrm>
            <a:prstGeom prst="roundRect">
              <a:avLst>
                <a:gd name="adj" fmla="val 6566"/>
              </a:avLst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1356685" y="6167914"/>
              <a:ext cx="2898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检查和减 1 之间被打断，两人都以为书还在</a:t>
              </a:r>
            </a:p>
          </p:txBody>
        </p:sp>
      </p:grpSp>
      <p:grpSp>
        <p:nvGrpSpPr>
          <p:cNvPr id="29" name="c2-steps-1"/>
          <p:cNvGrpSpPr/>
          <p:nvPr/>
        </p:nvGrpSpPr>
        <p:grpSpPr>
          <a:xfrm>
            <a:off x="5382578" y="1533525"/>
            <a:ext cx="4259555" cy="1878615"/>
            <a:chOff x="5382578" y="1533525"/>
            <a:chExt cx="4259555" cy="1878615"/>
          </a:xfrm>
        </p:grpSpPr>
        <p:sp>
          <p:nvSpPr>
            <p:cNvPr id="16" name="Rectangle 16"/>
            <p:cNvSpPr/>
            <p:nvPr/>
          </p:nvSpPr>
          <p:spPr>
            <a:xfrm>
              <a:off x="5515928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382578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47620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82578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476201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82578" y="28346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476201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94058" y="1567815"/>
              <a:ext cx="1066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终端 1 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95201" y="1861661"/>
              <a:ext cx="3846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1，条件 x ≥ 1 成立，还没来得及减 1 就被切换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94058" y="2218372"/>
              <a:ext cx="1066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终端 2 判断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95201" y="2512219"/>
              <a:ext cx="1684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仍为 1，条件也成立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94058" y="2868930"/>
              <a:ext cx="1608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两个终端先后减 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95201" y="3162776"/>
              <a:ext cx="31749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变为 −1，两位读者都借到了“这一本书”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5382578" y="3590925"/>
            <a:ext cx="6276022" cy="1916430"/>
            <a:chOff x="5382578" y="3590925"/>
            <a:chExt cx="6276022" cy="1916430"/>
          </a:xfrm>
        </p:grpSpPr>
        <p:sp>
          <p:nvSpPr>
            <p:cNvPr id="30" name="Rectangle 30"/>
            <p:cNvSpPr/>
            <p:nvPr/>
          </p:nvSpPr>
          <p:spPr>
            <a:xfrm>
              <a:off x="5382578" y="3590925"/>
              <a:ext cx="6276022" cy="1916430"/>
            </a:xfrm>
            <a:prstGeom prst="roundRect">
              <a:avLst>
                <a:gd name="adj" fmla="val 69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92102" y="3724275"/>
              <a:ext cx="47625" cy="16497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630228" y="380047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708586" y="38361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另一个例子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57975" y="383571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两进程申请两个独占资源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635942" y="425958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794058" y="4196715"/>
              <a:ext cx="41471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P1：申请打印机 → ① 申请输入机 → 执行 → 退出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635942" y="459486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94058" y="4531995"/>
              <a:ext cx="41471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P2：申请输入机 → ② 申请打印机 → 执行 → 退出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23751" y="4862989"/>
              <a:ext cx="55074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 推进到 ①、P2 推进到 ② 时，双方都等对方释放资源，永远等下去。是否发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生同样取决于推进速度。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62897" cy="909257"/>
            <a:chOff x="520446" y="342900"/>
            <a:chExt cx="84628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并发进程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628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与时间有关的错误（2）：整理就绪队列时丢失一个进程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360025" cy="597598"/>
            <a:chOff x="525399" y="1550194"/>
            <a:chExt cx="10360025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360025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就绪队列按优先数从小到大链接：A(2) → B(10) → C(30) → D(35)。E（优先数 25）要插到 B、C 之间，插到一半被中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断。</a:t>
              </a:r>
            </a:p>
          </p:txBody>
        </p:sp>
      </p:grpSp>
      <p:grpSp>
        <p:nvGrpSpPr>
          <p:cNvPr id="90" name="c1-cells-1"/>
          <p:cNvGrpSpPr/>
          <p:nvPr/>
        </p:nvGrpSpPr>
        <p:grpSpPr>
          <a:xfrm>
            <a:off x="527685" y="2257425"/>
            <a:ext cx="5633085" cy="1600200"/>
            <a:chOff x="527685" y="2257425"/>
            <a:chExt cx="5633085" cy="1600200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23969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原队列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04950" y="2257425"/>
              <a:ext cx="46291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13601" y="2396966"/>
              <a:ext cx="245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967865" y="225742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044065" y="24384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2072640" y="24669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415540" y="24241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501265" y="2257425"/>
              <a:ext cx="46291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62963" y="2396966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10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963228" y="225742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039428" y="24384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068002" y="24669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410902" y="24241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496628" y="2257425"/>
              <a:ext cx="46291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59278" y="2396966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30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959542" y="225742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035742" y="24384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4064318" y="24669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407218" y="24241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492942" y="2257425"/>
              <a:ext cx="46291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55593" y="2396966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35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954905" y="225742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018447" y="240458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7685" y="2987516"/>
              <a:ext cx="9074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中断中插入 F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504950" y="2847975"/>
              <a:ext cx="46291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613601" y="2987516"/>
              <a:ext cx="245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967865" y="284797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2044065" y="302895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2072640" y="30575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2415540" y="30146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501265" y="2847975"/>
              <a:ext cx="46291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62963" y="2987516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10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963228" y="284797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3039428" y="302895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3068002" y="30575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3410902" y="30146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496628" y="2847975"/>
              <a:ext cx="46291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559278" y="2987516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F 15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959542" y="284797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4035742" y="302895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4064318" y="30575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4407218" y="30146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492942" y="2847975"/>
              <a:ext cx="46291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555593" y="2987516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30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954905" y="284797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5031105" y="302895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5059680" y="30575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5402580" y="30146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488305" y="2847975"/>
              <a:ext cx="46291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550955" y="2987516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35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951220" y="284797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014762" y="299513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27685" y="3578066"/>
              <a:ext cx="9074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E 继续执行后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504950" y="3438525"/>
              <a:ext cx="46291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613601" y="3578066"/>
              <a:ext cx="2456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967865" y="343852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2044065" y="36195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2072640" y="36480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2415540" y="36052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2501265" y="3438525"/>
              <a:ext cx="46291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562963" y="3578066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10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2963228" y="343852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3039428" y="36195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3068002" y="36480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3410902" y="36052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3496628" y="3438525"/>
              <a:ext cx="46291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559278" y="3578066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25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3959542" y="343852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4035742" y="36195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78" name="Freeform 78"/>
            <p:cNvSpPr/>
            <p:nvPr/>
          </p:nvSpPr>
          <p:spPr>
            <a:xfrm>
              <a:off x="4064318" y="36480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4407218" y="36052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4492942" y="3438525"/>
              <a:ext cx="46291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4555593" y="3578066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30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4954905" y="343852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5031105" y="36195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84" name="Freeform 84"/>
            <p:cNvSpPr/>
            <p:nvPr/>
          </p:nvSpPr>
          <p:spPr>
            <a:xfrm>
              <a:off x="5059680" y="36480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5402580" y="36052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5488305" y="3438525"/>
              <a:ext cx="46291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550955" y="3578066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35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951220" y="343852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014762" y="358568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101" name="c1-card-2"/>
          <p:cNvGrpSpPr/>
          <p:nvPr/>
        </p:nvGrpSpPr>
        <p:grpSpPr>
          <a:xfrm>
            <a:off x="533400" y="4048125"/>
            <a:ext cx="5951220" cy="2183130"/>
            <a:chOff x="533400" y="4048125"/>
            <a:chExt cx="5951220" cy="2183130"/>
          </a:xfrm>
        </p:grpSpPr>
        <p:sp>
          <p:nvSpPr>
            <p:cNvPr id="91" name="Rectangle 91"/>
            <p:cNvSpPr/>
            <p:nvPr/>
          </p:nvSpPr>
          <p:spPr>
            <a:xfrm>
              <a:off x="533400" y="4048125"/>
              <a:ext cx="5951220" cy="2183130"/>
            </a:xfrm>
            <a:prstGeom prst="roundRect">
              <a:avLst>
                <a:gd name="adj" fmla="val 610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742950" y="425767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25259" y="42933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错误原因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742950" y="462153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04799" y="46638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43940" y="463486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进程执行了不正确的交叉（interleave）</a:t>
              </a:r>
            </a:p>
          </p:txBody>
        </p:sp>
        <p:sp>
          <p:nvSpPr>
            <p:cNvPr id="97" name="Ellipse 97"/>
            <p:cNvSpPr/>
            <p:nvPr/>
          </p:nvSpPr>
          <p:spPr>
            <a:xfrm>
              <a:off x="742950" y="495681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04799" y="499910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43940" y="497014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一个进程对公共变量的操作还没结束，另一个进程也来操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作，公共变量失去数据完整性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36473" y="5587841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错误不一定发生，取决于推进速度（时间的函数），所以称为与时间有关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的错误。解决办法是去掉导致错误结果的交叉。</a:t>
              </a:r>
            </a:p>
          </p:txBody>
        </p:sp>
      </p:grpSp>
      <p:grpSp>
        <p:nvGrpSpPr>
          <p:cNvPr id="119" name="c2-steps-1"/>
          <p:cNvGrpSpPr/>
          <p:nvPr/>
        </p:nvGrpSpPr>
        <p:grpSpPr>
          <a:xfrm>
            <a:off x="6789420" y="2266950"/>
            <a:ext cx="4302633" cy="2764440"/>
            <a:chOff x="6789420" y="2266950"/>
            <a:chExt cx="4302633" cy="2764440"/>
          </a:xfrm>
        </p:grpSpPr>
        <p:sp>
          <p:nvSpPr>
            <p:cNvPr id="102" name="Rectangle 102"/>
            <p:cNvSpPr/>
            <p:nvPr/>
          </p:nvSpPr>
          <p:spPr>
            <a:xfrm>
              <a:off x="6922770" y="2409825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6789420" y="22669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883044" y="2340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5" name="Ellipse 105"/>
            <p:cNvSpPr/>
            <p:nvPr/>
          </p:nvSpPr>
          <p:spPr>
            <a:xfrm>
              <a:off x="6789420" y="29175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6883044" y="29913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7" name="Ellipse 107"/>
            <p:cNvSpPr/>
            <p:nvPr/>
          </p:nvSpPr>
          <p:spPr>
            <a:xfrm>
              <a:off x="6789420" y="38033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6883044" y="38771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9" name="Ellipse 109"/>
            <p:cNvSpPr/>
            <p:nvPr/>
          </p:nvSpPr>
          <p:spPr>
            <a:xfrm>
              <a:off x="6789420" y="44538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883044" y="45277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200900" y="2301240"/>
              <a:ext cx="1013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开始插入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7202043" y="2595086"/>
              <a:ext cx="32181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:= B.next（R 指向 C），在 ① 处被中断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200900" y="2951798"/>
              <a:ext cx="1417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中断程序插入 F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7202043" y="3245644"/>
              <a:ext cx="38900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F（优先数 15）完成 I/O 变为就绪，插到 B、C 之间：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B.next := F；F.next := C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200900" y="3837622"/>
              <a:ext cx="1417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返回继续插入 E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7202043" y="4131469"/>
              <a:ext cx="31328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B.next := E；E.next := R，R 仍指向 C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200900" y="44881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202043" y="4782026"/>
              <a:ext cx="3751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直接指向 E，F 从队列中丢失，永远不会被调度</a:t>
              </a:r>
            </a:p>
          </p:txBody>
        </p:sp>
      </p:grpSp>
      <p:grpSp>
        <p:nvGrpSpPr>
          <p:cNvPr id="126" name="c2-callout-2"/>
          <p:cNvGrpSpPr/>
          <p:nvPr/>
        </p:nvGrpSpPr>
        <p:grpSpPr>
          <a:xfrm>
            <a:off x="6789420" y="5209222"/>
            <a:ext cx="4869180" cy="1021080"/>
            <a:chOff x="6789420" y="5209222"/>
            <a:chExt cx="4869180" cy="1021080"/>
          </a:xfrm>
        </p:grpSpPr>
        <p:sp>
          <p:nvSpPr>
            <p:cNvPr id="120" name="Rectangle 120"/>
            <p:cNvSpPr/>
            <p:nvPr/>
          </p:nvSpPr>
          <p:spPr>
            <a:xfrm>
              <a:off x="6789420" y="5209222"/>
              <a:ext cx="4869180" cy="1021080"/>
            </a:xfrm>
            <a:prstGeom prst="roundRect">
              <a:avLst>
                <a:gd name="adj" fmla="val 1119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24" name="Group 124"/>
            <p:cNvGrpSpPr/>
            <p:nvPr/>
          </p:nvGrpSpPr>
          <p:grpSpPr>
            <a:xfrm>
              <a:off x="6994208" y="5620703"/>
              <a:ext cx="200026" cy="200026"/>
              <a:chOff x="6994208" y="5620703"/>
              <a:chExt cx="200026" cy="200026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6994208" y="56207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7094220" y="56873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3" name="Freeform 123"/>
              <p:cNvSpPr/>
              <p:nvPr/>
            </p:nvSpPr>
            <p:spPr>
              <a:xfrm>
                <a:off x="7083108" y="57207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25" name="TextBox 125"/>
            <p:cNvSpPr txBox="1"/>
            <p:nvPr/>
          </p:nvSpPr>
          <p:spPr>
            <a:xfrm>
              <a:off x="7296150" y="5477828"/>
              <a:ext cx="37490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R:=C; B:=E; E:=R，指的是改写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B、E 结点的指针域。</a:t>
              </a:r>
            </a:p>
          </p:txBody>
        </p:sp>
      </p:grpSp>
      <p:grpSp>
        <p:nvGrpSpPr>
          <p:cNvPr id="12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7" name="TextBox 12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07583" cy="3637597"/>
            <a:chOff x="667512" y="1835468"/>
            <a:chExt cx="5807583" cy="36375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进程互斥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同一组共享变量的临界区，任何时刻最多一个进程在里面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9225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4.2.1–4.2.2 共享变量、临界区与进程互斥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5568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4.2.3.1 软件实现：Dekker、Peterson、Lamport、Eisenberg–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McGuire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88251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25365"/>
              <a:ext cx="35918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4.2.3.2 硬件实现：TS、swap、关中断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3684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179695"/>
              <a:ext cx="2650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4.2.4 多处理机环境下的互斥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进程互斥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临界区与进程互斥：进出临界区要满足三条要求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189798"/>
            <a:chOff x="533400" y="1524000"/>
            <a:chExt cx="5410200" cy="21897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89798"/>
            </a:xfrm>
            <a:prstGeom prst="roundRect">
              <a:avLst>
                <a:gd name="adj" fmla="val 60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2309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90297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367" y="1750695"/>
              <a:ext cx="7460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4.2.1 定义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共享变量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：多个进程都需要访问的变量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43173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37553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临界区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（critical region）：访问共享变量的程序段，按所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访问的共享变量分组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8190" y="2931319"/>
              <a:ext cx="4612894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记法：shared &lt;一组变量&gt;；region &lt;一组变量&gt; do &lt;语句&gt;。例：shared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B: array[0..n-1] of integer，各进程用 region B do begin … end 访问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B。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889058"/>
            <a:ext cx="5410200" cy="2377440"/>
            <a:chOff x="533400" y="3889058"/>
            <a:chExt cx="5410200" cy="2377440"/>
          </a:xfrm>
        </p:grpSpPr>
        <p:sp>
          <p:nvSpPr>
            <p:cNvPr id="17" name="Rectangle 17"/>
            <p:cNvSpPr/>
            <p:nvPr/>
          </p:nvSpPr>
          <p:spPr>
            <a:xfrm>
              <a:off x="533400" y="3889058"/>
              <a:ext cx="5410200" cy="2377440"/>
            </a:xfrm>
            <a:prstGeom prst="roundRect">
              <a:avLst>
                <a:gd name="adj" fmla="val 56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022408"/>
              <a:ext cx="47625" cy="211074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3905" y="4081462"/>
              <a:ext cx="116967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4366" y="4115752"/>
              <a:ext cx="10287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4.2.2 进程互斥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443769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多个进程不能同时进入关于同一组共享变量的临界区，否则可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能发生与时间有关的错误。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2478" y="505396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8497" y="499776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任何时刻最多一个进程处于同一组共享变量的相同临界区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72478" y="535686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8497" y="5300662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也最多一个进程处于同一组共享变量的不同临界区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8190" y="559927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互斥是相对于共享变量而言的。</a:t>
              </a:r>
            </a:p>
          </p:txBody>
        </p:sp>
      </p:grpSp>
      <p:grpSp>
        <p:nvGrpSpPr>
          <p:cNvPr id="33" name="c2-code-1"/>
          <p:cNvGrpSpPr/>
          <p:nvPr/>
        </p:nvGrpSpPr>
        <p:grpSpPr>
          <a:xfrm>
            <a:off x="6248400" y="1524000"/>
            <a:ext cx="5410200" cy="1640205"/>
            <a:chOff x="6248400" y="1524000"/>
            <a:chExt cx="5410200" cy="1640205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797" y="1675924"/>
              <a:ext cx="17516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4.2.3 进程使用临界区的框架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67450" y="2086928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67450" y="2465070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76416" y="1937385"/>
              <a:ext cx="2097596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entry section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进入区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critical section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exit section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退出区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remainder section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until false</a:t>
              </a:r>
            </a:p>
          </p:txBody>
        </p:sp>
      </p:grpSp>
      <p:grpSp>
        <p:nvGrpSpPr>
          <p:cNvPr id="48" name="c2-table-2"/>
          <p:cNvGrpSpPr/>
          <p:nvPr/>
        </p:nvGrpSpPr>
        <p:grpSpPr>
          <a:xfrm>
            <a:off x="6248400" y="3339465"/>
            <a:ext cx="5410200" cy="2023110"/>
            <a:chOff x="6248400" y="3339465"/>
            <a:chExt cx="5410200" cy="2023110"/>
          </a:xfrm>
        </p:grpSpPr>
        <p:sp>
          <p:nvSpPr>
            <p:cNvPr id="34" name="Rectangle 34"/>
            <p:cNvSpPr/>
            <p:nvPr/>
          </p:nvSpPr>
          <p:spPr>
            <a:xfrm>
              <a:off x="6248400" y="3339465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65366" y="34637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70466" y="34637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48412" y="3869531"/>
              <a:ext cx="1110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互斥进入 mutual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exclusion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96275" y="396954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一次只允许一个进程进入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43462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435102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8412" y="4475321"/>
              <a:ext cx="13585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空闲让进 progress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96275" y="447532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临界区空闲时立即放行一个申请者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47520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8412" y="4881086"/>
              <a:ext cx="1200201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有限等待 bounded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waiting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96275" y="4981099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至多等有限个进程进出后就能进入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339465"/>
              <a:ext cx="5410200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191500" y="3339465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llout-3"/>
          <p:cNvGrpSpPr/>
          <p:nvPr/>
        </p:nvGrpSpPr>
        <p:grpSpPr>
          <a:xfrm>
            <a:off x="6248400" y="5537835"/>
            <a:ext cx="5410200" cy="729615"/>
            <a:chOff x="6248400" y="5537835"/>
            <a:chExt cx="5410200" cy="729615"/>
          </a:xfrm>
        </p:grpSpPr>
        <p:sp>
          <p:nvSpPr>
            <p:cNvPr id="49" name="Rectangle 49"/>
            <p:cNvSpPr/>
            <p:nvPr/>
          </p:nvSpPr>
          <p:spPr>
            <a:xfrm>
              <a:off x="6248400" y="553783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441129" y="5797986"/>
              <a:ext cx="224134" cy="192560"/>
              <a:chOff x="6441129" y="5797986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553200" y="586835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441129" y="579798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53200" y="594614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755892" y="5683568"/>
              <a:ext cx="413708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嵌套临界区：一个进程在 region x1,x2 内再进 region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y1,y2，另一个顺序相反，两者可能互相等待。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进程互斥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软件实现的三次尝试：每次都缺一条要求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50982" cy="597598"/>
            <a:chOff x="525399" y="1550194"/>
            <a:chExt cx="10650982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50982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只给出 P0 的代码，P1 把下标 0、1 对调。软件方法不需要特殊硬件，单 CPU、多 CPU 都能用，但都是忙式等待：等待者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处于运行或就绪状态，反复测试条件。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2257425"/>
            <a:ext cx="3505200" cy="2125028"/>
            <a:chOff x="533400" y="2257425"/>
            <a:chExt cx="3505200" cy="2125028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3505200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409349"/>
              <a:ext cx="13974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尝试 1：轮流标志 turn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672239"/>
              <a:ext cx="1654302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int turn;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P0: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(turn == 1) 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临界区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turn = 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其余代码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while (1);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572952"/>
            <a:ext cx="3505200" cy="1538288"/>
            <a:chOff x="533400" y="4572952"/>
            <a:chExt cx="3505200" cy="1538288"/>
          </a:xfrm>
        </p:grpSpPr>
        <p:sp>
          <p:nvSpPr>
            <p:cNvPr id="13" name="Rectangle 13"/>
            <p:cNvSpPr/>
            <p:nvPr/>
          </p:nvSpPr>
          <p:spPr>
            <a:xfrm>
              <a:off x="533400" y="4572952"/>
              <a:ext cx="3505200" cy="1538288"/>
            </a:xfrm>
            <a:prstGeom prst="roundRect">
              <a:avLst>
                <a:gd name="adj" fmla="val 743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26129" y="5238868"/>
              <a:ext cx="224134" cy="192560"/>
              <a:chOff x="726129" y="5238868"/>
              <a:chExt cx="224134" cy="1925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38200" y="53092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26129" y="52388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3870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4823460"/>
              <a:ext cx="259651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满足互斥，</a:t>
              </a: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不满足空闲让进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：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P0、P1 只能严格交替。turn =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 而 P1 不想进时，P0 也进不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去。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4343400" y="2257425"/>
            <a:ext cx="3505200" cy="2327910"/>
            <a:chOff x="4343400" y="2257425"/>
            <a:chExt cx="3505200" cy="2327910"/>
          </a:xfrm>
        </p:grpSpPr>
        <p:sp>
          <p:nvSpPr>
            <p:cNvPr id="20" name="Rectangle 20"/>
            <p:cNvSpPr/>
            <p:nvPr/>
          </p:nvSpPr>
          <p:spPr>
            <a:xfrm>
              <a:off x="4343400" y="2257425"/>
              <a:ext cx="3505200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71797" y="2409349"/>
              <a:ext cx="14469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尝试 2：先查对方再举手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71035" y="2672239"/>
              <a:ext cx="1967230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boolean flag[2];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false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P0: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(flag[1]) 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flag[0] = true;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临界区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flag[0] = false;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其余代码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while (1);</a:t>
              </a:r>
            </a:p>
          </p:txBody>
        </p:sp>
      </p:grpSp>
      <p:grpSp>
        <p:nvGrpSpPr>
          <p:cNvPr id="30" name="c2-callout-2"/>
          <p:cNvGrpSpPr/>
          <p:nvPr/>
        </p:nvGrpSpPr>
        <p:grpSpPr>
          <a:xfrm>
            <a:off x="4343400" y="4775835"/>
            <a:ext cx="3505200" cy="1335405"/>
            <a:chOff x="4343400" y="4775835"/>
            <a:chExt cx="3505200" cy="1335405"/>
          </a:xfrm>
        </p:grpSpPr>
        <p:sp>
          <p:nvSpPr>
            <p:cNvPr id="24" name="Rectangle 24"/>
            <p:cNvSpPr/>
            <p:nvPr/>
          </p:nvSpPr>
          <p:spPr>
            <a:xfrm>
              <a:off x="4343400" y="4775835"/>
              <a:ext cx="3505200" cy="1335405"/>
            </a:xfrm>
            <a:prstGeom prst="roundRect">
              <a:avLst>
                <a:gd name="adj" fmla="val 85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536129" y="5339833"/>
              <a:ext cx="224134" cy="192560"/>
              <a:chOff x="4536129" y="5339833"/>
              <a:chExt cx="224134" cy="19256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648200" y="54102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536129" y="53398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648200" y="54879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4850130" y="5062538"/>
              <a:ext cx="2682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不满足互斥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：两进程先后检查时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flag 都为 false，随后都置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true 并进入临界区。</a:t>
              </a:r>
            </a:p>
          </p:txBody>
        </p:sp>
      </p:grpSp>
      <p:grpSp>
        <p:nvGrpSpPr>
          <p:cNvPr id="34" name="c3-code-1"/>
          <p:cNvGrpSpPr/>
          <p:nvPr/>
        </p:nvGrpSpPr>
        <p:grpSpPr>
          <a:xfrm>
            <a:off x="8153400" y="2257425"/>
            <a:ext cx="3505200" cy="2327910"/>
            <a:chOff x="8153400" y="2257425"/>
            <a:chExt cx="3505200" cy="2327910"/>
          </a:xfrm>
        </p:grpSpPr>
        <p:sp>
          <p:nvSpPr>
            <p:cNvPr id="31" name="Rectangle 31"/>
            <p:cNvSpPr/>
            <p:nvPr/>
          </p:nvSpPr>
          <p:spPr>
            <a:xfrm>
              <a:off x="8153400" y="2257425"/>
              <a:ext cx="3505200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81797" y="2409349"/>
              <a:ext cx="14469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尝试 3：先举手再查对方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81035" y="2672239"/>
              <a:ext cx="1967230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boolean flag[2];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false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P0: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flag[0] = true;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(flag[1]) 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临界区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flag[0] = false;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其余代码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while (1);</a:t>
              </a:r>
            </a:p>
          </p:txBody>
        </p:sp>
      </p:grpSp>
      <p:grpSp>
        <p:nvGrpSpPr>
          <p:cNvPr id="41" name="c3-callout-2"/>
          <p:cNvGrpSpPr/>
          <p:nvPr/>
        </p:nvGrpSpPr>
        <p:grpSpPr>
          <a:xfrm>
            <a:off x="8153400" y="4775835"/>
            <a:ext cx="3505200" cy="1335405"/>
            <a:chOff x="8153400" y="4775835"/>
            <a:chExt cx="3505200" cy="1335405"/>
          </a:xfrm>
        </p:grpSpPr>
        <p:sp>
          <p:nvSpPr>
            <p:cNvPr id="35" name="Rectangle 35"/>
            <p:cNvSpPr/>
            <p:nvPr/>
          </p:nvSpPr>
          <p:spPr>
            <a:xfrm>
              <a:off x="8153400" y="4775835"/>
              <a:ext cx="3505200" cy="1335405"/>
            </a:xfrm>
            <a:prstGeom prst="roundRect">
              <a:avLst>
                <a:gd name="adj" fmla="val 85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346129" y="5339833"/>
              <a:ext cx="224134" cy="192560"/>
              <a:chOff x="8346129" y="5339833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458200" y="54102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46129" y="53398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458200" y="54879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8660130" y="4924425"/>
              <a:ext cx="26822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不满足空闲让进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：两进程都先置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flag 为 true，然后都在 while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中空转，P0、P1 谁也进不去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（原课件误写为 P1、P2）。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36066" cy="909257"/>
            <a:chOff x="520446" y="342900"/>
            <a:chExt cx="79360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进程互斥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360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Dekker 算法与 Peterson 算法：用 turn 打破僵持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3785235" cy="3091815"/>
            <a:chOff x="533400" y="1524000"/>
            <a:chExt cx="3785235" cy="30918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785235" cy="3091815"/>
            </a:xfrm>
            <a:prstGeom prst="roundRect">
              <a:avLst>
                <a:gd name="adj" fmla="val 30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2020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Dekker 算法（P0）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11" y="1936480"/>
              <a:ext cx="1934045" cy="2599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8"/>
                </a:lnSpc>
              </a:pP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int flag[2];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初值 0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int turn;  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0 或 1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 {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flag[0] =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(flag[1])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(turn == 1) {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flag[0] = 0;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while (turn == 1) skip;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flag[0] = 1;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临界区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turn =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flag[0] = 0;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其余代码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while (1);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790122"/>
            <a:ext cx="3785235" cy="1475422"/>
            <a:chOff x="533400" y="4790122"/>
            <a:chExt cx="3785235" cy="1475422"/>
          </a:xfrm>
        </p:grpSpPr>
        <p:sp>
          <p:nvSpPr>
            <p:cNvPr id="11" name="Rectangle 11"/>
            <p:cNvSpPr/>
            <p:nvPr/>
          </p:nvSpPr>
          <p:spPr>
            <a:xfrm>
              <a:off x="533400" y="4790122"/>
              <a:ext cx="3785235" cy="1475422"/>
            </a:xfrm>
            <a:prstGeom prst="roundRect">
              <a:avLst>
                <a:gd name="adj" fmla="val 774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428298"/>
              <a:ext cx="200026" cy="200025"/>
              <a:chOff x="738188" y="5428298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4282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4727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5838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4936808"/>
              <a:ext cx="2928366" cy="12584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双方都举手时，turn 指向谁谁坚持：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P0 放下 flag[0] 去等 turn，P1 进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入；P1 离开时写 turn = 0，P0 再举手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进入。turn 只在离开时改写，两人不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会同时退让。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4623435" y="1524000"/>
            <a:ext cx="3575685" cy="2229802"/>
            <a:chOff x="4623435" y="1524000"/>
            <a:chExt cx="3575685" cy="2229802"/>
          </a:xfrm>
        </p:grpSpPr>
        <p:sp>
          <p:nvSpPr>
            <p:cNvPr id="18" name="Rectangle 18"/>
            <p:cNvSpPr/>
            <p:nvPr/>
          </p:nvSpPr>
          <p:spPr>
            <a:xfrm>
              <a:off x="4623435" y="1524000"/>
              <a:ext cx="3575685" cy="2229802"/>
            </a:xfrm>
            <a:prstGeom prst="roundRect">
              <a:avLst>
                <a:gd name="adj" fmla="val 427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51832" y="1675924"/>
              <a:ext cx="1354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Peterson 算法（P0）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51946" y="1936480"/>
              <a:ext cx="2133117" cy="17379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8"/>
                </a:lnSpc>
              </a:pP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boolean flag[2];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int turn;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 {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flag[0] = true;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turn =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(flag[1] &amp;&amp; turn == 1) 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临界区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flag[0] = false;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其余代码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while (1);</a:t>
              </a:r>
            </a:p>
          </p:txBody>
        </p:sp>
      </p:grpSp>
      <p:grpSp>
        <p:nvGrpSpPr>
          <p:cNvPr id="28" name="c2-callout-2"/>
          <p:cNvGrpSpPr/>
          <p:nvPr/>
        </p:nvGrpSpPr>
        <p:grpSpPr>
          <a:xfrm>
            <a:off x="4623435" y="3929062"/>
            <a:ext cx="3575685" cy="729615"/>
            <a:chOff x="4623435" y="3929062"/>
            <a:chExt cx="3575685" cy="729615"/>
          </a:xfrm>
        </p:grpSpPr>
        <p:sp>
          <p:nvSpPr>
            <p:cNvPr id="22" name="Rectangle 22"/>
            <p:cNvSpPr/>
            <p:nvPr/>
          </p:nvSpPr>
          <p:spPr>
            <a:xfrm>
              <a:off x="4623435" y="3929062"/>
              <a:ext cx="357568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828223" y="4193858"/>
              <a:ext cx="200026" cy="200026"/>
              <a:chOff x="4828223" y="4193858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828223" y="41938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928235" y="42605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917123" y="42938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130927" y="4074795"/>
              <a:ext cx="222542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更正：原课件把 Dekker 写作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“Dekkel”。</a:t>
              </a:r>
            </a:p>
          </p:txBody>
        </p:sp>
      </p:grpSp>
      <p:grpSp>
        <p:nvGrpSpPr>
          <p:cNvPr id="34" name="c2-callout-3"/>
          <p:cNvGrpSpPr/>
          <p:nvPr/>
        </p:nvGrpSpPr>
        <p:grpSpPr>
          <a:xfrm>
            <a:off x="4623435" y="4832985"/>
            <a:ext cx="3575685" cy="1432560"/>
            <a:chOff x="4623435" y="4832985"/>
            <a:chExt cx="3575685" cy="1432560"/>
          </a:xfrm>
        </p:grpSpPr>
        <p:sp>
          <p:nvSpPr>
            <p:cNvPr id="29" name="Rectangle 29"/>
            <p:cNvSpPr/>
            <p:nvPr/>
          </p:nvSpPr>
          <p:spPr>
            <a:xfrm>
              <a:off x="4623435" y="4832985"/>
              <a:ext cx="3575685" cy="1432560"/>
            </a:xfrm>
            <a:prstGeom prst="roundRect">
              <a:avLst>
                <a:gd name="adj" fmla="val 797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4828223" y="5449255"/>
              <a:ext cx="200023" cy="200023"/>
              <a:chOff x="4828223" y="5449255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828223" y="54492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961573" y="55159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5130927" y="5082540"/>
              <a:ext cx="2722626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互斥的证明：两人同时在临界区则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flag 两项都为 true，而 turn 只有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一个值，最后写 turn 的那一方必定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停在 while 上，矛盾。</a:t>
              </a:r>
            </a:p>
          </p:txBody>
        </p:sp>
      </p:grpSp>
      <p:grpSp>
        <p:nvGrpSpPr>
          <p:cNvPr id="40" name="c3-card-1"/>
          <p:cNvGrpSpPr/>
          <p:nvPr/>
        </p:nvGrpSpPr>
        <p:grpSpPr>
          <a:xfrm>
            <a:off x="8503920" y="1524000"/>
            <a:ext cx="3154680" cy="1987868"/>
            <a:chOff x="8503920" y="1524000"/>
            <a:chExt cx="3154680" cy="1987868"/>
          </a:xfrm>
        </p:grpSpPr>
        <p:sp>
          <p:nvSpPr>
            <p:cNvPr id="35" name="Rectangle 35"/>
            <p:cNvSpPr/>
            <p:nvPr/>
          </p:nvSpPr>
          <p:spPr>
            <a:xfrm>
              <a:off x="8503920" y="1524000"/>
              <a:ext cx="3154680" cy="1987868"/>
            </a:xfrm>
            <a:prstGeom prst="roundRect">
              <a:avLst>
                <a:gd name="adj" fmla="val 670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696325" y="1716405"/>
              <a:ext cx="671512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80023" y="1750695"/>
              <a:ext cx="505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Dekker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89467" y="2072640"/>
              <a:ext cx="259403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在尝试 3 上加 turn：双方都举手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时，turn 指向的一方坚持等待，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另一方放下 flag，等 turn 轮到自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己再重新举手。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90610" y="3143726"/>
              <a:ext cx="17905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离开时把 turn 让给对方。</a:t>
              </a:r>
            </a:p>
          </p:txBody>
        </p:sp>
      </p:grpSp>
      <p:grpSp>
        <p:nvGrpSpPr>
          <p:cNvPr id="46" name="c3-card-2"/>
          <p:cNvGrpSpPr/>
          <p:nvPr/>
        </p:nvGrpSpPr>
        <p:grpSpPr>
          <a:xfrm>
            <a:off x="8503920" y="3686175"/>
            <a:ext cx="3154680" cy="2579370"/>
            <a:chOff x="8503920" y="3686175"/>
            <a:chExt cx="3154680" cy="2579370"/>
          </a:xfrm>
        </p:grpSpPr>
        <p:sp>
          <p:nvSpPr>
            <p:cNvPr id="41" name="Rectangle 41"/>
            <p:cNvSpPr/>
            <p:nvPr/>
          </p:nvSpPr>
          <p:spPr>
            <a:xfrm>
              <a:off x="8503920" y="3686175"/>
              <a:ext cx="3154680" cy="2579370"/>
            </a:xfrm>
            <a:prstGeom prst="roundRect">
              <a:avLst>
                <a:gd name="adj" fmla="val 517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696325" y="3878580"/>
              <a:ext cx="825818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774592" y="3912870"/>
              <a:ext cx="6683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Peterson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89467" y="4235768"/>
              <a:ext cx="264547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先置 flag 表示想进，再把 turn 让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给对方。两方同时想进时，后写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turn 的一方等待。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90610" y="5048726"/>
              <a:ext cx="25717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两个算法都满足互斥、空闲让进、有限等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待，但都是忙式等待。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85581" cy="909257"/>
            <a:chOff x="520446" y="342900"/>
            <a:chExt cx="77855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进程互斥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855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Lamport 面包店算法：取号，按号码从小到大进入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747010"/>
            <a:chOff x="533400" y="1524000"/>
            <a:chExt cx="5410200" cy="27470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747010"/>
            </a:xfrm>
            <a:prstGeom prst="roundRect">
              <a:avLst>
                <a:gd name="adj" fmla="val 346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2149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 Pi（n 个进程）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11" y="1936480"/>
              <a:ext cx="2929407" cy="225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8"/>
                </a:lnSpc>
              </a:pP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boolean choosing[n];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初值 false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int number[n];      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初值 0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进入：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 choosing[i] = true;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2 number[i] = max(number[0..n-1]) + 1;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3 choosing[i] = false;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4 for (j = 0; j &lt; n; j++) {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5   while (choosing[j]) skip;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6   while (number[j] != 0 &amp;&amp;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7     (number[j], j) &lt; (number[i], i)) skip;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8 }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临界区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离开：number[i] = 0;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446270"/>
            <a:ext cx="5410200" cy="1766888"/>
            <a:chOff x="533400" y="4446270"/>
            <a:chExt cx="5410200" cy="1766888"/>
          </a:xfrm>
        </p:grpSpPr>
        <p:sp>
          <p:nvSpPr>
            <p:cNvPr id="11" name="Rectangle 11"/>
            <p:cNvSpPr/>
            <p:nvPr/>
          </p:nvSpPr>
          <p:spPr>
            <a:xfrm>
              <a:off x="533400" y="4446270"/>
              <a:ext cx="5410200" cy="1766888"/>
            </a:xfrm>
            <a:prstGeom prst="roundRect">
              <a:avLst>
                <a:gd name="adj" fmla="val 75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579620"/>
              <a:ext cx="47625" cy="150018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3905" y="463867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5345" y="46729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思想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4994910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像面包店发号：想进临界区的进程先取号，按号码从小到大依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次进入。取号本身没有互斥，两个进程可能取到相同号码，这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时按进程编号：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8190" y="5807869"/>
              <a:ext cx="3034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(a, b) &lt; (c, d) ⇔ a &lt; c，或 a = c 且 b &lt; d。</a:t>
              </a:r>
            </a:p>
          </p:txBody>
        </p:sp>
      </p:grpSp>
      <p:grpSp>
        <p:nvGrpSpPr>
          <p:cNvPr id="35" name="c2-steps-1"/>
          <p:cNvGrpSpPr/>
          <p:nvPr/>
        </p:nvGrpSpPr>
        <p:grpSpPr>
          <a:xfrm>
            <a:off x="6248400" y="1533525"/>
            <a:ext cx="5118735" cy="2487454"/>
            <a:chOff x="6248400" y="1533525"/>
            <a:chExt cx="5118735" cy="2487454"/>
          </a:xfrm>
        </p:grpSpPr>
        <p:sp>
          <p:nvSpPr>
            <p:cNvPr id="18" name="Rectangle 18"/>
            <p:cNvSpPr/>
            <p:nvPr/>
          </p:nvSpPr>
          <p:spPr>
            <a:xfrm>
              <a:off x="6381750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248400" y="21202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42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248400" y="27070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42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248400" y="35013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2024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0642" y="1564957"/>
              <a:ext cx="1533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去掉第 1、3、5 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61785" y="1833086"/>
              <a:ext cx="35967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算出 max + 1 = 1，还没写入 number[1] 就被切换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0642" y="2152650"/>
              <a:ext cx="10229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取号进入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1785" y="2419826"/>
              <a:ext cx="39208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也取到 1，比较时 number[1] 仍为 0，直接进入临界区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0642" y="2739390"/>
              <a:ext cx="659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继续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1785" y="3006566"/>
              <a:ext cx="4705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写入 number[1] = 1，比较 (1, 2) &lt; (1, 1) 不成立，也进入临界区，</a:t>
              </a:r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互斥</a:t>
              </a:r>
              <a:br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被破坏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0642" y="3532822"/>
              <a:ext cx="1408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choosing 的作用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1785" y="3800951"/>
              <a:ext cx="4546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会在第 5 行等 P1 写完号码再比较，于是发现 (1, 1) 更小而等待</a:t>
              </a:r>
            </a:p>
          </p:txBody>
        </p:sp>
      </p:grpSp>
      <p:grpSp>
        <p:nvGrpSpPr>
          <p:cNvPr id="50" name="c2-table-2"/>
          <p:cNvGrpSpPr/>
          <p:nvPr/>
        </p:nvGrpSpPr>
        <p:grpSpPr>
          <a:xfrm>
            <a:off x="6248400" y="4190048"/>
            <a:ext cx="5410200" cy="2023110"/>
            <a:chOff x="6248400" y="4190048"/>
            <a:chExt cx="5410200" cy="2023110"/>
          </a:xfrm>
        </p:grpSpPr>
        <p:sp>
          <p:nvSpPr>
            <p:cNvPr id="36" name="Rectangle 36"/>
            <p:cNvSpPr/>
            <p:nvPr/>
          </p:nvSpPr>
          <p:spPr>
            <a:xfrm>
              <a:off x="6248400" y="4190048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87223" y="43143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66162" y="431434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为什么满足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48412" y="48201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39038" y="4720114"/>
              <a:ext cx="36741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二元组 (number[i], i) 最小的进程进入，其他进程在两个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 处等待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51968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5201602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8412" y="54259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空闲让进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39038" y="5325904"/>
              <a:ext cx="38519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只有一个进程想进时立即进入；多个时由二元组在有限时间内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58026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8412" y="5931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有限等待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39038" y="5931694"/>
              <a:ext cx="3530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排在 Pi 前面的竞争者有限，最坏等 n − 1 个进程进出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4190048"/>
              <a:ext cx="5410200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434262" y="4190048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03737" cy="909257"/>
            <a:chOff x="520446" y="342900"/>
            <a:chExt cx="89037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进程互斥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037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Eisenberg–McGuire 算法：按 turn 开始的循环次序排队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627245" cy="3260408"/>
            <a:chOff x="533400" y="1524000"/>
            <a:chExt cx="4627245" cy="32604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627245" cy="3260408"/>
            </a:xfrm>
            <a:prstGeom prst="roundRect">
              <a:avLst>
                <a:gd name="adj" fmla="val 292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4375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Pi 进入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568" y="1936814"/>
              <a:ext cx="2717749" cy="27731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48"/>
                </a:lnSpc>
              </a:pPr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enum {idle, want_in, in_cs} flag[n];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int turn;  </a:t>
              </a:r>
              <a:r>
                <a:rPr lang="zh-CN" sz="10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初值任意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 {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flag[i] = want_in;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j = turn;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(j != i)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(flag[j] != idle) j = turn;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 j = (j + 1) % n;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flag[i] = in_cs;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j = 0;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(j &lt; n &amp;&amp;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(j == i || flag[j] != in_cs))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j++;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while (j != n);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turn = i;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969192"/>
            <a:ext cx="4627245" cy="1281112"/>
            <a:chOff x="533400" y="4969192"/>
            <a:chExt cx="4627245" cy="1281112"/>
          </a:xfrm>
        </p:grpSpPr>
        <p:sp>
          <p:nvSpPr>
            <p:cNvPr id="11" name="Rectangle 11"/>
            <p:cNvSpPr/>
            <p:nvPr/>
          </p:nvSpPr>
          <p:spPr>
            <a:xfrm>
              <a:off x="533400" y="4969192"/>
              <a:ext cx="4627245" cy="1281112"/>
            </a:xfrm>
            <a:prstGeom prst="roundRect">
              <a:avLst>
                <a:gd name="adj" fmla="val 892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5510215"/>
              <a:ext cx="200023" cy="200023"/>
              <a:chOff x="738188" y="5510215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5102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55768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511" y="5116354"/>
              <a:ext cx="3630295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互斥为什么成立：进程先把 flag[i] 置成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in_cs 再扫描别人的 flag。后置位的一方，整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个扫描都在先置位者之后，只要对方还在临界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区就一定看见 in_cs，只能退回外层重来。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5465445" y="1524000"/>
            <a:ext cx="2628900" cy="1423035"/>
            <a:chOff x="5465445" y="1524000"/>
            <a:chExt cx="2628900" cy="1423035"/>
          </a:xfrm>
        </p:grpSpPr>
        <p:sp>
          <p:nvSpPr>
            <p:cNvPr id="17" name="Rectangle 17"/>
            <p:cNvSpPr/>
            <p:nvPr/>
          </p:nvSpPr>
          <p:spPr>
            <a:xfrm>
              <a:off x="5465445" y="1524000"/>
              <a:ext cx="2628900" cy="1423035"/>
            </a:xfrm>
            <a:prstGeom prst="roundRect">
              <a:avLst>
                <a:gd name="adj" fmla="val 66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593842" y="1675924"/>
              <a:ext cx="4375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Pi 离开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93613" y="1936814"/>
              <a:ext cx="1649044" cy="9348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48"/>
                </a:lnSpc>
              </a:pPr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 = (turn + 1) % n;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while (flag[j] == idle)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j = (j + 1) % n;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turn = j;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flag[i] = idle;</a:t>
              </a:r>
            </a:p>
          </p:txBody>
        </p:sp>
      </p:grpSp>
      <p:grpSp>
        <p:nvGrpSpPr>
          <p:cNvPr id="35" name="c2-table-2"/>
          <p:cNvGrpSpPr/>
          <p:nvPr/>
        </p:nvGrpSpPr>
        <p:grpSpPr>
          <a:xfrm>
            <a:off x="5465445" y="3132772"/>
            <a:ext cx="2628900" cy="1720215"/>
            <a:chOff x="5465445" y="3132772"/>
            <a:chExt cx="2628900" cy="1720215"/>
          </a:xfrm>
        </p:grpSpPr>
        <p:sp>
          <p:nvSpPr>
            <p:cNvPr id="21" name="Rectangle 21"/>
            <p:cNvSpPr/>
            <p:nvPr/>
          </p:nvSpPr>
          <p:spPr>
            <a:xfrm>
              <a:off x="5465445" y="3132772"/>
              <a:ext cx="26289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79118" y="3264218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flag[i]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16140" y="32642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70792" y="3693795"/>
              <a:ext cx="3005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idle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79514" y="36937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不想进入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465445" y="3988118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65445" y="3992880"/>
              <a:ext cx="26289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70792" y="4124325"/>
              <a:ext cx="656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want_in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79514" y="412432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想进入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465445" y="4418648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70792" y="4554855"/>
              <a:ext cx="4362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in_cs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79514" y="455485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想进入或已进入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465445" y="3132772"/>
              <a:ext cx="26289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69405" y="313277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3-steps-1"/>
          <p:cNvGrpSpPr/>
          <p:nvPr/>
        </p:nvGrpSpPr>
        <p:grpSpPr>
          <a:xfrm>
            <a:off x="8399145" y="1533525"/>
            <a:ext cx="3076956" cy="2895029"/>
            <a:chOff x="8399145" y="1533525"/>
            <a:chExt cx="3076956" cy="2895029"/>
          </a:xfrm>
        </p:grpSpPr>
        <p:sp>
          <p:nvSpPr>
            <p:cNvPr id="36" name="Rectangle 36"/>
            <p:cNvSpPr/>
            <p:nvPr/>
          </p:nvSpPr>
          <p:spPr>
            <a:xfrm>
              <a:off x="8532495" y="1676400"/>
              <a:ext cx="19050" cy="19050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399145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9276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8399145" y="259651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92769" y="26703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8399145" y="3438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92769" y="3512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11006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12149" y="1846898"/>
              <a:ext cx="266395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turn 往后数到 i，中间有人不空闲就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turn 重数；全部空闲才把自己置为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in_cs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11006" y="262937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查冲突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12149" y="2909888"/>
              <a:ext cx="26182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除自己外没有 in_cs 才进入（互斥），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否则重来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11006" y="3471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12149" y="3751898"/>
              <a:ext cx="246583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离开时按 turn+1, …, n−1, 0, …,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turn−1 找第一个不空闲者设为 turn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（有限等待）</a:t>
              </a:r>
            </a:p>
          </p:txBody>
        </p:sp>
      </p:grpSp>
      <p:grpSp>
        <p:nvGrpSpPr>
          <p:cNvPr id="56" name="c3-callout-2"/>
          <p:cNvGrpSpPr/>
          <p:nvPr/>
        </p:nvGrpSpPr>
        <p:grpSpPr>
          <a:xfrm>
            <a:off x="8399145" y="4604385"/>
            <a:ext cx="3259455" cy="1645920"/>
            <a:chOff x="8399145" y="4604385"/>
            <a:chExt cx="3259455" cy="1645920"/>
          </a:xfrm>
        </p:grpSpPr>
        <p:sp>
          <p:nvSpPr>
            <p:cNvPr id="50" name="Rectangle 50"/>
            <p:cNvSpPr/>
            <p:nvPr/>
          </p:nvSpPr>
          <p:spPr>
            <a:xfrm>
              <a:off x="8399145" y="4604385"/>
              <a:ext cx="3259455" cy="1645920"/>
            </a:xfrm>
            <a:prstGeom prst="roundRect">
              <a:avLst>
                <a:gd name="adj" fmla="val 694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603933" y="5327333"/>
              <a:ext cx="200026" cy="200026"/>
              <a:chOff x="8603933" y="5327333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603933" y="53273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03945" y="5394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692833" y="54273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906256" y="4934426"/>
              <a:ext cx="2431034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Silberschatz 教材版本的外层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循环条件还要求 turn 等于 i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 flag[turn] 为 idle，让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turn 指向的进程优先。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08387" cy="909257"/>
            <a:chOff x="520446" y="342900"/>
            <a:chExt cx="53083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进程互斥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083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硬件实现：原子的 TS、swap 指令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1194771" cy="308039"/>
            <a:chOff x="525399" y="1550194"/>
            <a:chExt cx="1119477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11947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TS 取出一个存储单元的内容再写入新值，swap 交换两个单元的内容；在单 CPU 上它们是原子的，执行中不会被打断。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3391852" cy="2125028"/>
            <a:chOff x="533400" y="1967865"/>
            <a:chExt cx="3391852" cy="212502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3391852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8192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 测试并建立 test_and_set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2557526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int TS(int *target)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 temp = *target;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*target = 1;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return temp;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int lock = 0;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每组共享变量一个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进入：while (TS(&amp;lock)) 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离开：lock = 0;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283392"/>
            <a:ext cx="3391852" cy="2073592"/>
            <a:chOff x="533400" y="4283392"/>
            <a:chExt cx="3391852" cy="2073592"/>
          </a:xfrm>
        </p:grpSpPr>
        <p:sp>
          <p:nvSpPr>
            <p:cNvPr id="13" name="Rectangle 13"/>
            <p:cNvSpPr/>
            <p:nvPr/>
          </p:nvSpPr>
          <p:spPr>
            <a:xfrm>
              <a:off x="533400" y="4283392"/>
              <a:ext cx="3391852" cy="2073592"/>
            </a:xfrm>
            <a:prstGeom prst="roundRect">
              <a:avLst>
                <a:gd name="adj" fmla="val 551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26129" y="5216008"/>
              <a:ext cx="224134" cy="192560"/>
              <a:chOff x="726129" y="5216008"/>
              <a:chExt cx="224134" cy="1925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38200" y="52863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26129" y="521600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3641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4938712"/>
              <a:ext cx="2491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满足互斥、空闲让进，</a:t>
              </a: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不满足</a:t>
              </a:r>
              <a:br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有限等待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：谁抢到 lock 全凭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运气。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4230052" y="1967865"/>
            <a:ext cx="3391852" cy="2530792"/>
            <a:chOff x="4230052" y="1967865"/>
            <a:chExt cx="3391852" cy="2530792"/>
          </a:xfrm>
        </p:grpSpPr>
        <p:sp>
          <p:nvSpPr>
            <p:cNvPr id="20" name="Rectangle 20"/>
            <p:cNvSpPr/>
            <p:nvPr/>
          </p:nvSpPr>
          <p:spPr>
            <a:xfrm>
              <a:off x="4230052" y="1967865"/>
              <a:ext cx="3391852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58450" y="2119789"/>
              <a:ext cx="8417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2. 交换 swap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57688" y="2381726"/>
              <a:ext cx="2273046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void swap(int *a, int *b)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 temp = *a;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*a = *b; *b = temp;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int lock = 0;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共享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int key;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每个进程一个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进入：key = 1;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do swap(&amp;lock, &amp;key);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(key == 1);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离开：lock = 0;</a:t>
              </a:r>
            </a:p>
          </p:txBody>
        </p:sp>
      </p:grpSp>
      <p:grpSp>
        <p:nvGrpSpPr>
          <p:cNvPr id="30" name="c2-callout-2"/>
          <p:cNvGrpSpPr/>
          <p:nvPr/>
        </p:nvGrpSpPr>
        <p:grpSpPr>
          <a:xfrm>
            <a:off x="4230052" y="4689158"/>
            <a:ext cx="3391852" cy="1667828"/>
            <a:chOff x="4230052" y="4689158"/>
            <a:chExt cx="3391852" cy="1667828"/>
          </a:xfrm>
        </p:grpSpPr>
        <p:sp>
          <p:nvSpPr>
            <p:cNvPr id="24" name="Rectangle 24"/>
            <p:cNvSpPr/>
            <p:nvPr/>
          </p:nvSpPr>
          <p:spPr>
            <a:xfrm>
              <a:off x="4230052" y="4689158"/>
              <a:ext cx="3391852" cy="1667828"/>
            </a:xfrm>
            <a:prstGeom prst="roundRect">
              <a:avLst>
                <a:gd name="adj" fmla="val 685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434840" y="5422583"/>
              <a:ext cx="200026" cy="200026"/>
              <a:chOff x="4434840" y="5422583"/>
              <a:chExt cx="200026" cy="2000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434840" y="54225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534853" y="54892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523740" y="55225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4736782" y="5141595"/>
              <a:ext cx="2244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 TS 参数写成引用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&amp;target 又用 *target 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值，这里统一写成指针。</a:t>
              </a:r>
            </a:p>
          </p:txBody>
        </p:sp>
      </p:grpSp>
      <p:grpSp>
        <p:nvGrpSpPr>
          <p:cNvPr id="39" name="c3-code-1"/>
          <p:cNvGrpSpPr/>
          <p:nvPr/>
        </p:nvGrpSpPr>
        <p:grpSpPr>
          <a:xfrm>
            <a:off x="7927658" y="1967865"/>
            <a:ext cx="3730942" cy="3139440"/>
            <a:chOff x="7927658" y="1967865"/>
            <a:chExt cx="3730942" cy="3139440"/>
          </a:xfrm>
        </p:grpSpPr>
        <p:sp>
          <p:nvSpPr>
            <p:cNvPr id="31" name="Rectangle 31"/>
            <p:cNvSpPr/>
            <p:nvPr/>
          </p:nvSpPr>
          <p:spPr>
            <a:xfrm>
              <a:off x="7927658" y="1967865"/>
              <a:ext cx="3730942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56054" y="2119789"/>
              <a:ext cx="11822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TS 实现有限等待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946708" y="3759518"/>
              <a:ext cx="369284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946708" y="3962400"/>
              <a:ext cx="369284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946708" y="4165282"/>
              <a:ext cx="369284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946708" y="4368165"/>
              <a:ext cx="369284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946708" y="4571048"/>
              <a:ext cx="369284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55292" y="2381726"/>
              <a:ext cx="2329942" cy="265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int waiting[n], lock;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全局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int j, key;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局部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waiting[i] = 1; key = 1;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while (waiting[i] &amp;&amp; key)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key = TS(&amp;lock);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waiting[i] = 0;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临界区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j = (i + 1) % n;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while (j != i &amp;&amp; !waiting[j])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j = (j + 1) % n;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(j == i) lock = 0;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else waiting[j] = 0;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其余部分</a:t>
              </a:r>
            </a:p>
          </p:txBody>
        </p:sp>
      </p:grpSp>
      <p:grpSp>
        <p:nvGrpSpPr>
          <p:cNvPr id="45" name="c3-callout-2"/>
          <p:cNvGrpSpPr/>
          <p:nvPr/>
        </p:nvGrpSpPr>
        <p:grpSpPr>
          <a:xfrm>
            <a:off x="7927658" y="5297805"/>
            <a:ext cx="3730942" cy="1059180"/>
            <a:chOff x="7927658" y="5297805"/>
            <a:chExt cx="3730942" cy="1059180"/>
          </a:xfrm>
        </p:grpSpPr>
        <p:sp>
          <p:nvSpPr>
            <p:cNvPr id="40" name="Rectangle 40"/>
            <p:cNvSpPr/>
            <p:nvPr/>
          </p:nvSpPr>
          <p:spPr>
            <a:xfrm>
              <a:off x="7927658" y="5297805"/>
              <a:ext cx="3730942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8132445" y="5727383"/>
              <a:ext cx="200026" cy="200026"/>
              <a:chOff x="8132445" y="5727383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132445" y="57273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99120" y="580517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8434388" y="5446395"/>
              <a:ext cx="28060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离开时按 i+1, i+2, … 找下一个等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待者，直接置 waiting[j] = 0 把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进入权交给它；没人等才开锁。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79659" cy="909257"/>
            <a:chOff x="520446" y="342900"/>
            <a:chExt cx="78796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进程互斥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796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关中断只对单 CPU 有效；多 CPU 下 TS 要先锁总线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3469958" cy="1110615"/>
            <a:chOff x="533400" y="1524000"/>
            <a:chExt cx="3469958" cy="11106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469958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27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3. 关中断与开中断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751078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关中断;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{ 临界区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开中断;</a:t>
              </a:r>
            </a:p>
          </p:txBody>
        </p:sp>
      </p:grpSp>
      <p:grpSp>
        <p:nvGrpSpPr>
          <p:cNvPr id="15" name="c1-bullets-2"/>
          <p:cNvGrpSpPr/>
          <p:nvPr/>
        </p:nvGrpSpPr>
        <p:grpSpPr>
          <a:xfrm>
            <a:off x="542925" y="2846546"/>
            <a:ext cx="3297682" cy="798004"/>
            <a:chOff x="542925" y="2846546"/>
            <a:chExt cx="3297682" cy="798004"/>
          </a:xfrm>
        </p:grpSpPr>
        <p:sp>
          <p:nvSpPr>
            <p:cNvPr id="11" name="Ellipse 11"/>
            <p:cNvSpPr/>
            <p:nvPr/>
          </p:nvSpPr>
          <p:spPr>
            <a:xfrm>
              <a:off x="542925" y="289845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8373" y="2846546"/>
              <a:ext cx="31422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只在单 CPU 系统中有效：关掉的是本 CPU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的中断，其他 CPU 照样运行并访问共享变量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42925" y="344709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8373" y="339518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关中断期间不响应中断，影响并发性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3784282"/>
            <a:ext cx="3469958" cy="2237422"/>
            <a:chOff x="533400" y="3784282"/>
            <a:chExt cx="3469958" cy="2237422"/>
          </a:xfrm>
        </p:grpSpPr>
        <p:sp>
          <p:nvSpPr>
            <p:cNvPr id="16" name="Rectangle 16"/>
            <p:cNvSpPr/>
            <p:nvPr/>
          </p:nvSpPr>
          <p:spPr>
            <a:xfrm>
              <a:off x="533400" y="3784282"/>
              <a:ext cx="3469958" cy="2237422"/>
            </a:xfrm>
            <a:prstGeom prst="roundRect">
              <a:avLst>
                <a:gd name="adj" fmla="val 59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917632"/>
              <a:ext cx="47625" cy="197072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99383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3359" y="40295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实际系统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443388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4371022"/>
              <a:ext cx="27298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经典 UNIX：关中断（提高处理机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优先级）实现互斥，简单、开销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小，但影响并发，所以关中断后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的代码都很短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562641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5563552"/>
              <a:ext cx="20894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SMP 系统：采用自旋锁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4302442" y="1524000"/>
            <a:ext cx="3581401" cy="2739866"/>
            <a:chOff x="4302442" y="1524000"/>
            <a:chExt cx="3581401" cy="2739866"/>
          </a:xfrm>
        </p:grpSpPr>
        <p:sp>
          <p:nvSpPr>
            <p:cNvPr id="25" name="Rectangle 25"/>
            <p:cNvSpPr/>
            <p:nvPr/>
          </p:nvSpPr>
          <p:spPr>
            <a:xfrm>
              <a:off x="4308158" y="1524000"/>
              <a:ext cx="357568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551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23013" y="1659731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86040" y="1659731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77692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06824" y="2108359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 lock = 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308158" y="2416492"/>
              <a:ext cx="357568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08158" y="2421255"/>
              <a:ext cx="357568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677692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69852" y="2556986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 lock = 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308158" y="2866072"/>
              <a:ext cx="357568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77692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06824" y="300561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lock = 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308158" y="3314700"/>
              <a:ext cx="357568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308158" y="3319462"/>
              <a:ext cx="357568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677692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69852" y="345424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lock = 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308158" y="1524000"/>
              <a:ext cx="357568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15397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51700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302442" y="3843814"/>
              <a:ext cx="33042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内存字 1000 存放 lock，初值 0，两个 CPU 通过总线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4308158" y="4410075"/>
            <a:ext cx="3575685" cy="1611630"/>
            <a:chOff x="4308158" y="4410075"/>
            <a:chExt cx="3575685" cy="1611630"/>
          </a:xfrm>
        </p:grpSpPr>
        <p:sp>
          <p:nvSpPr>
            <p:cNvPr id="47" name="Rectangle 47"/>
            <p:cNvSpPr/>
            <p:nvPr/>
          </p:nvSpPr>
          <p:spPr>
            <a:xfrm>
              <a:off x="4308158" y="4410075"/>
              <a:ext cx="3575685" cy="1611630"/>
            </a:xfrm>
            <a:prstGeom prst="roundRect">
              <a:avLst>
                <a:gd name="adj" fmla="val 70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4500887" y="5112186"/>
              <a:ext cx="224134" cy="192560"/>
              <a:chOff x="4500887" y="5112186"/>
              <a:chExt cx="224134" cy="19256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4612958" y="518255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4500887" y="511218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4612958" y="526034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4814888" y="4558665"/>
              <a:ext cx="2729865" cy="1398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 CPU 的 TS 都返回 0，都进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入临界区。单 CPU 时交叉只发生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在指令之间；多 CPU 时两条指令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的执行周期可以交叉，TS、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swap 不再是原子的。</a:t>
              </a:r>
            </a:p>
          </p:txBody>
        </p:sp>
      </p:grpSp>
      <p:grpSp>
        <p:nvGrpSpPr>
          <p:cNvPr id="57" name="c3-code-1"/>
          <p:cNvGrpSpPr/>
          <p:nvPr/>
        </p:nvGrpSpPr>
        <p:grpSpPr>
          <a:xfrm>
            <a:off x="8188642" y="1524000"/>
            <a:ext cx="3469958" cy="2125028"/>
            <a:chOff x="8188642" y="1524000"/>
            <a:chExt cx="3469958" cy="2125028"/>
          </a:xfrm>
        </p:grpSpPr>
        <p:sp>
          <p:nvSpPr>
            <p:cNvPr id="54" name="Rectangle 54"/>
            <p:cNvSpPr/>
            <p:nvPr/>
          </p:nvSpPr>
          <p:spPr>
            <a:xfrm>
              <a:off x="8188642" y="1524000"/>
              <a:ext cx="3469958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317040" y="1675924"/>
              <a:ext cx="15608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4.2.4 先锁总线再执行 TS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16278" y="1937861"/>
              <a:ext cx="1263142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 = 1;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while (b)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lock(bus);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 = TS(&amp;lock);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unlock(bus);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临界区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lock = 0;</a:t>
              </a:r>
            </a:p>
          </p:txBody>
        </p:sp>
      </p:grpSp>
      <p:grpSp>
        <p:nvGrpSpPr>
          <p:cNvPr id="64" name="c3-callout-2"/>
          <p:cNvGrpSpPr/>
          <p:nvPr/>
        </p:nvGrpSpPr>
        <p:grpSpPr>
          <a:xfrm>
            <a:off x="8188642" y="3839528"/>
            <a:ext cx="3469958" cy="2182178"/>
            <a:chOff x="8188642" y="3839528"/>
            <a:chExt cx="3469958" cy="2182178"/>
          </a:xfrm>
        </p:grpSpPr>
        <p:sp>
          <p:nvSpPr>
            <p:cNvPr id="58" name="Rectangle 58"/>
            <p:cNvSpPr/>
            <p:nvPr/>
          </p:nvSpPr>
          <p:spPr>
            <a:xfrm>
              <a:off x="8188642" y="3839528"/>
              <a:ext cx="3469958" cy="2182178"/>
            </a:xfrm>
            <a:prstGeom prst="roundRect">
              <a:avLst>
                <a:gd name="adj" fmla="val 523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8393430" y="4830128"/>
              <a:ext cx="200026" cy="200025"/>
              <a:chOff x="8393430" y="4830128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393430" y="48301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433169" y="48745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467884" y="49857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8695372" y="4411028"/>
              <a:ext cx="251079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执行 TS、swap 前先按总线请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求协议锁住总线。现代总线都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提供这种设施，早期总线没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913376" cy="2997517"/>
            <a:chOff x="667512" y="1835468"/>
            <a:chExt cx="491337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4303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信号量与 P、V 操作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用一个计数加一个等待队列，同时解决互斥和同步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1148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4.3.1–4.3.2 进程同步与同步机制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8410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4.3.3.1 信号量与 P、V 原语的定义和实现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信号量的两种基本用法：互斥与同步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6795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608" y="407194"/>
              <a:ext cx="2572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信号量与 P、V 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进程同步：在关键点上相互等待、相互唤醒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226820"/>
            <a:chOff x="533400" y="1524000"/>
            <a:chExt cx="5626418" cy="1226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90297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367" y="1750695"/>
              <a:ext cx="7460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4.3.1 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74317" y="175641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进程同步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一组进程为了协调推进速度，在某些关键点处需要相互等待与相互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唤醒，进程之间这种相互制约的关系称为进程同步。</a:t>
              </a:r>
            </a:p>
          </p:txBody>
        </p:sp>
      </p:grpSp>
      <p:grpSp>
        <p:nvGrpSpPr>
          <p:cNvPr id="29" name="c1-table-2"/>
          <p:cNvGrpSpPr/>
          <p:nvPr/>
        </p:nvGrpSpPr>
        <p:grpSpPr>
          <a:xfrm>
            <a:off x="528066" y="2926080"/>
            <a:ext cx="5631752" cy="1902714"/>
            <a:chOff x="528066" y="2926080"/>
            <a:chExt cx="5631752" cy="1902714"/>
          </a:xfrm>
        </p:grpSpPr>
        <p:sp>
          <p:nvSpPr>
            <p:cNvPr id="14" name="Rectangle 14"/>
            <p:cNvSpPr/>
            <p:nvPr/>
          </p:nvSpPr>
          <p:spPr>
            <a:xfrm>
              <a:off x="533400" y="2926080"/>
              <a:ext cx="5626418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18996" y="30503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司机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57293" y="30503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售票员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68221" y="34561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启动车辆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57293" y="345614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关车门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7328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73761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668221" y="38619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正常行驶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32681" y="38619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售票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1386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668221" y="42676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到站停车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57293" y="426767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开车门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926080"/>
              <a:ext cx="5626418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412808" y="292608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066" y="4623435"/>
              <a:ext cx="439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例：司机与售票员各自循环。关好车门才能启动，到站停车后才能开门</a:t>
              </a:r>
            </a:p>
          </p:txBody>
        </p:sp>
      </p:grpSp>
      <p:grpSp>
        <p:nvGrpSpPr>
          <p:cNvPr id="38" name="c1-kv-3"/>
          <p:cNvGrpSpPr/>
          <p:nvPr/>
        </p:nvGrpSpPr>
        <p:grpSpPr>
          <a:xfrm>
            <a:off x="526542" y="4984433"/>
            <a:ext cx="5633276" cy="1313688"/>
            <a:chOff x="526542" y="4984433"/>
            <a:chExt cx="5633276" cy="1313688"/>
          </a:xfrm>
        </p:grpSpPr>
        <p:sp>
          <p:nvSpPr>
            <p:cNvPr id="30" name="TextBox 30"/>
            <p:cNvSpPr txBox="1"/>
            <p:nvPr/>
          </p:nvSpPr>
          <p:spPr>
            <a:xfrm>
              <a:off x="526542" y="4984433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互斥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1380" y="4984433"/>
              <a:ext cx="49804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争用同一资源，先后无所谓；初值 1，P、V 在同一进程内成对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2739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542" y="53825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同步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31380" y="5382578"/>
              <a:ext cx="4492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动作有确定先后；初值 0，V 在先动作者，P 在后动作者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6711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6542" y="5780723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1380" y="5780723"/>
              <a:ext cx="476288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同步信号量的 P、V 分处两个进程，都写进一个进程就成了自己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等自己</a:t>
              </a:r>
            </a:p>
          </p:txBody>
        </p:sp>
      </p:grpSp>
      <p:grpSp>
        <p:nvGrpSpPr>
          <p:cNvPr id="44" name="c2-kv-1"/>
          <p:cNvGrpSpPr/>
          <p:nvPr/>
        </p:nvGrpSpPr>
        <p:grpSpPr>
          <a:xfrm>
            <a:off x="6457760" y="1545907"/>
            <a:ext cx="5200840" cy="1169861"/>
            <a:chOff x="6457760" y="1545907"/>
            <a:chExt cx="5200840" cy="1169861"/>
          </a:xfrm>
        </p:grpSpPr>
        <p:sp>
          <p:nvSpPr>
            <p:cNvPr id="39" name="TextBox 39"/>
            <p:cNvSpPr txBox="1"/>
            <p:nvPr/>
          </p:nvSpPr>
          <p:spPr>
            <a:xfrm>
              <a:off x="6457760" y="154590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同步机制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19784" y="1545907"/>
              <a:ext cx="3399854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用于实现进程同步的工具（synchronization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mechanism）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20888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57760" y="21983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进程合作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19784" y="2198370"/>
              <a:ext cx="39570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一组进程单独不能正常进行、并发可以正常进行的现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象；参与的进程称为合作进程</a:t>
              </a:r>
            </a:p>
          </p:txBody>
        </p:sp>
      </p:grpSp>
      <p:grpSp>
        <p:nvGrpSpPr>
          <p:cNvPr id="54" name="c2-bullets-2"/>
          <p:cNvGrpSpPr/>
          <p:nvPr/>
        </p:nvGrpSpPr>
        <p:grpSpPr>
          <a:xfrm>
            <a:off x="6457760" y="2860358"/>
            <a:ext cx="1467612" cy="1516570"/>
            <a:chOff x="6457760" y="2860358"/>
            <a:chExt cx="1467612" cy="1516570"/>
          </a:xfrm>
        </p:grpSpPr>
        <p:sp>
          <p:nvSpPr>
            <p:cNvPr id="45" name="TextBox 45"/>
            <p:cNvSpPr txBox="1"/>
            <p:nvPr/>
          </p:nvSpPr>
          <p:spPr>
            <a:xfrm>
              <a:off x="6457760" y="286035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对同步机制的要求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6464618" y="3208020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01599" y="317944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描述能力够用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6464618" y="351948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01599" y="349091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可实现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6464618" y="383095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01599" y="380238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高效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6464618" y="4141470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01599" y="411289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使用方便</a:t>
              </a:r>
            </a:p>
          </p:txBody>
        </p:sp>
      </p:grpSp>
      <p:grpSp>
        <p:nvGrpSpPr>
          <p:cNvPr id="60" name="c2-card-3"/>
          <p:cNvGrpSpPr/>
          <p:nvPr/>
        </p:nvGrpSpPr>
        <p:grpSpPr>
          <a:xfrm>
            <a:off x="6464618" y="4499610"/>
            <a:ext cx="5193982" cy="1745932"/>
            <a:chOff x="6464618" y="4499610"/>
            <a:chExt cx="5193982" cy="1745932"/>
          </a:xfrm>
        </p:grpSpPr>
        <p:sp>
          <p:nvSpPr>
            <p:cNvPr id="55" name="Rectangle 55"/>
            <p:cNvSpPr/>
            <p:nvPr/>
          </p:nvSpPr>
          <p:spPr>
            <a:xfrm>
              <a:off x="6464618" y="4499610"/>
              <a:ext cx="5193982" cy="1745932"/>
            </a:xfrm>
            <a:prstGeom prst="roundRect">
              <a:avLst>
                <a:gd name="adj" fmla="val 76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4142" y="4632960"/>
              <a:ext cx="47625" cy="14792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95122" y="469201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70561" y="472630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典型同步机制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88264" y="5048250"/>
              <a:ext cx="390563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信号量与 P、V 操作；管程（monitor）；会合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（rendezvous）；条件临界区；路径表达式（path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expression）；事件（event，传统 UNIX）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36002" cy="909257"/>
            <a:chOff x="520446" y="342900"/>
            <a:chExt cx="51360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6795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608" y="407194"/>
              <a:ext cx="2572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信号量与 P、V 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360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信号量与 P、V 原语的定义和实现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3575685" cy="3344228"/>
            <a:chOff x="533400" y="1524000"/>
            <a:chExt cx="3575685" cy="33442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75685" cy="3344228"/>
            </a:xfrm>
            <a:prstGeom prst="roundRect">
              <a:avLst>
                <a:gd name="adj" fmla="val 2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0932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4.3.3.1 定义（Dijkstra，1965）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2304288" cy="28590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typedef struct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 value;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PCB *queue;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FIFO 等待队列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semaphore;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void P(semaphore *s)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s-&gt;value--;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(s-&gt;value &lt; 0)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asleep(s-&gt;queue);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void V(semaphore *s)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s-&gt;value++;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(s-&gt;value &lt;= 0)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wakeup(s-&gt;queue);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2-kv-1"/>
          <p:cNvGrpSpPr/>
          <p:nvPr/>
        </p:nvGrpSpPr>
        <p:grpSpPr>
          <a:xfrm>
            <a:off x="4406265" y="1548765"/>
            <a:ext cx="3057525" cy="2865120"/>
            <a:chOff x="4406265" y="1548765"/>
            <a:chExt cx="3057525" cy="2865120"/>
          </a:xfrm>
        </p:grpSpPr>
        <p:sp>
          <p:nvSpPr>
            <p:cNvPr id="11" name="TextBox 11"/>
            <p:cNvSpPr txBox="1"/>
            <p:nvPr/>
          </p:nvSpPr>
          <p:spPr>
            <a:xfrm>
              <a:off x="4406265" y="1548765"/>
              <a:ext cx="6619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asleep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82578" y="1548765"/>
              <a:ext cx="1920240" cy="1139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执行者的 PCB 进入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s-&gt;queue 队尾，状态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改为等待，转处理机调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13885" y="2714625"/>
              <a:ext cx="30499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06265" y="2834640"/>
              <a:ext cx="757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wakeup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82578" y="2834640"/>
              <a:ext cx="19202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s-&gt;queue 队头的 PCB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出队，进入就绪队列，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状态改为就绪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413885" y="3718560"/>
              <a:ext cx="30499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06265" y="3838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原语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82578" y="3838575"/>
              <a:ext cx="1920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一段执行时不可中断的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</a:t>
              </a:r>
            </a:p>
          </p:txBody>
        </p:sp>
      </p:grpSp>
      <p:grpSp>
        <p:nvGrpSpPr>
          <p:cNvPr id="26" name="c2-callout-2"/>
          <p:cNvGrpSpPr/>
          <p:nvPr/>
        </p:nvGrpSpPr>
        <p:grpSpPr>
          <a:xfrm>
            <a:off x="4413885" y="4545330"/>
            <a:ext cx="3049905" cy="1762125"/>
            <a:chOff x="4413885" y="4545330"/>
            <a:chExt cx="3049905" cy="1762125"/>
          </a:xfrm>
        </p:grpSpPr>
        <p:sp>
          <p:nvSpPr>
            <p:cNvPr id="20" name="Rectangle 20"/>
            <p:cNvSpPr/>
            <p:nvPr/>
          </p:nvSpPr>
          <p:spPr>
            <a:xfrm>
              <a:off x="4413885" y="4545330"/>
              <a:ext cx="3049905" cy="1762125"/>
            </a:xfrm>
            <a:prstGeom prst="roundRect">
              <a:avLst>
                <a:gd name="adj" fmla="val 648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618673" y="5326380"/>
              <a:ext cx="200026" cy="200026"/>
              <a:chOff x="4618673" y="5326380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618673" y="53263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18685" y="53930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707573" y="54263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4920615" y="4907280"/>
              <a:ext cx="219646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semaphore 是预定义的数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据类型，可以按需声明多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个，如 semaphore s1,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s2。</a:t>
              </a:r>
            </a:p>
          </p:txBody>
        </p:sp>
      </p:grpSp>
      <p:grpSp>
        <p:nvGrpSpPr>
          <p:cNvPr id="30" name="c3-code-1"/>
          <p:cNvGrpSpPr/>
          <p:nvPr/>
        </p:nvGrpSpPr>
        <p:grpSpPr>
          <a:xfrm>
            <a:off x="7767638" y="1524000"/>
            <a:ext cx="3890962" cy="3533775"/>
            <a:chOff x="7767638" y="1524000"/>
            <a:chExt cx="3890962" cy="3533775"/>
          </a:xfrm>
        </p:grpSpPr>
        <p:sp>
          <p:nvSpPr>
            <p:cNvPr id="27" name="Rectangle 27"/>
            <p:cNvSpPr/>
            <p:nvPr/>
          </p:nvSpPr>
          <p:spPr>
            <a:xfrm>
              <a:off x="7767638" y="1524000"/>
              <a:ext cx="3890962" cy="3533775"/>
            </a:xfrm>
            <a:prstGeom prst="roundRect">
              <a:avLst>
                <a:gd name="adj" fmla="val 26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96034" y="1675924"/>
              <a:ext cx="16145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用开关中断实现（单 CPU）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95654" y="1937385"/>
              <a:ext cx="1917573" cy="30485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void P(semaphore *s)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disable interrupt;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s-&gt;value--;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(s-&gt;value &lt; 0)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asleep(s-&gt;queue);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enable interrupt;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goto CPU dispatcher;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 else enable interrupt;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void V(semaphore *s)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disable interrupt;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s-&gt;value++;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(s-&gt;value &lt;= 0)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wakeup(s-&gt;queue);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enable interrupt;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7" name="c3-callout-2"/>
          <p:cNvGrpSpPr/>
          <p:nvPr/>
        </p:nvGrpSpPr>
        <p:grpSpPr>
          <a:xfrm>
            <a:off x="7767638" y="5248275"/>
            <a:ext cx="3890962" cy="1059180"/>
            <a:chOff x="7767638" y="5248275"/>
            <a:chExt cx="3890962" cy="1059180"/>
          </a:xfrm>
        </p:grpSpPr>
        <p:sp>
          <p:nvSpPr>
            <p:cNvPr id="31" name="Rectangle 31"/>
            <p:cNvSpPr/>
            <p:nvPr/>
          </p:nvSpPr>
          <p:spPr>
            <a:xfrm>
              <a:off x="7767638" y="5248275"/>
              <a:ext cx="389096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972425" y="5677853"/>
              <a:ext cx="200026" cy="200025"/>
              <a:chOff x="7972425" y="5677853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972425" y="56778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012164" y="57223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046879" y="58334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274368" y="5396865"/>
              <a:ext cx="30537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多 CPU 下改用 TS：关中断换成空循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环 while (TS(s-&gt;flag))，开中断换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 s-&gt;flag = 0。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65627" cy="909257"/>
            <a:chOff x="520446" y="342900"/>
            <a:chExt cx="76656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6795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608" y="407194"/>
              <a:ext cx="2572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信号量与 P、V 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656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信号量的规定、几个结论，以及 value 的变化过程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193982" cy="1365885"/>
            <a:chOff x="533400" y="1524000"/>
            <a:chExt cx="5193982" cy="1365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规定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993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必须置一次初值，只能置一次初值，初值 ≥ 0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3938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只能执行 P 操作和 V 操作，其他操作都非法</a:t>
              </a:r>
            </a:p>
          </p:txBody>
        </p:sp>
      </p:grpSp>
      <p:grpSp>
        <p:nvGrpSpPr>
          <p:cNvPr id="37" name="c1-table-2"/>
          <p:cNvGrpSpPr/>
          <p:nvPr/>
        </p:nvGrpSpPr>
        <p:grpSpPr>
          <a:xfrm>
            <a:off x="533400" y="3080385"/>
            <a:ext cx="5193982" cy="2919412"/>
            <a:chOff x="533400" y="3080385"/>
            <a:chExt cx="5193982" cy="2919412"/>
          </a:xfrm>
        </p:grpSpPr>
        <p:sp>
          <p:nvSpPr>
            <p:cNvPr id="16" name="Rectangle 16"/>
            <p:cNvSpPr/>
            <p:nvPr/>
          </p:nvSpPr>
          <p:spPr>
            <a:xfrm>
              <a:off x="533400" y="3080385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3754" y="32161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30269" y="32161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223" y="3664744"/>
              <a:ext cx="7728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 ≥ 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99513" y="3664744"/>
              <a:ext cx="2709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等待队列为空，value = 空闲资源数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9728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97764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4113371"/>
              <a:ext cx="7728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 &lt; 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99513" y="4113371"/>
              <a:ext cx="19514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|value| = 等待队列的长度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4224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561999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初值为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99513" y="456199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可以实现进程互斥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8710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875848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5010626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初值为 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99513" y="501062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可以实现进程间的简单同步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3197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5573554"/>
              <a:ext cx="991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初值为 k &gt; 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99513" y="5460206"/>
              <a:ext cx="31259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 k 个同种资源（同种组合资源）：申请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 P，归还做 V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080385"/>
              <a:ext cx="5193982" cy="29194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086928" y="3080385"/>
              <a:ext cx="9525" cy="29194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2" name="c2-graph-1"/>
          <p:cNvGrpSpPr/>
          <p:nvPr/>
        </p:nvGrpSpPr>
        <p:grpSpPr>
          <a:xfrm>
            <a:off x="6442710" y="2084070"/>
            <a:ext cx="4842510" cy="1322641"/>
            <a:chOff x="6442710" y="2084070"/>
            <a:chExt cx="4842510" cy="1322641"/>
          </a:xfrm>
        </p:grpSpPr>
        <p:sp>
          <p:nvSpPr>
            <p:cNvPr id="38" name="Freeform 38"/>
            <p:cNvSpPr/>
            <p:nvPr/>
          </p:nvSpPr>
          <p:spPr>
            <a:xfrm>
              <a:off x="6727508" y="2126298"/>
              <a:ext cx="782003" cy="219710"/>
            </a:xfrm>
            <a:custGeom>
              <a:avLst/>
              <a:gdLst/>
              <a:ahLst/>
              <a:cxnLst/>
              <a:rect l="l" t="t" r="r" b="b"/>
              <a:pathLst>
                <a:path w="782003" h="219710">
                  <a:moveTo>
                    <a:pt x="0" y="219710"/>
                  </a:moveTo>
                  <a:cubicBezTo>
                    <a:pt x="286385" y="18415"/>
                    <a:pt x="547053" y="0"/>
                    <a:pt x="782003" y="16446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481888" y="2251710"/>
              <a:ext cx="105728" cy="94298"/>
            </a:xfrm>
            <a:custGeom>
              <a:avLst/>
              <a:gdLst/>
              <a:ahLst/>
              <a:cxnLst/>
              <a:rect l="l" t="t" r="r" b="b"/>
              <a:pathLst>
                <a:path w="105728" h="94298">
                  <a:moveTo>
                    <a:pt x="105728" y="94298"/>
                  </a:moveTo>
                  <a:lnTo>
                    <a:pt x="0" y="78105"/>
                  </a:lnTo>
                  <a:lnTo>
                    <a:pt x="5429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7852410" y="2126298"/>
              <a:ext cx="782003" cy="219710"/>
            </a:xfrm>
            <a:custGeom>
              <a:avLst/>
              <a:gdLst/>
              <a:ahLst/>
              <a:cxnLst/>
              <a:rect l="l" t="t" r="r" b="b"/>
              <a:pathLst>
                <a:path w="782003" h="219710">
                  <a:moveTo>
                    <a:pt x="0" y="219710"/>
                  </a:moveTo>
                  <a:cubicBezTo>
                    <a:pt x="287020" y="18415"/>
                    <a:pt x="547688" y="0"/>
                    <a:pt x="782003" y="16446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607742" y="2251710"/>
              <a:ext cx="104775" cy="94298"/>
            </a:xfrm>
            <a:custGeom>
              <a:avLst/>
              <a:gdLst/>
              <a:ahLst/>
              <a:cxnLst/>
              <a:rect l="l" t="t" r="r" b="b"/>
              <a:pathLst>
                <a:path w="104775" h="94298">
                  <a:moveTo>
                    <a:pt x="104775" y="94298"/>
                  </a:moveTo>
                  <a:lnTo>
                    <a:pt x="0" y="78105"/>
                  </a:lnTo>
                  <a:lnTo>
                    <a:pt x="5429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978265" y="2119312"/>
              <a:ext cx="751522" cy="226695"/>
            </a:xfrm>
            <a:custGeom>
              <a:avLst/>
              <a:gdLst/>
              <a:ahLst/>
              <a:cxnLst/>
              <a:rect l="l" t="t" r="r" b="b"/>
              <a:pathLst>
                <a:path w="751522" h="226695">
                  <a:moveTo>
                    <a:pt x="0" y="226695"/>
                  </a:moveTo>
                  <a:cubicBezTo>
                    <a:pt x="286385" y="25400"/>
                    <a:pt x="536893" y="0"/>
                    <a:pt x="751522" y="15049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702165" y="2230755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105728" y="93345"/>
                  </a:moveTo>
                  <a:lnTo>
                    <a:pt x="0" y="78105"/>
                  </a:lnTo>
                  <a:lnTo>
                    <a:pt x="5524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10133648" y="2119312"/>
              <a:ext cx="721042" cy="204788"/>
            </a:xfrm>
            <a:custGeom>
              <a:avLst/>
              <a:gdLst/>
              <a:ahLst/>
              <a:cxnLst/>
              <a:rect l="l" t="t" r="r" b="b"/>
              <a:pathLst>
                <a:path w="721042" h="204788">
                  <a:moveTo>
                    <a:pt x="0" y="204788"/>
                  </a:moveTo>
                  <a:cubicBezTo>
                    <a:pt x="266700" y="18098"/>
                    <a:pt x="507048" y="0"/>
                    <a:pt x="721042" y="15049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828020" y="2230755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104775" y="93345"/>
                  </a:moveTo>
                  <a:lnTo>
                    <a:pt x="0" y="78105"/>
                  </a:lnTo>
                  <a:lnTo>
                    <a:pt x="5429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6805612" y="2530792"/>
              <a:ext cx="782003" cy="219710"/>
            </a:xfrm>
            <a:custGeom>
              <a:avLst/>
              <a:gdLst/>
              <a:ahLst/>
              <a:cxnLst/>
              <a:rect l="l" t="t" r="r" b="b"/>
              <a:pathLst>
                <a:path w="782003" h="219710">
                  <a:moveTo>
                    <a:pt x="782003" y="0"/>
                  </a:moveTo>
                  <a:cubicBezTo>
                    <a:pt x="494983" y="201295"/>
                    <a:pt x="234315" y="219710"/>
                    <a:pt x="0" y="5524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6727508" y="2530792"/>
              <a:ext cx="104775" cy="94298"/>
            </a:xfrm>
            <a:custGeom>
              <a:avLst/>
              <a:gdLst/>
              <a:ahLst/>
              <a:cxnLst/>
              <a:rect l="l" t="t" r="r" b="b"/>
              <a:pathLst>
                <a:path w="104775" h="94298">
                  <a:moveTo>
                    <a:pt x="0" y="0"/>
                  </a:moveTo>
                  <a:lnTo>
                    <a:pt x="104775" y="16192"/>
                  </a:lnTo>
                  <a:lnTo>
                    <a:pt x="50483" y="9429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7930515" y="2530792"/>
              <a:ext cx="782003" cy="219710"/>
            </a:xfrm>
            <a:custGeom>
              <a:avLst/>
              <a:gdLst/>
              <a:ahLst/>
              <a:cxnLst/>
              <a:rect l="l" t="t" r="r" b="b"/>
              <a:pathLst>
                <a:path w="782003" h="219710">
                  <a:moveTo>
                    <a:pt x="782003" y="0"/>
                  </a:moveTo>
                  <a:cubicBezTo>
                    <a:pt x="495617" y="201295"/>
                    <a:pt x="234950" y="219710"/>
                    <a:pt x="0" y="5524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852410" y="2530792"/>
              <a:ext cx="105728" cy="94298"/>
            </a:xfrm>
            <a:custGeom>
              <a:avLst/>
              <a:gdLst/>
              <a:ahLst/>
              <a:cxnLst/>
              <a:rect l="l" t="t" r="r" b="b"/>
              <a:pathLst>
                <a:path w="105728" h="94298">
                  <a:moveTo>
                    <a:pt x="0" y="0"/>
                  </a:moveTo>
                  <a:lnTo>
                    <a:pt x="105728" y="16192"/>
                  </a:lnTo>
                  <a:lnTo>
                    <a:pt x="50483" y="9429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056370" y="2552700"/>
              <a:ext cx="751523" cy="197802"/>
            </a:xfrm>
            <a:custGeom>
              <a:avLst/>
              <a:gdLst/>
              <a:ahLst/>
              <a:cxnLst/>
              <a:rect l="l" t="t" r="r" b="b"/>
              <a:pathLst>
                <a:path w="751523" h="197802">
                  <a:moveTo>
                    <a:pt x="751523" y="0"/>
                  </a:moveTo>
                  <a:cubicBezTo>
                    <a:pt x="484823" y="186690"/>
                    <a:pt x="234315" y="197802"/>
                    <a:pt x="0" y="3333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978265" y="2530792"/>
              <a:ext cx="104775" cy="94298"/>
            </a:xfrm>
            <a:custGeom>
              <a:avLst/>
              <a:gdLst/>
              <a:ahLst/>
              <a:cxnLst/>
              <a:rect l="l" t="t" r="r" b="b"/>
              <a:pathLst>
                <a:path w="104775" h="94298">
                  <a:moveTo>
                    <a:pt x="0" y="0"/>
                  </a:moveTo>
                  <a:lnTo>
                    <a:pt x="104775" y="16192"/>
                  </a:lnTo>
                  <a:lnTo>
                    <a:pt x="50482" y="9429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10211752" y="2552700"/>
              <a:ext cx="721043" cy="204788"/>
            </a:xfrm>
            <a:custGeom>
              <a:avLst/>
              <a:gdLst/>
              <a:ahLst/>
              <a:cxnLst/>
              <a:rect l="l" t="t" r="r" b="b"/>
              <a:pathLst>
                <a:path w="721043" h="204788">
                  <a:moveTo>
                    <a:pt x="721043" y="0"/>
                  </a:moveTo>
                  <a:cubicBezTo>
                    <a:pt x="454978" y="186690"/>
                    <a:pt x="214630" y="204788"/>
                    <a:pt x="0" y="5429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10133648" y="2552700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0" y="0"/>
                  </a:moveTo>
                  <a:lnTo>
                    <a:pt x="104775" y="15240"/>
                  </a:lnTo>
                  <a:lnTo>
                    <a:pt x="50482" y="933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6442710" y="228600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7567612" y="22860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8692515" y="22860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9781222" y="2248852"/>
              <a:ext cx="379095" cy="3790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10906125" y="2248852"/>
              <a:ext cx="379095" cy="3790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38877" y="235886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63780" y="235886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788682" y="235886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64782" y="23588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989684" y="23588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082790" y="2095500"/>
              <a:ext cx="149542" cy="186690"/>
            </a:xfrm>
            <a:prstGeom prst="roundRect">
              <a:avLst>
                <a:gd name="adj" fmla="val 25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110679" y="213264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207692" y="2095500"/>
              <a:ext cx="149542" cy="186690"/>
            </a:xfrm>
            <a:prstGeom prst="roundRect">
              <a:avLst>
                <a:gd name="adj" fmla="val 25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236534" y="213264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325928" y="2089785"/>
              <a:ext cx="149542" cy="186690"/>
            </a:xfrm>
            <a:prstGeom prst="roundRect">
              <a:avLst>
                <a:gd name="adj" fmla="val 25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353817" y="212693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0458450" y="2084070"/>
              <a:ext cx="149542" cy="186690"/>
            </a:xfrm>
            <a:prstGeom prst="roundRect">
              <a:avLst>
                <a:gd name="adj" fmla="val 25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487292" y="212217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082790" y="2581275"/>
              <a:ext cx="149542" cy="186690"/>
            </a:xfrm>
            <a:prstGeom prst="roundRect">
              <a:avLst>
                <a:gd name="adj" fmla="val 25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110679" y="261937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207692" y="2581275"/>
              <a:ext cx="149542" cy="186690"/>
            </a:xfrm>
            <a:prstGeom prst="roundRect">
              <a:avLst>
                <a:gd name="adj" fmla="val 25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236534" y="261937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325928" y="2586990"/>
              <a:ext cx="149542" cy="186690"/>
            </a:xfrm>
            <a:prstGeom prst="roundRect">
              <a:avLst>
                <a:gd name="adj" fmla="val 25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353817" y="262413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0458450" y="2592705"/>
              <a:ext cx="149542" cy="186690"/>
            </a:xfrm>
            <a:prstGeom prst="roundRect">
              <a:avLst>
                <a:gd name="adj" fmla="val 25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487292" y="262985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032660" y="3201352"/>
              <a:ext cx="13747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value = 空闲打印机数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874615" y="3201352"/>
              <a:ext cx="13181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|value| = 等待进程数</a:t>
              </a:r>
            </a:p>
          </p:txBody>
        </p:sp>
      </p:grpSp>
      <p:grpSp>
        <p:nvGrpSpPr>
          <p:cNvPr id="108" name="c2-table-2"/>
          <p:cNvGrpSpPr/>
          <p:nvPr/>
        </p:nvGrpSpPr>
        <p:grpSpPr>
          <a:xfrm>
            <a:off x="6026467" y="3619500"/>
            <a:ext cx="5632133" cy="2539842"/>
            <a:chOff x="6026467" y="3619500"/>
            <a:chExt cx="5632133" cy="2539842"/>
          </a:xfrm>
        </p:grpSpPr>
        <p:sp>
          <p:nvSpPr>
            <p:cNvPr id="83" name="Rectangle 83"/>
            <p:cNvSpPr/>
            <p:nvPr/>
          </p:nvSpPr>
          <p:spPr>
            <a:xfrm>
              <a:off x="6032182" y="3619500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246774" y="37552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286473" y="37552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发生时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791979" y="37552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效果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140006" y="420385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927723" y="420385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 ≥ 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390763" y="4203859"/>
              <a:ext cx="17102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分配一台，空闲数减 1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032182" y="45119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6032182" y="45167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140006" y="465248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927723" y="4652486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 ≤ 0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390763" y="4652486"/>
              <a:ext cx="17102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进程等待，等待数加 1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032182" y="49615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140006" y="510111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927723" y="51011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 &lt; 0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390763" y="51011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唤醒一个等待者，打印机直接分给它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6032182" y="54102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032182" y="541496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140006" y="554974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927723" y="5549741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value ≥ 0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390763" y="5549741"/>
              <a:ext cx="1365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空闲打印机数加 1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032182" y="3619500"/>
              <a:ext cx="562641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6815138" y="36195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8278178" y="36195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026467" y="5939314"/>
              <a:ext cx="4781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例：2 台打印机，semaphore S，初值 2（“发生时”指操作前的 value）</a:t>
              </a:r>
            </a:p>
          </p:txBody>
        </p:sp>
      </p:grpSp>
      <p:grpSp>
        <p:nvGrpSpPr>
          <p:cNvPr id="11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9" name="TextBox 10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77409" cy="909257"/>
            <a:chOff x="520446" y="342900"/>
            <a:chExt cx="88774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6795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608" y="407194"/>
              <a:ext cx="2572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信号量与 P、V 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774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信号量的两种基本用法：互斥（初值 1）与同步（初值 0）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5085398" cy="2440305"/>
            <a:chOff x="533400" y="1524000"/>
            <a:chExt cx="5085398" cy="2440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互斥：借书系统改写（两个终端相同）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426970"/>
              <a:ext cx="504729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954655"/>
              <a:ext cx="504729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481388"/>
              <a:ext cx="504729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1935956"/>
              <a:ext cx="2107057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semaphore mutex = 1;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CYCLE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等待借书者;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P(mutex);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x &gt;= 1 THEN BEGIN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 := x - 1;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V(mutex);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借书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ELSE BEGIN V(mutex); 无书 END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4133850"/>
            <a:ext cx="5085398" cy="729615"/>
            <a:chOff x="533400" y="4133850"/>
            <a:chExt cx="5085398" cy="729615"/>
          </a:xfrm>
        </p:grpSpPr>
        <p:sp>
          <p:nvSpPr>
            <p:cNvPr id="14" name="Rectangle 14"/>
            <p:cNvSpPr/>
            <p:nvPr/>
          </p:nvSpPr>
          <p:spPr>
            <a:xfrm>
              <a:off x="533400" y="4133850"/>
              <a:ext cx="508539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4398645"/>
              <a:ext cx="200026" cy="200025"/>
              <a:chOff x="738188" y="4398645"/>
              <a:chExt cx="200026" cy="20002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43986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77926" y="44430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12642" y="45542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892" y="4280535"/>
              <a:ext cx="41199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每个临界区前 P(mutex)、后 V(mutex)。IF 的两个分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支都要 V，漏掉一个就会锁死其他终端。</a:t>
              </a:r>
            </a:p>
          </p:txBody>
        </p:sp>
      </p:grpSp>
      <p:grpSp>
        <p:nvGrpSpPr>
          <p:cNvPr id="25" name="c1-card-3"/>
          <p:cNvGrpSpPr/>
          <p:nvPr/>
        </p:nvGrpSpPr>
        <p:grpSpPr>
          <a:xfrm>
            <a:off x="533400" y="5033962"/>
            <a:ext cx="5085398" cy="1185862"/>
            <a:chOff x="533400" y="5033962"/>
            <a:chExt cx="5085398" cy="1185862"/>
          </a:xfrm>
        </p:grpSpPr>
        <p:sp>
          <p:nvSpPr>
            <p:cNvPr id="21" name="Rectangle 21"/>
            <p:cNvSpPr/>
            <p:nvPr/>
          </p:nvSpPr>
          <p:spPr>
            <a:xfrm>
              <a:off x="533400" y="5033962"/>
              <a:ext cx="5085398" cy="1185862"/>
            </a:xfrm>
            <a:prstGeom prst="roundRect">
              <a:avLst>
                <a:gd name="adj" fmla="val 1124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0090" y="522065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3458" y="525351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临界区从哪里起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3232" y="5564505"/>
              <a:ext cx="43514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P(mutex) 要放在 IF 前面：判断 x ≥ 1 与 x := x − 1 是同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一次操作的两半，分开加锁就回到第 6 页的错误。</a:t>
              </a:r>
            </a:p>
          </p:txBody>
        </p:sp>
      </p:grpSp>
      <p:grpSp>
        <p:nvGrpSpPr>
          <p:cNvPr id="29" name="c2-code-1"/>
          <p:cNvGrpSpPr/>
          <p:nvPr/>
        </p:nvGrpSpPr>
        <p:grpSpPr>
          <a:xfrm>
            <a:off x="5923598" y="1524000"/>
            <a:ext cx="5735002" cy="2088832"/>
            <a:chOff x="5923598" y="1524000"/>
            <a:chExt cx="5735002" cy="2088832"/>
          </a:xfrm>
        </p:grpSpPr>
        <p:sp>
          <p:nvSpPr>
            <p:cNvPr id="26" name="Rectangle 26"/>
            <p:cNvSpPr/>
            <p:nvPr/>
          </p:nvSpPr>
          <p:spPr>
            <a:xfrm>
              <a:off x="5923598" y="1524000"/>
              <a:ext cx="5735002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51994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同步：司机与售票员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51994" y="1935956"/>
              <a:ext cx="2268855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semaphore S1 = 0, S2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司机：               售票员：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 {                 do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P(S1);               关车门;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启动车辆;            V(S1);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正常行驶;            售票;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到站停车;            P(S2);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V(S2);               开车门;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while (1);         } while (1);</a:t>
              </a:r>
            </a:p>
          </p:txBody>
        </p:sp>
      </p:grpSp>
      <p:grpSp>
        <p:nvGrpSpPr>
          <p:cNvPr id="39" name="c2-steps-2"/>
          <p:cNvGrpSpPr/>
          <p:nvPr/>
        </p:nvGrpSpPr>
        <p:grpSpPr>
          <a:xfrm>
            <a:off x="5923598" y="3791902"/>
            <a:ext cx="5499653" cy="1102520"/>
            <a:chOff x="5923598" y="3791902"/>
            <a:chExt cx="5499653" cy="1102520"/>
          </a:xfrm>
        </p:grpSpPr>
        <p:sp>
          <p:nvSpPr>
            <p:cNvPr id="30" name="Rectangle 30"/>
            <p:cNvSpPr/>
            <p:nvPr/>
          </p:nvSpPr>
          <p:spPr>
            <a:xfrm>
              <a:off x="6056948" y="3934778"/>
              <a:ext cx="19050" cy="5829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923598" y="379190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17221" y="38657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923598" y="43748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17221" y="44486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35839" y="382428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一般形式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36982" y="4091464"/>
              <a:ext cx="42856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信号量 S 初值 0：先动作之后执行 V(S)，后动作之前执行 P(S)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35839" y="4407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36982" y="4674394"/>
              <a:ext cx="50862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关车门（先）→ 启动车辆（后）用 S1；到站停车（先）→ 开车门（后）用 S2</a:t>
              </a:r>
            </a:p>
          </p:txBody>
        </p:sp>
      </p:grpSp>
      <p:grpSp>
        <p:nvGrpSpPr>
          <p:cNvPr id="46" name="c2-callout-3"/>
          <p:cNvGrpSpPr/>
          <p:nvPr/>
        </p:nvGrpSpPr>
        <p:grpSpPr>
          <a:xfrm>
            <a:off x="5923598" y="5057775"/>
            <a:ext cx="5735002" cy="1161098"/>
            <a:chOff x="5923598" y="5057775"/>
            <a:chExt cx="5735002" cy="1161098"/>
          </a:xfrm>
        </p:grpSpPr>
        <p:sp>
          <p:nvSpPr>
            <p:cNvPr id="40" name="Rectangle 40"/>
            <p:cNvSpPr/>
            <p:nvPr/>
          </p:nvSpPr>
          <p:spPr>
            <a:xfrm>
              <a:off x="5923598" y="5057775"/>
              <a:ext cx="5735002" cy="1161098"/>
            </a:xfrm>
            <a:prstGeom prst="roundRect">
              <a:avLst>
                <a:gd name="adj" fmla="val 984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116327" y="5535096"/>
              <a:ext cx="224134" cy="192560"/>
              <a:chOff x="6116327" y="5535096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228398" y="56054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116327" y="55350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228398" y="56832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431089" y="5419725"/>
              <a:ext cx="48057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两个方向各要一个信号量。只用一个 S 时，售票员 V(S) 之后自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己又 P(S)，可能取走刚投放的信号，车没停就开门。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978728" cy="3351847"/>
            <a:chOff x="667512" y="1835468"/>
            <a:chExt cx="597872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经典同步问题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9688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先找出资源和先后约束，再决定信号量、初值与 P、V 的位置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585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生产者-消费者、读者-写者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608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哲学家就餐、吸烟者（同时 P、V 操作）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打印机管理、生产线、资源调度、系统与网络打印机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2009 年考研题与寺庙问题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62897" cy="909257"/>
            <a:chOff x="520446" y="342900"/>
            <a:chExt cx="84628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经典同步问题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628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生产者-消费者：空位、物品两类资源，外加缓冲区互斥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347960" cy="541592"/>
            <a:chOff x="526161" y="1547336"/>
            <a:chExt cx="10347960" cy="54159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34796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 个生产者、n 个消费者共用容量为 k 的环形缓冲区 B[0..k−1]：生产者放入 B[in]，in := (in+1) mod k；消费者取出 B[out]，</a:t>
              </a:r>
              <a:br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out := (out+1) mod k。</a:t>
              </a:r>
            </a:p>
          </p:txBody>
        </p:sp>
      </p:grpSp>
      <p:grpSp>
        <p:nvGrpSpPr>
          <p:cNvPr id="43" name="c1-table-1"/>
          <p:cNvGrpSpPr/>
          <p:nvPr/>
        </p:nvGrpSpPr>
        <p:grpSpPr>
          <a:xfrm>
            <a:off x="533400" y="2204085"/>
            <a:ext cx="4869180" cy="1823085"/>
            <a:chOff x="533400" y="2204085"/>
            <a:chExt cx="4869180" cy="1823085"/>
          </a:xfrm>
        </p:grpSpPr>
        <p:sp>
          <p:nvSpPr>
            <p:cNvPr id="9" name="Rectangle 9"/>
            <p:cNvSpPr/>
            <p:nvPr/>
          </p:nvSpPr>
          <p:spPr>
            <a:xfrm>
              <a:off x="533400" y="2204085"/>
              <a:ext cx="486918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7906" y="23283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2783" y="23283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41803" y="23283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信号量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98228" y="23283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04031" y="23283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31753" y="23283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2518" y="273415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15402" y="27341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80345" y="2734151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07540" y="2734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35755" y="2734151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P(S1)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63478" y="2734151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V(S2)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1085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015615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2518" y="31399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消费者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15402" y="31399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80345" y="3139916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07540" y="313991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35755" y="3139916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P(S2)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63478" y="3139916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V(S1)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41661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7906" y="3645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15402" y="3645694"/>
              <a:ext cx="7775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B、in、out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45573" y="364569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mutex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407540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05885" y="3545681"/>
              <a:ext cx="5092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P(mute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33608" y="3545681"/>
              <a:ext cx="5092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V(mute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2204085"/>
              <a:ext cx="4869180" cy="18230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210628" y="220408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79345" y="220408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157538" y="220408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742372" y="220408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570095" y="220408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1-card-2"/>
          <p:cNvGrpSpPr/>
          <p:nvPr/>
        </p:nvGrpSpPr>
        <p:grpSpPr>
          <a:xfrm>
            <a:off x="533400" y="4202430"/>
            <a:ext cx="4869180" cy="1983105"/>
            <a:chOff x="533400" y="4202430"/>
            <a:chExt cx="4869180" cy="1983105"/>
          </a:xfrm>
        </p:grpSpPr>
        <p:sp>
          <p:nvSpPr>
            <p:cNvPr id="44" name="Rectangle 44"/>
            <p:cNvSpPr/>
            <p:nvPr/>
          </p:nvSpPr>
          <p:spPr>
            <a:xfrm>
              <a:off x="533400" y="4202430"/>
              <a:ext cx="4869180" cy="1983105"/>
            </a:xfrm>
            <a:prstGeom prst="roundRect">
              <a:avLst>
                <a:gd name="adj" fmla="val 67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42925" y="4335780"/>
              <a:ext cx="47625" cy="17164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63905" y="439483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7344" y="44291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预备知识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72478" y="480726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8497" y="475107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组合资源：若干相对独立的子资源构成的集合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72478" y="511016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28497" y="5053965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同种组合资源：子资源类型相同，用初值为子资源个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数的信号量管理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8190" y="5609749"/>
              <a:ext cx="42786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空位和物品都是同种组合资源：生产者放入前要有空位，放入后多一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件物品；消费者正好相反。</a:t>
              </a:r>
            </a:p>
          </p:txBody>
        </p:sp>
      </p:grpSp>
      <p:grpSp>
        <p:nvGrpSpPr>
          <p:cNvPr id="57" name="c2-code-1"/>
          <p:cNvGrpSpPr/>
          <p:nvPr/>
        </p:nvGrpSpPr>
        <p:grpSpPr>
          <a:xfrm>
            <a:off x="5707380" y="2204085"/>
            <a:ext cx="5951220" cy="3608070"/>
            <a:chOff x="5707380" y="2204085"/>
            <a:chExt cx="5951220" cy="3608070"/>
          </a:xfrm>
        </p:grpSpPr>
        <p:sp>
          <p:nvSpPr>
            <p:cNvPr id="54" name="Rectangle 54"/>
            <p:cNvSpPr/>
            <p:nvPr/>
          </p:nvSpPr>
          <p:spPr>
            <a:xfrm>
              <a:off x="5707380" y="2204085"/>
              <a:ext cx="5951220" cy="3608070"/>
            </a:xfrm>
            <a:prstGeom prst="roundRect">
              <a:avLst>
                <a:gd name="adj" fmla="val 2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835777" y="23560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835891" y="2616565"/>
              <a:ext cx="3128480" cy="31171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8"/>
                </a:lnSpc>
              </a:pP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producer;     procedure consumer;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cycle                   cycle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produce a product;      P(S2);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P(S1);                  P(mutex);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P(mutex);               x := B[out];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B[in] := product;       out := (out+1) mod k;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 := (in+1) mod k;     V(mutex);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               V(S1);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V(S2);                  consume x;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                    end;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S1 := k; S2 := 0; mutex :=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 := 0; out := 0;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cobegin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P1..Pm: producer; C1..Cn: consumer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coend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end.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74934" cy="909257"/>
            <a:chOff x="520446" y="342900"/>
            <a:chExt cx="92749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经典同步问题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749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操作顺序颠倒会死锁；生产者、消费者分开加锁可提高并发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410200" cy="1719262"/>
            <a:chOff x="533400" y="1524000"/>
            <a:chExt cx="5410200" cy="17192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4884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错误写法：先 P(mutex) 再 P 资源信号量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098358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301240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035" y="1937861"/>
              <a:ext cx="2657094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生产者：               消费者：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P(mutex);              P(mutex);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P(S1);                 P(S2);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物品放入箱中;          箱中取一物品;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V(S2);                 V(S1);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V(mutex);              V(mutex);</a:t>
              </a:r>
            </a:p>
          </p:txBody>
        </p:sp>
      </p:grpSp>
      <p:grpSp>
        <p:nvGrpSpPr>
          <p:cNvPr id="22" name="c1-steps-2"/>
          <p:cNvGrpSpPr/>
          <p:nvPr/>
        </p:nvGrpSpPr>
        <p:grpSpPr>
          <a:xfrm>
            <a:off x="533400" y="3443288"/>
            <a:ext cx="5180457" cy="1462373"/>
            <a:chOff x="533400" y="3443288"/>
            <a:chExt cx="5180457" cy="1462373"/>
          </a:xfrm>
        </p:grpSpPr>
        <p:sp>
          <p:nvSpPr>
            <p:cNvPr id="13" name="Rectangle 13"/>
            <p:cNvSpPr/>
            <p:nvPr/>
          </p:nvSpPr>
          <p:spPr>
            <a:xfrm>
              <a:off x="666750" y="3586162"/>
              <a:ext cx="19050" cy="6505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44328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171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09384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1676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477578"/>
              <a:ext cx="18540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箱子已满（S1 = 0）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771424"/>
              <a:ext cx="27337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生产者拿到 mutex，在 P(S1) 阻塞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412813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消费者到来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4421981"/>
              <a:ext cx="4767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P(mutex) 阻塞，永远不会执行 V(S1)，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两者死锁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；箱子为空时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5084445"/>
            <a:ext cx="5410200" cy="912495"/>
            <a:chOff x="533400" y="5084445"/>
            <a:chExt cx="5410200" cy="912495"/>
          </a:xfrm>
        </p:grpSpPr>
        <p:sp>
          <p:nvSpPr>
            <p:cNvPr id="23" name="Rectangle 23"/>
            <p:cNvSpPr/>
            <p:nvPr/>
          </p:nvSpPr>
          <p:spPr>
            <a:xfrm>
              <a:off x="533400" y="5084445"/>
              <a:ext cx="5410200" cy="912495"/>
            </a:xfrm>
            <a:prstGeom prst="roundRect">
              <a:avLst>
                <a:gd name="adj" fmla="val 12526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440682"/>
              <a:ext cx="200023" cy="200023"/>
              <a:chOff x="738188" y="5440682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4406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1538" y="55073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5297805"/>
              <a:ext cx="4425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规则：先 P 资源信号量，再 P 互斥信号量；V 的顺序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不影响正确性。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248400" y="1524000"/>
            <a:ext cx="5410200" cy="4472940"/>
            <a:chOff x="6248400" y="1524000"/>
            <a:chExt cx="5410200" cy="4472940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4472940"/>
            </a:xfrm>
            <a:prstGeom prst="roundRect">
              <a:avLst>
                <a:gd name="adj" fmla="val 29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1657350"/>
              <a:ext cx="47625" cy="42062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96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7345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提高并发性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23798" y="1768792"/>
              <a:ext cx="3503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生产者和消费者不操作 B 的同一个分量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501765" y="21926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9880" y="212979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生产者只用 B[in] 和 in，用 mutex1 保证生产者之间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互斥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501765" y="28136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9880" y="2750820"/>
              <a:ext cx="4577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消费者只用 B[out] 和 out，用 mutex2 保证消费者之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间互斥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96050" y="3347085"/>
              <a:ext cx="4953000" cy="1655445"/>
            </a:xfrm>
            <a:prstGeom prst="roundRect">
              <a:avLst>
                <a:gd name="adj" fmla="val 575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23685" y="3494246"/>
              <a:ext cx="2507742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生产者：            消费者：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加工一件物品;       P(S2);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P(S1);              P(mutex2);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P(mutex1);          箱中取一物品;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物品放入箱中;       V(mutex2);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V(mutex1);          V(S1);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V(S2);              消耗这件物品;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9573" y="5119211"/>
              <a:ext cx="474345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为什么安全：in = out 时缓冲区要么满要么空。满时 S1 = 0，生产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者进不来；空时 S2 = 0，消费者进不来，所以两者不会同时操作同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一个单元。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62897" cy="909257"/>
            <a:chOff x="520446" y="342900"/>
            <a:chExt cx="84628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经典同步问题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628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读者-写者：从错误解法一步步改出读者优先的正确解法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652468" cy="293370"/>
            <a:chOff x="525780" y="1548765"/>
            <a:chExt cx="965246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6524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读者-写者问题（Courtois，1971）：公共数据 DB 可以被多个读者同时读；读和写、写和写不能同时进行。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64055"/>
            <a:ext cx="5180076" cy="2232089"/>
            <a:chOff x="533400" y="1964055"/>
            <a:chExt cx="5180076" cy="2232089"/>
          </a:xfrm>
        </p:grpSpPr>
        <p:sp>
          <p:nvSpPr>
            <p:cNvPr id="9" name="Rectangle 9"/>
            <p:cNvSpPr/>
            <p:nvPr/>
          </p:nvSpPr>
          <p:spPr>
            <a:xfrm>
              <a:off x="666750" y="2106930"/>
              <a:ext cx="19050" cy="16840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640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060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798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64807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21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996916"/>
              <a:ext cx="19055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解法 1：读写一律互斥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277428"/>
              <a:ext cx="46984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读者、写者都用 P(r_w_w)…V(r_w_w) 包住操作。写者正确，但读者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之间也不能同时读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838926"/>
              <a:ext cx="22878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解法 2：只让首尾读者加锁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119438"/>
              <a:ext cx="47670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read_count 计数，第一个进来的读者 P(r_w_w)，最后离开的读者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V(r_w_w)。但 read_count 本身没有互斥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3680936"/>
              <a:ext cx="17932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解法 3：再加 mutex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961448"/>
              <a:ext cx="46404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mutex 保护 read_count 的修改与判断，得到右边的正确解法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4371975"/>
            <a:ext cx="5410200" cy="1018222"/>
            <a:chOff x="533400" y="4371975"/>
            <a:chExt cx="5410200" cy="1018222"/>
          </a:xfrm>
        </p:grpSpPr>
        <p:sp>
          <p:nvSpPr>
            <p:cNvPr id="23" name="Rectangle 23"/>
            <p:cNvSpPr/>
            <p:nvPr/>
          </p:nvSpPr>
          <p:spPr>
            <a:xfrm>
              <a:off x="533400" y="4371975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4781552"/>
              <a:ext cx="200023" cy="200023"/>
              <a:chOff x="738188" y="4781552"/>
              <a:chExt cx="200023" cy="20002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78155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1538" y="4848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511" y="4519136"/>
              <a:ext cx="445985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写者在写时，第一个读者拿着 mutex 等在 P(r_w_w)，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其余读者等在 P(mutex)；写者 V(r_w_w) 后读者依次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进入。读者在读时，写者等在 P(r_w_w)。</a:t>
              </a:r>
            </a:p>
          </p:txBody>
        </p:sp>
      </p:grpSp>
      <p:grpSp>
        <p:nvGrpSpPr>
          <p:cNvPr id="34" name="c2-code-1"/>
          <p:cNvGrpSpPr/>
          <p:nvPr/>
        </p:nvGrpSpPr>
        <p:grpSpPr>
          <a:xfrm>
            <a:off x="6248400" y="1954530"/>
            <a:ext cx="5410200" cy="3342322"/>
            <a:chOff x="6248400" y="1954530"/>
            <a:chExt cx="5410200" cy="3342322"/>
          </a:xfrm>
        </p:grpSpPr>
        <p:sp>
          <p:nvSpPr>
            <p:cNvPr id="29" name="Rectangle 29"/>
            <p:cNvSpPr/>
            <p:nvPr/>
          </p:nvSpPr>
          <p:spPr>
            <a:xfrm>
              <a:off x="6248400" y="1954530"/>
              <a:ext cx="5410200" cy="3342322"/>
            </a:xfrm>
            <a:prstGeom prst="roundRect">
              <a:avLst>
                <a:gd name="adj" fmla="val 28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6797" y="2106454"/>
              <a:ext cx="11830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解法 3（读者优先）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67450" y="3340418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67450" y="4354830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76035" y="2368391"/>
              <a:ext cx="2671318" cy="2857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semaphore r_w_w = 1, mutex = 1;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int read_count = 0;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reader: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P(mutex);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read_count := read_count + 1;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read_count = 1 then P(r_w_w);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读操作;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P(mutex);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read_count := read_count - 1;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read_count = 0 then V(r_w_w);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writer: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P(r_w_w);  写操作;  V(r_w_w);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5" name="Rectangle 3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511" y="6004084"/>
              <a:ext cx="103275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读者源源不断时 read_count 不归 0，写者会饿死。原课件的改进策略：一旦有写者等待，新到的读者也等待（见下页）。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46492" cy="909257"/>
            <a:chOff x="520446" y="342900"/>
            <a:chExt cx="67464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经典同步问题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464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读者-写者（补充）：写者优先的信号量解法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046045" cy="264033"/>
            <a:chOff x="526542" y="1545907"/>
            <a:chExt cx="904604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0460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按上页策略写出的一种解法。新增信号量 read_try：第一个写者到达时占住它，新读者就进不了读者的入口区。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28812"/>
            <a:ext cx="3154680" cy="2791778"/>
            <a:chOff x="533400" y="1928812"/>
            <a:chExt cx="3154680" cy="279177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154680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读者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304098"/>
              <a:ext cx="311658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358515"/>
              <a:ext cx="311658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340769"/>
              <a:ext cx="1378966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P(read_try);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P(r_mutex);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read_count++;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(read_count == 1)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P(resource);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V(r_mutex);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V(read_try);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读操作;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P(r_mutex);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read_count--;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(read_count == 0)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V(resource);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V(r_mutex);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4890135"/>
            <a:ext cx="3154680" cy="729615"/>
            <a:chOff x="533400" y="4890135"/>
            <a:chExt cx="3154680" cy="729615"/>
          </a:xfrm>
        </p:grpSpPr>
        <p:sp>
          <p:nvSpPr>
            <p:cNvPr id="15" name="Rectangle 15"/>
            <p:cNvSpPr/>
            <p:nvPr/>
          </p:nvSpPr>
          <p:spPr>
            <a:xfrm>
              <a:off x="533400" y="4890135"/>
              <a:ext cx="315468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154930"/>
              <a:ext cx="200026" cy="200026"/>
              <a:chOff x="738188" y="5154930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1549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52216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7088" y="52549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892" y="5036820"/>
              <a:ext cx="19168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读者代码只比上页多了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read_try 的一对 P、V。</a:t>
              </a:r>
            </a:p>
          </p:txBody>
        </p:sp>
      </p:grpSp>
      <p:grpSp>
        <p:nvGrpSpPr>
          <p:cNvPr id="29" name="c2-code-1"/>
          <p:cNvGrpSpPr/>
          <p:nvPr/>
        </p:nvGrpSpPr>
        <p:grpSpPr>
          <a:xfrm>
            <a:off x="3992880" y="1928812"/>
            <a:ext cx="3154680" cy="2791778"/>
            <a:chOff x="3992880" y="1928812"/>
            <a:chExt cx="3154680" cy="2791778"/>
          </a:xfrm>
        </p:grpSpPr>
        <p:sp>
          <p:nvSpPr>
            <p:cNvPr id="22" name="Rectangle 22"/>
            <p:cNvSpPr/>
            <p:nvPr/>
          </p:nvSpPr>
          <p:spPr>
            <a:xfrm>
              <a:off x="3992880" y="1928812"/>
              <a:ext cx="3154680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121277" y="20807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写者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11930" y="2655570"/>
              <a:ext cx="311658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11930" y="2831782"/>
              <a:ext cx="311658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011930" y="4062412"/>
              <a:ext cx="311658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011930" y="4237672"/>
              <a:ext cx="311658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121277" y="2340769"/>
              <a:ext cx="1447419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P(w_mutex);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write_count++;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(write_count == 1)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P(read_try);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V(w_mutex);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P(resource);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写操作;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V(resource);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P(w_mutex);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write_count--;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(write_count == 0)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V(read_try);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V(w_mutex);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3992880" y="4890135"/>
            <a:ext cx="3154680" cy="729615"/>
            <a:chOff x="3992880" y="4890135"/>
            <a:chExt cx="3154680" cy="729615"/>
          </a:xfrm>
        </p:grpSpPr>
        <p:sp>
          <p:nvSpPr>
            <p:cNvPr id="30" name="Rectangle 30"/>
            <p:cNvSpPr/>
            <p:nvPr/>
          </p:nvSpPr>
          <p:spPr>
            <a:xfrm>
              <a:off x="3992880" y="4890135"/>
              <a:ext cx="315468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4197668" y="5154930"/>
              <a:ext cx="200026" cy="200025"/>
              <a:chOff x="4197668" y="5154930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4197668" y="51549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237406" y="51993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272122" y="53105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500372" y="5036820"/>
              <a:ext cx="22425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两个计数各用一把锁，读者、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写者改计数时互不等待。</a:t>
              </a:r>
            </a:p>
          </p:txBody>
        </p:sp>
      </p:grpSp>
      <p:grpSp>
        <p:nvGrpSpPr>
          <p:cNvPr id="48" name="c3-kv-1"/>
          <p:cNvGrpSpPr/>
          <p:nvPr/>
        </p:nvGrpSpPr>
        <p:grpSpPr>
          <a:xfrm>
            <a:off x="7445502" y="1950720"/>
            <a:ext cx="4213098" cy="1441323"/>
            <a:chOff x="7445502" y="1950720"/>
            <a:chExt cx="4213098" cy="1441323"/>
          </a:xfrm>
        </p:grpSpPr>
        <p:sp>
          <p:nvSpPr>
            <p:cNvPr id="37" name="TextBox 37"/>
            <p:cNvSpPr txBox="1"/>
            <p:nvPr/>
          </p:nvSpPr>
          <p:spPr>
            <a:xfrm>
              <a:off x="7445502" y="1950720"/>
              <a:ext cx="1177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resource = 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91384" y="195072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读写互斥、写写互斥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452360" y="2237422"/>
              <a:ext cx="4206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45502" y="2343150"/>
              <a:ext cx="1177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read_try = 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91384" y="23431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有写者时挡住新读者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452360" y="2629852"/>
              <a:ext cx="4206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45502" y="2735580"/>
              <a:ext cx="11109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r_mutex = 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91384" y="2735580"/>
              <a:ext cx="1431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 read_count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452360" y="3022282"/>
              <a:ext cx="4206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45502" y="3128010"/>
              <a:ext cx="1149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w_mutex = 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91384" y="3128010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 write_count</a:t>
              </a:r>
            </a:p>
          </p:txBody>
        </p:sp>
      </p:grpSp>
      <p:grpSp>
        <p:nvGrpSpPr>
          <p:cNvPr id="62" name="c3-steps-2"/>
          <p:cNvGrpSpPr/>
          <p:nvPr/>
        </p:nvGrpSpPr>
        <p:grpSpPr>
          <a:xfrm>
            <a:off x="7452360" y="3518535"/>
            <a:ext cx="3938143" cy="2099786"/>
            <a:chOff x="7452360" y="3518535"/>
            <a:chExt cx="3938143" cy="2099786"/>
          </a:xfrm>
        </p:grpSpPr>
        <p:sp>
          <p:nvSpPr>
            <p:cNvPr id="49" name="Rectangle 49"/>
            <p:cNvSpPr/>
            <p:nvPr/>
          </p:nvSpPr>
          <p:spPr>
            <a:xfrm>
              <a:off x="7585710" y="3661410"/>
              <a:ext cx="19050" cy="13735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7452360" y="351853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45984" y="3592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452360" y="430911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45984" y="43829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452360" y="48920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545984" y="49658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64602" y="3549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写者到达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65745" y="3818096"/>
              <a:ext cx="290601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第一个写者 P(read_try)，此后新读者都停在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P(read_try)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64602" y="43405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等读者读完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65745" y="4607719"/>
              <a:ext cx="3282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写者在 P(resource) 等已经在读的读者全部离开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64602" y="4923473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写者连续进入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65745" y="5190649"/>
              <a:ext cx="35247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只要还有写者，read_try 一直被占着；最后一个写者离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开时 V(read_try) 放行读者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3" name="Rectangle 6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892" y="6028373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写者源源不断时读者会饿死。两种优先都有饥饿，要彻底避免需让读者、写者按到达顺序排队。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经典同步问题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哲学家就餐：直接拿叉子会死锁，限制同时拿叉的人数即可避免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graph-1"/>
          <p:cNvGrpSpPr/>
          <p:nvPr/>
        </p:nvGrpSpPr>
        <p:grpSpPr>
          <a:xfrm>
            <a:off x="1203008" y="1579245"/>
            <a:ext cx="1920239" cy="1875472"/>
            <a:chOff x="1203008" y="1579245"/>
            <a:chExt cx="1920239" cy="1875472"/>
          </a:xfrm>
        </p:grpSpPr>
        <p:sp>
          <p:nvSpPr>
            <p:cNvPr id="7" name="Freeform 7"/>
            <p:cNvSpPr/>
            <p:nvPr/>
          </p:nvSpPr>
          <p:spPr>
            <a:xfrm>
              <a:off x="1981200" y="1962150"/>
              <a:ext cx="44767" cy="57150"/>
            </a:xfrm>
            <a:custGeom>
              <a:avLst/>
              <a:gdLst/>
              <a:ahLst/>
              <a:cxnLst/>
              <a:rect l="l" t="t" r="r" b="b"/>
              <a:pathLst>
                <a:path w="44767" h="57150">
                  <a:moveTo>
                    <a:pt x="44767" y="0"/>
                  </a:moveTo>
                  <a:lnTo>
                    <a:pt x="0" y="5715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300288" y="1962150"/>
              <a:ext cx="44767" cy="57150"/>
            </a:xfrm>
            <a:custGeom>
              <a:avLst/>
              <a:gdLst/>
              <a:ahLst/>
              <a:cxnLst/>
              <a:rect l="l" t="t" r="r" b="b"/>
              <a:pathLst>
                <a:path w="44767" h="57150">
                  <a:moveTo>
                    <a:pt x="0" y="0"/>
                  </a:moveTo>
                  <a:lnTo>
                    <a:pt x="44767" y="5715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647950" y="2236470"/>
              <a:ext cx="60960" cy="23812"/>
            </a:xfrm>
            <a:custGeom>
              <a:avLst/>
              <a:gdLst/>
              <a:ahLst/>
              <a:cxnLst/>
              <a:rect l="l" t="t" r="r" b="b"/>
              <a:pathLst>
                <a:path w="60960" h="23812">
                  <a:moveTo>
                    <a:pt x="60960" y="2381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2741295" y="2528888"/>
              <a:ext cx="53340" cy="83820"/>
            </a:xfrm>
            <a:custGeom>
              <a:avLst/>
              <a:gdLst/>
              <a:ahLst/>
              <a:cxnLst/>
              <a:rect l="l" t="t" r="r" b="b"/>
              <a:pathLst>
                <a:path w="53340" h="83820">
                  <a:moveTo>
                    <a:pt x="53340" y="0"/>
                  </a:moveTo>
                  <a:lnTo>
                    <a:pt x="0" y="8382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2634615" y="2892742"/>
              <a:ext cx="9525" cy="131445"/>
            </a:xfrm>
            <a:custGeom>
              <a:avLst/>
              <a:gdLst/>
              <a:ahLst/>
              <a:cxnLst/>
              <a:rect l="l" t="t" r="r" b="b"/>
              <a:pathLst>
                <a:path w="9525" h="131445">
                  <a:moveTo>
                    <a:pt x="0" y="131445"/>
                  </a:moveTo>
                  <a:lnTo>
                    <a:pt x="85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2354580" y="3172778"/>
              <a:ext cx="52388" cy="14288"/>
            </a:xfrm>
            <a:custGeom>
              <a:avLst/>
              <a:gdLst/>
              <a:ahLst/>
              <a:cxnLst/>
              <a:rect l="l" t="t" r="r" b="b"/>
              <a:pathLst>
                <a:path w="52388" h="14288">
                  <a:moveTo>
                    <a:pt x="52388" y="1428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1919288" y="3172778"/>
              <a:ext cx="52388" cy="14288"/>
            </a:xfrm>
            <a:custGeom>
              <a:avLst/>
              <a:gdLst/>
              <a:ahLst/>
              <a:cxnLst/>
              <a:rect l="l" t="t" r="r" b="b"/>
              <a:pathLst>
                <a:path w="52388" h="14288">
                  <a:moveTo>
                    <a:pt x="0" y="14288"/>
                  </a:moveTo>
                  <a:lnTo>
                    <a:pt x="523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1684020" y="2892742"/>
              <a:ext cx="9525" cy="131445"/>
            </a:xfrm>
            <a:custGeom>
              <a:avLst/>
              <a:gdLst/>
              <a:ahLst/>
              <a:cxnLst/>
              <a:rect l="l" t="t" r="r" b="b"/>
              <a:pathLst>
                <a:path w="9525" h="131445">
                  <a:moveTo>
                    <a:pt x="8572" y="13144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1531620" y="2528888"/>
              <a:ext cx="53340" cy="83820"/>
            </a:xfrm>
            <a:custGeom>
              <a:avLst/>
              <a:gdLst/>
              <a:ahLst/>
              <a:cxnLst/>
              <a:rect l="l" t="t" r="r" b="b"/>
              <a:pathLst>
                <a:path w="53340" h="83820">
                  <a:moveTo>
                    <a:pt x="0" y="0"/>
                  </a:moveTo>
                  <a:lnTo>
                    <a:pt x="53340" y="8382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1617345" y="2236470"/>
              <a:ext cx="60960" cy="23812"/>
            </a:xfrm>
            <a:custGeom>
              <a:avLst/>
              <a:gdLst/>
              <a:ahLst/>
              <a:cxnLst/>
              <a:rect l="l" t="t" r="r" b="b"/>
              <a:pathLst>
                <a:path w="60960" h="23812">
                  <a:moveTo>
                    <a:pt x="0" y="23812"/>
                  </a:moveTo>
                  <a:lnTo>
                    <a:pt x="609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7" name="Ellipse 17"/>
            <p:cNvSpPr/>
            <p:nvPr/>
          </p:nvSpPr>
          <p:spPr>
            <a:xfrm>
              <a:off x="1952625" y="1579245"/>
              <a:ext cx="421005" cy="42100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702242" y="2132648"/>
              <a:ext cx="421005" cy="4210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408872" y="3033712"/>
              <a:ext cx="421005" cy="4210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496378" y="3033712"/>
              <a:ext cx="421005" cy="4210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203008" y="2132648"/>
              <a:ext cx="421005" cy="4210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678305" y="2019300"/>
              <a:ext cx="382905" cy="280035"/>
            </a:xfrm>
            <a:prstGeom prst="roundRect">
              <a:avLst>
                <a:gd name="adj" fmla="val 1360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265045" y="2019300"/>
              <a:ext cx="382905" cy="280035"/>
            </a:xfrm>
            <a:prstGeom prst="roundRect">
              <a:avLst>
                <a:gd name="adj" fmla="val 1360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61260" y="2612708"/>
              <a:ext cx="382905" cy="280035"/>
            </a:xfrm>
            <a:prstGeom prst="roundRect">
              <a:avLst>
                <a:gd name="adj" fmla="val 1360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971675" y="2981325"/>
              <a:ext cx="382905" cy="280035"/>
            </a:xfrm>
            <a:prstGeom prst="roundRect">
              <a:avLst>
                <a:gd name="adj" fmla="val 1360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483042" y="2612708"/>
              <a:ext cx="382905" cy="280035"/>
            </a:xfrm>
            <a:prstGeom prst="roundRect">
              <a:avLst>
                <a:gd name="adj" fmla="val 1360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035348" y="172497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ph0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84966" y="227742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ph1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91596" y="317849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ph2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79101" y="3178493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ph3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85731" y="227742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ph4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82793" y="209359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69533" y="209359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65748" y="26870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76163" y="305562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87531" y="26870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f4</a:t>
              </a:r>
            </a:p>
          </p:txBody>
        </p:sp>
      </p:grpSp>
      <p:grpSp>
        <p:nvGrpSpPr>
          <p:cNvPr id="44" name="c1-card-2"/>
          <p:cNvGrpSpPr/>
          <p:nvPr/>
        </p:nvGrpSpPr>
        <p:grpSpPr>
          <a:xfrm>
            <a:off x="533400" y="3762375"/>
            <a:ext cx="3259455" cy="2133600"/>
            <a:chOff x="533400" y="3762375"/>
            <a:chExt cx="3259455" cy="2133600"/>
          </a:xfrm>
        </p:grpSpPr>
        <p:sp>
          <p:nvSpPr>
            <p:cNvPr id="38" name="Rectangle 38"/>
            <p:cNvSpPr/>
            <p:nvPr/>
          </p:nvSpPr>
          <p:spPr>
            <a:xfrm>
              <a:off x="533400" y="3762375"/>
              <a:ext cx="3259455" cy="2133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3895725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81050" y="3971925"/>
              <a:ext cx="183165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29665" y="4007644"/>
              <a:ext cx="17353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问题（Dijkstra，1965）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3430" y="4349115"/>
              <a:ext cx="26631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哲学家 i 交替思考和进食，进食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要同时拿到左叉 fork[i] 和右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叉 fork[(i+1) mod 5]。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4573" y="5252561"/>
              <a:ext cx="24513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叉子是不同种组合资源：每把都不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同。</a:t>
              </a:r>
            </a:p>
          </p:txBody>
        </p:sp>
      </p:grpSp>
      <p:grpSp>
        <p:nvGrpSpPr>
          <p:cNvPr id="48" name="c2-code-1"/>
          <p:cNvGrpSpPr/>
          <p:nvPr/>
        </p:nvGrpSpPr>
        <p:grpSpPr>
          <a:xfrm>
            <a:off x="4097655" y="1524000"/>
            <a:ext cx="3575685" cy="2530792"/>
            <a:chOff x="4097655" y="1524000"/>
            <a:chExt cx="3575685" cy="2530792"/>
          </a:xfrm>
        </p:grpSpPr>
        <p:sp>
          <p:nvSpPr>
            <p:cNvPr id="45" name="Rectangle 45"/>
            <p:cNvSpPr/>
            <p:nvPr/>
          </p:nvSpPr>
          <p:spPr>
            <a:xfrm>
              <a:off x="4097655" y="1524000"/>
              <a:ext cx="3575685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226052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直接解法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25290" y="1937861"/>
              <a:ext cx="2173478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semaphore fork[5];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全为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process PH(i):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think;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P(fork[i]);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P(fork[(i+1) mod 5]);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eat;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V(fork[i]);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V(fork[(i+1) mod 5]);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until false;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4097655" y="4245292"/>
            <a:ext cx="3575685" cy="1650682"/>
            <a:chOff x="4097655" y="4245292"/>
            <a:chExt cx="3575685" cy="1650682"/>
          </a:xfrm>
        </p:grpSpPr>
        <p:sp>
          <p:nvSpPr>
            <p:cNvPr id="49" name="Rectangle 49"/>
            <p:cNvSpPr/>
            <p:nvPr/>
          </p:nvSpPr>
          <p:spPr>
            <a:xfrm>
              <a:off x="4097655" y="4245292"/>
              <a:ext cx="3575685" cy="1650682"/>
            </a:xfrm>
            <a:prstGeom prst="roundRect">
              <a:avLst>
                <a:gd name="adj" fmla="val 692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4290384" y="4966453"/>
              <a:ext cx="224134" cy="192560"/>
              <a:chOff x="4290384" y="4966453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4402455" y="50368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4290384" y="49664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4402455" y="51146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4604385" y="4827270"/>
              <a:ext cx="2491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死锁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：五位哲学家同时拿起左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叉，都在等右叉。</a:t>
              </a:r>
            </a:p>
          </p:txBody>
        </p:sp>
      </p:grpSp>
      <p:grpSp>
        <p:nvGrpSpPr>
          <p:cNvPr id="61" name="c3-code-1"/>
          <p:cNvGrpSpPr/>
          <p:nvPr/>
        </p:nvGrpSpPr>
        <p:grpSpPr>
          <a:xfrm>
            <a:off x="7978140" y="1524000"/>
            <a:ext cx="3680460" cy="2733675"/>
            <a:chOff x="7978140" y="1524000"/>
            <a:chExt cx="3680460" cy="2733675"/>
          </a:xfrm>
        </p:grpSpPr>
        <p:sp>
          <p:nvSpPr>
            <p:cNvPr id="56" name="Rectangle 56"/>
            <p:cNvSpPr/>
            <p:nvPr/>
          </p:nvSpPr>
          <p:spPr>
            <a:xfrm>
              <a:off x="7978140" y="1524000"/>
              <a:ext cx="3680460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106537" y="1675924"/>
              <a:ext cx="12097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改进：count 初值 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997190" y="2504122"/>
              <a:ext cx="364236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997190" y="3721418"/>
              <a:ext cx="364236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105775" y="1937861"/>
              <a:ext cx="1810766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semaphore count = 4;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think;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P(count);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P(fork[i]);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P(fork[(i+1) mod 5]);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eat;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V(fork[i]);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V(fork[(i+1) mod 5]);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V(count);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until false;</a:t>
              </a:r>
            </a:p>
          </p:txBody>
        </p:sp>
      </p:grpSp>
      <p:grpSp>
        <p:nvGrpSpPr>
          <p:cNvPr id="67" name="c3-callout-2"/>
          <p:cNvGrpSpPr/>
          <p:nvPr/>
        </p:nvGrpSpPr>
        <p:grpSpPr>
          <a:xfrm>
            <a:off x="7978140" y="4448175"/>
            <a:ext cx="3680460" cy="1447800"/>
            <a:chOff x="7978140" y="4448175"/>
            <a:chExt cx="3680460" cy="1447800"/>
          </a:xfrm>
        </p:grpSpPr>
        <p:sp>
          <p:nvSpPr>
            <p:cNvPr id="62" name="Rectangle 62"/>
            <p:cNvSpPr/>
            <p:nvPr/>
          </p:nvSpPr>
          <p:spPr>
            <a:xfrm>
              <a:off x="7978140" y="4448175"/>
              <a:ext cx="3680460" cy="1447800"/>
            </a:xfrm>
            <a:prstGeom prst="roundRect">
              <a:avLst>
                <a:gd name="adj" fmla="val 789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8182928" y="5072063"/>
              <a:ext cx="200026" cy="200026"/>
              <a:chOff x="8182928" y="5072063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182928" y="50720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249603" y="51498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8484870" y="4791075"/>
              <a:ext cx="27108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最多 4 人同时去拿叉，5 把叉子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分给 4 人，至少有一人能拿到两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把，不会死锁。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经典同步问题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哲学家就餐：左右邻都不在吃才开吃（两把叉子一起拿）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204313" cy="308039"/>
            <a:chOff x="525399" y="1550194"/>
            <a:chExt cx="1020431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2043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state[i] ∈ {thinking, hungry, eating}；self[i] 初值 0，供哲学家 i 等待；mutex 初值 1，保护 state。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4111942" cy="2530792"/>
            <a:chOff x="533400" y="1967865"/>
            <a:chExt cx="4111942" cy="253079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4111942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就餐条件测试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3062478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test(i: 0..4);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(state[i] = hungry) and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(state[(i+4) mod 5] &lt;&gt; eating) and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(state[(i+1) mod 5] &lt;&gt; eating)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then begin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state[i] := eating;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V(self[i])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689158"/>
            <a:ext cx="4111942" cy="1335405"/>
            <a:chOff x="533400" y="4689158"/>
            <a:chExt cx="4111942" cy="1335405"/>
          </a:xfrm>
        </p:grpSpPr>
        <p:sp>
          <p:nvSpPr>
            <p:cNvPr id="13" name="Rectangle 13"/>
            <p:cNvSpPr/>
            <p:nvPr/>
          </p:nvSpPr>
          <p:spPr>
            <a:xfrm>
              <a:off x="533400" y="4689158"/>
              <a:ext cx="4111942" cy="1335405"/>
            </a:xfrm>
            <a:prstGeom prst="roundRect">
              <a:avLst>
                <a:gd name="adj" fmla="val 85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256848"/>
              <a:ext cx="200026" cy="200026"/>
              <a:chOff x="738188" y="5256848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2568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53235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7088" y="53568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4837748"/>
              <a:ext cx="323469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自测时 state[i] = hungry 必然成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立，测邻居时才起作用。原课件写作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(I−1) mod 5，C 语言中 −1 % 5 = −1，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这里写成 (i+4) mod 5。</a:t>
              </a:r>
            </a:p>
          </p:txBody>
        </p:sp>
      </p:grpSp>
      <p:grpSp>
        <p:nvGrpSpPr>
          <p:cNvPr id="26" name="c2-code-1"/>
          <p:cNvGrpSpPr/>
          <p:nvPr/>
        </p:nvGrpSpPr>
        <p:grpSpPr>
          <a:xfrm>
            <a:off x="4950142" y="1967865"/>
            <a:ext cx="6708458" cy="2936558"/>
            <a:chOff x="4950142" y="1967865"/>
            <a:chExt cx="6708458" cy="2936558"/>
          </a:xfrm>
        </p:grpSpPr>
        <p:sp>
          <p:nvSpPr>
            <p:cNvPr id="20" name="Rectangle 20"/>
            <p:cNvSpPr/>
            <p:nvPr/>
          </p:nvSpPr>
          <p:spPr>
            <a:xfrm>
              <a:off x="4950142" y="1967865"/>
              <a:ext cx="6708458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78540" y="2119789"/>
              <a:ext cx="23262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哲学家 i（初始 state 全为 thinking）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969192" y="3353752"/>
              <a:ext cx="667035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69192" y="3962400"/>
              <a:ext cx="667035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969192" y="4165282"/>
              <a:ext cx="667035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077778" y="2381726"/>
              <a:ext cx="3467862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cycle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think;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P(mutex); state[i] := hungry;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test(i);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左右都不在吃就开吃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P(self[i]);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测试没通过就在这里等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取左叉，取右叉; eat; 放左叉，放右叉;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P(mutex); state[i] := thinking;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test((i+4) mod 5);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左邻能否开吃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test((i+1) mod 5);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右邻能否开吃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</a:p>
          </p:txBody>
        </p:sp>
      </p:grpSp>
      <p:grpSp>
        <p:nvGrpSpPr>
          <p:cNvPr id="33" name="c2-callout-2"/>
          <p:cNvGrpSpPr/>
          <p:nvPr/>
        </p:nvGrpSpPr>
        <p:grpSpPr>
          <a:xfrm>
            <a:off x="4950142" y="5094922"/>
            <a:ext cx="6708458" cy="929640"/>
            <a:chOff x="4950142" y="5094922"/>
            <a:chExt cx="6708458" cy="929640"/>
          </a:xfrm>
        </p:grpSpPr>
        <p:sp>
          <p:nvSpPr>
            <p:cNvPr id="27" name="Rectangle 27"/>
            <p:cNvSpPr/>
            <p:nvPr/>
          </p:nvSpPr>
          <p:spPr>
            <a:xfrm>
              <a:off x="4950142" y="5094922"/>
              <a:ext cx="6708458" cy="929640"/>
            </a:xfrm>
            <a:prstGeom prst="roundRect">
              <a:avLst>
                <a:gd name="adj" fmla="val 1229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5142872" y="5456038"/>
              <a:ext cx="224134" cy="192560"/>
              <a:chOff x="5142872" y="5456038"/>
              <a:chExt cx="224134" cy="1925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5254943" y="552640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142872" y="545603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254943" y="56041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5456873" y="5316855"/>
              <a:ext cx="54349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仍可能饿死：哲学家 1 的邻居 0 和 2 交替进食，0 没吃完 2 就开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吃，2 没吃完 0 又开吃，哲学家 1 一直等待。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经典同步问题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吸烟者问题：普通信号量分两次拿材料会死锁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977765" cy="1986915"/>
            <a:chOff x="533400" y="1524000"/>
            <a:chExt cx="4977765" cy="1986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11442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80" y="1769269"/>
              <a:ext cx="9747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问题（Patil）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25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卷烟需要烟草 t、火柴 m、纸 w 三种材料。3 个供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应者各拿出两种，3 个吸烟者各自已有一种。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同一时刻只能有一个供应者供应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705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吸烟者抽完后供应者才能继续</a:t>
              </a:r>
            </a:p>
          </p:txBody>
        </p:sp>
      </p:grpSp>
      <p:grpSp>
        <p:nvGrpSpPr>
          <p:cNvPr id="36" name="c1-table-2"/>
          <p:cNvGrpSpPr/>
          <p:nvPr/>
        </p:nvGrpSpPr>
        <p:grpSpPr>
          <a:xfrm>
            <a:off x="533400" y="3701415"/>
            <a:ext cx="4977765" cy="1795462"/>
            <a:chOff x="533400" y="3701415"/>
            <a:chExt cx="4977765" cy="1795462"/>
          </a:xfrm>
        </p:grpSpPr>
        <p:sp>
          <p:nvSpPr>
            <p:cNvPr id="17" name="Rectangle 17"/>
            <p:cNvSpPr/>
            <p:nvPr/>
          </p:nvSpPr>
          <p:spPr>
            <a:xfrm>
              <a:off x="533400" y="3701415"/>
              <a:ext cx="497776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7578" y="383714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供应者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08352" y="383714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放上桌的材料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50423" y="38371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由谁取走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3476" y="428577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17888" y="4285774"/>
              <a:ext cx="12277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烟草 t + 火柴 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99713" y="4285774"/>
              <a:ext cx="9746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C（已有纸）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59390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598670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3476" y="473440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6813" y="4734401"/>
              <a:ext cx="10899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火柴 m + 纸 w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99713" y="4734401"/>
              <a:ext cx="11469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A（已有烟草）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04348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93476" y="518302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04044" y="5183029"/>
              <a:ext cx="1055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纸 w + 烟草 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99713" y="5183029"/>
              <a:ext cx="11469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B（已有火柴）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701415"/>
              <a:ext cx="497776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765935" y="370141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687128" y="370141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2-code-1"/>
          <p:cNvGrpSpPr/>
          <p:nvPr/>
        </p:nvGrpSpPr>
        <p:grpSpPr>
          <a:xfrm>
            <a:off x="5815965" y="1524000"/>
            <a:ext cx="5842635" cy="1922145"/>
            <a:chOff x="5815965" y="1524000"/>
            <a:chExt cx="5842635" cy="1922145"/>
          </a:xfrm>
        </p:grpSpPr>
        <p:sp>
          <p:nvSpPr>
            <p:cNvPr id="37" name="Rectangle 37"/>
            <p:cNvSpPr/>
            <p:nvPr/>
          </p:nvSpPr>
          <p:spPr>
            <a:xfrm>
              <a:off x="5815965" y="1524000"/>
              <a:ext cx="584263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44362" y="1675924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普通信号量写法（各进程都在循环中执行）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43600" y="1937861"/>
              <a:ext cx="2906014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semaphore t = 0, m = 0, w = 0, s = 1;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X: P(s); V(t); V(m);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Y: P(s); V(m); V(w);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Z: P(s); V(w); V(t);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A: P(m); P(w); smoke; V(s);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B: P(w); P(t); smoke; V(s);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C: P(t); P(m); smoke; V(s);</a:t>
              </a:r>
            </a:p>
          </p:txBody>
        </p:sp>
      </p:grpSp>
      <p:grpSp>
        <p:nvGrpSpPr>
          <p:cNvPr id="54" name="c2-steps-2"/>
          <p:cNvGrpSpPr/>
          <p:nvPr/>
        </p:nvGrpSpPr>
        <p:grpSpPr>
          <a:xfrm>
            <a:off x="5815965" y="3646170"/>
            <a:ext cx="5158511" cy="1878615"/>
            <a:chOff x="5815965" y="3646170"/>
            <a:chExt cx="5158511" cy="1878615"/>
          </a:xfrm>
        </p:grpSpPr>
        <p:sp>
          <p:nvSpPr>
            <p:cNvPr id="41" name="Rectangle 41"/>
            <p:cNvSpPr/>
            <p:nvPr/>
          </p:nvSpPr>
          <p:spPr>
            <a:xfrm>
              <a:off x="5949315" y="378904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5815965" y="364617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09589" y="37199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815965" y="429672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09589" y="43705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815965" y="49472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09589" y="50211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27445" y="3680460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供应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28588" y="3974306"/>
              <a:ext cx="25511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V(t)、V(m)，桌上有烟草和火柴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27445" y="433101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两个吸烟者各拿一半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28588" y="4624864"/>
              <a:ext cx="35902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执行 P(t) 拿走烟草，A 执行 P(m) 拿走火柴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27445" y="4981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28588" y="5275421"/>
              <a:ext cx="47458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等 m、A 等 w，谁都抽不成，没人执行 V(s)，供应者也停下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991225"/>
              <a:ext cx="9953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根源：一个进程需要的多种资源分几次 P 申请，拿到一部分就占着不放。需要一次同时申请多个信号量的操作。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63396" cy="909257"/>
            <a:chOff x="520446" y="342900"/>
            <a:chExt cx="90633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经典同步问题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633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 P、V 操作（SP、SV）：几种资源要么全拿，要么不拿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3154680"/>
            <a:chOff x="533400" y="1524000"/>
            <a:chExt cx="5626418" cy="31546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154680"/>
            </a:xfrm>
            <a:prstGeom prst="roundRect">
              <a:avLst>
                <a:gd name="adj" fmla="val 301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338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同时 P 操作与同时 V 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2931033" cy="26694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SP(S1, t1, d1; …; Sn, tn, dn):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S1 &gt;= t1 and … and Sn &gt;= tn then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i := 1 to n do Si := Si - di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 begin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进程进入第一个 Si &lt; ti 的 Si 等待队列;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程序计数器退回 SP 开头，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被唤醒后重新检查全部条件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SV(S1, d1; …; Sn, dn):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i := 1 to n do begin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Si := Si + di;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Si 队列中的进程全部移入就绪队列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end;</a:t>
              </a:r>
            </a:p>
          </p:txBody>
        </p:sp>
      </p:grpSp>
      <p:grpSp>
        <p:nvGrpSpPr>
          <p:cNvPr id="19" name="c1-kv-2"/>
          <p:cNvGrpSpPr/>
          <p:nvPr/>
        </p:nvGrpSpPr>
        <p:grpSpPr>
          <a:xfrm>
            <a:off x="525780" y="4893945"/>
            <a:ext cx="5634038" cy="1173480"/>
            <a:chOff x="525780" y="4893945"/>
            <a:chExt cx="5634038" cy="1173480"/>
          </a:xfrm>
        </p:grpSpPr>
        <p:sp>
          <p:nvSpPr>
            <p:cNvPr id="11" name="TextBox 11"/>
            <p:cNvSpPr txBox="1"/>
            <p:nvPr/>
          </p:nvSpPr>
          <p:spPr>
            <a:xfrm>
              <a:off x="525780" y="4893945"/>
              <a:ext cx="195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ti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78268" y="4893945"/>
              <a:ext cx="18719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下限：Si ≥ ti 才分配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52139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5780" y="5334000"/>
              <a:ext cx="195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78268" y="53340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本次需求量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56540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5780" y="5774055"/>
              <a:ext cx="6540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AND 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78268" y="5774055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ti、di 都为 1 时的特例，最常用</a:t>
              </a:r>
            </a:p>
          </p:txBody>
        </p:sp>
      </p:grpSp>
      <p:grpSp>
        <p:nvGrpSpPr>
          <p:cNvPr id="25" name="c2-code-1"/>
          <p:cNvGrpSpPr/>
          <p:nvPr/>
        </p:nvGrpSpPr>
        <p:grpSpPr>
          <a:xfrm>
            <a:off x="6464618" y="1524000"/>
            <a:ext cx="5193982" cy="2397442"/>
            <a:chOff x="6464618" y="1524000"/>
            <a:chExt cx="5193982" cy="2397442"/>
          </a:xfrm>
        </p:grpSpPr>
        <p:sp>
          <p:nvSpPr>
            <p:cNvPr id="20" name="Rectangle 20"/>
            <p:cNvSpPr/>
            <p:nvPr/>
          </p:nvSpPr>
          <p:spPr>
            <a:xfrm>
              <a:off x="6464618" y="1524000"/>
              <a:ext cx="5193982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93015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吸烟者问题的解法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83668" y="2654618"/>
              <a:ext cx="515588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83668" y="3411855"/>
              <a:ext cx="515588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92634" y="1937385"/>
              <a:ext cx="2724341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semaphore t = 0, m = 0, w = 0, s =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X: loop P(s); SV(t,1; m,1); endloop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Y: loop P(s); SV(m,1; w,1); endloop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Z: loop P(s); SV(w,1; t,1); endloop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A: loop SP(m,1,1; w,1,1);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smoke; V(s); endloop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B: loop SP(w,1,1; t,1,1);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smoke; V(s); endloop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C: loop SP(t,1,1; m,1,1);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smoke; V(s); endloop</a:t>
              </a:r>
            </a:p>
          </p:txBody>
        </p:sp>
      </p:grpSp>
      <p:grpSp>
        <p:nvGrpSpPr>
          <p:cNvPr id="31" name="c2-callout-2"/>
          <p:cNvGrpSpPr/>
          <p:nvPr/>
        </p:nvGrpSpPr>
        <p:grpSpPr>
          <a:xfrm>
            <a:off x="6464618" y="4111942"/>
            <a:ext cx="5193982" cy="1059180"/>
            <a:chOff x="6464618" y="4111942"/>
            <a:chExt cx="5193982" cy="1059180"/>
          </a:xfrm>
        </p:grpSpPr>
        <p:sp>
          <p:nvSpPr>
            <p:cNvPr id="26" name="Rectangle 26"/>
            <p:cNvSpPr/>
            <p:nvPr/>
          </p:nvSpPr>
          <p:spPr>
            <a:xfrm>
              <a:off x="6464618" y="4111942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669405" y="4541520"/>
              <a:ext cx="200026" cy="200026"/>
              <a:chOff x="6669405" y="4541520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669405" y="45415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736080" y="461930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971348" y="4260532"/>
              <a:ext cx="42157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 供应 t、m 后，A 的 SP 发现 w = 0，一个也不拿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就去等；只有 C 的 SP 两个条件都满足。不会出现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“各拿一半”的局面。</a:t>
              </a:r>
            </a:p>
          </p:txBody>
        </p:sp>
      </p:grpSp>
      <p:grpSp>
        <p:nvGrpSpPr>
          <p:cNvPr id="38" name="c2-callout-3"/>
          <p:cNvGrpSpPr/>
          <p:nvPr/>
        </p:nvGrpSpPr>
        <p:grpSpPr>
          <a:xfrm>
            <a:off x="6464618" y="5361622"/>
            <a:ext cx="5193982" cy="782955"/>
            <a:chOff x="6464618" y="5361622"/>
            <a:chExt cx="5193982" cy="782955"/>
          </a:xfrm>
        </p:grpSpPr>
        <p:sp>
          <p:nvSpPr>
            <p:cNvPr id="32" name="Rectangle 32"/>
            <p:cNvSpPr/>
            <p:nvPr/>
          </p:nvSpPr>
          <p:spPr>
            <a:xfrm>
              <a:off x="6464618" y="5361622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69405" y="5653088"/>
              <a:ext cx="200026" cy="200026"/>
              <a:chOff x="6669405" y="5653088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669405" y="56530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769418" y="57197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758305" y="57531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971348" y="5510212"/>
              <a:ext cx="4225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SV 把等待者全部唤醒，被唤醒的进程回到 SP 开头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重新检查，条件仍不满足就再次等待。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71030" cy="909257"/>
            <a:chOff x="520446" y="342900"/>
            <a:chExt cx="85710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经典同步问题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710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用信号量管理资源：3 台打印机与三组进程轮流使用资源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328160" cy="3091815"/>
            <a:chOff x="533400" y="1524000"/>
            <a:chExt cx="4328160" cy="30918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3091815"/>
            </a:xfrm>
            <a:prstGeom prst="roundRect">
              <a:avLst>
                <a:gd name="adj" fmla="val 30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369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5：3 台打印机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11" y="1936480"/>
              <a:ext cx="2398547" cy="2599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8"/>
                </a:lnSpc>
              </a:pP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lp: array[1..3] of (free, used);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semaphore S = 3, mutex = 1;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function require: 1..3;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P(S);     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保证至少一台空闲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P(mutex);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i := 1 to 3 do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lp[i] = free then break;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lp[i] := used;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return(i);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return(i: 1..3);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P(mutex); lp[i] := free; V(mutex);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V(S);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790122"/>
            <a:ext cx="4328160" cy="1469708"/>
            <a:chOff x="533400" y="4790122"/>
            <a:chExt cx="4328160" cy="1469708"/>
          </a:xfrm>
        </p:grpSpPr>
        <p:sp>
          <p:nvSpPr>
            <p:cNvPr id="11" name="Rectangle 11"/>
            <p:cNvSpPr/>
            <p:nvPr/>
          </p:nvSpPr>
          <p:spPr>
            <a:xfrm>
              <a:off x="533400" y="4790122"/>
              <a:ext cx="4328160" cy="1469708"/>
            </a:xfrm>
            <a:prstGeom prst="roundRect">
              <a:avLst>
                <a:gd name="adj" fmla="val 777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425440"/>
              <a:ext cx="200026" cy="200025"/>
              <a:chOff x="738188" y="5425440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4254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4698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5810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5306378"/>
              <a:ext cx="34855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 管数量，mutex 管空闲表 lp；两者配合才能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知道分到的是哪一台。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5166360" y="1524000"/>
            <a:ext cx="6492240" cy="2747010"/>
            <a:chOff x="5166360" y="1524000"/>
            <a:chExt cx="6492240" cy="2747010"/>
          </a:xfrm>
        </p:grpSpPr>
        <p:sp>
          <p:nvSpPr>
            <p:cNvPr id="18" name="Rectangle 18"/>
            <p:cNvSpPr/>
            <p:nvPr/>
          </p:nvSpPr>
          <p:spPr>
            <a:xfrm>
              <a:off x="5166360" y="1524000"/>
              <a:ext cx="6492240" cy="2747010"/>
            </a:xfrm>
            <a:prstGeom prst="roundRect">
              <a:avLst>
                <a:gd name="adj" fmla="val 346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94757" y="1675924"/>
              <a:ext cx="33004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7：A、B、C 三组进程互斥使用资源 R（A 组的代码）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94871" y="1936480"/>
              <a:ext cx="3194837" cy="225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8"/>
                </a:lnSpc>
              </a:pP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int free = 1;  semaphore mutex =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semaphore qa = 0, qb = 0, qc = 0;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int counta = 0, countb = 0, countc = 0;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 申请：                A 释放：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P(mutex);               P(mutex);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(free == 1) {        if (countb &gt; 0) {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free = 0;               countb--; V(qb);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             } else if (countc &gt; 0) {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else {                  countc--; V(qc);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counta++;             } else if (counta &gt; 0) {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               counta--; V(qa);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P(qa);                } else free =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                      V(mutex);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5166360" y="4446270"/>
            <a:ext cx="6492240" cy="1814512"/>
            <a:chOff x="5166360" y="4446270"/>
            <a:chExt cx="6492240" cy="1814512"/>
          </a:xfrm>
        </p:grpSpPr>
        <p:sp>
          <p:nvSpPr>
            <p:cNvPr id="22" name="Rectangle 22"/>
            <p:cNvSpPr/>
            <p:nvPr/>
          </p:nvSpPr>
          <p:spPr>
            <a:xfrm>
              <a:off x="5166360" y="4446270"/>
              <a:ext cx="6492240" cy="1814512"/>
            </a:xfrm>
            <a:prstGeom prst="roundRect">
              <a:avLst>
                <a:gd name="adj" fmla="val 734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58765" y="463867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30202" y="467296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要求与对称写法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51907" y="4994910"/>
              <a:ext cx="54915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只有一组申请时组内依次使用；两组时组间交替；三组时按 A → B → C → A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轮流，组内依次。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367338" y="561117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523357" y="5554980"/>
              <a:ext cx="41785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释放时依次查 C、A、B；C 释放时依次查 A、B、C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367338" y="591312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523357" y="5856923"/>
              <a:ext cx="5583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唤醒时 free 保持为 0，资源直接交给被唤醒者，它醒来后不必再检查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经典同步问题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生产线问题：限制箱中车架、车轮的数量来防止死锁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834157" cy="278702"/>
            <a:chOff x="526161" y="1547336"/>
            <a:chExt cx="1083415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8341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工人 1 加工车架、工人 2 加工车轮，都放入容量为 k 的箱子；工人 3 从箱中取一个车架和两个车轮组装成车。每类工人各一人。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41195"/>
            <a:ext cx="2628900" cy="1829752"/>
            <a:chOff x="533400" y="1941195"/>
            <a:chExt cx="2628900" cy="182975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2628900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工人 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693670"/>
              <a:ext cx="25908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416" y="2354580"/>
              <a:ext cx="1030796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加工一个车架;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P(S1);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P(empty);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车架放入箱中;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V(frame);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while (1);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3946208"/>
            <a:ext cx="2628900" cy="1829752"/>
            <a:chOff x="533400" y="3946208"/>
            <a:chExt cx="2628900" cy="1829752"/>
          </a:xfrm>
        </p:grpSpPr>
        <p:sp>
          <p:nvSpPr>
            <p:cNvPr id="14" name="Rectangle 14"/>
            <p:cNvSpPr/>
            <p:nvPr/>
          </p:nvSpPr>
          <p:spPr>
            <a:xfrm>
              <a:off x="533400" y="3946208"/>
              <a:ext cx="2628900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4098131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工人 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52450" y="4698682"/>
              <a:ext cx="25908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1416" y="4359592"/>
              <a:ext cx="1030796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加工一个车轮;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P(S2);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P(empty);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车轮放入箱中;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V(wheel);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while (1);</a:t>
              </a:r>
            </a:p>
          </p:txBody>
        </p:sp>
      </p:grpSp>
      <p:grpSp>
        <p:nvGrpSpPr>
          <p:cNvPr id="24" name="c2-code-1"/>
          <p:cNvGrpSpPr/>
          <p:nvPr/>
        </p:nvGrpSpPr>
        <p:grpSpPr>
          <a:xfrm>
            <a:off x="3467100" y="1941195"/>
            <a:ext cx="3049905" cy="2776538"/>
            <a:chOff x="3467100" y="1941195"/>
            <a:chExt cx="3049905" cy="2776538"/>
          </a:xfrm>
        </p:grpSpPr>
        <p:sp>
          <p:nvSpPr>
            <p:cNvPr id="19" name="Rectangle 19"/>
            <p:cNvSpPr/>
            <p:nvPr/>
          </p:nvSpPr>
          <p:spPr>
            <a:xfrm>
              <a:off x="3467100" y="1941195"/>
              <a:ext cx="3049905" cy="2776538"/>
            </a:xfrm>
            <a:prstGeom prst="roundRect">
              <a:avLst>
                <a:gd name="adj" fmla="val 3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595497" y="2093119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工人 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486150" y="3072765"/>
              <a:ext cx="30118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486150" y="4019550"/>
              <a:ext cx="30118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95116" y="2354580"/>
              <a:ext cx="1550861" cy="2290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P(frame);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箱中取一车架;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V(empty);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V(S1);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P(wheel);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P(wheel);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箱中取二车轮;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V(empty); V(empty);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V(S2); V(S2);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组装成一台车;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while (1);</a:t>
              </a:r>
            </a:p>
          </p:txBody>
        </p:sp>
      </p:grpSp>
      <p:grpSp>
        <p:nvGrpSpPr>
          <p:cNvPr id="49" name="c3-table-1"/>
          <p:cNvGrpSpPr/>
          <p:nvPr/>
        </p:nvGrpSpPr>
        <p:grpSpPr>
          <a:xfrm>
            <a:off x="6821805" y="1941195"/>
            <a:ext cx="4836795" cy="2028825"/>
            <a:chOff x="6821805" y="1941195"/>
            <a:chExt cx="4836795" cy="2028825"/>
          </a:xfrm>
        </p:grpSpPr>
        <p:sp>
          <p:nvSpPr>
            <p:cNvPr id="25" name="Rectangle 25"/>
            <p:cNvSpPr/>
            <p:nvPr/>
          </p:nvSpPr>
          <p:spPr>
            <a:xfrm>
              <a:off x="6821805" y="1941195"/>
              <a:ext cx="483679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14781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信号量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5126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4481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21817" y="2471261"/>
              <a:ext cx="478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empty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2475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43060" y="24712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箱中空位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21805" y="2747962"/>
              <a:ext cx="48367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21805" y="2752725"/>
              <a:ext cx="48367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21817" y="2877026"/>
              <a:ext cx="10879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frame / wheel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72475" y="287702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/ 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43060" y="287702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箱中车架数 / 车轮数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821805" y="3153728"/>
              <a:ext cx="48367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21817" y="3282791"/>
              <a:ext cx="798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S1（新增）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2475" y="3282791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− 2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43060" y="328279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车架数上限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821805" y="3559492"/>
              <a:ext cx="48367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821805" y="3564255"/>
              <a:ext cx="48367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21817" y="3688556"/>
              <a:ext cx="798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S2（新增）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2475" y="368855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− 1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43060" y="3688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车轮数上限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821805" y="1941195"/>
              <a:ext cx="483679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267700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138285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3-card-2"/>
          <p:cNvGrpSpPr/>
          <p:nvPr/>
        </p:nvGrpSpPr>
        <p:grpSpPr>
          <a:xfrm>
            <a:off x="6821805" y="4145280"/>
            <a:ext cx="4836795" cy="1937385"/>
            <a:chOff x="6821805" y="4145280"/>
            <a:chExt cx="4836795" cy="1937385"/>
          </a:xfrm>
        </p:grpSpPr>
        <p:sp>
          <p:nvSpPr>
            <p:cNvPr id="50" name="Rectangle 50"/>
            <p:cNvSpPr/>
            <p:nvPr/>
          </p:nvSpPr>
          <p:spPr>
            <a:xfrm>
              <a:off x="6821805" y="4145280"/>
              <a:ext cx="483679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31330" y="427863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052310" y="4337685"/>
              <a:ext cx="153543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99463" y="4371975"/>
              <a:ext cx="1439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不加 S1、S2 时的死锁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45452" y="4694872"/>
              <a:ext cx="424853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箱子装满而工人 3 取不到一套：箱中全是车轮（等车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架）；或全是车架、k − 1 个车架加 1 个车轮（等第二个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车轮）。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46595" y="5507831"/>
              <a:ext cx="40652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加限制后箱满时车架 ≤ k − 2，车轮就 ≥ 2；车轮 ≤ k − 1，车架就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≥ 1。工人 3 总能取到一套。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经典同步问题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系统与网络打印机：归还时先置空闲再唤醒（更正版）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719460" cy="278702"/>
            <a:chOff x="526161" y="1547336"/>
            <a:chExt cx="1071946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7194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网络打印机、系统打印机各一台。网络打印机由网络用户使用；系统打印机一般由系统用户使用，空闲时也可以给网络用户用。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3890962" cy="3780472"/>
            <a:chOff x="533400" y="1941195"/>
            <a:chExt cx="3890962" cy="378047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3890962" cy="3780472"/>
            </a:xfrm>
            <a:prstGeom prst="roundRect">
              <a:avLst>
                <a:gd name="adj" fmla="val 25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申请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11" y="2353675"/>
              <a:ext cx="2863050" cy="3289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8"/>
                </a:lnSpc>
              </a:pP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int sys_free = 1, net_free =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int sys_wait = 0, net_wait = 0;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semaphore sys_q = 0, net_q = 0;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semaphore mutex =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user_apply() {   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网络用户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L2: P(mutex);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(net_free) { net_free = 0;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V(mutex); return(net); }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 if (sys_free) { sys_free = 0;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V(mutex); return(sys); }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 { net_wait++; V(mutex);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P(net_q); goto L2; }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sys_apply() {    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系统用户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L1: P(mutex);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(sys_free) { sys_free = 0; V(mutex); }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 { sys_wait++; V(mutex);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P(sys_q); goto L1; }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2-code-1"/>
          <p:cNvGrpSpPr/>
          <p:nvPr/>
        </p:nvGrpSpPr>
        <p:grpSpPr>
          <a:xfrm>
            <a:off x="4729162" y="1941195"/>
            <a:ext cx="3469958" cy="3608070"/>
            <a:chOff x="4729162" y="1941195"/>
            <a:chExt cx="3469958" cy="3608070"/>
          </a:xfrm>
        </p:grpSpPr>
        <p:sp>
          <p:nvSpPr>
            <p:cNvPr id="13" name="Rectangle 13"/>
            <p:cNvSpPr/>
            <p:nvPr/>
          </p:nvSpPr>
          <p:spPr>
            <a:xfrm>
              <a:off x="4729162" y="1941195"/>
              <a:ext cx="3469958" cy="3608070"/>
            </a:xfrm>
            <a:prstGeom prst="roundRect">
              <a:avLst>
                <a:gd name="adj" fmla="val 274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57560" y="209311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归还（已更正）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748212" y="2662238"/>
              <a:ext cx="3431858" cy="17240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748212" y="4385310"/>
              <a:ext cx="3431858" cy="17240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57674" y="2353675"/>
              <a:ext cx="2181377" cy="31171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8"/>
                </a:lnSpc>
              </a:pP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sys_return() {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P(mutex);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sys_free =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(sys_wait &gt; 0) {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sys_wait--; V(sys_q);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 else if (net_wait &gt; 0) {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net_wait--; V(net_q);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user_return() {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归还网络打印机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P(mutex);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net_free =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(net_wait &gt; 0) {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net_wait--; V(net_q);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5" name="c3-card-1"/>
          <p:cNvGrpSpPr/>
          <p:nvPr/>
        </p:nvGrpSpPr>
        <p:grpSpPr>
          <a:xfrm>
            <a:off x="8503920" y="1941195"/>
            <a:ext cx="3154680" cy="3054668"/>
            <a:chOff x="8503920" y="1941195"/>
            <a:chExt cx="3154680" cy="3054668"/>
          </a:xfrm>
        </p:grpSpPr>
        <p:sp>
          <p:nvSpPr>
            <p:cNvPr id="19" name="Rectangle 19"/>
            <p:cNvSpPr/>
            <p:nvPr/>
          </p:nvSpPr>
          <p:spPr>
            <a:xfrm>
              <a:off x="8503920" y="1941195"/>
              <a:ext cx="3154680" cy="3054668"/>
            </a:xfrm>
            <a:prstGeom prst="roundRect">
              <a:avLst>
                <a:gd name="adj" fmla="val 43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513445" y="2074545"/>
              <a:ext cx="47625" cy="27879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73442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82586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27567" y="2490788"/>
              <a:ext cx="248259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 sys_return、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user_return 在有人等待时只做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V(sys_q) 或 V(net_q)，没有把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sys_free、net_free 置 1。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27567" y="3564255"/>
              <a:ext cx="2602611" cy="1292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被唤醒者执行 goto 回去重新检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查，发现打印机“仍被占用”又去等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待，这台打印机从此谁也用不上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（唤醒丢失）。原 sys_return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if-else 括号也不配对。</a:t>
              </a:r>
            </a:p>
          </p:txBody>
        </p:sp>
      </p:grpSp>
      <p:grpSp>
        <p:nvGrpSpPr>
          <p:cNvPr id="32" name="c3-callout-2"/>
          <p:cNvGrpSpPr/>
          <p:nvPr/>
        </p:nvGrpSpPr>
        <p:grpSpPr>
          <a:xfrm>
            <a:off x="8503920" y="5172075"/>
            <a:ext cx="3154680" cy="978218"/>
            <a:chOff x="8503920" y="5172075"/>
            <a:chExt cx="3154680" cy="978218"/>
          </a:xfrm>
        </p:grpSpPr>
        <p:sp>
          <p:nvSpPr>
            <p:cNvPr id="26" name="Rectangle 26"/>
            <p:cNvSpPr/>
            <p:nvPr/>
          </p:nvSpPr>
          <p:spPr>
            <a:xfrm>
              <a:off x="8503920" y="5172075"/>
              <a:ext cx="3154680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8708708" y="5560695"/>
              <a:ext cx="200026" cy="200025"/>
              <a:chOff x="8708708" y="5560695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708708" y="55606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48446" y="56051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83162" y="57162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9011412" y="5317808"/>
              <a:ext cx="22425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网络用户若分到的是系统打印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机，归还时调用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sys_return。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49360" cy="909257"/>
            <a:chOff x="520446" y="342900"/>
            <a:chExt cx="74493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经典同步问题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493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2009 年考研题：奇数、偶数分别由不同进程取走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731246" cy="887158"/>
            <a:chOff x="525399" y="1550194"/>
            <a:chExt cx="10731246" cy="88715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731246" cy="887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P1、P2、P3 互斥使用一个有 N 个单元的缓冲区。P1 用 produce() 生成一个正整数，用 put() 送入空闲单元；P2 用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getodd() 取出一个奇数，用 countodd() 统计奇数个数；P3 用 geteven() 取出一个偶数，用 counteven() 统计偶数个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2547938"/>
            <a:ext cx="3505200" cy="2733675"/>
            <a:chOff x="533400" y="2547938"/>
            <a:chExt cx="3505200" cy="2733675"/>
          </a:xfrm>
        </p:grpSpPr>
        <p:sp>
          <p:nvSpPr>
            <p:cNvPr id="9" name="Rectangle 9"/>
            <p:cNvSpPr/>
            <p:nvPr/>
          </p:nvSpPr>
          <p:spPr>
            <a:xfrm>
              <a:off x="533400" y="2547938"/>
              <a:ext cx="3505200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69986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961799"/>
              <a:ext cx="1341374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n = produce();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P(empty);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P(mutex);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put();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(n % 2 == 0)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V(even);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V(odd);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while (true);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4343400" y="2547938"/>
            <a:ext cx="3505200" cy="2125028"/>
            <a:chOff x="4343400" y="2547938"/>
            <a:chExt cx="3505200" cy="2125028"/>
          </a:xfrm>
        </p:grpSpPr>
        <p:sp>
          <p:nvSpPr>
            <p:cNvPr id="13" name="Rectangle 13"/>
            <p:cNvSpPr/>
            <p:nvPr/>
          </p:nvSpPr>
          <p:spPr>
            <a:xfrm>
              <a:off x="4343400" y="2547938"/>
              <a:ext cx="3505200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71797" y="269986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71035" y="2961799"/>
              <a:ext cx="1184910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P(odd);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P(mutex);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getodd();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V(empty);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countodd();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while (true);</a:t>
              </a:r>
            </a:p>
          </p:txBody>
        </p:sp>
      </p:grpSp>
      <p:grpSp>
        <p:nvGrpSpPr>
          <p:cNvPr id="23" name="c2-callout-2"/>
          <p:cNvGrpSpPr/>
          <p:nvPr/>
        </p:nvGrpSpPr>
        <p:grpSpPr>
          <a:xfrm>
            <a:off x="4343400" y="4863465"/>
            <a:ext cx="3505200" cy="1335405"/>
            <a:chOff x="4343400" y="4863465"/>
            <a:chExt cx="3505200" cy="1335405"/>
          </a:xfrm>
        </p:grpSpPr>
        <p:sp>
          <p:nvSpPr>
            <p:cNvPr id="17" name="Rectangle 17"/>
            <p:cNvSpPr/>
            <p:nvPr/>
          </p:nvSpPr>
          <p:spPr>
            <a:xfrm>
              <a:off x="4343400" y="4863465"/>
              <a:ext cx="3505200" cy="1335405"/>
            </a:xfrm>
            <a:prstGeom prst="roundRect">
              <a:avLst>
                <a:gd name="adj" fmla="val 85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4548188" y="5431155"/>
              <a:ext cx="200026" cy="200025"/>
              <a:chOff x="4548188" y="5431155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4548188" y="54311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587926" y="54756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622642" y="55867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4850130" y="5012055"/>
              <a:ext cx="26822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P3 与 P2 对称：P(even)、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geteven()、counteven()。统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计放在临界区外，缩短占用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mutex 的时间。</a:t>
              </a:r>
            </a:p>
          </p:txBody>
        </p:sp>
      </p:grpSp>
      <p:grpSp>
        <p:nvGrpSpPr>
          <p:cNvPr id="48" name="c3-table-1"/>
          <p:cNvGrpSpPr/>
          <p:nvPr/>
        </p:nvGrpSpPr>
        <p:grpSpPr>
          <a:xfrm>
            <a:off x="8153400" y="2547938"/>
            <a:ext cx="3505200" cy="2244090"/>
            <a:chOff x="8153400" y="2547938"/>
            <a:chExt cx="3505200" cy="2244090"/>
          </a:xfrm>
        </p:grpSpPr>
        <p:sp>
          <p:nvSpPr>
            <p:cNvPr id="24" name="Rectangle 24"/>
            <p:cNvSpPr/>
            <p:nvPr/>
          </p:nvSpPr>
          <p:spPr>
            <a:xfrm>
              <a:off x="8153400" y="2547938"/>
              <a:ext cx="350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78990" y="26827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信号量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71914" y="26827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初值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33024" y="26827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61223" y="3131344"/>
              <a:ext cx="5466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empty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242298" y="3131344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73805" y="313134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缓冲区空闲单元数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153400" y="3440430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153400" y="3445192"/>
              <a:ext cx="350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61223" y="3580924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odd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42298" y="358092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73805" y="358092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缓冲区中奇数的个数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153400" y="3889058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61223" y="402955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even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42298" y="40295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73805" y="402955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缓冲区中偶数的个数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53400" y="4337685"/>
              <a:ext cx="350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153400" y="4342448"/>
              <a:ext cx="350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61223" y="4478179"/>
              <a:ext cx="5466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mutex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42298" y="44781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73805" y="447817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缓冲区的互斥使用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153400" y="2547938"/>
              <a:ext cx="3505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29712" y="2547938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761220" y="2547938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3-callout-2"/>
          <p:cNvGrpSpPr/>
          <p:nvPr/>
        </p:nvGrpSpPr>
        <p:grpSpPr>
          <a:xfrm>
            <a:off x="8153400" y="4982528"/>
            <a:ext cx="3505200" cy="1216342"/>
            <a:chOff x="8153400" y="4982528"/>
            <a:chExt cx="3505200" cy="1216342"/>
          </a:xfrm>
        </p:grpSpPr>
        <p:sp>
          <p:nvSpPr>
            <p:cNvPr id="49" name="Rectangle 49"/>
            <p:cNvSpPr/>
            <p:nvPr/>
          </p:nvSpPr>
          <p:spPr>
            <a:xfrm>
              <a:off x="8153400" y="4982528"/>
              <a:ext cx="3505200" cy="1216342"/>
            </a:xfrm>
            <a:prstGeom prst="roundRect">
              <a:avLst>
                <a:gd name="adj" fmla="val 939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8358188" y="5490210"/>
              <a:ext cx="200026" cy="200026"/>
              <a:chOff x="8358188" y="5490210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58188" y="5490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458200" y="5556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447088" y="5590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8660130" y="5209222"/>
              <a:ext cx="2625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更正：原课件题面把 P3 的统计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函数写作 countodd()，应为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counteven()。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经典同步问题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寺庙问题：先申请水缸（空位或水），再拿水桶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597515" cy="569595"/>
            <a:chOff x="525780" y="1548765"/>
            <a:chExt cx="10597515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597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小和尚提水入缸，老和尚取水喝。缸容 30 桶，入水、取水每次一桶且不能同时进行；井口一次只容一个桶取水；5 只水桶老、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小和尚共用。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2230755"/>
            <a:ext cx="3365182" cy="3154680"/>
            <a:chOff x="533400" y="2230755"/>
            <a:chExt cx="3365182" cy="3154680"/>
          </a:xfrm>
        </p:grpSpPr>
        <p:sp>
          <p:nvSpPr>
            <p:cNvPr id="9" name="Rectangle 9"/>
            <p:cNvSpPr/>
            <p:nvPr/>
          </p:nvSpPr>
          <p:spPr>
            <a:xfrm>
              <a:off x="533400" y="2230755"/>
              <a:ext cx="3365182" cy="3154680"/>
            </a:xfrm>
            <a:prstGeom prst="roundRect">
              <a:avLst>
                <a:gd name="adj" fmla="val 301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38267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小和尚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793682"/>
              <a:ext cx="332708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2983230"/>
              <a:ext cx="332708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416" y="2644140"/>
              <a:ext cx="1330833" cy="26694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P(empty);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P(bucket);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走到井边;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P(mutex_well);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井中取水;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V(mutex_well);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走到寺庙;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P(mutex_bigjar);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水入缸中;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V(mutex_bigjar);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V(bucket);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V(full);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while (1);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4203382" y="2230755"/>
            <a:ext cx="3154680" cy="2397442"/>
            <a:chOff x="4203382" y="2230755"/>
            <a:chExt cx="3154680" cy="2397442"/>
          </a:xfrm>
        </p:grpSpPr>
        <p:sp>
          <p:nvSpPr>
            <p:cNvPr id="15" name="Rectangle 15"/>
            <p:cNvSpPr/>
            <p:nvPr/>
          </p:nvSpPr>
          <p:spPr>
            <a:xfrm>
              <a:off x="4203382" y="2230755"/>
              <a:ext cx="3154680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31780" y="238267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老和尚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222432" y="2793682"/>
              <a:ext cx="311658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222432" y="2983230"/>
              <a:ext cx="311658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331398" y="2644140"/>
              <a:ext cx="1330833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P(full);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P(bucket);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P(mutex_bigjar);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缸中取水;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V(mutex_bigjar);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喝水;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V(bucket);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V(empty);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while (1);</a:t>
              </a:r>
            </a:p>
          </p:txBody>
        </p:sp>
      </p:grpSp>
      <p:grpSp>
        <p:nvGrpSpPr>
          <p:cNvPr id="27" name="c2-callout-2"/>
          <p:cNvGrpSpPr/>
          <p:nvPr/>
        </p:nvGrpSpPr>
        <p:grpSpPr>
          <a:xfrm>
            <a:off x="4203382" y="4808220"/>
            <a:ext cx="3154680" cy="1543050"/>
            <a:chOff x="4203382" y="4808220"/>
            <a:chExt cx="3154680" cy="1543050"/>
          </a:xfrm>
        </p:grpSpPr>
        <p:sp>
          <p:nvSpPr>
            <p:cNvPr id="21" name="Rectangle 21"/>
            <p:cNvSpPr/>
            <p:nvPr/>
          </p:nvSpPr>
          <p:spPr>
            <a:xfrm>
              <a:off x="4203382" y="4808220"/>
              <a:ext cx="3154680" cy="1543050"/>
            </a:xfrm>
            <a:prstGeom prst="roundRect">
              <a:avLst>
                <a:gd name="adj" fmla="val 740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4408170" y="5480685"/>
              <a:ext cx="200026" cy="200026"/>
              <a:chOff x="4408170" y="5480685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408170" y="54806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508183" y="55473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497070" y="55806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4710494" y="4956334"/>
              <a:ext cx="2214626" cy="13302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初值：empty = 30（缸中空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位），full = 0（缸中水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量），bucket = 5，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mutex_well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mutex_bigjar = 1。</a:t>
              </a:r>
            </a:p>
          </p:txBody>
        </p:sp>
      </p:grpSp>
      <p:grpSp>
        <p:nvGrpSpPr>
          <p:cNvPr id="34" name="c3-card-1"/>
          <p:cNvGrpSpPr/>
          <p:nvPr/>
        </p:nvGrpSpPr>
        <p:grpSpPr>
          <a:xfrm>
            <a:off x="7662862" y="2230755"/>
            <a:ext cx="3995738" cy="2072640"/>
            <a:chOff x="7662862" y="2230755"/>
            <a:chExt cx="3995738" cy="2072640"/>
          </a:xfrm>
        </p:grpSpPr>
        <p:sp>
          <p:nvSpPr>
            <p:cNvPr id="28" name="Rectangle 28"/>
            <p:cNvSpPr/>
            <p:nvPr/>
          </p:nvSpPr>
          <p:spPr>
            <a:xfrm>
              <a:off x="7662862" y="2230755"/>
              <a:ext cx="3995738" cy="2072640"/>
            </a:xfrm>
            <a:prstGeom prst="roundRect">
              <a:avLst>
                <a:gd name="adj" fmla="val 64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72388" y="2364105"/>
              <a:ext cx="47625" cy="18059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99082" y="2428875"/>
              <a:ext cx="1128712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66927" y="2463165"/>
              <a:ext cx="992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 的顺序不能换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91844" y="2789396"/>
              <a:ext cx="3431921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若小和尚先 P(bucket) 再 P(empty)：缸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满时 5 个小和尚各拿一只桶等空位；老和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尚 P(full) 后等桶，没人喝水腾出空位，</a:t>
              </a:r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死</a:t>
              </a:r>
              <a:br/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锁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92986" y="3917632"/>
              <a:ext cx="3289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老和尚同理，必须先 P(full) 再 P(bucket)。</a:t>
              </a:r>
            </a:p>
          </p:txBody>
        </p:sp>
      </p:grpSp>
      <p:grpSp>
        <p:nvGrpSpPr>
          <p:cNvPr id="40" name="c3-callout-2"/>
          <p:cNvGrpSpPr/>
          <p:nvPr/>
        </p:nvGrpSpPr>
        <p:grpSpPr>
          <a:xfrm>
            <a:off x="7662862" y="4483418"/>
            <a:ext cx="3995738" cy="1867852"/>
            <a:chOff x="7662862" y="4483418"/>
            <a:chExt cx="3995738" cy="1867852"/>
          </a:xfrm>
        </p:grpSpPr>
        <p:sp>
          <p:nvSpPr>
            <p:cNvPr id="35" name="Rectangle 35"/>
            <p:cNvSpPr/>
            <p:nvPr/>
          </p:nvSpPr>
          <p:spPr>
            <a:xfrm>
              <a:off x="7662862" y="4483418"/>
              <a:ext cx="3995738" cy="1867852"/>
            </a:xfrm>
            <a:prstGeom prst="roundRect">
              <a:avLst>
                <a:gd name="adj" fmla="val 611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867650" y="5317810"/>
              <a:ext cx="200023" cy="200023"/>
              <a:chOff x="7867650" y="5317810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867650" y="53178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001000" y="53844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8169974" y="5056346"/>
              <a:ext cx="308025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判断死锁要看极限状态（缸满、缸空、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桶被拿光）：拿着桶的人不能再等一个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可能永远不来的条件。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6233" cy="3637597"/>
            <a:chOff x="667512" y="1835468"/>
            <a:chExt cx="6436233" cy="36375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条件临界区与管程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024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把分散的 P、V 操作集中起来，让编译器帮你保证互斥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407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4.3.4 条件临界区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9629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4.3.5.1–4.3.5.3 管程的提出、形式与语义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6196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4.3.5.4 管程的使用：生产者-消费者、读者-写者、哲学家、SCAN、理发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师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3684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179695"/>
              <a:ext cx="564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4.3.5.5–4.3.5.6 管程与 PV 的等价性、嵌套调用、Java 管程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21492" cy="909257"/>
            <a:chOff x="520446" y="342900"/>
            <a:chExt cx="56214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条件临界区与管程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214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条件临界区：region V when B do 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3365182" cy="2888932"/>
            <a:chOff x="533400" y="1524000"/>
            <a:chExt cx="3365182" cy="28889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365182" cy="2888932"/>
            </a:xfrm>
            <a:prstGeom prst="roundRect">
              <a:avLst>
                <a:gd name="adj" fmla="val 46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2223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90297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367" y="1750695"/>
              <a:ext cx="7460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4.3.4 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282549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P、V 操作低级、容易用错，于是有了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条件临界区。没有其他进程处于与 V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相关的条件临界区、且 B 为真时才执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 S。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320325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3147060"/>
              <a:ext cx="2676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region v when true do s 即互斥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350615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3449955"/>
              <a:ext cx="27027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P、V 操作等价，可以互相实现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2478" y="380809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8497" y="3751898"/>
              <a:ext cx="26283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Hansen 的 Edison 语言提供这种机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587240"/>
            <a:ext cx="3365182" cy="1768792"/>
            <a:chOff x="533400" y="4587240"/>
            <a:chExt cx="3365182" cy="1768792"/>
          </a:xfrm>
        </p:grpSpPr>
        <p:sp>
          <p:nvSpPr>
            <p:cNvPr id="19" name="Rectangle 19"/>
            <p:cNvSpPr/>
            <p:nvPr/>
          </p:nvSpPr>
          <p:spPr>
            <a:xfrm>
              <a:off x="533400" y="4587240"/>
              <a:ext cx="3365182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72059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3905" y="477964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3343" y="481393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实现效率低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72478" y="519303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8497" y="5136833"/>
              <a:ext cx="25597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可能含局部信息，只能由各进程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自己计算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72478" y="575214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8497" y="5695950"/>
              <a:ext cx="25597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被唤醒后要重算 B，可能仍为假又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回去等，本质上也是忙式等待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4203382" y="1524000"/>
            <a:ext cx="3575685" cy="1682115"/>
            <a:chOff x="4203382" y="1524000"/>
            <a:chExt cx="3575685" cy="1682115"/>
          </a:xfrm>
        </p:grpSpPr>
        <p:sp>
          <p:nvSpPr>
            <p:cNvPr id="28" name="Rectangle 28"/>
            <p:cNvSpPr/>
            <p:nvPr/>
          </p:nvSpPr>
          <p:spPr>
            <a:xfrm>
              <a:off x="4203382" y="1524000"/>
              <a:ext cx="3575685" cy="1682115"/>
            </a:xfrm>
            <a:prstGeom prst="roundRect">
              <a:avLst>
                <a:gd name="adj" fmla="val 566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331970" y="1668494"/>
              <a:ext cx="2468245" cy="1453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PROCESS reader;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LOOP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Read card from cardreader;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REGION ib WHEN inbuff.size &lt; n DO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inbuff.slots[inbuff.tail] := card;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inbuff.size := inbuff.size + 1;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inbuff.tail := (inbuff.tail+1) MOD n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ENDDO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ENDLOOP</a:t>
              </a:r>
            </a:p>
          </p:txBody>
        </p:sp>
      </p:grpSp>
      <p:grpSp>
        <p:nvGrpSpPr>
          <p:cNvPr id="33" name="c2-code-2"/>
          <p:cNvGrpSpPr/>
          <p:nvPr/>
        </p:nvGrpSpPr>
        <p:grpSpPr>
          <a:xfrm>
            <a:off x="4203382" y="3381375"/>
            <a:ext cx="3575685" cy="1682115"/>
            <a:chOff x="4203382" y="3381375"/>
            <a:chExt cx="3575685" cy="1682115"/>
          </a:xfrm>
        </p:grpSpPr>
        <p:sp>
          <p:nvSpPr>
            <p:cNvPr id="31" name="Rectangle 31"/>
            <p:cNvSpPr/>
            <p:nvPr/>
          </p:nvSpPr>
          <p:spPr>
            <a:xfrm>
              <a:off x="4203382" y="3381375"/>
              <a:ext cx="3575685" cy="1682115"/>
            </a:xfrm>
            <a:prstGeom prst="roundRect">
              <a:avLst>
                <a:gd name="adj" fmla="val 566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331970" y="3525869"/>
              <a:ext cx="2591181" cy="1453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PROCESS printer;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LOOP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REGION ob WHEN outbuff.size &gt; 0 DO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line := outbuff.slots[outbuff.head];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outbuff.size := outbuff.size - 1;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outbuff.head := (outbuff.head+1) MOD n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ENDDO;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Print line on lineprinter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ENDLOOP</a:t>
              </a:r>
            </a:p>
          </p:txBody>
        </p:sp>
      </p:grpSp>
      <p:grpSp>
        <p:nvGrpSpPr>
          <p:cNvPr id="36" name="c3-code-1"/>
          <p:cNvGrpSpPr/>
          <p:nvPr/>
        </p:nvGrpSpPr>
        <p:grpSpPr>
          <a:xfrm>
            <a:off x="8082915" y="1524000"/>
            <a:ext cx="3575685" cy="2482215"/>
            <a:chOff x="8082915" y="1524000"/>
            <a:chExt cx="3575685" cy="2482215"/>
          </a:xfrm>
        </p:grpSpPr>
        <p:sp>
          <p:nvSpPr>
            <p:cNvPr id="34" name="Rectangle 34"/>
            <p:cNvSpPr/>
            <p:nvPr/>
          </p:nvSpPr>
          <p:spPr>
            <a:xfrm>
              <a:off x="8082915" y="1524000"/>
              <a:ext cx="3575685" cy="2482215"/>
            </a:xfrm>
            <a:prstGeom prst="roundRect">
              <a:avLst>
                <a:gd name="adj" fmla="val 383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11502" y="1668494"/>
              <a:ext cx="2591181" cy="22536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PROCESS executer;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LOOP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REGION ib WHEN inbuff.size &gt; 0 DO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card := inbuff.slots[inbuff.head];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inbuff.size := inbuff.size - 1;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inbuff.head := (inbuff.head+1) MOD n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ENDDO;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Process card and generate line;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REGION ob WHEN outbuff.size &lt; n DO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outbuff.slots[outbuff.tail] := line;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outbuff.size := outbuff.size + 1;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outbuff.tail := (outbuff.tail+1) MOD n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ENDDO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ENDLOOP</a:t>
              </a:r>
            </a:p>
          </p:txBody>
        </p:sp>
      </p:grpSp>
      <p:grpSp>
        <p:nvGrpSpPr>
          <p:cNvPr id="43" name="c3-callout-2"/>
          <p:cNvGrpSpPr/>
          <p:nvPr/>
        </p:nvGrpSpPr>
        <p:grpSpPr>
          <a:xfrm>
            <a:off x="8082915" y="4181475"/>
            <a:ext cx="3575685" cy="2175510"/>
            <a:chOff x="8082915" y="4181475"/>
            <a:chExt cx="3575685" cy="2175510"/>
          </a:xfrm>
        </p:grpSpPr>
        <p:sp>
          <p:nvSpPr>
            <p:cNvPr id="37" name="Rectangle 37"/>
            <p:cNvSpPr/>
            <p:nvPr/>
          </p:nvSpPr>
          <p:spPr>
            <a:xfrm>
              <a:off x="8082915" y="4181475"/>
              <a:ext cx="3575685" cy="2175510"/>
            </a:xfrm>
            <a:prstGeom prst="roundRect">
              <a:avLst>
                <a:gd name="adj" fmla="val 525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8287703" y="5169218"/>
              <a:ext cx="200026" cy="200026"/>
              <a:chOff x="8287703" y="5169218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287703" y="51692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7715" y="52358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76603" y="52692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8590407" y="4801552"/>
              <a:ext cx="2705481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4-6 简单批处理：读入、执行、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打印三个进程用卡片缓冲 ib、行缓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 ob 同步。缓冲含 slots、head、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tail、size。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条件临界区与管程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管程：共享变量及其全部操作集中在一个模块里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410200" cy="2023110"/>
            <a:chOff x="533400" y="1524000"/>
            <a:chExt cx="5410200" cy="20231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6836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04861" y="1648301"/>
              <a:ext cx="547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PV 操作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3174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1540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组织方式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24038" y="2054066"/>
              <a:ext cx="181787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分散式：操作和 P、V 散布在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各进程中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33825" y="2054066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集中式：共享变量及其操作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集中在一个模块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307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35555"/>
              <a:ext cx="5410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7598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可读性等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24038" y="2659856"/>
              <a:ext cx="15760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可读性差，正确性不易保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证，不易修改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33825" y="2659856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可读性好，正确性易保证，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易修改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365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32656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24038" y="326564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高效、灵活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33825" y="326564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不甚灵活，效率略低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719262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829050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rd-2"/>
          <p:cNvGrpSpPr/>
          <p:nvPr/>
        </p:nvGrpSpPr>
        <p:grpSpPr>
          <a:xfrm>
            <a:off x="533400" y="3722370"/>
            <a:ext cx="5410200" cy="2586038"/>
            <a:chOff x="533400" y="3722370"/>
            <a:chExt cx="5410200" cy="2586038"/>
          </a:xfrm>
        </p:grpSpPr>
        <p:sp>
          <p:nvSpPr>
            <p:cNvPr id="27" name="Rectangle 27"/>
            <p:cNvSpPr/>
            <p:nvPr/>
          </p:nvSpPr>
          <p:spPr>
            <a:xfrm>
              <a:off x="533400" y="3722370"/>
              <a:ext cx="5410200" cy="2586038"/>
            </a:xfrm>
            <a:prstGeom prst="roundRect">
              <a:avLst>
                <a:gd name="adj" fmla="val 51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855720"/>
              <a:ext cx="47625" cy="2319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3905" y="3914775"/>
              <a:ext cx="1457325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5888" y="3949065"/>
              <a:ext cx="13333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4.3.5.1 管程的提出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7047" y="4271010"/>
              <a:ext cx="48057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 年代初由 Dijkstra、Hoare、Hansen 提出，背景是结构化程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序设计。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72478" y="488727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8497" y="4831080"/>
              <a:ext cx="44885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语言：Concurrent Pascal（Hansen）、Modula（Wirth，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原课件误作 With）、Mesa、Mod*、Concurrent Euclid、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XCY；Java 的 synchronized 方法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72478" y="570357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8497" y="5647373"/>
              <a:ext cx="45228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PCM（Process、Class、Monitor）方法构造操作系统，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 Solo</a:t>
              </a:r>
            </a:p>
          </p:txBody>
        </p:sp>
      </p:grpSp>
      <p:grpSp>
        <p:nvGrpSpPr>
          <p:cNvPr id="40" name="c2-code-1"/>
          <p:cNvGrpSpPr/>
          <p:nvPr/>
        </p:nvGrpSpPr>
        <p:grpSpPr>
          <a:xfrm>
            <a:off x="6248400" y="1524000"/>
            <a:ext cx="5410200" cy="2747010"/>
            <a:chOff x="6248400" y="1524000"/>
            <a:chExt cx="5410200" cy="2747010"/>
          </a:xfrm>
        </p:grpSpPr>
        <p:sp>
          <p:nvSpPr>
            <p:cNvPr id="37" name="Rectangle 37"/>
            <p:cNvSpPr/>
            <p:nvPr/>
          </p:nvSpPr>
          <p:spPr>
            <a:xfrm>
              <a:off x="6248400" y="1524000"/>
              <a:ext cx="5410200" cy="2747010"/>
            </a:xfrm>
            <a:prstGeom prst="roundRect">
              <a:avLst>
                <a:gd name="adj" fmla="val 346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76797" y="1675924"/>
              <a:ext cx="11124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4.3.5.2 管程形式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76911" y="1936480"/>
              <a:ext cx="2844952" cy="2255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8"/>
                </a:lnSpc>
              </a:pPr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type monitor_name = MONITOR(形参表);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共享变量说明;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define 本管程内定义、管程外使用的子程序名表;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use 本管程外定义、管程内使用的子程序名表;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procedure 过程名(形参表);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局部变量说明;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begin 语句序列 end;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……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function 函数名(形参表): 返回值类型;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局部变量说明;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begin 语句序列 end;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……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begin 共享变量初始化语句序列 end;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6248400" y="4446270"/>
            <a:ext cx="5410200" cy="1862138"/>
            <a:chOff x="6248400" y="4446270"/>
            <a:chExt cx="5410200" cy="1862138"/>
          </a:xfrm>
        </p:grpSpPr>
        <p:sp>
          <p:nvSpPr>
            <p:cNvPr id="41" name="Rectangle 41"/>
            <p:cNvSpPr/>
            <p:nvPr/>
          </p:nvSpPr>
          <p:spPr>
            <a:xfrm>
              <a:off x="6248400" y="4446270"/>
              <a:ext cx="5410200" cy="1862138"/>
            </a:xfrm>
            <a:prstGeom prst="roundRect">
              <a:avLst>
                <a:gd name="adj" fmla="val 613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453188" y="5276850"/>
              <a:ext cx="200026" cy="200025"/>
              <a:chOff x="6453188" y="5276850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453188" y="52768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492926" y="53213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27642" y="54324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755892" y="5033962"/>
              <a:ext cx="398278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语言特点：模块化（modularized）、抽象数据类型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（abstract data type）、信息隐藏（information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hiding）。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324338" cy="909257"/>
            <a:chOff x="520446" y="342900"/>
            <a:chExt cx="103243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条件临界区与管程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3243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管程语义：互斥进入，等待时让出管程；唤醒后谁先运行有三种约定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193982" cy="1914525"/>
            <a:chOff x="533400" y="1524000"/>
            <a:chExt cx="5193982" cy="19145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914525"/>
            </a:xfrm>
            <a:prstGeom prst="roundRect">
              <a:avLst>
                <a:gd name="adj" fmla="val 69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4782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398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8706" y="1763554"/>
              <a:ext cx="1271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4.3.5.3 管程语义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共享变量在管程外不可见，只能通过管程的外部子程序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7527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692241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为保证共享变量的数据完整性，管程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互斥进入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07276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012281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管程中有等待、唤醒机制，等待时释放管程的互斥权</a:t>
              </a:r>
            </a:p>
          </p:txBody>
        </p:sp>
      </p:grpSp>
      <p:grpSp>
        <p:nvGrpSpPr>
          <p:cNvPr id="32" name="c1-table-2"/>
          <p:cNvGrpSpPr/>
          <p:nvPr/>
        </p:nvGrpSpPr>
        <p:grpSpPr>
          <a:xfrm>
            <a:off x="533400" y="3624262"/>
            <a:ext cx="5193982" cy="2360295"/>
            <a:chOff x="533400" y="3624262"/>
            <a:chExt cx="5193982" cy="2360295"/>
          </a:xfrm>
        </p:grpSpPr>
        <p:sp>
          <p:nvSpPr>
            <p:cNvPr id="18" name="Rectangle 18"/>
            <p:cNvSpPr/>
            <p:nvPr/>
          </p:nvSpPr>
          <p:spPr>
            <a:xfrm>
              <a:off x="533400" y="3624262"/>
              <a:ext cx="5193982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48728" y="375570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约定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86554" y="3755707"/>
              <a:ext cx="1052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 唤醒 Q 之后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8746" y="4185285"/>
              <a:ext cx="136474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Hoare：signal and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urgent wait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04682" y="4185285"/>
              <a:ext cx="29458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进入紧急等待，Q 继续，直到 Q 退出或等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6929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697730"/>
              <a:ext cx="519398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4829175"/>
              <a:ext cx="1276731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Java：signal and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continue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04682" y="4829175"/>
              <a:ext cx="30754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等待，P 继续，直到 P 退出或等待；Q 醒来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重新检查条件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，可能再次等待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3368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5473065"/>
              <a:ext cx="1140714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Hansen：signal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 leave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04682" y="5473065"/>
              <a:ext cx="30373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唤醒是管程中可执行的最后一个操作，P 随即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离开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624262"/>
              <a:ext cx="5193982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294572" y="3624262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2-table-1"/>
          <p:cNvGrpSpPr/>
          <p:nvPr/>
        </p:nvGrpSpPr>
        <p:grpSpPr>
          <a:xfrm>
            <a:off x="6032182" y="1524000"/>
            <a:ext cx="5626418" cy="1933575"/>
            <a:chOff x="6032182" y="1524000"/>
            <a:chExt cx="5626418" cy="1933575"/>
          </a:xfrm>
        </p:grpSpPr>
        <p:sp>
          <p:nvSpPr>
            <p:cNvPr id="33" name="Rectangle 33"/>
            <p:cNvSpPr/>
            <p:nvPr/>
          </p:nvSpPr>
          <p:spPr>
            <a:xfrm>
              <a:off x="6032182" y="1524000"/>
              <a:ext cx="5626418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5313" y="1655445"/>
              <a:ext cx="11815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Hoare 管程设施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2119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37529" y="208502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入口等待队列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25359" y="208502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每个管程一个，排队进入管程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32182" y="23793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32182" y="238410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37529" y="251555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紧急等待队列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25359" y="2515552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每个管程一个，发出唤醒的进程在此等待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32182" y="28098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37529" y="2946082"/>
              <a:ext cx="845820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条件变量 c: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condition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25359" y="3052762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按需定义多个，每个有一个内部等待队列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32182" y="1524000"/>
              <a:ext cx="5626418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715250" y="152400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table-2"/>
          <p:cNvGrpSpPr/>
          <p:nvPr/>
        </p:nvGrpSpPr>
        <p:grpSpPr>
          <a:xfrm>
            <a:off x="6032182" y="3643312"/>
            <a:ext cx="5626418" cy="2577466"/>
            <a:chOff x="6032182" y="3643312"/>
            <a:chExt cx="5626418" cy="2577466"/>
          </a:xfrm>
        </p:grpSpPr>
        <p:sp>
          <p:nvSpPr>
            <p:cNvPr id="48" name="Rectangle 48"/>
            <p:cNvSpPr/>
            <p:nvPr/>
          </p:nvSpPr>
          <p:spPr>
            <a:xfrm>
              <a:off x="6032182" y="3643312"/>
              <a:ext cx="5626418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83667" y="37747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15628" y="3774757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37529" y="4204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进入管程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74826" y="42043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申请管程互斥权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32182" y="44986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32182" y="4503420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37529" y="46348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离开管程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74826" y="463486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紧急队列非空则唤醒第一个等待者，否则开放管程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32182" y="49291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37529" y="5172075"/>
              <a:ext cx="656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wait(c)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74826" y="5065395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紧急队列非空则唤醒第一个等待者，否则释放互斥权；然后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自己进入 c 队尾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32182" y="557212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32182" y="5576888"/>
              <a:ext cx="5626418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37529" y="5815012"/>
              <a:ext cx="767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signal(c)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74826" y="5708332"/>
              <a:ext cx="39517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队列为空时相当于空操作；否则唤醒第一个，自己进入紧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急队列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032182" y="3643312"/>
              <a:ext cx="5626418" cy="25774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264718" y="3643312"/>
              <a:ext cx="9525" cy="25774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59930" cy="909257"/>
            <a:chOff x="520446" y="342900"/>
            <a:chExt cx="60599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条件临界区与管程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599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管程例：生产者-消费者与单一资源管理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4178618"/>
            <a:chOff x="533400" y="1524000"/>
            <a:chExt cx="5842635" cy="4178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178618"/>
            </a:xfrm>
            <a:prstGeom prst="roundRect">
              <a:avLst>
                <a:gd name="adj" fmla="val 227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2592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1：生产者-消费者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568" y="1936814"/>
              <a:ext cx="2860243" cy="36923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48"/>
                </a:lnSpc>
              </a:pPr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type producer_consumer = MONITOR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var B: array[0..n-1] of integer;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count, in, out: integer;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pq, cq: condition;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define put_in, get_out;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put_in(item: integer);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count = n then wait(pq);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B[in] := item; in := (in+1) mod n;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count := count + 1;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signal(cq)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get_out(var item: integer);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count = 0 then wait(cq);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item := B[out]; out := (out+1) mod n;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count := count - 1;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signal(pq)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 in := 0; out := 0; count := 0 end;</a:t>
              </a:r>
            </a:p>
          </p:txBody>
        </p:sp>
      </p:grpSp>
      <p:grpSp>
        <p:nvGrpSpPr>
          <p:cNvPr id="17" name="c2-callout-1"/>
          <p:cNvGrpSpPr/>
          <p:nvPr/>
        </p:nvGrpSpPr>
        <p:grpSpPr>
          <a:xfrm>
            <a:off x="6680835" y="1524000"/>
            <a:ext cx="4977765" cy="1281112"/>
            <a:chOff x="6680835" y="1524000"/>
            <a:chExt cx="4977765" cy="1281112"/>
          </a:xfrm>
        </p:grpSpPr>
        <p:sp>
          <p:nvSpPr>
            <p:cNvPr id="11" name="Rectangle 11"/>
            <p:cNvSpPr/>
            <p:nvPr/>
          </p:nvSpPr>
          <p:spPr>
            <a:xfrm>
              <a:off x="6680835" y="1524000"/>
              <a:ext cx="4977765" cy="1281112"/>
            </a:xfrm>
            <a:prstGeom prst="roundRect">
              <a:avLst>
                <a:gd name="adj" fmla="val 892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6885623" y="2064068"/>
              <a:ext cx="200026" cy="200026"/>
              <a:chOff x="6885623" y="2064068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885623" y="20640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985635" y="21307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974523" y="21640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7187946" y="1671161"/>
              <a:ext cx="3972941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生产者循环“生产 item；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producer_consumer.put_in(item)”，消费者循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环“producer_consumer.get_out(item)；消费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item”。</a:t>
              </a:r>
            </a:p>
          </p:txBody>
        </p:sp>
      </p:grpSp>
      <p:grpSp>
        <p:nvGrpSpPr>
          <p:cNvPr id="21" name="c2-code-2"/>
          <p:cNvGrpSpPr/>
          <p:nvPr/>
        </p:nvGrpSpPr>
        <p:grpSpPr>
          <a:xfrm>
            <a:off x="6680835" y="2990850"/>
            <a:ext cx="4977765" cy="2341245"/>
            <a:chOff x="6680835" y="2990850"/>
            <a:chExt cx="4977765" cy="2341245"/>
          </a:xfrm>
        </p:grpSpPr>
        <p:sp>
          <p:nvSpPr>
            <p:cNvPr id="18" name="Rectangle 18"/>
            <p:cNvSpPr/>
            <p:nvPr/>
          </p:nvSpPr>
          <p:spPr>
            <a:xfrm>
              <a:off x="6680835" y="2990850"/>
              <a:ext cx="4977765" cy="2341245"/>
            </a:xfrm>
            <a:prstGeom prst="roundRect">
              <a:avLst>
                <a:gd name="adj" fmla="val 406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09232" y="314277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例：单一资源管理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09003" y="3403663"/>
              <a:ext cx="3216478" cy="18539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48"/>
                </a:lnSpc>
              </a:pPr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type single_resource = MONITOR;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var busy: boolean; q: condition;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define require, release;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require;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 if busy then wait(q); busy := true end;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release;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 busy := false; signal(q) end;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 busy := false end;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var lp, tape: single_resource;</a:t>
              </a:r>
              <a:br/>
              <a:r>
                <a:rPr lang="zh-CN" sz="10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申请打印机 lp.require;  释放 lp.release;</a:t>
              </a:r>
            </a:p>
          </p:txBody>
        </p:sp>
      </p:grpSp>
      <p:grpSp>
        <p:nvGrpSpPr>
          <p:cNvPr id="28" name="c2-callout-3"/>
          <p:cNvGrpSpPr/>
          <p:nvPr/>
        </p:nvGrpSpPr>
        <p:grpSpPr>
          <a:xfrm>
            <a:off x="6680835" y="5517832"/>
            <a:ext cx="4977765" cy="756285"/>
            <a:chOff x="6680835" y="5517832"/>
            <a:chExt cx="4977765" cy="756285"/>
          </a:xfrm>
        </p:grpSpPr>
        <p:sp>
          <p:nvSpPr>
            <p:cNvPr id="22" name="Rectangle 22"/>
            <p:cNvSpPr/>
            <p:nvPr/>
          </p:nvSpPr>
          <p:spPr>
            <a:xfrm>
              <a:off x="6680835" y="5517832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885623" y="5795963"/>
              <a:ext cx="200026" cy="200025"/>
              <a:chOff x="6885623" y="5795963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885623" y="57959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925361" y="58404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960077" y="59515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187946" y="5664994"/>
              <a:ext cx="407212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这里用 if 判断就够：Hoare 语义下被唤醒者立即运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行，条件来不及被别人改掉。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30087" cy="909257"/>
            <a:chOff x="520446" y="342900"/>
            <a:chExt cx="50300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条件临界区与管程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300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管程例：读者-写者（写者优先）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code-1"/>
          <p:cNvGrpSpPr/>
          <p:nvPr/>
        </p:nvGrpSpPr>
        <p:grpSpPr>
          <a:xfrm>
            <a:off x="533400" y="1524000"/>
            <a:ext cx="3890962" cy="3456622"/>
            <a:chOff x="533400" y="1524000"/>
            <a:chExt cx="3890962" cy="34566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890962" cy="3456622"/>
            </a:xfrm>
            <a:prstGeom prst="roundRect">
              <a:avLst>
                <a:gd name="adj" fmla="val 275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416" y="1670685"/>
              <a:ext cx="2797683" cy="3238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type readers_writers = MONITOR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var rq, wq: condition;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reading_count: integer;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write_count: integer;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define start_read, finish_read,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start_write, finish_write;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start_read;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write_count &gt; 0 then wait(rq);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reading_count := reading_count + 1;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signal(rq)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finish_read;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reading_count := reading_count - 1;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reading_count = 0 then signal(wq)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</a:p>
          </p:txBody>
        </p:sp>
      </p:grpSp>
      <p:grpSp>
        <p:nvGrpSpPr>
          <p:cNvPr id="12" name="c2-code-1"/>
          <p:cNvGrpSpPr/>
          <p:nvPr/>
        </p:nvGrpSpPr>
        <p:grpSpPr>
          <a:xfrm>
            <a:off x="4729162" y="1524000"/>
            <a:ext cx="3785235" cy="3077528"/>
            <a:chOff x="4729162" y="1524000"/>
            <a:chExt cx="3785235" cy="3077528"/>
          </a:xfrm>
        </p:grpSpPr>
        <p:sp>
          <p:nvSpPr>
            <p:cNvPr id="10" name="Rectangle 10"/>
            <p:cNvSpPr/>
            <p:nvPr/>
          </p:nvSpPr>
          <p:spPr>
            <a:xfrm>
              <a:off x="4729162" y="1524000"/>
              <a:ext cx="3785235" cy="3077528"/>
            </a:xfrm>
            <a:prstGeom prst="roundRect">
              <a:avLst>
                <a:gd name="adj" fmla="val 30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857178" y="1670685"/>
              <a:ext cx="2650998" cy="28590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start_write;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write_count := write_count + 1;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(write_count &gt; 1) or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(reading_count &gt; 0)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then wait(wq)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finish_write;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write_count := write_count - 1;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write_count &gt; 0 then signal(wq)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 signal(rq)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 reading_count := 0;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write_count := 0 end;</a:t>
              </a:r>
            </a:p>
          </p:txBody>
        </p:sp>
      </p:grpSp>
      <p:grpSp>
        <p:nvGrpSpPr>
          <p:cNvPr id="15" name="c2-code-2"/>
          <p:cNvGrpSpPr/>
          <p:nvPr/>
        </p:nvGrpSpPr>
        <p:grpSpPr>
          <a:xfrm>
            <a:off x="4729162" y="4792028"/>
            <a:ext cx="3785235" cy="805815"/>
            <a:chOff x="4729162" y="4792028"/>
            <a:chExt cx="3785235" cy="805815"/>
          </a:xfrm>
        </p:grpSpPr>
        <p:sp>
          <p:nvSpPr>
            <p:cNvPr id="13" name="Rectangle 13"/>
            <p:cNvSpPr/>
            <p:nvPr/>
          </p:nvSpPr>
          <p:spPr>
            <a:xfrm>
              <a:off x="4729162" y="4792028"/>
              <a:ext cx="3785235" cy="805815"/>
            </a:xfrm>
            <a:prstGeom prst="roundRect">
              <a:avLst>
                <a:gd name="adj" fmla="val 118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57178" y="4938712"/>
              <a:ext cx="3037713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var rw: readers_writers;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读者：rw.start_read; 读; rw.finish_read;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写者：rw.start_write; 写; rw.finish_write;</a:t>
              </a:r>
            </a:p>
          </p:txBody>
        </p:sp>
      </p:grpSp>
      <p:grpSp>
        <p:nvGrpSpPr>
          <p:cNvPr id="33" name="c3-steps-1"/>
          <p:cNvGrpSpPr/>
          <p:nvPr/>
        </p:nvGrpSpPr>
        <p:grpSpPr>
          <a:xfrm>
            <a:off x="8819198" y="1533525"/>
            <a:ext cx="2717672" cy="3936969"/>
            <a:chOff x="8819198" y="1533525"/>
            <a:chExt cx="2717672" cy="3936969"/>
          </a:xfrm>
        </p:grpSpPr>
        <p:sp>
          <p:nvSpPr>
            <p:cNvPr id="16" name="Rectangle 16"/>
            <p:cNvSpPr/>
            <p:nvPr/>
          </p:nvSpPr>
          <p:spPr>
            <a:xfrm>
              <a:off x="8952548" y="1676400"/>
              <a:ext cx="19050" cy="2891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819198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1282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819198" y="26536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12821" y="27274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819198" y="35394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12821" y="36133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819198" y="442531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912821" y="4499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30678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写者到达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31820" y="1861661"/>
              <a:ext cx="226441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write_count 包括正在写和等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待的写者。只要它大于 0，新读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者就在 rq 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30678" y="2687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读者读完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31820" y="2981801"/>
              <a:ext cx="21587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最后一个读者离开时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signal(wq)，放一个写者进来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230678" y="35737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写者写完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31820" y="3866674"/>
              <a:ext cx="21262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还有写者就交给写者；没有才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signal(rq)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30678" y="44596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连锁唤醒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31820" y="4752499"/>
              <a:ext cx="2305050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被唤醒的读者在 start_read 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尾再 signal(rq)，把等着的读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者一个接一个放进来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条件临界区与管程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管程例：哲学家就餐，拿不到右叉就放下左叉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183355" cy="308039"/>
            <a:chOff x="525399" y="1550194"/>
            <a:chExt cx="918335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18335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思路：取左叉；右叉空闲就取右叉进食，否则放下左叉重来。进程从不“占着一把叉子等另一把”。</a:t>
              </a:r>
            </a:p>
          </p:txBody>
        </p:sp>
      </p:grpSp>
      <p:grpSp>
        <p:nvGrpSpPr>
          <p:cNvPr id="11" name="c1-code-1"/>
          <p:cNvGrpSpPr/>
          <p:nvPr/>
        </p:nvGrpSpPr>
        <p:grpSpPr>
          <a:xfrm>
            <a:off x="533400" y="1967865"/>
            <a:ext cx="6276022" cy="3456622"/>
            <a:chOff x="533400" y="1967865"/>
            <a:chExt cx="6276022" cy="345662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276022" cy="3456622"/>
            </a:xfrm>
            <a:prstGeom prst="roundRect">
              <a:avLst>
                <a:gd name="adj" fmla="val 275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416" y="2114550"/>
              <a:ext cx="3897821" cy="3238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type dining_philosophers = MONITOR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var fork: array[0..4] of (free, used);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q: array[0..4] of condition;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define pick_up, try_pick_up, put_down;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pick_up(i: 0..4);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fork[i] = used then wait(q[i]);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fork[i] := used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function try_pick_up(i: 0..4): boolean;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fork[i] = used then try_pick_up := false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 begin fork[i] := used; try_pick_up := true end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put_down(i: 0..4);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 fork[i] := free; signal(q[i]) end;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 for i := 0 to 4 do fork[i] := free end;</a:t>
              </a:r>
            </a:p>
          </p:txBody>
        </p:sp>
      </p:grpSp>
      <p:grpSp>
        <p:nvGrpSpPr>
          <p:cNvPr id="15" name="c2-code-1"/>
          <p:cNvGrpSpPr/>
          <p:nvPr/>
        </p:nvGrpSpPr>
        <p:grpSpPr>
          <a:xfrm>
            <a:off x="7114222" y="1967865"/>
            <a:ext cx="4544378" cy="2966085"/>
            <a:chOff x="7114222" y="1967865"/>
            <a:chExt cx="4544378" cy="2966085"/>
          </a:xfrm>
        </p:grpSpPr>
        <p:sp>
          <p:nvSpPr>
            <p:cNvPr id="12" name="Rectangle 12"/>
            <p:cNvSpPr/>
            <p:nvPr/>
          </p:nvSpPr>
          <p:spPr>
            <a:xfrm>
              <a:off x="7114222" y="1967865"/>
              <a:ext cx="4544378" cy="2966085"/>
            </a:xfrm>
            <a:prstGeom prst="roundRect">
              <a:avLst>
                <a:gd name="adj" fmla="val 32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42620" y="2119789"/>
              <a:ext cx="28305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哲学家 i（var forks: dining_philosophers）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42238" y="2381250"/>
              <a:ext cx="2724341" cy="2479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thinking;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with_two_forks := false;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forks.pick_up(i);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forks.try_pick_up((i+1) mod 5)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then with_two_forks := true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 forks.put_down(i)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until with_two_forks;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eating;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forks.put_down(i);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forks.put_down((i+1) mod 5)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until false;</a:t>
              </a:r>
            </a:p>
          </p:txBody>
        </p:sp>
      </p:grpSp>
      <p:grpSp>
        <p:nvGrpSpPr>
          <p:cNvPr id="22" name="c2-callout-2"/>
          <p:cNvGrpSpPr/>
          <p:nvPr/>
        </p:nvGrpSpPr>
        <p:grpSpPr>
          <a:xfrm>
            <a:off x="7114222" y="5123498"/>
            <a:ext cx="4544378" cy="1059180"/>
            <a:chOff x="7114222" y="5123498"/>
            <a:chExt cx="4544378" cy="1059180"/>
          </a:xfrm>
        </p:grpSpPr>
        <p:sp>
          <p:nvSpPr>
            <p:cNvPr id="16" name="Rectangle 16"/>
            <p:cNvSpPr/>
            <p:nvPr/>
          </p:nvSpPr>
          <p:spPr>
            <a:xfrm>
              <a:off x="7114222" y="5123498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06952" y="5549383"/>
              <a:ext cx="224134" cy="192560"/>
              <a:chOff x="7306952" y="5549383"/>
              <a:chExt cx="224134" cy="19256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419023" y="56197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306952" y="55493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419023" y="56975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7620952" y="5272088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不会死锁，但可能出现活锁：五人同时拿起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左叉、试右叉失败、放下左叉，如此反复，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谁都吃不上。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3" name="TextBox 2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13804" cy="909257"/>
            <a:chOff x="520446" y="342900"/>
            <a:chExt cx="68138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条件临界区与管程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138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管程例：用 SCAN（电梯）算法调度磁头引臂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1343861" cy="308039"/>
            <a:chOff x="525399" y="1550194"/>
            <a:chExt cx="1134386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134386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磁头在 0–199 号柱面间移动。进程调用 require(dest) 申请把磁头移到柱面 dest，在管程外做 I/O，再调用 release。</a:t>
              </a:r>
            </a:p>
          </p:txBody>
        </p:sp>
      </p:grpSp>
      <p:grpSp>
        <p:nvGrpSpPr>
          <p:cNvPr id="11" name="c1-code-1"/>
          <p:cNvGrpSpPr/>
          <p:nvPr/>
        </p:nvGrpSpPr>
        <p:grpSpPr>
          <a:xfrm>
            <a:off x="533400" y="1967865"/>
            <a:ext cx="3890962" cy="3931920"/>
            <a:chOff x="533400" y="1967865"/>
            <a:chExt cx="3890962" cy="393192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3890962" cy="3931920"/>
            </a:xfrm>
            <a:prstGeom prst="roundRect">
              <a:avLst>
                <a:gd name="adj" fmla="val 24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3121"/>
              <a:ext cx="3158744" cy="3714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type diskhead = MONITOR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var busy: boolean;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headpos: 0..199;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direction: (up, down);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cylinder: array[0..199]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of condition;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count: array[0..199] of integer;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define require, release;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require(dest: 0..199);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busy then begin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count[dest] := count[dest] + 1;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wait(cylinder[dest])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busy := true;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dest &lt; headpos then direction := down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 if dest &gt; headpos then direction := up;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headpos := dest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 busy := false; headpos :=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direction := up; count 全置 0 end;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4729162" y="1967865"/>
            <a:ext cx="3680460" cy="3580448"/>
            <a:chOff x="4729162" y="1967865"/>
            <a:chExt cx="3680460" cy="3580448"/>
          </a:xfrm>
        </p:grpSpPr>
        <p:sp>
          <p:nvSpPr>
            <p:cNvPr id="12" name="Rectangle 12"/>
            <p:cNvSpPr/>
            <p:nvPr/>
          </p:nvSpPr>
          <p:spPr>
            <a:xfrm>
              <a:off x="4729162" y="1967865"/>
              <a:ext cx="3680460" cy="3580448"/>
            </a:xfrm>
            <a:prstGeom prst="roundRect">
              <a:avLst>
                <a:gd name="adj" fmla="val 26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857560" y="2113121"/>
              <a:ext cx="2748026" cy="33625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upscan;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var i: 0..200;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 := headpos;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(i &lt;= 199) and (count[i] = 0) do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 := i + 1;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i &lt;= 199 then begin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count[i] := count[i] - 1;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signal(cylinder[i])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{ downscan 对称：从 headpos 往 0 找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release;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busy := false;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direction = up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then begin upscan; downscan end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 begin downscan; upscan end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</a:p>
          </p:txBody>
        </p:sp>
      </p:grpSp>
      <p:grpSp>
        <p:nvGrpSpPr>
          <p:cNvPr id="23" name="c3-kv-1"/>
          <p:cNvGrpSpPr/>
          <p:nvPr/>
        </p:nvGrpSpPr>
        <p:grpSpPr>
          <a:xfrm>
            <a:off x="8706802" y="1992630"/>
            <a:ext cx="2951798" cy="1173480"/>
            <a:chOff x="8706802" y="1992630"/>
            <a:chExt cx="2951798" cy="1173480"/>
          </a:xfrm>
        </p:grpSpPr>
        <p:sp>
          <p:nvSpPr>
            <p:cNvPr id="15" name="TextBox 15"/>
            <p:cNvSpPr txBox="1"/>
            <p:nvPr/>
          </p:nvSpPr>
          <p:spPr>
            <a:xfrm>
              <a:off x="8706802" y="1992630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FCFS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12605" y="19926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公平，效率低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714422" y="2312670"/>
              <a:ext cx="29441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6802" y="2432685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SSTF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12605" y="24326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效率高，歧视远处磁道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714422" y="2752725"/>
              <a:ext cx="29441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06802" y="2872740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SCAN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12605" y="287274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效率较高，较公平</a:t>
              </a:r>
            </a:p>
          </p:txBody>
        </p:sp>
      </p:grpSp>
      <p:grpSp>
        <p:nvGrpSpPr>
          <p:cNvPr id="30" name="c3-card-2"/>
          <p:cNvGrpSpPr/>
          <p:nvPr/>
        </p:nvGrpSpPr>
        <p:grpSpPr>
          <a:xfrm>
            <a:off x="8714422" y="3297555"/>
            <a:ext cx="2944178" cy="2939415"/>
            <a:chOff x="8714422" y="3297555"/>
            <a:chExt cx="2944178" cy="2939415"/>
          </a:xfrm>
        </p:grpSpPr>
        <p:sp>
          <p:nvSpPr>
            <p:cNvPr id="24" name="Rectangle 24"/>
            <p:cNvSpPr/>
            <p:nvPr/>
          </p:nvSpPr>
          <p:spPr>
            <a:xfrm>
              <a:off x="8714422" y="3297555"/>
              <a:ext cx="2944178" cy="2939415"/>
            </a:xfrm>
            <a:prstGeom prst="roundRect">
              <a:avLst>
                <a:gd name="adj" fmla="val 45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723948" y="3430905"/>
              <a:ext cx="47625" cy="26727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962072" y="350710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35529" y="354282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注意唤醒语义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54452" y="3884295"/>
              <a:ext cx="232029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代码按 Hansen 语义写：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signal 是最后执行的操作，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upscan 唤醒了进程就离开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管程，不再执行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downscan。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55596" y="5358289"/>
              <a:ext cx="237007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 Hoare 语义要改成“upscan 没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找到才 downscan”，否则可能一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次唤醒两个进程。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条件临界区与管程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管程例：睡眠理发师问题（原课件解法）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3154680" cy="2162652"/>
            <a:chOff x="533400" y="1524000"/>
            <a:chExt cx="3154680" cy="2162652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10950" r="0" b="10950"/>
            <a:stretch>
              <a:fillRect/>
            </a:stretch>
          </p:blipFill>
          <p:spPr>
            <a:xfrm>
              <a:off x="533400" y="1524000"/>
              <a:ext cx="3154680" cy="1847850"/>
            </a:xfrm>
            <a:prstGeom prst="roundRect">
              <a:avLst>
                <a:gd name="adj" fmla="val 7216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362461" y="3466624"/>
              <a:ext cx="1496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一把理发椅，n 个凳子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47148"/>
            <a:ext cx="3154680" cy="2272665"/>
            <a:chOff x="533400" y="3847148"/>
            <a:chExt cx="3154680" cy="2272665"/>
          </a:xfrm>
        </p:grpSpPr>
        <p:sp>
          <p:nvSpPr>
            <p:cNvPr id="10" name="Rectangle 10"/>
            <p:cNvSpPr/>
            <p:nvPr/>
          </p:nvSpPr>
          <p:spPr>
            <a:xfrm>
              <a:off x="533400" y="3847148"/>
              <a:ext cx="3154680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3980498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75335" y="405098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5543" y="40867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448341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4423886"/>
              <a:ext cx="23588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顾客理发时坐在理发椅上；没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有顾客时理发师在理发椅上睡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534638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5286851"/>
              <a:ext cx="233184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个凳子供顾客等待，凳子坐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满时新来的顾客离开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3992880" y="1524000"/>
            <a:ext cx="3890962" cy="3544252"/>
            <a:chOff x="3992880" y="1524000"/>
            <a:chExt cx="3890962" cy="3544252"/>
          </a:xfrm>
        </p:grpSpPr>
        <p:sp>
          <p:nvSpPr>
            <p:cNvPr id="19" name="Rectangle 19"/>
            <p:cNvSpPr/>
            <p:nvPr/>
          </p:nvSpPr>
          <p:spPr>
            <a:xfrm>
              <a:off x="3992880" y="1524000"/>
              <a:ext cx="3890962" cy="3544252"/>
            </a:xfrm>
            <a:prstGeom prst="roundRect">
              <a:avLst>
                <a:gd name="adj" fmla="val 26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21048" y="1670114"/>
              <a:ext cx="2510485" cy="3324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48"/>
                </a:lnSpc>
              </a:pPr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type sleepybarber = MONITOR;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var chair, stool: condition;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count: 0..n+1;  </a:t>
              </a:r>
              <a:r>
                <a:rPr lang="zh-CN" sz="10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店内顾客数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define sleep, enter, leave;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procedure sleep;       </a:t>
              </a:r>
              <a:r>
                <a:rPr lang="zh-CN" sz="10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理发师调用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count = 0 then wait(chair)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enter(var full: boolean);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count = n+1 then full := true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 begin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full := false;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count := count + 1;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count = 1 then signal(chair)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 wait(stool)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</a:p>
          </p:txBody>
        </p:sp>
      </p:grpSp>
      <p:grpSp>
        <p:nvGrpSpPr>
          <p:cNvPr id="24" name="c3-code-1"/>
          <p:cNvGrpSpPr/>
          <p:nvPr/>
        </p:nvGrpSpPr>
        <p:grpSpPr>
          <a:xfrm>
            <a:off x="8188642" y="1524000"/>
            <a:ext cx="3469958" cy="2993708"/>
            <a:chOff x="8188642" y="1524000"/>
            <a:chExt cx="3469958" cy="2993708"/>
          </a:xfrm>
        </p:grpSpPr>
        <p:sp>
          <p:nvSpPr>
            <p:cNvPr id="22" name="Rectangle 22"/>
            <p:cNvSpPr/>
            <p:nvPr/>
          </p:nvSpPr>
          <p:spPr>
            <a:xfrm>
              <a:off x="8188642" y="1524000"/>
              <a:ext cx="3469958" cy="2993708"/>
            </a:xfrm>
            <a:prstGeom prst="roundRect">
              <a:avLst>
                <a:gd name="adj" fmla="val 31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16811" y="1670114"/>
              <a:ext cx="2432761" cy="27731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48"/>
                </a:lnSpc>
              </a:pPr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procedure leave;       </a:t>
              </a:r>
              <a:r>
                <a:rPr lang="zh-CN" sz="10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顾客调用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count := count - 1;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count &lt;&gt; 0 then signal(stool)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 count := 0 end;</a:t>
              </a:r>
              <a:br/>
              <a:r>
                <a:rPr lang="zh-CN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理发师：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sleepybarber.sleep; cuthair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until false;</a:t>
              </a:r>
              <a:br/>
              <a:r>
                <a:rPr lang="zh-CN" sz="10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顾客：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 sleepybarber.enter(full)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until not full;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cuthair; sleepybarber.leave;</a:t>
              </a:r>
            </a:p>
          </p:txBody>
        </p:sp>
      </p:grpSp>
      <p:grpSp>
        <p:nvGrpSpPr>
          <p:cNvPr id="38" name="c3-bullets-2"/>
          <p:cNvGrpSpPr/>
          <p:nvPr/>
        </p:nvGrpSpPr>
        <p:grpSpPr>
          <a:xfrm>
            <a:off x="8181404" y="4725829"/>
            <a:ext cx="3441992" cy="1441037"/>
            <a:chOff x="8181404" y="4725829"/>
            <a:chExt cx="3441992" cy="1441037"/>
          </a:xfrm>
        </p:grpSpPr>
        <p:sp>
          <p:nvSpPr>
            <p:cNvPr id="25" name="TextBox 25"/>
            <p:cNvSpPr txBox="1"/>
            <p:nvPr/>
          </p:nvSpPr>
          <p:spPr>
            <a:xfrm>
              <a:off x="8181404" y="472582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正常流程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187690" y="5050155"/>
              <a:ext cx="171450" cy="1714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36778" y="5083826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48294" y="5060632"/>
              <a:ext cx="2362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count = 0，理发师睡在 chair 上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8187690" y="5340668"/>
              <a:ext cx="171450" cy="1714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36778" y="5374338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48294" y="5351145"/>
              <a:ext cx="28600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C1 到，count = 1，signal(chair) 唤醒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8187690" y="5631180"/>
              <a:ext cx="171450" cy="1714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36778" y="5664851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48294" y="5641658"/>
              <a:ext cx="27550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C2 到，count = 2，wait(stool) 坐等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8187690" y="5921692"/>
              <a:ext cx="171450" cy="1714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36778" y="5955363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48294" y="5932170"/>
              <a:ext cx="31751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C1 调 leave，count 回到 1，signal(stool)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61142" cy="909257"/>
            <a:chOff x="520446" y="342900"/>
            <a:chExt cx="86611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条件临界区与管程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611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理发师问题：原解法缺少“理完一位”的同步点，改进如下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4544378" cy="3408998"/>
            <a:chOff x="533400" y="1524000"/>
            <a:chExt cx="4544378" cy="34089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3408998"/>
            </a:xfrm>
            <a:prstGeom prst="roundRect">
              <a:avLst>
                <a:gd name="adj" fmla="val 39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1422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343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原解法的问题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38541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理发师的 cuthair 与顾客的 cuthair 各自执行，没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有配对：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3905" y="2620327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9583" y="26587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4702" y="2632710"/>
              <a:ext cx="35884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顾客 C1 进店，count = 1，signal(chair) 叫醒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理发师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3905" y="3180398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9583" y="321878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4702" y="3192780"/>
              <a:ext cx="351129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理发师先理完，回到 sleep：C1 还没调用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leave，count 仍为 1，理发师不等待，又开始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“理发”，椅子上并没有新顾客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3905" y="3996690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9583" y="40360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4702" y="4009072"/>
              <a:ext cx="35284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凳子上的 C2 只在 C1 调用 leave 时被放行，与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理发师的节奏无关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8190" y="4564856"/>
              <a:ext cx="3924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另外，店满时顾客 repeat enter 立即重试，是忙式等待。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5108258"/>
            <a:ext cx="4544378" cy="1058228"/>
            <a:chOff x="533400" y="5108258"/>
            <a:chExt cx="4544378" cy="1058228"/>
          </a:xfrm>
        </p:grpSpPr>
        <p:sp>
          <p:nvSpPr>
            <p:cNvPr id="23" name="Rectangle 23"/>
            <p:cNvSpPr/>
            <p:nvPr/>
          </p:nvSpPr>
          <p:spPr>
            <a:xfrm>
              <a:off x="533400" y="5108258"/>
              <a:ext cx="4544378" cy="1058228"/>
            </a:xfrm>
            <a:prstGeom prst="roundRect">
              <a:avLst>
                <a:gd name="adj" fmla="val 1080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536883"/>
              <a:ext cx="200026" cy="200025"/>
              <a:chOff x="738188" y="5536883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5368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55813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56924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5293995"/>
              <a:ext cx="3537013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改进：顾客在 enter 里坐上理发椅后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wait(done)；理发师理完调用 finish，放走这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位顾客并叫下一位。</a:t>
              </a:r>
            </a:p>
          </p:txBody>
        </p:sp>
      </p:grpSp>
      <p:grpSp>
        <p:nvGrpSpPr>
          <p:cNvPr id="41" name="c2-code-1"/>
          <p:cNvGrpSpPr/>
          <p:nvPr/>
        </p:nvGrpSpPr>
        <p:grpSpPr>
          <a:xfrm>
            <a:off x="5382578" y="1524000"/>
            <a:ext cx="6276022" cy="4642485"/>
            <a:chOff x="5382578" y="1524000"/>
            <a:chExt cx="6276022" cy="4642485"/>
          </a:xfrm>
        </p:grpSpPr>
        <p:sp>
          <p:nvSpPr>
            <p:cNvPr id="30" name="Rectangle 30"/>
            <p:cNvSpPr/>
            <p:nvPr/>
          </p:nvSpPr>
          <p:spPr>
            <a:xfrm>
              <a:off x="5382578" y="1524000"/>
              <a:ext cx="6276022" cy="4642485"/>
            </a:xfrm>
            <a:prstGeom prst="roundRect">
              <a:avLst>
                <a:gd name="adj" fmla="val 20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10974" y="1675924"/>
              <a:ext cx="1756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改进后的管程（Hoare 语义）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401628" y="2244090"/>
              <a:ext cx="6237922" cy="17240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01628" y="3967162"/>
              <a:ext cx="6237922" cy="17240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01628" y="4484370"/>
              <a:ext cx="6237922" cy="17240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01628" y="4656772"/>
              <a:ext cx="6237922" cy="17240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01628" y="4829175"/>
              <a:ext cx="6237922" cy="17240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01628" y="5001578"/>
              <a:ext cx="6237922" cy="17240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01628" y="5173980"/>
              <a:ext cx="6237922" cy="17240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01628" y="5346382"/>
              <a:ext cx="6237922" cy="17240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11089" y="1936480"/>
              <a:ext cx="3683470" cy="41515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8"/>
                </a:lnSpc>
              </a:pP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type barbershop = MONITOR;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var count: 0..n+1;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chair, stool, done: condition;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define sleep, enter, finish;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procedure sleep;               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理发师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 if count = 0 then wait(chair) end;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procedure enter(var full: boolean);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顾客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count = n+1 then full := true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 begin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full := false; count := count + 1;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count = 1 then signal(chair) else wait(stool);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wait(done)    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坐上理发椅，理完才返回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procedure finish;              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理发师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count := count - 1;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signal(done);   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放走刚理完的顾客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count &gt; 0 then signal(stool) 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叫下一位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 count := 0 end;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理发师：repeat sleep; cuthair; finish until false;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顾客：repeat enter(full) until not full;  </a:t>
              </a:r>
              <a:r>
                <a:rPr lang="zh-CN" sz="9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返回时已理完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65845" cy="909257"/>
            <a:chOff x="520446" y="342900"/>
            <a:chExt cx="61658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条件临界区与管程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658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管程与 PV 操作等价：二者可以互相实现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544378" cy="2919412"/>
            <a:chOff x="533400" y="1524000"/>
            <a:chExt cx="4544378" cy="29194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919412"/>
            </a:xfrm>
            <a:prstGeom prst="roundRect">
              <a:avLst>
                <a:gd name="adj" fmla="val 326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用管程构造信号量（很直接）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11" y="1936480"/>
              <a:ext cx="2464905" cy="24275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8"/>
                </a:lnSpc>
              </a:pPr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type semaphore = MONITOR(init_value);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var c: condition; count: integer;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define P, V;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P;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count := count - 1;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count &lt; 0 then wait(c)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V;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count := count + 1;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count &lt;= 0 then signal(c)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 count := init_value end;</a:t>
              </a:r>
            </a:p>
          </p:txBody>
        </p:sp>
      </p:grpSp>
      <p:grpSp>
        <p:nvGrpSpPr>
          <p:cNvPr id="25" name="c1-table-2"/>
          <p:cNvGrpSpPr/>
          <p:nvPr/>
        </p:nvGrpSpPr>
        <p:grpSpPr>
          <a:xfrm>
            <a:off x="533400" y="4617720"/>
            <a:ext cx="4544378" cy="1623060"/>
            <a:chOff x="533400" y="4617720"/>
            <a:chExt cx="4544378" cy="1623060"/>
          </a:xfrm>
        </p:grpSpPr>
        <p:sp>
          <p:nvSpPr>
            <p:cNvPr id="11" name="Rectangle 11"/>
            <p:cNvSpPr/>
            <p:nvPr/>
          </p:nvSpPr>
          <p:spPr>
            <a:xfrm>
              <a:off x="533400" y="4617720"/>
              <a:ext cx="4544378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48042" y="474202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信号量写法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96094" y="47420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管程写法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5147786"/>
              <a:ext cx="1444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var s: semaphore;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28950" y="5147786"/>
              <a:ext cx="14054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type s = MONITOR;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542448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5429250"/>
              <a:ext cx="454437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5553551"/>
              <a:ext cx="1689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s.value := init_value;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28950" y="5553551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init s(init_value);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583025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5959316"/>
              <a:ext cx="955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P(s); V(s);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28950" y="5959316"/>
              <a:ext cx="740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s.P; s.V;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617720"/>
              <a:ext cx="4544378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924175" y="461772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9" name="c2-code-1"/>
          <p:cNvGrpSpPr/>
          <p:nvPr/>
        </p:nvGrpSpPr>
        <p:grpSpPr>
          <a:xfrm>
            <a:off x="5382578" y="1524000"/>
            <a:ext cx="6276022" cy="3952875"/>
            <a:chOff x="5382578" y="1524000"/>
            <a:chExt cx="6276022" cy="3952875"/>
          </a:xfrm>
        </p:grpSpPr>
        <p:sp>
          <p:nvSpPr>
            <p:cNvPr id="26" name="Rectangle 26"/>
            <p:cNvSpPr/>
            <p:nvPr/>
          </p:nvSpPr>
          <p:spPr>
            <a:xfrm>
              <a:off x="5382578" y="1524000"/>
              <a:ext cx="6276022" cy="3952875"/>
            </a:xfrm>
            <a:prstGeom prst="roundRect">
              <a:avLst>
                <a:gd name="adj" fmla="val 241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510974" y="1675924"/>
              <a:ext cx="15346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用信号量构造 Hoare 管程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11089" y="1936480"/>
              <a:ext cx="3128480" cy="34619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8"/>
                </a:lnSpc>
              </a:pPr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每个管程：mutex(1) 入口队列，urgent(0) 紧急队列，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urgent_count := 0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每个条件变量 c：s(0)，count := 0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进入管程：P(mutex);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离开管程：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urgent_count &gt; 0 then begin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urgent_count := urgent_count - 1; V(urgent)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 else V(mutex);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wait(c)：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count := count + 1;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urgent_count &gt; 0 then begin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urgent_count := urgent_count - 1; V(urgent)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 else V(mutex);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P(s);</a:t>
              </a:r>
              <a:br/>
              <a:r>
                <a:rPr lang="zh-CN" sz="9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signal(c)：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count &gt; 0 then begin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count := count - 1;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urgent_count := urgent_count + 1;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V(s); P(urgent)</a:t>
              </a:r>
              <a:br/>
              <a:r>
                <a:rPr lang="en-US" sz="9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end;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5382578" y="5652135"/>
            <a:ext cx="6276022" cy="589598"/>
            <a:chOff x="5382578" y="5652135"/>
            <a:chExt cx="6276022" cy="589598"/>
          </a:xfrm>
        </p:grpSpPr>
        <p:sp>
          <p:nvSpPr>
            <p:cNvPr id="30" name="Rectangle 30"/>
            <p:cNvSpPr/>
            <p:nvPr/>
          </p:nvSpPr>
          <p:spPr>
            <a:xfrm>
              <a:off x="5382578" y="5652135"/>
              <a:ext cx="6276022" cy="589598"/>
            </a:xfrm>
            <a:prstGeom prst="roundRect">
              <a:avLst>
                <a:gd name="adj" fmla="val 1938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587365" y="5846445"/>
              <a:ext cx="200026" cy="200026"/>
              <a:chOff x="5587365" y="5846445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587365" y="58464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687378" y="59131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676265" y="59464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5890070" y="5852160"/>
              <a:ext cx="50543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wait(c) 一栏的 BEGIN 缺少对应的 END，这里已补上。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84873" cy="909257"/>
            <a:chOff x="520446" y="342900"/>
            <a:chExt cx="73848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条件临界区与管程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848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管程的嵌套调用；Java 对象锁与 wait、notify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544378" cy="1602105"/>
            <a:chOff x="533400" y="1524000"/>
            <a:chExt cx="4544378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683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570" y="1769269"/>
              <a:ext cx="1573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4.3.5.6 嵌套调用问题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7776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P 在管程 M1 的过程中调用 M2，……，在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Mn 中执行 wait(c)。问题是：是否允许嵌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套？允许时已持有的外层互斥权怎么办？</a:t>
              </a:r>
            </a:p>
          </p:txBody>
        </p:sp>
      </p:grpSp>
      <p:grpSp>
        <p:nvGrpSpPr>
          <p:cNvPr id="29" name="c1-table-2"/>
          <p:cNvGrpSpPr/>
          <p:nvPr/>
        </p:nvGrpSpPr>
        <p:grpSpPr>
          <a:xfrm>
            <a:off x="533400" y="3316605"/>
            <a:ext cx="4544378" cy="2924175"/>
            <a:chOff x="533400" y="3316605"/>
            <a:chExt cx="4544378" cy="2924175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454437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772971" y="34523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处理方法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17949" y="34523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223" y="39009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禁止嵌套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22573" y="3900964"/>
              <a:ext cx="5782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Modula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20909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4213860"/>
              <a:ext cx="454437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4349591"/>
              <a:ext cx="2776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允许嵌套，等待时只释放当前管程的互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斥权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22573" y="4349591"/>
              <a:ext cx="9070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Concurrent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Pascal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88537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5024914"/>
              <a:ext cx="2776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允许嵌套，等待时释放所有管程的互斥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556069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5565458"/>
              <a:ext cx="454437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5700236"/>
              <a:ext cx="2776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允许嵌套，调用时就释放路经管程的互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斥权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16605"/>
              <a:ext cx="4544378" cy="2924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709988" y="3316605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2-graph-1"/>
          <p:cNvGrpSpPr/>
          <p:nvPr/>
        </p:nvGrpSpPr>
        <p:grpSpPr>
          <a:xfrm>
            <a:off x="5771198" y="1833562"/>
            <a:ext cx="5566409" cy="1144905"/>
            <a:chOff x="5771198" y="1833562"/>
            <a:chExt cx="5566409" cy="1144905"/>
          </a:xfrm>
        </p:grpSpPr>
        <p:sp>
          <p:nvSpPr>
            <p:cNvPr id="30" name="Freeform 30"/>
            <p:cNvSpPr/>
            <p:nvPr/>
          </p:nvSpPr>
          <p:spPr>
            <a:xfrm>
              <a:off x="7128510" y="2527935"/>
              <a:ext cx="836295" cy="9525"/>
            </a:xfrm>
            <a:custGeom>
              <a:avLst/>
              <a:gdLst/>
              <a:ahLst/>
              <a:cxnLst/>
              <a:rect l="l" t="t" r="r" b="b"/>
              <a:pathLst>
                <a:path w="836295" h="9525">
                  <a:moveTo>
                    <a:pt x="0" y="0"/>
                  </a:moveTo>
                  <a:lnTo>
                    <a:pt x="8362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964805" y="24803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981122" y="2527935"/>
              <a:ext cx="769620" cy="9525"/>
            </a:xfrm>
            <a:custGeom>
              <a:avLst/>
              <a:gdLst/>
              <a:ahLst/>
              <a:cxnLst/>
              <a:rect l="l" t="t" r="r" b="b"/>
              <a:pathLst>
                <a:path w="769620" h="9525">
                  <a:moveTo>
                    <a:pt x="0" y="0"/>
                  </a:moveTo>
                  <a:lnTo>
                    <a:pt x="7696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750742" y="24803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6864668" y="1833562"/>
              <a:ext cx="3398520" cy="543878"/>
            </a:xfrm>
            <a:custGeom>
              <a:avLst/>
              <a:gdLst/>
              <a:ahLst/>
              <a:cxnLst/>
              <a:rect l="l" t="t" r="r" b="b"/>
              <a:pathLst>
                <a:path w="3398520" h="543878">
                  <a:moveTo>
                    <a:pt x="3398520" y="543878"/>
                  </a:moveTo>
                  <a:cubicBezTo>
                    <a:pt x="2237105" y="13018"/>
                    <a:pt x="1104265" y="0"/>
                    <a:pt x="0" y="50482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5" name="Freeform 35"/>
            <p:cNvSpPr/>
            <p:nvPr/>
          </p:nvSpPr>
          <p:spPr>
            <a:xfrm>
              <a:off x="6777990" y="2294572"/>
              <a:ext cx="106680" cy="86677"/>
            </a:xfrm>
            <a:custGeom>
              <a:avLst/>
              <a:gdLst/>
              <a:ahLst/>
              <a:cxnLst/>
              <a:rect l="l" t="t" r="r" b="b"/>
              <a:pathLst>
                <a:path w="106680" h="86677">
                  <a:moveTo>
                    <a:pt x="0" y="82867"/>
                  </a:moveTo>
                  <a:lnTo>
                    <a:pt x="66675" y="0"/>
                  </a:lnTo>
                  <a:lnTo>
                    <a:pt x="106680" y="8667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71198" y="2377440"/>
              <a:ext cx="1357312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8070533" y="2077402"/>
              <a:ext cx="901065" cy="90106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845992" y="2377440"/>
              <a:ext cx="1491615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45465" y="2457926"/>
              <a:ext cx="12078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entry set：等锁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38414" y="24579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锁的持有者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916835" y="2457926"/>
              <a:ext cx="13499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 set：已 wait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384732" y="2442210"/>
              <a:ext cx="4191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07783" y="247459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获得锁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189720" y="2442210"/>
              <a:ext cx="44767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11913" y="2474595"/>
              <a:ext cx="4032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wait()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002905" y="1893570"/>
              <a:ext cx="103632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005519" y="1925955"/>
              <a:ext cx="10310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notify / notifyAll</a:t>
              </a:r>
            </a:p>
          </p:txBody>
        </p:sp>
      </p:grpSp>
      <p:grpSp>
        <p:nvGrpSpPr>
          <p:cNvPr id="67" name="c2-table-2"/>
          <p:cNvGrpSpPr/>
          <p:nvPr/>
        </p:nvGrpSpPr>
        <p:grpSpPr>
          <a:xfrm>
            <a:off x="5382578" y="3333750"/>
            <a:ext cx="6276022" cy="2924176"/>
            <a:chOff x="5382578" y="3333750"/>
            <a:chExt cx="6276022" cy="2924176"/>
          </a:xfrm>
        </p:grpSpPr>
        <p:sp>
          <p:nvSpPr>
            <p:cNvPr id="49" name="Rectangle 49"/>
            <p:cNvSpPr/>
            <p:nvPr/>
          </p:nvSpPr>
          <p:spPr>
            <a:xfrm>
              <a:off x="5382578" y="3333750"/>
              <a:ext cx="627602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853582" y="3469481"/>
              <a:ext cx="816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Java 设施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20479" y="3469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90401" y="403145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47763" y="3918109"/>
              <a:ext cx="40119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object 有一把互斥锁，声明为 synchronized 的方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法才启用它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82578" y="44529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382578" y="4457700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490401" y="4706779"/>
              <a:ext cx="6009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wait()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47763" y="4593431"/>
              <a:ext cx="40769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释放锁，状态改为 blocked，进入 wait set；entry set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非空时选一个线程进入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82578" y="51292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490401" y="5382101"/>
              <a:ext cx="76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notify()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47763" y="5268754"/>
              <a:ext cx="38656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wait set 任取一个线程移到 entry set，状态改为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runnable（signal and continue）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82578" y="580453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382578" y="5809298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490401" y="5944076"/>
              <a:ext cx="9779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notifyAll()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247763" y="5944076"/>
              <a:ext cx="3011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 set 中所有线程都移到 entry set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82578" y="3333750"/>
              <a:ext cx="6276022" cy="2924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135178" y="333375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20549" cy="909257"/>
            <a:chOff x="520446" y="342900"/>
            <a:chExt cx="88205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条件临界区与管程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205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例：有界缓冲区，多线程时要用 while 加 notifyAll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626090" cy="569595"/>
            <a:chOff x="525780" y="1548765"/>
            <a:chExt cx="10626090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626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class BoundedBuffer 的字段：count、in、out 和 Object[] buffer（BUFFER_SIZE = 5）；构造方法把三个计数置 0 并创建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数组。</a:t>
              </a:r>
            </a:p>
          </p:txBody>
        </p:sp>
      </p:grpSp>
      <p:grpSp>
        <p:nvGrpSpPr>
          <p:cNvPr id="11" name="c1-code-1"/>
          <p:cNvGrpSpPr/>
          <p:nvPr/>
        </p:nvGrpSpPr>
        <p:grpSpPr>
          <a:xfrm>
            <a:off x="533400" y="2230755"/>
            <a:ext cx="3890962" cy="2442210"/>
            <a:chOff x="533400" y="2230755"/>
            <a:chExt cx="3890962" cy="2442210"/>
          </a:xfrm>
        </p:grpSpPr>
        <p:sp>
          <p:nvSpPr>
            <p:cNvPr id="9" name="Rectangle 9"/>
            <p:cNvSpPr/>
            <p:nvPr/>
          </p:nvSpPr>
          <p:spPr>
            <a:xfrm>
              <a:off x="533400" y="2230755"/>
              <a:ext cx="3890962" cy="2442210"/>
            </a:xfrm>
            <a:prstGeom prst="roundRect">
              <a:avLst>
                <a:gd name="adj" fmla="val 390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568" y="2376868"/>
              <a:ext cx="2860243" cy="22216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48"/>
                </a:lnSpc>
              </a:pPr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public synchronized void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enter(Object item) {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(count == BUFFER_SIZE) {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try {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wait();  </a:t>
              </a:r>
              <a:r>
                <a:rPr lang="zh-CN" sz="10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醒来后重新检查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catch (InterruptedException e) { }</a:t>
              </a:r>
              <a:br/>
              <a:r>
                <a:rPr lang="zh-CN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++count;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buffer[in] = item;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 = (in + 1) % BUFFER_SIZE;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notifyAll();  </a:t>
              </a:r>
              <a:r>
                <a:rPr lang="zh-CN" sz="10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原课件为 notify()</a:t>
              </a:r>
              <a:br/>
              <a:r>
                <a:rPr lang="zh-CN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4729162" y="2230755"/>
            <a:ext cx="3890962" cy="2442210"/>
            <a:chOff x="4729162" y="2230755"/>
            <a:chExt cx="3890962" cy="2442210"/>
          </a:xfrm>
        </p:grpSpPr>
        <p:sp>
          <p:nvSpPr>
            <p:cNvPr id="12" name="Rectangle 12"/>
            <p:cNvSpPr/>
            <p:nvPr/>
          </p:nvSpPr>
          <p:spPr>
            <a:xfrm>
              <a:off x="4729162" y="2230755"/>
              <a:ext cx="3890962" cy="2442210"/>
            </a:xfrm>
            <a:prstGeom prst="roundRect">
              <a:avLst>
                <a:gd name="adj" fmla="val 390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857331" y="2376868"/>
              <a:ext cx="2860243" cy="22216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48"/>
                </a:lnSpc>
              </a:pPr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public synchronized Object remove() {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(count == 0) {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try {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wait();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catch (InterruptedException e) { }</a:t>
              </a:r>
              <a:br/>
              <a:r>
                <a:rPr lang="zh-CN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--count;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Object item = buffer[out];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out = (out + 1) % BUFFER_SIZE;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notifyAll();  </a:t>
              </a:r>
              <a:r>
                <a:rPr lang="zh-CN" sz="10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原课件为 notify()</a:t>
              </a:r>
              <a:br/>
              <a:r>
                <a:rPr lang="en-US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return item;</a:t>
              </a:r>
              <a:br/>
              <a:r>
                <a:rPr lang="zh-CN" sz="10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3-card-1"/>
          <p:cNvGrpSpPr/>
          <p:nvPr/>
        </p:nvGrpSpPr>
        <p:grpSpPr>
          <a:xfrm>
            <a:off x="8924925" y="2230755"/>
            <a:ext cx="2733675" cy="3084195"/>
            <a:chOff x="8924925" y="2230755"/>
            <a:chExt cx="2733675" cy="3084195"/>
          </a:xfrm>
        </p:grpSpPr>
        <p:sp>
          <p:nvSpPr>
            <p:cNvPr id="15" name="Rectangle 15"/>
            <p:cNvSpPr/>
            <p:nvPr/>
          </p:nvSpPr>
          <p:spPr>
            <a:xfrm>
              <a:off x="8924925" y="2230755"/>
              <a:ext cx="2733675" cy="3084195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934450" y="2364105"/>
              <a:ext cx="47625" cy="28174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166860" y="243459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57068" y="24703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59621" y="2807494"/>
              <a:ext cx="2178558" cy="1636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 notify()。一个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生产者、一个消费者时没问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题；多个生产者和消费者共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用一个 wait set，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notify() 可能唤醒同类线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60764" y="4481512"/>
              <a:ext cx="209245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另：原课件 remove() 中 item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未声明，类名写成了 Bounded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Buffer。</a:t>
              </a:r>
            </a:p>
          </p:txBody>
        </p:sp>
      </p:grpSp>
      <p:grpSp>
        <p:nvGrpSpPr>
          <p:cNvPr id="28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22" name="Rectangle 22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26129" y="5880853"/>
              <a:ext cx="224134" cy="192560"/>
              <a:chOff x="726129" y="5880853"/>
              <a:chExt cx="224134" cy="1925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38200" y="59512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6129" y="58808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6029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511" y="5753576"/>
              <a:ext cx="980694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反例（容量 1，生产者 P1、P2，消费者 C1、C2）：C1、C2 等待；P1 放入后 notify 唤醒 C1；P1、P2 再来时缓冲区满都去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等；C1 取走后 notify 恰好唤醒 C2，C2 见空又等，C1 下一轮也等。四个线程全部等待。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49044" cy="909257"/>
            <a:chOff x="520446" y="342900"/>
            <a:chExt cx="84490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条件临界区与管程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490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例：读者-写者，以及 synchronized 的几条规则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410200" cy="3267075"/>
            <a:chOff x="533400" y="1524000"/>
            <a:chExt cx="5410200" cy="32670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267075"/>
            </a:xfrm>
            <a:prstGeom prst="roundRect">
              <a:avLst>
                <a:gd name="adj" fmla="val 291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52450" y="3145155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52450" y="3334702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416" y="1670685"/>
              <a:ext cx="4117848" cy="30485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public class Database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private int readCount = 0;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private boolean dbReading = false;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private boolean dbWriting = false;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public synchronized void startRead()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while (dbWriting == true)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try { wait(); } catch (InterruptedException e) {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++readCount;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(readCount == 1) dbReading = true;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public synchronized void endRead()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--readCount;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(readCount == 0) dbReading = false;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notifyAll();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981575"/>
            <a:ext cx="5410200" cy="1059180"/>
            <a:chOff x="533400" y="4981575"/>
            <a:chExt cx="5410200" cy="1059180"/>
          </a:xfrm>
        </p:grpSpPr>
        <p:sp>
          <p:nvSpPr>
            <p:cNvPr id="12" name="Rectangle 12"/>
            <p:cNvSpPr/>
            <p:nvPr/>
          </p:nvSpPr>
          <p:spPr>
            <a:xfrm>
              <a:off x="533400" y="4981575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411153"/>
              <a:ext cx="200026" cy="200026"/>
              <a:chOff x="738188" y="5411153"/>
              <a:chExt cx="200026" cy="2000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54111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00" y="54778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7088" y="55111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130" y="5130165"/>
              <a:ext cx="44443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 startRead 的 while 缺右括号，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++readCount 被写进了循环体；计数变量名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Readcount、readCount、readerCount 也不统一。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248400" y="1524000"/>
            <a:ext cx="5410200" cy="2320290"/>
            <a:chOff x="6248400" y="1524000"/>
            <a:chExt cx="5410200" cy="232029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320290"/>
            </a:xfrm>
            <a:prstGeom prst="roundRect">
              <a:avLst>
                <a:gd name="adj" fmla="val 410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416" y="1670685"/>
              <a:ext cx="4117848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public synchronized void startWrite()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while (dbReading == true || dbWriting == true)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try { wait(); } catch (InterruptedException e) {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dbWriting = true;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public synchronized void endWrite()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dbWriting = false;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notifyAll();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1" name="c2-bullets-2"/>
          <p:cNvGrpSpPr/>
          <p:nvPr/>
        </p:nvGrpSpPr>
        <p:grpSpPr>
          <a:xfrm>
            <a:off x="6240780" y="4059555"/>
            <a:ext cx="5208651" cy="1760505"/>
            <a:chOff x="6240780" y="4059555"/>
            <a:chExt cx="5208651" cy="1760505"/>
          </a:xfrm>
        </p:grpSpPr>
        <p:sp>
          <p:nvSpPr>
            <p:cNvPr id="22" name="TextBox 22"/>
            <p:cNvSpPr txBox="1"/>
            <p:nvPr/>
          </p:nvSpPr>
          <p:spPr>
            <a:xfrm>
              <a:off x="6240780" y="4059555"/>
              <a:ext cx="13605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Java 同步规则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257925" y="446246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3373" y="4410551"/>
              <a:ext cx="48291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持有某对象锁的线程可以进入该对象的其他 synchronized 方法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257925" y="476821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3373" y="4716304"/>
              <a:ext cx="48291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可以嵌套调用不同对象的 synchronized 方法，同时持有多把锁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257925" y="507396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3373" y="5022056"/>
              <a:ext cx="50360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 synchronized 方法不需要锁，其他 synchronized 方法执行时也能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57925" y="562356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3373" y="5570696"/>
              <a:ext cx="40080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wait set 为空时，notify()、notifyAll() 不起作用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会合与进程通信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进程分布在不同站点时，靠消息而不是共享变量协作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999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4.3.6 会合（Ada）：调用、接受与选择语句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164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会合例子：客栈问题、有界缓冲区、读者-写者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4043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4.4 进程高级通信：消息缓冲、无缓冲、信箱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48034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管道与信号；Windows 同步对象、管道与邮件槽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会合与进程通信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会合：调用者和接受者都到达，握手后同步执行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680210"/>
            <a:chOff x="533400" y="1524000"/>
            <a:chExt cx="5626418" cy="16802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80210"/>
            </a:xfrm>
            <a:prstGeom prst="roundRect">
              <a:avLst>
                <a:gd name="adj" fmla="val 7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135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引入背景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50029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P、V 操作用到的共享变量、管程，都和访问它们的进程在同一存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储区，是“被动”成分，不适合进程分布在不同站点的分布式环境。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8190" y="2629376"/>
              <a:ext cx="48262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80 年代由美国国防部（DOD）推动的 Ada 语言提出会合；Ada 95 支持面向对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象。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379470"/>
            <a:ext cx="5626418" cy="1209675"/>
            <a:chOff x="533400" y="3379470"/>
            <a:chExt cx="5626418" cy="1209675"/>
          </a:xfrm>
        </p:grpSpPr>
        <p:sp>
          <p:nvSpPr>
            <p:cNvPr id="14" name="Rectangle 14"/>
            <p:cNvSpPr/>
            <p:nvPr/>
          </p:nvSpPr>
          <p:spPr>
            <a:xfrm>
              <a:off x="533400" y="3379470"/>
              <a:ext cx="5626418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51282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57187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5345" y="36061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会合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3928110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两个并发执行流（调用、接受）汇集到一处，双方都到达后握手同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步，由被调用任务代替调用者执行调用代码。</a:t>
              </a:r>
            </a:p>
          </p:txBody>
        </p:sp>
      </p:grpSp>
      <p:grpSp>
        <p:nvGrpSpPr>
          <p:cNvPr id="28" name="c1-kv-3"/>
          <p:cNvGrpSpPr/>
          <p:nvPr/>
        </p:nvGrpSpPr>
        <p:grpSpPr>
          <a:xfrm>
            <a:off x="526542" y="4786312"/>
            <a:ext cx="5633276" cy="1313689"/>
            <a:chOff x="526542" y="4786312"/>
            <a:chExt cx="5633276" cy="1313689"/>
          </a:xfrm>
        </p:grpSpPr>
        <p:sp>
          <p:nvSpPr>
            <p:cNvPr id="20" name="TextBox 20"/>
            <p:cNvSpPr txBox="1"/>
            <p:nvPr/>
          </p:nvSpPr>
          <p:spPr>
            <a:xfrm>
              <a:off x="526542" y="478631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调用语句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88567" y="4786312"/>
              <a:ext cx="25489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&lt;任务名&gt;.&lt;入口名&gt;[&lt;实参表&gt;]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507492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542" y="518445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接受语句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88567" y="5184458"/>
              <a:ext cx="430853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 &lt;入口名&gt;[&lt;形参表&gt;] [do &lt;语句序列&gt; end &lt;入口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名&gt;]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72643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542" y="5835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入口队列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88567" y="5835968"/>
              <a:ext cx="39947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每个入口一个 FIFO 队列，排着等待会合的调用者</a:t>
              </a:r>
            </a:p>
          </p:txBody>
        </p:sp>
      </p:grpSp>
      <p:grpSp>
        <p:nvGrpSpPr>
          <p:cNvPr id="59" name="c2-flow-1"/>
          <p:cNvGrpSpPr/>
          <p:nvPr/>
        </p:nvGrpSpPr>
        <p:grpSpPr>
          <a:xfrm>
            <a:off x="6646545" y="1639252"/>
            <a:ext cx="4830127" cy="4519614"/>
            <a:chOff x="6646545" y="1639252"/>
            <a:chExt cx="4830127" cy="4519614"/>
          </a:xfrm>
        </p:grpSpPr>
        <p:sp>
          <p:nvSpPr>
            <p:cNvPr id="29" name="Freeform 29"/>
            <p:cNvSpPr/>
            <p:nvPr/>
          </p:nvSpPr>
          <p:spPr>
            <a:xfrm>
              <a:off x="8880158" y="1926908"/>
              <a:ext cx="258128" cy="9525"/>
            </a:xfrm>
            <a:custGeom>
              <a:avLst/>
              <a:gdLst/>
              <a:ahLst/>
              <a:cxnLst/>
              <a:rect l="l" t="t" r="r" b="b"/>
              <a:pathLst>
                <a:path w="258128" h="9525">
                  <a:moveTo>
                    <a:pt x="0" y="0"/>
                  </a:moveTo>
                  <a:lnTo>
                    <a:pt x="25812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138285" y="18745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762875" y="2214562"/>
              <a:ext cx="9525" cy="125730"/>
            </a:xfrm>
            <a:custGeom>
              <a:avLst/>
              <a:gdLst/>
              <a:ahLst/>
              <a:cxnLst/>
              <a:rect l="l" t="t" r="r" b="b"/>
              <a:pathLst>
                <a:path w="9525" h="125730">
                  <a:moveTo>
                    <a:pt x="0" y="0"/>
                  </a:moveTo>
                  <a:lnTo>
                    <a:pt x="0" y="1257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710488" y="23402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7762875" y="3022282"/>
              <a:ext cx="9525" cy="213360"/>
            </a:xfrm>
            <a:custGeom>
              <a:avLst/>
              <a:gdLst/>
              <a:ahLst/>
              <a:cxnLst/>
              <a:rect l="l" t="t" r="r" b="b"/>
              <a:pathLst>
                <a:path w="9525" h="213360">
                  <a:moveTo>
                    <a:pt x="0" y="0"/>
                  </a:moveTo>
                  <a:lnTo>
                    <a:pt x="0" y="2133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710488" y="32356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7762875" y="3739515"/>
              <a:ext cx="9525" cy="302895"/>
            </a:xfrm>
            <a:custGeom>
              <a:avLst/>
              <a:gdLst/>
              <a:ahLst/>
              <a:cxnLst/>
              <a:rect l="l" t="t" r="r" b="b"/>
              <a:pathLst>
                <a:path w="9525" h="302895">
                  <a:moveTo>
                    <a:pt x="0" y="0"/>
                  </a:moveTo>
                  <a:lnTo>
                    <a:pt x="0" y="3028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710488" y="40424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762875" y="4546282"/>
              <a:ext cx="9525" cy="302895"/>
            </a:xfrm>
            <a:custGeom>
              <a:avLst/>
              <a:gdLst/>
              <a:ahLst/>
              <a:cxnLst/>
              <a:rect l="l" t="t" r="r" b="b"/>
              <a:pathLst>
                <a:path w="9525" h="302895">
                  <a:moveTo>
                    <a:pt x="0" y="0"/>
                  </a:moveTo>
                  <a:lnTo>
                    <a:pt x="0" y="3028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710488" y="48491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762875" y="5352098"/>
              <a:ext cx="9525" cy="302895"/>
            </a:xfrm>
            <a:custGeom>
              <a:avLst/>
              <a:gdLst/>
              <a:ahLst/>
              <a:cxnLst/>
              <a:rect l="l" t="t" r="r" b="b"/>
              <a:pathLst>
                <a:path w="9525" h="302895">
                  <a:moveTo>
                    <a:pt x="0" y="0"/>
                  </a:moveTo>
                  <a:lnTo>
                    <a:pt x="0" y="3028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710488" y="56549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646545" y="1639252"/>
              <a:ext cx="2233612" cy="575310"/>
            </a:xfrm>
            <a:custGeom>
              <a:avLst/>
              <a:gdLst/>
              <a:ahLst/>
              <a:cxnLst/>
              <a:rect l="l" t="t" r="r" b="b"/>
              <a:pathLst>
                <a:path w="2233612" h="575310">
                  <a:moveTo>
                    <a:pt x="1116330" y="0"/>
                  </a:moveTo>
                  <a:lnTo>
                    <a:pt x="2233612" y="287655"/>
                  </a:lnTo>
                  <a:lnTo>
                    <a:pt x="1116330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243060" y="1727835"/>
              <a:ext cx="2233612" cy="399098"/>
            </a:xfrm>
            <a:prstGeom prst="roundRect">
              <a:avLst>
                <a:gd name="adj" fmla="val 23866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46545" y="2445068"/>
              <a:ext cx="2233612" cy="578168"/>
            </a:xfrm>
            <a:prstGeom prst="roundRect">
              <a:avLst>
                <a:gd name="adj" fmla="val 16474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46545" y="3340418"/>
              <a:ext cx="223361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46545" y="4147185"/>
              <a:ext cx="223361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46545" y="4953952"/>
              <a:ext cx="223361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46545" y="5759768"/>
              <a:ext cx="2233612" cy="399098"/>
            </a:xfrm>
            <a:prstGeom prst="roundRect">
              <a:avLst>
                <a:gd name="adj" fmla="val 4988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29450" y="184832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入口有调用者？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53079" y="18483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等待调用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03720" y="2558891"/>
              <a:ext cx="171831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选取第一个调用者，会合开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始，调用者等待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10827" y="3461861"/>
              <a:ext cx="15040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in 参数则取 in 参数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54062" y="426767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有语句序列则执行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90207" y="5074444"/>
              <a:ext cx="1745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out 参数则送 out 参数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03288" y="588121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会合结束，调用者继续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951595" y="1721168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91168" y="174545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791450" y="2244090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815072" y="226933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12457" cy="909257"/>
            <a:chOff x="520446" y="342900"/>
            <a:chExt cx="74124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会合与进程通信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124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 语句：在多个开放的入口中任选一个会合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869180" cy="1829752"/>
            <a:chOff x="533400" y="1524000"/>
            <a:chExt cx="4869180" cy="18297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选择语句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2030921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select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[when &lt;布尔表达式&gt; =&gt;]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&lt;接受语句&gt; [&lt;语句序列&gt;]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{ or [when &lt;布尔表达式&gt; =&gt;]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&lt;接受语句&gt; [&lt;语句序列&gt;]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[ else &lt;语句序列&gt; ]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select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533775"/>
            <a:ext cx="4869180" cy="2586990"/>
            <a:chOff x="533400" y="3533775"/>
            <a:chExt cx="4869180" cy="2586990"/>
          </a:xfrm>
        </p:grpSpPr>
        <p:sp>
          <p:nvSpPr>
            <p:cNvPr id="11" name="Rectangle 11"/>
            <p:cNvSpPr/>
            <p:nvPr/>
          </p:nvSpPr>
          <p:spPr>
            <a:xfrm>
              <a:off x="533400" y="3533775"/>
              <a:ext cx="4869180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6856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例：单一资源管理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416" y="3947160"/>
              <a:ext cx="2064258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task single_resource is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entry acquire;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entry return;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single_resource;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task body single_resource is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loop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accept acquire;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accept return;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 loop;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single_resource;</a:t>
              </a:r>
            </a:p>
          </p:txBody>
        </p:sp>
      </p:grpSp>
      <p:grpSp>
        <p:nvGrpSpPr>
          <p:cNvPr id="36" name="c2-steps-1"/>
          <p:cNvGrpSpPr/>
          <p:nvPr/>
        </p:nvGrpSpPr>
        <p:grpSpPr>
          <a:xfrm>
            <a:off x="5707380" y="1533525"/>
            <a:ext cx="5614416" cy="3236976"/>
            <a:chOff x="5707380" y="1533525"/>
            <a:chExt cx="5614416" cy="3236976"/>
          </a:xfrm>
        </p:grpSpPr>
        <p:sp>
          <p:nvSpPr>
            <p:cNvPr id="15" name="Rectangle 15"/>
            <p:cNvSpPr/>
            <p:nvPr/>
          </p:nvSpPr>
          <p:spPr>
            <a:xfrm>
              <a:off x="5840730" y="1676400"/>
              <a:ext cx="19050" cy="26879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707380" y="215074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0100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707380" y="276701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0100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707380" y="33842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01004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707380" y="422148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01004" y="42952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19241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标记开放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20384" y="1846898"/>
              <a:ext cx="4793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计算所有 when 条件，为真（或没有 when）的 accept 标记为开放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19241" y="2183606"/>
              <a:ext cx="16928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没有开放的 accept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20384" y="2464118"/>
              <a:ext cx="2685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else 部分就执行它，否则引发异常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19241" y="279987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有开放的，但都没人调用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20384" y="3080385"/>
              <a:ext cx="2362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else 部分就执行它，否则等待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19241" y="341709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会合期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20384" y="3697605"/>
              <a:ext cx="52014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任取一个开放且被调用的 accept：会合开始，调用者等待；取 in 参数、执行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语句序列、送 out 参数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19241" y="425529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20384" y="4535805"/>
              <a:ext cx="46808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会合结束，调用者继续；再执行这个分支 accept 之后的语句序列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5707380" y="4941570"/>
            <a:ext cx="5951220" cy="1179195"/>
            <a:chOff x="5707380" y="4941570"/>
            <a:chExt cx="5951220" cy="1179195"/>
          </a:xfrm>
        </p:grpSpPr>
        <p:sp>
          <p:nvSpPr>
            <p:cNvPr id="37" name="Rectangle 37"/>
            <p:cNvSpPr/>
            <p:nvPr/>
          </p:nvSpPr>
          <p:spPr>
            <a:xfrm>
              <a:off x="5707380" y="4941570"/>
              <a:ext cx="5951220" cy="1179195"/>
            </a:xfrm>
            <a:prstGeom prst="roundRect">
              <a:avLst>
                <a:gd name="adj" fmla="val 969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5912168" y="5431155"/>
              <a:ext cx="200026" cy="200025"/>
              <a:chOff x="5912168" y="5431155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5912168" y="54311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951906" y="54756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986622" y="55867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214491" y="5168741"/>
              <a:ext cx="496481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使用资源：single_resource.acquire; 使用;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single_resource.return; 任务体交替接受两个入口，保证一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次只有一个使用者。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会合与进程通信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会合例：客栈问题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787140" cy="1817370"/>
            <a:chOff x="533400" y="1524000"/>
            <a:chExt cx="3787140" cy="18173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787140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3098292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主人 master 接受面包师的面包、猎人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的猎物，做成三明治给探险家。店里最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多一份面包、一份猎物、一份三明治，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一次接待一位客人。</a:t>
              </a:r>
            </a:p>
          </p:txBody>
        </p:sp>
      </p:grpSp>
      <p:grpSp>
        <p:nvGrpSpPr>
          <p:cNvPr id="15" name="c1-code-2"/>
          <p:cNvGrpSpPr/>
          <p:nvPr/>
        </p:nvGrpSpPr>
        <p:grpSpPr>
          <a:xfrm>
            <a:off x="533400" y="3527108"/>
            <a:ext cx="3787140" cy="2457450"/>
            <a:chOff x="533400" y="3527108"/>
            <a:chExt cx="3787140" cy="2457450"/>
          </a:xfrm>
        </p:grpSpPr>
        <p:sp>
          <p:nvSpPr>
            <p:cNvPr id="13" name="Rectangle 13"/>
            <p:cNvSpPr/>
            <p:nvPr/>
          </p:nvSpPr>
          <p:spPr>
            <a:xfrm>
              <a:off x="533400" y="3527108"/>
              <a:ext cx="3787140" cy="2457450"/>
            </a:xfrm>
            <a:prstGeom prst="roundRect">
              <a:avLst>
                <a:gd name="adj" fmla="val 38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949" y="3672745"/>
              <a:ext cx="2635961" cy="22307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task master is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entry deliverbread(br: in food);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entry delivermeat(mt: in food);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entry lodge(snack: out food);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master;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-- explorer（多个）循环：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explore; master.lodge(victuals);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eat(victuals);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-- hunter 循环：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hunt(walrus);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master.delivermeat(walrus);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-- bakery 循环：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bake(rolls); master.deliverbread(rolls);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4625340" y="1524000"/>
            <a:ext cx="7033260" cy="3480435"/>
            <a:chOff x="4625340" y="1524000"/>
            <a:chExt cx="7033260" cy="3480435"/>
          </a:xfrm>
        </p:grpSpPr>
        <p:sp>
          <p:nvSpPr>
            <p:cNvPr id="16" name="Rectangle 16"/>
            <p:cNvSpPr/>
            <p:nvPr/>
          </p:nvSpPr>
          <p:spPr>
            <a:xfrm>
              <a:off x="4625340" y="1524000"/>
              <a:ext cx="7033260" cy="3480435"/>
            </a:xfrm>
            <a:prstGeom prst="roundRect">
              <a:avLst>
                <a:gd name="adj" fmla="val 273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644390" y="3850958"/>
              <a:ext cx="6995160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644390" y="4021455"/>
              <a:ext cx="6995160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644390" y="4191952"/>
              <a:ext cx="6995160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44390" y="4362450"/>
              <a:ext cx="6995160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53889" y="1669637"/>
              <a:ext cx="3883482" cy="32537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bread := 0; meat := 0; sandwich := 0;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loop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select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when bread = 0 =&gt;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accept deliverbread(br: in food) do bread := br; end;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or when meat = 0 =&gt;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accept delivermeat(mt: in food) do meat := mt; end;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or when sandwich /= 0 or (bread /= 0 and meat /= 0) =&gt;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accept lodge(snack: out food) do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if sandwich = 0 then makesandwich; end if;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snack := sandwich;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end lodge;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sandwich := 0;              -- 会合期之外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bread /= 0 and meat /= 0 and sandwich = 0 then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makesandwich;               -- 空闲时先做好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 if;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 select;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loop;</a:t>
              </a:r>
            </a:p>
          </p:txBody>
        </p:sp>
      </p:grpSp>
      <p:grpSp>
        <p:nvGrpSpPr>
          <p:cNvPr id="29" name="c2-callout-2"/>
          <p:cNvGrpSpPr/>
          <p:nvPr/>
        </p:nvGrpSpPr>
        <p:grpSpPr>
          <a:xfrm>
            <a:off x="4625340" y="5190172"/>
            <a:ext cx="7033260" cy="1018222"/>
            <a:chOff x="4625340" y="5190172"/>
            <a:chExt cx="7033260" cy="1018222"/>
          </a:xfrm>
        </p:grpSpPr>
        <p:sp>
          <p:nvSpPr>
            <p:cNvPr id="23" name="Rectangle 23"/>
            <p:cNvSpPr/>
            <p:nvPr/>
          </p:nvSpPr>
          <p:spPr>
            <a:xfrm>
              <a:off x="4625340" y="5190172"/>
              <a:ext cx="7033260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4818069" y="5596056"/>
              <a:ext cx="224134" cy="192560"/>
              <a:chOff x="4818069" y="5596056"/>
              <a:chExt cx="224134" cy="192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930140" y="566642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818069" y="559605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930140" y="574421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5132451" y="5337334"/>
              <a:ext cx="601078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makesandwich 做：cook(meat); sandwich := bread + meat; bread :=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0; meat := 0。注意带 else 的 select 从不阻塞，没有调用时主人任务不停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空转（忙式等待）；去掉 else、材料到齐后立即做三明治可以避免。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89773" cy="909257"/>
            <a:chOff x="520446" y="342900"/>
            <a:chExt cx="70897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会合与进程通信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897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会合例：有界缓冲区与读者-写者（写者优先）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code-1"/>
          <p:cNvGrpSpPr/>
          <p:nvPr/>
        </p:nvGrpSpPr>
        <p:grpSpPr>
          <a:xfrm>
            <a:off x="533400" y="1524000"/>
            <a:ext cx="4760595" cy="3650932"/>
            <a:chOff x="533400" y="1524000"/>
            <a:chExt cx="4760595" cy="36509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3650932"/>
            </a:xfrm>
            <a:prstGeom prst="roundRect">
              <a:avLst>
                <a:gd name="adj" fmla="val 26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949" y="1669637"/>
              <a:ext cx="3782009" cy="3424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-- 入口 putin(item: in integer)、getout(item: out integer)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task body boundedbuffer is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b: array(0..k-1) of integer;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ip, op, count: integer := 0;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loop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select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when count &lt; k =&gt;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accept putin(item: in integer) do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b(ip) := item;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end putin;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ip := (ip+1) mod k; count := count+1;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or when count &gt; 0 =&gt;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accept getout(item: out integer) do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item := b(op);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end getout;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op := (op+1) mod k; count := count-1;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 select;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 loop;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boundedbuffer;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5598795" y="1524000"/>
            <a:ext cx="6059805" cy="3822382"/>
            <a:chOff x="5598795" y="1524000"/>
            <a:chExt cx="6059805" cy="3822382"/>
          </a:xfrm>
        </p:grpSpPr>
        <p:sp>
          <p:nvSpPr>
            <p:cNvPr id="10" name="Rectangle 10"/>
            <p:cNvSpPr/>
            <p:nvPr/>
          </p:nvSpPr>
          <p:spPr>
            <a:xfrm>
              <a:off x="5598795" y="1524000"/>
              <a:ext cx="6059805" cy="3822382"/>
            </a:xfrm>
            <a:prstGeom prst="roundRect">
              <a:avLst>
                <a:gd name="adj" fmla="val 24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17845" y="3338512"/>
              <a:ext cx="6021705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617845" y="3509010"/>
              <a:ext cx="6021705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617845" y="3680460"/>
              <a:ext cx="6021705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617845" y="3850958"/>
              <a:ext cx="6021705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27344" y="1669637"/>
              <a:ext cx="4343095" cy="3594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task body readers_writers is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read_count, write_count: integer := 0;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loop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select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when write_count = 0 =&gt;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accept start_read do read_count := read_count+1; end;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or when read_count &gt; 0 =&gt;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accept finish_read do read_count := read_count-1; end;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or when write_count = 0 =&gt;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accept start_write do    -- 嵌套 accept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while read_count &gt; 0 loop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accept finish_read do read_count := read_count-1; end;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end loop;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end start_write;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write_count := write_count + 1;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or when write_count &gt; 0 =&gt;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accept finish_write do write_count := write_count-1; end;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 select;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 loop;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readers_writers;</a:t>
              </a:r>
            </a:p>
          </p:txBody>
        </p:sp>
      </p:grpSp>
      <p:grpSp>
        <p:nvGrpSpPr>
          <p:cNvPr id="23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17" name="Rectangle 17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511" y="5753576"/>
              <a:ext cx="1003236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start_write 被接受后，任务在会合期内用嵌套 accept 等在读的读者读完，期间不接受新读者。select 在开放入口中任选，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要严格写者优先可给 start_read 加条件 start_write'Count = 0。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4" name="TextBox 2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会合与进程通信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进程通信：共享内存或消息传递，消息又分直接与间接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869180" cy="1557338"/>
            <a:chOff x="533400" y="1524000"/>
            <a:chExt cx="4869180" cy="15573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16967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4366" y="1750695"/>
              <a:ext cx="10287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4.4.1 进程通信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进程之间的相互作用。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43173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37553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低级通信：传递简单信号，即进程互斥与同步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73462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67843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高级通信：传递大宗信息</a:t>
              </a:r>
            </a:p>
          </p:txBody>
        </p:sp>
      </p:grpSp>
      <p:grpSp>
        <p:nvGrpSpPr>
          <p:cNvPr id="35" name="c1-table-2"/>
          <p:cNvGrpSpPr/>
          <p:nvPr/>
        </p:nvGrpSpPr>
        <p:grpSpPr>
          <a:xfrm>
            <a:off x="533400" y="3256598"/>
            <a:ext cx="4869180" cy="2828925"/>
            <a:chOff x="533400" y="3256598"/>
            <a:chExt cx="4869180" cy="2828925"/>
          </a:xfrm>
        </p:grpSpPr>
        <p:sp>
          <p:nvSpPr>
            <p:cNvPr id="17" name="Rectangle 17"/>
            <p:cNvSpPr/>
            <p:nvPr/>
          </p:nvSpPr>
          <p:spPr>
            <a:xfrm>
              <a:off x="533400" y="3256598"/>
              <a:ext cx="486918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6704" y="33808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分类角度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91294" y="33808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两种方式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3412" y="38866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通信模式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94548" y="3786664"/>
              <a:ext cx="265709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共享内存（memory sharing）／消息传递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（message passing）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26339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4268152"/>
              <a:ext cx="486918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44924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是否指名对方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94548" y="4392454"/>
              <a:ext cx="28562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直接（进程到进程）／间接（进程到信箱到进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86918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50982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双方是否互相指名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94548" y="4998244"/>
              <a:ext cx="187477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对称（symmetric）／非对称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（non-symmetric）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47497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5479732"/>
              <a:ext cx="486918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570404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是否使用缓冲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94548" y="5604034"/>
              <a:ext cx="196011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有缓冲（buffering）／无缓冲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（non-buffering）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256598"/>
              <a:ext cx="4869180" cy="2828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989772" y="3256598"/>
              <a:ext cx="9525" cy="2828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2-card-1"/>
          <p:cNvGrpSpPr/>
          <p:nvPr/>
        </p:nvGrpSpPr>
        <p:grpSpPr>
          <a:xfrm>
            <a:off x="5707380" y="1524000"/>
            <a:ext cx="5951220" cy="1768792"/>
            <a:chOff x="5707380" y="1524000"/>
            <a:chExt cx="5951220" cy="1768792"/>
          </a:xfrm>
        </p:grpSpPr>
        <p:sp>
          <p:nvSpPr>
            <p:cNvPr id="36" name="Rectangle 36"/>
            <p:cNvSpPr/>
            <p:nvPr/>
          </p:nvSpPr>
          <p:spPr>
            <a:xfrm>
              <a:off x="5707380" y="1524000"/>
              <a:ext cx="5951220" cy="1768792"/>
            </a:xfrm>
            <a:prstGeom prst="roundRect">
              <a:avLst>
                <a:gd name="adj" fmla="val 753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99785" y="1716405"/>
              <a:ext cx="143637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62245" y="1750695"/>
              <a:ext cx="1311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4.4.2 两种通信模式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908358" y="212883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64377" y="2072640"/>
              <a:ext cx="51743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共享内存：OS 提供公共内存和互斥同步机制，P1、P2 直接读写公共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908358" y="268890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64377" y="2632710"/>
              <a:ext cx="48828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消息传递：发送者 send，接收者 receive。直接方式在进程之间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传，间接方式经过信箱</a:t>
              </a:r>
            </a:p>
          </p:txBody>
        </p:sp>
      </p:grpSp>
      <p:grpSp>
        <p:nvGrpSpPr>
          <p:cNvPr id="47" name="c2-code-2"/>
          <p:cNvGrpSpPr/>
          <p:nvPr/>
        </p:nvGrpSpPr>
        <p:grpSpPr>
          <a:xfrm>
            <a:off x="5707380" y="3468052"/>
            <a:ext cx="5951220" cy="1450658"/>
            <a:chOff x="5707380" y="3468052"/>
            <a:chExt cx="5951220" cy="1450658"/>
          </a:xfrm>
        </p:grpSpPr>
        <p:sp>
          <p:nvSpPr>
            <p:cNvPr id="44" name="Rectangle 44"/>
            <p:cNvSpPr/>
            <p:nvPr/>
          </p:nvSpPr>
          <p:spPr>
            <a:xfrm>
              <a:off x="5707380" y="3468052"/>
              <a:ext cx="5951220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35777" y="3619976"/>
              <a:ext cx="16197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4.4.3 直接方式的两种形式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35396" y="3881438"/>
              <a:ext cx="3017711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对称：双方互相指名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S: send(R, M);      R: receive(S, N);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非对称：只有发送者指名接收者（C/S 模式）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S1: send(R, M1);    R: receive(pid, N);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S2: send(R, M2);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pid 带回发送者</a:t>
              </a:r>
            </a:p>
          </p:txBody>
        </p:sp>
      </p:grpSp>
      <p:grpSp>
        <p:nvGrpSpPr>
          <p:cNvPr id="53" name="c2-kv-3"/>
          <p:cNvGrpSpPr/>
          <p:nvPr/>
        </p:nvGrpSpPr>
        <p:grpSpPr>
          <a:xfrm>
            <a:off x="5700522" y="5116830"/>
            <a:ext cx="5958078" cy="1168908"/>
            <a:chOff x="5700522" y="5116830"/>
            <a:chExt cx="5958078" cy="1168908"/>
          </a:xfrm>
        </p:grpSpPr>
        <p:sp>
          <p:nvSpPr>
            <p:cNvPr id="48" name="TextBox 48"/>
            <p:cNvSpPr txBox="1"/>
            <p:nvPr/>
          </p:nvSpPr>
          <p:spPr>
            <a:xfrm>
              <a:off x="5700522" y="511683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共享内存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53022" y="5116830"/>
              <a:ext cx="46428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数据不搬家，速度快；进程要能访问同一块物理内存，互斥与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同步仍得自己用信号量做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07380" y="565880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700522" y="576834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消息传递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53022" y="5768340"/>
              <a:ext cx="44714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数据复制两次，慢一些；进程可以在不同站点，先后次序由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send、receive 本身保证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会合与进程通信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有缓冲的消息传递：缓冲池加每个进程的消息队列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40949" cy="597598"/>
            <a:chOff x="525399" y="1550194"/>
            <a:chExt cx="10640949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40949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直接、非对称、有缓冲：发送者把消息复制到系统缓冲区 buf，挂到接收者的消息队列上；接收者取出后复制到自己的空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间。</a:t>
              </a:r>
            </a:p>
          </p:txBody>
        </p:sp>
      </p:grpSp>
      <p:grpSp>
        <p:nvGrpSpPr>
          <p:cNvPr id="17" name="c1-kv-1"/>
          <p:cNvGrpSpPr/>
          <p:nvPr/>
        </p:nvGrpSpPr>
        <p:grpSpPr>
          <a:xfrm>
            <a:off x="525780" y="2282190"/>
            <a:ext cx="4335780" cy="2301240"/>
            <a:chOff x="525780" y="2282190"/>
            <a:chExt cx="4335780" cy="2301240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2282190"/>
              <a:ext cx="832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消息 buf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76388" y="2282190"/>
              <a:ext cx="29013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size、text、sender、link（链指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88417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780" y="30041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消息队列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76388" y="3004185"/>
              <a:ext cx="309181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每个进程一个。Sm（初值 0）是队列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中的消息数；m_mutex（初值 1）保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护队列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888105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400812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缓冲池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76388" y="4008120"/>
              <a:ext cx="26631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Sb（初值 k）是空闲 buf 数；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b_mutex（初值 1）保护缓冲链</a:t>
              </a:r>
            </a:p>
          </p:txBody>
        </p:sp>
      </p:grpSp>
      <p:grpSp>
        <p:nvGrpSpPr>
          <p:cNvPr id="20" name="c1-code-2"/>
          <p:cNvGrpSpPr/>
          <p:nvPr/>
        </p:nvGrpSpPr>
        <p:grpSpPr>
          <a:xfrm>
            <a:off x="533400" y="4714875"/>
            <a:ext cx="4328160" cy="1046798"/>
            <a:chOff x="533400" y="4714875"/>
            <a:chExt cx="4328160" cy="1046798"/>
          </a:xfrm>
        </p:grpSpPr>
        <p:sp>
          <p:nvSpPr>
            <p:cNvPr id="18" name="Rectangle 18"/>
            <p:cNvSpPr/>
            <p:nvPr/>
          </p:nvSpPr>
          <p:spPr>
            <a:xfrm>
              <a:off x="533400" y="4714875"/>
              <a:ext cx="4328160" cy="1046798"/>
            </a:xfrm>
            <a:prstGeom prst="roundRect">
              <a:avLst>
                <a:gd name="adj" fmla="val 9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035" y="4862989"/>
              <a:ext cx="2521966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申请 buf：P(Sb); P(b_mutex);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 头缓冲出链; V(b_mutex);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释放 buf：P(b_mutex); 缓冲入链头;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V(b_mutex); V(Sb);</a:t>
              </a:r>
            </a:p>
          </p:txBody>
        </p:sp>
      </p:grpSp>
      <p:grpSp>
        <p:nvGrpSpPr>
          <p:cNvPr id="24" name="c2-code-1"/>
          <p:cNvGrpSpPr/>
          <p:nvPr/>
        </p:nvGrpSpPr>
        <p:grpSpPr>
          <a:xfrm>
            <a:off x="5166360" y="2257425"/>
            <a:ext cx="6492240" cy="2733675"/>
            <a:chOff x="5166360" y="2257425"/>
            <a:chExt cx="6492240" cy="2733675"/>
          </a:xfrm>
        </p:grpSpPr>
        <p:sp>
          <p:nvSpPr>
            <p:cNvPr id="21" name="Rectangle 21"/>
            <p:cNvSpPr/>
            <p:nvPr/>
          </p:nvSpPr>
          <p:spPr>
            <a:xfrm>
              <a:off x="5166360" y="2257425"/>
              <a:ext cx="6492240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94757" y="24093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发送与接收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93995" y="2672239"/>
              <a:ext cx="3688334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Send(R, M):                  Receive(pid, N):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根据 R 找到接收者;           P(Sm);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P(Sb);                       P(m_mutex);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P(b_mutex);                  头消息出链;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取一个空 buf;                V(m_mutex);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V(b_mutex);                  size, text =&gt; N;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size, text, sender =&gt; buf;   sender =&gt; pid;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P(m_mutex);                  P(b_mutex);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消息入链尾;                  空 buf 入链;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V(m_mutex);                  V(b_mutex);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V(Sm);                       V(Sb);</a:t>
              </a:r>
            </a:p>
          </p:txBody>
        </p:sp>
      </p:grpSp>
      <p:grpSp>
        <p:nvGrpSpPr>
          <p:cNvPr id="31" name="c2-callout-2"/>
          <p:cNvGrpSpPr/>
          <p:nvPr/>
        </p:nvGrpSpPr>
        <p:grpSpPr>
          <a:xfrm>
            <a:off x="5166360" y="5181600"/>
            <a:ext cx="6492240" cy="782955"/>
            <a:chOff x="5166360" y="5181600"/>
            <a:chExt cx="6492240" cy="782955"/>
          </a:xfrm>
        </p:grpSpPr>
        <p:sp>
          <p:nvSpPr>
            <p:cNvPr id="25" name="Rectangle 25"/>
            <p:cNvSpPr/>
            <p:nvPr/>
          </p:nvSpPr>
          <p:spPr>
            <a:xfrm>
              <a:off x="5166360" y="5181600"/>
              <a:ext cx="649224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5371148" y="5473065"/>
              <a:ext cx="200026" cy="200026"/>
              <a:chOff x="5371148" y="5473065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371148" y="54730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471160" y="55397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460048" y="55730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5673090" y="5330190"/>
              <a:ext cx="5311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send、receive 是高级通信原语，可以用 P、V 这类低级原语实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现；它们不是真正意义上的原语，执行中可以被中断。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会合与进程通信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无缓冲途径与信箱通信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760595" cy="1522095"/>
            <a:chOff x="533400" y="1524000"/>
            <a:chExt cx="4760595" cy="15220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457325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603" y="1756410"/>
              <a:ext cx="13333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4.4.3.2 无缓冲途径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1622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发送、接收都发生时，信息直接从发送者复制到接收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者。接收者 PCB 中有两个信号量 S_m、S_w，初值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都为 0。</a:t>
              </a:r>
            </a:p>
          </p:txBody>
        </p:sp>
      </p:grpSp>
      <p:grpSp>
        <p:nvGrpSpPr>
          <p:cNvPr id="15" name="c1-code-2"/>
          <p:cNvGrpSpPr/>
          <p:nvPr/>
        </p:nvGrpSpPr>
        <p:grpSpPr>
          <a:xfrm>
            <a:off x="533400" y="3227070"/>
            <a:ext cx="4760595" cy="1752600"/>
            <a:chOff x="533400" y="3227070"/>
            <a:chExt cx="4760595" cy="1752600"/>
          </a:xfrm>
        </p:grpSpPr>
        <p:sp>
          <p:nvSpPr>
            <p:cNvPr id="13" name="Rectangle 13"/>
            <p:cNvSpPr/>
            <p:nvPr/>
          </p:nvSpPr>
          <p:spPr>
            <a:xfrm>
              <a:off x="533400" y="3227070"/>
              <a:ext cx="4760595" cy="1752600"/>
            </a:xfrm>
            <a:prstGeom prst="roundRect">
              <a:avLst>
                <a:gd name="adj" fmla="val 543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416" y="3373755"/>
              <a:ext cx="2310956" cy="1532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send(R, M):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根据 R 找到接收者;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V(S_m);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接收者在等则唤醒它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P(S_w);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等消息复制完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receive(pid, N):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P(S_m);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等消息到达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把消息从发送者空间复制到 N;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V(S_w);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唤醒发送者</a:t>
              </a:r>
            </a:p>
          </p:txBody>
        </p:sp>
      </p:grpSp>
      <p:grpSp>
        <p:nvGrpSpPr>
          <p:cNvPr id="22" name="c1-callout-3"/>
          <p:cNvGrpSpPr/>
          <p:nvPr/>
        </p:nvGrpSpPr>
        <p:grpSpPr>
          <a:xfrm>
            <a:off x="533400" y="5158740"/>
            <a:ext cx="4760595" cy="1118235"/>
            <a:chOff x="533400" y="5158740"/>
            <a:chExt cx="4760595" cy="1118235"/>
          </a:xfrm>
        </p:grpSpPr>
        <p:sp>
          <p:nvSpPr>
            <p:cNvPr id="16" name="Rectangle 16"/>
            <p:cNvSpPr/>
            <p:nvPr/>
          </p:nvSpPr>
          <p:spPr>
            <a:xfrm>
              <a:off x="533400" y="5158740"/>
              <a:ext cx="4760595" cy="1118235"/>
            </a:xfrm>
            <a:prstGeom prst="roundRect">
              <a:avLst>
                <a:gd name="adj" fmla="val 1022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5618798"/>
              <a:ext cx="200026" cy="200025"/>
              <a:chOff x="738188" y="5618798"/>
              <a:chExt cx="200026" cy="2000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56187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77926" y="56632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12642" y="57743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511" y="5487829"/>
              <a:ext cx="38016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优点是节省空间，不需要缓冲区；缺点是并发性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差，发送者要等接收者复制完才能继续。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5598795" y="1524000"/>
            <a:ext cx="6059805" cy="1522095"/>
            <a:chOff x="5598795" y="1524000"/>
            <a:chExt cx="6059805" cy="1522095"/>
          </a:xfrm>
        </p:grpSpPr>
        <p:sp>
          <p:nvSpPr>
            <p:cNvPr id="23" name="Rectangle 23"/>
            <p:cNvSpPr/>
            <p:nvPr/>
          </p:nvSpPr>
          <p:spPr>
            <a:xfrm>
              <a:off x="5598795" y="1524000"/>
              <a:ext cx="6059805" cy="1522095"/>
            </a:xfrm>
            <a:prstGeom prst="roundRect">
              <a:avLst>
                <a:gd name="adj" fmla="val 876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796915" y="1722120"/>
              <a:ext cx="1703070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52326" y="1756410"/>
              <a:ext cx="15941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4.4.4 间接方式（信箱）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89676" y="2082641"/>
              <a:ext cx="54246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send_mb(mb, m)、receive_mb(mb, n) 经信箱通信，支持多发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送者对多接收者、多发送者对一个接收者。信箱属于操作系统空间时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用系统调用 create_mb、delete_mb 创建和撤销。</a:t>
              </a:r>
            </a:p>
          </p:txBody>
        </p:sp>
      </p:grpSp>
      <p:grpSp>
        <p:nvGrpSpPr>
          <p:cNvPr id="30" name="c2-code-2"/>
          <p:cNvGrpSpPr/>
          <p:nvPr/>
        </p:nvGrpSpPr>
        <p:grpSpPr>
          <a:xfrm>
            <a:off x="5598795" y="3227070"/>
            <a:ext cx="6059805" cy="3050858"/>
            <a:chOff x="5598795" y="3227070"/>
            <a:chExt cx="6059805" cy="3050858"/>
          </a:xfrm>
        </p:grpSpPr>
        <p:sp>
          <p:nvSpPr>
            <p:cNvPr id="28" name="Rectangle 28"/>
            <p:cNvSpPr/>
            <p:nvPr/>
          </p:nvSpPr>
          <p:spPr>
            <a:xfrm>
              <a:off x="5598795" y="3227070"/>
              <a:ext cx="6059805" cy="3050858"/>
            </a:xfrm>
            <a:prstGeom prst="roundRect">
              <a:avLst>
                <a:gd name="adj" fmla="val 31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27382" y="3372136"/>
              <a:ext cx="3479673" cy="2830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type mailbox = record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in, out: 0..k-1;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s1, s2, mutex: semaphore;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初值 k, 0, 1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letter: array[0..k-1] of message;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send_mb(var mb: mailbox; m: message);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 with mb do begin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P(s1); P(mutex);  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申请空位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letter[in] := m; in := (in+1) mod k;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 V(s2)   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消息增加一个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end;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receive_mb(var mb: mailbox; var n: message);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 with mb do begin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P(s2); P(mutex);  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申请消息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n := letter[out]; out := (out+1) mod k;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V(mutex); V(s1)   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空位增加一个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end;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58906" cy="909257"/>
            <a:chOff x="520446" y="342900"/>
            <a:chExt cx="4658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会合与进程通信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58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的高级通信：管道与信号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458402"/>
            <a:chOff x="533400" y="1524000"/>
            <a:chExt cx="5410200" cy="24584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58402"/>
            </a:xfrm>
            <a:prstGeom prst="roundRect">
              <a:avLst>
                <a:gd name="adj" fmla="val 54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9170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82962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748" y="1769269"/>
              <a:ext cx="669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管道 pipe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一个无名文件，两个描述符一个写、一个读；大小限制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4 块（每块 512 字节）。pipe 可以被子进程继承。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1050" y="2707005"/>
              <a:ext cx="4953000" cy="1046798"/>
            </a:xfrm>
            <a:prstGeom prst="roundRect">
              <a:avLst>
                <a:gd name="adj" fmla="val 90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8685" y="2854166"/>
              <a:ext cx="2849118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int fd[2];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pipe(fd);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fd[0] 读，fd[1] 写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子进程 1：write(fd[1], buf1, count1);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子进程 2：read(fd[0], buf2, count2);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172902"/>
            <a:ext cx="5410200" cy="2135505"/>
            <a:chOff x="533400" y="4172902"/>
            <a:chExt cx="5410200" cy="2135505"/>
          </a:xfrm>
        </p:grpSpPr>
        <p:sp>
          <p:nvSpPr>
            <p:cNvPr id="15" name="Rectangle 15"/>
            <p:cNvSpPr/>
            <p:nvPr/>
          </p:nvSpPr>
          <p:spPr>
            <a:xfrm>
              <a:off x="533400" y="4172902"/>
              <a:ext cx="5410200" cy="2135505"/>
            </a:xfrm>
            <a:prstGeom prst="roundRect">
              <a:avLst>
                <a:gd name="adj" fmla="val 62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306252"/>
              <a:ext cx="47625" cy="18688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382452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8457" y="441817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速度与特点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82250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4759642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按文件读写要 I/O，但一般不真正访问外存：写入内存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缓冲区后延迟写，读时直接从缓冲区得到；文件小、循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环使用，缓冲不紧张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6765" y="572928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5666422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基于文件系统实现，与文件的使用界面统一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248400" y="1524000"/>
            <a:ext cx="5410200" cy="4784408"/>
            <a:chOff x="6248400" y="1524000"/>
            <a:chExt cx="5410200" cy="4784408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4784408"/>
            </a:xfrm>
            <a:prstGeom prst="roundRect">
              <a:avLst>
                <a:gd name="adj" fmla="val 27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1657350"/>
              <a:ext cx="47625" cy="451770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96050" y="1733550"/>
              <a:ext cx="282797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16919" y="1769269"/>
              <a:ext cx="2787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信号 signal（由用户程序处理的“中断”）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59880" y="2110740"/>
              <a:ext cx="4225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proc 结构的 p_sig 记录收到的信号；user 结构的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u_signal[NSIG] 记录处理方式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501765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9880" y="273177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signal(sig, func) 预置处理方式，即 u_signal[sig]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func：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96050" y="3328035"/>
              <a:ext cx="49530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97343" y="3463766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func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42082" y="346376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收到信号后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03873" y="391239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17458" y="391239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进程终止自己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96050" y="422052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96050" y="4225290"/>
              <a:ext cx="49530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03873" y="43610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奇数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17458" y="436102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忽略这个信号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96050" y="467010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03873" y="48096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偶数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17458" y="480964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作为处理程序入口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96050" y="3328035"/>
              <a:ext cx="49530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504872" y="332803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6501765" y="530637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59880" y="524351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进程初创时继承父进程的设置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01765" y="564165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59880" y="5578792"/>
              <a:ext cx="4606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任何时候都能接收，记在 p_sig 中；进程被调度选中、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即将从核心态返回用户态时处理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07727" cy="909257"/>
            <a:chOff x="520446" y="342900"/>
            <a:chExt cx="57077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会合与进程通信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077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的同步对象、管道与邮件槽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193982" cy="4284346"/>
            <a:chOff x="533400" y="1524000"/>
            <a:chExt cx="5193982" cy="428434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1765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同步机制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23984" y="1659731"/>
              <a:ext cx="6825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 API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335054"/>
              <a:ext cx="12968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互斥对象 Mutex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10980" y="2108359"/>
              <a:ext cx="2378202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CreateMutex 创建并返回句柄；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OpenMutex 打开已有对象；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ReleaseMutex 释放占用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698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874645"/>
              <a:ext cx="5193982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3237071"/>
              <a:ext cx="1522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信号量 Semaphore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10980" y="3010376"/>
              <a:ext cx="2752090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CreateSemaphore 创建；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OpenSemaphore 返回已有对象句柄；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ReleaseSemaphore 释放占用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7728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4025741"/>
              <a:ext cx="9156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 Event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10980" y="3912394"/>
              <a:ext cx="28008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CreateEvent、OpenEvent、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SetEvent、ResetEvent、PulseEvent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4481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4452938"/>
              <a:ext cx="5193982" cy="135540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4927759"/>
              <a:ext cx="14211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临界区对象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CRITICAL_SECTION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10980" y="4587716"/>
              <a:ext cx="2930906" cy="11561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InitializeCriticalSection 初始化；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EnterCriticalSection 等待进入；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TryEnterCriticalSection 不等待，失败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0；LeaveCriticalSection 离开；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DeleteCriticalSection 清除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193982" cy="4284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398395" y="1524000"/>
              <a:ext cx="9525" cy="4284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0" name="c2-card-1"/>
          <p:cNvGrpSpPr/>
          <p:nvPr/>
        </p:nvGrpSpPr>
        <p:grpSpPr>
          <a:xfrm>
            <a:off x="6032182" y="1524000"/>
            <a:ext cx="5626418" cy="1602105"/>
            <a:chOff x="6032182" y="1524000"/>
            <a:chExt cx="5626418" cy="1602105"/>
          </a:xfrm>
        </p:grpSpPr>
        <p:sp>
          <p:nvSpPr>
            <p:cNvPr id="26" name="Rectangle 26"/>
            <p:cNvSpPr/>
            <p:nvPr/>
          </p:nvSpPr>
          <p:spPr>
            <a:xfrm>
              <a:off x="6032182" y="1524000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4173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2308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无名管道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34112" y="2110740"/>
              <a:ext cx="4253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BOOL CreatePipe(PHANDLE hReadPipe, PHANDLE</a:t>
              </a:r>
              <a:br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hWritePipe, LPSECURITY_ATTRIBUTES</a:t>
              </a:r>
              <a:br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lpPipeAttributes, DWORD nSize)</a:t>
              </a:r>
            </a:p>
          </p:txBody>
        </p:sp>
      </p:grpSp>
      <p:grpSp>
        <p:nvGrpSpPr>
          <p:cNvPr id="42" name="c2-table-2"/>
          <p:cNvGrpSpPr/>
          <p:nvPr/>
        </p:nvGrpSpPr>
        <p:grpSpPr>
          <a:xfrm>
            <a:off x="6032182" y="3316605"/>
            <a:ext cx="5626418" cy="2933700"/>
            <a:chOff x="6032182" y="3316605"/>
            <a:chExt cx="5626418" cy="2933700"/>
          </a:xfrm>
        </p:grpSpPr>
        <p:sp>
          <p:nvSpPr>
            <p:cNvPr id="31" name="Rectangle 31"/>
            <p:cNvSpPr/>
            <p:nvPr/>
          </p:nvSpPr>
          <p:spPr>
            <a:xfrm>
              <a:off x="6032182" y="3316605"/>
              <a:ext cx="562641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0203" y="34523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通信方式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36598" y="3452336"/>
              <a:ext cx="8548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名字与 API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40006" y="43543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命名管道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77303" y="3900964"/>
              <a:ext cx="3922522" cy="11561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服务器端 \\.\pipe\PipeName，客户端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\\serverName\pipe\PipeName。CreateNamedPipe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在服务器端建立管道；ConnectNamedPipe 等待客户连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接；CallNamedPipe 客户端建立连接；ReadFile、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WriteFile 读写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32182" y="51158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32182" y="5120640"/>
              <a:ext cx="5626418" cy="112871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40006" y="5483066"/>
              <a:ext cx="670103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邮件槽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mailslot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77303" y="5256371"/>
              <a:ext cx="4003802" cy="92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服务器端 \\.\mailslot\[path]name，客户端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\\range\mailslot\[path]name（range 为本地或服务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器）。CreateMailslot 创建；GetMailslotInfo 查询；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 ReadFile 读，客户端 WriteFile 发送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2182" y="3316605"/>
              <a:ext cx="5626418" cy="29337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264718" y="3316605"/>
              <a:ext cx="9525" cy="29337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7542" cy="909257"/>
            <a:chOff x="520446" y="342900"/>
            <a:chExt cx="24275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 · 会合与进程通信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797492"/>
            <a:chOff x="533400" y="1524000"/>
            <a:chExt cx="3505200" cy="27974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797492"/>
            </a:xfrm>
            <a:prstGeom prst="roundRect">
              <a:avLst>
                <a:gd name="adj" fmla="val 47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904792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Hyman 算法（turn 初值 0）：置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blocked[id] 为 true；若 turn≠id，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 blocked[1−id] 为 false 再令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turn:=id；然后进临界区。反例？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3147060"/>
              <a:ext cx="300551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P1 跳出内层循环、尚未执行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turn:=1 时被切换；P0 因 turn=0 进入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临界区；P1 恢复后令 turn:=1，也进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496752"/>
            <a:ext cx="3505200" cy="1768792"/>
            <a:chOff x="533400" y="4496752"/>
            <a:chExt cx="3505200" cy="1768792"/>
          </a:xfrm>
        </p:grpSpPr>
        <p:sp>
          <p:nvSpPr>
            <p:cNvPr id="13" name="Rectangle 13"/>
            <p:cNvSpPr/>
            <p:nvPr/>
          </p:nvSpPr>
          <p:spPr>
            <a:xfrm>
              <a:off x="533400" y="4496752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468915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472344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5046345"/>
              <a:ext cx="296179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信号量初值 3，某时刻 value = −2，说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5605462"/>
              <a:ext cx="29026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资源都已分出，2 个进程在等待队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列中。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025968"/>
            <a:chOff x="4343400" y="1524000"/>
            <a:chExt cx="3505200" cy="2025968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2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8947" y="2072640"/>
              <a:ext cx="287050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生产者先 P(mutex) 再 P(S1)，会出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什么问题？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8947" y="2632710"/>
              <a:ext cx="285121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缓冲区满时生产者占着 mutex 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P(S1) 阻塞，消费者进不来，无法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V(S1)，死锁。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725228"/>
            <a:ext cx="3505200" cy="2540318"/>
            <a:chOff x="4343400" y="3725228"/>
            <a:chExt cx="3505200" cy="2540318"/>
          </a:xfrm>
        </p:grpSpPr>
        <p:sp>
          <p:nvSpPr>
            <p:cNvPr id="25" name="Rectangle 25"/>
            <p:cNvSpPr/>
            <p:nvPr/>
          </p:nvSpPr>
          <p:spPr>
            <a:xfrm>
              <a:off x="4343400" y="3725228"/>
              <a:ext cx="3505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5805" y="391763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24753" y="3951923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8947" y="4274820"/>
              <a:ext cx="293436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Hoare 管程用 if 检查等待条件，Java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为什么要用 while？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8947" y="4833937"/>
              <a:ext cx="278263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因为 Java 是 signal and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continue，被唤醒线程重新拿到锁之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前，条件可能又被改变。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025968"/>
            <a:chOff x="8153400" y="1524000"/>
            <a:chExt cx="3505200" cy="2025968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3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947" y="2072640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读者优先解法中，写者正在写时新来的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读者等在哪里？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8947" y="2632710"/>
              <a:ext cx="250831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第一个读者持有 mutex 等在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P(r_w_w)，其余读者等在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P(mutex)。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725228"/>
            <a:ext cx="3505200" cy="2540318"/>
            <a:chOff x="8153400" y="3725228"/>
            <a:chExt cx="3505200" cy="2540318"/>
          </a:xfrm>
        </p:grpSpPr>
        <p:sp>
          <p:nvSpPr>
            <p:cNvPr id="37" name="Rectangle 37"/>
            <p:cNvSpPr/>
            <p:nvPr/>
          </p:nvSpPr>
          <p:spPr>
            <a:xfrm>
              <a:off x="8153400" y="3725228"/>
              <a:ext cx="3505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5805" y="391763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34753" y="3951923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8947" y="4274820"/>
              <a:ext cx="279249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吸烟者问题中普通 P 操作为什么会死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锁？SP 怎样解决？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8947" y="4833937"/>
              <a:ext cx="29969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两种材料分两次 P，两人可能各拿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一种后互等；SP 要么全拿，要么一个不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第4章 互斥同步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5842635" cy="3594736"/>
            <a:chOff x="533400" y="1524000"/>
            <a:chExt cx="5842635" cy="359473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564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7696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43303" y="2108359"/>
              <a:ext cx="40119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Dekker、Peterson、Lamport、E–M：满足三条要求，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但忙等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47950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8970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硬件指令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43303" y="2783681"/>
              <a:ext cx="39550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TS、swap 单 CPU 上原子；关中断仅单 CPU；多 CPU 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3194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45900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信号量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43303" y="345900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 1 互斥、0 同步、k 管理 k 个资源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7680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77285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9076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条件临界区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43303" y="3907631"/>
              <a:ext cx="23799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region v when B do s，效率低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167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3572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43303" y="4357211"/>
              <a:ext cx="35705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集中式；Hoare、Java、Hansen 三种唤醒语义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6653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67010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480583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会合与消息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43303" y="4805839"/>
              <a:ext cx="3396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Ada 的 accept、select；缓冲、信箱、管道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5842635" cy="35947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930718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2-bullets-1"/>
          <p:cNvGrpSpPr/>
          <p:nvPr/>
        </p:nvGrpSpPr>
        <p:grpSpPr>
          <a:xfrm>
            <a:off x="6681788" y="1533525"/>
            <a:ext cx="4671822" cy="1421415"/>
            <a:chOff x="6681788" y="1533525"/>
            <a:chExt cx="4671822" cy="1421415"/>
          </a:xfrm>
        </p:grpSpPr>
        <p:sp>
          <p:nvSpPr>
            <p:cNvPr id="33" name="Ellipse 33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51536" y="1545431"/>
              <a:ext cx="26717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 P 资源信号量，再 P 互斥信号量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681788" y="1840230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33694" y="18749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51536" y="1851184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唤醒等待者时，要么直接交出资源，要么先置空闲、让它重新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681788" y="2388870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33694" y="242449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51536" y="239982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拿着资源的进程不要再等一个可能永远不来的条件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681788" y="2694622"/>
              <a:ext cx="180975" cy="18097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33694" y="27302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51536" y="2705576"/>
              <a:ext cx="35192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Hoare 管程用 if，Java 用 while 加 notifyAll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680835" y="3095625"/>
            <a:ext cx="4977765" cy="2322195"/>
            <a:chOff x="6680835" y="3095625"/>
            <a:chExt cx="4977765" cy="2322195"/>
          </a:xfrm>
        </p:grpSpPr>
        <p:sp>
          <p:nvSpPr>
            <p:cNvPr id="46" name="Rectangle 46"/>
            <p:cNvSpPr/>
            <p:nvPr/>
          </p:nvSpPr>
          <p:spPr>
            <a:xfrm>
              <a:off x="6680835" y="3095625"/>
              <a:ext cx="4977765" cy="2322195"/>
            </a:xfrm>
            <a:prstGeom prst="roundRect">
              <a:avLst>
                <a:gd name="adj" fmla="val 57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90360" y="3228975"/>
              <a:ext cx="47625" cy="20554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928485" y="330517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89140" y="334089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对原课件的主要更正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934200" y="37452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92315" y="3682365"/>
              <a:ext cx="43971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系统与网络打印机：归还时未置空闲（第 32 页）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934200" y="40805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92315" y="4017645"/>
              <a:ext cx="37913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睡眠理发师：理发动作不同步（第 44 页）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934200" y="44157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92315" y="4352925"/>
              <a:ext cx="4187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缓冲区 notify()、读者-写者括号（第 47、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 页）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934200" y="50368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92315" y="4973955"/>
              <a:ext cx="39629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2009 考研题应为 counteven()（第 33 页）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9" name="Rectangle 5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130" y="5991225"/>
              <a:ext cx="9081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逐个检查自己的同步解法：初值对不对、P 的顺序会不会死锁、有没有忙等和唤醒丢失、会不会饿死。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第4章 互斥、同步与通讯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s_ch4">
  <a:themeElements>
    <a:clrScheme name="os_ch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_ch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s_ch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2026-09-23T06:08:09Z</dcterms:created>
  <dcterms:modified xsi:type="dcterms:W3CDTF">2026-09-23T06:08:09Z</dcterms:modified>
  <cp:category/>
  <cp:contentStatus/>
</cp:coreProperties>
</file>