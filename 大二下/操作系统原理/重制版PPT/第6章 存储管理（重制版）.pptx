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6edba78bec6175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70084c57c22713b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a64898ee02ed582.png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第六章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内存怎样分配回收，逻辑地址怎样变成物理地址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分配算法与碎片处理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界地址、交换与覆盖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页式、多级与反置页表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段式与段页式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自学复习版｜据吉林大学《操作系统原理》第六章课件整理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存储管理的功能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分配去配、共享、保护、扩充、地址映射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内存资源管理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277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分区方式、位示图与空闲表、四种适应算法、malloc 与 mfree、紧凑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基址与限长寄存器、双对界、交换与覆盖技术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页表与快表、有效访问时间、多级页表、反置页表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段式管理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段表与二维地址映射、段的共享与保护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7607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(s, p, d) 三元地址、段表加页表、四种方式对比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FF、NF、BF、WF 手算一串分配请求的结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果，说出各自优缺点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 UNIX malloc、mfree 对空闲区表的修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改，分清四种合并情况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给定页表或段表，手算页式、段式、段页式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的物理地址并判断越界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计算带快表的有效访问时间，拆分二级页表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的逻辑地址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说出反置页表、段的共享与保护、交换与覆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盖技术的做法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存储管理的功能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操作系统管内存，要做哪几件事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 存储分配和去配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存储共享与存储保护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存储扩充与地址映射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存储管理的功能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存储管理的五项功能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533400" y="1759268"/>
            <a:ext cx="3246120" cy="3678555"/>
            <a:chOff x="533400" y="1759268"/>
            <a:chExt cx="3246120" cy="3678555"/>
          </a:xfrm>
        </p:grpSpPr>
        <p:sp>
          <p:nvSpPr>
            <p:cNvPr id="7" name="Freeform 7"/>
            <p:cNvSpPr/>
            <p:nvPr/>
          </p:nvSpPr>
          <p:spPr>
            <a:xfrm>
              <a:off x="1870710" y="1939290"/>
              <a:ext cx="419100" cy="1659255"/>
            </a:xfrm>
            <a:custGeom>
              <a:avLst/>
              <a:gdLst/>
              <a:ahLst/>
              <a:cxnLst/>
              <a:rect l="l" t="t" r="r" b="b"/>
              <a:pathLst>
                <a:path w="419100" h="1659255">
                  <a:moveTo>
                    <a:pt x="0" y="1659255"/>
                  </a:moveTo>
                  <a:lnTo>
                    <a:pt x="209550" y="16592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70710" y="2768918"/>
              <a:ext cx="419100" cy="829628"/>
            </a:xfrm>
            <a:custGeom>
              <a:avLst/>
              <a:gdLst/>
              <a:ahLst/>
              <a:cxnLst/>
              <a:rect l="l" t="t" r="r" b="b"/>
              <a:pathLst>
                <a:path w="419100" h="829628">
                  <a:moveTo>
                    <a:pt x="0" y="829628"/>
                  </a:moveTo>
                  <a:lnTo>
                    <a:pt x="209550" y="8296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70710" y="359854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70710" y="3598545"/>
              <a:ext cx="419100" cy="829627"/>
            </a:xfrm>
            <a:custGeom>
              <a:avLst/>
              <a:gdLst/>
              <a:ahLst/>
              <a:cxnLst/>
              <a:rect l="l" t="t" r="r" b="b"/>
              <a:pathLst>
                <a:path w="419100" h="829627">
                  <a:moveTo>
                    <a:pt x="0" y="0"/>
                  </a:moveTo>
                  <a:lnTo>
                    <a:pt x="209550" y="0"/>
                  </a:lnTo>
                  <a:lnTo>
                    <a:pt x="209550" y="829627"/>
                  </a:lnTo>
                  <a:lnTo>
                    <a:pt x="419100" y="82962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70710" y="3598545"/>
              <a:ext cx="419100" cy="1659255"/>
            </a:xfrm>
            <a:custGeom>
              <a:avLst/>
              <a:gdLst/>
              <a:ahLst/>
              <a:cxnLst/>
              <a:rect l="l" t="t" r="r" b="b"/>
              <a:pathLst>
                <a:path w="419100" h="1659255">
                  <a:moveTo>
                    <a:pt x="0" y="0"/>
                  </a:moveTo>
                  <a:lnTo>
                    <a:pt x="209550" y="0"/>
                  </a:lnTo>
                  <a:lnTo>
                    <a:pt x="209550" y="1659255"/>
                  </a:lnTo>
                  <a:lnTo>
                    <a:pt x="419100" y="16592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9810" y="1759268"/>
              <a:ext cx="14897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289810" y="2588895"/>
              <a:ext cx="14897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289810" y="3418522"/>
              <a:ext cx="14897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289810" y="4248150"/>
              <a:ext cx="14897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89810" y="5077778"/>
              <a:ext cx="14897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418522"/>
              <a:ext cx="1337310" cy="360045"/>
            </a:xfrm>
            <a:prstGeom prst="roundRect">
              <a:avLst>
                <a:gd name="adj" fmla="val 2645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78964" y="18554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分配和去配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78964" y="26850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存储共享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8964" y="3514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存储保护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8964" y="43443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存储扩充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8964" y="51739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554" y="3514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存储管理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4084320" y="1524000"/>
            <a:ext cx="7574280" cy="2794635"/>
            <a:chOff x="4084320" y="1524000"/>
            <a:chExt cx="7574280" cy="2794635"/>
          </a:xfrm>
        </p:grpSpPr>
        <p:sp>
          <p:nvSpPr>
            <p:cNvPr id="25" name="Rectangle 25"/>
            <p:cNvSpPr/>
            <p:nvPr/>
          </p:nvSpPr>
          <p:spPr>
            <a:xfrm>
              <a:off x="4084320" y="1524000"/>
              <a:ext cx="757428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9867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3816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2503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9666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分配和去配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52694" y="219170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对象：内存、外存（两者方法相同）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1149" y="2085022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时刻：进程创建、撤销、交换、长度变化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（如栈溢出、execl）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84320" y="259270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84320" y="2597468"/>
              <a:ext cx="75742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89666" y="27289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存储共享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52694" y="272891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目的：节省内存、进程相互通讯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1149" y="27289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共享的内容：代码、数据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84320" y="302323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89666" y="31594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存储保护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52694" y="31594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防止地址越界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31149" y="315944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防止操作越权（例如写只读的代码区）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84320" y="3452812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84320" y="3457575"/>
              <a:ext cx="75742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89666" y="35890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存储扩充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52694" y="358902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内存与外存结合，构成虚拟存储体系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31149" y="358902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速度接近内存，容量相当于外存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084320" y="3883342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89666" y="40195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52694" y="401955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 ⇒ 物理地址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31149" y="401955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靠硬件完成；不能正常映射时产生中断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084320" y="1524000"/>
              <a:ext cx="7574280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42585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21040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4084320" y="4503420"/>
            <a:ext cx="7574280" cy="1018222"/>
            <a:chOff x="4084320" y="4503420"/>
            <a:chExt cx="7574280" cy="1018222"/>
          </a:xfrm>
        </p:grpSpPr>
        <p:sp>
          <p:nvSpPr>
            <p:cNvPr id="54" name="Rectangle 54"/>
            <p:cNvSpPr/>
            <p:nvPr/>
          </p:nvSpPr>
          <p:spPr>
            <a:xfrm>
              <a:off x="4084320" y="4503420"/>
              <a:ext cx="757428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4289108" y="4912995"/>
              <a:ext cx="200026" cy="200026"/>
              <a:chOff x="4289108" y="49129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289108" y="49129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389120" y="49796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378008" y="50130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4591431" y="4650581"/>
              <a:ext cx="647966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本章各项功能的位置：分配去配见 6.2；地址映射和越界检查贯穿 6.3 的四种方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式；共享与保护集中在 6.3.3 段式；扩充先讲 6.3.1 的交换与覆盖，第 7 章虚拟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存储再展开。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1" name="Rectangle 6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83873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execl 用新程序替换进程原来的映像，进程长度随之改变，所以也是一个需要重新分配内存的时刻。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存储管理的功能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地址映射：程序用逻辑地址，访问内存要用物理地址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634038" cy="1455420"/>
            <a:chOff x="525780" y="1548765"/>
            <a:chExt cx="5634038" cy="14554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2348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程序中使用的地址，每个程序都从 0 开始编址，也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叫相对地址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27076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内存单元的实际地址，也叫绝对地址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地址映射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7108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把逻辑地址转换成物理地址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135630"/>
            <a:ext cx="5626418" cy="2016442"/>
            <a:chOff x="533400" y="3135630"/>
            <a:chExt cx="5626418" cy="2016442"/>
          </a:xfrm>
        </p:grpSpPr>
        <p:sp>
          <p:nvSpPr>
            <p:cNvPr id="16" name="Rectangle 16"/>
            <p:cNvSpPr/>
            <p:nvPr/>
          </p:nvSpPr>
          <p:spPr>
            <a:xfrm>
              <a:off x="533400" y="3135630"/>
              <a:ext cx="5626418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68980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3451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3380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硬件支持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5922" y="338042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地址映射由硬件逐条指令完成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38042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3741420"/>
              <a:ext cx="453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基址寄存器（base）、限长寄存器（limit）、快表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1395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0767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使用上述寄存器完成地址映射过程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4748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4119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不能正常完成地址映射时，产生中断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573" y="474392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进程切换时，操作系统把新进程的 base、limit 等值装入寄存器。</a:t>
              </a:r>
            </a:p>
          </p:txBody>
        </p:sp>
      </p:grpSp>
      <p:grpSp>
        <p:nvGrpSpPr>
          <p:cNvPr id="51" name="c2-flow-1"/>
          <p:cNvGrpSpPr/>
          <p:nvPr/>
        </p:nvGrpSpPr>
        <p:grpSpPr>
          <a:xfrm>
            <a:off x="6646545" y="1821180"/>
            <a:ext cx="4830127" cy="3539490"/>
            <a:chOff x="6646545" y="1821180"/>
            <a:chExt cx="4830127" cy="3539490"/>
          </a:xfrm>
        </p:grpSpPr>
        <p:sp>
          <p:nvSpPr>
            <p:cNvPr id="29" name="Freeform 29"/>
            <p:cNvSpPr/>
            <p:nvPr/>
          </p:nvSpPr>
          <p:spPr>
            <a:xfrm>
              <a:off x="7762875" y="2259330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0"/>
                  </a:moveTo>
                  <a:lnTo>
                    <a:pt x="0" y="3952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10488" y="26546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762875" y="3388995"/>
              <a:ext cx="9525" cy="313372"/>
            </a:xfrm>
            <a:custGeom>
              <a:avLst/>
              <a:gdLst/>
              <a:ahLst/>
              <a:cxnLst/>
              <a:rect l="l" t="t" r="r" b="b"/>
              <a:pathLst>
                <a:path w="9525" h="313372">
                  <a:moveTo>
                    <a:pt x="0" y="0"/>
                  </a:moveTo>
                  <a:lnTo>
                    <a:pt x="0" y="3133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710488" y="37023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762875" y="440817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10488" y="4817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880158" y="4107180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138285" y="4055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46545" y="1821180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46545" y="2759392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646545" y="3807142"/>
              <a:ext cx="2233612" cy="601028"/>
            </a:xfrm>
            <a:custGeom>
              <a:avLst/>
              <a:gdLst/>
              <a:ahLst/>
              <a:cxnLst/>
              <a:rect l="l" t="t" r="r" b="b"/>
              <a:pathLst>
                <a:path w="2233612" h="601028">
                  <a:moveTo>
                    <a:pt x="1116330" y="0"/>
                  </a:moveTo>
                  <a:lnTo>
                    <a:pt x="2233612" y="300038"/>
                  </a:lnTo>
                  <a:lnTo>
                    <a:pt x="111633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46545" y="4922520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243060" y="3888105"/>
              <a:ext cx="223361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53066" y="1951196"/>
              <a:ext cx="1419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给出逻辑地址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62318" y="2876074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地址映射机构：寄存器与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9457" y="40190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能正常映射？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8673" y="50525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得到物理地址，访问内存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6141" y="401907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产生中断（越界或越权）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791450" y="457295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14691" y="45996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47785" y="3891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86076" y="391763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程序装入内存的位置事先不知道，而且可能因交换、紧凑而改变，所以程序里只能写逻辑地址。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908994" cy="3706177"/>
            <a:chOff x="667512" y="1835468"/>
            <a:chExt cx="4908994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内存资源管理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内存怎样划分，空闲空间怎样记录、分配和回收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6.2.1 内存分区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669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6.2.2 等长分区：位示图、空闲页面表、空闲页面链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28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6.2.2 异长分区：FF、NF、BF、WF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8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 malloc 与 mfree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6.2.3 碎片与紧凑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内存分区：什么时候分、分成多大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6059805" cy="1800225"/>
            <a:chOff x="533400" y="1524000"/>
            <a:chExt cx="6059805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8502" y="1659731"/>
              <a:ext cx="134716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分区时刻 × 分区大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88926" y="1773079"/>
              <a:ext cx="1245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等长分区（2ⁱ）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81016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异长分区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静态分区：系统初始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化时分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8593" y="24484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通常作法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：页式、段页式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9810" y="24484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1037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动态分区：申请时分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8593" y="30103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9810" y="301037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通常作法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：段式、界地址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4600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6722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kv-2"/>
          <p:cNvGrpSpPr/>
          <p:nvPr/>
        </p:nvGrpSpPr>
        <p:grpSpPr>
          <a:xfrm>
            <a:off x="525780" y="3539490"/>
            <a:ext cx="6067425" cy="1613535"/>
            <a:chOff x="525780" y="3539490"/>
            <a:chExt cx="6067425" cy="1613535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35394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静态分区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6862" y="35394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系统初始化时就把内存分好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595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39795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动态分区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6862" y="39795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进程申请时才按需要划出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995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4419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等长分区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6862" y="4419600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每块大小相同，都是 2ⁱ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396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48596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异长分区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6862" y="48596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大小依程序、程序单位或对象的大小而定</a:t>
              </a:r>
            </a:p>
          </p:txBody>
        </p:sp>
      </p:grpSp>
      <p:grpSp>
        <p:nvGrpSpPr>
          <p:cNvPr id="64" name="c2-tree-1"/>
          <p:cNvGrpSpPr/>
          <p:nvPr/>
        </p:nvGrpSpPr>
        <p:grpSpPr>
          <a:xfrm>
            <a:off x="6898005" y="1632585"/>
            <a:ext cx="4760595" cy="3915728"/>
            <a:chOff x="6898005" y="1632585"/>
            <a:chExt cx="4760595" cy="3915728"/>
          </a:xfrm>
        </p:grpSpPr>
        <p:sp>
          <p:nvSpPr>
            <p:cNvPr id="35" name="Freeform 35"/>
            <p:cNvSpPr/>
            <p:nvPr/>
          </p:nvSpPr>
          <p:spPr>
            <a:xfrm>
              <a:off x="9866948" y="1819275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590550"/>
                  </a:moveTo>
                  <a:lnTo>
                    <a:pt x="209550" y="5905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866948" y="24098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866948" y="2409825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0"/>
                  </a:moveTo>
                  <a:lnTo>
                    <a:pt x="209550" y="0"/>
                  </a:lnTo>
                  <a:lnTo>
                    <a:pt x="209550" y="590550"/>
                  </a:lnTo>
                  <a:lnTo>
                    <a:pt x="419100" y="5905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866948" y="3590925"/>
              <a:ext cx="419100" cy="885825"/>
            </a:xfrm>
            <a:custGeom>
              <a:avLst/>
              <a:gdLst/>
              <a:ahLst/>
              <a:cxnLst/>
              <a:rect l="l" t="t" r="r" b="b"/>
              <a:pathLst>
                <a:path w="419100" h="885825">
                  <a:moveTo>
                    <a:pt x="0" y="885825"/>
                  </a:moveTo>
                  <a:lnTo>
                    <a:pt x="209550" y="8858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866948" y="418147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66948" y="44767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866948" y="4476750"/>
              <a:ext cx="419100" cy="885825"/>
            </a:xfrm>
            <a:custGeom>
              <a:avLst/>
              <a:gdLst/>
              <a:ahLst/>
              <a:cxnLst/>
              <a:rect l="l" t="t" r="r" b="b"/>
              <a:pathLst>
                <a:path w="419100" h="885825">
                  <a:moveTo>
                    <a:pt x="0" y="0"/>
                  </a:moveTo>
                  <a:lnTo>
                    <a:pt x="209550" y="0"/>
                  </a:lnTo>
                  <a:lnTo>
                    <a:pt x="209550" y="885825"/>
                  </a:lnTo>
                  <a:lnTo>
                    <a:pt x="419100" y="8858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010525" y="2409825"/>
              <a:ext cx="419100" cy="1033462"/>
            </a:xfrm>
            <a:custGeom>
              <a:avLst/>
              <a:gdLst/>
              <a:ahLst/>
              <a:cxnLst/>
              <a:rect l="l" t="t" r="r" b="b"/>
              <a:pathLst>
                <a:path w="419100" h="1033462">
                  <a:moveTo>
                    <a:pt x="0" y="1033462"/>
                  </a:moveTo>
                  <a:lnTo>
                    <a:pt x="209550" y="10334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010525" y="3443288"/>
              <a:ext cx="419100" cy="1033462"/>
            </a:xfrm>
            <a:custGeom>
              <a:avLst/>
              <a:gdLst/>
              <a:ahLst/>
              <a:cxnLst/>
              <a:rect l="l" t="t" r="r" b="b"/>
              <a:pathLst>
                <a:path w="419100" h="1033462">
                  <a:moveTo>
                    <a:pt x="0" y="0"/>
                  </a:moveTo>
                  <a:lnTo>
                    <a:pt x="209550" y="0"/>
                  </a:lnTo>
                  <a:lnTo>
                    <a:pt x="209550" y="1033462"/>
                  </a:lnTo>
                  <a:lnTo>
                    <a:pt x="419100" y="10334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86048" y="163258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86048" y="222313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86048" y="281368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29625" y="2223135"/>
              <a:ext cx="143732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86048" y="340423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86048" y="399478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86048" y="458533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86048" y="5175885"/>
              <a:ext cx="13725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29625" y="4290060"/>
              <a:ext cx="143732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98005" y="3256598"/>
              <a:ext cx="1112520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74820" y="17302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位示图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4820" y="23207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空闲页面表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4820" y="29113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空闲页面链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18398" y="23207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静态等长分区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4820" y="3501866"/>
              <a:ext cx="957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最先适应 FF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74820" y="4092416"/>
              <a:ext cx="957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下次适应 NF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4820" y="4682966"/>
              <a:ext cx="957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最佳适应 BF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74820" y="5273516"/>
              <a:ext cx="993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最坏适应 WF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18398" y="43876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动态异长分区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86778" y="33542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内存分配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5" name="Rectangle 6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等长分区的块可以互换，记下哪块空闲就够了；异长分区的空闲区大小各不相同，才需要挑选算法。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004" cy="909257"/>
            <a:chOff x="520446" y="342900"/>
            <a:chExt cx="71610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0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位示图：一位记一页，0 表示空闲，1 表示占用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0" name="c1-cells-1"/>
          <p:cNvGrpSpPr/>
          <p:nvPr/>
        </p:nvGrpSpPr>
        <p:grpSpPr>
          <a:xfrm>
            <a:off x="527685" y="1569720"/>
            <a:ext cx="6281737" cy="2283619"/>
            <a:chOff x="527685" y="1569720"/>
            <a:chExt cx="6281737" cy="2283619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分配前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64920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7126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26882" y="1819275"/>
              <a:ext cx="46196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908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88845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71051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650808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3301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12770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94976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75685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5693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37648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18901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99610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8086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61572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42826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423535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0478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85498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66751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47460" y="181927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2871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258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2322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85183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714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9108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7107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33033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499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56958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1892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50526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2489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14879" y="1569720"/>
              <a:ext cx="10869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自头找到的第一个 0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92024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26579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分配后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264920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4712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726882" y="2537460"/>
              <a:ext cx="46196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09089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188845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71051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50808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33014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12770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29497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575685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56939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37648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18901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499610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680864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61572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14282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23535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04789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85498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66751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47460" y="2537460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28714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461258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923221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385183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847146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309108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71071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3033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694996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156958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18921" y="29732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050526" y="29732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12489" y="29732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27685" y="3377089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去配 4 页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264920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447126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726882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909089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188845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371051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650808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833014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112770" y="3255645"/>
              <a:ext cx="46196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294976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575685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756939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37648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18901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499610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680864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961572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142826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423535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604789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885498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066751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347460" y="3255645"/>
              <a:ext cx="4619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28714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461258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923221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385183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847146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309108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771071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233033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694996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156958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5618921" y="3691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050526" y="3691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512489" y="3691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130" name="c1-steps-2"/>
          <p:cNvGrpSpPr/>
          <p:nvPr/>
        </p:nvGrpSpPr>
        <p:grpSpPr>
          <a:xfrm>
            <a:off x="533400" y="4003358"/>
            <a:ext cx="5121438" cy="1106329"/>
            <a:chOff x="533400" y="4003358"/>
            <a:chExt cx="5121438" cy="1106329"/>
          </a:xfrm>
        </p:grpSpPr>
        <p:sp>
          <p:nvSpPr>
            <p:cNvPr id="121" name="Rectangle 121"/>
            <p:cNvSpPr/>
            <p:nvPr/>
          </p:nvSpPr>
          <p:spPr>
            <a:xfrm>
              <a:off x="666750" y="4146232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533400" y="40033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27024" y="4077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533400" y="45900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27024" y="4663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45642" y="40347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46785" y="4301966"/>
              <a:ext cx="4708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自头寻找第一个为 0 的位，改为 1，返回它的页号（上图返回第 1 页）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45642" y="46215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去配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46785" y="488965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把页号对应的位置为 0（上图释放第 4 页）</a:t>
              </a:r>
            </a:p>
          </p:txBody>
        </p:sp>
      </p:grpSp>
      <p:grpSp>
        <p:nvGrpSpPr>
          <p:cNvPr id="140" name="c2-card-1"/>
          <p:cNvGrpSpPr/>
          <p:nvPr/>
        </p:nvGrpSpPr>
        <p:grpSpPr>
          <a:xfrm>
            <a:off x="7114222" y="1524000"/>
            <a:ext cx="4544378" cy="2049780"/>
            <a:chOff x="7114222" y="1524000"/>
            <a:chExt cx="4544378" cy="2049780"/>
          </a:xfrm>
        </p:grpSpPr>
        <p:sp>
          <p:nvSpPr>
            <p:cNvPr id="131" name="Rectangle 131"/>
            <p:cNvSpPr/>
            <p:nvPr/>
          </p:nvSpPr>
          <p:spPr>
            <a:xfrm>
              <a:off x="7114222" y="1524000"/>
              <a:ext cx="4544378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123748" y="1657350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344728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432167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多单元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061770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页数多时位示图占多个字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337870" y="2090738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每个字（单元）有 w 位时，第 k 页在第 k div w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字的第 k mod w 位（都从 0 数）。</a:t>
              </a:r>
            </a:p>
          </p:txBody>
        </p:sp>
        <p:sp>
          <p:nvSpPr>
            <p:cNvPr id="137" name="Ellipse 137"/>
            <p:cNvSpPr/>
            <p:nvPr/>
          </p:nvSpPr>
          <p:spPr>
            <a:xfrm>
              <a:off x="7353300" y="27060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509320" y="2649855"/>
              <a:ext cx="36313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例：w = 16，第 37 页在第 2 个字的第 5 位（37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 × 16 + 5）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7339012" y="3205639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查找空闲页时可以整字比较：全为 1 的字直接跳过。</a:t>
              </a:r>
            </a:p>
          </p:txBody>
        </p:sp>
      </p:grpSp>
      <p:grpSp>
        <p:nvGrpSpPr>
          <p:cNvPr id="151" name="c2-card-2"/>
          <p:cNvGrpSpPr/>
          <p:nvPr/>
        </p:nvGrpSpPr>
        <p:grpSpPr>
          <a:xfrm>
            <a:off x="7114222" y="3749040"/>
            <a:ext cx="4544378" cy="1792605"/>
            <a:chOff x="7114222" y="3749040"/>
            <a:chExt cx="4544378" cy="1792605"/>
          </a:xfrm>
        </p:grpSpPr>
        <p:sp>
          <p:nvSpPr>
            <p:cNvPr id="141" name="Rectangle 141"/>
            <p:cNvSpPr/>
            <p:nvPr/>
          </p:nvSpPr>
          <p:spPr>
            <a:xfrm>
              <a:off x="7114222" y="3749040"/>
              <a:ext cx="4544378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7123748" y="3882390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7344728" y="39414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436168" y="39757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估算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928420" y="39814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位示图有多大</a:t>
              </a:r>
            </a:p>
          </p:txBody>
        </p:sp>
        <p:sp>
          <p:nvSpPr>
            <p:cNvPr id="146" name="Ellipse 146"/>
            <p:cNvSpPr/>
            <p:nvPr/>
          </p:nvSpPr>
          <p:spPr>
            <a:xfrm>
              <a:off x="7353300" y="43719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509320" y="4315778"/>
              <a:ext cx="35455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512MB，页长 4KB：共 2²⁹ / 2¹² = 2¹⁷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131072 页</a:t>
              </a:r>
            </a:p>
          </p:txBody>
        </p:sp>
        <p:sp>
          <p:nvSpPr>
            <p:cNvPr id="148" name="Ellipse 148"/>
            <p:cNvSpPr/>
            <p:nvPr/>
          </p:nvSpPr>
          <p:spPr>
            <a:xfrm>
              <a:off x="7353300" y="49310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7509320" y="4874895"/>
              <a:ext cx="3555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每页 1 位：131072 位 = 16384 字节 = 16KB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339012" y="517445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只占内存的 1/32768，所以位示图很常用。</a:t>
              </a:r>
            </a:p>
          </p:txBody>
        </p:sp>
      </p:grpSp>
      <p:grpSp>
        <p:nvGrpSpPr>
          <p:cNvPr id="1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52" name="Rectangle 1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6" name="Group 15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57" name="TextBox 157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位示图的长度只由内存页数决定；缺点是分配时要从头扫描，页数很多时查找较慢。</a:t>
              </a:r>
            </a:p>
          </p:txBody>
        </p:sp>
      </p:grpSp>
      <p:grpSp>
        <p:nvGrpSpPr>
          <p:cNvPr id="1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9" name="TextBox 1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空闲页面表与空闲页面链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card-1"/>
          <p:cNvGrpSpPr/>
          <p:nvPr/>
        </p:nvGrpSpPr>
        <p:grpSpPr>
          <a:xfrm>
            <a:off x="533400" y="1524000"/>
            <a:ext cx="5410200" cy="4016692"/>
            <a:chOff x="533400" y="1524000"/>
            <a:chExt cx="5410200" cy="4016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16692"/>
            </a:xfrm>
            <a:prstGeom prst="roundRect">
              <a:avLst>
                <a:gd name="adj" fmla="val 33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499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空闲页面表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3464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每项记一段连续空闲页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75335" y="2095500"/>
              <a:ext cx="496443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68030" y="2226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首页号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0246" y="2226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空页数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3701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8137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5335" y="2951798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2956560"/>
              <a:ext cx="496443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70409" y="308705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48137" y="3087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75335" y="338137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63701" y="3517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48137" y="35175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75335" y="2095500"/>
              <a:ext cx="496443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52788" y="20955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3909060"/>
              <a:ext cx="8277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2231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603058" y="3909060"/>
              <a:ext cx="8277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59953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29828" y="3909060"/>
              <a:ext cx="8277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87676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257550" y="3909060"/>
              <a:ext cx="8277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14446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85272" y="3909060"/>
              <a:ext cx="8277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42168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12042" y="3909060"/>
              <a:ext cx="8277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69891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2887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20610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48332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75102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02825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0547" y="436959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124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955" y="46720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546" y="461248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特点：可以分配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连续页面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9239" y="4928235"/>
              <a:ext cx="4713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DMA（直接存储器存取）设备要求缓冲区在物理上连续，用这种表容易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满足。</a:t>
              </a:r>
            </a:p>
          </p:txBody>
        </p:sp>
      </p:grpSp>
      <p:grpSp>
        <p:nvGrpSpPr>
          <p:cNvPr id="83" name="c2-card-1"/>
          <p:cNvGrpSpPr/>
          <p:nvPr/>
        </p:nvGrpSpPr>
        <p:grpSpPr>
          <a:xfrm>
            <a:off x="6248400" y="1524000"/>
            <a:ext cx="5410200" cy="4016692"/>
            <a:chOff x="6248400" y="1524000"/>
            <a:chExt cx="5410200" cy="4016692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4016692"/>
            </a:xfrm>
            <a:prstGeom prst="roundRect">
              <a:avLst>
                <a:gd name="adj" fmla="val 33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1657350"/>
              <a:ext cx="47625" cy="37499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7742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空闲页面链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18464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空闲页面自己串成一条链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4620" y="222932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952298" y="2095500"/>
              <a:ext cx="59245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48499" y="222932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第3页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544752" y="2095500"/>
              <a:ext cx="209550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620952" y="227076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649528" y="229933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992428" y="225647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78152" y="2095500"/>
              <a:ext cx="59245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74354" y="222932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第7页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669655" y="2095500"/>
              <a:ext cx="209550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745855" y="227076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774430" y="229933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117330" y="225647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203055" y="2095500"/>
              <a:ext cx="59245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299257" y="222932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第8页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795510" y="2095500"/>
              <a:ext cx="209550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871710" y="227076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900285" y="229933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0243185" y="225647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328910" y="2095500"/>
              <a:ext cx="59245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381576" y="2229326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第12页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921365" y="2095500"/>
              <a:ext cx="209550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84907" y="223694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97955" y="26784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54546" y="2617946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每个空闲页面的开头存放下一个空闲页面的页号，Head 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向第一个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97955" y="32699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54546" y="320944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分配：从链头摘下一页；去配：把该页挂回链头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97955" y="35899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54546" y="352948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节省空间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，链指针放在空闲页面里，不另占内存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84239" y="384619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不适合管理外存：沿链查找要一块一块地读磁盘。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4" name="Rectangle 8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511" y="6004084"/>
              <a:ext cx="10145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三种结构对比：位示图分配时要扫描位串；空闲页面表便于分配连续页面；空闲页面链不占额外空间，但只能逐页摘取。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动态异长分区：用空闲区表记录，按四种策略挑选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ard-1"/>
          <p:cNvGrpSpPr/>
          <p:nvPr/>
        </p:nvGrpSpPr>
        <p:grpSpPr>
          <a:xfrm>
            <a:off x="533400" y="1524000"/>
            <a:ext cx="3246120" cy="3610928"/>
            <a:chOff x="533400" y="1524000"/>
            <a:chExt cx="3246120" cy="36109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246120" cy="3610928"/>
            </a:xfrm>
            <a:prstGeom prst="roundRect">
              <a:avLst>
                <a:gd name="adj" fmla="val 4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4422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空闲区表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27889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1019" y="22407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空闲区首址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5479" y="22407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空闲区长度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047" y="26893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18877" y="26893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" y="2997518"/>
              <a:ext cx="27889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002280"/>
              <a:ext cx="27889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72781" y="313801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6718" y="313801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3447098"/>
              <a:ext cx="27889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22047" y="35866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18877" y="35866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" y="2105025"/>
              <a:ext cx="278892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7074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86765" y="40833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020502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表项为 (addr, size)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41864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35578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= 0 的表项为表尾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75392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69106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初始时只有一个连续空闲区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325428"/>
            <a:ext cx="3246120" cy="801052"/>
            <a:chOff x="533400" y="5325428"/>
            <a:chExt cx="3246120" cy="801052"/>
          </a:xfrm>
        </p:grpSpPr>
        <p:sp>
          <p:nvSpPr>
            <p:cNvPr id="33" name="Rectangle 33"/>
            <p:cNvSpPr/>
            <p:nvPr/>
          </p:nvSpPr>
          <p:spPr>
            <a:xfrm>
              <a:off x="533400" y="5325428"/>
              <a:ext cx="3246120" cy="801052"/>
            </a:xfrm>
            <a:prstGeom prst="roundRect">
              <a:avLst>
                <a:gd name="adj" fmla="val 1426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25467"/>
              <a:ext cx="200023" cy="200023"/>
              <a:chOff x="738188" y="562546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254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692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482590"/>
              <a:ext cx="230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选择原则：尽量使空闲区域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保持连续。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4078605" y="1524000"/>
            <a:ext cx="7579995" cy="3673317"/>
            <a:chOff x="4078605" y="1524000"/>
            <a:chExt cx="7579995" cy="3673317"/>
          </a:xfrm>
        </p:grpSpPr>
        <p:sp>
          <p:nvSpPr>
            <p:cNvPr id="39" name="Rectangle 39"/>
            <p:cNvSpPr/>
            <p:nvPr/>
          </p:nvSpPr>
          <p:spPr>
            <a:xfrm>
              <a:off x="4084320" y="1524000"/>
              <a:ext cx="75742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389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6365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申请时选哪一块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56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463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92143" y="2108359"/>
              <a:ext cx="105496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最先适应 FF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（First Fit）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58066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第一个可满足的区域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3083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尽量使用低地址，高地址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保持大空闲区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00500" y="22217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可能分割大空闲区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084320" y="264318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084320" y="2647950"/>
              <a:ext cx="757428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92143" y="2897029"/>
              <a:ext cx="100375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下次适应 NF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（Next Fit）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58066" y="2783681"/>
              <a:ext cx="16385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从上次分配区域的下一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个区域起，第一个可满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03083" y="289702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查找时间短，空闲区分布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更均匀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00500" y="30103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可能分割大空闲区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084320" y="354615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192143" y="3685699"/>
              <a:ext cx="100375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最佳适应 BF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（Best Fit）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858066" y="37990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最小的可满足区域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03083" y="368569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尽量使用小空闲区，保持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大空闲区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00500" y="3685699"/>
              <a:ext cx="1085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可能形成碎片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（fragment）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84320" y="4221480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084320" y="4226242"/>
              <a:ext cx="75742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192143" y="4361021"/>
              <a:ext cx="113177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最坏适应 WF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（Worst Fit）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58066" y="447436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最大的可满足区域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03083" y="436102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剩下的部分较大，防止形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成碎片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00500" y="44743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分割大空闲区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084320" y="1524000"/>
              <a:ext cx="757428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74548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90498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987915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078605" y="497728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原课件中四种算法的空闲区都按首址递增排列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4084320" y="5343525"/>
            <a:ext cx="7574280" cy="782955"/>
            <a:chOff x="4084320" y="5343525"/>
            <a:chExt cx="7574280" cy="782955"/>
          </a:xfrm>
        </p:grpSpPr>
        <p:sp>
          <p:nvSpPr>
            <p:cNvPr id="71" name="Rectangle 71"/>
            <p:cNvSpPr/>
            <p:nvPr/>
          </p:nvSpPr>
          <p:spPr>
            <a:xfrm>
              <a:off x="4084320" y="5343525"/>
              <a:ext cx="75742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4289108" y="5634990"/>
              <a:ext cx="200026" cy="200025"/>
              <a:chOff x="4289108" y="563499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4289108" y="56349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4328846" y="56794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4363562" y="57905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4591050" y="5492115"/>
              <a:ext cx="6568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NF 的实现：设一个循环查找指针，开始指向表头；每次从指针处查找，查到表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尾就回到表头；分配后指针指向所分配区域的下一个区域。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2344" cy="909257"/>
            <a:chOff x="520446" y="342900"/>
            <a:chExt cx="6622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2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同一张空闲区表，FF、BF、WF 各选哪一块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17324" cy="308039"/>
            <a:chOff x="525399" y="1550194"/>
            <a:chExt cx="941732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173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空闲区表按首址递增：(128, 64)、(256, 32)、(1024, 256)。分配时从所选区域的低地址端切下。</a:t>
              </a:r>
            </a:p>
          </p:txBody>
        </p:sp>
      </p:grpSp>
      <p:grpSp>
        <p:nvGrpSpPr>
          <p:cNvPr id="49" name="c1-cells-1"/>
          <p:cNvGrpSpPr/>
          <p:nvPr/>
        </p:nvGrpSpPr>
        <p:grpSpPr>
          <a:xfrm>
            <a:off x="527304" y="1967865"/>
            <a:ext cx="4334256" cy="2381250"/>
            <a:chOff x="527304" y="1967865"/>
            <a:chExt cx="4334256" cy="238125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1021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51610" y="19678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41473" y="210216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/ 64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04098" y="19678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93008" y="210216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/ 32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56585" y="19678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80855" y="21074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/ 256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09072" y="19678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95111" y="210216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表尾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4024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91784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44272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675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2883218"/>
              <a:ext cx="823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FF 申请 32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51610" y="2748915"/>
              <a:ext cx="85248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41473" y="288321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 / 32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304098" y="27489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93008" y="288321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/ 32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56585" y="27489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80855" y="28884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/ 256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9072" y="27489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95111" y="288321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表尾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304" y="3473768"/>
              <a:ext cx="823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BF 申请 30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451610" y="33394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41473" y="347376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/ 64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304098" y="3339465"/>
              <a:ext cx="85248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39653" y="347376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286 /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156585" y="33394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80855" y="34790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/ 256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09072" y="333946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95111" y="347376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表尾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7304" y="4064318"/>
              <a:ext cx="859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WF 申请 30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451610" y="39300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41473" y="406431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/ 64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04098" y="39300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393008" y="406431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/ 32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56585" y="3930015"/>
              <a:ext cx="85248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80855" y="40695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1054 / 226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09072" y="3930015"/>
              <a:ext cx="8524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195111" y="406431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表尾 0</a:t>
              </a:r>
            </a:p>
          </p:txBody>
        </p:sp>
      </p:grpSp>
      <p:grpSp>
        <p:nvGrpSpPr>
          <p:cNvPr id="51" name="c1-text-2"/>
          <p:cNvGrpSpPr/>
          <p:nvPr/>
        </p:nvGrpSpPr>
        <p:grpSpPr>
          <a:xfrm>
            <a:off x="526923" y="4560094"/>
            <a:ext cx="3846932" cy="249364"/>
            <a:chOff x="526923" y="4560094"/>
            <a:chExt cx="3846932" cy="249364"/>
          </a:xfrm>
        </p:grpSpPr>
        <p:sp>
          <p:nvSpPr>
            <p:cNvPr id="50" name="TextBox 50"/>
            <p:cNvSpPr txBox="1"/>
            <p:nvPr/>
          </p:nvSpPr>
          <p:spPr>
            <a:xfrm>
              <a:off x="526923" y="4560094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每格写作“首址 / 长度”，着色的是被分割的表项。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5166360" y="1967865"/>
            <a:ext cx="6492240" cy="2022158"/>
            <a:chOff x="5166360" y="1967865"/>
            <a:chExt cx="6492240" cy="2022158"/>
          </a:xfrm>
        </p:grpSpPr>
        <p:sp>
          <p:nvSpPr>
            <p:cNvPr id="52" name="Rectangle 52"/>
            <p:cNvSpPr/>
            <p:nvPr/>
          </p:nvSpPr>
          <p:spPr>
            <a:xfrm>
              <a:off x="5166360" y="1967865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37714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5628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3543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024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44312" y="25512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33828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65587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11618" y="2551271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第一个区域长 64 就够，于是把它分割成 (160, 32)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28603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66360" y="286512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44312" y="311419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33828" y="31141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65587" y="311419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11618" y="3000851"/>
              <a:ext cx="3678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可满足的有 64、32、256，最小的是 32，剩下长度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2 的碎片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66360" y="35356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425195" y="3676174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33828" y="367617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18201" y="367617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11618" y="3676174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256 被分割，剩 (1054, 226)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166360" y="1967865"/>
              <a:ext cx="649224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594074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719888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49903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rd-2"/>
          <p:cNvGrpSpPr/>
          <p:nvPr/>
        </p:nvGrpSpPr>
        <p:grpSpPr>
          <a:xfrm>
            <a:off x="5166360" y="4179570"/>
            <a:ext cx="6492240" cy="1966912"/>
            <a:chOff x="5166360" y="4179570"/>
            <a:chExt cx="6492240" cy="1966912"/>
          </a:xfrm>
        </p:grpSpPr>
        <p:sp>
          <p:nvSpPr>
            <p:cNvPr id="77" name="Rectangle 77"/>
            <p:cNvSpPr/>
            <p:nvPr/>
          </p:nvSpPr>
          <p:spPr>
            <a:xfrm>
              <a:off x="5166360" y="4179570"/>
              <a:ext cx="6492240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5175885" y="431292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5414010" y="4389120"/>
              <a:ext cx="1241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468501" y="4424839"/>
              <a:ext cx="113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NF 与 FF 的区别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61798" y="4424362"/>
              <a:ext cx="2171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连续申请 3 次，每次 20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419725" y="4848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577840" y="4785360"/>
              <a:ext cx="5752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FF：每次都从表头找，分到 128、148、168，全挤在第一个区域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419725" y="51835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577840" y="5120640"/>
              <a:ext cx="5596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NF：第 1 次分到 128，指针移到下一个区域；第 2 次分到 256，第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次分到 1024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407533" y="5738336"/>
              <a:ext cx="4141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NF 把分配分散到各个区域，FF 反复切低地址的区域。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4973" cy="909257"/>
            <a:chOff x="520446" y="342900"/>
            <a:chExt cx="8004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4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例题一：请求序列 30、60、200，只有 BF 全部满足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45890" cy="293370"/>
            <a:chOff x="525780" y="1548765"/>
            <a:chExt cx="105458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45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初始空闲区表 (128, 64)、(256, 32)、(1024, 256)。表中每格写“分到的首址；分配后的空闲区表（首址/长度）”。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33400" y="1954530"/>
            <a:ext cx="11125200" cy="2150745"/>
            <a:chOff x="533400" y="1954530"/>
            <a:chExt cx="11125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202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28325" y="208597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30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65885" y="208597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60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6799" y="2085975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200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1267" y="2515552"/>
              <a:ext cx="2540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128；158/34、256/32、1024/256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8826" y="2515552"/>
              <a:ext cx="262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1024；158/34、256/32、1084/196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26386" y="2515552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失败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：最大空闲区只有 196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1267" y="2946082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128；指针移到 256/32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8826" y="2946082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256/32 不够，分到 1024；指针回到表头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26386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失败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：绕表一圈也找不到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661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1267" y="3376612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256；128/64、286/2、1024/256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88826" y="3376612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128；188/4、286/2、1024/256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30565" y="3254692"/>
              <a:ext cx="33185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26386" y="3376612"/>
              <a:ext cx="2380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1024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；188/4、286/2、1224/56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380619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51267" y="3806190"/>
              <a:ext cx="262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1024；128/64、256/32、1054/226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88826" y="3806190"/>
              <a:ext cx="262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1054；128/64、256/32、1114/166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6386" y="380619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失败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：最大空闲区只有 166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54530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4115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7871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1627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compare-2"/>
          <p:cNvGrpSpPr/>
          <p:nvPr/>
        </p:nvGrpSpPr>
        <p:grpSpPr>
          <a:xfrm>
            <a:off x="533400" y="4291012"/>
            <a:ext cx="11125200" cy="1382078"/>
            <a:chOff x="533400" y="4291012"/>
            <a:chExt cx="11125200" cy="1382078"/>
          </a:xfrm>
        </p:grpSpPr>
        <p:sp>
          <p:nvSpPr>
            <p:cNvPr id="41" name="Rectangle 41"/>
            <p:cNvSpPr/>
            <p:nvPr/>
          </p:nvSpPr>
          <p:spPr>
            <a:xfrm>
              <a:off x="533400" y="4291012"/>
              <a:ext cx="5353050" cy="1382078"/>
            </a:xfrm>
            <a:prstGeom prst="roundRect">
              <a:avLst>
                <a:gd name="adj" fmla="val 96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424362"/>
              <a:ext cx="47625" cy="11153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8096" y="4518184"/>
              <a:ext cx="693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 成功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955" y="49168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546" y="48563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小请求都用小区域满足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82955" y="52368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9546" y="5176361"/>
              <a:ext cx="3206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处的 256 保持完整，200 能放下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05550" y="4291012"/>
              <a:ext cx="5353050" cy="1382078"/>
            </a:xfrm>
            <a:prstGeom prst="roundRect">
              <a:avLst>
                <a:gd name="adj" fmla="val 96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15075" y="4424362"/>
              <a:ext cx="47625" cy="11153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0246" y="4518184"/>
              <a:ext cx="15850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FF、NF、WF 失败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555105" y="49168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11696" y="4856321"/>
              <a:ext cx="23848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的请求切开了唯一的大区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55105" y="52368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11696" y="5176361"/>
              <a:ext cx="2079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之后没有一个区域 ≥ 200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934075" y="48196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04415" y="49158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81142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代价：BF 留下了长度 4 和 2 的两个碎片，它们以后几乎分不出去。本例 NF 的选择与 FF 相同。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7704" cy="909257"/>
            <a:chOff x="520446" y="342900"/>
            <a:chExt cx="87677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77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例题二：请求序列 40、200、60，这次只有 WF 全部满足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408005" cy="308039"/>
            <a:chOff x="525399" y="1550194"/>
            <a:chExt cx="840800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4080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初始空闲区表同上。本例中 BF 第一次就选了长 64 的区域，与 FF、NF 的选择完全一样。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11125200" cy="1346835"/>
            <a:chOff x="533400" y="1967865"/>
            <a:chExt cx="11125200" cy="13468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375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54076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40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1881" y="2102644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200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07264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 60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083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 / NF / BF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98560" y="2551271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128；168/24、256/32、1024/256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6120" y="2551271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1024；168/24、256/32、1224/56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3680" y="2551271"/>
              <a:ext cx="1977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：最大空闲区只有 56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8560" y="3000851"/>
              <a:ext cx="280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1024；128/64、256/32、1064/216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36120" y="3000851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1064；128/64、256/32、1264/16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3680" y="3000851"/>
              <a:ext cx="2534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；188/4、256/32、1264/16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967865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85975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3535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761095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ompare-2"/>
          <p:cNvGrpSpPr/>
          <p:nvPr/>
        </p:nvGrpSpPr>
        <p:grpSpPr>
          <a:xfrm>
            <a:off x="533400" y="3504248"/>
            <a:ext cx="11125200" cy="2153602"/>
            <a:chOff x="533400" y="3504248"/>
            <a:chExt cx="11125200" cy="2153602"/>
          </a:xfrm>
        </p:grpSpPr>
        <p:sp>
          <p:nvSpPr>
            <p:cNvPr id="29" name="Rectangle 29"/>
            <p:cNvSpPr/>
            <p:nvPr/>
          </p:nvSpPr>
          <p:spPr>
            <a:xfrm>
              <a:off x="533400" y="3504248"/>
              <a:ext cx="5353050" cy="2153602"/>
            </a:xfrm>
            <a:prstGeom prst="roundRect">
              <a:avLst>
                <a:gd name="adj" fmla="val 6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637598"/>
              <a:ext cx="47625" cy="1886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430" y="3738562"/>
              <a:ext cx="1383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 为什么成功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415575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092892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从大区切走后剩 216，仍能放下 200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449103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4428172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这块中等区域留给了后面的 60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05550" y="3504248"/>
              <a:ext cx="5353050" cy="2153602"/>
            </a:xfrm>
            <a:prstGeom prst="roundRect">
              <a:avLst>
                <a:gd name="adj" fmla="val 6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15075" y="3637598"/>
              <a:ext cx="47625" cy="18869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5580" y="373856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没有总是最好的算法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58915" y="415575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7030" y="4092892"/>
              <a:ext cx="2131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 容易留下很小的碎片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58915" y="449103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17030" y="4428172"/>
              <a:ext cx="3183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 会把大区切碎，大请求可能失败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58915" y="482631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17030" y="476345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结果取决于请求序列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934075" y="44196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04415" y="45158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考试手算时，每一步都写出所选区域和分配后的整张空闲区表，下一步在新表上继续选。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9894" cy="909257"/>
            <a:chOff x="520446" y="342900"/>
            <a:chExt cx="7309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9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的空闲区表 map，malloc 按最先适应分配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888105"/>
            <a:chOff x="533400" y="1524000"/>
            <a:chExt cx="6059805" cy="3888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88105"/>
            </a:xfrm>
            <a:prstGeom prst="roundRect">
              <a:avLst>
                <a:gd name="adj" fmla="val 24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46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malloc(mp, size)：成功返回首址，失败返回 0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67038"/>
              <a:ext cx="602170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01390"/>
              <a:ext cx="602170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21" y="1936242"/>
              <a:ext cx="3744239" cy="3399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malloc(mp, size)</a:t>
              </a:r>
              <a:br/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*mp;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register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register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*bp;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(bp = mp; bp-&gt;m_size; bp++) 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(bp-&gt;m_size &gt;= size)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 = bp-&gt;m_addr;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bp-&gt;m_addr += size;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((bp-&gt;m_size -= size) == 0)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bp++;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(bp-1)-&gt;m_addr = bp-&gt;m_addr;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((bp-1)-&gt;m_size = bp-&gt;m_size);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(a);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(0);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898005" y="1524000"/>
            <a:ext cx="4760595" cy="1929765"/>
            <a:chOff x="6898005" y="1524000"/>
            <a:chExt cx="4760595" cy="1929765"/>
          </a:xfrm>
        </p:grpSpPr>
        <p:sp>
          <p:nvSpPr>
            <p:cNvPr id="13" name="Rectangle 13"/>
            <p:cNvSpPr/>
            <p:nvPr/>
          </p:nvSpPr>
          <p:spPr>
            <a:xfrm>
              <a:off x="6898005" y="1524000"/>
              <a:ext cx="4760595" cy="1929765"/>
            </a:xfrm>
            <a:prstGeom prst="roundRect">
              <a:avLst>
                <a:gd name="adj" fmla="val 49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26402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表结构：内存、交换区各一张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6326" y="1936242"/>
              <a:ext cx="2700680" cy="1440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*m_size;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长度，0 为表尾 */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*m_addr;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首址 */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coremap[CMAPSIZ];</a:t>
              </a:r>
              <a:br/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swapmap[SMAPSIZ];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CMAPSIZ 100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SMAPSIZ 100</a:t>
              </a:r>
            </a:p>
          </p:txBody>
        </p:sp>
      </p:grpSp>
      <p:grpSp>
        <p:nvGrpSpPr>
          <p:cNvPr id="30" name="c2-steps-2"/>
          <p:cNvGrpSpPr/>
          <p:nvPr/>
        </p:nvGrpSpPr>
        <p:grpSpPr>
          <a:xfrm>
            <a:off x="6898005" y="3643312"/>
            <a:ext cx="3835756" cy="1782509"/>
            <a:chOff x="6898005" y="3643312"/>
            <a:chExt cx="3835756" cy="1782509"/>
          </a:xfrm>
        </p:grpSpPr>
        <p:sp>
          <p:nvSpPr>
            <p:cNvPr id="17" name="Rectangle 17"/>
            <p:cNvSpPr/>
            <p:nvPr/>
          </p:nvSpPr>
          <p:spPr>
            <a:xfrm>
              <a:off x="7031355" y="3786188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898005" y="36433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37171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42605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1629" y="43343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8005" y="48768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91629" y="4950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367617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3956685"/>
              <a:ext cx="3422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从表头起找第一个 m_size ≥ size 的表项（FF）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429339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4573905"/>
              <a:ext cx="3323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首址后移 size，长度减 size，原首址作为结果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9866" y="491061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11009" y="5191125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长度减为 0 时，后面各表项依次上移一格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1" name="Rectangle 3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753576"/>
              <a:ext cx="99241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更正：原课件照录 UNIX V6 源码，=+、=- 即 +=、-=；struct map, *mp 与 mfree 中的 *map、struct map bp 应为 *mp、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*bp；define 前缺 #。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4841" cy="909257"/>
            <a:chOff x="520446" y="342900"/>
            <a:chExt cx="79548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48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mfree：先找插入位置，再看能否与前后空闲区合并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3709988"/>
            <a:chOff x="533400" y="1524000"/>
            <a:chExt cx="5626418" cy="3709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709988"/>
            </a:xfrm>
            <a:prstGeom prst="roundRect">
              <a:avLst>
                <a:gd name="adj" fmla="val 25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75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mfree(mp, size, aa)：释放首址 aa、长 size 的区域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67038"/>
              <a:ext cx="5588318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21" y="1936242"/>
              <a:ext cx="4159148" cy="32216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mfree(mp, size, aa)</a:t>
              </a:r>
              <a:br/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*mp;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register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*bp;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register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t, a;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= aa;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(bp = mp; bp-&gt;m_addr &lt;= a &amp;&amp; bp-&gt;m_size != 0; bp++);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(bp &gt; mp &amp;&amp; (bp-1)-&gt;m_addr + (bp-1)-&gt;m_size == a)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(bp-1)-&gt;m_size += size;     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与前合并 */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+ size == bp-&gt;m_addr) {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前后合并 */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(bp-1)-&gt;m_size += bp-&gt;m_size;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(bp-&gt;m_size)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bp++;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(bp-1)-&gt;m_addr = bp-&gt;m_addr;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(bp-1)-&gt;m_size = bp-&gt;m_size;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414010"/>
            <a:ext cx="5626418" cy="936308"/>
            <a:chOff x="533400" y="5414010"/>
            <a:chExt cx="5626418" cy="936308"/>
          </a:xfrm>
        </p:grpSpPr>
        <p:sp>
          <p:nvSpPr>
            <p:cNvPr id="12" name="Rectangle 12"/>
            <p:cNvSpPr/>
            <p:nvPr/>
          </p:nvSpPr>
          <p:spPr>
            <a:xfrm>
              <a:off x="533400" y="5414010"/>
              <a:ext cx="5626418" cy="936308"/>
            </a:xfrm>
            <a:prstGeom prst="roundRect">
              <a:avLst>
                <a:gd name="adj" fmla="val 1220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782628"/>
              <a:ext cx="200026" cy="200025"/>
              <a:chOff x="738188" y="5782628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7826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8270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9382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565165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释放后表项数的变化：与前或与后合并时不变，前后合并时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 1，无合并时加 1。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2286000"/>
            <a:chOff x="6464618" y="1524000"/>
            <a:chExt cx="5193982" cy="2286000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2286000"/>
            </a:xfrm>
            <a:prstGeom prst="roundRect">
              <a:avLst>
                <a:gd name="adj" fmla="val 41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10227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接左侧 else 分支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2938" y="1936242"/>
              <a:ext cx="3763099" cy="179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+ size == bp-&gt;m_addr &amp;&amp; bp-&gt;m_size)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bp-&gt;m_addr -= size;     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与后合并 */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bp-&gt;m_size += size;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(size)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无合并 */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 = bp-&gt;m_addr; bp-&gt;m_addr = a; a = t;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 = bp-&gt;m_size; bp-&gt;m_size = size;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bp++;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新区放入本格，旧项带到下一格 */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9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(size = t);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c2-table-2"/>
          <p:cNvGrpSpPr/>
          <p:nvPr/>
        </p:nvGrpSpPr>
        <p:grpSpPr>
          <a:xfrm>
            <a:off x="6459284" y="3990022"/>
            <a:ext cx="5199316" cy="2401825"/>
            <a:chOff x="6459284" y="3990022"/>
            <a:chExt cx="5199316" cy="2401825"/>
          </a:xfrm>
        </p:grpSpPr>
        <p:sp>
          <p:nvSpPr>
            <p:cNvPr id="23" name="Rectangle 23"/>
            <p:cNvSpPr/>
            <p:nvPr/>
          </p:nvSpPr>
          <p:spPr>
            <a:xfrm>
              <a:off x="6464618" y="3990022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2300" y="4118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7271" y="4118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7106" y="4542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与前合并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7752" y="4542472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前一空闲区的末尾 = 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48339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4618" y="4838700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7106" y="49672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前后合并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17752" y="4967288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 a + size = 后一空闲区首址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52587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7106" y="53921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与后合并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7752" y="5392102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a + size = 后一空闲区首址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56826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56873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7106" y="58159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无合并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17752" y="581596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插入新表项，后面各项下移一格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990022"/>
              <a:ext cx="519398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0" y="399002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9284" y="6186488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循环停在第一个首址大于 a 的表项 bp，bp−1 就是前一个空闲区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1035" cy="909257"/>
            <a:chOff x="520446" y="342900"/>
            <a:chExt cx="78810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10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例题：跟踪 coremap 的变化，看遍合并的各种情况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10680" cy="264033"/>
            <a:chOff x="526542" y="1545907"/>
            <a:chExt cx="68106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10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 coremap：(128, 64)、(256, 32)、(1024, 256)，每项写作（首址, 长度）。</a:t>
              </a:r>
            </a:p>
          </p:txBody>
        </p:sp>
      </p:grpSp>
      <p:grpSp>
        <p:nvGrpSpPr>
          <p:cNvPr id="61" name="c1-table-1"/>
          <p:cNvGrpSpPr/>
          <p:nvPr/>
        </p:nvGrpSpPr>
        <p:grpSpPr>
          <a:xfrm>
            <a:off x="533400" y="1928812"/>
            <a:ext cx="7141845" cy="4400551"/>
            <a:chOff x="533400" y="1928812"/>
            <a:chExt cx="7141845" cy="4400551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714184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1853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566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4020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37775" y="2050256"/>
              <a:ext cx="1303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操作后的 coremap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370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0618" y="2450306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malloc(32)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7040" y="245030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128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00650" y="2450306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(160,32) (256,32) (1024,256)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714184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3704" y="2950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0618" y="2950369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malloc(32)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7040" y="2850356"/>
              <a:ext cx="18321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160；该项长度为 0，后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项上移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00650" y="2950369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(256,32) (1024,256)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2422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3704" y="3550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0618" y="3550444"/>
              <a:ext cx="87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malloc(100)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87040" y="3450431"/>
              <a:ext cx="1768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处只有 32，跳过；返回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00650" y="3550444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(256,32) (1124,156)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243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92906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70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0618" y="4050506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malloc(56)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87040" y="405050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1124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00650" y="4050506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(256,32) (1180,100)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243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3704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0618" y="4450556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mfree(32, 160)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87040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无合并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，插入表头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00650" y="4450556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(160,32) (256,32) (1180,100)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7244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72916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3704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0618" y="4850606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mfree(32, 128)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87040" y="485060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128+32 = 160，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与后合并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00650" y="4850606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(128,64) (256,32) (1180,100)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244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3704" y="53506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0618" y="5350669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mfree(100, 1024)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87040" y="5250656"/>
              <a:ext cx="1668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288 ≠ 1024，后 1180 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1124，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无合并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00650" y="5250656"/>
              <a:ext cx="21308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(128,64) (256,32) (1024,100)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(1180,100)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72452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729288"/>
              <a:ext cx="714184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3704" y="5950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618" y="5950744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mfree(56, 1124)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987040" y="5850731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前末尾 1124，后首址 1180，</a:t>
              </a:r>
              <a:br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前后合并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00650" y="5950744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(128,64) (256,32) (1024,256)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928812"/>
              <a:ext cx="7141845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8700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885122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098732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1"/>
          <p:cNvGrpSpPr/>
          <p:nvPr/>
        </p:nvGrpSpPr>
        <p:grpSpPr>
          <a:xfrm>
            <a:off x="7980045" y="1928812"/>
            <a:ext cx="3678555" cy="2278380"/>
            <a:chOff x="7980045" y="1928812"/>
            <a:chExt cx="3678555" cy="2278380"/>
          </a:xfrm>
        </p:grpSpPr>
        <p:sp>
          <p:nvSpPr>
            <p:cNvPr id="62" name="Rectangle 62"/>
            <p:cNvSpPr/>
            <p:nvPr/>
          </p:nvSpPr>
          <p:spPr>
            <a:xfrm>
              <a:off x="7980045" y="1928812"/>
              <a:ext cx="3678555" cy="227838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989570" y="2062162"/>
              <a:ext cx="47625" cy="20116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204835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89404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换个顺序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19032" y="2150745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5、6 步对调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213408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69427" y="2476500"/>
              <a:ext cx="29626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mfree(32, 128)：后面 160 还没释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放，无合并，得 (128,32)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213408" y="308991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69427" y="3033712"/>
              <a:ext cx="25768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 mfree(32, 160)：前一区末尾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128+32 = 160，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与前合并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(128,64)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99120" y="38447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结果相同，走的分支不同。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7980045" y="4376738"/>
            <a:ext cx="3678555" cy="1952625"/>
            <a:chOff x="7980045" y="4376738"/>
            <a:chExt cx="3678555" cy="1952625"/>
          </a:xfrm>
        </p:grpSpPr>
        <p:sp>
          <p:nvSpPr>
            <p:cNvPr id="73" name="Rectangle 73"/>
            <p:cNvSpPr/>
            <p:nvPr/>
          </p:nvSpPr>
          <p:spPr>
            <a:xfrm>
              <a:off x="7980045" y="4376738"/>
              <a:ext cx="3678555" cy="1952625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989570" y="4510088"/>
              <a:ext cx="47625" cy="16859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204835" y="45634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296554" y="4596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8213408" y="49644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69427" y="4908233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前后合并后表项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减少一项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，后面的表项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要上移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213408" y="55216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69427" y="5465445"/>
              <a:ext cx="2242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无合并时表项增加一项，表满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（CMAPSIZ）就放不下了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内存资源管理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碎片太多时用紧凑：移动占用区，让空闲区连成一片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ells-1"/>
          <p:cNvGrpSpPr/>
          <p:nvPr/>
        </p:nvGrpSpPr>
        <p:grpSpPr>
          <a:xfrm>
            <a:off x="527685" y="1524000"/>
            <a:ext cx="6497955" cy="1009650"/>
            <a:chOff x="527685" y="1524000"/>
            <a:chExt cx="6497955" cy="100965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紧凑前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52400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73374" y="166354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82165" y="1524000"/>
              <a:ext cx="9886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83725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70860" y="152400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66464" y="1663541"/>
              <a:ext cx="59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P1 248k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59555" y="1524000"/>
              <a:ext cx="9886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61115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6k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48250" y="152400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43854" y="1663541"/>
              <a:ext cx="59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P2 250k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6945" y="1524000"/>
              <a:ext cx="9886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8505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685" y="22540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紧凑后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93470" y="211455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73374" y="225409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82165" y="211455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77769" y="2254091"/>
              <a:ext cx="59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P1 248k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70860" y="2114550"/>
              <a:ext cx="9886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66464" y="2254091"/>
              <a:ext cx="59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P2 250k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9555" y="2114550"/>
              <a:ext cx="9886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43058" y="2254091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空闲 18k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2724150"/>
            <a:ext cx="6492240" cy="2244090"/>
            <a:chOff x="533400" y="2724150"/>
            <a:chExt cx="6492240" cy="2244090"/>
          </a:xfrm>
        </p:grpSpPr>
        <p:sp>
          <p:nvSpPr>
            <p:cNvPr id="30" name="Rectangle 30"/>
            <p:cNvSpPr/>
            <p:nvPr/>
          </p:nvSpPr>
          <p:spPr>
            <a:xfrm>
              <a:off x="533400" y="272415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8984" y="2859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63075" y="28598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紧凑前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94820" y="28598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紧凑后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223" y="3308509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85534" y="330850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256k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17279" y="330850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256k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166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62140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3757136"/>
              <a:ext cx="965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P1（248k）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43375" y="3757136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264k ~ 512k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09874" y="3757136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256k ~ 504k（下移 8k）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066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4205764"/>
              <a:ext cx="965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P2（250k）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43375" y="4205764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518k ~ 768k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62487" y="4205764"/>
              <a:ext cx="1994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504k ~ 754k（下移 14k）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5148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51961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46543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66754" y="4654391"/>
              <a:ext cx="1322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8k、6k、4k 三块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503420" y="4529138"/>
              <a:ext cx="25126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8644" y="4654391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754k ~ 772k，一块 18k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2724150"/>
              <a:ext cx="649224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957388" y="27241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489132" y="27241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image-1"/>
          <p:cNvGrpSpPr/>
          <p:nvPr/>
        </p:nvGrpSpPr>
        <p:grpSpPr>
          <a:xfrm>
            <a:off x="7330440" y="1524000"/>
            <a:ext cx="4328160" cy="4159092"/>
            <a:chOff x="7330440" y="1524000"/>
            <a:chExt cx="4328160" cy="4159092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rcRect l="7780" t="0" r="7780" b="0"/>
            <a:stretch>
              <a:fillRect/>
            </a:stretch>
          </p:blipFill>
          <p:spPr>
            <a:xfrm>
              <a:off x="7330440" y="1524000"/>
              <a:ext cx="4328160" cy="3844290"/>
            </a:xfrm>
            <a:prstGeom prst="roundRect">
              <a:avLst>
                <a:gd name="adj" fmla="val 3468"/>
              </a:avLst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7679512" y="546306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书之间的小空隙放不下一本厚书，推到一边后就能放下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9314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紧凑要搬动进程并修改它们的基址，被移动的程序必须可重定位（见 6.3.1），开销很大，不能频繁做。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023991" cy="3706177"/>
            <a:chOff x="667512" y="1835468"/>
            <a:chExt cx="6023991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界地址管理方式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一个进程占一块连续内存，用基址、限长两个寄存器完成映射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四种存储管理方式概览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6.3.1.1 基本原理与地址映射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6.3.1.2 双对界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6.3.1.3 交换技术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6.3.1.4 覆盖技术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四种存储管理方式：先看逻辑地址是一维还是二维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223136"/>
            <a:chOff x="533400" y="1524000"/>
            <a:chExt cx="11125200" cy="222313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270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7448" y="1651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内存空间划分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3076" y="1651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进程空间划分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0930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0964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2492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05234" y="209645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一个进程一个区域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2794" y="2096452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一维：a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12492" y="2541270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静态等长，每块 2ⁱ（页架）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5234" y="2541270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静态等长，每块 2ⁱ（页面）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2794" y="2541270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一维：a，由硬件拆成 (p, d)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2492" y="29860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动态异长，每区一段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05234" y="298608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若干段，每段一个程序单位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2794" y="298608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二维：(s, d)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97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02318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34309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2492" y="34309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同页式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05234" y="34309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若干段，每段若干页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42794" y="3430905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二维：(s, p, d)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0886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0160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3916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ompare-2"/>
          <p:cNvGrpSpPr/>
          <p:nvPr/>
        </p:nvGrpSpPr>
        <p:grpSpPr>
          <a:xfrm>
            <a:off x="533400" y="3922395"/>
            <a:ext cx="11125200" cy="1240155"/>
            <a:chOff x="533400" y="3922395"/>
            <a:chExt cx="11125200" cy="1240155"/>
          </a:xfrm>
        </p:grpSpPr>
        <p:sp>
          <p:nvSpPr>
            <p:cNvPr id="38" name="Rectangle 38"/>
            <p:cNvSpPr/>
            <p:nvPr/>
          </p:nvSpPr>
          <p:spPr>
            <a:xfrm>
              <a:off x="533400" y="3922395"/>
              <a:ext cx="5353050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055745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7047" y="41367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一维地址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45129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445674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程序员看到一个从 0 开始的连续地址空间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2478" y="48158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8497" y="475964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页式的页号、页内地址是按位拆出来的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3922395"/>
              <a:ext cx="5353050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15075" y="4055745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29197" y="41367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二维地址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44628" y="45129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0647" y="445674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段号由程序自己给出，与段内地址互相独立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4628" y="48158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0647" y="475964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每段各自从 0 编址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934075" y="43805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10546" y="448198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9" name="c1-flow-3"/>
          <p:cNvGrpSpPr/>
          <p:nvPr/>
        </p:nvGrpSpPr>
        <p:grpSpPr>
          <a:xfrm>
            <a:off x="727710" y="5561648"/>
            <a:ext cx="10735628" cy="578168"/>
            <a:chOff x="727710" y="5561648"/>
            <a:chExt cx="10735628" cy="578168"/>
          </a:xfrm>
        </p:grpSpPr>
        <p:sp>
          <p:nvSpPr>
            <p:cNvPr id="55" name="Freeform 55"/>
            <p:cNvSpPr/>
            <p:nvPr/>
          </p:nvSpPr>
          <p:spPr>
            <a:xfrm>
              <a:off x="3120390" y="585025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3404235" y="57978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5901690" y="585025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185535" y="57978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682990" y="585025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966835" y="57978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7710" y="5651182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3509010" y="5651182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90310" y="5561648"/>
              <a:ext cx="239172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071610" y="5651182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13689" y="577167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界地址：整块连续，碎片多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19601" y="577167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页式：离散存放，无外部碎片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56375" y="5675471"/>
              <a:ext cx="18605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段式：按程序单位，便于共享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59137" y="57716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段页式：兼顾两者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47177" cy="909257"/>
            <a:chOff x="520446" y="342900"/>
            <a:chExt cx="98471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471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界地址：进程占一块连续区域，逻辑地址 0 ~ l−1 对应 b ~ b+l−1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graph-1"/>
          <p:cNvGrpSpPr/>
          <p:nvPr/>
        </p:nvGrpSpPr>
        <p:grpSpPr>
          <a:xfrm>
            <a:off x="762952" y="1644491"/>
            <a:ext cx="4687253" cy="4672013"/>
            <a:chOff x="762952" y="1644491"/>
            <a:chExt cx="4687253" cy="4672013"/>
          </a:xfrm>
        </p:grpSpPr>
        <p:sp>
          <p:nvSpPr>
            <p:cNvPr id="7" name="Freeform 7"/>
            <p:cNvSpPr/>
            <p:nvPr/>
          </p:nvSpPr>
          <p:spPr>
            <a:xfrm>
              <a:off x="2382202" y="3943350"/>
              <a:ext cx="1448752" cy="9525"/>
            </a:xfrm>
            <a:custGeom>
              <a:avLst/>
              <a:gdLst/>
              <a:ahLst/>
              <a:cxnLst/>
              <a:rect l="l" t="t" r="r" b="b"/>
              <a:pathLst>
                <a:path w="1448752" h="9525">
                  <a:moveTo>
                    <a:pt x="0" y="0"/>
                  </a:moveTo>
                  <a:lnTo>
                    <a:pt x="14487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3095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952" y="3228975"/>
              <a:ext cx="1619250" cy="1428750"/>
            </a:xfrm>
            <a:prstGeom prst="roundRect">
              <a:avLst>
                <a:gd name="adj" fmla="val 6667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26205" y="1965008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926205" y="3228975"/>
              <a:ext cx="1524000" cy="1428750"/>
            </a:xfrm>
            <a:prstGeom prst="roundRect">
              <a:avLst>
                <a:gd name="adj" fmla="val 66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926205" y="5254942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6181" y="3873341"/>
              <a:ext cx="1152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进程空间 0 ~ l−1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895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0032" y="3873341"/>
              <a:ext cx="676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~ b+l−1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8954" y="5518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87028" y="385762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06649" y="38900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整体对应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65314" y="60964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0941" y="16444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内存空间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032182" y="1524000"/>
            <a:ext cx="5626418" cy="1701165"/>
            <a:chOff x="6032182" y="1524000"/>
            <a:chExt cx="5626418" cy="1701165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3204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6.3.1.1 基本原理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79832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1682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80823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内存空间划分：动态异长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79832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1682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0823" y="2446020"/>
              <a:ext cx="474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进程空间划分：一个进程一个区域，逻辑地址 0 ~ l−1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79832" y="27679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1682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80823" y="2781300"/>
              <a:ext cx="4962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对应关系：进程区域整体放在 b ~ b+l−1，位置可以浮动</a:t>
              </a:r>
            </a:p>
          </p:txBody>
        </p:sp>
      </p:grpSp>
      <p:grpSp>
        <p:nvGrpSpPr>
          <p:cNvPr id="47" name="c2-kv-2"/>
          <p:cNvGrpSpPr/>
          <p:nvPr/>
        </p:nvGrpSpPr>
        <p:grpSpPr>
          <a:xfrm>
            <a:off x="6024562" y="3440430"/>
            <a:ext cx="5634038" cy="1613535"/>
            <a:chOff x="6024562" y="3440430"/>
            <a:chExt cx="5634038" cy="1613535"/>
          </a:xfrm>
        </p:grpSpPr>
        <p:sp>
          <p:nvSpPr>
            <p:cNvPr id="36" name="TextBox 36"/>
            <p:cNvSpPr txBox="1"/>
            <p:nvPr/>
          </p:nvSpPr>
          <p:spPr>
            <a:xfrm>
              <a:off x="6024562" y="34404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内存分配表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40930" y="3440430"/>
              <a:ext cx="266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PCB 中，记录进程的 b 和 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7604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24562" y="38804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空闲区域表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40930" y="388048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 of (addr, size)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42005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24562" y="4320540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基址寄存器 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40930" y="43205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保存运行进程的起始地址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46405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24562" y="4760595"/>
              <a:ext cx="1152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限长寄存器 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0930" y="47605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保存运行进程的长度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032182" y="5185410"/>
            <a:ext cx="5626418" cy="1059180"/>
            <a:chOff x="6032182" y="5185410"/>
            <a:chExt cx="5626418" cy="1059180"/>
          </a:xfrm>
        </p:grpSpPr>
        <p:sp>
          <p:nvSpPr>
            <p:cNvPr id="48" name="Rectangle 48"/>
            <p:cNvSpPr/>
            <p:nvPr/>
          </p:nvSpPr>
          <p:spPr>
            <a:xfrm>
              <a:off x="6032182" y="518541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36970" y="5614990"/>
              <a:ext cx="200023" cy="200023"/>
              <a:chOff x="6236970" y="5614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614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70320" y="5681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38912" y="5334000"/>
              <a:ext cx="4596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例：第 17 页的 P1 装在 264k，长 248k，PCB 中记 b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264k、l = 248k，逻辑地址 0 ~ 248k−1 对应 264k ~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512k−1。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0414" cy="909257"/>
            <a:chOff x="520446" y="342900"/>
            <a:chExt cx="62204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0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界地址的映射：先拿 a 和 l 比，再加上 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700088" y="1756410"/>
            <a:ext cx="4427219" cy="2245995"/>
            <a:chOff x="700088" y="1756410"/>
            <a:chExt cx="4427219" cy="2245995"/>
          </a:xfrm>
        </p:grpSpPr>
        <p:sp>
          <p:nvSpPr>
            <p:cNvPr id="7" name="Freeform 7"/>
            <p:cNvSpPr/>
            <p:nvPr/>
          </p:nvSpPr>
          <p:spPr>
            <a:xfrm>
              <a:off x="1724025" y="2194560"/>
              <a:ext cx="9525" cy="279082"/>
            </a:xfrm>
            <a:custGeom>
              <a:avLst/>
              <a:gdLst/>
              <a:ahLst/>
              <a:cxnLst/>
              <a:rect l="l" t="t" r="r" b="b"/>
              <a:pathLst>
                <a:path w="9525" h="279082">
                  <a:moveTo>
                    <a:pt x="0" y="0"/>
                  </a:moveTo>
                  <a:lnTo>
                    <a:pt x="0" y="2790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1638" y="2473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3180398"/>
              <a:ext cx="9525" cy="279083"/>
            </a:xfrm>
            <a:custGeom>
              <a:avLst/>
              <a:gdLst/>
              <a:ahLst/>
              <a:cxnLst/>
              <a:rect l="l" t="t" r="r" b="b"/>
              <a:pathLst>
                <a:path w="9525" h="279083">
                  <a:moveTo>
                    <a:pt x="0" y="0"/>
                  </a:moveTo>
                  <a:lnTo>
                    <a:pt x="0" y="2790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71638" y="34594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28900" y="2879408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75610" y="28270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0088" y="1756410"/>
              <a:ext cx="204692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19150" y="2578418"/>
              <a:ext cx="1809750" cy="601980"/>
            </a:xfrm>
            <a:custGeom>
              <a:avLst/>
              <a:gdLst/>
              <a:ahLst/>
              <a:cxnLst/>
              <a:rect l="l" t="t" r="r" b="b"/>
              <a:pathLst>
                <a:path w="1809750" h="601980">
                  <a:moveTo>
                    <a:pt x="904875" y="0"/>
                  </a:moveTo>
                  <a:lnTo>
                    <a:pt x="1809750" y="300990"/>
                  </a:lnTo>
                  <a:lnTo>
                    <a:pt x="90487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0088" y="3564255"/>
              <a:ext cx="204692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080385" y="2660332"/>
              <a:ext cx="204692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242" y="1886426"/>
              <a:ext cx="1717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由程序确定逻辑地址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7839" y="2790349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a ≤ l−1？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9988" y="3694271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b +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3218" y="27903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52600" y="328041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75841" y="33070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06992" y="233743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37282" y="236410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不满足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425315"/>
            <a:ext cx="4760595" cy="1937385"/>
            <a:chOff x="533400" y="4425315"/>
            <a:chExt cx="4760595" cy="1937385"/>
          </a:xfrm>
        </p:grpSpPr>
        <p:sp>
          <p:nvSpPr>
            <p:cNvPr id="26" name="Rectangle 26"/>
            <p:cNvSpPr/>
            <p:nvPr/>
          </p:nvSpPr>
          <p:spPr>
            <a:xfrm>
              <a:off x="533400" y="4425315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55866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63486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655" y="46705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界地址方式的问题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50749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501205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进程必须占一块连续区域，释放后留下外部碎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片，只能靠紧凑整理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6959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63308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进程长度受最大空闲区限制，内存不够时靠交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换、覆盖技术缓解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5598795" y="1524000"/>
            <a:ext cx="6059805" cy="2901315"/>
            <a:chOff x="5598795" y="1524000"/>
            <a:chExt cx="6059805" cy="2901315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2901315"/>
            </a:xfrm>
            <a:prstGeom prst="roundRect">
              <a:avLst>
                <a:gd name="adj" fmla="val 4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08320" y="1657350"/>
              <a:ext cx="47625" cy="26346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4644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4155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05550" y="1768792"/>
              <a:ext cx="4466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装在 264k 处，长 248k：b = 264k，l = 248k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46445" y="2105025"/>
              <a:ext cx="56026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6158" y="224075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 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34693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越界检查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89236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8658" y="268938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06378" y="2689384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 ≤ 248k−1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67067" y="2689384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264k + 100k = 364k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46445" y="2997518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46445" y="3002280"/>
              <a:ext cx="56026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88658" y="313801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247k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06378" y="3138011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247k ≤ 248k−1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67067" y="3138011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264k + 247k = 511k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46445" y="3447098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8658" y="358663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6378" y="3586639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250k &gt; 248k−1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89236" y="35866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46445" y="2105025"/>
              <a:ext cx="56026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36155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2686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39968" y="4016216"/>
              <a:ext cx="5262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硬件用比较器（CP）比较 a 与 l，用加法器算 b + a，两者同时进行。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598795" y="4615815"/>
            <a:ext cx="6059805" cy="782955"/>
            <a:chOff x="5598795" y="4615815"/>
            <a:chExt cx="6059805" cy="782955"/>
          </a:xfrm>
        </p:grpSpPr>
        <p:sp>
          <p:nvSpPr>
            <p:cNvPr id="61" name="Rectangle 61"/>
            <p:cNvSpPr/>
            <p:nvPr/>
          </p:nvSpPr>
          <p:spPr>
            <a:xfrm>
              <a:off x="5598795" y="461581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803583" y="4907280"/>
              <a:ext cx="200026" cy="200026"/>
              <a:chOff x="5803583" y="490728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803583" y="49072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870258" y="49850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105525" y="4764405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17 页紧凑后 P1 移到 256k，只需把 b 改成 256k，程序不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用改：a = 100k 变为 356k。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双对界：代码和数据各用一对基址、限长寄存器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853440" y="1701165"/>
            <a:ext cx="4709160" cy="4531995"/>
            <a:chOff x="853440" y="1701165"/>
            <a:chExt cx="4709160" cy="4531995"/>
          </a:xfrm>
        </p:grpSpPr>
        <p:sp>
          <p:nvSpPr>
            <p:cNvPr id="7" name="Freeform 7"/>
            <p:cNvSpPr/>
            <p:nvPr/>
          </p:nvSpPr>
          <p:spPr>
            <a:xfrm>
              <a:off x="2377440" y="2975610"/>
              <a:ext cx="1470660" cy="9525"/>
            </a:xfrm>
            <a:custGeom>
              <a:avLst/>
              <a:gdLst/>
              <a:ahLst/>
              <a:cxnLst/>
              <a:rect l="l" t="t" r="r" b="b"/>
              <a:pathLst>
                <a:path w="1470660" h="9525">
                  <a:moveTo>
                    <a:pt x="0" y="0"/>
                  </a:moveTo>
                  <a:lnTo>
                    <a:pt x="14706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48100" y="2927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77440" y="5008245"/>
              <a:ext cx="1470660" cy="9525"/>
            </a:xfrm>
            <a:custGeom>
              <a:avLst/>
              <a:gdLst/>
              <a:ahLst/>
              <a:cxnLst/>
              <a:rect l="l" t="t" r="r" b="b"/>
              <a:pathLst>
                <a:path w="1470660" h="9525">
                  <a:moveTo>
                    <a:pt x="0" y="0"/>
                  </a:moveTo>
                  <a:lnTo>
                    <a:pt x="14706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48100" y="4960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53440" y="2546985"/>
              <a:ext cx="1524000" cy="857250"/>
            </a:xfrm>
            <a:prstGeom prst="roundRect">
              <a:avLst>
                <a:gd name="adj" fmla="val 1111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53440" y="4579620"/>
              <a:ext cx="1524000" cy="857250"/>
            </a:xfrm>
            <a:prstGeom prst="roundRect">
              <a:avLst>
                <a:gd name="adj" fmla="val 1111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943350" y="1701165"/>
              <a:ext cx="1619250" cy="419100"/>
            </a:xfrm>
            <a:prstGeom prst="roundRect">
              <a:avLst>
                <a:gd name="adj" fmla="val 2272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943350" y="2546985"/>
              <a:ext cx="1619250" cy="857250"/>
            </a:xfrm>
            <a:prstGeom prst="roundRect">
              <a:avLst>
                <a:gd name="adj" fmla="val 111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943350" y="3658552"/>
              <a:ext cx="1619250" cy="666750"/>
            </a:xfrm>
            <a:prstGeom prst="roundRect">
              <a:avLst>
                <a:gd name="adj" fmla="val 1428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943350" y="4579620"/>
              <a:ext cx="1619250" cy="857250"/>
            </a:xfrm>
            <a:prstGeom prst="roundRect">
              <a:avLst>
                <a:gd name="adj" fmla="val 111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43350" y="5814060"/>
              <a:ext cx="1619250" cy="419100"/>
            </a:xfrm>
            <a:prstGeom prst="roundRect">
              <a:avLst>
                <a:gd name="adj" fmla="val 2272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07220" y="2905601"/>
              <a:ext cx="1016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 空间（指令）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6310" y="4938236"/>
              <a:ext cx="1058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 空间（数据）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3724" y="1840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4194" y="2905601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 ~ b1+l1−1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3724" y="3921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4194" y="493823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 ~ b2+l2−1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03724" y="5953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53702" y="2889885"/>
              <a:ext cx="4133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76924" y="2922270"/>
              <a:ext cx="36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b1、l1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53702" y="4922520"/>
              <a:ext cx="4133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76924" y="4953952"/>
              <a:ext cx="36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b2、l2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2607945"/>
            <a:chOff x="6248400" y="1524000"/>
            <a:chExt cx="5410200" cy="260794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1256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3371" y="1769269"/>
              <a:ext cx="112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6.3.1.2 双对界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110740"/>
              <a:ext cx="3010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代码（I 空间）：一对界 (b1, l1)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446020"/>
              <a:ext cx="3064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数据（D 空间）：一对界 (b2, l2)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781300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UNIX 把进程空间分为 I 空间和 D 空间，前者对应指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令地址，后者对应数据地址。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34023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硬件能够识别逻辑地址属于哪个空间，并使用对应的地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址映射寄存器。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4322445"/>
            <a:ext cx="5410200" cy="1651635"/>
            <a:chOff x="6248400" y="4322445"/>
            <a:chExt cx="5410200" cy="1651635"/>
          </a:xfrm>
        </p:grpSpPr>
        <p:sp>
          <p:nvSpPr>
            <p:cNvPr id="41" name="Rectangle 41"/>
            <p:cNvSpPr/>
            <p:nvPr/>
          </p:nvSpPr>
          <p:spPr>
            <a:xfrm>
              <a:off x="6248400" y="432244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445579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45319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6258" y="4567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49720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490918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代码区与数据区可以分开存放，不必占一整块连续内存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1765" y="53073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9880" y="524446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代码区可以单独设为只读，也便于多个进程共享（见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6.3.3 UNIX 正文段）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交换技术：内存紧张时把进程整个换到外存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2272665"/>
            <a:chOff x="533400" y="1524000"/>
            <a:chExt cx="4977765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04787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893" y="1769269"/>
              <a:ext cx="1960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6.3.1.3 交换（swapping）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交换又称换进换出，指进程在内外存之间的动态调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度，是缓解内存空间不足的有效方法。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外存中有可运行进程时，系统试图把它调入内存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内存紧张时，系统把内存中的某些进程，尤其是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暂时不能运行的进程，移到外存</a:t>
              </a:r>
            </a:p>
          </p:txBody>
        </p:sp>
      </p:grpSp>
      <p:grpSp>
        <p:nvGrpSpPr>
          <p:cNvPr id="29" name="c1-graph-2"/>
          <p:cNvGrpSpPr/>
          <p:nvPr/>
        </p:nvGrpSpPr>
        <p:grpSpPr>
          <a:xfrm>
            <a:off x="715328" y="4310062"/>
            <a:ext cx="4613910" cy="1039177"/>
            <a:chOff x="715328" y="4310062"/>
            <a:chExt cx="4613910" cy="1039177"/>
          </a:xfrm>
        </p:grpSpPr>
        <p:sp>
          <p:nvSpPr>
            <p:cNvPr id="17" name="Freeform 17"/>
            <p:cNvSpPr/>
            <p:nvPr/>
          </p:nvSpPr>
          <p:spPr>
            <a:xfrm>
              <a:off x="2144078" y="5068252"/>
              <a:ext cx="1666875" cy="221615"/>
            </a:xfrm>
            <a:custGeom>
              <a:avLst/>
              <a:gdLst/>
              <a:ahLst/>
              <a:cxnLst/>
              <a:rect l="l" t="t" r="r" b="b"/>
              <a:pathLst>
                <a:path w="1666875" h="221615">
                  <a:moveTo>
                    <a:pt x="0" y="0"/>
                  </a:moveTo>
                  <a:cubicBezTo>
                    <a:pt x="585470" y="210820"/>
                    <a:pt x="1141095" y="221615"/>
                    <a:pt x="1666875" y="323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94760" y="505587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3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233612" y="4332288"/>
              <a:ext cx="1666875" cy="221615"/>
            </a:xfrm>
            <a:custGeom>
              <a:avLst/>
              <a:gdLst/>
              <a:ahLst/>
              <a:cxnLst/>
              <a:rect l="l" t="t" r="r" b="b"/>
              <a:pathLst>
                <a:path w="1666875" h="221615">
                  <a:moveTo>
                    <a:pt x="1666875" y="221615"/>
                  </a:moveTo>
                  <a:cubicBezTo>
                    <a:pt x="1081405" y="10795"/>
                    <a:pt x="525780" y="0"/>
                    <a:pt x="0" y="1892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44078" y="447675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7153"/>
                  </a:moveTo>
                  <a:lnTo>
                    <a:pt x="73343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5328" y="4477702"/>
              <a:ext cx="1428750" cy="666750"/>
            </a:xfrm>
            <a:prstGeom prst="roundRect">
              <a:avLst>
                <a:gd name="adj" fmla="val 1428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00488" y="4477702"/>
              <a:ext cx="1428750" cy="666750"/>
            </a:xfrm>
            <a:prstGeom prst="roundRect">
              <a:avLst>
                <a:gd name="adj" fmla="val 1428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73213" y="47410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32212" y="47410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外存交换区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69882" y="5140642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96362" y="5173027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69882" y="4310062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96362" y="43424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换入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5815965" y="1524000"/>
            <a:ext cx="5842635" cy="2341245"/>
            <a:chOff x="5815965" y="1524000"/>
            <a:chExt cx="5842635" cy="2341245"/>
          </a:xfrm>
        </p:grpSpPr>
        <p:sp>
          <p:nvSpPr>
            <p:cNvPr id="30" name="Rectangle 30"/>
            <p:cNvSpPr/>
            <p:nvPr/>
          </p:nvSpPr>
          <p:spPr>
            <a:xfrm>
              <a:off x="5815965" y="1524000"/>
              <a:ext cx="5842635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6361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57773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21768" y="1768792"/>
              <a:ext cx="3769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交换进程 sched（0 号进程）的原则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5995" y="2129790"/>
              <a:ext cx="4449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目标：把外存中处于 SRUN 状态的进程换入内存。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63615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5464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4605" y="246507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内存有空间：直接换入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63615" y="27870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5464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4605" y="2800350"/>
              <a:ext cx="4377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内存空间不够：换出 SWAIT、SSTOP 状态的进程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63615" y="31222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464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64605" y="313563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还不够：换出 SSLEEP、SRUN 状态的进程，条件是待换入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进程在外存已满 3 秒，被换出进程在内存已满 2 秒</a:t>
              </a:r>
            </a:p>
          </p:txBody>
        </p:sp>
      </p:grpSp>
      <p:grpSp>
        <p:nvGrpSpPr>
          <p:cNvPr id="57" name="c2-kv-2"/>
          <p:cNvGrpSpPr/>
          <p:nvPr/>
        </p:nvGrpSpPr>
        <p:grpSpPr>
          <a:xfrm>
            <a:off x="5808345" y="4080510"/>
            <a:ext cx="5850255" cy="1613535"/>
            <a:chOff x="5808345" y="4080510"/>
            <a:chExt cx="5850255" cy="1613535"/>
          </a:xfrm>
        </p:grpSpPr>
        <p:sp>
          <p:nvSpPr>
            <p:cNvPr id="46" name="TextBox 46"/>
            <p:cNvSpPr txBox="1"/>
            <p:nvPr/>
          </p:nvSpPr>
          <p:spPr>
            <a:xfrm>
              <a:off x="5808345" y="408051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SRUN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42748" y="40805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就绪或运行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44005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8345" y="452056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SSLEEP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2748" y="45205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高优先级睡眠（很快会被唤醒）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48406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8345" y="4960620"/>
              <a:ext cx="62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SWAIT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2748" y="49606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低优先级睡眠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52806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08345" y="5400675"/>
              <a:ext cx="676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SSTOP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42748" y="5400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暂停（被跟踪）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两个时间条件防止同一个进程刚换出又换入、刚换入又换出，避免时间都耗在交换上。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界地址管理方式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重定位与覆盖技术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917382"/>
            <a:chOff x="533400" y="1524000"/>
            <a:chExt cx="4760595" cy="1917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重定位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可重定位程序（浮动程序）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被换出的进程再次运行前要重新装入内存，而装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入位置与换出前一般不同，这要求程序编址与内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存存放位置无关。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0 起始编址的程序都满足重定位要求，也称浮动程序。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631882"/>
            <a:ext cx="4760595" cy="2272665"/>
            <a:chOff x="533400" y="3631882"/>
            <a:chExt cx="4760595" cy="2272665"/>
          </a:xfrm>
        </p:grpSpPr>
        <p:sp>
          <p:nvSpPr>
            <p:cNvPr id="15" name="Rectangle 15"/>
            <p:cNvSpPr/>
            <p:nvPr/>
          </p:nvSpPr>
          <p:spPr>
            <a:xfrm>
              <a:off x="533400" y="3631882"/>
              <a:ext cx="476059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65232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41432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4421" y="3877151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6.3.1.4 覆盖技术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21862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将较大程序装入较小进程空间的技术。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6167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553902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只把全局代码和数据静态装入内存，其他部分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动态装入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2377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174932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后装入的成分使用先装入成分用过的存储区，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即覆盖先装入的成分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5815012" y="1587818"/>
            <a:ext cx="5627370" cy="2600801"/>
            <a:chOff x="5815012" y="1587818"/>
            <a:chExt cx="5627370" cy="2600801"/>
          </a:xfrm>
        </p:grpSpPr>
        <p:sp>
          <p:nvSpPr>
            <p:cNvPr id="25" name="Freeform 25"/>
            <p:cNvSpPr/>
            <p:nvPr/>
          </p:nvSpPr>
          <p:spPr>
            <a:xfrm>
              <a:off x="6950392" y="3088005"/>
              <a:ext cx="777240" cy="207645"/>
            </a:xfrm>
            <a:custGeom>
              <a:avLst/>
              <a:gdLst/>
              <a:ahLst/>
              <a:cxnLst/>
              <a:rect l="l" t="t" r="r" b="b"/>
              <a:pathLst>
                <a:path w="777240" h="207645">
                  <a:moveTo>
                    <a:pt x="0" y="0"/>
                  </a:moveTo>
                  <a:lnTo>
                    <a:pt x="777240" y="2076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7715250" y="3249930"/>
              <a:ext cx="103822" cy="91440"/>
            </a:xfrm>
            <a:custGeom>
              <a:avLst/>
              <a:gdLst/>
              <a:ahLst/>
              <a:cxnLst/>
              <a:rect l="l" t="t" r="r" b="b"/>
              <a:pathLst>
                <a:path w="103822" h="91440">
                  <a:moveTo>
                    <a:pt x="103822" y="70485"/>
                  </a:moveTo>
                  <a:lnTo>
                    <a:pt x="0" y="91440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958012" y="3738562"/>
              <a:ext cx="768668" cy="171450"/>
            </a:xfrm>
            <a:custGeom>
              <a:avLst/>
              <a:gdLst/>
              <a:ahLst/>
              <a:cxnLst/>
              <a:rect l="l" t="t" r="r" b="b"/>
              <a:pathLst>
                <a:path w="768668" h="171450">
                  <a:moveTo>
                    <a:pt x="0" y="171450"/>
                  </a:moveTo>
                  <a:lnTo>
                    <a:pt x="7686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7716202" y="3691890"/>
              <a:ext cx="102870" cy="92392"/>
            </a:xfrm>
            <a:custGeom>
              <a:avLst/>
              <a:gdLst/>
              <a:ahLst/>
              <a:cxnLst/>
              <a:rect l="l" t="t" r="r" b="b"/>
              <a:pathLst>
                <a:path w="102870" h="92392">
                  <a:moveTo>
                    <a:pt x="102870" y="25717"/>
                  </a:moveTo>
                  <a:lnTo>
                    <a:pt x="20955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530715" y="3088005"/>
              <a:ext cx="777240" cy="207645"/>
            </a:xfrm>
            <a:custGeom>
              <a:avLst/>
              <a:gdLst/>
              <a:ahLst/>
              <a:cxnLst/>
              <a:rect l="l" t="t" r="r" b="b"/>
              <a:pathLst>
                <a:path w="777240" h="207645">
                  <a:moveTo>
                    <a:pt x="777240" y="0"/>
                  </a:moveTo>
                  <a:lnTo>
                    <a:pt x="0" y="2076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9438322" y="324993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0485"/>
                  </a:moveTo>
                  <a:lnTo>
                    <a:pt x="80010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531668" y="3738562"/>
              <a:ext cx="767715" cy="171450"/>
            </a:xfrm>
            <a:custGeom>
              <a:avLst/>
              <a:gdLst/>
              <a:ahLst/>
              <a:cxnLst/>
              <a:rect l="l" t="t" r="r" b="b"/>
              <a:pathLst>
                <a:path w="767715" h="171450">
                  <a:moveTo>
                    <a:pt x="767715" y="1714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9438322" y="369189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25717"/>
                  </a:moveTo>
                  <a:lnTo>
                    <a:pt x="103822" y="0"/>
                  </a:lnTo>
                  <a:lnTo>
                    <a:pt x="82868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19072" y="1587818"/>
              <a:ext cx="16192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9072" y="2027872"/>
              <a:ext cx="16192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9072" y="2467928"/>
              <a:ext cx="16192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19072" y="2916555"/>
              <a:ext cx="1619250" cy="1238250"/>
            </a:xfrm>
            <a:prstGeom prst="roundRect">
              <a:avLst>
                <a:gd name="adj" fmla="val 769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012" y="2788920"/>
              <a:ext cx="114300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012" y="3888105"/>
              <a:ext cx="114300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99382" y="2788920"/>
              <a:ext cx="114300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99382" y="3888105"/>
              <a:ext cx="114300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96821" y="17368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符号表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1434" y="21769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公共例程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0659" y="26169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覆盖驱动程序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98930" y="3465671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覆盖区 50kb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61305" y="2868454"/>
              <a:ext cx="850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Pass1 30kb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61305" y="3968591"/>
              <a:ext cx="850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Pass2 50kb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45675" y="2868454"/>
              <a:ext cx="850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Pass3 40kb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45675" y="3968591"/>
              <a:ext cx="850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Pass4 25kb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98910" y="216503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← 常驻内存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598795" y="4857750"/>
            <a:ext cx="6059805" cy="1046798"/>
            <a:chOff x="5598795" y="4857750"/>
            <a:chExt cx="6059805" cy="1046798"/>
          </a:xfrm>
        </p:grpSpPr>
        <p:sp>
          <p:nvSpPr>
            <p:cNvPr id="51" name="Rectangle 51"/>
            <p:cNvSpPr/>
            <p:nvPr/>
          </p:nvSpPr>
          <p:spPr>
            <a:xfrm>
              <a:off x="5598795" y="4857750"/>
              <a:ext cx="6059805" cy="1046798"/>
            </a:xfrm>
            <a:prstGeom prst="roundRect">
              <a:avLst>
                <a:gd name="adj" fmla="val 1091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5281615"/>
              <a:ext cx="200023" cy="200023"/>
              <a:chOff x="5803583" y="528161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803583" y="52816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936933" y="5348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525" y="5138738"/>
              <a:ext cx="5063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四遍依次执行，每次只装一遍：覆盖区只需最大的 50kb，不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用覆盖要 30+50+40+25 = 145kb，省下 95kb。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分页式存储管理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内存和进程空间都切成等长的块，用页表把它们对上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6.3.2.1 页、页架与页表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地址映射、快表与有效访问时间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6.3.2.2 多级页表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6.3.2.3 反置页表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页式：内存和进程空间都切成 2ⁱ 大小的块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341245"/>
            <a:chOff x="533400" y="1524000"/>
            <a:chExt cx="5410200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463" y="1769269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 内存空间划分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764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静态等长，每块 2ⁱ，称为页架（frame）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65070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位物理地址时，页架号为 0 ~ 2^(n−i) − 1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800350"/>
              <a:ext cx="2488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个页架的首址是 k × 2ⁱ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13563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页架首址 + 页内地址 = 页架号 × 2ⁱ + 页内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</p:grpSp>
      <p:grpSp>
        <p:nvGrpSpPr>
          <p:cNvPr id="23" name="c1-cells-2"/>
          <p:cNvGrpSpPr/>
          <p:nvPr/>
        </p:nvGrpSpPr>
        <p:grpSpPr>
          <a:xfrm>
            <a:off x="527304" y="4055745"/>
            <a:ext cx="4559046" cy="419100"/>
            <a:chOff x="527304" y="4055745"/>
            <a:chExt cx="4559046" cy="419100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4191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76350" y="4055745"/>
              <a:ext cx="19050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21855" y="4191000"/>
              <a:ext cx="1413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页架号 f（n−i 位）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81350" y="4055745"/>
              <a:ext cx="19050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39375" y="4191000"/>
              <a:ext cx="1388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 d（i 位）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665345"/>
            <a:ext cx="5410200" cy="782955"/>
            <a:chOff x="533400" y="4665345"/>
            <a:chExt cx="5410200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46653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956810"/>
              <a:ext cx="200026" cy="200026"/>
              <a:chOff x="738188" y="4956810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9568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0234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50568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813935"/>
              <a:ext cx="4330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例：物理地址 16 位、页长 1K（i = 10），页架号占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位，共 2⁶ = 64 个页架。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2005965"/>
            <a:chOff x="6248400" y="1524000"/>
            <a:chExt cx="5410200" cy="200596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3463" y="1769269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 进程空间划分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75270" y="1768792"/>
              <a:ext cx="3605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静态等长，每块 2ⁱ，称为页面（page）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12979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进程有 l 页时，逻辑页号为 0 ~ l−1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2465070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页的首址是 k × 2ⁱ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280035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 = 逻辑页首址 + 页内地址 = 逻辑页号 × 2ⁱ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</a:t>
              </a:r>
            </a:p>
          </p:txBody>
        </p:sp>
      </p:grpSp>
      <p:grpSp>
        <p:nvGrpSpPr>
          <p:cNvPr id="47" name="c2-cells-2"/>
          <p:cNvGrpSpPr/>
          <p:nvPr/>
        </p:nvGrpSpPr>
        <p:grpSpPr>
          <a:xfrm>
            <a:off x="6242304" y="3720465"/>
            <a:ext cx="4559046" cy="419100"/>
            <a:chOff x="6242304" y="3720465"/>
            <a:chExt cx="4559046" cy="419100"/>
          </a:xfrm>
        </p:grpSpPr>
        <p:sp>
          <p:nvSpPr>
            <p:cNvPr id="42" name="TextBox 42"/>
            <p:cNvSpPr txBox="1"/>
            <p:nvPr/>
          </p:nvSpPr>
          <p:spPr>
            <a:xfrm>
              <a:off x="6242304" y="3855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91350" y="3720465"/>
              <a:ext cx="19050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2577" y="385572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逻辑页号 p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896350" y="3720465"/>
              <a:ext cx="19050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54375" y="3855720"/>
              <a:ext cx="1388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 d（i 位）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248400" y="4330065"/>
            <a:ext cx="5410200" cy="1118235"/>
            <a:chOff x="6248400" y="4330065"/>
            <a:chExt cx="5410200" cy="1118235"/>
          </a:xfrm>
        </p:grpSpPr>
        <p:sp>
          <p:nvSpPr>
            <p:cNvPr id="48" name="Rectangle 48"/>
            <p:cNvSpPr/>
            <p:nvPr/>
          </p:nvSpPr>
          <p:spPr>
            <a:xfrm>
              <a:off x="6248400" y="4330065"/>
              <a:ext cx="5410200" cy="1118235"/>
            </a:xfrm>
            <a:prstGeom prst="roundRect">
              <a:avLst>
                <a:gd name="adj" fmla="val 102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4789170"/>
              <a:ext cx="200026" cy="200026"/>
              <a:chOff x="6453188" y="478917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4789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48558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42088" y="48891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4646295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例：进程长 3500 字节、页长 1K，需要 ⌈3500 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1024⌉ = 4 页，逻辑页号 0 ~ 3。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9435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页长是 2 的幂，“页号 × 2ⁱ + 页内地址”就是把页号和页内地址两个二进制串拼起来，硬件不需要做乘法。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页表把逻辑页号对应到页架号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982980" y="1568291"/>
            <a:ext cx="4450080" cy="3987641"/>
            <a:chOff x="982980" y="1568291"/>
            <a:chExt cx="4450080" cy="3987641"/>
          </a:xfrm>
        </p:grpSpPr>
        <p:sp>
          <p:nvSpPr>
            <p:cNvPr id="7" name="Freeform 7"/>
            <p:cNvSpPr/>
            <p:nvPr/>
          </p:nvSpPr>
          <p:spPr>
            <a:xfrm>
              <a:off x="2030730" y="2448878"/>
              <a:ext cx="2165032" cy="320040"/>
            </a:xfrm>
            <a:custGeom>
              <a:avLst/>
              <a:gdLst/>
              <a:ahLst/>
              <a:cxnLst/>
              <a:rect l="l" t="t" r="r" b="b"/>
              <a:pathLst>
                <a:path w="2165032" h="320040">
                  <a:moveTo>
                    <a:pt x="0" y="320040"/>
                  </a:moveTo>
                  <a:lnTo>
                    <a:pt x="2165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89095" y="2402205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3338"/>
                  </a:moveTo>
                  <a:lnTo>
                    <a:pt x="13335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30730" y="3420428"/>
              <a:ext cx="2165032" cy="320040"/>
            </a:xfrm>
            <a:custGeom>
              <a:avLst/>
              <a:gdLst/>
              <a:ahLst/>
              <a:cxnLst/>
              <a:rect l="l" t="t" r="r" b="b"/>
              <a:pathLst>
                <a:path w="2165032" h="320040">
                  <a:moveTo>
                    <a:pt x="0" y="0"/>
                  </a:moveTo>
                  <a:lnTo>
                    <a:pt x="2165032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89095" y="3693795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0960"/>
                  </a:moveTo>
                  <a:lnTo>
                    <a:pt x="0" y="94297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30730" y="3043238"/>
              <a:ext cx="2167890" cy="641033"/>
            </a:xfrm>
            <a:custGeom>
              <a:avLst/>
              <a:gdLst/>
              <a:ahLst/>
              <a:cxnLst/>
              <a:rect l="l" t="t" r="r" b="b"/>
              <a:pathLst>
                <a:path w="2167890" h="641033">
                  <a:moveTo>
                    <a:pt x="0" y="641033"/>
                  </a:moveTo>
                  <a:lnTo>
                    <a:pt x="2167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85285" y="299751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8098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30730" y="4412932"/>
              <a:ext cx="2165032" cy="320040"/>
            </a:xfrm>
            <a:custGeom>
              <a:avLst/>
              <a:gdLst/>
              <a:ahLst/>
              <a:cxnLst/>
              <a:rect l="l" t="t" r="r" b="b"/>
              <a:pathLst>
                <a:path w="2165032" h="320040">
                  <a:moveTo>
                    <a:pt x="0" y="0"/>
                  </a:moveTo>
                  <a:lnTo>
                    <a:pt x="2165032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89095" y="468534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60960"/>
                  </a:moveTo>
                  <a:lnTo>
                    <a:pt x="0" y="94298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82980" y="2618422"/>
              <a:ext cx="1047750" cy="457200"/>
            </a:xfrm>
            <a:prstGeom prst="roundRect">
              <a:avLst>
                <a:gd name="adj" fmla="val 20833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" y="3114675"/>
              <a:ext cx="1047750" cy="457200"/>
            </a:xfrm>
            <a:prstGeom prst="roundRect">
              <a:avLst>
                <a:gd name="adj" fmla="val 20833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82980" y="3609975"/>
              <a:ext cx="1047750" cy="457200"/>
            </a:xfrm>
            <a:prstGeom prst="roundRect">
              <a:avLst>
                <a:gd name="adj" fmla="val 20833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82980" y="4106228"/>
              <a:ext cx="1047750" cy="457200"/>
            </a:xfrm>
            <a:prstGeom prst="roundRect">
              <a:avLst>
                <a:gd name="adj" fmla="val 20833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90060" y="1625918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90060" y="2122170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90060" y="2618422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90060" y="3114675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90060" y="3609975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90060" y="4106228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90060" y="4602480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90060" y="5098732"/>
              <a:ext cx="1143000" cy="457200"/>
            </a:xfrm>
            <a:prstGeom prst="roundRect">
              <a:avLst>
                <a:gd name="adj" fmla="val 208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06829" y="277701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第0页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6829" y="327326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第1页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6829" y="376856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第2页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6829" y="426481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第3页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12309" y="17845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7998" y="2280761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第15页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7998" y="2777014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第16页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12309" y="32732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17998" y="3768566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第22页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12309" y="4264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17998" y="4761071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第32页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12309" y="5257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9591" y="47096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21102" y="15682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内存空间（页架）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2685" y="1524000"/>
            <a:ext cx="5415915" cy="2539842"/>
            <a:chOff x="6242685" y="1524000"/>
            <a:chExt cx="5415915" cy="2539842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908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820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页架号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8567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4575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8567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4575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8567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4575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8567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4575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02970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2685" y="38438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左图进程的页表</a:t>
              </a:r>
            </a:p>
          </p:txBody>
        </p:sp>
      </p:grpSp>
      <p:grpSp>
        <p:nvGrpSpPr>
          <p:cNvPr id="67" name="c2-kv-2"/>
          <p:cNvGrpSpPr/>
          <p:nvPr/>
        </p:nvGrpSpPr>
        <p:grpSpPr>
          <a:xfrm>
            <a:off x="6240780" y="4234815"/>
            <a:ext cx="5417820" cy="1015365"/>
            <a:chOff x="6240780" y="4234815"/>
            <a:chExt cx="5417820" cy="1015365"/>
          </a:xfrm>
        </p:grpSpPr>
        <p:sp>
          <p:nvSpPr>
            <p:cNvPr id="62" name="TextBox 62"/>
            <p:cNvSpPr txBox="1"/>
            <p:nvPr/>
          </p:nvSpPr>
          <p:spPr>
            <a:xfrm>
              <a:off x="6240780" y="4234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3742" y="423481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每个进程一个，第 p 项存第 p 页所在的页架号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554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0780" y="46748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总页表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83742" y="4674870"/>
              <a:ext cx="42729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系统一个，记录每个页架是否空闲，可用 6.2.2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位示图等结构实现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进程的页在内存中不必连续，也不必按顺序存放；页表只按逻辑页号顺序排列，所以表项里不用再存页号。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页式地址映射：先查快表，查不到再查页表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48290" cy="293370"/>
            <a:chOff x="525780" y="1548765"/>
            <a:chExt cx="105482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48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映射 σ：(p, d) → (f, d) ∪ {Ω}，Ω 表示映射失败（产生中断）。p 不会是负数，越界检查 0 ≤ p ≤ l−1 只需比较上界。</a:t>
              </a:r>
            </a:p>
          </p:txBody>
        </p:sp>
      </p:grpSp>
      <p:grpSp>
        <p:nvGrpSpPr>
          <p:cNvPr id="49" name="c1-flow-1"/>
          <p:cNvGrpSpPr/>
          <p:nvPr/>
        </p:nvGrpSpPr>
        <p:grpSpPr>
          <a:xfrm>
            <a:off x="689610" y="2134552"/>
            <a:ext cx="10813732" cy="1854518"/>
            <a:chOff x="689610" y="2134552"/>
            <a:chExt cx="10813732" cy="1854518"/>
          </a:xfrm>
        </p:grpSpPr>
        <p:sp>
          <p:nvSpPr>
            <p:cNvPr id="9" name="Freeform 9"/>
            <p:cNvSpPr/>
            <p:nvPr/>
          </p:nvSpPr>
          <p:spPr>
            <a:xfrm>
              <a:off x="2602230" y="2531745"/>
              <a:ext cx="211455" cy="9525"/>
            </a:xfrm>
            <a:custGeom>
              <a:avLst/>
              <a:gdLst/>
              <a:ahLst/>
              <a:cxnLst/>
              <a:rect l="l" t="t" r="r" b="b"/>
              <a:pathLst>
                <a:path w="211455" h="9525">
                  <a:moveTo>
                    <a:pt x="0" y="0"/>
                  </a:moveTo>
                  <a:lnTo>
                    <a:pt x="21145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13685" y="24793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3460" y="2531745"/>
              <a:ext cx="4661535" cy="9525"/>
            </a:xfrm>
            <a:custGeom>
              <a:avLst/>
              <a:gdLst/>
              <a:ahLst/>
              <a:cxnLst/>
              <a:rect l="l" t="t" r="r" b="b"/>
              <a:pathLst>
                <a:path w="4661535" h="9525">
                  <a:moveTo>
                    <a:pt x="0" y="0"/>
                  </a:moveTo>
                  <a:lnTo>
                    <a:pt x="46615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484995" y="24793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0960" y="2928938"/>
              <a:ext cx="9525" cy="359092"/>
            </a:xfrm>
            <a:custGeom>
              <a:avLst/>
              <a:gdLst/>
              <a:ahLst/>
              <a:cxnLst/>
              <a:rect l="l" t="t" r="r" b="b"/>
              <a:pathLst>
                <a:path w="9525" h="359092">
                  <a:moveTo>
                    <a:pt x="0" y="0"/>
                  </a:moveTo>
                  <a:lnTo>
                    <a:pt x="0" y="3590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18572" y="32880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65070" y="3687128"/>
              <a:ext cx="453390" cy="9525"/>
            </a:xfrm>
            <a:custGeom>
              <a:avLst/>
              <a:gdLst/>
              <a:ahLst/>
              <a:cxnLst/>
              <a:rect l="l" t="t" r="r" b="b"/>
              <a:pathLst>
                <a:path w="453390" h="9525">
                  <a:moveTo>
                    <a:pt x="45339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0295" y="36347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23460" y="3687128"/>
              <a:ext cx="310515" cy="9525"/>
            </a:xfrm>
            <a:custGeom>
              <a:avLst/>
              <a:gdLst/>
              <a:ahLst/>
              <a:cxnLst/>
              <a:rect l="l" t="t" r="r" b="b"/>
              <a:pathLst>
                <a:path w="310515" h="9525">
                  <a:moveTo>
                    <a:pt x="0" y="0"/>
                  </a:moveTo>
                  <a:lnTo>
                    <a:pt x="31051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33975" y="36347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096000" y="2938462"/>
              <a:ext cx="4450080" cy="446722"/>
            </a:xfrm>
            <a:custGeom>
              <a:avLst/>
              <a:gdLst/>
              <a:ahLst/>
              <a:cxnLst/>
              <a:rect l="l" t="t" r="r" b="b"/>
              <a:pathLst>
                <a:path w="4450080" h="446722">
                  <a:moveTo>
                    <a:pt x="0" y="446722"/>
                  </a:moveTo>
                  <a:lnTo>
                    <a:pt x="0" y="237172"/>
                  </a:lnTo>
                  <a:lnTo>
                    <a:pt x="0" y="170497"/>
                  </a:lnTo>
                  <a:lnTo>
                    <a:pt x="0" y="104775"/>
                  </a:lnTo>
                  <a:lnTo>
                    <a:pt x="4450080" y="104775"/>
                  </a:lnTo>
                  <a:lnTo>
                    <a:pt x="445008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493692" y="28336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953250" y="3687128"/>
              <a:ext cx="358140" cy="9525"/>
            </a:xfrm>
            <a:custGeom>
              <a:avLst/>
              <a:gdLst/>
              <a:ahLst/>
              <a:cxnLst/>
              <a:rect l="l" t="t" r="r" b="b"/>
              <a:pathLst>
                <a:path w="358140" h="9525">
                  <a:moveTo>
                    <a:pt x="0" y="0"/>
                  </a:moveTo>
                  <a:lnTo>
                    <a:pt x="3581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311390" y="36347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9610" y="2229802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918460" y="2134552"/>
              <a:ext cx="1905000" cy="794385"/>
            </a:xfrm>
            <a:custGeom>
              <a:avLst/>
              <a:gdLst/>
              <a:ahLst/>
              <a:cxnLst/>
              <a:rect l="l" t="t" r="r" b="b"/>
              <a:pathLst>
                <a:path w="1905000" h="794385">
                  <a:moveTo>
                    <a:pt x="952500" y="0"/>
                  </a:moveTo>
                  <a:lnTo>
                    <a:pt x="1905000" y="397193"/>
                  </a:lnTo>
                  <a:lnTo>
                    <a:pt x="952500" y="794385"/>
                  </a:lnTo>
                  <a:lnTo>
                    <a:pt x="0" y="39719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589770" y="2229802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1545" y="3474720"/>
              <a:ext cx="1428750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918460" y="3392805"/>
              <a:ext cx="1905000" cy="588645"/>
            </a:xfrm>
            <a:custGeom>
              <a:avLst/>
              <a:gdLst/>
              <a:ahLst/>
              <a:cxnLst/>
              <a:rect l="l" t="t" r="r" b="b"/>
              <a:pathLst>
                <a:path w="1905000" h="588645">
                  <a:moveTo>
                    <a:pt x="952500" y="0"/>
                  </a:moveTo>
                  <a:lnTo>
                    <a:pt x="1905000" y="294323"/>
                  </a:lnTo>
                  <a:lnTo>
                    <a:pt x="952500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238750" y="3385185"/>
              <a:ext cx="171450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16165" y="3385185"/>
              <a:ext cx="1809750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4024" y="2345055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由程序确定逻辑地址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(p, 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20034" y="2345055"/>
              <a:ext cx="11018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 查快表得到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6564" y="2345055"/>
              <a:ext cx="13990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与 d 合并得物理地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6736" y="360330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33699" y="3603307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≤ l−1？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57444" y="3500438"/>
              <a:ext cx="12771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 和 p 查页表得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78674" y="3500438"/>
              <a:ext cx="12847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(p, f) 写入快表，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满则淘汰一个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25640" y="231552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59930" y="2342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99535" y="306895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776" y="30956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25078" y="34709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63368" y="34975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916805" y="34709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55096" y="34975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40065" y="282702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74355" y="28536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003732" y="347091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38022" y="3497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</p:grpSp>
      <p:grpSp>
        <p:nvGrpSpPr>
          <p:cNvPr id="58" name="c1-kv-2"/>
          <p:cNvGrpSpPr/>
          <p:nvPr/>
        </p:nvGrpSpPr>
        <p:grpSpPr>
          <a:xfrm>
            <a:off x="526161" y="4473416"/>
            <a:ext cx="11132439" cy="1121665"/>
            <a:chOff x="526161" y="4473416"/>
            <a:chExt cx="11132439" cy="1121665"/>
          </a:xfrm>
        </p:grpSpPr>
        <p:sp>
          <p:nvSpPr>
            <p:cNvPr id="50" name="TextBox 50"/>
            <p:cNvSpPr txBox="1"/>
            <p:nvPr/>
          </p:nvSpPr>
          <p:spPr>
            <a:xfrm>
              <a:off x="526161" y="4473416"/>
              <a:ext cx="1523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页表首址寄存器 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256854" y="4473416"/>
              <a:ext cx="5630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系统一个，存运行进程页表的起始地址（进程切换时从 PCB 装入）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7786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161" y="4894421"/>
              <a:ext cx="14730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页表长度寄存器 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56854" y="489442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系统一个，存运行进程的页表长度，用于越界检查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200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161" y="5316379"/>
              <a:ext cx="1129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快表（TLB）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56854" y="5316379"/>
              <a:ext cx="6695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系统一组联想寄存器，存最近用过的 (逻辑页号 p, 页架号 f)，按内容同时比较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9190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快表命中时不用访问内存中的页表，省下一次访存；未命中时查页表，并把结果补进快表，下次再用就快了。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例题：页式地址变换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33891" cy="278702"/>
            <a:chOff x="526161" y="1547336"/>
            <a:chExt cx="1053389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33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页长 1K（2¹⁰ 字节），页表长度 l = 4，页表 0→15、1→22、2→16、3→32。求逻辑地址 2500、3100、4100 对应的物理地址。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41195"/>
            <a:ext cx="6059805" cy="1823085"/>
            <a:chOff x="533400" y="1941195"/>
            <a:chExt cx="6059805" cy="18230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60579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9999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9689" y="2065496"/>
              <a:ext cx="47442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= a ÷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62263" y="2065496"/>
              <a:ext cx="66857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= a mod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8941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越界检查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6683" y="216550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页架号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92166" y="2065496"/>
              <a:ext cx="66857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f×1024+d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7403" y="267128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19722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66449" y="26712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50869" y="267128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7202" y="26712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3425" y="26712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16836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479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95275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7403" y="307705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19722" y="3077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07912" y="30770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0869" y="307705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≤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47202" y="30770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13425" y="30770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32796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537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7403" y="348281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19722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49375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2388" y="348281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 &gt; 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88665" y="34828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19191" y="34828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41195"/>
              <a:ext cx="6059805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77315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46008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437572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406265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254942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2"/>
          <p:cNvGrpSpPr/>
          <p:nvPr/>
        </p:nvGrpSpPr>
        <p:grpSpPr>
          <a:xfrm>
            <a:off x="533400" y="3939540"/>
            <a:ext cx="6059805" cy="729615"/>
            <a:chOff x="533400" y="3939540"/>
            <a:chExt cx="6059805" cy="729615"/>
          </a:xfrm>
        </p:grpSpPr>
        <p:sp>
          <p:nvSpPr>
            <p:cNvPr id="44" name="Rectangle 44"/>
            <p:cNvSpPr/>
            <p:nvPr/>
          </p:nvSpPr>
          <p:spPr>
            <a:xfrm>
              <a:off x="533400" y="393954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4200643"/>
              <a:ext cx="224134" cy="192560"/>
              <a:chOff x="726129" y="420064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4271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4200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4348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4086225"/>
              <a:ext cx="47800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易错：越界检查拿页号 p 和页表长度 l 比较。页内地址 d 只有 i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位，不会超出一页，不用检查。</a:t>
              </a:r>
            </a:p>
          </p:txBody>
        </p:sp>
      </p:grpSp>
      <p:grpSp>
        <p:nvGrpSpPr>
          <p:cNvPr id="68" name="c1-steps-3"/>
          <p:cNvGrpSpPr/>
          <p:nvPr/>
        </p:nvGrpSpPr>
        <p:grpSpPr>
          <a:xfrm>
            <a:off x="533400" y="4844415"/>
            <a:ext cx="6059804" cy="1358265"/>
            <a:chOff x="533400" y="4844415"/>
            <a:chExt cx="6059804" cy="1358265"/>
          </a:xfrm>
        </p:grpSpPr>
        <p:sp>
          <p:nvSpPr>
            <p:cNvPr id="51" name="Rectangle 51"/>
            <p:cNvSpPr/>
            <p:nvPr/>
          </p:nvSpPr>
          <p:spPr>
            <a:xfrm>
              <a:off x="533400" y="4844415"/>
              <a:ext cx="182975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6750" y="49777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6883" y="50482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" y="5380673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035" y="5667851"/>
              <a:ext cx="1113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 ÷ 2ⁱ，d = a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 2ⁱ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2439352" y="543782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648902" y="4844415"/>
              <a:ext cx="182975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782252" y="49777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72386" y="50482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5394" y="5380673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76538" y="5667851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≤ l−1 时查页表得 f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4553902" y="543782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763452" y="4844415"/>
              <a:ext cx="182975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4896802" y="49777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986936" y="50482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89944" y="5380673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1088" y="5667851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f × 2ⁱ + d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6898005" y="1941195"/>
            <a:ext cx="4760595" cy="4261485"/>
            <a:chOff x="6898005" y="1941195"/>
            <a:chExt cx="4760595" cy="4261485"/>
          </a:xfrm>
        </p:grpSpPr>
        <p:sp>
          <p:nvSpPr>
            <p:cNvPr id="69" name="Rectangle 69"/>
            <p:cNvSpPr/>
            <p:nvPr/>
          </p:nvSpPr>
          <p:spPr>
            <a:xfrm>
              <a:off x="6898005" y="1941195"/>
              <a:ext cx="4760595" cy="4261485"/>
            </a:xfrm>
            <a:prstGeom prst="roundRect">
              <a:avLst>
                <a:gd name="adj" fmla="val 31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07530" y="2074545"/>
              <a:ext cx="47625" cy="3994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8510" y="2133600"/>
              <a:ext cx="12973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94517" y="2167890"/>
              <a:ext cx="11633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用二进制看“拼接”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32304" y="2173605"/>
              <a:ext cx="121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 2500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23176" y="2610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528560" y="2486025"/>
              <a:ext cx="1300162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91201" y="2610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828722" y="2486025"/>
              <a:ext cx="13001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020317" y="2610802"/>
              <a:ext cx="916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01 1100 0100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23176" y="31480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物理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528560" y="3023235"/>
              <a:ext cx="130016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968755" y="314801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828722" y="3023235"/>
              <a:ext cx="13001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020317" y="3148012"/>
              <a:ext cx="916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01 1100 0100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137082" y="356997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93102" y="3513772"/>
              <a:ext cx="38456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 = 0x9C4，低 10 位是 d = 0x1C4 = 452，高位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p = 2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137082" y="41290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93102" y="4072890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 f = 16 = 10000₂，与 d 拼接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137082" y="443198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93102" y="4375785"/>
              <a:ext cx="3870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0x41C4 = 16 × 1024 + 452 = 16836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30398" cy="909257"/>
            <a:chOff x="520446" y="342900"/>
            <a:chExt cx="44303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30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快表与有效访问时间（EAT）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"/>
              <p:cNvSpPr txBox="1">
                <a:spLocks noGrp="1"/>
              </p:cNvSpPr>
              <p:nvPr/>
            </p:nvSpPr>
            <p:spPr>
              <a:xfrm>
                <a:off x="533400" y="1524000"/>
                <a:ext cx="627602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EAT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TLB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TLB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8" name="c1-table-2"/>
          <p:cNvGrpSpPr/>
          <p:nvPr/>
        </p:nvGrpSpPr>
        <p:grpSpPr>
          <a:xfrm>
            <a:off x="527685" y="2171700"/>
            <a:ext cx="6281737" cy="2317909"/>
            <a:chOff x="527685" y="2171700"/>
            <a:chExt cx="6281737" cy="2317909"/>
          </a:xfrm>
        </p:grpSpPr>
        <p:sp>
          <p:nvSpPr>
            <p:cNvPr id="8" name="Rectangle 8"/>
            <p:cNvSpPr/>
            <p:nvPr/>
          </p:nvSpPr>
          <p:spPr>
            <a:xfrm>
              <a:off x="533400" y="21717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5172" y="2307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83166" y="23074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要做的访问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6296" y="2307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所需时间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7560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快表命中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22348" y="275605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查快表 + 访问数据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34153" y="2756059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+ 100 = 120ns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641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06895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3180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快表未命中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2348" y="331803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查快表 + 查页表 + 访问数据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4153" y="3204686"/>
              <a:ext cx="12402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+ 100 + 100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220ns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404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8800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没有快表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22348" y="388000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 + 访问数据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34153" y="3880009"/>
              <a:ext cx="1451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+ 100 = 200ns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171700"/>
              <a:ext cx="627602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09762" y="21717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21568" y="21717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4269581"/>
              <a:ext cx="4142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设快表访问时间 20ns，内存访问时间 100ns，命中率 α = 98%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4635818"/>
            <a:ext cx="6276022" cy="1612582"/>
            <a:chOff x="533400" y="4635818"/>
            <a:chExt cx="6276022" cy="1612582"/>
          </a:xfrm>
        </p:grpSpPr>
        <p:sp>
          <p:nvSpPr>
            <p:cNvPr id="29" name="Rectangle 29"/>
            <p:cNvSpPr/>
            <p:nvPr/>
          </p:nvSpPr>
          <p:spPr>
            <a:xfrm>
              <a:off x="533400" y="4635818"/>
              <a:ext cx="627602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69168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8453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58" y="4881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222558"/>
              <a:ext cx="5149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EAT = 98% × (20 + 100) + 2% × (20 + 200) = 117.6 + 4.4 =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122ns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573" y="5839301"/>
              <a:ext cx="5001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只比直接访问一次内存（100ns）慢 22%；没有快表时要 200ns。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7114222" y="1524000"/>
            <a:ext cx="4544378" cy="3890487"/>
            <a:chOff x="7114222" y="1524000"/>
            <a:chExt cx="4544378" cy="3890487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2341" t="0" r="2341" b="0"/>
            <a:stretch>
              <a:fillRect/>
            </a:stretch>
          </p:blipFill>
          <p:spPr>
            <a:xfrm>
              <a:off x="7114222" y="1524000"/>
              <a:ext cx="4544378" cy="3575685"/>
            </a:xfrm>
            <a:prstGeom prst="roundRect">
              <a:avLst>
                <a:gd name="adj" fmla="val 3729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721702" y="519445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常用的几项抄在手边，查不到才去翻远处的大目录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7114222" y="5579745"/>
            <a:ext cx="4544378" cy="782955"/>
            <a:chOff x="7114222" y="5579745"/>
            <a:chExt cx="4544378" cy="782955"/>
          </a:xfrm>
        </p:grpSpPr>
        <p:sp>
          <p:nvSpPr>
            <p:cNvPr id="39" name="Rectangle 39"/>
            <p:cNvSpPr/>
            <p:nvPr/>
          </p:nvSpPr>
          <p:spPr>
            <a:xfrm>
              <a:off x="7114222" y="557974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06952" y="5867518"/>
              <a:ext cx="224134" cy="192560"/>
              <a:chOff x="7306952" y="586751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419023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306952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419023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620952" y="5728335"/>
              <a:ext cx="3549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易错：未命中时括号里是“快表时间 + 2 次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内存访问”，快表那 20ns 照样花掉了。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多级页表：单级页表太大，而且要连续存放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3129915"/>
            <a:chOff x="533400" y="1524000"/>
            <a:chExt cx="5842635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21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6.3.2.2 提出背景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内存空间成倍增长，进程虚拟空间成倍增加，单级页表需要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很大的连续内存空间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872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例：32 位进程地址空间，页长 4K 占 12 位，页号 20 位，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页表最多 2²⁰ 个表项；每项按 4 字节算，一个进程的页表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 4MB 连续内存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3855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多线程设计使进程虚拟空间不连续，出现空洞（hole），如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栈的预留空间没有页架对应，页表却要为它留表项，浪费内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844415"/>
            <a:ext cx="5842635" cy="782955"/>
            <a:chOff x="533400" y="4844415"/>
            <a:chExt cx="5842635" cy="782955"/>
          </a:xfrm>
        </p:grpSpPr>
        <p:sp>
          <p:nvSpPr>
            <p:cNvPr id="18" name="Rectangle 18"/>
            <p:cNvSpPr/>
            <p:nvPr/>
          </p:nvSpPr>
          <p:spPr>
            <a:xfrm>
              <a:off x="533400" y="484441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135882"/>
              <a:ext cx="200023" cy="200023"/>
              <a:chOff x="738188" y="5135882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135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202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99300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解决策略：二级或多级页表。把页表本身也分页，只为用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到的部分建内页表。</a:t>
              </a:r>
            </a:p>
          </p:txBody>
        </p:sp>
      </p:grpSp>
      <p:grpSp>
        <p:nvGrpSpPr>
          <p:cNvPr id="36" name="c2-cells-1"/>
          <p:cNvGrpSpPr/>
          <p:nvPr/>
        </p:nvGrpSpPr>
        <p:grpSpPr>
          <a:xfrm>
            <a:off x="6675120" y="1524000"/>
            <a:ext cx="4043362" cy="1009650"/>
            <a:chOff x="6675120" y="1524000"/>
            <a:chExt cx="4043362" cy="1009650"/>
          </a:xfrm>
        </p:grpSpPr>
        <p:sp>
          <p:nvSpPr>
            <p:cNvPr id="24" name="TextBox 24"/>
            <p:cNvSpPr txBox="1"/>
            <p:nvPr/>
          </p:nvSpPr>
          <p:spPr>
            <a:xfrm>
              <a:off x="6675120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98982" y="1524000"/>
              <a:ext cx="18097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104" y="1663541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页号 p（20 位）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08732" y="1524000"/>
              <a:ext cx="1809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02080" y="1663541"/>
              <a:ext cx="1423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 d（12 位）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75120" y="2254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二级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98982" y="2114550"/>
              <a:ext cx="12001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89079" y="225409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pi（10 位）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99132" y="2114550"/>
              <a:ext cx="12001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9229" y="225409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pj（10 位）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99282" y="2114550"/>
              <a:ext cx="1200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13126" y="2254091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d（12 位）</a:t>
              </a:r>
            </a:p>
          </p:txBody>
        </p:sp>
      </p:grpSp>
      <p:grpSp>
        <p:nvGrpSpPr>
          <p:cNvPr id="45" name="c2-kv-2"/>
          <p:cNvGrpSpPr/>
          <p:nvPr/>
        </p:nvGrpSpPr>
        <p:grpSpPr>
          <a:xfrm>
            <a:off x="6673215" y="2748915"/>
            <a:ext cx="4985385" cy="1455420"/>
            <a:chOff x="6673215" y="2748915"/>
            <a:chExt cx="4985385" cy="1455420"/>
          </a:xfrm>
        </p:grpSpPr>
        <p:sp>
          <p:nvSpPr>
            <p:cNvPr id="37" name="TextBox 37"/>
            <p:cNvSpPr txBox="1"/>
            <p:nvPr/>
          </p:nvSpPr>
          <p:spPr>
            <a:xfrm>
              <a:off x="6673215" y="27489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外页表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15250" y="2748915"/>
              <a:ext cx="3577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pi 索引，共 2¹⁰ 项，每项指向一张内页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33508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3215" y="34709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内页表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15250" y="3470910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pj 索引，每张 2¹⁰ 项，存页架号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7909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73215" y="39109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覆盖范围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5250" y="3910965"/>
              <a:ext cx="36174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一张内页表管 2¹⁰ 页，即 4MB 地址空间</a:t>
              </a:r>
            </a:p>
          </p:txBody>
        </p:sp>
      </p:grpSp>
      <p:grpSp>
        <p:nvGrpSpPr>
          <p:cNvPr id="47" name="c2-text-3"/>
          <p:cNvGrpSpPr/>
          <p:nvPr/>
        </p:nvGrpSpPr>
        <p:grpSpPr>
          <a:xfrm>
            <a:off x="6674358" y="4357211"/>
            <a:ext cx="4889429" cy="249364"/>
            <a:chOff x="6674358" y="4357211"/>
            <a:chExt cx="4889429" cy="249364"/>
          </a:xfrm>
        </p:grpSpPr>
        <p:sp>
          <p:nvSpPr>
            <p:cNvPr id="46" name="TextBox 46"/>
            <p:cNvSpPr txBox="1"/>
            <p:nvPr/>
          </p:nvSpPr>
          <p:spPr>
            <a:xfrm>
              <a:off x="6674358" y="4357211"/>
              <a:ext cx="4889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原课件英文说明：pi 是外页表的下标，pj 是在内页表中的位移。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二级页表：外页表指向内页表，空洞不建内页表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graph-1"/>
          <p:cNvGrpSpPr/>
          <p:nvPr/>
        </p:nvGrpSpPr>
        <p:grpSpPr>
          <a:xfrm>
            <a:off x="741045" y="1817370"/>
            <a:ext cx="5835015" cy="4499134"/>
            <a:chOff x="741045" y="1817370"/>
            <a:chExt cx="5835015" cy="4499134"/>
          </a:xfrm>
        </p:grpSpPr>
        <p:sp>
          <p:nvSpPr>
            <p:cNvPr id="7" name="Freeform 7"/>
            <p:cNvSpPr/>
            <p:nvPr/>
          </p:nvSpPr>
          <p:spPr>
            <a:xfrm>
              <a:off x="1884045" y="2119312"/>
              <a:ext cx="1179195" cy="250508"/>
            </a:xfrm>
            <a:custGeom>
              <a:avLst/>
              <a:gdLst/>
              <a:ahLst/>
              <a:cxnLst/>
              <a:rect l="l" t="t" r="r" b="b"/>
              <a:pathLst>
                <a:path w="1179195" h="250508">
                  <a:moveTo>
                    <a:pt x="0" y="250508"/>
                  </a:moveTo>
                  <a:lnTo>
                    <a:pt x="11791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52762" y="2072640"/>
              <a:ext cx="103822" cy="93345"/>
            </a:xfrm>
            <a:custGeom>
              <a:avLst/>
              <a:gdLst/>
              <a:ahLst/>
              <a:cxnLst/>
              <a:rect l="l" t="t" r="r" b="b"/>
              <a:pathLst>
                <a:path w="103822" h="93345">
                  <a:moveTo>
                    <a:pt x="103822" y="26670"/>
                  </a:moveTo>
                  <a:lnTo>
                    <a:pt x="2000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4045" y="3169920"/>
              <a:ext cx="1178242" cy="200977"/>
            </a:xfrm>
            <a:custGeom>
              <a:avLst/>
              <a:gdLst/>
              <a:ahLst/>
              <a:cxnLst/>
              <a:rect l="l" t="t" r="r" b="b"/>
              <a:pathLst>
                <a:path w="1178242" h="200977">
                  <a:moveTo>
                    <a:pt x="0" y="0"/>
                  </a:moveTo>
                  <a:lnTo>
                    <a:pt x="1178242" y="2009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54668" y="3323272"/>
              <a:ext cx="101917" cy="94298"/>
            </a:xfrm>
            <a:custGeom>
              <a:avLst/>
              <a:gdLst/>
              <a:ahLst/>
              <a:cxnLst/>
              <a:rect l="l" t="t" r="r" b="b"/>
              <a:pathLst>
                <a:path w="101917" h="94298">
                  <a:moveTo>
                    <a:pt x="101917" y="62865"/>
                  </a:moveTo>
                  <a:lnTo>
                    <a:pt x="0" y="94298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4045" y="4404360"/>
              <a:ext cx="1181100" cy="351473"/>
            </a:xfrm>
            <a:custGeom>
              <a:avLst/>
              <a:gdLst/>
              <a:ahLst/>
              <a:cxnLst/>
              <a:rect l="l" t="t" r="r" b="b"/>
              <a:pathLst>
                <a:path w="1181100" h="351473">
                  <a:moveTo>
                    <a:pt x="0" y="0"/>
                  </a:moveTo>
                  <a:lnTo>
                    <a:pt x="1181100" y="3514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50858" y="4710112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73342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13835" y="2007870"/>
              <a:ext cx="1419225" cy="9525"/>
            </a:xfrm>
            <a:custGeom>
              <a:avLst/>
              <a:gdLst/>
              <a:ahLst/>
              <a:cxnLst/>
              <a:rect l="l" t="t" r="r" b="b"/>
              <a:pathLst>
                <a:path w="1419225" h="9525">
                  <a:moveTo>
                    <a:pt x="0" y="0"/>
                  </a:moveTo>
                  <a:lnTo>
                    <a:pt x="1419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33060" y="1960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13835" y="2699385"/>
              <a:ext cx="1437322" cy="536258"/>
            </a:xfrm>
            <a:custGeom>
              <a:avLst/>
              <a:gdLst/>
              <a:ahLst/>
              <a:cxnLst/>
              <a:rect l="l" t="t" r="r" b="b"/>
              <a:pathLst>
                <a:path w="1437322" h="536258">
                  <a:moveTo>
                    <a:pt x="0" y="0"/>
                  </a:moveTo>
                  <a:lnTo>
                    <a:pt x="1437322" y="5362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34965" y="319087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13835" y="2914650"/>
              <a:ext cx="1423035" cy="419100"/>
            </a:xfrm>
            <a:custGeom>
              <a:avLst/>
              <a:gdLst/>
              <a:ahLst/>
              <a:cxnLst/>
              <a:rect l="l" t="t" r="r" b="b"/>
              <a:pathLst>
                <a:path w="1423035" h="419100">
                  <a:moveTo>
                    <a:pt x="0" y="419100"/>
                  </a:moveTo>
                  <a:lnTo>
                    <a:pt x="14230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23535" y="286893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9050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013835" y="4025265"/>
              <a:ext cx="1419225" cy="111442"/>
            </a:xfrm>
            <a:custGeom>
              <a:avLst/>
              <a:gdLst/>
              <a:ahLst/>
              <a:cxnLst/>
              <a:rect l="l" t="t" r="r" b="b"/>
              <a:pathLst>
                <a:path w="1419225" h="111442">
                  <a:moveTo>
                    <a:pt x="0" y="0"/>
                  </a:moveTo>
                  <a:lnTo>
                    <a:pt x="1419225" y="1114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429250" y="4089082"/>
              <a:ext cx="99060" cy="95250"/>
            </a:xfrm>
            <a:custGeom>
              <a:avLst/>
              <a:gdLst/>
              <a:ahLst/>
              <a:cxnLst/>
              <a:rect l="l" t="t" r="r" b="b"/>
              <a:pathLst>
                <a:path w="99060" h="95250">
                  <a:moveTo>
                    <a:pt x="99060" y="55245"/>
                  </a:moveTo>
                  <a:lnTo>
                    <a:pt x="0" y="95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13835" y="5036820"/>
              <a:ext cx="1423035" cy="419100"/>
            </a:xfrm>
            <a:custGeom>
              <a:avLst/>
              <a:gdLst/>
              <a:ahLst/>
              <a:cxnLst/>
              <a:rect l="l" t="t" r="r" b="b"/>
              <a:pathLst>
                <a:path w="1423035" h="419100">
                  <a:moveTo>
                    <a:pt x="0" y="0"/>
                  </a:moveTo>
                  <a:lnTo>
                    <a:pt x="1423035" y="419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23535" y="541020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2390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013835" y="5044440"/>
              <a:ext cx="1421130" cy="306705"/>
            </a:xfrm>
            <a:custGeom>
              <a:avLst/>
              <a:gdLst/>
              <a:ahLst/>
              <a:cxnLst/>
              <a:rect l="l" t="t" r="r" b="b"/>
              <a:pathLst>
                <a:path w="1421130" h="306705">
                  <a:moveTo>
                    <a:pt x="0" y="306705"/>
                  </a:moveTo>
                  <a:lnTo>
                    <a:pt x="14211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424488" y="4997768"/>
              <a:ext cx="103822" cy="93345"/>
            </a:xfrm>
            <a:custGeom>
              <a:avLst/>
              <a:gdLst/>
              <a:ahLst/>
              <a:cxnLst/>
              <a:rect l="l" t="t" r="r" b="b"/>
              <a:pathLst>
                <a:path w="103822" h="93345">
                  <a:moveTo>
                    <a:pt x="103822" y="26670"/>
                  </a:moveTo>
                  <a:lnTo>
                    <a:pt x="2000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1045" y="2282190"/>
              <a:ext cx="1143000" cy="41910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1045" y="2863215"/>
              <a:ext cx="1143000" cy="41910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1045" y="3443288"/>
              <a:ext cx="1143000" cy="419100"/>
            </a:xfrm>
            <a:prstGeom prst="roundRect">
              <a:avLst>
                <a:gd name="adj" fmla="val 909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1045" y="4024312"/>
              <a:ext cx="1143000" cy="41910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56585" y="1817370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56585" y="2349818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156585" y="3268980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56585" y="3801428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156585" y="4720590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156585" y="5253038"/>
              <a:ext cx="8572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28310" y="1817370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28310" y="2543175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28310" y="3268980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28310" y="3994785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528310" y="4720590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28310" y="5446395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1431" y="242601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外页表 项0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95720" y="3007043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项1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2107" y="358806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项2 空洞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95720" y="416814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项3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39061" y="19421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57431" y="247459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7431" y="339375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57431" y="392620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57431" y="48453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57431" y="537781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42422" y="194214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60792" y="266795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100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60792" y="339375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500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60792" y="411956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708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60792" y="484536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900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60792" y="557117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929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0668" y="60964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外页表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901010" y="609647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内页表（页表的页）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95696" y="60964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</p:grpSp>
      <p:grpSp>
        <p:nvGrpSpPr>
          <p:cNvPr id="74" name="c2-steps-1"/>
          <p:cNvGrpSpPr/>
          <p:nvPr/>
        </p:nvGrpSpPr>
        <p:grpSpPr>
          <a:xfrm>
            <a:off x="7330440" y="1533525"/>
            <a:ext cx="3432449" cy="1878615"/>
            <a:chOff x="7330440" y="1533525"/>
            <a:chExt cx="3432449" cy="1878615"/>
          </a:xfrm>
        </p:grpSpPr>
        <p:sp>
          <p:nvSpPr>
            <p:cNvPr id="61" name="Rectangle 61"/>
            <p:cNvSpPr/>
            <p:nvPr/>
          </p:nvSpPr>
          <p:spPr>
            <a:xfrm>
              <a:off x="746379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33044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2406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4192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查外页表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3063" y="1861661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pi 查外页表，得到内页表所在的位置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192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查内页表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43063" y="2512219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pj 查这张内页表，得到页架号 f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4192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43063" y="31627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与 d 合并得物理地址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7330440" y="3590925"/>
            <a:ext cx="4328160" cy="782955"/>
            <a:chOff x="7330440" y="3590925"/>
            <a:chExt cx="4328160" cy="782955"/>
          </a:xfrm>
        </p:grpSpPr>
        <p:sp>
          <p:nvSpPr>
            <p:cNvPr id="75" name="Rectangle 75"/>
            <p:cNvSpPr/>
            <p:nvPr/>
          </p:nvSpPr>
          <p:spPr>
            <a:xfrm>
              <a:off x="7330440" y="3590925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535228" y="3882390"/>
              <a:ext cx="200026" cy="200025"/>
              <a:chOff x="7535228" y="3882390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535228" y="38823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574966" y="39268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609682" y="40379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837170" y="3739515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外页表中对应空洞的表项没有内页表；访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问到空洞的表项时，再动态建立内页表。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7330440" y="4564380"/>
            <a:ext cx="4328160" cy="782955"/>
            <a:chOff x="7330440" y="4564380"/>
            <a:chExt cx="4328160" cy="782955"/>
          </a:xfrm>
        </p:grpSpPr>
        <p:sp>
          <p:nvSpPr>
            <p:cNvPr id="82" name="Rectangle 82"/>
            <p:cNvSpPr/>
            <p:nvPr/>
          </p:nvSpPr>
          <p:spPr>
            <a:xfrm>
              <a:off x="7330440" y="4564380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523169" y="4852153"/>
              <a:ext cx="224134" cy="192560"/>
              <a:chOff x="7523169" y="4852153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635240" y="49225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523169" y="48521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635240" y="50003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7837170" y="4712970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快表未命中时，一次访问要读外页表、内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页表、数据，共 3 次内存。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例题：拆分二级页表地址，比较各级页表的访问时间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card-1"/>
          <p:cNvGrpSpPr/>
          <p:nvPr/>
        </p:nvGrpSpPr>
        <p:grpSpPr>
          <a:xfrm>
            <a:off x="533400" y="1524000"/>
            <a:ext cx="5193982" cy="3999548"/>
            <a:chOff x="533400" y="1524000"/>
            <a:chExt cx="5193982" cy="3999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999548"/>
            </a:xfrm>
            <a:prstGeom prst="roundRect">
              <a:avLst>
                <a:gd name="adj" fmla="val 33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328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4547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位地址 0x00403A7C，页长 4K，pi、pj 各 10 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39829"/>
              <a:ext cx="4544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二进制：0000 0000 0100 0000 0011 1010 0111 1100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5335" y="2735580"/>
              <a:ext cx="474821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7265" y="28670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3385" y="28670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1050" y="28670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30877" y="28670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6720" y="3297555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5300" y="3297555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 10 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0657" y="3297555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00 0000 0001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7224" y="32975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5335" y="3591878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596640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6720" y="3727132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pj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15300" y="3727132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 10 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20657" y="372713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00 0000 0011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67224" y="37271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5335" y="402145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163" y="41576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15300" y="4157662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 12 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31808" y="4157662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1010 0111 1100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0347" y="4157662"/>
              <a:ext cx="1034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0xA7C = 2684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75335" y="2735580"/>
              <a:ext cx="474821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09712" y="27355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21268" y="27355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08132" y="27355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9239" y="4569142"/>
              <a:ext cx="4454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先查外页表第 1 项找到内页表，再查该内页表第 3 项得到 f，物理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 = f × 4096 + 2684。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032182" y="1524000"/>
            <a:ext cx="5626418" cy="1720215"/>
            <a:chOff x="6032182" y="1524000"/>
            <a:chExt cx="5626418" cy="1720215"/>
          </a:xfrm>
        </p:grpSpPr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5449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页表级数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1012" y="165544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未命中快表时访存次数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8231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无快表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15457" y="1655445"/>
              <a:ext cx="1133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有快表（98%）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4723" y="208502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430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2508" y="208502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200ns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54094" y="208502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122ns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4723" y="251555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943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02508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300ns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54094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124ns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24723" y="294608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9430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02508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500ns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54094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128ns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1524000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3136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4971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10126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formula7"/>
              <p:cNvSpPr txBox="1">
                <a:spLocks noGrp="1"/>
              </p:cNvSpPr>
              <p:nvPr/>
            </p:nvSpPr>
            <p:spPr>
              <a:xfrm>
                <a:off x="6032182" y="3429952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EA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98%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2%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128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ns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0" name="c2-card-3"/>
          <p:cNvGrpSpPr/>
          <p:nvPr/>
        </p:nvGrpSpPr>
        <p:grpSpPr>
          <a:xfrm>
            <a:off x="6032182" y="3977640"/>
            <a:ext cx="5626418" cy="1545908"/>
            <a:chOff x="6032182" y="3977640"/>
            <a:chExt cx="5626418" cy="1545908"/>
          </a:xfrm>
        </p:grpSpPr>
        <p:sp>
          <p:nvSpPr>
            <p:cNvPr id="65" name="Rectangle 65"/>
            <p:cNvSpPr/>
            <p:nvPr/>
          </p:nvSpPr>
          <p:spPr>
            <a:xfrm>
              <a:off x="6032182" y="3977640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1708" y="411099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74118" y="41814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64326" y="421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66879" y="4554379"/>
              <a:ext cx="492874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原课件二级页表地址变换图下写“一次访存的时间变为 5 倍”，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这句出自四级页表的讨论。二级页表未命中快表时要访存 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次，四级页表才是 5 次。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1" name="Rectangle 7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页表级数越多，未命中的代价越大；但快表命中率高时，平均访问时间只多出几纳秒。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反置页表：每个页架一个表项，表的大小固定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175510"/>
            <a:chOff x="533400" y="1524000"/>
            <a:chExt cx="5410200" cy="21755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传统页表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面向进程空间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4698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41030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每个进程的每个逻辑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页面一项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613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0180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进程空间很大时页表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57575" y="165735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8274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反置页表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9760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4196" y="209026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面向内存空间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97605" y="24698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4196" y="241030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每个内存页架一项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97605" y="27898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196" y="273034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全系统一张，大小固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244983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6915" y="254603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884295"/>
            <a:ext cx="5410200" cy="1594485"/>
            <a:chOff x="533400" y="3884295"/>
            <a:chExt cx="5410200" cy="1594485"/>
          </a:xfrm>
        </p:grpSpPr>
        <p:sp>
          <p:nvSpPr>
            <p:cNvPr id="28" name="Rectangle 28"/>
            <p:cNvSpPr/>
            <p:nvPr/>
          </p:nvSpPr>
          <p:spPr>
            <a:xfrm>
              <a:off x="533400" y="3884295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017645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08813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7644" y="4123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规模对比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2955" y="45215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9546" y="4461986"/>
              <a:ext cx="42614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1GB 内存、页长 4K：反置页表共 2³⁰ / 2¹² = 262144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项，与进程个数无关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2955" y="51130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546" y="5053489"/>
              <a:ext cx="47265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位进程的单级页表：每个进程最多 2²⁰ = 1048576 项</a:t>
              </a:r>
            </a:p>
          </p:txBody>
        </p:sp>
      </p:grpSp>
      <p:grpSp>
        <p:nvGrpSpPr>
          <p:cNvPr id="57" name="c2-flow-1"/>
          <p:cNvGrpSpPr/>
          <p:nvPr/>
        </p:nvGrpSpPr>
        <p:grpSpPr>
          <a:xfrm>
            <a:off x="6437948" y="1741170"/>
            <a:ext cx="5031105" cy="3625215"/>
            <a:chOff x="6437948" y="1741170"/>
            <a:chExt cx="5031105" cy="3625215"/>
          </a:xfrm>
        </p:grpSpPr>
        <p:sp>
          <p:nvSpPr>
            <p:cNvPr id="37" name="Freeform 37"/>
            <p:cNvSpPr/>
            <p:nvPr/>
          </p:nvSpPr>
          <p:spPr>
            <a:xfrm>
              <a:off x="7600950" y="2344102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548562" y="26736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600950" y="3381375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0"/>
                  </a:moveTo>
                  <a:lnTo>
                    <a:pt x="0" y="418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548562" y="3799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600950" y="4329112"/>
              <a:ext cx="9525" cy="507683"/>
            </a:xfrm>
            <a:custGeom>
              <a:avLst/>
              <a:gdLst/>
              <a:ahLst/>
              <a:cxnLst/>
              <a:rect l="l" t="t" r="r" b="b"/>
              <a:pathLst>
                <a:path w="9525" h="507683">
                  <a:moveTo>
                    <a:pt x="0" y="0"/>
                  </a:moveTo>
                  <a:lnTo>
                    <a:pt x="0" y="5076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548562" y="48367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763952" y="307943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38272" y="3027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37948" y="1741170"/>
              <a:ext cx="2326005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37948" y="2778442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37948" y="3904298"/>
              <a:ext cx="2326005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37948" y="4941570"/>
              <a:ext cx="2326005" cy="4248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43048" y="2867025"/>
              <a:ext cx="2326005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61226" y="1855470"/>
              <a:ext cx="1679448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程序给出逻辑地址 (pid,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p, d)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32854" y="2892742"/>
              <a:ext cx="1536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在反置页表中找内容为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(pid, p) 的表项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7706" y="4032885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该表项的序号就是页架号 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87650" y="5070158"/>
              <a:ext cx="1226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 (f, d)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53778" y="29956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找不到：产生中断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29525" y="355092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52766" y="35775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找到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8626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逻辑地址里要带进程标识 pid：不同进程可能有相同的页号 p，只有 (pid, p) 才能唯一确定一个页面。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反置页表查得慢，加散列表和快表提速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30568" y="1629728"/>
            <a:ext cx="5232082" cy="2389822"/>
            <a:chOff x="730568" y="1629728"/>
            <a:chExt cx="5232082" cy="2389822"/>
          </a:xfrm>
        </p:grpSpPr>
        <p:sp>
          <p:nvSpPr>
            <p:cNvPr id="7" name="Freeform 7"/>
            <p:cNvSpPr/>
            <p:nvPr/>
          </p:nvSpPr>
          <p:spPr>
            <a:xfrm>
              <a:off x="1940242" y="2067878"/>
              <a:ext cx="9525" cy="12383"/>
            </a:xfrm>
            <a:custGeom>
              <a:avLst/>
              <a:gdLst/>
              <a:ahLst/>
              <a:cxnLst/>
              <a:rect l="l" t="t" r="r" b="b"/>
              <a:pathLst>
                <a:path w="9525" h="12383">
                  <a:moveTo>
                    <a:pt x="0" y="0"/>
                  </a:moveTo>
                  <a:lnTo>
                    <a:pt x="0" y="123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080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30568" y="2499360"/>
              <a:ext cx="2295525" cy="650558"/>
            </a:xfrm>
            <a:custGeom>
              <a:avLst/>
              <a:gdLst/>
              <a:ahLst/>
              <a:cxnLst/>
              <a:rect l="l" t="t" r="r" b="b"/>
              <a:pathLst>
                <a:path w="2295525" h="650558">
                  <a:moveTo>
                    <a:pt x="0" y="0"/>
                  </a:moveTo>
                  <a:lnTo>
                    <a:pt x="1200150" y="0"/>
                  </a:lnTo>
                  <a:lnTo>
                    <a:pt x="1200150" y="650558"/>
                  </a:lnTo>
                  <a:lnTo>
                    <a:pt x="2295525" y="6505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26092" y="3097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476625"/>
              <a:ext cx="9525" cy="82867"/>
            </a:xfrm>
            <a:custGeom>
              <a:avLst/>
              <a:gdLst/>
              <a:ahLst/>
              <a:cxnLst/>
              <a:rect l="l" t="t" r="r" b="b"/>
              <a:pathLst>
                <a:path w="9525" h="82867">
                  <a:moveTo>
                    <a:pt x="0" y="8286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34766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30868" y="3149918"/>
              <a:ext cx="307658" cy="9525"/>
            </a:xfrm>
            <a:custGeom>
              <a:avLst/>
              <a:gdLst/>
              <a:ahLst/>
              <a:cxnLst/>
              <a:rect l="l" t="t" r="r" b="b"/>
              <a:pathLst>
                <a:path w="307658" h="9525">
                  <a:moveTo>
                    <a:pt x="0" y="0"/>
                  </a:moveTo>
                  <a:lnTo>
                    <a:pt x="30765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38525" y="3097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54692" y="2499360"/>
              <a:ext cx="1498282" cy="336233"/>
            </a:xfrm>
            <a:custGeom>
              <a:avLst/>
              <a:gdLst/>
              <a:ahLst/>
              <a:cxnLst/>
              <a:rect l="l" t="t" r="r" b="b"/>
              <a:pathLst>
                <a:path w="1498282" h="336233">
                  <a:moveTo>
                    <a:pt x="1498282" y="336233"/>
                  </a:moveTo>
                  <a:lnTo>
                    <a:pt x="1498282" y="126683"/>
                  </a:lnTo>
                  <a:lnTo>
                    <a:pt x="1498282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49918" y="24469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0568" y="1629728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0568" y="2185035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49618" y="2740342"/>
              <a:ext cx="2381250" cy="819150"/>
            </a:xfrm>
            <a:custGeom>
              <a:avLst/>
              <a:gdLst/>
              <a:ahLst/>
              <a:cxnLst/>
              <a:rect l="l" t="t" r="r" b="b"/>
              <a:pathLst>
                <a:path w="2381250" h="819150">
                  <a:moveTo>
                    <a:pt x="1190625" y="0"/>
                  </a:moveTo>
                  <a:lnTo>
                    <a:pt x="2381250" y="409575"/>
                  </a:lnTo>
                  <a:lnTo>
                    <a:pt x="1190625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0568" y="3581400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43300" y="2835592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82536" y="1759744"/>
              <a:ext cx="1715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 (pid, p, d)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341" y="2300764"/>
              <a:ext cx="19718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 h(pid, p) 算出表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2885" y="2951321"/>
              <a:ext cx="13947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表项的 (pid, p)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0716" y="3711416"/>
              <a:ext cx="1979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表项序号即 f，得 (f, 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1138" y="2951321"/>
              <a:ext cx="1963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冲突：继续查下一个候选表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07068" y="347853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49358" y="3505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56585" y="293370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90875" y="29603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27685" y="4315778"/>
            <a:ext cx="5632133" cy="2091214"/>
            <a:chOff x="527685" y="4315778"/>
            <a:chExt cx="5632133" cy="2091214"/>
          </a:xfrm>
        </p:grpSpPr>
        <p:sp>
          <p:nvSpPr>
            <p:cNvPr id="32" name="Rectangle 32"/>
            <p:cNvSpPr/>
            <p:nvPr/>
          </p:nvSpPr>
          <p:spPr>
            <a:xfrm>
              <a:off x="533400" y="4315778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6592" y="4451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11121" y="44515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79888" y="44515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59044" y="4451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9150" y="49001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08362" y="49001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77129" y="49001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3972" y="49001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2092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21398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2255" y="534876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08362" y="53487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77129" y="53487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83972" y="53487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6578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9150" y="57973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08362" y="57973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77129" y="57973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83972" y="57973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315778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772602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342322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11090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685" y="618696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原课件中采用散列技术的反置页表的表项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464618" y="1524000"/>
            <a:ext cx="5193982" cy="1365885"/>
            <a:chOff x="6464618" y="1524000"/>
            <a:chExt cx="5193982" cy="1365885"/>
          </a:xfrm>
        </p:grpSpPr>
        <p:sp>
          <p:nvSpPr>
            <p:cNvPr id="58" name="Rectangle 58"/>
            <p:cNvSpPr/>
            <p:nvPr/>
          </p:nvSpPr>
          <p:spPr>
            <a:xfrm>
              <a:off x="6464618" y="1524000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速度问题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76098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反置页表查找由表头起始，平均要查表长度的一半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717983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76098" y="244602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每次访存都要查，速度慢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464618" y="3080385"/>
            <a:ext cx="5193982" cy="1701165"/>
            <a:chOff x="6464618" y="3080385"/>
            <a:chExt cx="5193982" cy="1701165"/>
          </a:xfrm>
        </p:grpSpPr>
        <p:sp>
          <p:nvSpPr>
            <p:cNvPr id="67" name="Rectangle 67"/>
            <p:cNvSpPr/>
            <p:nvPr/>
          </p:nvSpPr>
          <p:spPr>
            <a:xfrm>
              <a:off x="6464618" y="308038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74168" y="32899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56476" y="33256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解决方案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674167" y="36537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36017" y="3696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75158" y="36671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在反置页表前增加一级杂凑表（散列表）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74167" y="39890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36017" y="40313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75158" y="40024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查杂凑表与反置页表至少需要两次访问内存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674167" y="43243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36017" y="4366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975158" y="43376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为进一步提高速度，用快表缓冲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464618" y="4972050"/>
            <a:ext cx="5193982" cy="782955"/>
            <a:chOff x="6464618" y="4972050"/>
            <a:chExt cx="5193982" cy="782955"/>
          </a:xfrm>
        </p:grpSpPr>
        <p:sp>
          <p:nvSpPr>
            <p:cNvPr id="80" name="Rectangle 80"/>
            <p:cNvSpPr/>
            <p:nvPr/>
          </p:nvSpPr>
          <p:spPr>
            <a:xfrm>
              <a:off x="6464618" y="497205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669405" y="5263515"/>
              <a:ext cx="200026" cy="200026"/>
              <a:chOff x="6669405" y="5263515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669405" y="5263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769418" y="5330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758305" y="53635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71348" y="5120640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快表命中时直接得到 f，杂凑表和反置页表都不用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分段式存储管理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按程序的逻辑单位分段，段是共享和保护的自然单位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6.3.3.1 段、段表与地址映射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例题：段式地址变换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12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6.3.3.2 段的共享与 UNIX 正文段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6.3.3.3 段的保护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091" cy="909257"/>
            <a:chOff x="520446" y="342900"/>
            <a:chExt cx="8389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段式：按程序单位分段，逻辑地址是 (段号, 段内地址)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916305" y="1634490"/>
            <a:ext cx="5076825" cy="1719263"/>
            <a:chOff x="916305" y="1634490"/>
            <a:chExt cx="5076825" cy="1719263"/>
          </a:xfrm>
        </p:grpSpPr>
        <p:sp>
          <p:nvSpPr>
            <p:cNvPr id="7" name="Freeform 7"/>
            <p:cNvSpPr/>
            <p:nvPr/>
          </p:nvSpPr>
          <p:spPr>
            <a:xfrm>
              <a:off x="2486978" y="1911668"/>
              <a:ext cx="1840230" cy="9525"/>
            </a:xfrm>
            <a:custGeom>
              <a:avLst/>
              <a:gdLst/>
              <a:ahLst/>
              <a:cxnLst/>
              <a:rect l="l" t="t" r="r" b="b"/>
              <a:pathLst>
                <a:path w="1840230" h="9525">
                  <a:moveTo>
                    <a:pt x="0" y="0"/>
                  </a:moveTo>
                  <a:lnTo>
                    <a:pt x="18402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327208" y="18640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208270" y="2188845"/>
              <a:ext cx="9525" cy="515302"/>
            </a:xfrm>
            <a:custGeom>
              <a:avLst/>
              <a:gdLst/>
              <a:ahLst/>
              <a:cxnLst/>
              <a:rect l="l" t="t" r="r" b="b"/>
              <a:pathLst>
                <a:path w="9525" h="515302">
                  <a:moveTo>
                    <a:pt x="0" y="0"/>
                  </a:moveTo>
                  <a:lnTo>
                    <a:pt x="0" y="5153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160645" y="27041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82228" y="3076575"/>
              <a:ext cx="1840230" cy="9525"/>
            </a:xfrm>
            <a:custGeom>
              <a:avLst/>
              <a:gdLst/>
              <a:ahLst/>
              <a:cxnLst/>
              <a:rect l="l" t="t" r="r" b="b"/>
              <a:pathLst>
                <a:path w="1840230" h="9525">
                  <a:moveTo>
                    <a:pt x="184023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86978" y="30289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6305" y="1634490"/>
              <a:ext cx="1570672" cy="554355"/>
            </a:xfrm>
            <a:prstGeom prst="roundRect">
              <a:avLst>
                <a:gd name="adj" fmla="val 1718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22458" y="1634490"/>
              <a:ext cx="1570672" cy="554355"/>
            </a:xfrm>
            <a:prstGeom prst="roundRect">
              <a:avLst>
                <a:gd name="adj" fmla="val 1718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22458" y="2799398"/>
              <a:ext cx="1570672" cy="554355"/>
            </a:xfrm>
            <a:prstGeom prst="roundRect">
              <a:avLst>
                <a:gd name="adj" fmla="val 1718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6305" y="2799398"/>
              <a:ext cx="1570672" cy="554355"/>
            </a:xfrm>
            <a:prstGeom prst="roundRect">
              <a:avLst>
                <a:gd name="adj" fmla="val 17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7384" y="1841659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main（段号 0）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87723" y="1841659"/>
              <a:ext cx="841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X（段号 1）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87723" y="3006566"/>
              <a:ext cx="841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Y（段号 2）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1570" y="3006566"/>
              <a:ext cx="841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D（段号 3）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30868" y="1825942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43117" y="1858328"/>
              <a:ext cx="623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 X 段 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884420" y="2408872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96669" y="2440305"/>
              <a:ext cx="623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 Y 段 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30868" y="2990850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3117" y="3022282"/>
              <a:ext cx="623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访问 D 段 a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33400" y="3649980"/>
            <a:ext cx="5842635" cy="2150745"/>
            <a:chOff x="533400" y="3649980"/>
            <a:chExt cx="5842635" cy="2150745"/>
          </a:xfrm>
        </p:grpSpPr>
        <p:sp>
          <p:nvSpPr>
            <p:cNvPr id="28" name="Rectangle 28"/>
            <p:cNvSpPr/>
            <p:nvPr/>
          </p:nvSpPr>
          <p:spPr>
            <a:xfrm>
              <a:off x="533400" y="3649980"/>
              <a:ext cx="584263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2312" y="37804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4998" y="37804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50274" y="3780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段内地址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79086" y="3780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段中内容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0741" y="4211002"/>
              <a:ext cx="376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02117" y="42110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13926" y="421100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40k−1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4899" y="4211002"/>
              <a:ext cx="1961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主程序，其中调用 X 段的 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053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51008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3798" y="464153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02117" y="46415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13926" y="464153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60k−1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44899" y="4641532"/>
              <a:ext cx="2147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子程序，在 e 处调用 Y 段的 f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934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03798" y="50711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02117" y="50711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13926" y="507111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80k−1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44899" y="5071110"/>
              <a:ext cx="2147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子程序，在 f 处访问 D 段的 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3654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537019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3798" y="550164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02117" y="55016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13926" y="550164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20k−1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44899" y="5501640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数据段，a 是其中的数据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649980"/>
              <a:ext cx="584263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580198" y="364998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515552" y="364998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034790" y="364998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1"/>
          <p:cNvGrpSpPr/>
          <p:nvPr/>
        </p:nvGrpSpPr>
        <p:grpSpPr>
          <a:xfrm>
            <a:off x="6680835" y="1524000"/>
            <a:ext cx="4977765" cy="1323022"/>
            <a:chOff x="6680835" y="1524000"/>
            <a:chExt cx="4977765" cy="1323022"/>
          </a:xfrm>
        </p:grpSpPr>
        <p:sp>
          <p:nvSpPr>
            <p:cNvPr id="59" name="Rectangle 59"/>
            <p:cNvSpPr/>
            <p:nvPr/>
          </p:nvSpPr>
          <p:spPr>
            <a:xfrm>
              <a:off x="6680835" y="1524000"/>
              <a:ext cx="4977765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165735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22770" y="1727835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90183" y="176355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 内存空间划分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5531" y="21007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动态异长，每区一段。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15531" y="2420779"/>
              <a:ext cx="33119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段首址 + 段内地址 = b′ + d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680835" y="3032760"/>
            <a:ext cx="4977765" cy="1594485"/>
            <a:chOff x="6680835" y="3032760"/>
            <a:chExt cx="4977765" cy="1594485"/>
          </a:xfrm>
        </p:grpSpPr>
        <p:sp>
          <p:nvSpPr>
            <p:cNvPr id="66" name="Rectangle 66"/>
            <p:cNvSpPr/>
            <p:nvPr/>
          </p:nvSpPr>
          <p:spPr>
            <a:xfrm>
              <a:off x="6680835" y="3032760"/>
              <a:ext cx="497776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316611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22770" y="3236595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0183" y="327231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 进程空间划分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15531" y="360949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若干段，每段一个程序单位（主程序、子程序、数据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等），每段都从 0 编址。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15531" y="4201001"/>
              <a:ext cx="39906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 = (段号 s, 段内地址 d)，是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二维地址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680835" y="4812982"/>
            <a:ext cx="4977765" cy="987742"/>
            <a:chOff x="6680835" y="4812982"/>
            <a:chExt cx="4977765" cy="987742"/>
          </a:xfrm>
        </p:grpSpPr>
        <p:sp>
          <p:nvSpPr>
            <p:cNvPr id="73" name="Rectangle 73"/>
            <p:cNvSpPr/>
            <p:nvPr/>
          </p:nvSpPr>
          <p:spPr>
            <a:xfrm>
              <a:off x="6680835" y="4812982"/>
              <a:ext cx="4977765" cy="987742"/>
            </a:xfrm>
            <a:prstGeom prst="roundRect">
              <a:avLst>
                <a:gd name="adj" fmla="val 115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885623" y="5206365"/>
              <a:ext cx="200026" cy="200025"/>
              <a:chOff x="6885623" y="520636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885623" y="52063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925361" y="52508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960077" y="53619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187946" y="5076349"/>
              <a:ext cx="406311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程序里写“调用 X 段 e”，编译后就是地址 (1, e)：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段号和段内地址分开给出。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段表记录每段的首址和长度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1038225" y="1553051"/>
            <a:ext cx="4464368" cy="3733324"/>
            <a:chOff x="1038225" y="1553051"/>
            <a:chExt cx="4464368" cy="3733324"/>
          </a:xfrm>
        </p:grpSpPr>
        <p:sp>
          <p:nvSpPr>
            <p:cNvPr id="7" name="Freeform 7"/>
            <p:cNvSpPr/>
            <p:nvPr/>
          </p:nvSpPr>
          <p:spPr>
            <a:xfrm>
              <a:off x="2054542" y="2270760"/>
              <a:ext cx="1966912" cy="9525"/>
            </a:xfrm>
            <a:custGeom>
              <a:avLst/>
              <a:gdLst/>
              <a:ahLst/>
              <a:cxnLst/>
              <a:rect l="l" t="t" r="r" b="b"/>
              <a:pathLst>
                <a:path w="1966912" h="9525">
                  <a:moveTo>
                    <a:pt x="0" y="0"/>
                  </a:moveTo>
                  <a:lnTo>
                    <a:pt x="19669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21455" y="22231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54542" y="3215640"/>
              <a:ext cx="1966912" cy="124777"/>
            </a:xfrm>
            <a:custGeom>
              <a:avLst/>
              <a:gdLst/>
              <a:ahLst/>
              <a:cxnLst/>
              <a:rect l="l" t="t" r="r" b="b"/>
              <a:pathLst>
                <a:path w="1966912" h="124777">
                  <a:moveTo>
                    <a:pt x="0" y="0"/>
                  </a:moveTo>
                  <a:lnTo>
                    <a:pt x="1966912" y="1247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18598" y="3293745"/>
              <a:ext cx="98108" cy="94297"/>
            </a:xfrm>
            <a:custGeom>
              <a:avLst/>
              <a:gdLst/>
              <a:ahLst/>
              <a:cxnLst/>
              <a:rect l="l" t="t" r="r" b="b"/>
              <a:pathLst>
                <a:path w="98108" h="94297">
                  <a:moveTo>
                    <a:pt x="98108" y="53340"/>
                  </a:moveTo>
                  <a:lnTo>
                    <a:pt x="0" y="94297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54542" y="4238625"/>
              <a:ext cx="1970723" cy="550545"/>
            </a:xfrm>
            <a:custGeom>
              <a:avLst/>
              <a:gdLst/>
              <a:ahLst/>
              <a:cxnLst/>
              <a:rect l="l" t="t" r="r" b="b"/>
              <a:pathLst>
                <a:path w="1970723" h="550545">
                  <a:moveTo>
                    <a:pt x="0" y="0"/>
                  </a:moveTo>
                  <a:lnTo>
                    <a:pt x="1970723" y="5505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11930" y="474345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54542" y="4536758"/>
              <a:ext cx="1968818" cy="375285"/>
            </a:xfrm>
            <a:custGeom>
              <a:avLst/>
              <a:gdLst/>
              <a:ahLst/>
              <a:cxnLst/>
              <a:rect l="l" t="t" r="r" b="b"/>
              <a:pathLst>
                <a:path w="1968818" h="375285">
                  <a:moveTo>
                    <a:pt x="0" y="375285"/>
                  </a:moveTo>
                  <a:lnTo>
                    <a:pt x="19688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13835" y="449008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8575"/>
                  </a:moveTo>
                  <a:lnTo>
                    <a:pt x="18098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38225" y="2040255"/>
              <a:ext cx="1016318" cy="461962"/>
            </a:xfrm>
            <a:prstGeom prst="roundRect">
              <a:avLst>
                <a:gd name="adj" fmla="val 2061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38225" y="2952750"/>
              <a:ext cx="1016318" cy="461962"/>
            </a:xfrm>
            <a:prstGeom prst="roundRect">
              <a:avLst>
                <a:gd name="adj" fmla="val 2061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38225" y="3865245"/>
              <a:ext cx="1016318" cy="461962"/>
            </a:xfrm>
            <a:prstGeom prst="roundRect">
              <a:avLst>
                <a:gd name="adj" fmla="val 2061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38225" y="4777740"/>
              <a:ext cx="1016318" cy="461962"/>
            </a:xfrm>
            <a:prstGeom prst="roundRect">
              <a:avLst>
                <a:gd name="adj" fmla="val 2061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16705" y="1606868"/>
              <a:ext cx="1385888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16705" y="2058352"/>
              <a:ext cx="1385888" cy="424815"/>
            </a:xfrm>
            <a:prstGeom prst="roundRect">
              <a:avLst>
                <a:gd name="adj" fmla="val 2242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16705" y="2597468"/>
              <a:ext cx="1385888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16705" y="3131820"/>
              <a:ext cx="1385888" cy="517208"/>
            </a:xfrm>
            <a:prstGeom prst="roundRect">
              <a:avLst>
                <a:gd name="adj" fmla="val 184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16705" y="3764280"/>
              <a:ext cx="1385888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16705" y="4201478"/>
              <a:ext cx="1385888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16705" y="4732020"/>
              <a:ext cx="1385888" cy="554355"/>
            </a:xfrm>
            <a:prstGeom prst="roundRect">
              <a:avLst>
                <a:gd name="adj" fmla="val 17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70006" y="2200751"/>
              <a:ext cx="351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94192" y="311324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94192" y="40257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4192" y="493918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9921" y="1702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29384" y="2200751"/>
              <a:ext cx="1159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100k：main 40k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9921" y="2739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50434" y="3320891"/>
              <a:ext cx="917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200k：X 60k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9921" y="3860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50434" y="4316254"/>
              <a:ext cx="917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300k：D 20k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50434" y="4939189"/>
              <a:ext cx="917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320k：Y 80k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38644" y="1553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458902" y="1524000"/>
            <a:ext cx="5199698" cy="2446497"/>
            <a:chOff x="6458902" y="1524000"/>
            <a:chExt cx="5199698" cy="2446497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1231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3747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段首址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1960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721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02091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28643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40k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2721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02091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200k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28643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60k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721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0209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28643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80k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2721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02091" y="33756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28643" y="33756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20k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1524000"/>
              <a:ext cx="5193982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8958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87171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58902" y="37504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左图进程的段表</a:t>
              </a:r>
            </a:p>
          </p:txBody>
        </p:sp>
      </p:grpSp>
      <p:grpSp>
        <p:nvGrpSpPr>
          <p:cNvPr id="76" name="c2-kv-2"/>
          <p:cNvGrpSpPr/>
          <p:nvPr/>
        </p:nvGrpSpPr>
        <p:grpSpPr>
          <a:xfrm>
            <a:off x="6457379" y="4135279"/>
            <a:ext cx="5201221" cy="1543622"/>
            <a:chOff x="6457379" y="4135279"/>
            <a:chExt cx="5201221" cy="1543622"/>
          </a:xfrm>
        </p:grpSpPr>
        <p:sp>
          <p:nvSpPr>
            <p:cNvPr id="65" name="TextBox 65"/>
            <p:cNvSpPr txBox="1"/>
            <p:nvPr/>
          </p:nvSpPr>
          <p:spPr>
            <a:xfrm>
              <a:off x="6457379" y="41352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68908" y="41352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每个进程一个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44405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57379" y="455628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68908" y="4556284"/>
              <a:ext cx="29870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系统一个，array of (addr, size)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48625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57379" y="497824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68908" y="4978241"/>
              <a:ext cx="430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段表首址寄存器 b、段表长度寄存器 l，系统各一个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52844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57379" y="54001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快表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68908" y="5400199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系统一组，项为 (s, b′, l′)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7" name="Rectangle 7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511" y="6004084"/>
              <a:ext cx="6729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段在内存中的先后与段号无关：本例 D 段（段号 3）放在 Y 段（段号 2）前面。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段式地址映射：段号、段内地址各做一次越界检查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53894" cy="308039"/>
            <a:chOff x="525399" y="1550194"/>
            <a:chExt cx="104538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538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映射 σ：(s, d) → (b′ + d) ∪ {Ω}。b′、l′ 是第 s 段的段首址和段长度；图中 s ≤ l−1 即原课件的 0 ≤ s ≤ l−1。</a:t>
              </a:r>
            </a:p>
          </p:txBody>
        </p:sp>
      </p:grpSp>
      <p:grpSp>
        <p:nvGrpSpPr>
          <p:cNvPr id="59" name="c1-flow-1"/>
          <p:cNvGrpSpPr/>
          <p:nvPr/>
        </p:nvGrpSpPr>
        <p:grpSpPr>
          <a:xfrm>
            <a:off x="689610" y="2087880"/>
            <a:ext cx="10808970" cy="1459230"/>
            <a:chOff x="689610" y="2087880"/>
            <a:chExt cx="10808970" cy="1459230"/>
          </a:xfrm>
        </p:grpSpPr>
        <p:sp>
          <p:nvSpPr>
            <p:cNvPr id="9" name="Freeform 9"/>
            <p:cNvSpPr/>
            <p:nvPr/>
          </p:nvSpPr>
          <p:spPr>
            <a:xfrm>
              <a:off x="2602230" y="2388870"/>
              <a:ext cx="187642" cy="9525"/>
            </a:xfrm>
            <a:custGeom>
              <a:avLst/>
              <a:gdLst/>
              <a:ahLst/>
              <a:cxnLst/>
              <a:rect l="l" t="t" r="r" b="b"/>
              <a:pathLst>
                <a:path w="187642" h="9525">
                  <a:moveTo>
                    <a:pt x="0" y="0"/>
                  </a:moveTo>
                  <a:lnTo>
                    <a:pt x="187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89872" y="2336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70960" y="2689860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8572" y="28270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47272" y="2388870"/>
              <a:ext cx="2440305" cy="9525"/>
            </a:xfrm>
            <a:custGeom>
              <a:avLst/>
              <a:gdLst/>
              <a:ahLst/>
              <a:cxnLst/>
              <a:rect l="l" t="t" r="r" b="b"/>
              <a:pathLst>
                <a:path w="2440305" h="9525">
                  <a:moveTo>
                    <a:pt x="0" y="0"/>
                  </a:moveTo>
                  <a:lnTo>
                    <a:pt x="244030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287578" y="2336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65070" y="3231832"/>
              <a:ext cx="477202" cy="9525"/>
            </a:xfrm>
            <a:custGeom>
              <a:avLst/>
              <a:gdLst/>
              <a:ahLst/>
              <a:cxnLst/>
              <a:rect l="l" t="t" r="r" b="b"/>
              <a:pathLst>
                <a:path w="477202" h="9525">
                  <a:moveTo>
                    <a:pt x="47720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0295" y="31794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799648" y="3231832"/>
              <a:ext cx="381953" cy="9525"/>
            </a:xfrm>
            <a:custGeom>
              <a:avLst/>
              <a:gdLst/>
              <a:ahLst/>
              <a:cxnLst/>
              <a:rect l="l" t="t" r="r" b="b"/>
              <a:pathLst>
                <a:path w="381953" h="9525">
                  <a:moveTo>
                    <a:pt x="0" y="0"/>
                  </a:moveTo>
                  <a:lnTo>
                    <a:pt x="38195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81600" y="31794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096000" y="2388870"/>
              <a:ext cx="1191578" cy="528638"/>
            </a:xfrm>
            <a:custGeom>
              <a:avLst/>
              <a:gdLst/>
              <a:ahLst/>
              <a:cxnLst/>
              <a:rect l="l" t="t" r="r" b="b"/>
              <a:pathLst>
                <a:path w="1191578" h="528638">
                  <a:moveTo>
                    <a:pt x="0" y="528638"/>
                  </a:moveTo>
                  <a:lnTo>
                    <a:pt x="0" y="319088"/>
                  </a:lnTo>
                  <a:lnTo>
                    <a:pt x="0" y="0"/>
                  </a:lnTo>
                  <a:lnTo>
                    <a:pt x="1086803" y="0"/>
                  </a:lnTo>
                  <a:lnTo>
                    <a:pt x="119157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287578" y="2336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249728" y="2388870"/>
              <a:ext cx="239078" cy="9525"/>
            </a:xfrm>
            <a:custGeom>
              <a:avLst/>
              <a:gdLst/>
              <a:ahLst/>
              <a:cxnLst/>
              <a:rect l="l" t="t" r="r" b="b"/>
              <a:pathLst>
                <a:path w="239078" h="9525">
                  <a:moveTo>
                    <a:pt x="0" y="0"/>
                  </a:moveTo>
                  <a:lnTo>
                    <a:pt x="23907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488805" y="2336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321040" y="2689860"/>
              <a:ext cx="9525" cy="218123"/>
            </a:xfrm>
            <a:custGeom>
              <a:avLst/>
              <a:gdLst/>
              <a:ahLst/>
              <a:cxnLst/>
              <a:rect l="l" t="t" r="r" b="b"/>
              <a:pathLst>
                <a:path w="9525" h="218123">
                  <a:moveTo>
                    <a:pt x="0" y="0"/>
                  </a:moveTo>
                  <a:lnTo>
                    <a:pt x="0" y="2181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268652" y="2907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546080" y="2607945"/>
              <a:ext cx="9525" cy="204788"/>
            </a:xfrm>
            <a:custGeom>
              <a:avLst/>
              <a:gdLst/>
              <a:ahLst/>
              <a:cxnLst/>
              <a:rect l="l" t="t" r="r" b="b"/>
              <a:pathLst>
                <a:path w="9525" h="204788">
                  <a:moveTo>
                    <a:pt x="0" y="0"/>
                  </a:moveTo>
                  <a:lnTo>
                    <a:pt x="0" y="204788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10493692" y="28127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610" y="216979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894648" y="2087880"/>
              <a:ext cx="1952625" cy="601980"/>
            </a:xfrm>
            <a:custGeom>
              <a:avLst/>
              <a:gdLst/>
              <a:ahLst/>
              <a:cxnLst/>
              <a:rect l="l" t="t" r="r" b="b"/>
              <a:pathLst>
                <a:path w="1952625" h="601980">
                  <a:moveTo>
                    <a:pt x="976312" y="0"/>
                  </a:moveTo>
                  <a:lnTo>
                    <a:pt x="1952625" y="300990"/>
                  </a:lnTo>
                  <a:lnTo>
                    <a:pt x="976312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92352" y="2087880"/>
              <a:ext cx="1857375" cy="601980"/>
            </a:xfrm>
            <a:custGeom>
              <a:avLst/>
              <a:gdLst/>
              <a:ahLst/>
              <a:cxnLst/>
              <a:rect l="l" t="t" r="r" b="b"/>
              <a:pathLst>
                <a:path w="1857375" h="601980">
                  <a:moveTo>
                    <a:pt x="928688" y="0"/>
                  </a:moveTo>
                  <a:lnTo>
                    <a:pt x="1857375" y="300990"/>
                  </a:lnTo>
                  <a:lnTo>
                    <a:pt x="928688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593580" y="2169795"/>
              <a:ext cx="19050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31545" y="3012758"/>
              <a:ext cx="1428750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942272" y="2931795"/>
              <a:ext cx="1857375" cy="601027"/>
            </a:xfrm>
            <a:custGeom>
              <a:avLst/>
              <a:gdLst/>
              <a:ahLst/>
              <a:cxnLst/>
              <a:rect l="l" t="t" r="r" b="b"/>
              <a:pathLst>
                <a:path w="1857375" h="601027">
                  <a:moveTo>
                    <a:pt x="928688" y="0"/>
                  </a:moveTo>
                  <a:lnTo>
                    <a:pt x="1857375" y="300038"/>
                  </a:lnTo>
                  <a:lnTo>
                    <a:pt x="928688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86375" y="2917508"/>
              <a:ext cx="1619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68540" y="3012758"/>
              <a:ext cx="1905000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41205" y="2917508"/>
              <a:ext cx="1809750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91759" y="2299811"/>
              <a:ext cx="1308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 (s, d)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60466" y="229981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在快表中？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13934" y="2299811"/>
              <a:ext cx="814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≤ l′−1？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28379" y="2299811"/>
              <a:ext cx="1435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b′ + d 得物理地址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2502" y="31427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段号越界中断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11240" y="3142774"/>
              <a:ext cx="719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≤ l−1？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96179" y="3033236"/>
              <a:ext cx="11996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 和 s 查段表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b′、l′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5309" y="31427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段内地址越界中断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40595" y="3033236"/>
              <a:ext cx="14109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(s, b′, l′) 写入快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表，满则淘汰一个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99535" y="271843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22776" y="274510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38838" y="217265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73128" y="21993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537460" y="30156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575750" y="30422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29188" y="30156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67478" y="30422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306878" y="217265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45168" y="21993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49615" y="275939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72856" y="2786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574655" y="2670810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97896" y="26974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未命中时并行</a:t>
              </a:r>
            </a:p>
          </p:txBody>
        </p:sp>
      </p:grpSp>
      <p:grpSp>
        <p:nvGrpSpPr>
          <p:cNvPr id="89" name="c1-table-2"/>
          <p:cNvGrpSpPr/>
          <p:nvPr/>
        </p:nvGrpSpPr>
        <p:grpSpPr>
          <a:xfrm>
            <a:off x="533400" y="3844290"/>
            <a:ext cx="11125200" cy="1795462"/>
            <a:chOff x="533400" y="3844290"/>
            <a:chExt cx="11125200" cy="1795462"/>
          </a:xfrm>
        </p:grpSpPr>
        <p:sp>
          <p:nvSpPr>
            <p:cNvPr id="60" name="Rectangle 60"/>
            <p:cNvSpPr/>
            <p:nvPr/>
          </p:nvSpPr>
          <p:spPr>
            <a:xfrm>
              <a:off x="533400" y="384429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8556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15813" y="3979069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查快表（段表同第 38 页）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2661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越界检查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37638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17861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访存次数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7755" y="4427696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30k)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53743" y="4427696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快表为空，未命中；查段表得 (320k, 80k)，写入快表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93881" y="4427696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3；30k &lt; 80k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14550" y="4427696"/>
              <a:ext cx="134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320k+30k = 350k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12004" y="4427696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2（段表、数据）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47367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474154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7755" y="4877276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70k)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753743" y="4877276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 (2, 320k, 80k)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75730" y="4877276"/>
              <a:ext cx="117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只查 70k &lt; 80k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14550" y="4877276"/>
              <a:ext cx="134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320k+70k = 390k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370475" y="4877276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1（数据）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51854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7755" y="5325904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85k)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753743" y="5325904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 (2, 320k, 80k)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54720" y="532590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85k ≥ 80k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65325" y="53259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段内越界中断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715102" y="53259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" y="384429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641158" y="38442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24612" y="38442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093392" y="38442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873615" y="38442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0" name="Rectangle 9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130" y="5991225"/>
              <a:ext cx="8314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和页式不同：段长各不相同，段内地址 d 可能超过段长，所以快表命中后也要检查 d ≤ l′−1。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例题：段式地址变换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40815" cy="308039"/>
            <a:chOff x="525399" y="1550194"/>
            <a:chExt cx="914081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408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段表同前：0 (100k, 40k)、1 (200k, 60k)、2 (320k, 80k)、3 (300k, 20k)，段表长度 l = 4。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67865"/>
            <a:ext cx="6924675" cy="3992880"/>
            <a:chOff x="533400" y="1967865"/>
            <a:chExt cx="6924675" cy="39928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924675" cy="7543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7715" y="2106930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(s, 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7387" y="22402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段号检查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55632" y="2106930"/>
              <a:ext cx="105727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查段表 b′、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92015" y="22402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段内检查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7945" y="22402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8760" y="299466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12k)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34076" y="299466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6970" y="299466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100k、40k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6581" y="2994660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12k &lt; 40k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19812" y="2861310"/>
              <a:ext cx="10153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100k+12k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718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476625"/>
              <a:ext cx="692467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8760" y="374904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15k)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4076" y="374904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6970" y="374904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320k、80k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6581" y="3749040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15k &lt; 80k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9812" y="3615690"/>
              <a:ext cx="10153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320k+15k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335k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2624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8760" y="450342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59k)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34076" y="450342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86970" y="450342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200k、60k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46581" y="4503420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59k &lt; 60k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9812" y="4370070"/>
              <a:ext cx="10153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200k+59k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259k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806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85385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8760" y="512445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25k)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34076" y="512445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≤ 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86970" y="512445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300k、20k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24116" y="5124450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25k ≥ 20k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4085" y="5124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段内越界中断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46830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7067" y="5612130"/>
              <a:ext cx="77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1k)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22718" y="561213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 &gt; 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21119" y="5612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40344" y="5612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4085" y="56121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段号越界中断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67865"/>
              <a:ext cx="6924675" cy="3992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775460" y="1967865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1967865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406265" y="1967865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92152" y="1967865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steps-1"/>
          <p:cNvGrpSpPr/>
          <p:nvPr/>
        </p:nvGrpSpPr>
        <p:grpSpPr>
          <a:xfrm>
            <a:off x="7762875" y="1977390"/>
            <a:ext cx="3518606" cy="2529173"/>
            <a:chOff x="7762875" y="1977390"/>
            <a:chExt cx="3518606" cy="2529173"/>
          </a:xfrm>
        </p:grpSpPr>
        <p:sp>
          <p:nvSpPr>
            <p:cNvPr id="52" name="Rectangle 52"/>
            <p:cNvSpPr/>
            <p:nvPr/>
          </p:nvSpPr>
          <p:spPr>
            <a:xfrm>
              <a:off x="7896225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762875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5649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762875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56499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762875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56499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762875" y="39290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56499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4355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查段号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5498" y="2304574"/>
              <a:ext cx="1520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与段表长度 l 比较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4355" y="266223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查段表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5498" y="295513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取出第 s 项的 b′、l′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4355" y="33127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查段内地址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5498" y="3606641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与段长 l′ 比较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4355" y="39633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75498" y="4257199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b′ + d（是加法，不是拼接）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7762875" y="4684395"/>
            <a:ext cx="3895725" cy="1275398"/>
            <a:chOff x="7762875" y="4684395"/>
            <a:chExt cx="3895725" cy="1275398"/>
          </a:xfrm>
        </p:grpSpPr>
        <p:sp>
          <p:nvSpPr>
            <p:cNvPr id="70" name="Rectangle 70"/>
            <p:cNvSpPr/>
            <p:nvPr/>
          </p:nvSpPr>
          <p:spPr>
            <a:xfrm>
              <a:off x="7762875" y="4684395"/>
              <a:ext cx="3895725" cy="1275398"/>
            </a:xfrm>
            <a:prstGeom prst="roundRect">
              <a:avLst>
                <a:gd name="adj" fmla="val 89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955604" y="5218866"/>
              <a:ext cx="224134" cy="192560"/>
              <a:chOff x="7955604" y="521886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067675" y="52892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55604" y="52188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067675" y="53670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269605" y="5079682"/>
              <a:ext cx="2929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易错：(3, 25k) 的段号合法，但 D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段只有 20k，照样越界。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段的共享：几个进程的段表项指向同一个段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847725" y="1651159"/>
            <a:ext cx="4960844" cy="3740944"/>
            <a:chOff x="847725" y="1651159"/>
            <a:chExt cx="4960844" cy="3740944"/>
          </a:xfrm>
        </p:grpSpPr>
        <p:sp>
          <p:nvSpPr>
            <p:cNvPr id="7" name="Freeform 7"/>
            <p:cNvSpPr/>
            <p:nvPr/>
          </p:nvSpPr>
          <p:spPr>
            <a:xfrm>
              <a:off x="2359342" y="2676525"/>
              <a:ext cx="1782128" cy="727710"/>
            </a:xfrm>
            <a:custGeom>
              <a:avLst/>
              <a:gdLst/>
              <a:ahLst/>
              <a:cxnLst/>
              <a:rect l="l" t="t" r="r" b="b"/>
              <a:pathLst>
                <a:path w="1782128" h="727710">
                  <a:moveTo>
                    <a:pt x="0" y="0"/>
                  </a:moveTo>
                  <a:lnTo>
                    <a:pt x="1782128" y="727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23372" y="335946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0962"/>
                  </a:moveTo>
                  <a:lnTo>
                    <a:pt x="0" y="88583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01265" y="3980498"/>
              <a:ext cx="1637347" cy="539115"/>
            </a:xfrm>
            <a:custGeom>
              <a:avLst/>
              <a:gdLst/>
              <a:ahLst/>
              <a:cxnLst/>
              <a:rect l="l" t="t" r="r" b="b"/>
              <a:pathLst>
                <a:path w="1637347" h="539115">
                  <a:moveTo>
                    <a:pt x="0" y="539115"/>
                  </a:moveTo>
                  <a:lnTo>
                    <a:pt x="16373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23372" y="393573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5240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47725" y="2196465"/>
              <a:ext cx="1847850" cy="480060"/>
            </a:xfrm>
            <a:prstGeom prst="roundRect">
              <a:avLst>
                <a:gd name="adj" fmla="val 7937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47725" y="4519612"/>
              <a:ext cx="1847850" cy="480060"/>
            </a:xfrm>
            <a:prstGeom prst="roundRect">
              <a:avLst>
                <a:gd name="adj" fmla="val 7937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29100" y="2053590"/>
              <a:ext cx="1385888" cy="517208"/>
            </a:xfrm>
            <a:prstGeom prst="roundRect">
              <a:avLst>
                <a:gd name="adj" fmla="val 736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29100" y="3029902"/>
              <a:ext cx="1385888" cy="1385888"/>
            </a:xfrm>
            <a:prstGeom prst="roundRect">
              <a:avLst>
                <a:gd name="adj" fmla="val 274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29100" y="4874895"/>
              <a:ext cx="1385888" cy="517208"/>
            </a:xfrm>
            <a:prstGeom prst="roundRect">
              <a:avLst>
                <a:gd name="adj" fmla="val 736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6055" y="2366486"/>
              <a:ext cx="1331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 段表 si：l′ | b′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6055" y="4689634"/>
              <a:ext cx="1331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 段表 sj：l′ | b′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73269" y="22426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36471" y="3652361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共享段（首址 b′，长 l′）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73269" y="50630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15256" y="16511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内存空间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464618" y="1524000"/>
            <a:ext cx="5193982" cy="2834640"/>
            <a:chOff x="6464618" y="1524000"/>
            <a:chExt cx="5193982" cy="2834640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2834640"/>
            </a:xfrm>
            <a:prstGeom prst="roundRect">
              <a:avLst>
                <a:gd name="adj" fmla="val 4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256794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06552" y="1727835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9924" y="1763554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6.3.3.2 如何实现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188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共享段表：系统一张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06552" y="2095500"/>
              <a:ext cx="474821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68490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7548" y="22269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共享计数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89695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3325" y="2226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段首址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58500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83388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6212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06814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41217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75619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06552" y="2951798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06552" y="2956560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57945" y="3087052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6212" y="3087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7965" y="30870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07943" y="30870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75619" y="3087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06552" y="338137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83388" y="3517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96212" y="35175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06814" y="35175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41217" y="35175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75619" y="35175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06552" y="2095500"/>
              <a:ext cx="474821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59992" y="20955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722995" y="20955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81198" y="20955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591800" y="20955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99314" y="3932396"/>
              <a:ext cx="465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进程段表（n 个）→ 共享段表（1 项）→ 共享段（1 个）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544378"/>
            <a:ext cx="5193982" cy="756285"/>
            <a:chOff x="6464618" y="4544378"/>
            <a:chExt cx="5193982" cy="756285"/>
          </a:xfrm>
        </p:grpSpPr>
        <p:sp>
          <p:nvSpPr>
            <p:cNvPr id="59" name="Rectangle 59"/>
            <p:cNvSpPr/>
            <p:nvPr/>
          </p:nvSpPr>
          <p:spPr>
            <a:xfrm>
              <a:off x="6464618" y="454437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4822508"/>
              <a:ext cx="200026" cy="200025"/>
              <a:chOff x="6669405" y="482250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4822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09144" y="4866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43859" y="4978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729" y="469153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共享计数表示有几个进程在用这个段。进程不再使用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时计数减 1，减到 0 才回收这段内存。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各进程的段表只要把该段的首址、段长写成同一组值（或指向共享段表的同一项），内存里就只需放一份。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24871" cy="909257"/>
            <a:chOff x="520446" y="342900"/>
            <a:chExt cx="53248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24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例：UNIX 用 text 结构共享正文段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057400"/>
            <a:chOff x="533400" y="1524000"/>
            <a:chExt cx="6059805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57400"/>
            </a:xfrm>
            <a:prstGeom prst="roundRect">
              <a:avLst>
                <a:gd name="adj" fmla="val 46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共享正文段表：最多 NTEXT 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11" y="1936480"/>
              <a:ext cx="3369780" cy="15655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 {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x_daddr;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在磁盘交换区上的地址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x_caddr;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在内存中的地址（已装入时）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x_size;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大小，以 64 字节为单位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*x_iptr;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指向可执行文件的 inode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x_count;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引用计数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x_ccount;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已装入内存的引用数 */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text[NTEXT];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NTEXT 40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756660"/>
            <a:ext cx="6059805" cy="1884998"/>
            <a:chOff x="533400" y="3756660"/>
            <a:chExt cx="6059805" cy="1884998"/>
          </a:xfrm>
        </p:grpSpPr>
        <p:sp>
          <p:nvSpPr>
            <p:cNvPr id="11" name="Rectangle 11"/>
            <p:cNvSpPr/>
            <p:nvPr/>
          </p:nvSpPr>
          <p:spPr>
            <a:xfrm>
              <a:off x="533400" y="3756660"/>
              <a:ext cx="6059805" cy="1884998"/>
            </a:xfrm>
            <a:prstGeom prst="roundRect">
              <a:avLst>
                <a:gd name="adj" fmla="val 50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9085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进程这一侧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11" y="4169140"/>
              <a:ext cx="2682075" cy="1393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 {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……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*p_textp;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 text 结构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{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……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u_tsize;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正文段大小 */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33" name="c2-table-1"/>
          <p:cNvGrpSpPr/>
          <p:nvPr/>
        </p:nvGrpSpPr>
        <p:grpSpPr>
          <a:xfrm>
            <a:off x="6898005" y="1524000"/>
            <a:ext cx="4760595" cy="2028825"/>
            <a:chOff x="6898005" y="1524000"/>
            <a:chExt cx="4760595" cy="2028825"/>
          </a:xfrm>
        </p:grpSpPr>
        <p:sp>
          <p:nvSpPr>
            <p:cNvPr id="15" name="Rectangle 15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1730" y="1648301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中的成分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4050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对应的共享机制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8017" y="2054066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 数组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9731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8017" y="2459831"/>
              <a:ext cx="1254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x_caddr、x_size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7315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共享段的段首址、段长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8017" y="286559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x_count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7315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共享计数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8017" y="327136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p_textp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97315" y="3271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进程到共享段表项的指针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89254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ard-2"/>
          <p:cNvGrpSpPr/>
          <p:nvPr/>
        </p:nvGrpSpPr>
        <p:grpSpPr>
          <a:xfrm>
            <a:off x="6898005" y="3728085"/>
            <a:ext cx="4760595" cy="1209675"/>
            <a:chOff x="6898005" y="3728085"/>
            <a:chExt cx="4760595" cy="1209675"/>
          </a:xfrm>
        </p:grpSpPr>
        <p:sp>
          <p:nvSpPr>
            <p:cNvPr id="34" name="Rectangle 34"/>
            <p:cNvSpPr/>
            <p:nvPr/>
          </p:nvSpPr>
          <p:spPr>
            <a:xfrm>
              <a:off x="6898005" y="3728085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386143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8510" y="3920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9950" y="3954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1652" y="4276725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同一个程序同时运行多次时，各进程的 p_textp 指向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text 项，代码在内存中只有一份。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6898005" y="5112068"/>
            <a:ext cx="4760595" cy="1209675"/>
            <a:chOff x="6898005" y="5112068"/>
            <a:chExt cx="4760595" cy="1209675"/>
          </a:xfrm>
        </p:grpSpPr>
        <p:sp>
          <p:nvSpPr>
            <p:cNvPr id="40" name="Rectangle 40"/>
            <p:cNvSpPr/>
            <p:nvPr/>
          </p:nvSpPr>
          <p:spPr>
            <a:xfrm>
              <a:off x="6898005" y="5112068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524541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8510" y="53044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9950" y="5338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21652" y="5661660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原课件注释缺少结束符 */，define 前缺 #，这里已补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分段式存储管理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段的保护：段表和快表里加上访问权限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7685" y="1524000"/>
            <a:ext cx="6065520" cy="2015967"/>
            <a:chOff x="527685" y="1524000"/>
            <a:chExt cx="6065520" cy="20159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009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78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9669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段首址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26917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共享段表入口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2239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10263" y="165544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34928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99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493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9458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712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2725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304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978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4993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0708" y="2515552"/>
              <a:ext cx="149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0160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6712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725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3304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978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4993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249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9458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6712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725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3304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3978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31635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22504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25564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7012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7591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8170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3319939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(1) 改进后的段表</a:t>
              </a:r>
            </a:p>
          </p:txBody>
        </p:sp>
      </p:grpSp>
      <p:grpSp>
        <p:nvGrpSpPr>
          <p:cNvPr id="83" name="c1-table-2"/>
          <p:cNvGrpSpPr/>
          <p:nvPr/>
        </p:nvGrpSpPr>
        <p:grpSpPr>
          <a:xfrm>
            <a:off x="527685" y="3681412"/>
            <a:ext cx="6065520" cy="2015967"/>
            <a:chOff x="527685" y="3681412"/>
            <a:chExt cx="6065520" cy="2015967"/>
          </a:xfrm>
        </p:grpSpPr>
        <p:sp>
          <p:nvSpPr>
            <p:cNvPr id="48" name="Rectangle 48"/>
            <p:cNvSpPr/>
            <p:nvPr/>
          </p:nvSpPr>
          <p:spPr>
            <a:xfrm>
              <a:off x="533400" y="3681412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0582" y="38128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10715" y="38128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02483" y="381285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段首址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16605" y="38128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47361" y="3812857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3008" y="38128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5481" y="42424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27834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00374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21467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70144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17869" y="4242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5367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4541520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5481" y="46729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003603" y="4672965"/>
              <a:ext cx="149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255950" y="46729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421467" y="46729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70144" y="46729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17869" y="46729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9672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65481" y="51034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027834" y="51034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300374" y="51034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421467" y="51034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270144" y="51034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17869" y="51034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3681412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498282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2649855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043362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4891088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39765" y="368141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7685" y="5477351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(2) 改进后的快表</a:t>
              </a:r>
            </a:p>
          </p:txBody>
        </p:sp>
      </p:grpSp>
      <p:grpSp>
        <p:nvGrpSpPr>
          <p:cNvPr id="97" name="c2-steps-1"/>
          <p:cNvGrpSpPr/>
          <p:nvPr/>
        </p:nvGrpSpPr>
        <p:grpSpPr>
          <a:xfrm>
            <a:off x="6898005" y="1533525"/>
            <a:ext cx="4026713" cy="1790128"/>
            <a:chOff x="6898005" y="1533525"/>
            <a:chExt cx="4026713" cy="1790128"/>
          </a:xfrm>
        </p:grpSpPr>
        <p:sp>
          <p:nvSpPr>
            <p:cNvPr id="84" name="Rectangle 84"/>
            <p:cNvSpPr/>
            <p:nvPr/>
          </p:nvSpPr>
          <p:spPr>
            <a:xfrm>
              <a:off x="7031355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898005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9162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898005" y="2775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99162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09866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防止地址越界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11009" y="1846898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s ≤ l−1 和 d ≤ l′−1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309866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防止操作越权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311009" y="2467927"/>
              <a:ext cx="3613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读要求 R = 1，写要求 W = 1，取指执行要求 E = 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09866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不满足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11009" y="3088957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产生中断，访问不进行</a:t>
              </a:r>
            </a:p>
          </p:txBody>
        </p:sp>
      </p:grpSp>
      <p:grpSp>
        <p:nvGrpSpPr>
          <p:cNvPr id="108" name="c2-card-2"/>
          <p:cNvGrpSpPr/>
          <p:nvPr/>
        </p:nvGrpSpPr>
        <p:grpSpPr>
          <a:xfrm>
            <a:off x="6898005" y="3499485"/>
            <a:ext cx="4760595" cy="2153602"/>
            <a:chOff x="6898005" y="3499485"/>
            <a:chExt cx="4760595" cy="2153602"/>
          </a:xfrm>
        </p:grpSpPr>
        <p:sp>
          <p:nvSpPr>
            <p:cNvPr id="98" name="Rectangle 98"/>
            <p:cNvSpPr/>
            <p:nvPr/>
          </p:nvSpPr>
          <p:spPr>
            <a:xfrm>
              <a:off x="6898005" y="3499485"/>
              <a:ext cx="4760595" cy="2153602"/>
            </a:xfrm>
            <a:prstGeom prst="roundRect">
              <a:avLst>
                <a:gd name="adj" fmla="val 6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907530" y="3632835"/>
              <a:ext cx="47625" cy="1886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139940" y="370332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234098" y="37390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598474" y="3743801"/>
              <a:ext cx="2380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 R=1、W=0、E=1 的段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7147560" y="41548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304151" y="409527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读取、执行其中的指令：允许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7147560" y="44748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304151" y="441531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向它写数据：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越权中断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133844" y="473106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共享的代码段通常就这样设置。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09" name="Rectangle 10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040511" y="6004084"/>
              <a:ext cx="9763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段是有意义的程序单位，整段设一种权限就行；页按固定长度切分，一页里可能同时有代码和数据，不便设置权限。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段页式存储管理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进程按段组织，每段再分页装入页架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段式与页式各有长处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6.3.4.1 基本原理：(s, p, d)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所需表目、寄存器与地址映射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四种存储管理方式对比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段页式：兼顾段式的共享保护和页式的无碎片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ompare-1"/>
          <p:cNvGrpSpPr/>
          <p:nvPr/>
        </p:nvGrpSpPr>
        <p:grpSpPr>
          <a:xfrm>
            <a:off x="533400" y="1524000"/>
            <a:ext cx="4760596" cy="1318260"/>
            <a:chOff x="533400" y="1524000"/>
            <a:chExt cx="4760596" cy="1318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132648" cy="1318260"/>
            </a:xfrm>
            <a:prstGeom prst="roundRect">
              <a:avLst>
                <a:gd name="adj" fmla="val 10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515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段式优于页式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便于共享和保护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161348" y="1524000"/>
              <a:ext cx="2132648" cy="1318260"/>
            </a:xfrm>
            <a:prstGeom prst="roundRect">
              <a:avLst>
                <a:gd name="adj" fmla="val 10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70872" y="1657350"/>
              <a:ext cx="47625" cy="10515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01377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页式优于段式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414712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72827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消除外部碎片问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2713672" y="198310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67012" y="2117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结合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032760"/>
            <a:ext cx="4760595" cy="2844165"/>
            <a:chOff x="533400" y="3032760"/>
            <a:chExt cx="4760595" cy="2844165"/>
          </a:xfrm>
        </p:grpSpPr>
        <p:sp>
          <p:nvSpPr>
            <p:cNvPr id="20" name="Rectangle 20"/>
            <p:cNvSpPr/>
            <p:nvPr/>
          </p:nvSpPr>
          <p:spPr>
            <a:xfrm>
              <a:off x="533400" y="3032760"/>
              <a:ext cx="4760595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16611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24231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4421" y="327802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6.3.4.1 基本原理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36061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36484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3619500"/>
              <a:ext cx="3615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内存空间划分：同页式，静态等长 2ⁱ 的页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架；物理地址 = (页架号, 页内地址) = (f,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d)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1050" y="45129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899" y="45552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2040" y="452628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进程空间划分：一个进程若干个段，一个段若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干个页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52101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51473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 = (段号, 逻辑页号, 页内地址) =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(s, p, d)</a:t>
              </a:r>
            </a:p>
          </p:txBody>
        </p:sp>
      </p:grpSp>
      <p:grpSp>
        <p:nvGrpSpPr>
          <p:cNvPr id="88" name="c2-graph-1"/>
          <p:cNvGrpSpPr/>
          <p:nvPr/>
        </p:nvGrpSpPr>
        <p:grpSpPr>
          <a:xfrm>
            <a:off x="6005512" y="1644491"/>
            <a:ext cx="5159693" cy="4366737"/>
            <a:chOff x="6005512" y="1644491"/>
            <a:chExt cx="5159693" cy="4366737"/>
          </a:xfrm>
        </p:grpSpPr>
        <p:sp>
          <p:nvSpPr>
            <p:cNvPr id="33" name="Freeform 33"/>
            <p:cNvSpPr/>
            <p:nvPr/>
          </p:nvSpPr>
          <p:spPr>
            <a:xfrm>
              <a:off x="8040052" y="2105025"/>
              <a:ext cx="2077403" cy="9525"/>
            </a:xfrm>
            <a:custGeom>
              <a:avLst/>
              <a:gdLst/>
              <a:ahLst/>
              <a:cxnLst/>
              <a:rect l="l" t="t" r="r" b="b"/>
              <a:pathLst>
                <a:path w="2077403" h="9525">
                  <a:moveTo>
                    <a:pt x="0" y="0"/>
                  </a:moveTo>
                  <a:lnTo>
                    <a:pt x="20774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117455" y="2057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040052" y="2660332"/>
              <a:ext cx="2082165" cy="658177"/>
            </a:xfrm>
            <a:custGeom>
              <a:avLst/>
              <a:gdLst/>
              <a:ahLst/>
              <a:cxnLst/>
              <a:rect l="l" t="t" r="r" b="b"/>
              <a:pathLst>
                <a:path w="2082165" h="658177">
                  <a:moveTo>
                    <a:pt x="0" y="0"/>
                  </a:moveTo>
                  <a:lnTo>
                    <a:pt x="2082165" y="6581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07930" y="327374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4295"/>
                  </a:moveTo>
                  <a:lnTo>
                    <a:pt x="0" y="90488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040052" y="2646045"/>
              <a:ext cx="2078355" cy="278130"/>
            </a:xfrm>
            <a:custGeom>
              <a:avLst/>
              <a:gdLst/>
              <a:ahLst/>
              <a:cxnLst/>
              <a:rect l="l" t="t" r="r" b="b"/>
              <a:pathLst>
                <a:path w="2078355" h="278130">
                  <a:moveTo>
                    <a:pt x="0" y="278130"/>
                  </a:moveTo>
                  <a:lnTo>
                    <a:pt x="20783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11740" y="259842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4290"/>
                  </a:moveTo>
                  <a:lnTo>
                    <a:pt x="13335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040052" y="3834765"/>
              <a:ext cx="2080260" cy="464820"/>
            </a:xfrm>
            <a:custGeom>
              <a:avLst/>
              <a:gdLst/>
              <a:ahLst/>
              <a:cxnLst/>
              <a:rect l="l" t="t" r="r" b="b"/>
              <a:pathLst>
                <a:path w="2080260" h="464820">
                  <a:moveTo>
                    <a:pt x="0" y="0"/>
                  </a:moveTo>
                  <a:lnTo>
                    <a:pt x="2080260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09835" y="4253865"/>
              <a:ext cx="102870" cy="92392"/>
            </a:xfrm>
            <a:custGeom>
              <a:avLst/>
              <a:gdLst/>
              <a:ahLst/>
              <a:cxnLst/>
              <a:rect l="l" t="t" r="r" b="b"/>
              <a:pathLst>
                <a:path w="102870" h="92392">
                  <a:moveTo>
                    <a:pt x="102870" y="66675"/>
                  </a:moveTo>
                  <a:lnTo>
                    <a:pt x="0" y="92392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40052" y="4273868"/>
              <a:ext cx="2080260" cy="484823"/>
            </a:xfrm>
            <a:custGeom>
              <a:avLst/>
              <a:gdLst/>
              <a:ahLst/>
              <a:cxnLst/>
              <a:rect l="l" t="t" r="r" b="b"/>
              <a:pathLst>
                <a:path w="2080260" h="484823">
                  <a:moveTo>
                    <a:pt x="0" y="0"/>
                  </a:moveTo>
                  <a:lnTo>
                    <a:pt x="2080260" y="4848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08882" y="4712970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67627"/>
                  </a:moveTo>
                  <a:lnTo>
                    <a:pt x="0" y="92392"/>
                  </a:lnTo>
                  <a:lnTo>
                    <a:pt x="2190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040052" y="4149090"/>
              <a:ext cx="2082165" cy="684847"/>
            </a:xfrm>
            <a:custGeom>
              <a:avLst/>
              <a:gdLst/>
              <a:ahLst/>
              <a:cxnLst/>
              <a:rect l="l" t="t" r="r" b="b"/>
              <a:pathLst>
                <a:path w="2082165" h="684847">
                  <a:moveTo>
                    <a:pt x="0" y="684847"/>
                  </a:moveTo>
                  <a:lnTo>
                    <a:pt x="2082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107930" y="410432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5240"/>
                  </a:moveTo>
                  <a:lnTo>
                    <a:pt x="29527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040052" y="5448300"/>
              <a:ext cx="2078355" cy="292418"/>
            </a:xfrm>
            <a:custGeom>
              <a:avLst/>
              <a:gdLst/>
              <a:ahLst/>
              <a:cxnLst/>
              <a:rect l="l" t="t" r="r" b="b"/>
              <a:pathLst>
                <a:path w="2078355" h="292418">
                  <a:moveTo>
                    <a:pt x="0" y="0"/>
                  </a:moveTo>
                  <a:lnTo>
                    <a:pt x="2078355" y="2924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111740" y="569309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0960"/>
                  </a:moveTo>
                  <a:lnTo>
                    <a:pt x="0" y="94297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040052" y="5445442"/>
              <a:ext cx="2078355" cy="325755"/>
            </a:xfrm>
            <a:custGeom>
              <a:avLst/>
              <a:gdLst/>
              <a:ahLst/>
              <a:cxnLst/>
              <a:rect l="l" t="t" r="r" b="b"/>
              <a:pathLst>
                <a:path w="2078355" h="325755">
                  <a:moveTo>
                    <a:pt x="0" y="325755"/>
                  </a:moveTo>
                  <a:lnTo>
                    <a:pt x="20783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111740" y="5398770"/>
              <a:ext cx="100965" cy="93345"/>
            </a:xfrm>
            <a:custGeom>
              <a:avLst/>
              <a:gdLst/>
              <a:ahLst/>
              <a:cxnLst/>
              <a:rect l="l" t="t" r="r" b="b"/>
              <a:pathLst>
                <a:path w="100965" h="93345">
                  <a:moveTo>
                    <a:pt x="100965" y="32385"/>
                  </a:moveTo>
                  <a:lnTo>
                    <a:pt x="14288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78052" y="1924050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78052" y="2359342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278052" y="2794635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78052" y="3569018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78052" y="4004310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78052" y="4778692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78052" y="5213985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78052" y="5649278"/>
              <a:ext cx="762000" cy="361950"/>
            </a:xfrm>
            <a:prstGeom prst="roundRect">
              <a:avLst>
                <a:gd name="adj" fmla="val 1052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12705" y="1924050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12705" y="2387918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12705" y="2852738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12705" y="3317558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212705" y="3781425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212705" y="4246245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212705" y="4711065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212705" y="5174932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212705" y="5639752"/>
              <a:ext cx="952500" cy="3619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42228" y="2039302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42228" y="24745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42228" y="290988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42228" y="368427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42228" y="4119562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42228" y="489394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42228" y="532923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42228" y="5765483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2页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31315" y="2039302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25页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531315" y="2504123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31315" y="296799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27页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531315" y="34328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28页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531315" y="389763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29页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31315" y="436149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30页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31315" y="482631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31页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31315" y="529113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32页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531315" y="575500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33页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005512" y="251507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第0段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05512" y="391906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第1段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05512" y="537067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51789" y="16444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81691" y="16444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内存空间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段页式的表目：段表找到页表，页表给出页架号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415915" cy="2015967"/>
            <a:chOff x="527685" y="1524000"/>
            <a:chExt cx="5415915" cy="20159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586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5691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页表首址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91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页表长度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0758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46730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4057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80758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46730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057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80758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6730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4057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2883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3383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19939"/>
              <a:ext cx="4135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(1) 段表：每个进程一个，项为（页表首址 b′, 页表长度 l′）</a:t>
              </a:r>
            </a:p>
          </p:txBody>
        </p:sp>
      </p:grpSp>
      <p:grpSp>
        <p:nvGrpSpPr>
          <p:cNvPr id="55" name="c1-cells-2"/>
          <p:cNvGrpSpPr/>
          <p:nvPr/>
        </p:nvGrpSpPr>
        <p:grpSpPr>
          <a:xfrm>
            <a:off x="527685" y="3681412"/>
            <a:ext cx="2677478" cy="2130267"/>
            <a:chOff x="527685" y="3681412"/>
            <a:chExt cx="2677478" cy="2130267"/>
          </a:xfrm>
        </p:grpSpPr>
        <p:sp>
          <p:nvSpPr>
            <p:cNvPr id="28" name="TextBox 28"/>
            <p:cNvSpPr txBox="1"/>
            <p:nvPr/>
          </p:nvSpPr>
          <p:spPr>
            <a:xfrm>
              <a:off x="527685" y="3814286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 0 页表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64920" y="3681412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95983" y="38142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11668" y="3681412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42730" y="38142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58415" y="3681412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789478" y="38142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53651" y="4141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00398" y="4141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7146" y="4141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7685" y="4568666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 1 页表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64920" y="4434840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95983" y="45686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11668" y="4434840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42730" y="45686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53651" y="4895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00398" y="4895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685" y="5322094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 2 页表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264920" y="5189220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495983" y="53220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911668" y="5189220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142730" y="53220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558415" y="5189220"/>
              <a:ext cx="64674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89478" y="53220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53651" y="5649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00398" y="5649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47146" y="56497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57" name="c1-text-3"/>
          <p:cNvGrpSpPr/>
          <p:nvPr/>
        </p:nvGrpSpPr>
        <p:grpSpPr>
          <a:xfrm>
            <a:off x="527304" y="5981700"/>
            <a:ext cx="3881171" cy="234696"/>
            <a:chOff x="527304" y="5981700"/>
            <a:chExt cx="3881171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527304" y="5981700"/>
              <a:ext cx="3881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(2) 页表：每段一个，下标为逻辑页号，内容为页架号</a:t>
              </a:r>
            </a:p>
          </p:txBody>
        </p:sp>
      </p:grpSp>
      <p:grpSp>
        <p:nvGrpSpPr>
          <p:cNvPr id="69" name="c2-kv-1"/>
          <p:cNvGrpSpPr/>
          <p:nvPr/>
        </p:nvGrpSpPr>
        <p:grpSpPr>
          <a:xfrm>
            <a:off x="6241161" y="1547336"/>
            <a:ext cx="5417439" cy="2078927"/>
            <a:chOff x="6241161" y="1547336"/>
            <a:chExt cx="5417439" cy="2078927"/>
          </a:xfrm>
        </p:grpSpPr>
        <p:sp>
          <p:nvSpPr>
            <p:cNvPr id="58" name="TextBox 58"/>
            <p:cNvSpPr txBox="1"/>
            <p:nvPr/>
          </p:nvSpPr>
          <p:spPr>
            <a:xfrm>
              <a:off x="6241161" y="15473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总页表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422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系统一个，记录各页架是否空闲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1161" y="1969294"/>
              <a:ext cx="12768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段表基址寄存器</a:t>
              </a:r>
              <a:br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4221" y="19692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保存正运行程序的段表首址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5431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1161" y="2658904"/>
              <a:ext cx="14730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段表限长寄存器 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64221" y="265890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保存正运行程序的段表长度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29641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1161" y="30799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快表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64221" y="3079909"/>
              <a:ext cx="346798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一组联想寄存器（快段表 + 快页表），项为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(段号 s, 逻辑页号 p, 页架号 f)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6248400" y="3756660"/>
            <a:ext cx="5410200" cy="756285"/>
            <a:chOff x="6248400" y="3756660"/>
            <a:chExt cx="5410200" cy="756285"/>
          </a:xfrm>
        </p:grpSpPr>
        <p:sp>
          <p:nvSpPr>
            <p:cNvPr id="70" name="Rectangle 70"/>
            <p:cNvSpPr/>
            <p:nvPr/>
          </p:nvSpPr>
          <p:spPr>
            <a:xfrm>
              <a:off x="6248400" y="375666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441129" y="4030146"/>
              <a:ext cx="224134" cy="192560"/>
              <a:chOff x="6441129" y="403014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553200" y="41005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441129" y="40301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53200" y="41783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755511" y="3903821"/>
              <a:ext cx="43426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段表项里存的是页表的首址和长度，不再是段首址和段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长；段在内存中不连续，连续的只是它的页表。</a:t>
              </a:r>
            </a:p>
          </p:txBody>
        </p:sp>
      </p:grpSp>
      <p:grpSp>
        <p:nvGrpSpPr>
          <p:cNvPr id="91" name="c2-card-3"/>
          <p:cNvGrpSpPr/>
          <p:nvPr/>
        </p:nvGrpSpPr>
        <p:grpSpPr>
          <a:xfrm>
            <a:off x="6248400" y="4697730"/>
            <a:ext cx="5410200" cy="1662112"/>
            <a:chOff x="6248400" y="4697730"/>
            <a:chExt cx="5410200" cy="1662112"/>
          </a:xfrm>
        </p:grpSpPr>
        <p:sp>
          <p:nvSpPr>
            <p:cNvPr id="77" name="Rectangle 77"/>
            <p:cNvSpPr/>
            <p:nvPr/>
          </p:nvSpPr>
          <p:spPr>
            <a:xfrm>
              <a:off x="6248400" y="469773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257925" y="483108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90335" y="490156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585445" y="49372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48868" y="4941094"/>
              <a:ext cx="2175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(2, 1, d) 所在的页架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90335" y="528066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48680" y="53209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81229" y="5293519"/>
              <a:ext cx="3636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查段表第 2 项：页表首址 b2′，页表长度 3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490335" y="560070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48680" y="56410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81229" y="5613559"/>
              <a:ext cx="33215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3−1，查这张页表的第 1 项：f = 33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490335" y="592074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48680" y="59610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781229" y="5933599"/>
              <a:ext cx="1687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(33, d)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段页式地址映射：查段表得页表，查页表得页架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465301" cy="278702"/>
            <a:chOff x="526161" y="1547336"/>
            <a:chExt cx="846530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465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映射 σ：(s, p, d) → (f, d) ∪ {Ω}。图中 s ≤ l−1、p ≤ l′−1 即原课件的 0 ≤ s ≤ l−1、0 ≤ p ≤ l′−1。</a:t>
              </a:r>
            </a:p>
          </p:txBody>
        </p:sp>
      </p:grpSp>
      <p:grpSp>
        <p:nvGrpSpPr>
          <p:cNvPr id="63" name="c1-flow-1"/>
          <p:cNvGrpSpPr/>
          <p:nvPr/>
        </p:nvGrpSpPr>
        <p:grpSpPr>
          <a:xfrm>
            <a:off x="666750" y="1976438"/>
            <a:ext cx="10850880" cy="1784032"/>
            <a:chOff x="666750" y="1976438"/>
            <a:chExt cx="10850880" cy="1784032"/>
          </a:xfrm>
        </p:grpSpPr>
        <p:sp>
          <p:nvSpPr>
            <p:cNvPr id="9" name="Freeform 9"/>
            <p:cNvSpPr/>
            <p:nvPr/>
          </p:nvSpPr>
          <p:spPr>
            <a:xfrm>
              <a:off x="2254568" y="2265045"/>
              <a:ext cx="164783" cy="9525"/>
            </a:xfrm>
            <a:custGeom>
              <a:avLst/>
              <a:gdLst/>
              <a:ahLst/>
              <a:cxnLst/>
              <a:rect l="l" t="t" r="r" b="b"/>
              <a:pathLst>
                <a:path w="164783" h="9525">
                  <a:moveTo>
                    <a:pt x="0" y="0"/>
                  </a:moveTo>
                  <a:lnTo>
                    <a:pt x="16478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19350" y="22126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05275" y="2265045"/>
              <a:ext cx="5759768" cy="9525"/>
            </a:xfrm>
            <a:custGeom>
              <a:avLst/>
              <a:gdLst/>
              <a:ahLst/>
              <a:cxnLst/>
              <a:rect l="l" t="t" r="r" b="b"/>
              <a:pathLst>
                <a:path w="5759768" h="9525">
                  <a:moveTo>
                    <a:pt x="0" y="0"/>
                  </a:moveTo>
                  <a:lnTo>
                    <a:pt x="575976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865042" y="22126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14700" y="2465070"/>
              <a:ext cx="9525" cy="56197"/>
            </a:xfrm>
            <a:custGeom>
              <a:avLst/>
              <a:gdLst/>
              <a:ahLst/>
              <a:cxnLst/>
              <a:rect l="l" t="t" r="r" b="b"/>
              <a:pathLst>
                <a:path w="9525" h="56197">
                  <a:moveTo>
                    <a:pt x="0" y="0"/>
                  </a:moveTo>
                  <a:lnTo>
                    <a:pt x="0" y="56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62312" y="25212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31708" y="2913698"/>
              <a:ext cx="289560" cy="9525"/>
            </a:xfrm>
            <a:custGeom>
              <a:avLst/>
              <a:gdLst/>
              <a:ahLst/>
              <a:cxnLst/>
              <a:rect l="l" t="t" r="r" b="b"/>
              <a:pathLst>
                <a:path w="289560" h="9525">
                  <a:moveTo>
                    <a:pt x="28956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126932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108132" y="2913698"/>
              <a:ext cx="218122" cy="9525"/>
            </a:xfrm>
            <a:custGeom>
              <a:avLst/>
              <a:gdLst/>
              <a:ahLst/>
              <a:cxnLst/>
              <a:rect l="l" t="t" r="r" b="b"/>
              <a:pathLst>
                <a:path w="218122" h="9525">
                  <a:moveTo>
                    <a:pt x="0" y="0"/>
                  </a:moveTo>
                  <a:lnTo>
                    <a:pt x="21812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26255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907405" y="2913698"/>
              <a:ext cx="217170" cy="9525"/>
            </a:xfrm>
            <a:custGeom>
              <a:avLst/>
              <a:gdLst/>
              <a:ahLst/>
              <a:cxnLst/>
              <a:rect l="l" t="t" r="r" b="b"/>
              <a:pathLst>
                <a:path w="217170" h="9525">
                  <a:moveTo>
                    <a:pt x="0" y="0"/>
                  </a:moveTo>
                  <a:lnTo>
                    <a:pt x="2171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124575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817168" y="2913698"/>
              <a:ext cx="217170" cy="9525"/>
            </a:xfrm>
            <a:custGeom>
              <a:avLst/>
              <a:gdLst/>
              <a:ahLst/>
              <a:cxnLst/>
              <a:rect l="l" t="t" r="r" b="b"/>
              <a:pathLst>
                <a:path w="217170" h="9525">
                  <a:moveTo>
                    <a:pt x="0" y="0"/>
                  </a:moveTo>
                  <a:lnTo>
                    <a:pt x="2171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4338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022782" y="3201352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0"/>
                  </a:move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70395" y="32565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77300" y="2588895"/>
              <a:ext cx="1854518" cy="70485"/>
            </a:xfrm>
            <a:custGeom>
              <a:avLst/>
              <a:gdLst/>
              <a:ahLst/>
              <a:cxnLst/>
              <a:rect l="l" t="t" r="r" b="b"/>
              <a:pathLst>
                <a:path w="1854518" h="70485">
                  <a:moveTo>
                    <a:pt x="0" y="35242"/>
                  </a:moveTo>
                  <a:lnTo>
                    <a:pt x="0" y="0"/>
                  </a:lnTo>
                  <a:lnTo>
                    <a:pt x="1854518" y="0"/>
                  </a:lnTo>
                  <a:lnTo>
                    <a:pt x="1854518" y="70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679430" y="2554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615488" y="2913698"/>
              <a:ext cx="225743" cy="9525"/>
            </a:xfrm>
            <a:custGeom>
              <a:avLst/>
              <a:gdLst/>
              <a:ahLst/>
              <a:cxnLst/>
              <a:rect l="l" t="t" r="r" b="b"/>
              <a:pathLst>
                <a:path w="225743" h="9525">
                  <a:moveTo>
                    <a:pt x="0" y="0"/>
                  </a:moveTo>
                  <a:lnTo>
                    <a:pt x="2257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41230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" y="1976438"/>
              <a:ext cx="1587818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24125" y="2065972"/>
              <a:ext cx="15811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969818" y="1976438"/>
              <a:ext cx="1524000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3432" y="2713672"/>
              <a:ext cx="1333500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521268" y="2626042"/>
              <a:ext cx="1586865" cy="575310"/>
            </a:xfrm>
            <a:custGeom>
              <a:avLst/>
              <a:gdLst/>
              <a:ahLst/>
              <a:cxnLst/>
              <a:rect l="l" t="t" r="r" b="b"/>
              <a:pathLst>
                <a:path w="1586865" h="575310">
                  <a:moveTo>
                    <a:pt x="793433" y="0"/>
                  </a:moveTo>
                  <a:lnTo>
                    <a:pt x="1586865" y="287655"/>
                  </a:lnTo>
                  <a:lnTo>
                    <a:pt x="79343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31030" y="2624138"/>
              <a:ext cx="147637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229350" y="2626042"/>
              <a:ext cx="1587818" cy="575310"/>
            </a:xfrm>
            <a:custGeom>
              <a:avLst/>
              <a:gdLst/>
              <a:ahLst/>
              <a:cxnLst/>
              <a:rect l="l" t="t" r="r" b="b"/>
              <a:pathLst>
                <a:path w="1587818" h="575310">
                  <a:moveTo>
                    <a:pt x="793432" y="0"/>
                  </a:moveTo>
                  <a:lnTo>
                    <a:pt x="1587818" y="287655"/>
                  </a:lnTo>
                  <a:lnTo>
                    <a:pt x="793432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39112" y="2624138"/>
              <a:ext cx="147637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946005" y="2624138"/>
              <a:ext cx="1571625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08408" y="3361372"/>
              <a:ext cx="1428750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9823" y="2090261"/>
              <a:ext cx="1080719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 (s, p,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32273" y="2186464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(s, p) 查快表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50031" y="2090261"/>
              <a:ext cx="116357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与 d 合并得物理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2144" y="28351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段号越界中断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99897" y="2835116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≤ l−1？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44326" y="2737961"/>
              <a:ext cx="104978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 和 b 查段表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(b′, l′)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6517" y="2835116"/>
              <a:ext cx="712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≤ l′−1？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84413" y="2737961"/>
              <a:ext cx="98577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b′ 与 p 查页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表得 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57143" y="2737961"/>
              <a:ext cx="11493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(s, p, f) 写入快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表，满则淘汰一个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4744" y="34828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页号越界中断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65620" y="205930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00189" y="20835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343275" y="2459355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366897" y="24845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14562" y="270700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253183" y="27322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159568" y="270700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98188" y="27322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67650" y="270700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07223" y="27322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74318" y="319563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16990" y="322087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32632" y="238315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67202" y="24074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</p:grpSp>
      <p:grpSp>
        <p:nvGrpSpPr>
          <p:cNvPr id="93" name="c1-table-2"/>
          <p:cNvGrpSpPr/>
          <p:nvPr/>
        </p:nvGrpSpPr>
        <p:grpSpPr>
          <a:xfrm>
            <a:off x="533400" y="4059555"/>
            <a:ext cx="11125200" cy="1623060"/>
            <a:chOff x="533400" y="4059555"/>
            <a:chExt cx="11125200" cy="1623060"/>
          </a:xfrm>
        </p:grpSpPr>
        <p:sp>
          <p:nvSpPr>
            <p:cNvPr id="64" name="Rectangle 64"/>
            <p:cNvSpPr/>
            <p:nvPr/>
          </p:nvSpPr>
          <p:spPr>
            <a:xfrm>
              <a:off x="533400" y="4059555"/>
              <a:ext cx="11125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3839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195463" y="4183856"/>
              <a:ext cx="2240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查快表（段表、页表同第 46 页）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79386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越界检查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96213" y="4183856"/>
              <a:ext cx="1451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物理地址（页长 1K）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39831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访存次数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6069" y="4589621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(2, 1, 300)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68818" y="4589621"/>
              <a:ext cx="4142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快表为空，未命中；查段表、页表得 f = 33，写入 (2, 1, 33)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66305" y="458962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2；1 ≤ 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66300" y="4589621"/>
              <a:ext cx="151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33×1024+300 = 34092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9917" y="4589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4866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33400" y="48710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6069" y="499538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(2, 1, 700)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968818" y="499538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 (2, 1, 33)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54773" y="4995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66300" y="4995386"/>
              <a:ext cx="151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33×1024+700 = 34492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99917" y="4995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33400" y="52720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6069" y="5401151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(2, 0, 700)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968818" y="5401151"/>
              <a:ext cx="389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快表按 (s, p) 匹配，同段另一页未命中；查页表得 f = 29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66305" y="540115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2；0 ≤ 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66300" y="5401151"/>
              <a:ext cx="151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29×1024+700 = 30396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99917" y="5401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059555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1864042" y="40595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758940" y="40595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204835" y="40595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429875" y="40595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4" name="Rectangle 9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892" y="6023610"/>
              <a:ext cx="10567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快表未命中时要访存 3 次（段表、页表、数据）。快表 20ns、内存 100ns、命中率 98% 时，EAT = 98%×120 + 2%×320 = 124ns。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例题：段页式地址变换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321290" cy="569595"/>
            <a:chOff x="525780" y="1548765"/>
            <a:chExt cx="103212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321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页长 1K，段表长度 l = 3；各段页表：段 0 为 25、28、26，段 1 为 30、31，段 2 为 29、33、32（按逻辑页号 0、1、2 排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列）。</a:t>
              </a:r>
            </a:p>
          </p:txBody>
        </p:sp>
      </p:grpSp>
      <p:grpSp>
        <p:nvGrpSpPr>
          <p:cNvPr id="58" name="c1-table-1"/>
          <p:cNvGrpSpPr/>
          <p:nvPr/>
        </p:nvGrpSpPr>
        <p:grpSpPr>
          <a:xfrm>
            <a:off x="533400" y="2230755"/>
            <a:ext cx="7141845" cy="3827145"/>
            <a:chOff x="533400" y="2230755"/>
            <a:chExt cx="7141845" cy="382714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7141845" cy="72199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1063" y="2492216"/>
              <a:ext cx="907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(s, p, 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145" y="2492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段号检查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15348" y="2365534"/>
              <a:ext cx="7358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页表长度</a:t>
              </a:r>
              <a:br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64318" y="2492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页号检查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09960" y="249221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页架号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7976" y="2365534"/>
              <a:ext cx="84764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</a:t>
              </a:r>
              <a:br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f×1024+d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892" y="3088481"/>
              <a:ext cx="5920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89411" y="3215164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3459" y="321516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31583" y="3215164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6868" y="321516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51575" y="3088481"/>
              <a:ext cx="106045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33792+100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33892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67093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675698"/>
              <a:ext cx="714184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8892" y="3810476"/>
              <a:ext cx="5920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(0, 2,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89411" y="3937159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23459" y="39371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31583" y="3937159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76868" y="393715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1982" y="3810476"/>
              <a:ext cx="115963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26624+1000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27624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9293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063" y="4532471"/>
              <a:ext cx="907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(1, 0, 5)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89411" y="4532471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23459" y="45324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31583" y="4532471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76868" y="453247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33814" y="4532471"/>
              <a:ext cx="1495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30720+5 = 30725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86251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867275"/>
              <a:ext cx="714184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8892" y="5002054"/>
              <a:ext cx="5920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89411" y="5128736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3459" y="512873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0830" y="512873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 &gt;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29437" y="512873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1080" y="51287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页号越界中断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58450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1063" y="5724049"/>
              <a:ext cx="907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(3, 0, 0)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78658" y="5724049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 &gt;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23459" y="572404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94069" y="572404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29437" y="572404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01080" y="572404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段号越界中断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2230755"/>
              <a:ext cx="7141845" cy="3827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671638" y="2230755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742248" y="2230755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813810" y="2230755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885372" y="2230755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84545" y="2230755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steps-1"/>
          <p:cNvGrpSpPr/>
          <p:nvPr/>
        </p:nvGrpSpPr>
        <p:grpSpPr>
          <a:xfrm>
            <a:off x="7980045" y="2240280"/>
            <a:ext cx="3001823" cy="1790128"/>
            <a:chOff x="7980045" y="2240280"/>
            <a:chExt cx="3001823" cy="1790128"/>
          </a:xfrm>
        </p:grpSpPr>
        <p:sp>
          <p:nvSpPr>
            <p:cNvPr id="59" name="Rectangle 59"/>
            <p:cNvSpPr/>
            <p:nvPr/>
          </p:nvSpPr>
          <p:spPr>
            <a:xfrm>
              <a:off x="8113395" y="238315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7980045" y="22402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73669" y="2314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980045" y="28613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073669" y="29351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980045" y="34823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3669" y="3556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91906" y="227314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93049" y="2553652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与段表长度 l 比较，取出 (b′, l′)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91906" y="2894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页号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93049" y="3174682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与页表长度 l′ 比较，查页表得 f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91906" y="35152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93049" y="3795712"/>
              <a:ext cx="1886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与 d 合并：f × 1024 + d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7980045" y="4206240"/>
            <a:ext cx="3678555" cy="1851660"/>
            <a:chOff x="7980045" y="4206240"/>
            <a:chExt cx="3678555" cy="1851660"/>
          </a:xfrm>
        </p:grpSpPr>
        <p:sp>
          <p:nvSpPr>
            <p:cNvPr id="73" name="Rectangle 73"/>
            <p:cNvSpPr/>
            <p:nvPr/>
          </p:nvSpPr>
          <p:spPr>
            <a:xfrm>
              <a:off x="7980045" y="4206240"/>
              <a:ext cx="3678555" cy="1851660"/>
            </a:xfrm>
            <a:prstGeom prst="roundRect">
              <a:avLst>
                <a:gd name="adj" fmla="val 61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8184833" y="5032058"/>
              <a:ext cx="200026" cy="200025"/>
              <a:chOff x="8184833" y="503205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184833" y="50320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24571" y="50765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59287" y="51876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8487156" y="4770596"/>
              <a:ext cx="285483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段页式和页式一样，d 只有 i 位，不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必检查；物理地址用拼接，不是段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式的 b′ + d。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四种存储管理方式对比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table-1"/>
          <p:cNvGrpSpPr/>
          <p:nvPr/>
        </p:nvGrpSpPr>
        <p:grpSpPr>
          <a:xfrm>
            <a:off x="533400" y="1524000"/>
            <a:ext cx="11125200" cy="4085272"/>
            <a:chOff x="533400" y="1524000"/>
            <a:chExt cx="11125200" cy="40852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462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2153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界地址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2734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200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86225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段页式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18969" y="208502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32566" y="2085022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一维，拆成 (p, d)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69049" y="2085022"/>
              <a:ext cx="876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 (s, d)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6022" y="2085022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 (s, p, d)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内存划分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8969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2566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静态等长页架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69049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动态异长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6022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静态等长页架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主要的表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8969" y="2946082"/>
              <a:ext cx="18231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 中的 b、l；空闲区表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2566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页表、总页表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9049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段表、空闲表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6022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段表、页表、总页表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39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44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越界检查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8969" y="3375660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≤ l−1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32566" y="3375660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≤ l−1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69049" y="33756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≤ l−1，d ≤ l′−1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16022" y="33756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≤ l−1，p ≤ l′−1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18969" y="380619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+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32566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与 d 拼接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69049" y="380619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 + 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16022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与 d 拼接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10527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746" y="4235768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未命中快表时访存次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18969" y="4342448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1（无需查表）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32566" y="43424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9049" y="43424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16022" y="43424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743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746" y="48796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外部碎片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18969" y="487965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有，需要紧凑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32566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69049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16022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1739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17874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8746" y="53101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共享与保护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18969" y="531018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双对界可分开代码和数据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32566" y="53101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69049" y="53101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16022" y="53101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524000"/>
              <a:ext cx="11125200" cy="4084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308860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422458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58940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5912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页式、段页式虽然没有外部碎片，但进程最后一页通常用不满，页内仍有少量浪费。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 · 段页式存储管理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93328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空闲区表 (128, 64)、(256, 32)、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(1024, 256)，申请 24。FF、BF、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WF 各从哪个区域分配？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8458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 分到 128；BF 分到 256，剩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(280, 8)；WF 分到 1024。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408872"/>
            <a:chOff x="533400" y="3847148"/>
            <a:chExt cx="3505200" cy="2408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28895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 20ns、内存 100ns、命中率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90%，一级页表的有效访问时间是多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3408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 × 120 + 0.1 × 220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130ns。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7926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页长 1K，页表 0→15、1→22、2→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16、3→32。逻辑地址 1500 的物理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963704"/>
              <a:ext cx="29720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1，d = 476，f = 22，物理地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 22 × 1024 + 476 = 23004。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68576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coremap 中有 (1024, 100)、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(1180, 100)，执行 mfree(56,</a:t>
              </a:r>
            </a:p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1124) 后是什么？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286851"/>
              <a:ext cx="28097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前一区末尾 1124、后一区首址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1180 都相接，前后合并为 (1024,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256)，表项少一项。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2516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位地址、页长 4K、pi 和 pj 各 10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位，地址 0x00C01234 的 pi、pj、d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963704"/>
              <a:ext cx="26113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= 3，pj = 1，d = 0x234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564。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反置页表的大小由什么决定？为什么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还要加杂凑表？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由内存页架数决定，与进程数无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关。顺序查找平均要查半张表，先散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列定位再比较，并配合快表。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第6章 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bullets-1"/>
          <p:cNvGrpSpPr/>
          <p:nvPr/>
        </p:nvGrpSpPr>
        <p:grpSpPr>
          <a:xfrm>
            <a:off x="533400" y="1535430"/>
            <a:ext cx="5840730" cy="3863340"/>
            <a:chOff x="533400" y="1535430"/>
            <a:chExt cx="5840730" cy="386334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存储管理五项功能：分配去配、共享、保护、扩充、地址映射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等长分区用位示图、空闲页面表或链；异长分区用四种适应算法挑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选，没有总是最优的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释放时与前后空闲区合并；碎片多时紧凑，要求程序可重定位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555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8978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868930"/>
              <a:ext cx="5387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界地址方式先拿 a 与 l 比较，再加 b 得物理地址；内存不够时靠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交换、覆盖缓解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537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页式物理地址 = 页架号拼接页内地址；快表使平均访问时间接近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一次访存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1167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1589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130040"/>
              <a:ext cx="5434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EAT = α(快表 + 访存) + (1−α)(快表 + k 次访存)，k 是未命中时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的访存次数：一级页表 2，二级 3，四级 5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74726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47895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76059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多级页表省掉空洞的表项；反置页表大小只取决于内存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50920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5249" y="51343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4390" y="510540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段式便于共享与保护；段页式把段再分页，消除外部碎片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898005" y="1524000"/>
            <a:ext cx="4760595" cy="3815715"/>
            <a:chOff x="6898005" y="1524000"/>
            <a:chExt cx="4760595" cy="3815715"/>
          </a:xfrm>
        </p:grpSpPr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3815715"/>
            </a:xfrm>
            <a:prstGeom prst="roundRect">
              <a:avLst>
                <a:gd name="adj" fmla="val 3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1657350"/>
              <a:ext cx="47625" cy="3549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45655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1408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9485" y="2110740"/>
              <a:ext cx="3501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malloc、mfree 源码的声明笔误：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 map, *mp、struct map *map、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 map bp（第 14、15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51370" y="3080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9485" y="301752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二级页表图下“访存时间变为 5 倍”属于四级页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表，二级为 3 倍（第 33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51370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09485" y="3638550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节号：4.3.1.1、6.1.3.4 和第二个 6.3.3.2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6.3.1.1、6.3.1.4、6.3.3.3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51370" y="43224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09485" y="425958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源码补全：define 前缺 #，text 结构的注释缺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*/（第 14、42 页）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10376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复习时重点手算：四种分配算法、mfree 合并、三种地址变换和 EAT。每一步写出查了哪张表、做了哪个越界检查。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第6章 存储管理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6">
  <a:themeElements>
    <a:clrScheme name="os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2026-09-23T01:13:16Z</dcterms:created>
  <dcterms:modified xsi:type="dcterms:W3CDTF">2026-09-23T01:13:16Z</dcterms:modified>
  <cp:category/>
  <cp:contentStatus/>
</cp:coreProperties>
</file>