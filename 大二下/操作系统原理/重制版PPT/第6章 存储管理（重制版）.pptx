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os_ch6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os_ch6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6edba78bec61759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a70084c57c22713b.png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3a64898ee02ed582.png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116830" cy="3437763"/>
            <a:chOff x="666750" y="1619250"/>
            <a:chExt cx="5116830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操作系统原理 · 第六章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存储管理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5106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内存怎样分配回收，逻辑地址怎样变成物理地址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分配算法与碎片处理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界地址、交换与覆盖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页式、多级与反置页表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段式与段页式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413752" cy="205359"/>
            <a:chOff x="680466" y="6192202"/>
            <a:chExt cx="4413752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4137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自学复习版｜据吉林大学《操作系统原理》第六章课件整理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存储管理的功能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分配去配、共享、保护、扩充、地址映射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内存资源管理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5277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分区方式、位示图与空闲表、四种适应算法、malloc 与 mfree、紧凑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界地址管理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基址与限长寄存器、双对界、交换与覆盖技术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页式管理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页表与快表、有效访问时间、多级页表、反置页表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段式管理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段表与二维地址映射、段的共享与保护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段页式管理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7607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(s, p, d) 三元地址、段表加页表、四种方式对比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728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FF、NF、BF、WF 手算一串分配请求的结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果，说出各自优缺点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跟踪 UNIX malloc、mfree 对空闲区表的修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改，分清四种合并情况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给定页表或段表，手算页式、段式、段页式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的物理地址并判断越界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计算带快表的有效访问时间，拆分二级页表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的逻辑地址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说出反置页表、段的共享与保护、交换与覆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盖技术的做法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429000" cy="2997517"/>
            <a:chOff x="667512" y="1835468"/>
            <a:chExt cx="342900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存储管理的功能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操作系统管内存，要做哪几件事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225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6.1 存储分配和去配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存储共享与存储保护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存储扩充与地址映射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存储管理的功能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存储管理的五项功能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tree-1"/>
          <p:cNvGrpSpPr/>
          <p:nvPr/>
        </p:nvGrpSpPr>
        <p:grpSpPr>
          <a:xfrm>
            <a:off x="533400" y="1750695"/>
            <a:ext cx="3246120" cy="3679508"/>
            <a:chOff x="533400" y="1750695"/>
            <a:chExt cx="3246120" cy="3679508"/>
          </a:xfrm>
        </p:grpSpPr>
        <p:sp>
          <p:nvSpPr>
            <p:cNvPr id="7" name="Freeform 7"/>
            <p:cNvSpPr/>
            <p:nvPr/>
          </p:nvSpPr>
          <p:spPr>
            <a:xfrm>
              <a:off x="1946910" y="1937385"/>
              <a:ext cx="419100" cy="1653540"/>
            </a:xfrm>
            <a:custGeom>
              <a:avLst/>
              <a:gdLst/>
              <a:ahLst/>
              <a:cxnLst/>
              <a:rect l="l" t="t" r="r" b="b"/>
              <a:pathLst>
                <a:path w="419100" h="1653540">
                  <a:moveTo>
                    <a:pt x="0" y="1653540"/>
                  </a:moveTo>
                  <a:lnTo>
                    <a:pt x="209550" y="165354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946910" y="2764155"/>
              <a:ext cx="419100" cy="826770"/>
            </a:xfrm>
            <a:custGeom>
              <a:avLst/>
              <a:gdLst/>
              <a:ahLst/>
              <a:cxnLst/>
              <a:rect l="l" t="t" r="r" b="b"/>
              <a:pathLst>
                <a:path w="419100" h="826770">
                  <a:moveTo>
                    <a:pt x="0" y="826770"/>
                  </a:moveTo>
                  <a:lnTo>
                    <a:pt x="209550" y="82677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946910" y="359092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946910" y="3590925"/>
              <a:ext cx="419100" cy="826770"/>
            </a:xfrm>
            <a:custGeom>
              <a:avLst/>
              <a:gdLst/>
              <a:ahLst/>
              <a:cxnLst/>
              <a:rect l="l" t="t" r="r" b="b"/>
              <a:pathLst>
                <a:path w="419100" h="826770">
                  <a:moveTo>
                    <a:pt x="0" y="0"/>
                  </a:moveTo>
                  <a:lnTo>
                    <a:pt x="209550" y="0"/>
                  </a:lnTo>
                  <a:lnTo>
                    <a:pt x="209550" y="826770"/>
                  </a:lnTo>
                  <a:lnTo>
                    <a:pt x="419100" y="82677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946910" y="3590925"/>
              <a:ext cx="419100" cy="1653540"/>
            </a:xfrm>
            <a:custGeom>
              <a:avLst/>
              <a:gdLst/>
              <a:ahLst/>
              <a:cxnLst/>
              <a:rect l="l" t="t" r="r" b="b"/>
              <a:pathLst>
                <a:path w="419100" h="1653540">
                  <a:moveTo>
                    <a:pt x="0" y="0"/>
                  </a:moveTo>
                  <a:lnTo>
                    <a:pt x="209550" y="0"/>
                  </a:lnTo>
                  <a:lnTo>
                    <a:pt x="209550" y="1653540"/>
                  </a:lnTo>
                  <a:lnTo>
                    <a:pt x="419100" y="165354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366010" y="1750695"/>
              <a:ext cx="141351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2366010" y="2577465"/>
              <a:ext cx="141351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2366010" y="3404235"/>
              <a:ext cx="141351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366010" y="4231005"/>
              <a:ext cx="141351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366010" y="5057775"/>
              <a:ext cx="141351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404235"/>
              <a:ext cx="1413510" cy="372428"/>
            </a:xfrm>
            <a:prstGeom prst="roundRect">
              <a:avLst>
                <a:gd name="adj" fmla="val 25575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454783" y="184832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分配和去配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54783" y="267509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存储共享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454783" y="350186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存储保护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54783" y="43286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存储扩充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54783" y="51554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地址映射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22173" y="350186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存储管理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4084320" y="1524000"/>
            <a:ext cx="7574280" cy="3146108"/>
            <a:chOff x="4084320" y="1524000"/>
            <a:chExt cx="7574280" cy="3146108"/>
          </a:xfrm>
        </p:grpSpPr>
        <p:sp>
          <p:nvSpPr>
            <p:cNvPr id="25" name="Rectangle 25"/>
            <p:cNvSpPr/>
            <p:nvPr/>
          </p:nvSpPr>
          <p:spPr>
            <a:xfrm>
              <a:off x="4084320" y="1524000"/>
              <a:ext cx="757428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58751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功能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21628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做什么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1388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92143" y="22217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分配和去配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555170" y="2108359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对象：内存、外存（两者方法相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33626" y="2108359"/>
              <a:ext cx="29390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时刻：进程创建、撤销、交换、长度变化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（如栈溢出、execl）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084320" y="2643188"/>
              <a:ext cx="75742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084320" y="2647950"/>
              <a:ext cx="757428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192143" y="27836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存储共享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555170" y="278368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目的：节省内存、进程相互通讯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33626" y="278368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共享的内容：代码、数据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084320" y="3092768"/>
              <a:ext cx="75742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192143" y="32323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存储保护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555170" y="323230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防止地址越界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433626" y="323230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防止操作越权（例如写只读的代码区）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084320" y="3541395"/>
              <a:ext cx="75742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084320" y="3546158"/>
              <a:ext cx="757428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192143" y="379428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存储扩充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555170" y="3680936"/>
              <a:ext cx="24513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内存与外存结合，构成虚拟存储体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433626" y="379428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速度接近内存，容量相当于外存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084320" y="4216718"/>
              <a:ext cx="75742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4192143" y="43572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地址映射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555170" y="4357211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逻辑地址 ⇒ 物理地址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433626" y="435721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靠硬件完成；不能正常映射时产生中断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4084320" y="1524000"/>
              <a:ext cx="7574280" cy="3146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5442585" y="1524000"/>
              <a:ext cx="9525" cy="3146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321040" y="1524000"/>
              <a:ext cx="9525" cy="3146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4" name="Rectangle 5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991225"/>
              <a:ext cx="88597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execl 用新程序替换进程原来的映像，进程长度随之改变，所以也是一个需要重新分配内存的时刻。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存储管理的功能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地址映射：程序用逻辑地址，访问内存要用物理地址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5780" y="1548765"/>
            <a:ext cx="5634038" cy="1455420"/>
            <a:chOff x="525780" y="1548765"/>
            <a:chExt cx="5634038" cy="145542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逻辑地址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66862" y="1548765"/>
              <a:ext cx="42348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程序中使用的地址，每个程序都从 0 开始编址，也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叫相对地址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1507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27076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66862" y="227076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内存单元的实际地址，也叫绝对地址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908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710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地址映射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6862" y="27108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把逻辑地址转换成物理地址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135630"/>
            <a:ext cx="5626418" cy="2016442"/>
            <a:chOff x="533400" y="3135630"/>
            <a:chExt cx="5626418" cy="2016442"/>
          </a:xfrm>
        </p:grpSpPr>
        <p:sp>
          <p:nvSpPr>
            <p:cNvPr id="16" name="Rectangle 16"/>
            <p:cNvSpPr/>
            <p:nvPr/>
          </p:nvSpPr>
          <p:spPr>
            <a:xfrm>
              <a:off x="533400" y="3135630"/>
              <a:ext cx="5626418" cy="2016442"/>
            </a:xfrm>
            <a:prstGeom prst="roundRect">
              <a:avLst>
                <a:gd name="adj" fmla="val 66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268980"/>
              <a:ext cx="47625" cy="174974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334518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63359" y="338089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硬件支持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5922" y="3380422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地址映射由硬件逐条指令完成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6765" y="38042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4880" y="3741420"/>
              <a:ext cx="45384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基址寄存器（base）、限长寄存器（limit）、快表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86765" y="41395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4880" y="407670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使用上述寄存器完成地址映射过程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86765" y="447484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4880" y="441198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不能正常完成地址映射时，产生中断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4573" y="4743926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进程切换时，操作系统把新进程的 base、limit 等值装入寄存器。</a:t>
              </a:r>
            </a:p>
          </p:txBody>
        </p:sp>
      </p:grpSp>
      <p:grpSp>
        <p:nvGrpSpPr>
          <p:cNvPr id="51" name="c2-flow-1"/>
          <p:cNvGrpSpPr/>
          <p:nvPr/>
        </p:nvGrpSpPr>
        <p:grpSpPr>
          <a:xfrm>
            <a:off x="6646545" y="1821180"/>
            <a:ext cx="4830127" cy="3539490"/>
            <a:chOff x="6646545" y="1821180"/>
            <a:chExt cx="4830127" cy="3539490"/>
          </a:xfrm>
        </p:grpSpPr>
        <p:sp>
          <p:nvSpPr>
            <p:cNvPr id="29" name="Freeform 29"/>
            <p:cNvSpPr/>
            <p:nvPr/>
          </p:nvSpPr>
          <p:spPr>
            <a:xfrm>
              <a:off x="7762875" y="2259330"/>
              <a:ext cx="9525" cy="395288"/>
            </a:xfrm>
            <a:custGeom>
              <a:avLst/>
              <a:gdLst/>
              <a:ahLst/>
              <a:cxnLst/>
              <a:rect l="l" t="t" r="r" b="b"/>
              <a:pathLst>
                <a:path w="9525" h="395288">
                  <a:moveTo>
                    <a:pt x="0" y="0"/>
                  </a:moveTo>
                  <a:lnTo>
                    <a:pt x="0" y="3952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710488" y="26546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7762875" y="3388995"/>
              <a:ext cx="9525" cy="313372"/>
            </a:xfrm>
            <a:custGeom>
              <a:avLst/>
              <a:gdLst/>
              <a:ahLst/>
              <a:cxnLst/>
              <a:rect l="l" t="t" r="r" b="b"/>
              <a:pathLst>
                <a:path w="9525" h="313372">
                  <a:moveTo>
                    <a:pt x="0" y="0"/>
                  </a:moveTo>
                  <a:lnTo>
                    <a:pt x="0" y="31337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710488" y="37023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7762875" y="4408170"/>
              <a:ext cx="9525" cy="409575"/>
            </a:xfrm>
            <a:custGeom>
              <a:avLst/>
              <a:gdLst/>
              <a:ahLst/>
              <a:cxnLst/>
              <a:rect l="l" t="t" r="r" b="b"/>
              <a:pathLst>
                <a:path w="9525" h="409575">
                  <a:moveTo>
                    <a:pt x="0" y="0"/>
                  </a:moveTo>
                  <a:lnTo>
                    <a:pt x="0" y="409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710488" y="48177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8880158" y="4107180"/>
              <a:ext cx="258128" cy="9525"/>
            </a:xfrm>
            <a:custGeom>
              <a:avLst/>
              <a:gdLst/>
              <a:ahLst/>
              <a:cxnLst/>
              <a:rect l="l" t="t" r="r" b="b"/>
              <a:pathLst>
                <a:path w="258128" h="9525">
                  <a:moveTo>
                    <a:pt x="0" y="0"/>
                  </a:moveTo>
                  <a:lnTo>
                    <a:pt x="25812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138285" y="40557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1435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646545" y="1821180"/>
              <a:ext cx="223361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646545" y="2759392"/>
              <a:ext cx="223361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6646545" y="3807142"/>
              <a:ext cx="2233612" cy="601028"/>
            </a:xfrm>
            <a:custGeom>
              <a:avLst/>
              <a:gdLst/>
              <a:ahLst/>
              <a:cxnLst/>
              <a:rect l="l" t="t" r="r" b="b"/>
              <a:pathLst>
                <a:path w="2233612" h="601028">
                  <a:moveTo>
                    <a:pt x="1116330" y="0"/>
                  </a:moveTo>
                  <a:lnTo>
                    <a:pt x="2233612" y="300038"/>
                  </a:lnTo>
                  <a:lnTo>
                    <a:pt x="1116330" y="601028"/>
                  </a:lnTo>
                  <a:lnTo>
                    <a:pt x="0" y="30003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646545" y="4922520"/>
              <a:ext cx="223361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243060" y="3888105"/>
              <a:ext cx="223361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053066" y="1951196"/>
              <a:ext cx="14196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 给出逻辑地址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81038" y="2876074"/>
              <a:ext cx="196367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地址映射机构：寄存器与快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239457" y="401907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能正常映射？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08673" y="505253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得到物理地址，访问内存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406141" y="401907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产生中断（越界或越权）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791450" y="457295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814691" y="459962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能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8947785" y="389191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986076" y="391763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2" name="Rectangle 5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130" y="5991225"/>
              <a:ext cx="8496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程序装入内存的位置事先不知道，而且可能因交换、紧凑而改变，所以程序里只能写逻辑地址。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4908994" cy="3706177"/>
            <a:chOff x="667512" y="1835468"/>
            <a:chExt cx="4908994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内存资源管理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内存怎样划分，空闲空间怎样记录、分配和回收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388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6.2.1 内存分区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46697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6.2.2 等长分区：位示图、空闲页面表、空闲页面链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2280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6.2.2 异长分区：FF、NF、BF、WF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823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的 malloc 与 mfree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6.2.3 碎片与紧凑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内存分区：什么时候分、分成多大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33400" y="1524000"/>
            <a:ext cx="6059805" cy="1800225"/>
            <a:chOff x="533400" y="1524000"/>
            <a:chExt cx="6059805" cy="18002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675322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68502" y="1659731"/>
              <a:ext cx="1347165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分区时刻 × 分区大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61787" y="1773079"/>
              <a:ext cx="13001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等长分区（2^i）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181016" y="17730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异长分区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335054"/>
              <a:ext cx="14759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静态分区：系统初始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化时分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58593" y="244840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通常作法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：页式、段页式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79810" y="244840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6988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7464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01037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动态分区：申请时分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58593" y="301037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79810" y="3010376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通常作法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：段式、界地址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6059805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346008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67225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1-kv-2"/>
          <p:cNvGrpSpPr/>
          <p:nvPr/>
        </p:nvGrpSpPr>
        <p:grpSpPr>
          <a:xfrm>
            <a:off x="525780" y="3539490"/>
            <a:ext cx="6067425" cy="1613535"/>
            <a:chOff x="525780" y="3539490"/>
            <a:chExt cx="6067425" cy="1613535"/>
          </a:xfrm>
        </p:grpSpPr>
        <p:sp>
          <p:nvSpPr>
            <p:cNvPr id="23" name="TextBox 23"/>
            <p:cNvSpPr txBox="1"/>
            <p:nvPr/>
          </p:nvSpPr>
          <p:spPr>
            <a:xfrm>
              <a:off x="525780" y="353949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静态分区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66862" y="353949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系统初始化时就把内存分好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85953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5780" y="39795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动态分区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66862" y="397954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进程申请时才按需要划出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29958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25780" y="44196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等长分区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66862" y="4419600"/>
              <a:ext cx="21758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每块大小相同，都是 2^i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73964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5780" y="48596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异长分区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66862" y="485965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大小依程序、程序单位或对象的大小而定</a:t>
              </a:r>
            </a:p>
          </p:txBody>
        </p:sp>
      </p:grpSp>
      <p:grpSp>
        <p:nvGrpSpPr>
          <p:cNvPr id="64" name="c2-tree-1"/>
          <p:cNvGrpSpPr/>
          <p:nvPr/>
        </p:nvGrpSpPr>
        <p:grpSpPr>
          <a:xfrm>
            <a:off x="6898005" y="1632585"/>
            <a:ext cx="4760595" cy="3915728"/>
            <a:chOff x="6898005" y="1632585"/>
            <a:chExt cx="4760595" cy="3915728"/>
          </a:xfrm>
        </p:grpSpPr>
        <p:sp>
          <p:nvSpPr>
            <p:cNvPr id="35" name="Freeform 35"/>
            <p:cNvSpPr/>
            <p:nvPr/>
          </p:nvSpPr>
          <p:spPr>
            <a:xfrm>
              <a:off x="9931718" y="1819275"/>
              <a:ext cx="419100" cy="590550"/>
            </a:xfrm>
            <a:custGeom>
              <a:avLst/>
              <a:gdLst/>
              <a:ahLst/>
              <a:cxnLst/>
              <a:rect l="l" t="t" r="r" b="b"/>
              <a:pathLst>
                <a:path w="419100" h="590550">
                  <a:moveTo>
                    <a:pt x="0" y="590550"/>
                  </a:moveTo>
                  <a:lnTo>
                    <a:pt x="209550" y="59055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931718" y="240982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931718" y="2409825"/>
              <a:ext cx="419100" cy="590550"/>
            </a:xfrm>
            <a:custGeom>
              <a:avLst/>
              <a:gdLst/>
              <a:ahLst/>
              <a:cxnLst/>
              <a:rect l="l" t="t" r="r" b="b"/>
              <a:pathLst>
                <a:path w="419100" h="590550">
                  <a:moveTo>
                    <a:pt x="0" y="0"/>
                  </a:moveTo>
                  <a:lnTo>
                    <a:pt x="209550" y="0"/>
                  </a:lnTo>
                  <a:lnTo>
                    <a:pt x="209550" y="590550"/>
                  </a:lnTo>
                  <a:lnTo>
                    <a:pt x="419100" y="59055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9931718" y="3590925"/>
              <a:ext cx="419100" cy="885825"/>
            </a:xfrm>
            <a:custGeom>
              <a:avLst/>
              <a:gdLst/>
              <a:ahLst/>
              <a:cxnLst/>
              <a:rect l="l" t="t" r="r" b="b"/>
              <a:pathLst>
                <a:path w="419100" h="885825">
                  <a:moveTo>
                    <a:pt x="0" y="885825"/>
                  </a:moveTo>
                  <a:lnTo>
                    <a:pt x="209550" y="88582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9931718" y="4181475"/>
              <a:ext cx="419100" cy="295275"/>
            </a:xfrm>
            <a:custGeom>
              <a:avLst/>
              <a:gdLst/>
              <a:ahLst/>
              <a:cxnLst/>
              <a:rect l="l" t="t" r="r" b="b"/>
              <a:pathLst>
                <a:path w="419100" h="295275">
                  <a:moveTo>
                    <a:pt x="0" y="295275"/>
                  </a:moveTo>
                  <a:lnTo>
                    <a:pt x="209550" y="29527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9931718" y="4476750"/>
              <a:ext cx="419100" cy="295275"/>
            </a:xfrm>
            <a:custGeom>
              <a:avLst/>
              <a:gdLst/>
              <a:ahLst/>
              <a:cxnLst/>
              <a:rect l="l" t="t" r="r" b="b"/>
              <a:pathLst>
                <a:path w="419100" h="295275">
                  <a:moveTo>
                    <a:pt x="0" y="0"/>
                  </a:moveTo>
                  <a:lnTo>
                    <a:pt x="209550" y="0"/>
                  </a:lnTo>
                  <a:lnTo>
                    <a:pt x="209550" y="295275"/>
                  </a:lnTo>
                  <a:lnTo>
                    <a:pt x="419100" y="29527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931718" y="4476750"/>
              <a:ext cx="419100" cy="885825"/>
            </a:xfrm>
            <a:custGeom>
              <a:avLst/>
              <a:gdLst/>
              <a:ahLst/>
              <a:cxnLst/>
              <a:rect l="l" t="t" r="r" b="b"/>
              <a:pathLst>
                <a:path w="419100" h="885825">
                  <a:moveTo>
                    <a:pt x="0" y="0"/>
                  </a:moveTo>
                  <a:lnTo>
                    <a:pt x="209550" y="0"/>
                  </a:lnTo>
                  <a:lnTo>
                    <a:pt x="209550" y="885825"/>
                  </a:lnTo>
                  <a:lnTo>
                    <a:pt x="419100" y="88582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8204835" y="2409825"/>
              <a:ext cx="419100" cy="1033462"/>
            </a:xfrm>
            <a:custGeom>
              <a:avLst/>
              <a:gdLst/>
              <a:ahLst/>
              <a:cxnLst/>
              <a:rect l="l" t="t" r="r" b="b"/>
              <a:pathLst>
                <a:path w="419100" h="1033462">
                  <a:moveTo>
                    <a:pt x="0" y="1033462"/>
                  </a:moveTo>
                  <a:lnTo>
                    <a:pt x="209550" y="103346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8204835" y="3443288"/>
              <a:ext cx="419100" cy="1033462"/>
            </a:xfrm>
            <a:custGeom>
              <a:avLst/>
              <a:gdLst/>
              <a:ahLst/>
              <a:cxnLst/>
              <a:rect l="l" t="t" r="r" b="b"/>
              <a:pathLst>
                <a:path w="419100" h="1033462">
                  <a:moveTo>
                    <a:pt x="0" y="0"/>
                  </a:moveTo>
                  <a:lnTo>
                    <a:pt x="209550" y="0"/>
                  </a:lnTo>
                  <a:lnTo>
                    <a:pt x="209550" y="1033462"/>
                  </a:lnTo>
                  <a:lnTo>
                    <a:pt x="419100" y="103346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350818" y="163258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350818" y="222313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350818" y="281368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623935" y="222313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10350818" y="340423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10350818" y="399478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350818" y="458533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350818" y="5175885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8623935" y="4290060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898005" y="3256598"/>
              <a:ext cx="1307782" cy="372428"/>
            </a:xfrm>
            <a:prstGeom prst="roundRect">
              <a:avLst>
                <a:gd name="adj" fmla="val 25575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439590" y="173021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位示图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439590" y="232076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空闲页面表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439590" y="291131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空闲页面链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712708" y="232076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静态等长分区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439590" y="3501866"/>
              <a:ext cx="957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最先适应 FF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439590" y="4092416"/>
              <a:ext cx="957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下次适应 NF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439590" y="4682966"/>
              <a:ext cx="957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最佳适应 BF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439590" y="5273516"/>
              <a:ext cx="9935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最坏适应 WF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712708" y="438769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动态异长分区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986778" y="33542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内存分配</a:t>
              </a:r>
            </a:p>
          </p:txBody>
        </p:sp>
      </p:grpSp>
      <p:grpSp>
        <p:nvGrpSpPr>
          <p:cNvPr id="7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5" name="Rectangle 6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1040130" y="5991225"/>
              <a:ext cx="89001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等长分区的块可以互换，记下哪块空闲就够了；异长分区的空闲区大小各不相同，才需要挑选算法。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61004" cy="909257"/>
            <a:chOff x="520446" y="342900"/>
            <a:chExt cx="71610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610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位示图：一位记一页，0 表示空闲，1 表示占用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0" name="c1-cells-1"/>
          <p:cNvGrpSpPr/>
          <p:nvPr/>
        </p:nvGrpSpPr>
        <p:grpSpPr>
          <a:xfrm>
            <a:off x="528066" y="1568291"/>
            <a:ext cx="5728906" cy="2226945"/>
            <a:chOff x="528066" y="1568291"/>
            <a:chExt cx="5728906" cy="2226945"/>
          </a:xfrm>
        </p:grpSpPr>
        <p:sp>
          <p:nvSpPr>
            <p:cNvPr id="7" name="TextBox 7"/>
            <p:cNvSpPr txBox="1"/>
            <p:nvPr/>
          </p:nvSpPr>
          <p:spPr>
            <a:xfrm>
              <a:off x="528066" y="192881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分配前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2277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3911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646872" y="1809750"/>
              <a:ext cx="41910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8102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659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2293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4850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6484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9041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0675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3232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4866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7423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9057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1614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3248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05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7439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9996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1630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4187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5821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837872" y="180975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01273" y="192881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022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8213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2404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6595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0786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4977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168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3359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7550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174103" y="223218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562846" y="223218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981946" y="223218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360846" y="1568291"/>
              <a:ext cx="99115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自头找到的第一个 0</a:t>
              </a:r>
            </a:p>
          </p:txBody>
        </p:sp>
        <p:sp>
          <p:nvSpPr>
            <p:cNvPr id="45" name="Freeform 45"/>
            <p:cNvSpPr/>
            <p:nvPr/>
          </p:nvSpPr>
          <p:spPr>
            <a:xfrm>
              <a:off x="1818322" y="17145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066" y="262985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分配后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2277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3911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646872" y="2510790"/>
              <a:ext cx="419100" cy="368618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8102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0659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2293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4850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6484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29041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0675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33232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34866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37423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39057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41614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43248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45805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47439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49996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1630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4187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5821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837872" y="2510790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001273" y="26298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4022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8213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22404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26595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30786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34977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39168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43359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47550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5174103" y="2933224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5562846" y="293322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5981946" y="2933224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528066" y="3329940"/>
              <a:ext cx="6054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去配 4 页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12277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13911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16468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18102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20659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22293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24850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26484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2904172" y="3210878"/>
              <a:ext cx="41910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30675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33232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34866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37423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39057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41614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43248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0" name="Rectangle 100"/>
            <p:cNvSpPr/>
            <p:nvPr/>
          </p:nvSpPr>
          <p:spPr>
            <a:xfrm>
              <a:off x="45805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47439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49996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51630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54187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55821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5837872" y="3210878"/>
              <a:ext cx="4191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6001273" y="332994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14022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18213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22404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26595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30786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34977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39168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43359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47550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5174103" y="363331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5562846" y="363331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19" name="TextBox 119"/>
            <p:cNvSpPr txBox="1"/>
            <p:nvPr/>
          </p:nvSpPr>
          <p:spPr>
            <a:xfrm>
              <a:off x="5981946" y="3633311"/>
              <a:ext cx="1309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  <p:grpSp>
        <p:nvGrpSpPr>
          <p:cNvPr id="130" name="c1-steps-2"/>
          <p:cNvGrpSpPr/>
          <p:nvPr/>
        </p:nvGrpSpPr>
        <p:grpSpPr>
          <a:xfrm>
            <a:off x="533400" y="3940492"/>
            <a:ext cx="5121438" cy="1102520"/>
            <a:chOff x="533400" y="3940492"/>
            <a:chExt cx="5121438" cy="1102520"/>
          </a:xfrm>
        </p:grpSpPr>
        <p:sp>
          <p:nvSpPr>
            <p:cNvPr id="121" name="Rectangle 121"/>
            <p:cNvSpPr/>
            <p:nvPr/>
          </p:nvSpPr>
          <p:spPr>
            <a:xfrm>
              <a:off x="666750" y="4083368"/>
              <a:ext cx="19050" cy="5829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2" name="Ellipse 122"/>
            <p:cNvSpPr/>
            <p:nvPr/>
          </p:nvSpPr>
          <p:spPr>
            <a:xfrm>
              <a:off x="533400" y="394049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3" name="TextBox 123"/>
            <p:cNvSpPr txBox="1"/>
            <p:nvPr/>
          </p:nvSpPr>
          <p:spPr>
            <a:xfrm>
              <a:off x="627024" y="40143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4" name="Ellipse 124"/>
            <p:cNvSpPr/>
            <p:nvPr/>
          </p:nvSpPr>
          <p:spPr>
            <a:xfrm>
              <a:off x="533400" y="452342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5" name="TextBox 125"/>
            <p:cNvSpPr txBox="1"/>
            <p:nvPr/>
          </p:nvSpPr>
          <p:spPr>
            <a:xfrm>
              <a:off x="627024" y="45972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945642" y="39719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</a:t>
              </a:r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946785" y="4240054"/>
              <a:ext cx="4708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自头寻找第一个为 0 的位，改为 1，返回它的页号（上图返回第 1 页）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945642" y="455485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去配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946785" y="4822984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把页号对应的位置为 0（上图释放第 4 页）</a:t>
              </a:r>
            </a:p>
          </p:txBody>
        </p:sp>
      </p:grpSp>
      <p:grpSp>
        <p:nvGrpSpPr>
          <p:cNvPr id="140" name="c2-card-1"/>
          <p:cNvGrpSpPr/>
          <p:nvPr/>
        </p:nvGrpSpPr>
        <p:grpSpPr>
          <a:xfrm>
            <a:off x="7114222" y="1524000"/>
            <a:ext cx="4544378" cy="2021205"/>
            <a:chOff x="7114222" y="1524000"/>
            <a:chExt cx="4544378" cy="2021205"/>
          </a:xfrm>
        </p:grpSpPr>
        <p:sp>
          <p:nvSpPr>
            <p:cNvPr id="131" name="Rectangle 131"/>
            <p:cNvSpPr/>
            <p:nvPr/>
          </p:nvSpPr>
          <p:spPr>
            <a:xfrm>
              <a:off x="7114222" y="1524000"/>
              <a:ext cx="4544378" cy="2021205"/>
            </a:xfrm>
            <a:prstGeom prst="roundRect">
              <a:avLst>
                <a:gd name="adj" fmla="val 65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2" name="Rectangle 132"/>
            <p:cNvSpPr/>
            <p:nvPr/>
          </p:nvSpPr>
          <p:spPr>
            <a:xfrm>
              <a:off x="7123748" y="1657350"/>
              <a:ext cx="47625" cy="175450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3" name="Rectangle 133"/>
            <p:cNvSpPr/>
            <p:nvPr/>
          </p:nvSpPr>
          <p:spPr>
            <a:xfrm>
              <a:off x="7339012" y="1710690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34" name="TextBox 134"/>
            <p:cNvSpPr txBox="1"/>
            <p:nvPr/>
          </p:nvSpPr>
          <p:spPr>
            <a:xfrm>
              <a:off x="7427633" y="174355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多单元</a:t>
              </a:r>
            </a:p>
          </p:txBody>
        </p:sp>
        <p:sp>
          <p:nvSpPr>
            <p:cNvPr id="135" name="TextBox 135"/>
            <p:cNvSpPr txBox="1"/>
            <p:nvPr/>
          </p:nvSpPr>
          <p:spPr>
            <a:xfrm>
              <a:off x="8029384" y="174593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页数多时位示图占多个字</a:t>
              </a:r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7332154" y="2071688"/>
              <a:ext cx="38541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每个字（单元）有 w 位时，第 k 页在第 k div w 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字的第 k mod w 位（都从 0 数）。</a:t>
              </a:r>
            </a:p>
          </p:txBody>
        </p:sp>
        <p:sp>
          <p:nvSpPr>
            <p:cNvPr id="137" name="Ellipse 137"/>
            <p:cNvSpPr/>
            <p:nvPr/>
          </p:nvSpPr>
          <p:spPr>
            <a:xfrm>
              <a:off x="7347585" y="268509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8" name="TextBox 138"/>
            <p:cNvSpPr txBox="1"/>
            <p:nvPr/>
          </p:nvSpPr>
          <p:spPr>
            <a:xfrm>
              <a:off x="7503604" y="2628900"/>
              <a:ext cx="36313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例：w = 16，第 37 页在第 2 个字的第 5 位（37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2 × 16 + 5）</a:t>
              </a:r>
            </a:p>
          </p:txBody>
        </p:sp>
        <p:sp>
          <p:nvSpPr>
            <p:cNvPr id="139" name="TextBox 139"/>
            <p:cNvSpPr txBox="1"/>
            <p:nvPr/>
          </p:nvSpPr>
          <p:spPr>
            <a:xfrm>
              <a:off x="7333298" y="3182779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查找空闲页时可以整字比较：全为 1 的字直接跳过。</a:t>
              </a:r>
            </a:p>
          </p:txBody>
        </p:sp>
      </p:grpSp>
      <p:grpSp>
        <p:nvGrpSpPr>
          <p:cNvPr id="151" name="c2-card-2"/>
          <p:cNvGrpSpPr/>
          <p:nvPr/>
        </p:nvGrpSpPr>
        <p:grpSpPr>
          <a:xfrm>
            <a:off x="7114222" y="3714750"/>
            <a:ext cx="4544378" cy="1764030"/>
            <a:chOff x="7114222" y="3714750"/>
            <a:chExt cx="4544378" cy="1764030"/>
          </a:xfrm>
        </p:grpSpPr>
        <p:sp>
          <p:nvSpPr>
            <p:cNvPr id="141" name="Rectangle 141"/>
            <p:cNvSpPr/>
            <p:nvPr/>
          </p:nvSpPr>
          <p:spPr>
            <a:xfrm>
              <a:off x="7114222" y="3714750"/>
              <a:ext cx="4544378" cy="1764030"/>
            </a:xfrm>
            <a:prstGeom prst="roundRect">
              <a:avLst>
                <a:gd name="adj" fmla="val 75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2" name="Rectangle 142"/>
            <p:cNvSpPr/>
            <p:nvPr/>
          </p:nvSpPr>
          <p:spPr>
            <a:xfrm>
              <a:off x="7123748" y="3848100"/>
              <a:ext cx="47625" cy="14973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43" name="Rectangle 143"/>
            <p:cNvSpPr/>
            <p:nvPr/>
          </p:nvSpPr>
          <p:spPr>
            <a:xfrm>
              <a:off x="7339012" y="390144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7430732" y="39343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估算</a:t>
              </a: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7904607" y="393668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位示图有多大</a:t>
              </a:r>
            </a:p>
          </p:txBody>
        </p:sp>
        <p:sp>
          <p:nvSpPr>
            <p:cNvPr id="146" name="Ellipse 146"/>
            <p:cNvSpPr/>
            <p:nvPr/>
          </p:nvSpPr>
          <p:spPr>
            <a:xfrm>
              <a:off x="7347585" y="431863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7" name="TextBox 147"/>
            <p:cNvSpPr txBox="1"/>
            <p:nvPr/>
          </p:nvSpPr>
          <p:spPr>
            <a:xfrm>
              <a:off x="7503604" y="4262438"/>
              <a:ext cx="36827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 512MB，页长 4KB：共 2^29 / 2^12 = 2^17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131072 页</a:t>
              </a:r>
            </a:p>
          </p:txBody>
        </p:sp>
        <p:sp>
          <p:nvSpPr>
            <p:cNvPr id="148" name="Ellipse 148"/>
            <p:cNvSpPr/>
            <p:nvPr/>
          </p:nvSpPr>
          <p:spPr>
            <a:xfrm>
              <a:off x="7347585" y="487680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9" name="TextBox 149"/>
            <p:cNvSpPr txBox="1"/>
            <p:nvPr/>
          </p:nvSpPr>
          <p:spPr>
            <a:xfrm>
              <a:off x="7503604" y="4820602"/>
              <a:ext cx="35557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每页 1 位：131072 位 = 16384 字节 = 16KB</a:t>
              </a:r>
            </a:p>
          </p:txBody>
        </p:sp>
        <p:sp>
          <p:nvSpPr>
            <p:cNvPr id="150" name="TextBox 150"/>
            <p:cNvSpPr txBox="1"/>
            <p:nvPr/>
          </p:nvSpPr>
          <p:spPr>
            <a:xfrm>
              <a:off x="7333298" y="5116354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只占内存的 1/32768，所以位示图很常用。</a:t>
              </a:r>
            </a:p>
          </p:txBody>
        </p:sp>
      </p:grpSp>
      <p:grpSp>
        <p:nvGrpSpPr>
          <p:cNvPr id="158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152" name="Rectangle 15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56" name="Group 156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153" name="Freeform 153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54" name="Freeform 154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55" name="Freeform 155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57" name="TextBox 157"/>
            <p:cNvSpPr txBox="1"/>
            <p:nvPr/>
          </p:nvSpPr>
          <p:spPr>
            <a:xfrm>
              <a:off x="1040892" y="6028373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位示图的长度只由内存页数决定；缺点是分配时要从头扫描，页数很多时查找较慢。</a:t>
              </a:r>
            </a:p>
          </p:txBody>
        </p:sp>
      </p:grpSp>
      <p:grpSp>
        <p:nvGrpSpPr>
          <p:cNvPr id="1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9" name="TextBox 15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空闲页面表与空闲页面链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7" name="c1-card-1"/>
          <p:cNvGrpSpPr/>
          <p:nvPr/>
        </p:nvGrpSpPr>
        <p:grpSpPr>
          <a:xfrm>
            <a:off x="533400" y="1524000"/>
            <a:ext cx="5410200" cy="3949065"/>
            <a:chOff x="533400" y="1524000"/>
            <a:chExt cx="5410200" cy="39490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949065"/>
            </a:xfrm>
            <a:prstGeom prst="roundRect">
              <a:avLst>
                <a:gd name="adj" fmla="val 337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6823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9058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空闲页面表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52981" y="175688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每项记一段连续空闲页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9620" y="2077402"/>
              <a:ext cx="497586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765173" y="220599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首页号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253103" y="220599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空页数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60843" y="26298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50994" y="26298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9620" y="2921318"/>
              <a:ext cx="49758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9620" y="2926080"/>
              <a:ext cx="497586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867552" y="305466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50994" y="305466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9620" y="3346132"/>
              <a:ext cx="49758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960843" y="347853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50994" y="347853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9620" y="2077402"/>
              <a:ext cx="4975860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252788" y="207740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9620" y="3864292"/>
              <a:ext cx="514350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80110" y="39957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283970" y="3864292"/>
              <a:ext cx="514350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394460" y="39957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空闲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798320" y="3864292"/>
              <a:ext cx="514350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908810" y="39957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空闲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312670" y="3864292"/>
              <a:ext cx="514350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423160" y="39957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空闲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827020" y="3864292"/>
              <a:ext cx="514350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937510" y="39957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空闲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341370" y="3864292"/>
              <a:ext cx="514350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451860" y="39957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30962" y="4312444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119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445312" y="4312444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959662" y="4312444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474012" y="4312444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988362" y="4312444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502712" y="4312444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124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77240" y="461295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33831" y="455247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特点：可以分配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连续页面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3524" y="4866322"/>
              <a:ext cx="47137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DMA（直接存储器存取）设备要求缓冲区在物理上连续，用这种表容易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满足。</a:t>
              </a:r>
            </a:p>
          </p:txBody>
        </p:sp>
      </p:grpSp>
      <p:grpSp>
        <p:nvGrpSpPr>
          <p:cNvPr id="83" name="c2-card-1"/>
          <p:cNvGrpSpPr/>
          <p:nvPr/>
        </p:nvGrpSpPr>
        <p:grpSpPr>
          <a:xfrm>
            <a:off x="6248400" y="1524000"/>
            <a:ext cx="5410200" cy="3949065"/>
            <a:chOff x="6248400" y="1524000"/>
            <a:chExt cx="5410200" cy="3949065"/>
          </a:xfrm>
        </p:grpSpPr>
        <p:sp>
          <p:nvSpPr>
            <p:cNvPr id="48" name="Rectangle 48"/>
            <p:cNvSpPr/>
            <p:nvPr/>
          </p:nvSpPr>
          <p:spPr>
            <a:xfrm>
              <a:off x="6248400" y="1524000"/>
              <a:ext cx="5410200" cy="3949065"/>
            </a:xfrm>
            <a:prstGeom prst="roundRect">
              <a:avLst>
                <a:gd name="adj" fmla="val 337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57925" y="1657350"/>
              <a:ext cx="47625" cy="36823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84620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64058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空闲页面链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67981" y="175688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空闲页面自己串成一条链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79286" y="2208848"/>
              <a:ext cx="3418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Head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925628" y="2077402"/>
              <a:ext cx="60007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038165" y="2208848"/>
              <a:ext cx="3750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第3页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526655" y="207740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7" name="Ellipse 57"/>
            <p:cNvSpPr/>
            <p:nvPr/>
          </p:nvSpPr>
          <p:spPr>
            <a:xfrm>
              <a:off x="7602855" y="224599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7631430" y="227457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7974330" y="223170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8060055" y="2077402"/>
              <a:ext cx="60007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172592" y="2208848"/>
              <a:ext cx="3750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第7页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660130" y="207740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63" name="Ellipse 63"/>
            <p:cNvSpPr/>
            <p:nvPr/>
          </p:nvSpPr>
          <p:spPr>
            <a:xfrm>
              <a:off x="8736330" y="224599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64" name="Freeform 64"/>
            <p:cNvSpPr/>
            <p:nvPr/>
          </p:nvSpPr>
          <p:spPr>
            <a:xfrm>
              <a:off x="8764905" y="227457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9107805" y="223170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9193530" y="2077402"/>
              <a:ext cx="60007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9306067" y="2208848"/>
              <a:ext cx="3750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第8页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793605" y="207740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69" name="Ellipse 69"/>
            <p:cNvSpPr/>
            <p:nvPr/>
          </p:nvSpPr>
          <p:spPr>
            <a:xfrm>
              <a:off x="9869805" y="2245995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70" name="Freeform 70"/>
            <p:cNvSpPr/>
            <p:nvPr/>
          </p:nvSpPr>
          <p:spPr>
            <a:xfrm>
              <a:off x="9898380" y="227457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10241280" y="2231708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327005" y="2077402"/>
              <a:ext cx="60007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10398727" y="2208848"/>
              <a:ext cx="4566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第12页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10927080" y="2077402"/>
              <a:ext cx="209550" cy="394335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10993774" y="221742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6492240" y="264414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648831" y="2584609"/>
              <a:ext cx="461314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每个空闲页面的开头存放下一个空闲页面的页号，Head 指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向第一个</a:t>
              </a:r>
            </a:p>
          </p:txBody>
        </p:sp>
        <p:sp>
          <p:nvSpPr>
            <p:cNvPr id="78" name="Ellipse 78"/>
            <p:cNvSpPr/>
            <p:nvPr/>
          </p:nvSpPr>
          <p:spPr>
            <a:xfrm>
              <a:off x="6492240" y="323373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648831" y="3173254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分配：从链头摘下一页；去配：把该页挂回链头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6492240" y="355092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648831" y="3491389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优点：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节省空间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，链指针放在空闲页面里，不另占内存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478524" y="3805238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不适合管理外存：沿链查找要一块一块地读磁盘。</a:t>
              </a:r>
            </a:p>
          </p:txBody>
        </p:sp>
      </p:grpSp>
      <p:grpSp>
        <p:nvGrpSpPr>
          <p:cNvPr id="90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84" name="Rectangle 84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8" name="Group 88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9" name="TextBox 89"/>
            <p:cNvSpPr txBox="1"/>
            <p:nvPr/>
          </p:nvSpPr>
          <p:spPr>
            <a:xfrm>
              <a:off x="1040511" y="6011704"/>
              <a:ext cx="101459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三种结构对比：位示图分配时要扫描位串；空闲页面表便于分配连续页面；空闲页面链不占额外空间，但只能逐页摘取。</a:t>
              </a:r>
            </a:p>
          </p:txBody>
        </p:sp>
      </p:grpSp>
      <p:grpSp>
        <p:nvGrpSpPr>
          <p:cNvPr id="9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1" name="TextBox 9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动态异长分区：用空闲区表记录，按四种策略挑选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card-1"/>
          <p:cNvGrpSpPr/>
          <p:nvPr/>
        </p:nvGrpSpPr>
        <p:grpSpPr>
          <a:xfrm>
            <a:off x="533400" y="1524000"/>
            <a:ext cx="3246120" cy="3610928"/>
            <a:chOff x="533400" y="1524000"/>
            <a:chExt cx="3246120" cy="36109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246120" cy="3610928"/>
            </a:xfrm>
            <a:prstGeom prst="roundRect">
              <a:avLst>
                <a:gd name="adj" fmla="val 41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34422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数据结构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65922" y="176879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空闲区表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81050" y="2105025"/>
              <a:ext cx="278892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41019" y="22407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空闲区首址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35479" y="22407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空闲区长度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22047" y="268938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18877" y="268938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81050" y="2997518"/>
              <a:ext cx="27889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3002280"/>
              <a:ext cx="278892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272781" y="313801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676718" y="313801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1500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81050" y="3447098"/>
              <a:ext cx="27889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422047" y="358663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18877" y="358663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" y="2105025"/>
              <a:ext cx="278892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170748" y="210502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786765" y="408336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4880" y="4020502"/>
              <a:ext cx="19133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表项为 (addr, size)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786765" y="441864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44880" y="435578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长度 = 0 的表项为表尾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86765" y="475392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4880" y="4691062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初始时只有一个连续空闲区</a:t>
              </a:r>
            </a:p>
          </p:txBody>
        </p:sp>
      </p:grpSp>
      <p:grpSp>
        <p:nvGrpSpPr>
          <p:cNvPr id="38" name="c1-callout-2"/>
          <p:cNvGrpSpPr/>
          <p:nvPr/>
        </p:nvGrpSpPr>
        <p:grpSpPr>
          <a:xfrm>
            <a:off x="533400" y="5325428"/>
            <a:ext cx="3246120" cy="782955"/>
            <a:chOff x="533400" y="5325428"/>
            <a:chExt cx="3246120" cy="782955"/>
          </a:xfrm>
        </p:grpSpPr>
        <p:sp>
          <p:nvSpPr>
            <p:cNvPr id="33" name="Rectangle 33"/>
            <p:cNvSpPr/>
            <p:nvPr/>
          </p:nvSpPr>
          <p:spPr>
            <a:xfrm>
              <a:off x="533400" y="5325428"/>
              <a:ext cx="3246120" cy="782955"/>
            </a:xfrm>
            <a:prstGeom prst="roundRect">
              <a:avLst>
                <a:gd name="adj" fmla="val 145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616895"/>
              <a:ext cx="200023" cy="200023"/>
              <a:chOff x="738188" y="5616895"/>
              <a:chExt cx="200023" cy="20002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561689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71538" y="56835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474018"/>
              <a:ext cx="2301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选择原则：尽量使空闲区域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保持连续。</a:t>
              </a:r>
            </a:p>
          </p:txBody>
        </p:sp>
      </p:grpSp>
      <p:grpSp>
        <p:nvGrpSpPr>
          <p:cNvPr id="70" name="c2-table-1"/>
          <p:cNvGrpSpPr/>
          <p:nvPr/>
        </p:nvGrpSpPr>
        <p:grpSpPr>
          <a:xfrm>
            <a:off x="4078605" y="1524000"/>
            <a:ext cx="7579995" cy="3673317"/>
            <a:chOff x="4078605" y="1524000"/>
            <a:chExt cx="7579995" cy="3673317"/>
          </a:xfrm>
        </p:grpSpPr>
        <p:sp>
          <p:nvSpPr>
            <p:cNvPr id="39" name="Rectangle 39"/>
            <p:cNvSpPr/>
            <p:nvPr/>
          </p:nvSpPr>
          <p:spPr>
            <a:xfrm>
              <a:off x="4084320" y="1524000"/>
              <a:ext cx="757428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73896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163653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申请时选哪一块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71565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64637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192143" y="2108359"/>
              <a:ext cx="105496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最先适应 FF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（First Fit）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858066" y="22217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第一个可满足的区域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903083" y="2108359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尽量使用低地址，高地址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保持大空闲区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100500" y="222170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可能分割大空闲区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4084320" y="2643188"/>
              <a:ext cx="75742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084320" y="2647950"/>
              <a:ext cx="7574280" cy="9020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192143" y="2897029"/>
              <a:ext cx="1003757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下次适应 NF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（Next Fit）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858066" y="2783681"/>
              <a:ext cx="163855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从上次分配区域的下一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个区域起，第一个可满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足的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903083" y="2897029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查找时间短，空闲区分布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更均匀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100500" y="301037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可能分割大空闲区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084320" y="3546158"/>
              <a:ext cx="75742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192143" y="3685699"/>
              <a:ext cx="1003757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最佳适应 BF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（Best Fit）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858066" y="379904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最小的可满足区域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903083" y="3685699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尽量使用小空闲区，保持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大空闲区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100500" y="3685699"/>
              <a:ext cx="10858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可能形成碎片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（fragment）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4084320" y="4221480"/>
              <a:ext cx="75742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4084320" y="4226242"/>
              <a:ext cx="757428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4192143" y="4361021"/>
              <a:ext cx="1131773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最坏适应 WF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（Worst Fit）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5858066" y="447436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最大的可满足区域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903083" y="4361021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剩下的部分较大，防止形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成碎片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100500" y="447436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分割大空闲区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4084320" y="1524000"/>
              <a:ext cx="7574280" cy="33775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5745480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7790498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987915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4078605" y="4977289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原课件中四种算法的空闲区都按首址递增排列</a:t>
              </a:r>
            </a:p>
          </p:txBody>
        </p:sp>
      </p:grpSp>
      <p:grpSp>
        <p:nvGrpSpPr>
          <p:cNvPr id="77" name="c2-callout-2"/>
          <p:cNvGrpSpPr/>
          <p:nvPr/>
        </p:nvGrpSpPr>
        <p:grpSpPr>
          <a:xfrm>
            <a:off x="4084320" y="5343525"/>
            <a:ext cx="7574280" cy="782955"/>
            <a:chOff x="4084320" y="5343525"/>
            <a:chExt cx="7574280" cy="782955"/>
          </a:xfrm>
        </p:grpSpPr>
        <p:sp>
          <p:nvSpPr>
            <p:cNvPr id="71" name="Rectangle 71"/>
            <p:cNvSpPr/>
            <p:nvPr/>
          </p:nvSpPr>
          <p:spPr>
            <a:xfrm>
              <a:off x="4084320" y="5343525"/>
              <a:ext cx="757428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4289108" y="5634990"/>
              <a:ext cx="200026" cy="200025"/>
              <a:chOff x="4289108" y="5634990"/>
              <a:chExt cx="200026" cy="200025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4289108" y="563499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4328846" y="567944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4363562" y="579056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4591050" y="5492115"/>
              <a:ext cx="65684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NF 的实现：设一个循环查找指针，开始指向表头；每次从指针处查找，查到表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尾就回到表头；分配后指针指向所分配区域的下一个区域。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22344" cy="909257"/>
            <a:chOff x="520446" y="342900"/>
            <a:chExt cx="66223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223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同一张空闲区表，FF、BF、WF 各选哪一块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417324" cy="308039"/>
            <a:chOff x="525399" y="1550194"/>
            <a:chExt cx="941732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41732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空闲区表按首址递增：(128, 64)、(256, 32)、(1024, 256)。分配时从所选区域的低地址端切下。</a:t>
              </a:r>
            </a:p>
          </p:txBody>
        </p:sp>
      </p:grpSp>
      <p:grpSp>
        <p:nvGrpSpPr>
          <p:cNvPr id="49" name="c1-cells-1"/>
          <p:cNvGrpSpPr/>
          <p:nvPr/>
        </p:nvGrpSpPr>
        <p:grpSpPr>
          <a:xfrm>
            <a:off x="527304" y="1967865"/>
            <a:ext cx="4334256" cy="2381250"/>
            <a:chOff x="527304" y="1967865"/>
            <a:chExt cx="4334256" cy="2381250"/>
          </a:xfrm>
        </p:grpSpPr>
        <p:sp>
          <p:nvSpPr>
            <p:cNvPr id="9" name="TextBox 9"/>
            <p:cNvSpPr txBox="1"/>
            <p:nvPr/>
          </p:nvSpPr>
          <p:spPr>
            <a:xfrm>
              <a:off x="527304" y="210216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空闲区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451610" y="196786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41473" y="2102168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 / 64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304098" y="196786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393008" y="2102168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 / 32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156585" y="196786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180855" y="2107406"/>
              <a:ext cx="8029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 / 256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009072" y="196786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195111" y="2102168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表尾 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40249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691784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44272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396759" y="24422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7304" y="2883218"/>
              <a:ext cx="8236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FF 申请 32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451610" y="2748915"/>
              <a:ext cx="85248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541473" y="2883218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160 / 32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304098" y="274891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393008" y="2883218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 / 32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156585" y="274891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180855" y="2888456"/>
              <a:ext cx="8029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 / 256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009072" y="274891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195111" y="2883218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表尾 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27304" y="3473768"/>
              <a:ext cx="8236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BF 申请 30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451610" y="333946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541473" y="3473768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 / 64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304098" y="3339465"/>
              <a:ext cx="852488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439653" y="3473768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286 / 2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156585" y="333946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180855" y="3479006"/>
              <a:ext cx="8029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 / 256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009072" y="333946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195111" y="3473768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表尾 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27304" y="4064318"/>
              <a:ext cx="8595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WF 申请 30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451610" y="393001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541473" y="4064318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 / 64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2304098" y="393001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2393008" y="4064318"/>
              <a:ext cx="6737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 / 32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3156585" y="3930015"/>
              <a:ext cx="85248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180855" y="4069556"/>
              <a:ext cx="8029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1054 / 226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4009072" y="3930015"/>
              <a:ext cx="85248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195111" y="4064318"/>
              <a:ext cx="4794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表尾 0</a:t>
              </a:r>
            </a:p>
          </p:txBody>
        </p:sp>
      </p:grpSp>
      <p:grpSp>
        <p:nvGrpSpPr>
          <p:cNvPr id="51" name="c1-text-2"/>
          <p:cNvGrpSpPr/>
          <p:nvPr/>
        </p:nvGrpSpPr>
        <p:grpSpPr>
          <a:xfrm>
            <a:off x="526923" y="4560094"/>
            <a:ext cx="3846932" cy="249364"/>
            <a:chOff x="526923" y="4560094"/>
            <a:chExt cx="3846932" cy="249364"/>
          </a:xfrm>
        </p:grpSpPr>
        <p:sp>
          <p:nvSpPr>
            <p:cNvPr id="50" name="TextBox 50"/>
            <p:cNvSpPr txBox="1"/>
            <p:nvPr/>
          </p:nvSpPr>
          <p:spPr>
            <a:xfrm>
              <a:off x="526923" y="4560094"/>
              <a:ext cx="3846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每格写作“首址 / 长度”，着色的是被分割的表项。</a:t>
              </a:r>
            </a:p>
          </p:txBody>
        </p:sp>
      </p:grpSp>
      <p:grpSp>
        <p:nvGrpSpPr>
          <p:cNvPr id="76" name="c2-table-1"/>
          <p:cNvGrpSpPr/>
          <p:nvPr/>
        </p:nvGrpSpPr>
        <p:grpSpPr>
          <a:xfrm>
            <a:off x="5166360" y="1967865"/>
            <a:ext cx="6492240" cy="2022158"/>
            <a:chOff x="5166360" y="1967865"/>
            <a:chExt cx="6492240" cy="2022158"/>
          </a:xfrm>
        </p:grpSpPr>
        <p:sp>
          <p:nvSpPr>
            <p:cNvPr id="52" name="Rectangle 52"/>
            <p:cNvSpPr/>
            <p:nvPr/>
          </p:nvSpPr>
          <p:spPr>
            <a:xfrm>
              <a:off x="5166360" y="1967865"/>
              <a:ext cx="649224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37714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15628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93543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分到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0240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444312" y="2551271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FF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33828" y="255127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965587" y="255127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611618" y="2551271"/>
              <a:ext cx="39244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第一个区域长 64 就够，于是把它分割成 (160, 32)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166360" y="286035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166360" y="2865120"/>
              <a:ext cx="649224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444312" y="3114199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BF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233828" y="311419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965587" y="311419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11618" y="3000851"/>
              <a:ext cx="367868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可满足的有 64、32、256，最小的是 32，剩下长度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2 的碎片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166360" y="353568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425195" y="3676174"/>
              <a:ext cx="2614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WF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233828" y="367617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918201" y="367617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611618" y="3676174"/>
              <a:ext cx="2830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最大的 256 被分割，剩 (1054, 226)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5166360" y="1967865"/>
              <a:ext cx="6492240" cy="20221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5940742" y="196786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6719888" y="196786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7499032" y="196786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7" name="c2-card-2"/>
          <p:cNvGrpSpPr/>
          <p:nvPr/>
        </p:nvGrpSpPr>
        <p:grpSpPr>
          <a:xfrm>
            <a:off x="5166360" y="4179570"/>
            <a:ext cx="6492240" cy="1966912"/>
            <a:chOff x="5166360" y="4179570"/>
            <a:chExt cx="6492240" cy="1966912"/>
          </a:xfrm>
        </p:grpSpPr>
        <p:sp>
          <p:nvSpPr>
            <p:cNvPr id="77" name="Rectangle 77"/>
            <p:cNvSpPr/>
            <p:nvPr/>
          </p:nvSpPr>
          <p:spPr>
            <a:xfrm>
              <a:off x="5166360" y="4179570"/>
              <a:ext cx="6492240" cy="1966912"/>
            </a:xfrm>
            <a:prstGeom prst="roundRect">
              <a:avLst>
                <a:gd name="adj" fmla="val 678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5175885" y="4312920"/>
              <a:ext cx="47625" cy="170021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5414010" y="4389120"/>
              <a:ext cx="124110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5468501" y="4424839"/>
              <a:ext cx="11330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NF 与 FF 的区别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761798" y="4424362"/>
              <a:ext cx="21713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连续申请 3 次，每次 20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5419725" y="48482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5577840" y="4785360"/>
              <a:ext cx="5752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FF：每次都从表头找，分到 128、148、168，全挤在第一个区域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5419725" y="51835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5577840" y="5120640"/>
              <a:ext cx="5596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NF：第 1 次分到 128，指针移到下一个区域；第 2 次分到 256，第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次分到 1024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5407533" y="5738336"/>
              <a:ext cx="41413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NF 把分配分散到各个区域，FF 反复切低地址的区域。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04973" cy="909257"/>
            <a:chOff x="520446" y="342900"/>
            <a:chExt cx="800497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049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例题一：请求序列 30、60、200，只有 BF 全部满足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545890" cy="293370"/>
            <a:chOff x="525780" y="1548765"/>
            <a:chExt cx="1054589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545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初始空闲区表 (128, 64)、(256, 32)、(1024, 256)。表中每格写“分到的首址；分配后的空闲区表（首址/长度）”。</a:t>
              </a:r>
            </a:p>
          </p:txBody>
        </p:sp>
      </p:grpSp>
      <p:grpSp>
        <p:nvGrpSpPr>
          <p:cNvPr id="40" name="c1-table-1"/>
          <p:cNvGrpSpPr/>
          <p:nvPr/>
        </p:nvGrpSpPr>
        <p:grpSpPr>
          <a:xfrm>
            <a:off x="533400" y="1954530"/>
            <a:ext cx="11125200" cy="2122170"/>
            <a:chOff x="533400" y="1954530"/>
            <a:chExt cx="11125200" cy="2122170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11125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22020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28325" y="2083118"/>
              <a:ext cx="572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 30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65885" y="2083118"/>
              <a:ext cx="572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 60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6799" y="2083118"/>
              <a:ext cx="666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 200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5889" y="250698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FF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48409" y="2506980"/>
              <a:ext cx="2540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128；158/34、256/32、1024/256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085969" y="2506980"/>
              <a:ext cx="26292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1024；158/34、256/32、1084/196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423529" y="2506980"/>
              <a:ext cx="19426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失败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：最大空闲区只有 196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7984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03208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2931795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NF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48409" y="2931795"/>
              <a:ext cx="16680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128；指针移到 256/32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85969" y="2931795"/>
              <a:ext cx="29361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256/32 不够，分到 1024；指针回到表头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23529" y="2931795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失败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：绕表一圈也找不到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22326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3356610"/>
              <a:ext cx="2093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BF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748409" y="3356610"/>
              <a:ext cx="24515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256；128/64、286/2、1024/256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85969" y="3356610"/>
              <a:ext cx="23626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128；188/4、286/2、1024/256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330565" y="3237548"/>
              <a:ext cx="3318510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423529" y="3356610"/>
              <a:ext cx="23804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1024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；188/4、286/2、1224/56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6471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365188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5889" y="3780472"/>
              <a:ext cx="2451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WF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748409" y="3780472"/>
              <a:ext cx="26292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1024；128/64、256/32、1054/226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085969" y="3780472"/>
              <a:ext cx="26292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1054；128/64、256/32、1114/166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423529" y="3780472"/>
              <a:ext cx="19426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失败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：最大空闲区只有 166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1954530"/>
              <a:ext cx="11125200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1641158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978718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8316278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1-compare-2"/>
          <p:cNvGrpSpPr/>
          <p:nvPr/>
        </p:nvGrpSpPr>
        <p:grpSpPr>
          <a:xfrm>
            <a:off x="533400" y="4256722"/>
            <a:ext cx="11125200" cy="1295400"/>
            <a:chOff x="533400" y="4256722"/>
            <a:chExt cx="11125200" cy="1295400"/>
          </a:xfrm>
        </p:grpSpPr>
        <p:sp>
          <p:nvSpPr>
            <p:cNvPr id="41" name="Rectangle 41"/>
            <p:cNvSpPr/>
            <p:nvPr/>
          </p:nvSpPr>
          <p:spPr>
            <a:xfrm>
              <a:off x="533400" y="4256722"/>
              <a:ext cx="5391150" cy="1295400"/>
            </a:xfrm>
            <a:prstGeom prst="roundRect">
              <a:avLst>
                <a:gd name="adj" fmla="val 102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42925" y="4390072"/>
              <a:ext cx="47625" cy="10287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62381" y="4478179"/>
              <a:ext cx="6937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BF 成功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77240" y="487394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33831" y="481441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小请求都用小区域满足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77240" y="5192077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33831" y="5131594"/>
              <a:ext cx="32068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 处的 256 保持完整，200 能放下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67450" y="4256722"/>
              <a:ext cx="5391150" cy="1295400"/>
            </a:xfrm>
            <a:prstGeom prst="roundRect">
              <a:avLst>
                <a:gd name="adj" fmla="val 102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276975" y="4390072"/>
              <a:ext cx="47625" cy="10287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96431" y="4478179"/>
              <a:ext cx="158502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FF、NF、WF 失败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511290" y="487394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667881" y="4814411"/>
              <a:ext cx="23848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 的请求切开了唯一的大区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511290" y="5192077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667881" y="5131594"/>
              <a:ext cx="20790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之后没有一个区域 ≥ 200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5934075" y="474249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004415" y="483870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8" name="Rectangle 58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511" y="6011704"/>
              <a:ext cx="81142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代价：BF 留下了长度 4 和 2 的两个碎片，它们以后几乎分不出去。本例 NF 的选择与 FF 相同。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767704" cy="909257"/>
            <a:chOff x="520446" y="342900"/>
            <a:chExt cx="87677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7677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例题二：请求序列 40、200、60，这次只有 WF 全部满足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408005" cy="308039"/>
            <a:chOff x="525399" y="1550194"/>
            <a:chExt cx="840800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40800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初始空闲区表同上。本例中 BF 第一次就选了长 64 的区域，与 FF、NF 的选择完全一样。</a:t>
              </a:r>
            </a:p>
          </p:txBody>
        </p:sp>
      </p:grpSp>
      <p:grpSp>
        <p:nvGrpSpPr>
          <p:cNvPr id="28" name="c1-table-1"/>
          <p:cNvGrpSpPr/>
          <p:nvPr/>
        </p:nvGrpSpPr>
        <p:grpSpPr>
          <a:xfrm>
            <a:off x="533400" y="1967865"/>
            <a:ext cx="11125200" cy="1346835"/>
            <a:chOff x="533400" y="1967865"/>
            <a:chExt cx="11125200" cy="134683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375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454076" y="2102644"/>
              <a:ext cx="6108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 40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741881" y="2102644"/>
              <a:ext cx="7103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 200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907264" y="2102644"/>
              <a:ext cx="6108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申请 60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223" y="2551271"/>
              <a:ext cx="1083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FF / NF / BF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198560" y="2551271"/>
              <a:ext cx="27096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128；168/24、256/32、1024/256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36120" y="2551271"/>
              <a:ext cx="27096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1024；168/24、256/32、1224/56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73680" y="2551271"/>
              <a:ext cx="19773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失败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：最大空闲区只有 56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000851"/>
              <a:ext cx="2614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WF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198560" y="3000851"/>
              <a:ext cx="28044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1024；128/64、256/32、1064/216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36120" y="3000851"/>
              <a:ext cx="27096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1064；128/64、256/32、1264/16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873680" y="3000851"/>
              <a:ext cx="25343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128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；188/4、256/32、1264/16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1967865"/>
              <a:ext cx="111252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085975" y="196786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3535" y="196786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8761095" y="196786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1-compare-2"/>
          <p:cNvGrpSpPr/>
          <p:nvPr/>
        </p:nvGrpSpPr>
        <p:grpSpPr>
          <a:xfrm>
            <a:off x="533400" y="3504248"/>
            <a:ext cx="11125200" cy="1703070"/>
            <a:chOff x="533400" y="3504248"/>
            <a:chExt cx="11125200" cy="1703070"/>
          </a:xfrm>
        </p:grpSpPr>
        <p:sp>
          <p:nvSpPr>
            <p:cNvPr id="29" name="Rectangle 29"/>
            <p:cNvSpPr/>
            <p:nvPr/>
          </p:nvSpPr>
          <p:spPr>
            <a:xfrm>
              <a:off x="533400" y="3504248"/>
              <a:ext cx="5391150" cy="1703070"/>
            </a:xfrm>
            <a:prstGeom prst="roundRect">
              <a:avLst>
                <a:gd name="adj" fmla="val 78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3637598"/>
              <a:ext cx="47625" cy="143637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73430" y="3738562"/>
              <a:ext cx="13833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WF 为什么成功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86765" y="415575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44880" y="4092892"/>
              <a:ext cx="35086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 从大区切走后剩 216，仍能放下 200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86765" y="449103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44880" y="4428172"/>
              <a:ext cx="3003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这块中等区域留给了后面的 60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267450" y="3504248"/>
              <a:ext cx="5391150" cy="1703070"/>
            </a:xfrm>
            <a:prstGeom prst="roundRect">
              <a:avLst>
                <a:gd name="adj" fmla="val 78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276975" y="3637598"/>
              <a:ext cx="47625" cy="143637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07480" y="373856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没有总是最好的算法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520815" y="415575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78930" y="4092892"/>
              <a:ext cx="21313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BF 容易留下很小的碎片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520815" y="449103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78930" y="4428172"/>
              <a:ext cx="31836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WF 会把大区切碎，大请求可能失败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520815" y="482631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78930" y="4763452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结果取决于请求序列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5934075" y="419385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004415" y="429006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8" name="Rectangle 4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130" y="5991225"/>
              <a:ext cx="7890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考试手算时，每一步都写出所选区域和分配后的整张空闲区表，下一步在新表上继续选。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09894" cy="909257"/>
            <a:chOff x="520446" y="342900"/>
            <a:chExt cx="73098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098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的空闲区表 map，malloc 按最先适应分配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059805" cy="3888105"/>
            <a:chOff x="533400" y="1524000"/>
            <a:chExt cx="6059805" cy="3888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3888105"/>
            </a:xfrm>
            <a:prstGeom prst="roundRect">
              <a:avLst>
                <a:gd name="adj" fmla="val 245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8466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malloc(mp, size)：成功返回首址，失败返回 0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967038"/>
              <a:ext cx="6021705" cy="17811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3501390"/>
              <a:ext cx="6021705" cy="17811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721" y="1936242"/>
              <a:ext cx="3744239" cy="33997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malloc(mp, size)</a:t>
              </a:r>
              <a:br/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map *mp;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{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register</a:t>
              </a: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register</a:t>
              </a: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map *bp;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(bp = mp; bp-&gt;m_size; bp++) {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(bp-&gt;m_size &gt;= size)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a = bp-&gt;m_addr;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bp-&gt;m_addr += size;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((bp-&gt;m_size -= size) == 0)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do</a:t>
              </a: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bp++;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(bp-1)-&gt;m_addr = bp-&gt;m_addr;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}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((bp-1)-&gt;m_size = bp-&gt;m_size);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(a);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(0);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2-code-1"/>
          <p:cNvGrpSpPr/>
          <p:nvPr/>
        </p:nvGrpSpPr>
        <p:grpSpPr>
          <a:xfrm>
            <a:off x="6898005" y="1524000"/>
            <a:ext cx="4760595" cy="1929765"/>
            <a:chOff x="6898005" y="1524000"/>
            <a:chExt cx="4760595" cy="1929765"/>
          </a:xfrm>
        </p:grpSpPr>
        <p:sp>
          <p:nvSpPr>
            <p:cNvPr id="13" name="Rectangle 13"/>
            <p:cNvSpPr/>
            <p:nvPr/>
          </p:nvSpPr>
          <p:spPr>
            <a:xfrm>
              <a:off x="6898005" y="1524000"/>
              <a:ext cx="4760595" cy="1929765"/>
            </a:xfrm>
            <a:prstGeom prst="roundRect">
              <a:avLst>
                <a:gd name="adj" fmla="val 493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026402" y="1675924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表结构：内存、交换区各一张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26326" y="1936242"/>
              <a:ext cx="2700680" cy="14404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map {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*m_size;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长度，0 为表尾 */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*m_addr;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首址 */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  <a:br/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map coremap[CMAPSIZ];</a:t>
              </a:r>
              <a:br/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map swapmap[SMAPSIZ];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#define CMAPSIZ 100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#define SMAPSIZ 100</a:t>
              </a:r>
            </a:p>
          </p:txBody>
        </p:sp>
      </p:grpSp>
      <p:grpSp>
        <p:nvGrpSpPr>
          <p:cNvPr id="30" name="c2-steps-2"/>
          <p:cNvGrpSpPr/>
          <p:nvPr/>
        </p:nvGrpSpPr>
        <p:grpSpPr>
          <a:xfrm>
            <a:off x="6898005" y="3643312"/>
            <a:ext cx="3835756" cy="1782509"/>
            <a:chOff x="6898005" y="3643312"/>
            <a:chExt cx="3835756" cy="1782509"/>
          </a:xfrm>
        </p:grpSpPr>
        <p:sp>
          <p:nvSpPr>
            <p:cNvPr id="17" name="Rectangle 17"/>
            <p:cNvSpPr/>
            <p:nvPr/>
          </p:nvSpPr>
          <p:spPr>
            <a:xfrm>
              <a:off x="7031355" y="3786188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6898005" y="364331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991629" y="37171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98005" y="42605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991629" y="43343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6898005" y="487680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991629" y="49506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09866" y="3676174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11009" y="3956685"/>
              <a:ext cx="34227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从表头起找第一个 m_size ≥ size 的表项（FF）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09866" y="4293394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切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11009" y="4573905"/>
              <a:ext cx="33238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首址后移 size，长度减 size，原首址作为结果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09866" y="4910614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11009" y="5191125"/>
              <a:ext cx="29442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长度减为 0 时，后面各表项依次上移一格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31" name="Rectangle 31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884545"/>
              <a:ext cx="200026" cy="200026"/>
              <a:chOff x="738188" y="5884545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884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38200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27088" y="59845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511" y="5753576"/>
              <a:ext cx="992416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更正：原课件照录 UNIX V6 源码，=+、=- 即 +=、-=；struct map, *mp 与 mfree 中的 *map、struct map bp 应为 *mp、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*bp；define 前缺 #。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54841" cy="909257"/>
            <a:chOff x="520446" y="342900"/>
            <a:chExt cx="79548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548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mfree：先找插入位置，再看能否与前后空闲区合并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5626418" cy="3709988"/>
            <a:chOff x="533400" y="1524000"/>
            <a:chExt cx="5626418" cy="37099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709988"/>
            </a:xfrm>
            <a:prstGeom prst="roundRect">
              <a:avLst>
                <a:gd name="adj" fmla="val 256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2754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mfree(mp, size, aa)：释放首址 aa、长 size 的区域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967038"/>
              <a:ext cx="5588318" cy="17811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21" y="1936242"/>
              <a:ext cx="4159148" cy="32216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mfree(mp, size, aa)</a:t>
              </a:r>
              <a:br/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map *mp;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{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register</a:t>
              </a: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map *bp;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register</a:t>
              </a: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t, a;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a = aa;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(bp = mp; bp-&gt;m_addr &lt;= a &amp;&amp; bp-&gt;m_size != 0; bp++);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(bp &gt; mp &amp;&amp; (bp-1)-&gt;m_addr + (bp-1)-&gt;m_size == a)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(bp-1)-&gt;m_size += size;       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与前合并 */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(a + size == bp-&gt;m_addr) { 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前后合并 */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(bp-1)-&gt;m_size += bp-&gt;m_size;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(bp-&gt;m_size)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bp++;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(bp-1)-&gt;m_addr = bp-&gt;m_addr;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(bp-1)-&gt;m_size = bp-&gt;m_size;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}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</a:t>
              </a:r>
            </a:p>
          </p:txBody>
        </p:sp>
      </p:grpSp>
      <p:grpSp>
        <p:nvGrpSpPr>
          <p:cNvPr id="18" name="c1-callout-2"/>
          <p:cNvGrpSpPr/>
          <p:nvPr/>
        </p:nvGrpSpPr>
        <p:grpSpPr>
          <a:xfrm>
            <a:off x="533400" y="5414010"/>
            <a:ext cx="5626418" cy="756285"/>
            <a:chOff x="533400" y="5414010"/>
            <a:chExt cx="5626418" cy="756285"/>
          </a:xfrm>
        </p:grpSpPr>
        <p:sp>
          <p:nvSpPr>
            <p:cNvPr id="12" name="Rectangle 12"/>
            <p:cNvSpPr/>
            <p:nvPr/>
          </p:nvSpPr>
          <p:spPr>
            <a:xfrm>
              <a:off x="533400" y="5414010"/>
              <a:ext cx="5626418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738188" y="5692140"/>
              <a:ext cx="200026" cy="200025"/>
              <a:chOff x="738188" y="5692140"/>
              <a:chExt cx="200026" cy="20002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738188" y="56921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77926" y="57365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12642" y="58477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40511" y="5561171"/>
              <a:ext cx="47033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释放后表项数的变化：与前或与后合并时不变，前后合并时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减 1，无合并时加 1。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6464618" y="1524000"/>
            <a:ext cx="5193982" cy="2286000"/>
            <a:chOff x="6464618" y="1524000"/>
            <a:chExt cx="5193982" cy="2286000"/>
          </a:xfrm>
        </p:grpSpPr>
        <p:sp>
          <p:nvSpPr>
            <p:cNvPr id="19" name="Rectangle 19"/>
            <p:cNvSpPr/>
            <p:nvPr/>
          </p:nvSpPr>
          <p:spPr>
            <a:xfrm>
              <a:off x="6464618" y="1524000"/>
              <a:ext cx="5193982" cy="2286000"/>
            </a:xfrm>
            <a:prstGeom prst="roundRect">
              <a:avLst>
                <a:gd name="adj" fmla="val 416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93015" y="1675924"/>
              <a:ext cx="10227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接左侧 else 分支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92938" y="1936242"/>
              <a:ext cx="3763099" cy="1796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(a + size == bp-&gt;m_addr &amp;&amp; bp-&gt;m_size)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bp-&gt;m_addr -= size;       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与后合并 */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bp-&gt;m_size += size;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else</a:t>
              </a: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(size)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do</a:t>
              </a:r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{         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无合并 */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t = bp-&gt;m_addr; bp-&gt;m_addr = a; a = t;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t = bp-&gt;m_size; bp-&gt;m_size = size;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bp++;  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新区放入本格，旧项带到下一格 */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 </a:t>
              </a:r>
              <a:r>
                <a:rPr lang="en-US" sz="99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(size = t);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2" name="c2-table-2"/>
          <p:cNvGrpSpPr/>
          <p:nvPr/>
        </p:nvGrpSpPr>
        <p:grpSpPr>
          <a:xfrm>
            <a:off x="6459284" y="3990022"/>
            <a:ext cx="5199316" cy="2401825"/>
            <a:chOff x="6459284" y="3990022"/>
            <a:chExt cx="5199316" cy="2401825"/>
          </a:xfrm>
        </p:grpSpPr>
        <p:sp>
          <p:nvSpPr>
            <p:cNvPr id="23" name="Rectangle 23"/>
            <p:cNvSpPr/>
            <p:nvPr/>
          </p:nvSpPr>
          <p:spPr>
            <a:xfrm>
              <a:off x="6464618" y="3990022"/>
              <a:ext cx="5193982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72300" y="41186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情况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07271" y="41186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判断条件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67106" y="454247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与前合并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17752" y="4542472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前一空闲区的末尾 = a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64618" y="48339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64618" y="4838700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7106" y="49672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前后合并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917752" y="4967288"/>
              <a:ext cx="22899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同时 a + size = 后一空闲区首址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64618" y="525875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67106" y="539210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与后合并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17752" y="5392102"/>
              <a:ext cx="22899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 a + size = 后一空闲区首址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64618" y="568261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64618" y="5687378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67106" y="581596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无合并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17752" y="5815965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插入新表项，后面各项下移一格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64618" y="3990022"/>
              <a:ext cx="5193982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810500" y="3990022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59284" y="6186488"/>
              <a:ext cx="42511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for 循环停在第一个首址大于 a 的表项 bp，bp−1 就是前一个空闲区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81035" cy="909257"/>
            <a:chOff x="520446" y="342900"/>
            <a:chExt cx="78810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810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例题：跟踪 coremap 的变化，看遍合并的各种情况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810680" cy="264033"/>
            <a:chOff x="526542" y="1545907"/>
            <a:chExt cx="681068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初始 coremap：(128, 64)、(256, 32)、(1024, 256)，每项写作（首址, 长度）。</a:t>
              </a:r>
            </a:p>
          </p:txBody>
        </p:sp>
      </p:grpSp>
      <p:grpSp>
        <p:nvGrpSpPr>
          <p:cNvPr id="61" name="c1-table-1"/>
          <p:cNvGrpSpPr/>
          <p:nvPr/>
        </p:nvGrpSpPr>
        <p:grpSpPr>
          <a:xfrm>
            <a:off x="533400" y="1928812"/>
            <a:ext cx="7141845" cy="4400551"/>
            <a:chOff x="533400" y="1928812"/>
            <a:chExt cx="7141845" cy="4400551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714184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01853" y="20502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05661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40201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37775" y="2050256"/>
              <a:ext cx="13031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操作后的 coremap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3704" y="24503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0618" y="2450306"/>
              <a:ext cx="795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malloc(32)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987040" y="2450306"/>
              <a:ext cx="6069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 128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200650" y="2450306"/>
              <a:ext cx="2257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(160,32) (256,32) (1024,256)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724150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728912"/>
              <a:ext cx="7141845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33704" y="29503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30618" y="2950369"/>
              <a:ext cx="795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malloc(32)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87040" y="2850356"/>
              <a:ext cx="183210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 160；该项长度为 0，后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项上移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00650" y="2950369"/>
              <a:ext cx="15493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(256,32) (1024,256)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324225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33704" y="3550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30618" y="3550444"/>
              <a:ext cx="8783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malloc(100)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987040" y="3450431"/>
              <a:ext cx="176809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 处只有 32，跳过；返回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200650" y="3550444"/>
              <a:ext cx="15493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(256,32) (1124,156)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924300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929062"/>
              <a:ext cx="714184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704" y="40505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30618" y="4050506"/>
              <a:ext cx="795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malloc(56)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87040" y="4050506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 1124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200650" y="4050506"/>
              <a:ext cx="15493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(256,32) (1180,100)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324350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33704" y="44505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30618" y="4450556"/>
              <a:ext cx="11648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mfree(32, 160)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87040" y="44505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无合并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，插入表头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200650" y="4450556"/>
              <a:ext cx="2257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(160,32) (256,32) (1180,100)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724400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3400" y="4729162"/>
              <a:ext cx="714184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33704" y="4850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30618" y="4850606"/>
              <a:ext cx="11648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mfree(32, 128)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987040" y="4850606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128+32 = 160，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与后合并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200650" y="4850606"/>
              <a:ext cx="2257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(128,64) (256,32) (1180,100)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5124450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33704" y="53506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30618" y="5350669"/>
              <a:ext cx="13307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mfree(100, 1024)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987040" y="5250656"/>
              <a:ext cx="166852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 288 ≠ 1024，后 1180 ≠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1124，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无合并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200650" y="5250656"/>
              <a:ext cx="213080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(128,64) (256,32) (1024,100)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(1180,100)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5724525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33400" y="5729288"/>
              <a:ext cx="7141845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33704" y="59507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30618" y="5950744"/>
              <a:ext cx="12477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mfree(56, 1124)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2987040" y="5850731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前末尾 1124，后首址 1180，</a:t>
              </a:r>
              <a:br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前后合并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200650" y="5950744"/>
              <a:ext cx="2257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(128,64) (256,32) (1024,256)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1928812"/>
              <a:ext cx="7141845" cy="44005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28700" y="1928812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2885122" y="1928812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098732" y="1928812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2" name="c2-card-1"/>
          <p:cNvGrpSpPr/>
          <p:nvPr/>
        </p:nvGrpSpPr>
        <p:grpSpPr>
          <a:xfrm>
            <a:off x="7980045" y="1928812"/>
            <a:ext cx="3678555" cy="2278380"/>
            <a:chOff x="7980045" y="1928812"/>
            <a:chExt cx="3678555" cy="2278380"/>
          </a:xfrm>
        </p:grpSpPr>
        <p:sp>
          <p:nvSpPr>
            <p:cNvPr id="62" name="Rectangle 62"/>
            <p:cNvSpPr/>
            <p:nvPr/>
          </p:nvSpPr>
          <p:spPr>
            <a:xfrm>
              <a:off x="7980045" y="1928812"/>
              <a:ext cx="3678555" cy="2278380"/>
            </a:xfrm>
            <a:prstGeom prst="roundRect">
              <a:avLst>
                <a:gd name="adj" fmla="val 58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7989570" y="2062162"/>
              <a:ext cx="47625" cy="201168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8204835" y="2115502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289404" y="214836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换个顺序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019032" y="2150745"/>
              <a:ext cx="12468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5、6 步对调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8213408" y="253269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369427" y="2476500"/>
              <a:ext cx="29626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 mfree(32, 128)：后面 160 还没释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放，无合并，得 (128,32)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8213408" y="308991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8369427" y="3033712"/>
              <a:ext cx="257689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 mfree(32, 160)：前一区末尾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128+32 = 160，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与前合并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(128,64)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199120" y="384476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结果相同，走的分支不同。</a:t>
              </a:r>
            </a:p>
          </p:txBody>
        </p:sp>
      </p:grpSp>
      <p:grpSp>
        <p:nvGrpSpPr>
          <p:cNvPr id="81" name="c2-card-2"/>
          <p:cNvGrpSpPr/>
          <p:nvPr/>
        </p:nvGrpSpPr>
        <p:grpSpPr>
          <a:xfrm>
            <a:off x="7980045" y="4376738"/>
            <a:ext cx="3678555" cy="1952625"/>
            <a:chOff x="7980045" y="4376738"/>
            <a:chExt cx="3678555" cy="1952625"/>
          </a:xfrm>
        </p:grpSpPr>
        <p:sp>
          <p:nvSpPr>
            <p:cNvPr id="73" name="Rectangle 73"/>
            <p:cNvSpPr/>
            <p:nvPr/>
          </p:nvSpPr>
          <p:spPr>
            <a:xfrm>
              <a:off x="7980045" y="4376738"/>
              <a:ext cx="3678555" cy="1952625"/>
            </a:xfrm>
            <a:prstGeom prst="roundRect">
              <a:avLst>
                <a:gd name="adj" fmla="val 68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7989570" y="4510088"/>
              <a:ext cx="47625" cy="168592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8204835" y="456342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296554" y="459628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77" name="Ellipse 77"/>
            <p:cNvSpPr/>
            <p:nvPr/>
          </p:nvSpPr>
          <p:spPr>
            <a:xfrm>
              <a:off x="8213408" y="496443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369427" y="4908233"/>
              <a:ext cx="29283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前后合并后表项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减少一项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，后面的表项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要上移</a:t>
              </a:r>
            </a:p>
          </p:txBody>
        </p:sp>
        <p:sp>
          <p:nvSpPr>
            <p:cNvPr id="79" name="Ellipse 79"/>
            <p:cNvSpPr/>
            <p:nvPr/>
          </p:nvSpPr>
          <p:spPr>
            <a:xfrm>
              <a:off x="8213408" y="552164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8369427" y="5465445"/>
              <a:ext cx="22425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无合并时表项增加一项，表满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（CMAPSIZ）就放不下了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内存资源管理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碎片太多时用紧凑：移动占用区，让空闲区连成一片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cells-1"/>
          <p:cNvGrpSpPr/>
          <p:nvPr/>
        </p:nvGrpSpPr>
        <p:grpSpPr>
          <a:xfrm>
            <a:off x="527685" y="1524000"/>
            <a:ext cx="5276850" cy="1009650"/>
            <a:chOff x="527685" y="1524000"/>
            <a:chExt cx="5276850" cy="1009650"/>
          </a:xfrm>
        </p:grpSpPr>
        <p:sp>
          <p:nvSpPr>
            <p:cNvPr id="7" name="TextBox 7"/>
            <p:cNvSpPr txBox="1"/>
            <p:nvPr/>
          </p:nvSpPr>
          <p:spPr>
            <a:xfrm>
              <a:off x="527685" y="166354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紧凑前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93470" y="1524000"/>
              <a:ext cx="78486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371457" y="166354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878330" y="1524000"/>
              <a:ext cx="78486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78925" y="166354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8k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664142" y="1524000"/>
              <a:ext cx="78486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757829" y="1663541"/>
              <a:ext cx="59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P1 248k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49002" y="1524000"/>
              <a:ext cx="78486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749598" y="166354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6k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234815" y="1524000"/>
              <a:ext cx="78486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328501" y="1663541"/>
              <a:ext cx="59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P2 250k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019675" y="1524000"/>
              <a:ext cx="78486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320270" y="1663541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4k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7685" y="22540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紧凑后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93470" y="2114550"/>
              <a:ext cx="82296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390507" y="2254091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OS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916430" y="2114550"/>
              <a:ext cx="82296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030119" y="2254091"/>
              <a:ext cx="59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P1 248k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740342" y="2114550"/>
              <a:ext cx="82296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853079" y="2254091"/>
              <a:ext cx="5974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P2 250k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3563302" y="2114550"/>
              <a:ext cx="82296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663938" y="2254091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空闲 18k</a:t>
              </a:r>
            </a:p>
          </p:txBody>
        </p:sp>
      </p:grpSp>
      <p:grpSp>
        <p:nvGrpSpPr>
          <p:cNvPr id="55" name="c1-table-2"/>
          <p:cNvGrpSpPr/>
          <p:nvPr/>
        </p:nvGrpSpPr>
        <p:grpSpPr>
          <a:xfrm>
            <a:off x="533400" y="2724150"/>
            <a:ext cx="6492240" cy="2244090"/>
            <a:chOff x="533400" y="2724150"/>
            <a:chExt cx="6492240" cy="2244090"/>
          </a:xfrm>
        </p:grpSpPr>
        <p:sp>
          <p:nvSpPr>
            <p:cNvPr id="30" name="Rectangle 30"/>
            <p:cNvSpPr/>
            <p:nvPr/>
          </p:nvSpPr>
          <p:spPr>
            <a:xfrm>
              <a:off x="533400" y="2724150"/>
              <a:ext cx="649224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68984" y="285988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区域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963075" y="285988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紧凑前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494820" y="285988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紧凑后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1223" y="3308509"/>
              <a:ext cx="2614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OS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885534" y="3308509"/>
              <a:ext cx="684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~ 256k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417279" y="3308509"/>
              <a:ext cx="684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~ 256k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361664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3621405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1223" y="3757136"/>
              <a:ext cx="9659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P1（248k）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743375" y="3757136"/>
              <a:ext cx="9692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264k ~ 512k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809874" y="3757136"/>
              <a:ext cx="18997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256k ~ 504k（下移 8k）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06622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1223" y="4205764"/>
              <a:ext cx="9659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P2（250k）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743375" y="4205764"/>
              <a:ext cx="9692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518k ~ 768k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762487" y="4205764"/>
              <a:ext cx="19945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504k ~ 754k（下移 14k）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51485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3400" y="4519612"/>
              <a:ext cx="649224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1223" y="465439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566754" y="4654391"/>
              <a:ext cx="13225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8k、6k、4k 三块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4503420" y="4529138"/>
              <a:ext cx="251269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848644" y="4654391"/>
              <a:ext cx="18222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754k ~ 772k，一块 18k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2724150"/>
              <a:ext cx="649224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957388" y="272415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4489132" y="272415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2-image-1"/>
          <p:cNvGrpSpPr/>
          <p:nvPr/>
        </p:nvGrpSpPr>
        <p:grpSpPr>
          <a:xfrm>
            <a:off x="7330440" y="1524000"/>
            <a:ext cx="4328160" cy="4159092"/>
            <a:chOff x="7330440" y="1524000"/>
            <a:chExt cx="4328160" cy="4159092"/>
          </a:xfrm>
        </p:grpSpPr>
        <p:pic>
          <p:nvPicPr>
            <p:cNvPr id="56" name="Image 56"/>
            <p:cNvPicPr>
              <a:picLocks noChangeAspect="1"/>
            </p:cNvPicPr>
            <p:nvPr/>
          </p:nvPicPr>
          <p:blipFill>
            <a:blip r:embed="rId2"/>
            <a:srcRect l="7780" t="0" r="7780" b="0"/>
            <a:stretch>
              <a:fillRect/>
            </a:stretch>
          </p:blipFill>
          <p:spPr>
            <a:xfrm>
              <a:off x="7330440" y="1524000"/>
              <a:ext cx="4328160" cy="3844290"/>
            </a:xfrm>
            <a:prstGeom prst="roundRect">
              <a:avLst>
                <a:gd name="adj" fmla="val 3468"/>
              </a:avLst>
            </a:prstGeom>
          </p:spPr>
        </p:pic>
        <p:sp>
          <p:nvSpPr>
            <p:cNvPr id="57" name="TextBox 57"/>
            <p:cNvSpPr txBox="1"/>
            <p:nvPr/>
          </p:nvSpPr>
          <p:spPr>
            <a:xfrm>
              <a:off x="7679512" y="5463064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书之间的小空隙放不下一本厚书，推到一边后就能放下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9" name="Rectangle 5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130" y="5991225"/>
              <a:ext cx="93141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紧凑要搬动进程并修改它们的基址，被移动的程序必须可重定位（见 6.3.1），开销很大，不能频繁做。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6023991" cy="3706177"/>
            <a:chOff x="667512" y="1835468"/>
            <a:chExt cx="6023991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界地址管理方式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014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一个进程占一块连续内存，用基址、限长两个寄存器完成映射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283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 四种存储管理方式概览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706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6.3.1.1 基本原理与地址映射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59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6.3.1.2 双对界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60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6.3.1.3 交换技术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660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6.3.1.4 覆盖技术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界地址管理方式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四种存储管理方式：先看逻辑地址是一维还是二维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table-1"/>
          <p:cNvGrpSpPr/>
          <p:nvPr/>
        </p:nvGrpSpPr>
        <p:grpSpPr>
          <a:xfrm>
            <a:off x="533400" y="1524000"/>
            <a:ext cx="11125200" cy="2194560"/>
            <a:chOff x="533400" y="1524000"/>
            <a:chExt cx="11125200" cy="21945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39102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52703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管理方式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07448" y="164877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内存空间划分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23076" y="164877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进程空间划分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730930" y="164877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逻辑地址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29412" y="208788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界地址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09634" y="208788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动态异长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02377" y="20878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一个进程一个区域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39937" y="2087880"/>
              <a:ext cx="6588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一维：a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9744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402205"/>
              <a:ext cx="11125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29412" y="252698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09634" y="2526982"/>
              <a:ext cx="23217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静态等长，每块 2^i（页架）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02377" y="2526982"/>
              <a:ext cx="23217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静态等长，每块 2^i（页面）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39937" y="2526982"/>
              <a:ext cx="23581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一维：a，由硬件拆成 (p, d)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8355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9412" y="296608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09634" y="296608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动态异长，每区一段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302377" y="296608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若干段，每段一个程序单位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39937" y="2966085"/>
              <a:ext cx="11132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二维：(s, d)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2746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279458"/>
              <a:ext cx="11125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9412" y="340518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09634" y="340518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同页式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02377" y="340518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若干段，每段若干页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639937" y="3405188"/>
              <a:ext cx="13676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二维：(s, p, d)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11125200" cy="21945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308860" y="1524000"/>
              <a:ext cx="9525" cy="21945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201602" y="1524000"/>
              <a:ext cx="9525" cy="21945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539162" y="1524000"/>
              <a:ext cx="9525" cy="21945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1-compare-2"/>
          <p:cNvGrpSpPr/>
          <p:nvPr/>
        </p:nvGrpSpPr>
        <p:grpSpPr>
          <a:xfrm>
            <a:off x="533400" y="3888105"/>
            <a:ext cx="11125200" cy="1223962"/>
            <a:chOff x="533400" y="3888105"/>
            <a:chExt cx="11125200" cy="1223962"/>
          </a:xfrm>
        </p:grpSpPr>
        <p:sp>
          <p:nvSpPr>
            <p:cNvPr id="38" name="Rectangle 38"/>
            <p:cNvSpPr/>
            <p:nvPr/>
          </p:nvSpPr>
          <p:spPr>
            <a:xfrm>
              <a:off x="533400" y="3888105"/>
              <a:ext cx="5391150" cy="1223962"/>
            </a:xfrm>
            <a:prstGeom prst="roundRect">
              <a:avLst>
                <a:gd name="adj" fmla="val 108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42925" y="4021455"/>
              <a:ext cx="47625" cy="95726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1332" y="409765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一维地址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66762" y="447103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782" y="4414838"/>
              <a:ext cx="33122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程序员看到一个从 0 开始的连续地址空间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66762" y="477107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782" y="47148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页式的页号、页内地址是按位拆出来的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67450" y="3888105"/>
              <a:ext cx="5391150" cy="1223962"/>
            </a:xfrm>
            <a:prstGeom prst="roundRect">
              <a:avLst>
                <a:gd name="adj" fmla="val 108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76975" y="4021455"/>
              <a:ext cx="47625" cy="95726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485382" y="409765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二维地址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500812" y="447103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56832" y="441483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段号由程序自己给出，与段内地址互相独立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500812" y="477107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656832" y="4714875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每段各自从 0 编址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5934075" y="433863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004415" y="443484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9" name="c1-flow-3"/>
          <p:cNvGrpSpPr/>
          <p:nvPr/>
        </p:nvGrpSpPr>
        <p:grpSpPr>
          <a:xfrm>
            <a:off x="727710" y="5516880"/>
            <a:ext cx="10735628" cy="578168"/>
            <a:chOff x="727710" y="5516880"/>
            <a:chExt cx="10735628" cy="578168"/>
          </a:xfrm>
        </p:grpSpPr>
        <p:sp>
          <p:nvSpPr>
            <p:cNvPr id="55" name="Freeform 55"/>
            <p:cNvSpPr/>
            <p:nvPr/>
          </p:nvSpPr>
          <p:spPr>
            <a:xfrm>
              <a:off x="3120390" y="5806440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3404235" y="57540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5901690" y="5806440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6185535" y="57540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8682990" y="5806440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8966835" y="57540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27710" y="5613082"/>
              <a:ext cx="2391728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3509010" y="5613082"/>
              <a:ext cx="2391728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6290310" y="5516880"/>
              <a:ext cx="2391728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9071610" y="5613082"/>
              <a:ext cx="2391728" cy="385762"/>
            </a:xfrm>
            <a:prstGeom prst="roundRect">
              <a:avLst>
                <a:gd name="adj" fmla="val 24691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013689" y="572785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界地址：整块连续，碎片多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719601" y="5727859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页式：离散存放，无外部碎片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485255" y="5630704"/>
              <a:ext cx="200279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段式：按程序单位，便于共享保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659137" y="572785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段页式：兼顾两者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847177" cy="909257"/>
            <a:chOff x="520446" y="342900"/>
            <a:chExt cx="984717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界地址管理方式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84717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界地址：进程占一块连续区域，逻辑地址 0 ~ l−1 对应 b ~ b+l−1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graph-1"/>
          <p:cNvGrpSpPr/>
          <p:nvPr/>
        </p:nvGrpSpPr>
        <p:grpSpPr>
          <a:xfrm>
            <a:off x="762952" y="1644491"/>
            <a:ext cx="4687253" cy="4672013"/>
            <a:chOff x="762952" y="1644491"/>
            <a:chExt cx="4687253" cy="4672013"/>
          </a:xfrm>
        </p:grpSpPr>
        <p:sp>
          <p:nvSpPr>
            <p:cNvPr id="7" name="Freeform 7"/>
            <p:cNvSpPr/>
            <p:nvPr/>
          </p:nvSpPr>
          <p:spPr>
            <a:xfrm>
              <a:off x="2382202" y="3943350"/>
              <a:ext cx="1448752" cy="9525"/>
            </a:xfrm>
            <a:custGeom>
              <a:avLst/>
              <a:gdLst/>
              <a:ahLst/>
              <a:cxnLst/>
              <a:rect l="l" t="t" r="r" b="b"/>
              <a:pathLst>
                <a:path w="1448752" h="9525">
                  <a:moveTo>
                    <a:pt x="0" y="0"/>
                  </a:moveTo>
                  <a:lnTo>
                    <a:pt x="144875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830955" y="38957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952" y="3228975"/>
              <a:ext cx="1619250" cy="1428750"/>
            </a:xfrm>
            <a:prstGeom prst="roundRect">
              <a:avLst>
                <a:gd name="adj" fmla="val 6667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3926205" y="1965008"/>
              <a:ext cx="1524000" cy="666750"/>
            </a:xfrm>
            <a:prstGeom prst="roundRect">
              <a:avLst>
                <a:gd name="adj" fmla="val 1428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3926205" y="3228975"/>
              <a:ext cx="1524000" cy="1428750"/>
            </a:xfrm>
            <a:prstGeom prst="roundRect">
              <a:avLst>
                <a:gd name="adj" fmla="val 6667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3926205" y="5254942"/>
              <a:ext cx="1524000" cy="666750"/>
            </a:xfrm>
            <a:prstGeom prst="roundRect">
              <a:avLst>
                <a:gd name="adj" fmla="val 1428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96181" y="3873341"/>
              <a:ext cx="11527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进程空间 0 ~ l−1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38954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50032" y="3873341"/>
              <a:ext cx="6763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~ b+l−1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38954" y="55183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887028" y="3857625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906649" y="389001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整体对应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65314" y="609647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进程空间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380941" y="16444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内存空间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6032182" y="1524000"/>
            <a:ext cx="5626418" cy="1701165"/>
            <a:chOff x="6032182" y="1524000"/>
            <a:chExt cx="5626418" cy="1701165"/>
          </a:xfrm>
        </p:grpSpPr>
        <p:sp>
          <p:nvSpPr>
            <p:cNvPr id="22" name="Rectangle 22"/>
            <p:cNvSpPr/>
            <p:nvPr/>
          </p:nvSpPr>
          <p:spPr>
            <a:xfrm>
              <a:off x="6032182" y="1524000"/>
              <a:ext cx="5626418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41708" y="1657350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79832" y="1733550"/>
              <a:ext cx="139827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43204" y="1769269"/>
              <a:ext cx="12715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6.3.1.1 基本原理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279832" y="209740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41682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80823" y="211074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内存空间划分：动态异长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79832" y="243268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41682" y="24749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80823" y="2446020"/>
              <a:ext cx="47404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进程空间划分：一个进程一个区域，逻辑地址 0 ~ l−1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279832" y="276796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41682" y="28102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80823" y="2781300"/>
              <a:ext cx="49625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对应关系：进程区域整体放在 b ~ b+l−1，位置可以浮动</a:t>
              </a:r>
            </a:p>
          </p:txBody>
        </p:sp>
      </p:grpSp>
      <p:grpSp>
        <p:nvGrpSpPr>
          <p:cNvPr id="47" name="c2-kv-2"/>
          <p:cNvGrpSpPr/>
          <p:nvPr/>
        </p:nvGrpSpPr>
        <p:grpSpPr>
          <a:xfrm>
            <a:off x="6024562" y="3440430"/>
            <a:ext cx="5634038" cy="1613535"/>
            <a:chOff x="6024562" y="3440430"/>
            <a:chExt cx="5634038" cy="1613535"/>
          </a:xfrm>
        </p:grpSpPr>
        <p:sp>
          <p:nvSpPr>
            <p:cNvPr id="36" name="TextBox 36"/>
            <p:cNvSpPr txBox="1"/>
            <p:nvPr/>
          </p:nvSpPr>
          <p:spPr>
            <a:xfrm>
              <a:off x="6024562" y="34404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内存分配表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40930" y="3440430"/>
              <a:ext cx="26660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PCB 中，记录进程的 b 和 l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32182" y="376047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24562" y="388048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空闲区域表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440930" y="3880485"/>
              <a:ext cx="2145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array of (addr, size)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32182" y="420052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024562" y="4320540"/>
              <a:ext cx="12051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基址寄存器 b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40930" y="432054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保存运行进程的起始地址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32182" y="464058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024562" y="4760595"/>
              <a:ext cx="11521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限长寄存器 l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440930" y="476059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保存运行进程的长度</a:t>
              </a:r>
            </a:p>
          </p:txBody>
        </p:sp>
      </p:grpSp>
      <p:grpSp>
        <p:nvGrpSpPr>
          <p:cNvPr id="53" name="c2-callout-3"/>
          <p:cNvGrpSpPr/>
          <p:nvPr/>
        </p:nvGrpSpPr>
        <p:grpSpPr>
          <a:xfrm>
            <a:off x="6032182" y="5185410"/>
            <a:ext cx="5626418" cy="1059180"/>
            <a:chOff x="6032182" y="5185410"/>
            <a:chExt cx="5626418" cy="1059180"/>
          </a:xfrm>
        </p:grpSpPr>
        <p:sp>
          <p:nvSpPr>
            <p:cNvPr id="48" name="Rectangle 48"/>
            <p:cNvSpPr/>
            <p:nvPr/>
          </p:nvSpPr>
          <p:spPr>
            <a:xfrm>
              <a:off x="6032182" y="5185410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236970" y="5614990"/>
              <a:ext cx="200023" cy="200023"/>
              <a:chOff x="6236970" y="5614990"/>
              <a:chExt cx="200023" cy="200023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236970" y="5614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370320" y="5681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538912" y="5334000"/>
              <a:ext cx="45967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例：第 17 页的 P1 装在 264k，长 248k，PCB 中记 b =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264k、l = 248k，逻辑地址 0 ~ 248k−1 对应 264k ~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512k−1。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20414" cy="909257"/>
            <a:chOff x="520446" y="342900"/>
            <a:chExt cx="62204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界地址管理方式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204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界地址的映射：先拿 a 和 l 比，再加上 b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flow-1"/>
          <p:cNvGrpSpPr/>
          <p:nvPr/>
        </p:nvGrpSpPr>
        <p:grpSpPr>
          <a:xfrm>
            <a:off x="700088" y="1756410"/>
            <a:ext cx="4427219" cy="2245995"/>
            <a:chOff x="700088" y="1756410"/>
            <a:chExt cx="4427219" cy="2245995"/>
          </a:xfrm>
        </p:grpSpPr>
        <p:sp>
          <p:nvSpPr>
            <p:cNvPr id="7" name="Freeform 7"/>
            <p:cNvSpPr/>
            <p:nvPr/>
          </p:nvSpPr>
          <p:spPr>
            <a:xfrm>
              <a:off x="1724025" y="2194560"/>
              <a:ext cx="9525" cy="279082"/>
            </a:xfrm>
            <a:custGeom>
              <a:avLst/>
              <a:gdLst/>
              <a:ahLst/>
              <a:cxnLst/>
              <a:rect l="l" t="t" r="r" b="b"/>
              <a:pathLst>
                <a:path w="9525" h="279082">
                  <a:moveTo>
                    <a:pt x="0" y="0"/>
                  </a:moveTo>
                  <a:lnTo>
                    <a:pt x="0" y="27908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671638" y="24736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724025" y="3180398"/>
              <a:ext cx="9525" cy="279083"/>
            </a:xfrm>
            <a:custGeom>
              <a:avLst/>
              <a:gdLst/>
              <a:ahLst/>
              <a:cxnLst/>
              <a:rect l="l" t="t" r="r" b="b"/>
              <a:pathLst>
                <a:path w="9525" h="279083">
                  <a:moveTo>
                    <a:pt x="0" y="0"/>
                  </a:moveTo>
                  <a:lnTo>
                    <a:pt x="0" y="27908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671638" y="34594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628900" y="2879408"/>
              <a:ext cx="346710" cy="9525"/>
            </a:xfrm>
            <a:custGeom>
              <a:avLst/>
              <a:gdLst/>
              <a:ahLst/>
              <a:cxnLst/>
              <a:rect l="l" t="t" r="r" b="b"/>
              <a:pathLst>
                <a:path w="346710" h="9525">
                  <a:moveTo>
                    <a:pt x="0" y="0"/>
                  </a:moveTo>
                  <a:lnTo>
                    <a:pt x="34671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975610" y="28270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00088" y="1756410"/>
              <a:ext cx="204692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819150" y="2578418"/>
              <a:ext cx="1809750" cy="601980"/>
            </a:xfrm>
            <a:custGeom>
              <a:avLst/>
              <a:gdLst/>
              <a:ahLst/>
              <a:cxnLst/>
              <a:rect l="l" t="t" r="r" b="b"/>
              <a:pathLst>
                <a:path w="1809750" h="601980">
                  <a:moveTo>
                    <a:pt x="904875" y="0"/>
                  </a:moveTo>
                  <a:lnTo>
                    <a:pt x="1809750" y="300990"/>
                  </a:lnTo>
                  <a:lnTo>
                    <a:pt x="904875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700088" y="3564255"/>
              <a:ext cx="2046922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080385" y="2660332"/>
              <a:ext cx="204692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5242" y="1886426"/>
              <a:ext cx="17175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由程序确定逻辑地址 a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17839" y="2790349"/>
              <a:ext cx="10123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a ≤ l−1？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79988" y="3694271"/>
              <a:ext cx="12880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= b + a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53218" y="279034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752600" y="328041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775841" y="330708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满足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606992" y="2663190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637282" y="268986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不满足</a:t>
              </a:r>
            </a:p>
          </p:txBody>
        </p:sp>
      </p:grpSp>
      <p:grpSp>
        <p:nvGrpSpPr>
          <p:cNvPr id="34" name="c1-card-2"/>
          <p:cNvGrpSpPr/>
          <p:nvPr/>
        </p:nvGrpSpPr>
        <p:grpSpPr>
          <a:xfrm>
            <a:off x="533400" y="4425315"/>
            <a:ext cx="4760595" cy="1937385"/>
            <a:chOff x="533400" y="4425315"/>
            <a:chExt cx="4760595" cy="1937385"/>
          </a:xfrm>
        </p:grpSpPr>
        <p:sp>
          <p:nvSpPr>
            <p:cNvPr id="26" name="Rectangle 26"/>
            <p:cNvSpPr/>
            <p:nvPr/>
          </p:nvSpPr>
          <p:spPr>
            <a:xfrm>
              <a:off x="533400" y="4425315"/>
              <a:ext cx="4760595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4558665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81050" y="463486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45655" y="467058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界地址方式的问题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86765" y="507492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4880" y="5012055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进程必须占一块连续区域，释放后留下外部碎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片，只能靠紧凑整理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86765" y="569595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44880" y="5633085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进程长度受最大空闲区限制，内存不够时靠交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换、覆盖技术缓解</a:t>
              </a:r>
            </a:p>
          </p:txBody>
        </p:sp>
      </p:grpSp>
      <p:grpSp>
        <p:nvGrpSpPr>
          <p:cNvPr id="60" name="c2-card-1"/>
          <p:cNvGrpSpPr/>
          <p:nvPr/>
        </p:nvGrpSpPr>
        <p:grpSpPr>
          <a:xfrm>
            <a:off x="5598795" y="1524000"/>
            <a:ext cx="6059805" cy="2901315"/>
            <a:chOff x="5598795" y="1524000"/>
            <a:chExt cx="6059805" cy="2901315"/>
          </a:xfrm>
        </p:grpSpPr>
        <p:sp>
          <p:nvSpPr>
            <p:cNvPr id="35" name="Rectangle 35"/>
            <p:cNvSpPr/>
            <p:nvPr/>
          </p:nvSpPr>
          <p:spPr>
            <a:xfrm>
              <a:off x="5598795" y="1524000"/>
              <a:ext cx="6059805" cy="2901315"/>
            </a:xfrm>
            <a:prstGeom prst="roundRect">
              <a:avLst>
                <a:gd name="adj" fmla="val 45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608320" y="1657350"/>
              <a:ext cx="47625" cy="26346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46445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41555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05550" y="1768792"/>
              <a:ext cx="4466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装在 264k 处，长 248k：b = 264k，l = 248k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846445" y="2105025"/>
              <a:ext cx="560260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166158" y="2240756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逻辑地址 a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934693" y="22407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越界检查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989236" y="224075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88658" y="2689384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100k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706378" y="2689384"/>
              <a:ext cx="11588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100k ≤ 248k−1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567067" y="2689384"/>
              <a:ext cx="15465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264k + 100k = 364k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846445" y="2997518"/>
              <a:ext cx="56026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846445" y="3002280"/>
              <a:ext cx="56026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88658" y="313801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247k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706378" y="3138011"/>
              <a:ext cx="11588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247k ≤ 248k−1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567067" y="3138011"/>
              <a:ext cx="15465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264k + 247k = 511k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846445" y="3447098"/>
              <a:ext cx="56026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388658" y="3586639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250k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06378" y="3586639"/>
              <a:ext cx="11588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250k &gt; 248k−1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989236" y="35866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846445" y="2105025"/>
              <a:ext cx="560260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7336155" y="210502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226868" y="210502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839968" y="4016216"/>
              <a:ext cx="52620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硬件用比较器（CP）比较 a 与 l，用加法器算 b + a，两者同时进行。</a:t>
              </a:r>
            </a:p>
          </p:txBody>
        </p:sp>
      </p:grpSp>
      <p:grpSp>
        <p:nvGrpSpPr>
          <p:cNvPr id="66" name="c2-callout-2"/>
          <p:cNvGrpSpPr/>
          <p:nvPr/>
        </p:nvGrpSpPr>
        <p:grpSpPr>
          <a:xfrm>
            <a:off x="5598795" y="4615815"/>
            <a:ext cx="6059805" cy="782955"/>
            <a:chOff x="5598795" y="4615815"/>
            <a:chExt cx="6059805" cy="782955"/>
          </a:xfrm>
        </p:grpSpPr>
        <p:sp>
          <p:nvSpPr>
            <p:cNvPr id="61" name="Rectangle 61"/>
            <p:cNvSpPr/>
            <p:nvPr/>
          </p:nvSpPr>
          <p:spPr>
            <a:xfrm>
              <a:off x="5598795" y="4615815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5803583" y="4907280"/>
              <a:ext cx="200026" cy="200026"/>
              <a:chOff x="5803583" y="4907280"/>
              <a:chExt cx="200026" cy="200026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5803583" y="49072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5870258" y="498506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6105525" y="4764405"/>
              <a:ext cx="50730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第 17 页紧凑后 P1 移到 256k，只需把 b 改成 256k，程序不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用改：a = 100k 变为 356k。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界地址管理方式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双对界：代码和数据各用一对基址、限长寄存器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graph-1"/>
          <p:cNvGrpSpPr/>
          <p:nvPr/>
        </p:nvGrpSpPr>
        <p:grpSpPr>
          <a:xfrm>
            <a:off x="853440" y="1701165"/>
            <a:ext cx="4709160" cy="4531995"/>
            <a:chOff x="853440" y="1701165"/>
            <a:chExt cx="4709160" cy="4531995"/>
          </a:xfrm>
        </p:grpSpPr>
        <p:sp>
          <p:nvSpPr>
            <p:cNvPr id="7" name="Freeform 7"/>
            <p:cNvSpPr/>
            <p:nvPr/>
          </p:nvSpPr>
          <p:spPr>
            <a:xfrm>
              <a:off x="2377440" y="2975610"/>
              <a:ext cx="1470660" cy="9525"/>
            </a:xfrm>
            <a:custGeom>
              <a:avLst/>
              <a:gdLst/>
              <a:ahLst/>
              <a:cxnLst/>
              <a:rect l="l" t="t" r="r" b="b"/>
              <a:pathLst>
                <a:path w="1470660" h="9525">
                  <a:moveTo>
                    <a:pt x="0" y="0"/>
                  </a:moveTo>
                  <a:lnTo>
                    <a:pt x="147066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848100" y="29279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377440" y="5008245"/>
              <a:ext cx="1470660" cy="9525"/>
            </a:xfrm>
            <a:custGeom>
              <a:avLst/>
              <a:gdLst/>
              <a:ahLst/>
              <a:cxnLst/>
              <a:rect l="l" t="t" r="r" b="b"/>
              <a:pathLst>
                <a:path w="1470660" h="9525">
                  <a:moveTo>
                    <a:pt x="0" y="0"/>
                  </a:moveTo>
                  <a:lnTo>
                    <a:pt x="147066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848100" y="49606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853440" y="2546985"/>
              <a:ext cx="1524000" cy="857250"/>
            </a:xfrm>
            <a:prstGeom prst="roundRect">
              <a:avLst>
                <a:gd name="adj" fmla="val 11111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853440" y="4579620"/>
              <a:ext cx="1524000" cy="857250"/>
            </a:xfrm>
            <a:prstGeom prst="roundRect">
              <a:avLst>
                <a:gd name="adj" fmla="val 11111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943350" y="1701165"/>
              <a:ext cx="1619250" cy="419100"/>
            </a:xfrm>
            <a:prstGeom prst="roundRect">
              <a:avLst>
                <a:gd name="adj" fmla="val 22727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3943350" y="2546985"/>
              <a:ext cx="1619250" cy="857250"/>
            </a:xfrm>
            <a:prstGeom prst="roundRect">
              <a:avLst>
                <a:gd name="adj" fmla="val 11111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943350" y="3658552"/>
              <a:ext cx="1619250" cy="666750"/>
            </a:xfrm>
            <a:prstGeom prst="roundRect">
              <a:avLst>
                <a:gd name="adj" fmla="val 1428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943350" y="4579620"/>
              <a:ext cx="1619250" cy="857250"/>
            </a:xfrm>
            <a:prstGeom prst="roundRect">
              <a:avLst>
                <a:gd name="adj" fmla="val 11111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943350" y="5814060"/>
              <a:ext cx="1619250" cy="419100"/>
            </a:xfrm>
            <a:prstGeom prst="roundRect">
              <a:avLst>
                <a:gd name="adj" fmla="val 22727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107220" y="2905601"/>
              <a:ext cx="10164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I 空间（指令）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86310" y="4938236"/>
              <a:ext cx="10582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D 空间（数据）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03724" y="18407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284194" y="2905601"/>
              <a:ext cx="93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b1 ~ b1+l1−1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03724" y="39219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284194" y="4938236"/>
              <a:ext cx="937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b2 ~ b2+l2−1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03724" y="59536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953702" y="2889885"/>
              <a:ext cx="41338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976924" y="2922270"/>
              <a:ext cx="3669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b1、l1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953702" y="4922520"/>
              <a:ext cx="41338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976924" y="4953952"/>
              <a:ext cx="3669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b2、l2</a:t>
              </a:r>
            </a:p>
          </p:txBody>
        </p:sp>
      </p:grpSp>
      <p:grpSp>
        <p:nvGrpSpPr>
          <p:cNvPr id="40" name="c2-card-1"/>
          <p:cNvGrpSpPr/>
          <p:nvPr/>
        </p:nvGrpSpPr>
        <p:grpSpPr>
          <a:xfrm>
            <a:off x="6248400" y="1524000"/>
            <a:ext cx="5410200" cy="2607945"/>
            <a:chOff x="6248400" y="1524000"/>
            <a:chExt cx="5410200" cy="2607945"/>
          </a:xfrm>
        </p:grpSpPr>
        <p:sp>
          <p:nvSpPr>
            <p:cNvPr id="30" name="Rectangle 30"/>
            <p:cNvSpPr/>
            <p:nvPr/>
          </p:nvSpPr>
          <p:spPr>
            <a:xfrm>
              <a:off x="6248400" y="1524000"/>
              <a:ext cx="5410200" cy="2607945"/>
            </a:xfrm>
            <a:prstGeom prst="roundRect">
              <a:avLst>
                <a:gd name="adj" fmla="val 51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57925" y="1657350"/>
              <a:ext cx="47625" cy="234124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96050" y="1733550"/>
              <a:ext cx="1256348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63371" y="1769269"/>
              <a:ext cx="1120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6.3.1.2 双对界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501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59880" y="2110740"/>
              <a:ext cx="3010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代码（I 空间）：一对界 (b1, l1)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01765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9880" y="2446020"/>
              <a:ext cx="30640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数据（D 空间）：一对界 (b2, l2)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88430" y="2781300"/>
              <a:ext cx="4701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经典 UNIX 把进程空间分为 I 空间和 D 空间，前者对应指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令地址，后者对应数据地址。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88430" y="340233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硬件能够识别逻辑地址属于哪个空间，并使用对应的地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址映射寄存器。</a:t>
              </a:r>
            </a:p>
          </p:txBody>
        </p:sp>
      </p:grpSp>
      <p:grpSp>
        <p:nvGrpSpPr>
          <p:cNvPr id="49" name="c2-card-2"/>
          <p:cNvGrpSpPr/>
          <p:nvPr/>
        </p:nvGrpSpPr>
        <p:grpSpPr>
          <a:xfrm>
            <a:off x="6248400" y="4322445"/>
            <a:ext cx="5410200" cy="1651635"/>
            <a:chOff x="6248400" y="4322445"/>
            <a:chExt cx="5410200" cy="1651635"/>
          </a:xfrm>
        </p:grpSpPr>
        <p:sp>
          <p:nvSpPr>
            <p:cNvPr id="41" name="Rectangle 41"/>
            <p:cNvSpPr/>
            <p:nvPr/>
          </p:nvSpPr>
          <p:spPr>
            <a:xfrm>
              <a:off x="6248400" y="4322445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57925" y="4455795"/>
              <a:ext cx="47625" cy="138493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496050" y="453199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86258" y="45677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好处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501765" y="497205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59880" y="490918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代码区与数据区可以分开存放，不必占一整块连续内存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501765" y="530733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659880" y="524446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代码区可以单独设为只读，也便于多个进程共享（见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6.3.3 UNIX 正文段）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界地址管理方式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交换技术：内存紧张时把进程整个换到外存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4977765" cy="2272665"/>
            <a:chOff x="533400" y="1524000"/>
            <a:chExt cx="4977765" cy="22726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2047875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4893" y="1769269"/>
              <a:ext cx="19601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6.3.1.3 交换（swapping）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交换又称换进换出，指进程在内外存之间的动态调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度，是缓解内存空间不足的有效方法。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177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外存中有可运行进程时，系统试图把它调入内存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06705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内存紧张时，系统把内存中的某些进程，尤其是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暂时不能运行的进程，移到外存</a:t>
              </a:r>
            </a:p>
          </p:txBody>
        </p:sp>
      </p:grpSp>
      <p:grpSp>
        <p:nvGrpSpPr>
          <p:cNvPr id="29" name="c1-graph-2"/>
          <p:cNvGrpSpPr/>
          <p:nvPr/>
        </p:nvGrpSpPr>
        <p:grpSpPr>
          <a:xfrm>
            <a:off x="715328" y="4200525"/>
            <a:ext cx="4613910" cy="1039177"/>
            <a:chOff x="715328" y="4200525"/>
            <a:chExt cx="4613910" cy="1039177"/>
          </a:xfrm>
        </p:grpSpPr>
        <p:sp>
          <p:nvSpPr>
            <p:cNvPr id="17" name="Freeform 17"/>
            <p:cNvSpPr/>
            <p:nvPr/>
          </p:nvSpPr>
          <p:spPr>
            <a:xfrm>
              <a:off x="2144078" y="4958715"/>
              <a:ext cx="1666875" cy="221615"/>
            </a:xfrm>
            <a:custGeom>
              <a:avLst/>
              <a:gdLst/>
              <a:ahLst/>
              <a:cxnLst/>
              <a:rect l="l" t="t" r="r" b="b"/>
              <a:pathLst>
                <a:path w="1666875" h="221615">
                  <a:moveTo>
                    <a:pt x="0" y="0"/>
                  </a:moveTo>
                  <a:cubicBezTo>
                    <a:pt x="585470" y="210820"/>
                    <a:pt x="1141095" y="221615"/>
                    <a:pt x="1666875" y="3238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794760" y="4946332"/>
              <a:ext cx="105728" cy="89535"/>
            </a:xfrm>
            <a:custGeom>
              <a:avLst/>
              <a:gdLst/>
              <a:ahLst/>
              <a:cxnLst/>
              <a:rect l="l" t="t" r="r" b="b"/>
              <a:pathLst>
                <a:path w="105728" h="89535">
                  <a:moveTo>
                    <a:pt x="105728" y="12383"/>
                  </a:moveTo>
                  <a:lnTo>
                    <a:pt x="32385" y="89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233612" y="4222750"/>
              <a:ext cx="1666875" cy="221615"/>
            </a:xfrm>
            <a:custGeom>
              <a:avLst/>
              <a:gdLst/>
              <a:ahLst/>
              <a:cxnLst/>
              <a:rect l="l" t="t" r="r" b="b"/>
              <a:pathLst>
                <a:path w="1666875" h="221615">
                  <a:moveTo>
                    <a:pt x="1666875" y="221615"/>
                  </a:moveTo>
                  <a:cubicBezTo>
                    <a:pt x="1081405" y="10795"/>
                    <a:pt x="525780" y="0"/>
                    <a:pt x="0" y="18923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144078" y="4367212"/>
              <a:ext cx="105727" cy="89535"/>
            </a:xfrm>
            <a:custGeom>
              <a:avLst/>
              <a:gdLst/>
              <a:ahLst/>
              <a:cxnLst/>
              <a:rect l="l" t="t" r="r" b="b"/>
              <a:pathLst>
                <a:path w="105727" h="89535">
                  <a:moveTo>
                    <a:pt x="0" y="77153"/>
                  </a:moveTo>
                  <a:lnTo>
                    <a:pt x="73343" y="0"/>
                  </a:lnTo>
                  <a:lnTo>
                    <a:pt x="105727" y="8953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15328" y="4368165"/>
              <a:ext cx="1428750" cy="666750"/>
            </a:xfrm>
            <a:prstGeom prst="roundRect">
              <a:avLst>
                <a:gd name="adj" fmla="val 1428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3900488" y="4368165"/>
              <a:ext cx="1428750" cy="666750"/>
            </a:xfrm>
            <a:prstGeom prst="roundRect">
              <a:avLst>
                <a:gd name="adj" fmla="val 1428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273213" y="46315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内存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32212" y="46315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外存交换区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2869882" y="5031105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2896362" y="506349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换出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869882" y="4200525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896362" y="423291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换入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5815965" y="1524000"/>
            <a:ext cx="5842635" cy="2341245"/>
            <a:chOff x="5815965" y="1524000"/>
            <a:chExt cx="5842635" cy="2341245"/>
          </a:xfrm>
        </p:grpSpPr>
        <p:sp>
          <p:nvSpPr>
            <p:cNvPr id="30" name="Rectangle 30"/>
            <p:cNvSpPr/>
            <p:nvPr/>
          </p:nvSpPr>
          <p:spPr>
            <a:xfrm>
              <a:off x="5815965" y="1524000"/>
              <a:ext cx="5842635" cy="2341245"/>
            </a:xfrm>
            <a:prstGeom prst="roundRect">
              <a:avLst>
                <a:gd name="adj" fmla="val 56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825490" y="1657350"/>
              <a:ext cx="47625" cy="20745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063615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57773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21768" y="1768792"/>
              <a:ext cx="37693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交换进程 sched（0 号进程）的原则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055995" y="2129790"/>
              <a:ext cx="44493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目标：把外存中处于 SRUN 状态的进程换入内存。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063615" y="245173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25464" y="24940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64605" y="246507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内存有空间：直接换入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063615" y="278701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125464" y="28293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64605" y="2800350"/>
              <a:ext cx="43776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内存空间不够：换出 SWAIT、SSTOP 状态的进程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063615" y="312229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25464" y="31645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64605" y="3135630"/>
              <a:ext cx="4796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还不够：换出 SSLEEP、SRUN 状态的进程，条件是待换入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进程在外存已满 3 秒，被换出进程在内存已满 2 秒</a:t>
              </a:r>
            </a:p>
          </p:txBody>
        </p:sp>
      </p:grpSp>
      <p:grpSp>
        <p:nvGrpSpPr>
          <p:cNvPr id="57" name="c2-kv-2"/>
          <p:cNvGrpSpPr/>
          <p:nvPr/>
        </p:nvGrpSpPr>
        <p:grpSpPr>
          <a:xfrm>
            <a:off x="5808345" y="4080510"/>
            <a:ext cx="5850255" cy="1613535"/>
            <a:chOff x="5808345" y="4080510"/>
            <a:chExt cx="5850255" cy="1613535"/>
          </a:xfrm>
        </p:grpSpPr>
        <p:sp>
          <p:nvSpPr>
            <p:cNvPr id="46" name="TextBox 46"/>
            <p:cNvSpPr txBox="1"/>
            <p:nvPr/>
          </p:nvSpPr>
          <p:spPr>
            <a:xfrm>
              <a:off x="5808345" y="4080510"/>
              <a:ext cx="508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SRUN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742748" y="408051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就绪或运行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815965" y="440055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808345" y="452056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SSLEEP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742748" y="452056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高优先级睡眠（很快会被唤醒）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815965" y="484060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808345" y="4960620"/>
              <a:ext cx="6201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SWAIT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742748" y="496062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低优先级睡眠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815965" y="528066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808345" y="5400675"/>
              <a:ext cx="6761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SSTOP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742748" y="54006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暂停（被跟踪）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8" name="Rectangle 5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130" y="5991225"/>
              <a:ext cx="7688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两个时间条件防止同一个进程刚换出又换入、刚换入又换出，避免时间都耗在交换上。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界地址管理方式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重定位与覆盖技术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760595" cy="1917382"/>
            <a:chOff x="533400" y="1524000"/>
            <a:chExt cx="4760595" cy="19173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917382"/>
            </a:xfrm>
            <a:prstGeom prst="roundRect">
              <a:avLst>
                <a:gd name="adj" fmla="val 69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5068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重定位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24000" y="1768792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可重定位程序（浮动程序）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015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被换出的进程再次运行前要重新装入内存，而装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入位置与换出前一般不同，这要求程序编址与内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存存放位置无关。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3033236"/>
              <a:ext cx="43466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由 0 起始编址的程序都满足重定位要求，也称浮动程序。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631882"/>
            <a:ext cx="4760595" cy="2272665"/>
            <a:chOff x="533400" y="3631882"/>
            <a:chExt cx="4760595" cy="2272665"/>
          </a:xfrm>
        </p:grpSpPr>
        <p:sp>
          <p:nvSpPr>
            <p:cNvPr id="15" name="Rectangle 15"/>
            <p:cNvSpPr/>
            <p:nvPr/>
          </p:nvSpPr>
          <p:spPr>
            <a:xfrm>
              <a:off x="533400" y="3631882"/>
              <a:ext cx="4760595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765232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3841432"/>
              <a:ext cx="139827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4421" y="3877151"/>
              <a:ext cx="12715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6.3.1.4 覆盖技术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3430" y="4218622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将较大程序装入较小进程空间的技术。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61676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553902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只把全局代码和数据静态装入内存，其他部分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动态装入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523779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5174932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后装入的成分使用先装入成分用过的存储区，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即覆盖先装入的成分</a:t>
              </a:r>
            </a:p>
          </p:txBody>
        </p:sp>
      </p:grpSp>
      <p:grpSp>
        <p:nvGrpSpPr>
          <p:cNvPr id="50" name="c2-graph-1"/>
          <p:cNvGrpSpPr/>
          <p:nvPr/>
        </p:nvGrpSpPr>
        <p:grpSpPr>
          <a:xfrm>
            <a:off x="5815012" y="1587818"/>
            <a:ext cx="5627370" cy="2600801"/>
            <a:chOff x="5815012" y="1587818"/>
            <a:chExt cx="5627370" cy="2600801"/>
          </a:xfrm>
        </p:grpSpPr>
        <p:sp>
          <p:nvSpPr>
            <p:cNvPr id="25" name="Freeform 25"/>
            <p:cNvSpPr/>
            <p:nvPr/>
          </p:nvSpPr>
          <p:spPr>
            <a:xfrm>
              <a:off x="6950392" y="3088005"/>
              <a:ext cx="777240" cy="207645"/>
            </a:xfrm>
            <a:custGeom>
              <a:avLst/>
              <a:gdLst/>
              <a:ahLst/>
              <a:cxnLst/>
              <a:rect l="l" t="t" r="r" b="b"/>
              <a:pathLst>
                <a:path w="777240" h="207645">
                  <a:moveTo>
                    <a:pt x="0" y="0"/>
                  </a:moveTo>
                  <a:lnTo>
                    <a:pt x="777240" y="207645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6" name="Freeform 26"/>
            <p:cNvSpPr/>
            <p:nvPr/>
          </p:nvSpPr>
          <p:spPr>
            <a:xfrm>
              <a:off x="7715250" y="3249930"/>
              <a:ext cx="103822" cy="91440"/>
            </a:xfrm>
            <a:custGeom>
              <a:avLst/>
              <a:gdLst/>
              <a:ahLst/>
              <a:cxnLst/>
              <a:rect l="l" t="t" r="r" b="b"/>
              <a:pathLst>
                <a:path w="103822" h="91440">
                  <a:moveTo>
                    <a:pt x="103822" y="70485"/>
                  </a:moveTo>
                  <a:lnTo>
                    <a:pt x="0" y="91440"/>
                  </a:lnTo>
                  <a:lnTo>
                    <a:pt x="2381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6958012" y="3738562"/>
              <a:ext cx="768668" cy="171450"/>
            </a:xfrm>
            <a:custGeom>
              <a:avLst/>
              <a:gdLst/>
              <a:ahLst/>
              <a:cxnLst/>
              <a:rect l="l" t="t" r="r" b="b"/>
              <a:pathLst>
                <a:path w="768668" h="171450">
                  <a:moveTo>
                    <a:pt x="0" y="171450"/>
                  </a:moveTo>
                  <a:lnTo>
                    <a:pt x="76866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7716202" y="3691890"/>
              <a:ext cx="102870" cy="92392"/>
            </a:xfrm>
            <a:custGeom>
              <a:avLst/>
              <a:gdLst/>
              <a:ahLst/>
              <a:cxnLst/>
              <a:rect l="l" t="t" r="r" b="b"/>
              <a:pathLst>
                <a:path w="102870" h="92392">
                  <a:moveTo>
                    <a:pt x="102870" y="25717"/>
                  </a:moveTo>
                  <a:lnTo>
                    <a:pt x="20955" y="92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9530715" y="3088005"/>
              <a:ext cx="777240" cy="207645"/>
            </a:xfrm>
            <a:custGeom>
              <a:avLst/>
              <a:gdLst/>
              <a:ahLst/>
              <a:cxnLst/>
              <a:rect l="l" t="t" r="r" b="b"/>
              <a:pathLst>
                <a:path w="777240" h="207645">
                  <a:moveTo>
                    <a:pt x="777240" y="0"/>
                  </a:moveTo>
                  <a:lnTo>
                    <a:pt x="0" y="207645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0" name="Freeform 30"/>
            <p:cNvSpPr/>
            <p:nvPr/>
          </p:nvSpPr>
          <p:spPr>
            <a:xfrm>
              <a:off x="9438322" y="3249930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0" y="70485"/>
                  </a:moveTo>
                  <a:lnTo>
                    <a:pt x="80010" y="0"/>
                  </a:lnTo>
                  <a:lnTo>
                    <a:pt x="104775" y="9144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9531668" y="3738562"/>
              <a:ext cx="767715" cy="171450"/>
            </a:xfrm>
            <a:custGeom>
              <a:avLst/>
              <a:gdLst/>
              <a:ahLst/>
              <a:cxnLst/>
              <a:rect l="l" t="t" r="r" b="b"/>
              <a:pathLst>
                <a:path w="767715" h="171450">
                  <a:moveTo>
                    <a:pt x="767715" y="17145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2" name="Freeform 32"/>
            <p:cNvSpPr/>
            <p:nvPr/>
          </p:nvSpPr>
          <p:spPr>
            <a:xfrm>
              <a:off x="9438322" y="3691890"/>
              <a:ext cx="103822" cy="92392"/>
            </a:xfrm>
            <a:custGeom>
              <a:avLst/>
              <a:gdLst/>
              <a:ahLst/>
              <a:cxnLst/>
              <a:rect l="l" t="t" r="r" b="b"/>
              <a:pathLst>
                <a:path w="103822" h="92392">
                  <a:moveTo>
                    <a:pt x="0" y="25717"/>
                  </a:moveTo>
                  <a:lnTo>
                    <a:pt x="103822" y="0"/>
                  </a:lnTo>
                  <a:lnTo>
                    <a:pt x="82868" y="9239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819072" y="1587818"/>
              <a:ext cx="1619250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7819072" y="2027872"/>
              <a:ext cx="1619250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7819072" y="2467928"/>
              <a:ext cx="1619250" cy="438150"/>
            </a:xfrm>
            <a:prstGeom prst="roundRect">
              <a:avLst>
                <a:gd name="adj" fmla="val 21739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819072" y="2916555"/>
              <a:ext cx="1619250" cy="1238250"/>
            </a:xfrm>
            <a:prstGeom prst="roundRect">
              <a:avLst>
                <a:gd name="adj" fmla="val 7692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15012" y="2788920"/>
              <a:ext cx="1143000" cy="300038"/>
            </a:xfrm>
            <a:prstGeom prst="roundRect">
              <a:avLst>
                <a:gd name="adj" fmla="val 31746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5815012" y="3888105"/>
              <a:ext cx="1143000" cy="300038"/>
            </a:xfrm>
            <a:prstGeom prst="roundRect">
              <a:avLst>
                <a:gd name="adj" fmla="val 31746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299382" y="2788920"/>
              <a:ext cx="1143000" cy="300038"/>
            </a:xfrm>
            <a:prstGeom prst="roundRect">
              <a:avLst>
                <a:gd name="adj" fmla="val 31746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299382" y="3888105"/>
              <a:ext cx="1143000" cy="300038"/>
            </a:xfrm>
            <a:prstGeom prst="roundRect">
              <a:avLst>
                <a:gd name="adj" fmla="val 31746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96821" y="173688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符号表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21434" y="217693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公共例程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170659" y="261699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覆盖驱动程序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198930" y="3465671"/>
              <a:ext cx="8595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覆盖区 50kb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961305" y="2868454"/>
              <a:ext cx="850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Pass1 30kb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961305" y="3968591"/>
              <a:ext cx="850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Pass2 50kb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445675" y="2868454"/>
              <a:ext cx="850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Pass3 40kb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445675" y="3968591"/>
              <a:ext cx="850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Pass4 25kb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098910" y="2165032"/>
              <a:ext cx="6962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← 常驻内存</a:t>
              </a:r>
            </a:p>
          </p:txBody>
        </p:sp>
      </p:grpSp>
      <p:grpSp>
        <p:nvGrpSpPr>
          <p:cNvPr id="56" name="c2-callout-2"/>
          <p:cNvGrpSpPr/>
          <p:nvPr/>
        </p:nvGrpSpPr>
        <p:grpSpPr>
          <a:xfrm>
            <a:off x="5598795" y="4857750"/>
            <a:ext cx="6059805" cy="782955"/>
            <a:chOff x="5598795" y="4857750"/>
            <a:chExt cx="6059805" cy="782955"/>
          </a:xfrm>
        </p:grpSpPr>
        <p:sp>
          <p:nvSpPr>
            <p:cNvPr id="51" name="Rectangle 51"/>
            <p:cNvSpPr/>
            <p:nvPr/>
          </p:nvSpPr>
          <p:spPr>
            <a:xfrm>
              <a:off x="5598795" y="485775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5803583" y="5149217"/>
              <a:ext cx="200023" cy="200023"/>
              <a:chOff x="5803583" y="5149217"/>
              <a:chExt cx="200023" cy="200023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5803583" y="514921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936933" y="52158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105525" y="5006340"/>
              <a:ext cx="50634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四遍依次执行，每次只装一遍：覆盖区只需最大的 50kb，不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用覆盖要 30+50+40+25 = 145kb，省下 95kb。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135499" cy="3351847"/>
            <a:chOff x="667512" y="1835468"/>
            <a:chExt cx="513549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分页式存储管理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内存和进程空间都切成等长的块，用页表把它们对上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66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6.3.2.1 页、页架与页表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地址映射、快表与有效访问时间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60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6.3.2.2 多级页表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60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6.3.2.3 反置页表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82575" cy="909257"/>
            <a:chOff x="520446" y="342900"/>
            <a:chExt cx="65825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825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页式：内存和进程空间都切成 2^i 大小的块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2341245"/>
            <a:chOff x="533400" y="1524000"/>
            <a:chExt cx="5410200" cy="23412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341245"/>
            </a:xfrm>
            <a:prstGeom prst="roundRect">
              <a:avLst>
                <a:gd name="adj" fmla="val 56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7454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27254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8463" y="1769269"/>
              <a:ext cx="1137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1. 内存空间划分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8281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静态等长，每块 2^i，称为页架（frame）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5279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465070"/>
              <a:ext cx="38822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位物理地址时，页架号为 0 ~ 2^(n−i) − 1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8632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800350"/>
              <a:ext cx="25494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k 个页架的首址是 k × 2^i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3430" y="3135630"/>
              <a:ext cx="4615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= 页架首址 + 页内地址 = 页架号 × 2^i + 页内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</a:t>
              </a:r>
            </a:p>
          </p:txBody>
        </p:sp>
      </p:grpSp>
      <p:grpSp>
        <p:nvGrpSpPr>
          <p:cNvPr id="23" name="c1-cells-2"/>
          <p:cNvGrpSpPr/>
          <p:nvPr/>
        </p:nvGrpSpPr>
        <p:grpSpPr>
          <a:xfrm>
            <a:off x="527304" y="4055745"/>
            <a:ext cx="4559046" cy="419100"/>
            <a:chOff x="527304" y="4055745"/>
            <a:chExt cx="4559046" cy="419100"/>
          </a:xfrm>
        </p:grpSpPr>
        <p:sp>
          <p:nvSpPr>
            <p:cNvPr id="18" name="TextBox 18"/>
            <p:cNvSpPr txBox="1"/>
            <p:nvPr/>
          </p:nvSpPr>
          <p:spPr>
            <a:xfrm>
              <a:off x="527304" y="419100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1276350" y="4055745"/>
              <a:ext cx="190500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521855" y="4191000"/>
              <a:ext cx="14139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页架号 f（n−i 位）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181350" y="4055745"/>
              <a:ext cx="19050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439375" y="4191000"/>
              <a:ext cx="13889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页内地址 d（i 位）</a:t>
              </a:r>
            </a:p>
          </p:txBody>
        </p:sp>
      </p:grpSp>
      <p:grpSp>
        <p:nvGrpSpPr>
          <p:cNvPr id="30" name="c1-callout-3"/>
          <p:cNvGrpSpPr/>
          <p:nvPr/>
        </p:nvGrpSpPr>
        <p:grpSpPr>
          <a:xfrm>
            <a:off x="533400" y="4665345"/>
            <a:ext cx="5410200" cy="782955"/>
            <a:chOff x="533400" y="4665345"/>
            <a:chExt cx="5410200" cy="782955"/>
          </a:xfrm>
        </p:grpSpPr>
        <p:sp>
          <p:nvSpPr>
            <p:cNvPr id="24" name="Rectangle 24"/>
            <p:cNvSpPr/>
            <p:nvPr/>
          </p:nvSpPr>
          <p:spPr>
            <a:xfrm>
              <a:off x="533400" y="46653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4956810"/>
              <a:ext cx="200026" cy="200026"/>
              <a:chOff x="738188" y="4956810"/>
              <a:chExt cx="200026" cy="20002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49568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38200" y="50234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27088" y="50568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130" y="4813935"/>
              <a:ext cx="43300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例：物理地址 16 位、页长 1K（i = 10），页架号占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位，共 2^6 = 64 个页架。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248400" y="1524000"/>
            <a:ext cx="5410200" cy="2341245"/>
            <a:chOff x="6248400" y="1524000"/>
            <a:chExt cx="5410200" cy="2341245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2341245"/>
            </a:xfrm>
            <a:prstGeom prst="roundRect">
              <a:avLst>
                <a:gd name="adj" fmla="val 56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1657350"/>
              <a:ext cx="47625" cy="207454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96050" y="1733550"/>
              <a:ext cx="127254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63463" y="1769269"/>
              <a:ext cx="1137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 进程空间划分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88430" y="2110740"/>
              <a:ext cx="36691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静态等长，每块 2^i，称为页面（page）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01765" y="25279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9880" y="2465070"/>
              <a:ext cx="31047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进程有 l 页时，逻辑页号为 0 ~ l−1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501765" y="28632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59880" y="2800350"/>
              <a:ext cx="2145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k 页的首址是 k × 2^i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88430" y="3135630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逻辑地址 = 逻辑页首址 + 页内地址 = 逻辑页号 × 2^i +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页内地址</a:t>
              </a:r>
            </a:p>
          </p:txBody>
        </p:sp>
      </p:grpSp>
      <p:grpSp>
        <p:nvGrpSpPr>
          <p:cNvPr id="47" name="c2-cells-2"/>
          <p:cNvGrpSpPr/>
          <p:nvPr/>
        </p:nvGrpSpPr>
        <p:grpSpPr>
          <a:xfrm>
            <a:off x="6242304" y="4055745"/>
            <a:ext cx="4559046" cy="419100"/>
            <a:chOff x="6242304" y="4055745"/>
            <a:chExt cx="4559046" cy="419100"/>
          </a:xfrm>
        </p:grpSpPr>
        <p:sp>
          <p:nvSpPr>
            <p:cNvPr id="42" name="TextBox 42"/>
            <p:cNvSpPr txBox="1"/>
            <p:nvPr/>
          </p:nvSpPr>
          <p:spPr>
            <a:xfrm>
              <a:off x="6242304" y="419100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逻辑地址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991350" y="4055745"/>
              <a:ext cx="190500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42577" y="4191000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逻辑页号 p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896350" y="4055745"/>
              <a:ext cx="19050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154375" y="4191000"/>
              <a:ext cx="13889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页内地址 d（i 位）</a:t>
              </a:r>
            </a:p>
          </p:txBody>
        </p:sp>
      </p:grpSp>
      <p:grpSp>
        <p:nvGrpSpPr>
          <p:cNvPr id="54" name="c2-callout-3"/>
          <p:cNvGrpSpPr/>
          <p:nvPr/>
        </p:nvGrpSpPr>
        <p:grpSpPr>
          <a:xfrm>
            <a:off x="6248400" y="4665345"/>
            <a:ext cx="5410200" cy="782955"/>
            <a:chOff x="6248400" y="4665345"/>
            <a:chExt cx="5410200" cy="782955"/>
          </a:xfrm>
        </p:grpSpPr>
        <p:sp>
          <p:nvSpPr>
            <p:cNvPr id="48" name="Rectangle 48"/>
            <p:cNvSpPr/>
            <p:nvPr/>
          </p:nvSpPr>
          <p:spPr>
            <a:xfrm>
              <a:off x="6248400" y="46653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453188" y="4956810"/>
              <a:ext cx="200026" cy="200026"/>
              <a:chOff x="6453188" y="4956810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453188" y="49568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553200" y="50234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542088" y="50568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755130" y="4813935"/>
              <a:ext cx="4034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例：进程长 3500 字节、页长 1K，需要 ⌈3500 /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1024⌉ = 4 页，逻辑页号 0 ~ 3。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5" name="Rectangle 5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991225"/>
              <a:ext cx="94958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页长是 2 的幂，“页号 × 2^i + 页内地址”就是把页号和页内地址两个二进制串拼起来，硬件不需要做乘法。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页表把逻辑页号对应到页架号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1" name="c1-graph-1"/>
          <p:cNvGrpSpPr/>
          <p:nvPr/>
        </p:nvGrpSpPr>
        <p:grpSpPr>
          <a:xfrm>
            <a:off x="982980" y="1568291"/>
            <a:ext cx="4450080" cy="3987641"/>
            <a:chOff x="982980" y="1568291"/>
            <a:chExt cx="4450080" cy="3987641"/>
          </a:xfrm>
        </p:grpSpPr>
        <p:sp>
          <p:nvSpPr>
            <p:cNvPr id="7" name="Freeform 7"/>
            <p:cNvSpPr/>
            <p:nvPr/>
          </p:nvSpPr>
          <p:spPr>
            <a:xfrm>
              <a:off x="2030730" y="2448878"/>
              <a:ext cx="2165032" cy="320040"/>
            </a:xfrm>
            <a:custGeom>
              <a:avLst/>
              <a:gdLst/>
              <a:ahLst/>
              <a:cxnLst/>
              <a:rect l="l" t="t" r="r" b="b"/>
              <a:pathLst>
                <a:path w="2165032" h="320040">
                  <a:moveTo>
                    <a:pt x="0" y="320040"/>
                  </a:moveTo>
                  <a:lnTo>
                    <a:pt x="216503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4189095" y="2402205"/>
              <a:ext cx="100965" cy="94298"/>
            </a:xfrm>
            <a:custGeom>
              <a:avLst/>
              <a:gdLst/>
              <a:ahLst/>
              <a:cxnLst/>
              <a:rect l="l" t="t" r="r" b="b"/>
              <a:pathLst>
                <a:path w="100965" h="94298">
                  <a:moveTo>
                    <a:pt x="100965" y="33338"/>
                  </a:moveTo>
                  <a:lnTo>
                    <a:pt x="13335" y="94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030730" y="3420428"/>
              <a:ext cx="2165032" cy="320040"/>
            </a:xfrm>
            <a:custGeom>
              <a:avLst/>
              <a:gdLst/>
              <a:ahLst/>
              <a:cxnLst/>
              <a:rect l="l" t="t" r="r" b="b"/>
              <a:pathLst>
                <a:path w="2165032" h="320040">
                  <a:moveTo>
                    <a:pt x="0" y="0"/>
                  </a:moveTo>
                  <a:lnTo>
                    <a:pt x="2165032" y="32004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189095" y="3693795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60960"/>
                  </a:moveTo>
                  <a:lnTo>
                    <a:pt x="0" y="94297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030730" y="3043238"/>
              <a:ext cx="2167890" cy="641033"/>
            </a:xfrm>
            <a:custGeom>
              <a:avLst/>
              <a:gdLst/>
              <a:ahLst/>
              <a:cxnLst/>
              <a:rect l="l" t="t" r="r" b="b"/>
              <a:pathLst>
                <a:path w="2167890" h="641033">
                  <a:moveTo>
                    <a:pt x="0" y="641033"/>
                  </a:moveTo>
                  <a:lnTo>
                    <a:pt x="216789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185285" y="2997518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18098"/>
                  </a:moveTo>
                  <a:lnTo>
                    <a:pt x="26670" y="914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030730" y="4412932"/>
              <a:ext cx="2165032" cy="320040"/>
            </a:xfrm>
            <a:custGeom>
              <a:avLst/>
              <a:gdLst/>
              <a:ahLst/>
              <a:cxnLst/>
              <a:rect l="l" t="t" r="r" b="b"/>
              <a:pathLst>
                <a:path w="2165032" h="320040">
                  <a:moveTo>
                    <a:pt x="0" y="0"/>
                  </a:moveTo>
                  <a:lnTo>
                    <a:pt x="2165032" y="32004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189095" y="4685348"/>
              <a:ext cx="100965" cy="94298"/>
            </a:xfrm>
            <a:custGeom>
              <a:avLst/>
              <a:gdLst/>
              <a:ahLst/>
              <a:cxnLst/>
              <a:rect l="l" t="t" r="r" b="b"/>
              <a:pathLst>
                <a:path w="100965" h="94298">
                  <a:moveTo>
                    <a:pt x="100965" y="60960"/>
                  </a:moveTo>
                  <a:lnTo>
                    <a:pt x="0" y="94298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982980" y="2618422"/>
              <a:ext cx="1047750" cy="457200"/>
            </a:xfrm>
            <a:prstGeom prst="roundRect">
              <a:avLst>
                <a:gd name="adj" fmla="val 20833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982980" y="3114675"/>
              <a:ext cx="1047750" cy="457200"/>
            </a:xfrm>
            <a:prstGeom prst="roundRect">
              <a:avLst>
                <a:gd name="adj" fmla="val 20833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982980" y="3609975"/>
              <a:ext cx="1047750" cy="457200"/>
            </a:xfrm>
            <a:prstGeom prst="roundRect">
              <a:avLst>
                <a:gd name="adj" fmla="val 20833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982980" y="4106228"/>
              <a:ext cx="1047750" cy="457200"/>
            </a:xfrm>
            <a:prstGeom prst="roundRect">
              <a:avLst>
                <a:gd name="adj" fmla="val 20833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290060" y="1625918"/>
              <a:ext cx="1143000" cy="457200"/>
            </a:xfrm>
            <a:prstGeom prst="roundRect">
              <a:avLst>
                <a:gd name="adj" fmla="val 2083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290060" y="2122170"/>
              <a:ext cx="1143000" cy="457200"/>
            </a:xfrm>
            <a:prstGeom prst="roundRect">
              <a:avLst>
                <a:gd name="adj" fmla="val 2083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290060" y="2618422"/>
              <a:ext cx="1143000" cy="457200"/>
            </a:xfrm>
            <a:prstGeom prst="roundRect">
              <a:avLst>
                <a:gd name="adj" fmla="val 2083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290060" y="3114675"/>
              <a:ext cx="1143000" cy="457200"/>
            </a:xfrm>
            <a:prstGeom prst="roundRect">
              <a:avLst>
                <a:gd name="adj" fmla="val 2083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290060" y="3609975"/>
              <a:ext cx="1143000" cy="457200"/>
            </a:xfrm>
            <a:prstGeom prst="roundRect">
              <a:avLst>
                <a:gd name="adj" fmla="val 2083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290060" y="4106228"/>
              <a:ext cx="1143000" cy="457200"/>
            </a:xfrm>
            <a:prstGeom prst="roundRect">
              <a:avLst>
                <a:gd name="adj" fmla="val 2083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290060" y="4602480"/>
              <a:ext cx="1143000" cy="457200"/>
            </a:xfrm>
            <a:prstGeom prst="roundRect">
              <a:avLst>
                <a:gd name="adj" fmla="val 20833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290060" y="5098732"/>
              <a:ext cx="1143000" cy="457200"/>
            </a:xfrm>
            <a:prstGeom prst="roundRect">
              <a:avLst>
                <a:gd name="adj" fmla="val 20833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306829" y="277701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第0页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306829" y="3273266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第1页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306829" y="3768566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第2页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306829" y="4264819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第3页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812309" y="17845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617998" y="2280761"/>
              <a:ext cx="4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第15页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17998" y="2777014"/>
              <a:ext cx="4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第16页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812309" y="32732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17998" y="3768566"/>
              <a:ext cx="4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第22页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812309" y="42648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617998" y="4761071"/>
              <a:ext cx="487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第32页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812309" y="5257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99591" y="470963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进程空间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521102" y="156829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内存空间（页架）</a:t>
              </a:r>
            </a:p>
          </p:txBody>
        </p:sp>
      </p:grpSp>
      <p:grpSp>
        <p:nvGrpSpPr>
          <p:cNvPr id="61" name="c2-table-1"/>
          <p:cNvGrpSpPr/>
          <p:nvPr/>
        </p:nvGrpSpPr>
        <p:grpSpPr>
          <a:xfrm>
            <a:off x="6242685" y="1524000"/>
            <a:ext cx="5415915" cy="2539842"/>
            <a:chOff x="6242685" y="1524000"/>
            <a:chExt cx="5415915" cy="2539842"/>
          </a:xfrm>
        </p:grpSpPr>
        <p:sp>
          <p:nvSpPr>
            <p:cNvPr id="42" name="Rectangle 42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29080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逻辑页号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08206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页架号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85675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245758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24164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48400" y="2421255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585675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45758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48400" y="28660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585675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245758" y="300561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331470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48400" y="331946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585675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245758" y="345424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248400" y="1524000"/>
              <a:ext cx="5410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9029700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242685" y="384381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左图进程的页表</a:t>
              </a:r>
            </a:p>
          </p:txBody>
        </p:sp>
      </p:grpSp>
      <p:grpSp>
        <p:nvGrpSpPr>
          <p:cNvPr id="67" name="c2-kv-2"/>
          <p:cNvGrpSpPr/>
          <p:nvPr/>
        </p:nvGrpSpPr>
        <p:grpSpPr>
          <a:xfrm>
            <a:off x="6240780" y="4234815"/>
            <a:ext cx="5417820" cy="1015365"/>
            <a:chOff x="6240780" y="4234815"/>
            <a:chExt cx="5417820" cy="1015365"/>
          </a:xfrm>
        </p:grpSpPr>
        <p:sp>
          <p:nvSpPr>
            <p:cNvPr id="62" name="TextBox 62"/>
            <p:cNvSpPr txBox="1"/>
            <p:nvPr/>
          </p:nvSpPr>
          <p:spPr>
            <a:xfrm>
              <a:off x="6240780" y="4234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页表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083742" y="4234815"/>
              <a:ext cx="41144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每个进程一个，第 p 项存第 p 页所在的页架号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248400" y="45548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240780" y="467487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总页表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083742" y="4674870"/>
              <a:ext cx="42729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系统一个，记录每个页架是否空闲，可用 6.2.2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位示图等结构实现</a:t>
              </a:r>
            </a:p>
          </p:txBody>
        </p:sp>
      </p:grpSp>
      <p:grpSp>
        <p:nvGrpSpPr>
          <p:cNvPr id="7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8" name="Rectangle 6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1040130" y="5991225"/>
              <a:ext cx="95059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进程的页在内存中不必连续，也不必按顺序存放；页表只按逻辑页号顺序排列，所以表项里不用再存页号。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页式地址映射：先查快表，查不到再查页表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548290" cy="293370"/>
            <a:chOff x="525780" y="1548765"/>
            <a:chExt cx="1054829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5482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映射 σ：(p, d) → (f, d) ∪ {Ω}，Ω 表示映射失败（产生中断）。p 不会是负数，越界检查 0 ≤ p ≤ l−1 只需比较上界。</a:t>
              </a:r>
            </a:p>
          </p:txBody>
        </p:sp>
      </p:grpSp>
      <p:grpSp>
        <p:nvGrpSpPr>
          <p:cNvPr id="49" name="c1-flow-1"/>
          <p:cNvGrpSpPr/>
          <p:nvPr/>
        </p:nvGrpSpPr>
        <p:grpSpPr>
          <a:xfrm>
            <a:off x="689610" y="2152650"/>
            <a:ext cx="10813732" cy="1889760"/>
            <a:chOff x="689610" y="2152650"/>
            <a:chExt cx="10813732" cy="1889760"/>
          </a:xfrm>
        </p:grpSpPr>
        <p:sp>
          <p:nvSpPr>
            <p:cNvPr id="9" name="Freeform 9"/>
            <p:cNvSpPr/>
            <p:nvPr/>
          </p:nvSpPr>
          <p:spPr>
            <a:xfrm>
              <a:off x="2602230" y="2549842"/>
              <a:ext cx="211455" cy="9525"/>
            </a:xfrm>
            <a:custGeom>
              <a:avLst/>
              <a:gdLst/>
              <a:ahLst/>
              <a:cxnLst/>
              <a:rect l="l" t="t" r="r" b="b"/>
              <a:pathLst>
                <a:path w="211455" h="9525">
                  <a:moveTo>
                    <a:pt x="0" y="0"/>
                  </a:moveTo>
                  <a:lnTo>
                    <a:pt x="21145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813685" y="24974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823460" y="2549842"/>
              <a:ext cx="4661535" cy="9525"/>
            </a:xfrm>
            <a:custGeom>
              <a:avLst/>
              <a:gdLst/>
              <a:ahLst/>
              <a:cxnLst/>
              <a:rect l="l" t="t" r="r" b="b"/>
              <a:pathLst>
                <a:path w="4661535" h="9525">
                  <a:moveTo>
                    <a:pt x="0" y="0"/>
                  </a:moveTo>
                  <a:lnTo>
                    <a:pt x="466153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9484995" y="249745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870960" y="2947035"/>
              <a:ext cx="9525" cy="394335"/>
            </a:xfrm>
            <a:custGeom>
              <a:avLst/>
              <a:gdLst/>
              <a:ahLst/>
              <a:cxnLst/>
              <a:rect l="l" t="t" r="r" b="b"/>
              <a:pathLst>
                <a:path w="9525" h="394335">
                  <a:moveTo>
                    <a:pt x="0" y="0"/>
                  </a:moveTo>
                  <a:lnTo>
                    <a:pt x="0" y="3943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818572" y="334137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465070" y="3740468"/>
              <a:ext cx="453390" cy="9525"/>
            </a:xfrm>
            <a:custGeom>
              <a:avLst/>
              <a:gdLst/>
              <a:ahLst/>
              <a:cxnLst/>
              <a:rect l="l" t="t" r="r" b="b"/>
              <a:pathLst>
                <a:path w="453390" h="9525">
                  <a:moveTo>
                    <a:pt x="45339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360295" y="36880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823460" y="3740468"/>
              <a:ext cx="310515" cy="9525"/>
            </a:xfrm>
            <a:custGeom>
              <a:avLst/>
              <a:gdLst/>
              <a:ahLst/>
              <a:cxnLst/>
              <a:rect l="l" t="t" r="r" b="b"/>
              <a:pathLst>
                <a:path w="310515" h="9525">
                  <a:moveTo>
                    <a:pt x="0" y="0"/>
                  </a:moveTo>
                  <a:lnTo>
                    <a:pt x="31051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133975" y="36880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6096000" y="2860358"/>
              <a:ext cx="4450080" cy="674370"/>
            </a:xfrm>
            <a:custGeom>
              <a:avLst/>
              <a:gdLst/>
              <a:ahLst/>
              <a:cxnLst/>
              <a:rect l="l" t="t" r="r" b="b"/>
              <a:pathLst>
                <a:path w="4450080" h="674370">
                  <a:moveTo>
                    <a:pt x="0" y="674370"/>
                  </a:moveTo>
                  <a:lnTo>
                    <a:pt x="0" y="464820"/>
                  </a:lnTo>
                  <a:lnTo>
                    <a:pt x="0" y="284797"/>
                  </a:lnTo>
                  <a:lnTo>
                    <a:pt x="0" y="104775"/>
                  </a:lnTo>
                  <a:lnTo>
                    <a:pt x="4450080" y="104775"/>
                  </a:lnTo>
                  <a:lnTo>
                    <a:pt x="445008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493692" y="27555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6953250" y="3740468"/>
              <a:ext cx="358140" cy="9525"/>
            </a:xfrm>
            <a:custGeom>
              <a:avLst/>
              <a:gdLst/>
              <a:ahLst/>
              <a:cxnLst/>
              <a:rect l="l" t="t" r="r" b="b"/>
              <a:pathLst>
                <a:path w="358140" h="9525">
                  <a:moveTo>
                    <a:pt x="0" y="0"/>
                  </a:moveTo>
                  <a:lnTo>
                    <a:pt x="3581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7311390" y="36880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89610" y="2247900"/>
              <a:ext cx="1913572" cy="6038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2918460" y="2152650"/>
              <a:ext cx="1905000" cy="794385"/>
            </a:xfrm>
            <a:custGeom>
              <a:avLst/>
              <a:gdLst/>
              <a:ahLst/>
              <a:cxnLst/>
              <a:rect l="l" t="t" r="r" b="b"/>
              <a:pathLst>
                <a:path w="1905000" h="794385">
                  <a:moveTo>
                    <a:pt x="952500" y="0"/>
                  </a:moveTo>
                  <a:lnTo>
                    <a:pt x="1905000" y="397192"/>
                  </a:lnTo>
                  <a:lnTo>
                    <a:pt x="952500" y="794385"/>
                  </a:lnTo>
                  <a:lnTo>
                    <a:pt x="0" y="397192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9589770" y="2344102"/>
              <a:ext cx="1913572" cy="41148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931545" y="3534728"/>
              <a:ext cx="1428750" cy="411480"/>
            </a:xfrm>
            <a:prstGeom prst="roundRect">
              <a:avLst>
                <a:gd name="adj" fmla="val 18519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2918460" y="3446145"/>
              <a:ext cx="1905000" cy="588645"/>
            </a:xfrm>
            <a:custGeom>
              <a:avLst/>
              <a:gdLst/>
              <a:ahLst/>
              <a:cxnLst/>
              <a:rect l="l" t="t" r="r" b="b"/>
              <a:pathLst>
                <a:path w="1905000" h="588645">
                  <a:moveTo>
                    <a:pt x="952500" y="0"/>
                  </a:moveTo>
                  <a:lnTo>
                    <a:pt x="1905000" y="294322"/>
                  </a:lnTo>
                  <a:lnTo>
                    <a:pt x="952500" y="588645"/>
                  </a:lnTo>
                  <a:lnTo>
                    <a:pt x="0" y="294322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238750" y="3534728"/>
              <a:ext cx="1714500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7416165" y="3438525"/>
              <a:ext cx="1809750" cy="603885"/>
            </a:xfrm>
            <a:prstGeom prst="roundRect">
              <a:avLst>
                <a:gd name="adj" fmla="val 15773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54024" y="2363152"/>
              <a:ext cx="13837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由程序确定逻辑地址</a:t>
              </a:r>
              <a:br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(p, d)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20034" y="2363152"/>
              <a:ext cx="110185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p 查快表得到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f？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724187" y="2466022"/>
              <a:ext cx="16437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 与 d 合并得物理地址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16736" y="365664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533699" y="3656648"/>
              <a:ext cx="6745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≤ l−1？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350840" y="3656648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b 和 p 查页表得 f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02474" y="3553777"/>
              <a:ext cx="143713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(p, f) 写入快表，满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则淘汰一个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034212" y="2343150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69734" y="236839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查到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3899535" y="3110865"/>
              <a:ext cx="468630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923157" y="313610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查不到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529840" y="3534728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568461" y="355901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921568" y="3534728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960188" y="355901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148638" y="2759392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184159" y="278368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并行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012305" y="3534728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047827" y="355901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并行</a:t>
              </a:r>
            </a:p>
          </p:txBody>
        </p:sp>
      </p:grpSp>
      <p:grpSp>
        <p:nvGrpSpPr>
          <p:cNvPr id="58" name="c1-kv-2"/>
          <p:cNvGrpSpPr/>
          <p:nvPr/>
        </p:nvGrpSpPr>
        <p:grpSpPr>
          <a:xfrm>
            <a:off x="526161" y="4539139"/>
            <a:ext cx="11132439" cy="1111187"/>
            <a:chOff x="526161" y="4539139"/>
            <a:chExt cx="11132439" cy="1111187"/>
          </a:xfrm>
        </p:grpSpPr>
        <p:sp>
          <p:nvSpPr>
            <p:cNvPr id="50" name="TextBox 50"/>
            <p:cNvSpPr txBox="1"/>
            <p:nvPr/>
          </p:nvSpPr>
          <p:spPr>
            <a:xfrm>
              <a:off x="526161" y="4539139"/>
              <a:ext cx="15232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页表首址寄存器 b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256854" y="4539139"/>
              <a:ext cx="56302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系统一个，存运行进程页表的起始地址（进程切换时从 PCB 装入）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484251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26161" y="4955381"/>
              <a:ext cx="14730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页表长度寄存器 l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256854" y="4955381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系统一个，存运行进程的页表长度，用于越界检查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52587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26161" y="5371624"/>
              <a:ext cx="11290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快表（TLB）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256854" y="5371624"/>
              <a:ext cx="6695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系统一组联想寄存器，存最近用过的 (逻辑页号 p, 页架号 f)，按内容同时比较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9" name="Rectangle 59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511" y="6011704"/>
              <a:ext cx="91901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快表命中时不用访问内存中的页表，省下一次访存；未命中时查页表，并把结果补进快表，下次再用就快了。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例题：页式地址变换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114521" cy="264033"/>
            <a:chOff x="526542" y="1545907"/>
            <a:chExt cx="1011452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1145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页长 1K（2^10 字节），页表长度 l = 4，页表 0→15、1→22、2→16、3→32。求逻辑地址 2500、3100、4100 对应的物理地址。</a:t>
              </a:r>
            </a:p>
          </p:txBody>
        </p:sp>
      </p:grpSp>
      <p:grpSp>
        <p:nvGrpSpPr>
          <p:cNvPr id="43" name="c1-table-1"/>
          <p:cNvGrpSpPr/>
          <p:nvPr/>
        </p:nvGrpSpPr>
        <p:grpSpPr>
          <a:xfrm>
            <a:off x="533400" y="1928812"/>
            <a:ext cx="6059805" cy="1800225"/>
            <a:chOff x="533400" y="1928812"/>
            <a:chExt cx="6059805" cy="180022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059805" cy="60007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49999" y="2150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逻辑地址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9689" y="2050256"/>
              <a:ext cx="474421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 = a ÷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1024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62263" y="2050256"/>
              <a:ext cx="668579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 = a mod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1024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8941" y="2150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越界检查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6683" y="2150269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页架号 f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92166" y="2050256"/>
              <a:ext cx="668579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物理地址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f×1024+d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7403" y="265033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19722" y="26503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66449" y="265033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452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750869" y="265033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≤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47202" y="265033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713425" y="265033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16836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92417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2928938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77403" y="305038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3100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19722" y="305038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807912" y="305038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750869" y="305038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≤ 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47202" y="305038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13425" y="305038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32796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32422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77403" y="345043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4100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819722" y="34504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849375" y="34504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742388" y="3450431"/>
              <a:ext cx="3676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 &gt; 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788665" y="34504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619191" y="34504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越界中断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928812"/>
              <a:ext cx="6059805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377315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2346008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3437572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406265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254942" y="1928812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1-callout-2"/>
          <p:cNvGrpSpPr/>
          <p:nvPr/>
        </p:nvGrpSpPr>
        <p:grpSpPr>
          <a:xfrm>
            <a:off x="533400" y="3898582"/>
            <a:ext cx="6059805" cy="729615"/>
            <a:chOff x="533400" y="3898582"/>
            <a:chExt cx="6059805" cy="729615"/>
          </a:xfrm>
        </p:grpSpPr>
        <p:sp>
          <p:nvSpPr>
            <p:cNvPr id="44" name="Rectangle 44"/>
            <p:cNvSpPr/>
            <p:nvPr/>
          </p:nvSpPr>
          <p:spPr>
            <a:xfrm>
              <a:off x="533400" y="3898582"/>
              <a:ext cx="6059805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26129" y="4159686"/>
              <a:ext cx="224134" cy="192560"/>
              <a:chOff x="726129" y="4159686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838200" y="423005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26129" y="415968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430784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892" y="4045268"/>
              <a:ext cx="478002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易错：越界检查拿页号 p 和页表长度 l 比较。页内地址 d 只有 i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位，不会超出一页，不用检查。</a:t>
              </a:r>
            </a:p>
          </p:txBody>
        </p:sp>
      </p:grpSp>
      <p:grpSp>
        <p:nvGrpSpPr>
          <p:cNvPr id="68" name="c1-steps-3"/>
          <p:cNvGrpSpPr/>
          <p:nvPr/>
        </p:nvGrpSpPr>
        <p:grpSpPr>
          <a:xfrm>
            <a:off x="533400" y="4797742"/>
            <a:ext cx="6059804" cy="1358265"/>
            <a:chOff x="533400" y="4797742"/>
            <a:chExt cx="6059804" cy="1358265"/>
          </a:xfrm>
        </p:grpSpPr>
        <p:sp>
          <p:nvSpPr>
            <p:cNvPr id="51" name="Rectangle 51"/>
            <p:cNvSpPr/>
            <p:nvPr/>
          </p:nvSpPr>
          <p:spPr>
            <a:xfrm>
              <a:off x="533400" y="4797742"/>
              <a:ext cx="1829752" cy="1358265"/>
            </a:xfrm>
            <a:prstGeom prst="roundRect">
              <a:avLst>
                <a:gd name="adj" fmla="val 84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Ellipse 52"/>
            <p:cNvSpPr/>
            <p:nvPr/>
          </p:nvSpPr>
          <p:spPr>
            <a:xfrm>
              <a:off x="666750" y="493109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56883" y="500157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9892" y="533495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1035" y="5621179"/>
              <a:ext cx="115646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= a ÷ 2^i，d = a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mod 2^i</a:t>
              </a:r>
            </a:p>
          </p:txBody>
        </p:sp>
        <p:sp>
          <p:nvSpPr>
            <p:cNvPr id="56" name="Freeform 56"/>
            <p:cNvSpPr/>
            <p:nvPr/>
          </p:nvSpPr>
          <p:spPr>
            <a:xfrm>
              <a:off x="2439352" y="539210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2648902" y="4797742"/>
              <a:ext cx="1829752" cy="1358265"/>
            </a:xfrm>
            <a:prstGeom prst="roundRect">
              <a:avLst>
                <a:gd name="adj" fmla="val 84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Ellipse 58"/>
            <p:cNvSpPr/>
            <p:nvPr/>
          </p:nvSpPr>
          <p:spPr>
            <a:xfrm>
              <a:off x="2782252" y="493109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2872386" y="500157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2775394" y="533495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776538" y="5621179"/>
              <a:ext cx="1406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≤ l−1 时查页表得 f</a:t>
              </a:r>
            </a:p>
          </p:txBody>
        </p:sp>
        <p:sp>
          <p:nvSpPr>
            <p:cNvPr id="62" name="Freeform 62"/>
            <p:cNvSpPr/>
            <p:nvPr/>
          </p:nvSpPr>
          <p:spPr>
            <a:xfrm>
              <a:off x="4553902" y="539210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4763452" y="4797742"/>
              <a:ext cx="1829752" cy="1358265"/>
            </a:xfrm>
            <a:prstGeom prst="roundRect">
              <a:avLst>
                <a:gd name="adj" fmla="val 84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4" name="Ellipse 64"/>
            <p:cNvSpPr/>
            <p:nvPr/>
          </p:nvSpPr>
          <p:spPr>
            <a:xfrm>
              <a:off x="4896802" y="493109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4986936" y="500157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4889944" y="533495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拼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891088" y="5621179"/>
              <a:ext cx="15116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= f × 2^i + d</a:t>
              </a:r>
            </a:p>
          </p:txBody>
        </p:sp>
      </p:grpSp>
      <p:grpSp>
        <p:nvGrpSpPr>
          <p:cNvPr id="90" name="c2-card-1"/>
          <p:cNvGrpSpPr/>
          <p:nvPr/>
        </p:nvGrpSpPr>
        <p:grpSpPr>
          <a:xfrm>
            <a:off x="6898005" y="1928812"/>
            <a:ext cx="4760595" cy="4228148"/>
            <a:chOff x="6898005" y="1928812"/>
            <a:chExt cx="4760595" cy="4228148"/>
          </a:xfrm>
        </p:grpSpPr>
        <p:sp>
          <p:nvSpPr>
            <p:cNvPr id="69" name="Rectangle 69"/>
            <p:cNvSpPr/>
            <p:nvPr/>
          </p:nvSpPr>
          <p:spPr>
            <a:xfrm>
              <a:off x="6898005" y="1928812"/>
              <a:ext cx="4760595" cy="4228148"/>
            </a:xfrm>
            <a:prstGeom prst="roundRect">
              <a:avLst>
                <a:gd name="adj" fmla="val 31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6907530" y="2062162"/>
              <a:ext cx="47625" cy="39614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7122795" y="2115502"/>
              <a:ext cx="1224915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191412" y="2148364"/>
              <a:ext cx="10857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用二进制看“拼接”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454200" y="2150745"/>
              <a:ext cx="12177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逻辑地址 2500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117842" y="257794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逻辑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7504748" y="2453640"/>
              <a:ext cx="1257300" cy="368618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8052256" y="2577941"/>
              <a:ext cx="1622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8762048" y="2453640"/>
              <a:ext cx="12573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963246" y="2577941"/>
              <a:ext cx="8549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01 1100 0100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117842" y="309705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物理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7504748" y="2973705"/>
              <a:ext cx="1257300" cy="368618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7937974" y="3097054"/>
              <a:ext cx="3908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10000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8762048" y="2973705"/>
              <a:ext cx="1257300" cy="3686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8963246" y="3097054"/>
              <a:ext cx="8549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01 1100 0100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7131367" y="350520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7287387" y="3449002"/>
              <a:ext cx="401707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 = 0x9C4，低 10 位是 d = 0x1C4 = 452，高位是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= 2</a:t>
              </a:r>
            </a:p>
          </p:txBody>
        </p:sp>
        <p:sp>
          <p:nvSpPr>
            <p:cNvPr id="86" name="Ellipse 86"/>
            <p:cNvSpPr/>
            <p:nvPr/>
          </p:nvSpPr>
          <p:spPr>
            <a:xfrm>
              <a:off x="7131367" y="406241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7287387" y="4006215"/>
              <a:ext cx="28669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查页表 f = 16 = 10000₂，与 d 拼接</a:t>
              </a:r>
            </a:p>
          </p:txBody>
        </p:sp>
        <p:sp>
          <p:nvSpPr>
            <p:cNvPr id="88" name="Ellipse 88"/>
            <p:cNvSpPr/>
            <p:nvPr/>
          </p:nvSpPr>
          <p:spPr>
            <a:xfrm>
              <a:off x="7131367" y="436245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7287387" y="4306252"/>
              <a:ext cx="38709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= 0x41C4 = 16 × 1024 + 452 = 16836</a:t>
              </a:r>
            </a:p>
          </p:txBody>
        </p:sp>
      </p:grpSp>
      <p:grpSp>
        <p:nvGrpSpPr>
          <p:cNvPr id="9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1" name="TextBox 9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30398" cy="909257"/>
            <a:chOff x="520446" y="342900"/>
            <a:chExt cx="44303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303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快表与有效访问时间（EAT）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3"/>
              <p:cNvSpPr txBox="1">
                <a:spLocks noGrp="1"/>
              </p:cNvSpPr>
              <p:nvPr/>
            </p:nvSpPr>
            <p:spPr>
              <a:xfrm>
                <a:off x="533400" y="1524000"/>
                <a:ext cx="6276022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EAT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TLB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e>
                      </m:d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TLB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  <m:sSub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8" name="c1-table-2"/>
          <p:cNvGrpSpPr/>
          <p:nvPr/>
        </p:nvGrpSpPr>
        <p:grpSpPr>
          <a:xfrm>
            <a:off x="527685" y="2171700"/>
            <a:ext cx="6281737" cy="2317909"/>
            <a:chOff x="527685" y="2171700"/>
            <a:chExt cx="6281737" cy="2317909"/>
          </a:xfrm>
        </p:grpSpPr>
        <p:sp>
          <p:nvSpPr>
            <p:cNvPr id="8" name="Rectangle 8"/>
            <p:cNvSpPr/>
            <p:nvPr/>
          </p:nvSpPr>
          <p:spPr>
            <a:xfrm>
              <a:off x="533400" y="2171700"/>
              <a:ext cx="627602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45172" y="23074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983166" y="23074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要做的访问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16296" y="23074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所需时间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7560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快表命中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22348" y="2756059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查快表 + 访问数据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034153" y="2756059"/>
              <a:ext cx="13570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+ 100 = 120ns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0641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3068955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31803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快表未命中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22348" y="3318034"/>
              <a:ext cx="21324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查快表 + 查页表 + 访问数据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034153" y="3204686"/>
              <a:ext cx="124028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+ 100 + 100 =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220ns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74046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8800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没有快表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22348" y="3880009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查页表 + 访问数据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34153" y="3880009"/>
              <a:ext cx="14517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+ 100 = 200ns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2171700"/>
              <a:ext cx="6276022" cy="20221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909762" y="2171700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921568" y="2171700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7685" y="4269581"/>
              <a:ext cx="4142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设快表访问时间 20ns，内存访问时间 100ns，命中率 α = 98%</a:t>
              </a:r>
            </a:p>
          </p:txBody>
        </p:sp>
      </p:grpSp>
      <p:grpSp>
        <p:nvGrpSpPr>
          <p:cNvPr id="35" name="c1-card-3"/>
          <p:cNvGrpSpPr/>
          <p:nvPr/>
        </p:nvGrpSpPr>
        <p:grpSpPr>
          <a:xfrm>
            <a:off x="533400" y="4635818"/>
            <a:ext cx="6276022" cy="1612582"/>
            <a:chOff x="533400" y="4635818"/>
            <a:chExt cx="6276022" cy="1612582"/>
          </a:xfrm>
        </p:grpSpPr>
        <p:sp>
          <p:nvSpPr>
            <p:cNvPr id="29" name="Rectangle 29"/>
            <p:cNvSpPr/>
            <p:nvPr/>
          </p:nvSpPr>
          <p:spPr>
            <a:xfrm>
              <a:off x="533400" y="4635818"/>
              <a:ext cx="6276022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4769168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81050" y="484536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71258" y="488108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计算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3430" y="5222558"/>
              <a:ext cx="5149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EAT = 98% × (20 + 100) + 2% × (20 + 200) = 117.6 + 4.4 =</a:t>
              </a:r>
              <a:br/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122ns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74573" y="5839301"/>
              <a:ext cx="50014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只比直接访问一次内存（100ns）慢 22%；没有快表时要 200ns。</a:t>
              </a:r>
            </a:p>
          </p:txBody>
        </p:sp>
      </p:grpSp>
      <p:grpSp>
        <p:nvGrpSpPr>
          <p:cNvPr id="38" name="c2-image-1"/>
          <p:cNvGrpSpPr/>
          <p:nvPr/>
        </p:nvGrpSpPr>
        <p:grpSpPr>
          <a:xfrm>
            <a:off x="7114222" y="1524000"/>
            <a:ext cx="4544378" cy="3890487"/>
            <a:chOff x="7114222" y="1524000"/>
            <a:chExt cx="4544378" cy="3890487"/>
          </a:xfrm>
        </p:grpSpPr>
        <p:pic>
          <p:nvPicPr>
            <p:cNvPr id="36" name="Image 36"/>
            <p:cNvPicPr>
              <a:picLocks noChangeAspect="1"/>
            </p:cNvPicPr>
            <p:nvPr/>
          </p:nvPicPr>
          <p:blipFill>
            <a:blip r:embed="rId2"/>
            <a:srcRect l="2341" t="0" r="2341" b="0"/>
            <a:stretch>
              <a:fillRect/>
            </a:stretch>
          </p:blipFill>
          <p:spPr>
            <a:xfrm>
              <a:off x="7114222" y="1524000"/>
              <a:ext cx="4544378" cy="3575685"/>
            </a:xfrm>
            <a:prstGeom prst="roundRect">
              <a:avLst>
                <a:gd name="adj" fmla="val 3729"/>
              </a:avLst>
            </a:prstGeom>
          </p:spPr>
        </p:pic>
        <p:sp>
          <p:nvSpPr>
            <p:cNvPr id="37" name="TextBox 37"/>
            <p:cNvSpPr txBox="1"/>
            <p:nvPr/>
          </p:nvSpPr>
          <p:spPr>
            <a:xfrm>
              <a:off x="7721702" y="5194459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常用的几项抄在手边，查不到才去翻远处的大目录</a:t>
              </a:r>
            </a:p>
          </p:txBody>
        </p:sp>
      </p:grpSp>
      <p:grpSp>
        <p:nvGrpSpPr>
          <p:cNvPr id="45" name="c2-callout-2"/>
          <p:cNvGrpSpPr/>
          <p:nvPr/>
        </p:nvGrpSpPr>
        <p:grpSpPr>
          <a:xfrm>
            <a:off x="7114222" y="5579745"/>
            <a:ext cx="4544378" cy="782955"/>
            <a:chOff x="7114222" y="5579745"/>
            <a:chExt cx="4544378" cy="782955"/>
          </a:xfrm>
        </p:grpSpPr>
        <p:sp>
          <p:nvSpPr>
            <p:cNvPr id="39" name="Rectangle 39"/>
            <p:cNvSpPr/>
            <p:nvPr/>
          </p:nvSpPr>
          <p:spPr>
            <a:xfrm>
              <a:off x="7114222" y="5579745"/>
              <a:ext cx="4544378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06952" y="5867518"/>
              <a:ext cx="224134" cy="192560"/>
              <a:chOff x="7306952" y="5867518"/>
              <a:chExt cx="224134" cy="19256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419023" y="5937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306952" y="5867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419023" y="6015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7620952" y="5728335"/>
              <a:ext cx="35490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易错：未命中时括号里是“快表时间 + 2 次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内存访问”，快表那 20ns 照样花掉了。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多级页表：单级页表太大，而且要连续存放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842635" cy="3129915"/>
            <a:chOff x="533400" y="1524000"/>
            <a:chExt cx="5842635" cy="31299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129915"/>
            </a:xfrm>
            <a:prstGeom prst="roundRect">
              <a:avLst>
                <a:gd name="adj" fmla="val 42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8632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9827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4421" y="1769269"/>
              <a:ext cx="12715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6.3.2.2 提出背景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内存空间成倍增长，进程虚拟空间成倍增加，单级页表需要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很大的连续内存空间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31770"/>
              <a:ext cx="49587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例：32 位进程地址空间，页长 4K 占 12 位，页号 20 位，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页表最多 2^20 个表项；每项按 4 字节算，一个进程的页表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 4MB 连续内存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7014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638550"/>
              <a:ext cx="4968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多线程设计使进程虚拟空间不连续，出现空洞（hole），如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栈的预留空间没有页架对应，页表却要为它留表项，浪费内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4844415"/>
            <a:ext cx="5842635" cy="782955"/>
            <a:chOff x="533400" y="4844415"/>
            <a:chExt cx="5842635" cy="782955"/>
          </a:xfrm>
        </p:grpSpPr>
        <p:sp>
          <p:nvSpPr>
            <p:cNvPr id="18" name="Rectangle 18"/>
            <p:cNvSpPr/>
            <p:nvPr/>
          </p:nvSpPr>
          <p:spPr>
            <a:xfrm>
              <a:off x="533400" y="4844415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5135882"/>
              <a:ext cx="200023" cy="200023"/>
              <a:chOff x="738188" y="5135882"/>
              <a:chExt cx="200023" cy="20002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51358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71538" y="5202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4993005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解决策略：二级或多级页表。把页表本身也分页，只为用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到的部分建内页表。</a:t>
              </a:r>
            </a:p>
          </p:txBody>
        </p:sp>
      </p:grpSp>
      <p:grpSp>
        <p:nvGrpSpPr>
          <p:cNvPr id="36" name="c2-cells-1"/>
          <p:cNvGrpSpPr/>
          <p:nvPr/>
        </p:nvGrpSpPr>
        <p:grpSpPr>
          <a:xfrm>
            <a:off x="6675120" y="1524000"/>
            <a:ext cx="4043362" cy="1009650"/>
            <a:chOff x="6675120" y="1524000"/>
            <a:chExt cx="4043362" cy="1009650"/>
          </a:xfrm>
        </p:grpSpPr>
        <p:sp>
          <p:nvSpPr>
            <p:cNvPr id="24" name="TextBox 24"/>
            <p:cNvSpPr txBox="1"/>
            <p:nvPr/>
          </p:nvSpPr>
          <p:spPr>
            <a:xfrm>
              <a:off x="6675120" y="16635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单级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098982" y="1524000"/>
              <a:ext cx="18097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443104" y="1663541"/>
              <a:ext cx="1121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页号 p（20 位）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908732" y="1524000"/>
              <a:ext cx="1809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102080" y="1663541"/>
              <a:ext cx="14230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页内地址 d（12 位）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75120" y="22540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二级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098982" y="2114550"/>
              <a:ext cx="120015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289079" y="2254091"/>
              <a:ext cx="819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pi（10 位）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99132" y="2114550"/>
              <a:ext cx="12001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89229" y="2254091"/>
              <a:ext cx="819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pj（10 位）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499282" y="2114550"/>
              <a:ext cx="12001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713126" y="2254091"/>
              <a:ext cx="772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d（12 位）</a:t>
              </a:r>
            </a:p>
          </p:txBody>
        </p:sp>
      </p:grpSp>
      <p:grpSp>
        <p:nvGrpSpPr>
          <p:cNvPr id="45" name="c2-kv-2"/>
          <p:cNvGrpSpPr/>
          <p:nvPr/>
        </p:nvGrpSpPr>
        <p:grpSpPr>
          <a:xfrm>
            <a:off x="6673215" y="2748915"/>
            <a:ext cx="4985385" cy="1455420"/>
            <a:chOff x="6673215" y="2748915"/>
            <a:chExt cx="4985385" cy="1455420"/>
          </a:xfrm>
        </p:grpSpPr>
        <p:sp>
          <p:nvSpPr>
            <p:cNvPr id="37" name="TextBox 37"/>
            <p:cNvSpPr txBox="1"/>
            <p:nvPr/>
          </p:nvSpPr>
          <p:spPr>
            <a:xfrm>
              <a:off x="6673215" y="27489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外页表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715250" y="2748915"/>
              <a:ext cx="36823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pi 索引，共 2^10 项，每项指向一张内页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680835" y="335089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73215" y="347091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内页表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715250" y="3470910"/>
              <a:ext cx="3296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pj 索引，每张 2^10 项，存页架号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680835" y="379095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73215" y="39109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覆盖范围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15250" y="3910965"/>
              <a:ext cx="37284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一张内页表管 2^10 页，即 4MB 地址空间</a:t>
              </a:r>
            </a:p>
          </p:txBody>
        </p:sp>
      </p:grpSp>
      <p:grpSp>
        <p:nvGrpSpPr>
          <p:cNvPr id="47" name="c2-text-3"/>
          <p:cNvGrpSpPr/>
          <p:nvPr/>
        </p:nvGrpSpPr>
        <p:grpSpPr>
          <a:xfrm>
            <a:off x="6674358" y="4357211"/>
            <a:ext cx="4889429" cy="249364"/>
            <a:chOff x="6674358" y="4357211"/>
            <a:chExt cx="4889429" cy="249364"/>
          </a:xfrm>
        </p:grpSpPr>
        <p:sp>
          <p:nvSpPr>
            <p:cNvPr id="46" name="TextBox 46"/>
            <p:cNvSpPr txBox="1"/>
            <p:nvPr/>
          </p:nvSpPr>
          <p:spPr>
            <a:xfrm>
              <a:off x="6674358" y="4357211"/>
              <a:ext cx="48894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原课件英文说明：pi 是外页表的下标，pj 是在内页表中的位移。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二级页表：外页表指向内页表，空洞不建内页表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0" name="c1-graph-1"/>
          <p:cNvGrpSpPr/>
          <p:nvPr/>
        </p:nvGrpSpPr>
        <p:grpSpPr>
          <a:xfrm>
            <a:off x="741045" y="1817370"/>
            <a:ext cx="5835015" cy="4499134"/>
            <a:chOff x="741045" y="1817370"/>
            <a:chExt cx="5835015" cy="4499134"/>
          </a:xfrm>
        </p:grpSpPr>
        <p:sp>
          <p:nvSpPr>
            <p:cNvPr id="7" name="Freeform 7"/>
            <p:cNvSpPr/>
            <p:nvPr/>
          </p:nvSpPr>
          <p:spPr>
            <a:xfrm>
              <a:off x="1884045" y="2119312"/>
              <a:ext cx="1179195" cy="250508"/>
            </a:xfrm>
            <a:custGeom>
              <a:avLst/>
              <a:gdLst/>
              <a:ahLst/>
              <a:cxnLst/>
              <a:rect l="l" t="t" r="r" b="b"/>
              <a:pathLst>
                <a:path w="1179195" h="250508">
                  <a:moveTo>
                    <a:pt x="0" y="250508"/>
                  </a:moveTo>
                  <a:lnTo>
                    <a:pt x="11791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052762" y="2072640"/>
              <a:ext cx="103822" cy="93345"/>
            </a:xfrm>
            <a:custGeom>
              <a:avLst/>
              <a:gdLst/>
              <a:ahLst/>
              <a:cxnLst/>
              <a:rect l="l" t="t" r="r" b="b"/>
              <a:pathLst>
                <a:path w="103822" h="93345">
                  <a:moveTo>
                    <a:pt x="103822" y="26670"/>
                  </a:moveTo>
                  <a:lnTo>
                    <a:pt x="20003" y="933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884045" y="3169920"/>
              <a:ext cx="1178242" cy="200977"/>
            </a:xfrm>
            <a:custGeom>
              <a:avLst/>
              <a:gdLst/>
              <a:ahLst/>
              <a:cxnLst/>
              <a:rect l="l" t="t" r="r" b="b"/>
              <a:pathLst>
                <a:path w="1178242" h="200977">
                  <a:moveTo>
                    <a:pt x="0" y="0"/>
                  </a:moveTo>
                  <a:lnTo>
                    <a:pt x="1178242" y="20097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054668" y="3323272"/>
              <a:ext cx="101917" cy="94298"/>
            </a:xfrm>
            <a:custGeom>
              <a:avLst/>
              <a:gdLst/>
              <a:ahLst/>
              <a:cxnLst/>
              <a:rect l="l" t="t" r="r" b="b"/>
              <a:pathLst>
                <a:path w="101917" h="94298">
                  <a:moveTo>
                    <a:pt x="101917" y="62865"/>
                  </a:moveTo>
                  <a:lnTo>
                    <a:pt x="0" y="94298"/>
                  </a:lnTo>
                  <a:lnTo>
                    <a:pt x="1524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884045" y="4404360"/>
              <a:ext cx="1181100" cy="351473"/>
            </a:xfrm>
            <a:custGeom>
              <a:avLst/>
              <a:gdLst/>
              <a:ahLst/>
              <a:cxnLst/>
              <a:rect l="l" t="t" r="r" b="b"/>
              <a:pathLst>
                <a:path w="1181100" h="351473">
                  <a:moveTo>
                    <a:pt x="0" y="0"/>
                  </a:moveTo>
                  <a:lnTo>
                    <a:pt x="1181100" y="35147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050858" y="4710112"/>
              <a:ext cx="105727" cy="91440"/>
            </a:xfrm>
            <a:custGeom>
              <a:avLst/>
              <a:gdLst/>
              <a:ahLst/>
              <a:cxnLst/>
              <a:rect l="l" t="t" r="r" b="b"/>
              <a:pathLst>
                <a:path w="105727" h="91440">
                  <a:moveTo>
                    <a:pt x="105727" y="73342"/>
                  </a:moveTo>
                  <a:lnTo>
                    <a:pt x="0" y="91440"/>
                  </a:lnTo>
                  <a:lnTo>
                    <a:pt x="2762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013835" y="2007870"/>
              <a:ext cx="1419225" cy="9525"/>
            </a:xfrm>
            <a:custGeom>
              <a:avLst/>
              <a:gdLst/>
              <a:ahLst/>
              <a:cxnLst/>
              <a:rect l="l" t="t" r="r" b="b"/>
              <a:pathLst>
                <a:path w="1419225" h="9525">
                  <a:moveTo>
                    <a:pt x="0" y="0"/>
                  </a:moveTo>
                  <a:lnTo>
                    <a:pt x="141922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433060" y="19602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013835" y="2699385"/>
              <a:ext cx="1437322" cy="536258"/>
            </a:xfrm>
            <a:custGeom>
              <a:avLst/>
              <a:gdLst/>
              <a:ahLst/>
              <a:cxnLst/>
              <a:rect l="l" t="t" r="r" b="b"/>
              <a:pathLst>
                <a:path w="1437322" h="536258">
                  <a:moveTo>
                    <a:pt x="0" y="0"/>
                  </a:moveTo>
                  <a:lnTo>
                    <a:pt x="1437322" y="53625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434965" y="3190875"/>
              <a:ext cx="105728" cy="89535"/>
            </a:xfrm>
            <a:custGeom>
              <a:avLst/>
              <a:gdLst/>
              <a:ahLst/>
              <a:cxnLst/>
              <a:rect l="l" t="t" r="r" b="b"/>
              <a:pathLst>
                <a:path w="105728" h="89535">
                  <a:moveTo>
                    <a:pt x="105728" y="78105"/>
                  </a:moveTo>
                  <a:lnTo>
                    <a:pt x="0" y="89535"/>
                  </a:lnTo>
                  <a:lnTo>
                    <a:pt x="3333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013835" y="2914650"/>
              <a:ext cx="1423035" cy="419100"/>
            </a:xfrm>
            <a:custGeom>
              <a:avLst/>
              <a:gdLst/>
              <a:ahLst/>
              <a:cxnLst/>
              <a:rect l="l" t="t" r="r" b="b"/>
              <a:pathLst>
                <a:path w="1423035" h="419100">
                  <a:moveTo>
                    <a:pt x="0" y="419100"/>
                  </a:moveTo>
                  <a:lnTo>
                    <a:pt x="142303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423535" y="2868930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19050"/>
                  </a:moveTo>
                  <a:lnTo>
                    <a:pt x="26670" y="914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013835" y="4025265"/>
              <a:ext cx="1419225" cy="111442"/>
            </a:xfrm>
            <a:custGeom>
              <a:avLst/>
              <a:gdLst/>
              <a:ahLst/>
              <a:cxnLst/>
              <a:rect l="l" t="t" r="r" b="b"/>
              <a:pathLst>
                <a:path w="1419225" h="111442">
                  <a:moveTo>
                    <a:pt x="0" y="0"/>
                  </a:moveTo>
                  <a:lnTo>
                    <a:pt x="1419225" y="11144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429250" y="4089082"/>
              <a:ext cx="99060" cy="95250"/>
            </a:xfrm>
            <a:custGeom>
              <a:avLst/>
              <a:gdLst/>
              <a:ahLst/>
              <a:cxnLst/>
              <a:rect l="l" t="t" r="r" b="b"/>
              <a:pathLst>
                <a:path w="99060" h="95250">
                  <a:moveTo>
                    <a:pt x="99060" y="55245"/>
                  </a:moveTo>
                  <a:lnTo>
                    <a:pt x="0" y="95250"/>
                  </a:lnTo>
                  <a:lnTo>
                    <a:pt x="762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4013835" y="5036820"/>
              <a:ext cx="1423035" cy="419100"/>
            </a:xfrm>
            <a:custGeom>
              <a:avLst/>
              <a:gdLst/>
              <a:ahLst/>
              <a:cxnLst/>
              <a:rect l="l" t="t" r="r" b="b"/>
              <a:pathLst>
                <a:path w="1423035" h="419100">
                  <a:moveTo>
                    <a:pt x="0" y="0"/>
                  </a:moveTo>
                  <a:lnTo>
                    <a:pt x="1423035" y="4191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5423535" y="5410200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72390"/>
                  </a:moveTo>
                  <a:lnTo>
                    <a:pt x="0" y="91440"/>
                  </a:lnTo>
                  <a:lnTo>
                    <a:pt x="2667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4013835" y="5044440"/>
              <a:ext cx="1421130" cy="306705"/>
            </a:xfrm>
            <a:custGeom>
              <a:avLst/>
              <a:gdLst/>
              <a:ahLst/>
              <a:cxnLst/>
              <a:rect l="l" t="t" r="r" b="b"/>
              <a:pathLst>
                <a:path w="1421130" h="306705">
                  <a:moveTo>
                    <a:pt x="0" y="306705"/>
                  </a:moveTo>
                  <a:lnTo>
                    <a:pt x="142113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5424488" y="4997768"/>
              <a:ext cx="103822" cy="93345"/>
            </a:xfrm>
            <a:custGeom>
              <a:avLst/>
              <a:gdLst/>
              <a:ahLst/>
              <a:cxnLst/>
              <a:rect l="l" t="t" r="r" b="b"/>
              <a:pathLst>
                <a:path w="103822" h="93345">
                  <a:moveTo>
                    <a:pt x="103822" y="26670"/>
                  </a:moveTo>
                  <a:lnTo>
                    <a:pt x="20003" y="933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41045" y="2282190"/>
              <a:ext cx="1143000" cy="419100"/>
            </a:xfrm>
            <a:prstGeom prst="roundRect">
              <a:avLst>
                <a:gd name="adj" fmla="val 9091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41045" y="2863215"/>
              <a:ext cx="1143000" cy="419100"/>
            </a:xfrm>
            <a:prstGeom prst="roundRect">
              <a:avLst>
                <a:gd name="adj" fmla="val 9091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41045" y="3443288"/>
              <a:ext cx="1143000" cy="419100"/>
            </a:xfrm>
            <a:prstGeom prst="roundRect">
              <a:avLst>
                <a:gd name="adj" fmla="val 9091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41045" y="4024312"/>
              <a:ext cx="1143000" cy="419100"/>
            </a:xfrm>
            <a:prstGeom prst="roundRect">
              <a:avLst>
                <a:gd name="adj" fmla="val 9091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156585" y="1817370"/>
              <a:ext cx="857250" cy="381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156585" y="2349818"/>
              <a:ext cx="857250" cy="381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156585" y="3268980"/>
              <a:ext cx="857250" cy="381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156585" y="3801428"/>
              <a:ext cx="857250" cy="381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3156585" y="4720590"/>
              <a:ext cx="857250" cy="381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3156585" y="5253038"/>
              <a:ext cx="857250" cy="381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528310" y="1817370"/>
              <a:ext cx="1047750" cy="381000"/>
            </a:xfrm>
            <a:prstGeom prst="roundRect">
              <a:avLst>
                <a:gd name="adj" fmla="val 10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528310" y="2543175"/>
              <a:ext cx="1047750" cy="381000"/>
            </a:xfrm>
            <a:prstGeom prst="roundRect">
              <a:avLst>
                <a:gd name="adj" fmla="val 10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5528310" y="3268980"/>
              <a:ext cx="1047750" cy="381000"/>
            </a:xfrm>
            <a:prstGeom prst="roundRect">
              <a:avLst>
                <a:gd name="adj" fmla="val 10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5528310" y="3994785"/>
              <a:ext cx="1047750" cy="381000"/>
            </a:xfrm>
            <a:prstGeom prst="roundRect">
              <a:avLst>
                <a:gd name="adj" fmla="val 10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528310" y="4720590"/>
              <a:ext cx="1047750" cy="381000"/>
            </a:xfrm>
            <a:prstGeom prst="roundRect">
              <a:avLst>
                <a:gd name="adj" fmla="val 10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528310" y="5446395"/>
              <a:ext cx="1047750" cy="381000"/>
            </a:xfrm>
            <a:prstGeom prst="roundRect">
              <a:avLst>
                <a:gd name="adj" fmla="val 10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1431" y="2426018"/>
              <a:ext cx="7022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外页表 项0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95720" y="3007043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项1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32107" y="3588068"/>
              <a:ext cx="5608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项2 空洞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95720" y="4168140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项3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539061" y="194214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457431" y="247459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457431" y="339375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457431" y="392620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708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457431" y="484536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929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457431" y="537781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842422" y="1942148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页架 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760792" y="2667952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页架 100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760792" y="3393758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页架 500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760792" y="4119562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页架 708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760792" y="4845368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页架 900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760792" y="5571172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页架 929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80668" y="609647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外页表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901010" y="609647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内页表（页表的页）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895696" y="609647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</a:t>
              </a:r>
            </a:p>
          </p:txBody>
        </p:sp>
      </p:grpSp>
      <p:grpSp>
        <p:nvGrpSpPr>
          <p:cNvPr id="74" name="c2-steps-1"/>
          <p:cNvGrpSpPr/>
          <p:nvPr/>
        </p:nvGrpSpPr>
        <p:grpSpPr>
          <a:xfrm>
            <a:off x="7330440" y="1533525"/>
            <a:ext cx="3432449" cy="1878615"/>
            <a:chOff x="7330440" y="1533525"/>
            <a:chExt cx="3432449" cy="1878615"/>
          </a:xfrm>
        </p:grpSpPr>
        <p:sp>
          <p:nvSpPr>
            <p:cNvPr id="61" name="Rectangle 61"/>
            <p:cNvSpPr/>
            <p:nvPr/>
          </p:nvSpPr>
          <p:spPr>
            <a:xfrm>
              <a:off x="746379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Ellipse 62"/>
            <p:cNvSpPr/>
            <p:nvPr/>
          </p:nvSpPr>
          <p:spPr>
            <a:xfrm>
              <a:off x="733044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42406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7330440" y="218408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42406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7330440" y="283464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42406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74192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查外页表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743063" y="1861661"/>
              <a:ext cx="30198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pi 查外页表，得到内页表所在的位置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741920" y="2218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查内页表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743063" y="2512219"/>
              <a:ext cx="26493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pj 查这张内页表，得到页架号 f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741920" y="286893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拼接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743063" y="316277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与 d 合并得物理地址</a:t>
              </a:r>
            </a:p>
          </p:txBody>
        </p:sp>
      </p:grpSp>
      <p:grpSp>
        <p:nvGrpSpPr>
          <p:cNvPr id="81" name="c2-callout-2"/>
          <p:cNvGrpSpPr/>
          <p:nvPr/>
        </p:nvGrpSpPr>
        <p:grpSpPr>
          <a:xfrm>
            <a:off x="7330440" y="3590925"/>
            <a:ext cx="4328160" cy="782955"/>
            <a:chOff x="7330440" y="3590925"/>
            <a:chExt cx="4328160" cy="782955"/>
          </a:xfrm>
        </p:grpSpPr>
        <p:sp>
          <p:nvSpPr>
            <p:cNvPr id="75" name="Rectangle 75"/>
            <p:cNvSpPr/>
            <p:nvPr/>
          </p:nvSpPr>
          <p:spPr>
            <a:xfrm>
              <a:off x="7330440" y="3590925"/>
              <a:ext cx="432816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9" name="Group 79"/>
            <p:cNvGrpSpPr/>
            <p:nvPr/>
          </p:nvGrpSpPr>
          <p:grpSpPr>
            <a:xfrm>
              <a:off x="7535228" y="3882390"/>
              <a:ext cx="200026" cy="200025"/>
              <a:chOff x="7535228" y="3882390"/>
              <a:chExt cx="200026" cy="200025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7535228" y="388239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7574966" y="392684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7609682" y="403796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0" name="TextBox 80"/>
            <p:cNvSpPr txBox="1"/>
            <p:nvPr/>
          </p:nvSpPr>
          <p:spPr>
            <a:xfrm>
              <a:off x="7837170" y="3739515"/>
              <a:ext cx="3444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外页表中对应空洞的表项没有内页表；访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问到空洞的表项时，再动态建立内页表。</a:t>
              </a:r>
            </a:p>
          </p:txBody>
        </p:sp>
      </p:grpSp>
      <p:grpSp>
        <p:nvGrpSpPr>
          <p:cNvPr id="88" name="c2-callout-3"/>
          <p:cNvGrpSpPr/>
          <p:nvPr/>
        </p:nvGrpSpPr>
        <p:grpSpPr>
          <a:xfrm>
            <a:off x="7330440" y="4564380"/>
            <a:ext cx="4328160" cy="782955"/>
            <a:chOff x="7330440" y="4564380"/>
            <a:chExt cx="4328160" cy="782955"/>
          </a:xfrm>
        </p:grpSpPr>
        <p:sp>
          <p:nvSpPr>
            <p:cNvPr id="82" name="Rectangle 82"/>
            <p:cNvSpPr/>
            <p:nvPr/>
          </p:nvSpPr>
          <p:spPr>
            <a:xfrm>
              <a:off x="7330440" y="4564380"/>
              <a:ext cx="432816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7523169" y="4852153"/>
              <a:ext cx="224134" cy="192560"/>
              <a:chOff x="7523169" y="4852153"/>
              <a:chExt cx="224134" cy="19256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7635240" y="492252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7523169" y="485215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7635240" y="50003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7" name="TextBox 87"/>
            <p:cNvSpPr txBox="1"/>
            <p:nvPr/>
          </p:nvSpPr>
          <p:spPr>
            <a:xfrm>
              <a:off x="7837170" y="4712970"/>
              <a:ext cx="3444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快表未命中时，一次访问要读外页表、内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页表、数据，共 3 次内存。</a:t>
              </a:r>
            </a:p>
          </p:txBody>
        </p:sp>
      </p:grpSp>
      <p:grpSp>
        <p:nvGrpSpPr>
          <p:cNvPr id="9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9" name="TextBox 8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例题：拆分二级页表地址，比较各级页表的访问时间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card-1"/>
          <p:cNvGrpSpPr/>
          <p:nvPr/>
        </p:nvGrpSpPr>
        <p:grpSpPr>
          <a:xfrm>
            <a:off x="533400" y="1524000"/>
            <a:ext cx="5193982" cy="3942398"/>
            <a:chOff x="533400" y="1524000"/>
            <a:chExt cx="5193982" cy="394239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3942398"/>
            </a:xfrm>
            <a:prstGeom prst="roundRect">
              <a:avLst>
                <a:gd name="adj" fmla="val 33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67569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060" y="17564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4547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位地址 0x00403A7C，页长 4K，pi、pj 各 10 位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418874"/>
              <a:ext cx="45449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二进制：0000 0000 0100 0000 0011 1010 0111 1100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9620" y="2712720"/>
              <a:ext cx="4759642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73455" y="2841307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32432" y="2841307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72003" y="2841307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二进制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735640" y="2841307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62910" y="3265170"/>
              <a:ext cx="1563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14348" y="3265170"/>
              <a:ext cx="6099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 10 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821610" y="3265170"/>
              <a:ext cx="9976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00 0000 0001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71987" y="326517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9620" y="3556635"/>
              <a:ext cx="47596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9620" y="3561398"/>
              <a:ext cx="475964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62910" y="3689985"/>
              <a:ext cx="1563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pj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14348" y="3689985"/>
              <a:ext cx="6099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 10 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821610" y="3689985"/>
              <a:ext cx="9976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00 0000 0011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771987" y="368998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9620" y="3981450"/>
              <a:ext cx="47596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8353" y="411480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14348" y="4114800"/>
              <a:ext cx="6099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 12 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32761" y="4114800"/>
              <a:ext cx="11753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1010 0111 1100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305110" y="4114800"/>
              <a:ext cx="10347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0xA7C = 2684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9620" y="2712720"/>
              <a:ext cx="4759642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506855" y="271272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2521268" y="271272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110990" y="271272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63524" y="4519612"/>
              <a:ext cx="44546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先查外页表第 1 项找到内页表，再查该内页表第 3 项得到 f，物理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地址 = f × 4096 + 2684。</a:t>
              </a:r>
            </a:p>
          </p:txBody>
        </p:sp>
      </p:grpSp>
      <p:grpSp>
        <p:nvGrpSpPr>
          <p:cNvPr id="63" name="c2-table-1"/>
          <p:cNvGrpSpPr/>
          <p:nvPr/>
        </p:nvGrpSpPr>
        <p:grpSpPr>
          <a:xfrm>
            <a:off x="6032182" y="1524000"/>
            <a:ext cx="5626418" cy="1697355"/>
            <a:chOff x="6032182" y="1524000"/>
            <a:chExt cx="5626418" cy="1697355"/>
          </a:xfrm>
        </p:grpSpPr>
        <p:sp>
          <p:nvSpPr>
            <p:cNvPr id="39" name="Rectangle 39"/>
            <p:cNvSpPr/>
            <p:nvPr/>
          </p:nvSpPr>
          <p:spPr>
            <a:xfrm>
              <a:off x="6032182" y="1524000"/>
              <a:ext cx="5626418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254496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页表级数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31012" y="1652588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未命中快表时访存次数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382316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无快表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315457" y="1652588"/>
              <a:ext cx="11337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有快表（98%）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24723" y="2076450"/>
              <a:ext cx="3179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级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094307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402508" y="207645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200ns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654094" y="207645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122ns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032182" y="236791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032182" y="2372678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24723" y="2501265"/>
              <a:ext cx="3179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级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094307" y="250126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02508" y="250126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300ns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654094" y="2501265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124ns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032182" y="279273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424723" y="2926080"/>
              <a:ext cx="3179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级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94307" y="29260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402508" y="292608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500ns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654094" y="2926080"/>
              <a:ext cx="456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128ns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032182" y="1524000"/>
              <a:ext cx="5626418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7131368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149715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10101262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formula7"/>
              <p:cNvSpPr txBox="1">
                <a:spLocks noGrp="1"/>
              </p:cNvSpPr>
              <p:nvPr/>
            </p:nvSpPr>
            <p:spPr>
              <a:xfrm>
                <a:off x="6032182" y="3402330"/>
                <a:ext cx="5626418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EA</m:t>
                      </m:r>
                      <m:sSub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98%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100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2%</m:t>
                      </m:r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4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500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128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4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ns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70" name="c2-card-3"/>
          <p:cNvGrpSpPr/>
          <p:nvPr/>
        </p:nvGrpSpPr>
        <p:grpSpPr>
          <a:xfrm>
            <a:off x="6032182" y="3944302"/>
            <a:ext cx="5626418" cy="1522095"/>
            <a:chOff x="6032182" y="3944302"/>
            <a:chExt cx="5626418" cy="1522095"/>
          </a:xfrm>
        </p:grpSpPr>
        <p:sp>
          <p:nvSpPr>
            <p:cNvPr id="65" name="Rectangle 65"/>
            <p:cNvSpPr/>
            <p:nvPr/>
          </p:nvSpPr>
          <p:spPr>
            <a:xfrm>
              <a:off x="6032182" y="3944302"/>
              <a:ext cx="5626418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041708" y="4077652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268402" y="414242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359842" y="417671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261164" y="4502944"/>
              <a:ext cx="4928743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原课件二级页表地址变换图下写“一次访存的时间变为 5 倍”，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这句出自四级页表的讨论。二级页表未命中快表时要访存 3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次，四级页表才是 5 次。</a:t>
              </a:r>
            </a:p>
          </p:txBody>
        </p:sp>
      </p:grpSp>
      <p:grpSp>
        <p:nvGrpSpPr>
          <p:cNvPr id="7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71" name="Rectangle 7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0511" y="6011704"/>
              <a:ext cx="72785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页表级数越多，未命中的代价越大；但快表命中率高时，平均访问时间只多出几纳秒。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反置页表：每个页架一个表项，表的大小固定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ompare-1"/>
          <p:cNvGrpSpPr/>
          <p:nvPr/>
        </p:nvGrpSpPr>
        <p:grpSpPr>
          <a:xfrm>
            <a:off x="533400" y="1524000"/>
            <a:ext cx="5410200" cy="2156460"/>
            <a:chOff x="533400" y="1524000"/>
            <a:chExt cx="5410200" cy="21564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533650" cy="2156460"/>
            </a:xfrm>
            <a:prstGeom prst="roundRect">
              <a:avLst>
                <a:gd name="adj" fmla="val 61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8976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62381" y="174545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传统页表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77240" y="214122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33831" y="208168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面向进程空间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7240" y="245935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3831" y="2398871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每个进程的每个逻辑页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面一项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304800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2988469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进程空间很大时页表很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09950" y="1524000"/>
              <a:ext cx="2533650" cy="2156460"/>
            </a:xfrm>
            <a:prstGeom prst="roundRect">
              <a:avLst>
                <a:gd name="adj" fmla="val 61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19475" y="1657350"/>
              <a:ext cx="47625" cy="188976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638931" y="174545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反置页表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653790" y="214122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810381" y="208168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面向内存空间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653790" y="245935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810381" y="239887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每个内存页架一项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653790" y="277653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810381" y="271700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全系统一张，大小固定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076575" y="244030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146915" y="253650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6" name="c1-card-2"/>
          <p:cNvGrpSpPr/>
          <p:nvPr/>
        </p:nvGrpSpPr>
        <p:grpSpPr>
          <a:xfrm>
            <a:off x="533400" y="3860482"/>
            <a:ext cx="5410200" cy="1568768"/>
            <a:chOff x="533400" y="3860482"/>
            <a:chExt cx="5410200" cy="1568768"/>
          </a:xfrm>
        </p:grpSpPr>
        <p:sp>
          <p:nvSpPr>
            <p:cNvPr id="28" name="Rectangle 28"/>
            <p:cNvSpPr/>
            <p:nvPr/>
          </p:nvSpPr>
          <p:spPr>
            <a:xfrm>
              <a:off x="533400" y="3860482"/>
              <a:ext cx="5410200" cy="1568768"/>
            </a:xfrm>
            <a:prstGeom prst="roundRect">
              <a:avLst>
                <a:gd name="adj" fmla="val 85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3993832"/>
              <a:ext cx="47625" cy="130206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9620" y="4058602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53059" y="4092893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规模对比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77240" y="447960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831" y="4419124"/>
              <a:ext cx="445985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1GB 内存、页长 4K：反置页表共 2^30 / 2^12 = 262144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项，与进程个数无关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77240" y="506825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33831" y="5008721"/>
              <a:ext cx="48317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位进程的单级页表：每个进程最多 2^20 = 1048576 项</a:t>
              </a:r>
            </a:p>
          </p:txBody>
        </p:sp>
      </p:grpSp>
      <p:grpSp>
        <p:nvGrpSpPr>
          <p:cNvPr id="57" name="c2-flow-1"/>
          <p:cNvGrpSpPr/>
          <p:nvPr/>
        </p:nvGrpSpPr>
        <p:grpSpPr>
          <a:xfrm>
            <a:off x="6437948" y="1743075"/>
            <a:ext cx="5031105" cy="3629977"/>
            <a:chOff x="6437948" y="1743075"/>
            <a:chExt cx="5031105" cy="3629977"/>
          </a:xfrm>
        </p:grpSpPr>
        <p:sp>
          <p:nvSpPr>
            <p:cNvPr id="37" name="Freeform 37"/>
            <p:cNvSpPr/>
            <p:nvPr/>
          </p:nvSpPr>
          <p:spPr>
            <a:xfrm>
              <a:off x="7600950" y="2346008"/>
              <a:ext cx="9525" cy="332422"/>
            </a:xfrm>
            <a:custGeom>
              <a:avLst/>
              <a:gdLst/>
              <a:ahLst/>
              <a:cxnLst/>
              <a:rect l="l" t="t" r="r" b="b"/>
              <a:pathLst>
                <a:path w="9525" h="332422">
                  <a:moveTo>
                    <a:pt x="0" y="0"/>
                  </a:moveTo>
                  <a:lnTo>
                    <a:pt x="0" y="33242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548562" y="26784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7600950" y="3387090"/>
              <a:ext cx="9525" cy="428625"/>
            </a:xfrm>
            <a:custGeom>
              <a:avLst/>
              <a:gdLst/>
              <a:ahLst/>
              <a:cxnLst/>
              <a:rect l="l" t="t" r="r" b="b"/>
              <a:pathLst>
                <a:path w="9525" h="428625">
                  <a:moveTo>
                    <a:pt x="0" y="0"/>
                  </a:moveTo>
                  <a:lnTo>
                    <a:pt x="0" y="4286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548562" y="38157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7600950" y="4331970"/>
              <a:ext cx="9525" cy="524827"/>
            </a:xfrm>
            <a:custGeom>
              <a:avLst/>
              <a:gdLst/>
              <a:ahLst/>
              <a:cxnLst/>
              <a:rect l="l" t="t" r="r" b="b"/>
              <a:pathLst>
                <a:path w="9525" h="524827">
                  <a:moveTo>
                    <a:pt x="0" y="0"/>
                  </a:moveTo>
                  <a:lnTo>
                    <a:pt x="0" y="52482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548562" y="485679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8763952" y="3085148"/>
              <a:ext cx="274320" cy="9525"/>
            </a:xfrm>
            <a:custGeom>
              <a:avLst/>
              <a:gdLst/>
              <a:ahLst/>
              <a:cxnLst/>
              <a:rect l="l" t="t" r="r" b="b"/>
              <a:pathLst>
                <a:path w="274320" h="9525">
                  <a:moveTo>
                    <a:pt x="0" y="0"/>
                  </a:moveTo>
                  <a:lnTo>
                    <a:pt x="2743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9038272" y="30327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37948" y="1743075"/>
              <a:ext cx="2326005" cy="60388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437948" y="2783205"/>
              <a:ext cx="2326005" cy="603885"/>
            </a:xfrm>
            <a:prstGeom prst="roundRect">
              <a:avLst>
                <a:gd name="adj" fmla="val 15773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37948" y="3920490"/>
              <a:ext cx="2326005" cy="411480"/>
            </a:xfrm>
            <a:prstGeom prst="roundRect">
              <a:avLst>
                <a:gd name="adj" fmla="val 23148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37948" y="4961572"/>
              <a:ext cx="2326005" cy="41148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143048" y="2879408"/>
              <a:ext cx="2326005" cy="411480"/>
            </a:xfrm>
            <a:prstGeom prst="roundRect">
              <a:avLst>
                <a:gd name="adj" fmla="val 18519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49212" y="1857375"/>
              <a:ext cx="1903476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程序给出逻辑地址 (pid, p,</a:t>
              </a:r>
              <a:br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d)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19494" y="2898457"/>
              <a:ext cx="196291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在反置页表中找内容为 (pid,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p) 的表项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37706" y="4042410"/>
              <a:ext cx="19264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该表项的序号就是页架号 f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987650" y="5083492"/>
              <a:ext cx="12265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物理地址 (f, d)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653778" y="3001327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找不到：产生中断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629525" y="3568065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653147" y="35933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找到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8" name="Rectangle 58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511" y="6011704"/>
              <a:ext cx="86262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逻辑地址里要带进程标识 pid：不同进程可能有相同的页号 p，只有 (pid, p) 才能唯一确定一个页面。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反置页表查得慢，加散列表和快表提速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flow-1"/>
          <p:cNvGrpSpPr/>
          <p:nvPr/>
        </p:nvGrpSpPr>
        <p:grpSpPr>
          <a:xfrm>
            <a:off x="730568" y="1629728"/>
            <a:ext cx="5232082" cy="2389822"/>
            <a:chOff x="730568" y="1629728"/>
            <a:chExt cx="5232082" cy="2389822"/>
          </a:xfrm>
        </p:grpSpPr>
        <p:sp>
          <p:nvSpPr>
            <p:cNvPr id="7" name="Freeform 7"/>
            <p:cNvSpPr/>
            <p:nvPr/>
          </p:nvSpPr>
          <p:spPr>
            <a:xfrm>
              <a:off x="1940242" y="2067878"/>
              <a:ext cx="9525" cy="12383"/>
            </a:xfrm>
            <a:custGeom>
              <a:avLst/>
              <a:gdLst/>
              <a:ahLst/>
              <a:cxnLst/>
              <a:rect l="l" t="t" r="r" b="b"/>
              <a:pathLst>
                <a:path w="9525" h="12383">
                  <a:moveTo>
                    <a:pt x="0" y="0"/>
                  </a:moveTo>
                  <a:lnTo>
                    <a:pt x="0" y="1238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887855" y="20802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730568" y="2499360"/>
              <a:ext cx="2295525" cy="650558"/>
            </a:xfrm>
            <a:custGeom>
              <a:avLst/>
              <a:gdLst/>
              <a:ahLst/>
              <a:cxnLst/>
              <a:rect l="l" t="t" r="r" b="b"/>
              <a:pathLst>
                <a:path w="2295525" h="650558">
                  <a:moveTo>
                    <a:pt x="0" y="0"/>
                  </a:moveTo>
                  <a:lnTo>
                    <a:pt x="1200150" y="0"/>
                  </a:lnTo>
                  <a:lnTo>
                    <a:pt x="1200150" y="650558"/>
                  </a:lnTo>
                  <a:lnTo>
                    <a:pt x="2295525" y="6505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026092" y="30975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940242" y="3476625"/>
              <a:ext cx="9525" cy="82867"/>
            </a:xfrm>
            <a:custGeom>
              <a:avLst/>
              <a:gdLst/>
              <a:ahLst/>
              <a:cxnLst/>
              <a:rect l="l" t="t" r="r" b="b"/>
              <a:pathLst>
                <a:path w="9525" h="82867">
                  <a:moveTo>
                    <a:pt x="0" y="8286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87855" y="34766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130868" y="3149918"/>
              <a:ext cx="307658" cy="9525"/>
            </a:xfrm>
            <a:custGeom>
              <a:avLst/>
              <a:gdLst/>
              <a:ahLst/>
              <a:cxnLst/>
              <a:rect l="l" t="t" r="r" b="b"/>
              <a:pathLst>
                <a:path w="307658" h="9525">
                  <a:moveTo>
                    <a:pt x="0" y="0"/>
                  </a:moveTo>
                  <a:lnTo>
                    <a:pt x="30765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438525" y="30975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254692" y="2499360"/>
              <a:ext cx="1498282" cy="431483"/>
            </a:xfrm>
            <a:custGeom>
              <a:avLst/>
              <a:gdLst/>
              <a:ahLst/>
              <a:cxnLst/>
              <a:rect l="l" t="t" r="r" b="b"/>
              <a:pathLst>
                <a:path w="1498282" h="431483">
                  <a:moveTo>
                    <a:pt x="1498282" y="431483"/>
                  </a:moveTo>
                  <a:lnTo>
                    <a:pt x="1498282" y="221933"/>
                  </a:lnTo>
                  <a:lnTo>
                    <a:pt x="1498282" y="0"/>
                  </a:lnTo>
                  <a:lnTo>
                    <a:pt x="104775" y="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149918" y="24469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0568" y="1629728"/>
              <a:ext cx="2419350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0568" y="2185035"/>
              <a:ext cx="241935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49618" y="2740342"/>
              <a:ext cx="2381250" cy="819150"/>
            </a:xfrm>
            <a:custGeom>
              <a:avLst/>
              <a:gdLst/>
              <a:ahLst/>
              <a:cxnLst/>
              <a:rect l="l" t="t" r="r" b="b"/>
              <a:pathLst>
                <a:path w="2381250" h="819150">
                  <a:moveTo>
                    <a:pt x="1190625" y="0"/>
                  </a:moveTo>
                  <a:lnTo>
                    <a:pt x="2381250" y="409575"/>
                  </a:lnTo>
                  <a:lnTo>
                    <a:pt x="1190625" y="819150"/>
                  </a:lnTo>
                  <a:lnTo>
                    <a:pt x="0" y="40957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30568" y="3581400"/>
              <a:ext cx="2419350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3543300" y="2930842"/>
              <a:ext cx="2419350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82536" y="1759744"/>
              <a:ext cx="17154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逻辑地址 (pid, p, d)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73061" y="2300764"/>
              <a:ext cx="2134362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散列函数 h(pid, p) 算出表项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42885" y="2951321"/>
              <a:ext cx="139471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表项的 (pid, p) 相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0716" y="3711416"/>
              <a:ext cx="19790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表项序号即 f，得 (f, d)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26460" y="3060859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冲突：继续查下一个候选表项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968818" y="347853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992058" y="350520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相同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156585" y="293370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190875" y="29603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不同</a:t>
              </a:r>
            </a:p>
          </p:txBody>
        </p:sp>
      </p:grpSp>
      <p:grpSp>
        <p:nvGrpSpPr>
          <p:cNvPr id="57" name="c1-table-2"/>
          <p:cNvGrpSpPr/>
          <p:nvPr/>
        </p:nvGrpSpPr>
        <p:grpSpPr>
          <a:xfrm>
            <a:off x="527685" y="4315778"/>
            <a:ext cx="5632133" cy="2091214"/>
            <a:chOff x="527685" y="4315778"/>
            <a:chExt cx="5632133" cy="2091214"/>
          </a:xfrm>
        </p:grpSpPr>
        <p:sp>
          <p:nvSpPr>
            <p:cNvPr id="32" name="Rectangle 32"/>
            <p:cNvSpPr/>
            <p:nvPr/>
          </p:nvSpPr>
          <p:spPr>
            <a:xfrm>
              <a:off x="533400" y="4315778"/>
              <a:ext cx="562641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76592" y="44515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211121" y="44515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逻辑页号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779888" y="44515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冲突计数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59044" y="44515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空闲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99150" y="490013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508362" y="49001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077129" y="49001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483972" y="49001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2092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213985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22255" y="5348764"/>
              <a:ext cx="2662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508362" y="53487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077129" y="53487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483972" y="53487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565785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99150" y="579739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508362" y="579739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077129" y="579739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483972" y="579739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4315778"/>
              <a:ext cx="5626418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772602" y="4315778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3342322" y="4315778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4911090" y="4315778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27685" y="6186964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原课件中采用散列技术的反置页表的表项</a:t>
              </a:r>
            </a:p>
          </p:txBody>
        </p:sp>
      </p:grpSp>
      <p:grpSp>
        <p:nvGrpSpPr>
          <p:cNvPr id="66" name="c2-card-1"/>
          <p:cNvGrpSpPr/>
          <p:nvPr/>
        </p:nvGrpSpPr>
        <p:grpSpPr>
          <a:xfrm>
            <a:off x="6464618" y="1524000"/>
            <a:ext cx="5193982" cy="1365885"/>
            <a:chOff x="6464618" y="1524000"/>
            <a:chExt cx="5193982" cy="1365885"/>
          </a:xfrm>
        </p:grpSpPr>
        <p:sp>
          <p:nvSpPr>
            <p:cNvPr id="58" name="Rectangle 58"/>
            <p:cNvSpPr/>
            <p:nvPr/>
          </p:nvSpPr>
          <p:spPr>
            <a:xfrm>
              <a:off x="6464618" y="1524000"/>
              <a:ext cx="5193982" cy="1365885"/>
            </a:xfrm>
            <a:prstGeom prst="roundRect">
              <a:avLst>
                <a:gd name="adj" fmla="val 97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474142" y="1657350"/>
              <a:ext cx="47625" cy="109918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6712268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794576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速度问题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717983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876098" y="211074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反置页表查找由表头起始，平均要查表长度的一半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717983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876098" y="244602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每次访存都要查，速度慢</a:t>
              </a:r>
            </a:p>
          </p:txBody>
        </p:sp>
      </p:grpSp>
      <p:grpSp>
        <p:nvGrpSpPr>
          <p:cNvPr id="79" name="c2-card-2"/>
          <p:cNvGrpSpPr/>
          <p:nvPr/>
        </p:nvGrpSpPr>
        <p:grpSpPr>
          <a:xfrm>
            <a:off x="6464618" y="3080385"/>
            <a:ext cx="5193982" cy="1701165"/>
            <a:chOff x="6464618" y="3080385"/>
            <a:chExt cx="5193982" cy="1701165"/>
          </a:xfrm>
        </p:grpSpPr>
        <p:sp>
          <p:nvSpPr>
            <p:cNvPr id="67" name="Rectangle 67"/>
            <p:cNvSpPr/>
            <p:nvPr/>
          </p:nvSpPr>
          <p:spPr>
            <a:xfrm>
              <a:off x="6464618" y="3080385"/>
              <a:ext cx="5193982" cy="1701165"/>
            </a:xfrm>
            <a:prstGeom prst="roundRect">
              <a:avLst>
                <a:gd name="adj" fmla="val 7839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6674168" y="32899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756476" y="33256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解决方案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674167" y="365379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736017" y="36960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975158" y="366712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在反置页表前增加一级杂凑表（散列表）</a:t>
              </a:r>
            </a:p>
          </p:txBody>
        </p:sp>
        <p:sp>
          <p:nvSpPr>
            <p:cNvPr id="73" name="Ellipse 73"/>
            <p:cNvSpPr/>
            <p:nvPr/>
          </p:nvSpPr>
          <p:spPr>
            <a:xfrm>
              <a:off x="6674167" y="398907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736017" y="40313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975158" y="400240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查杂凑表与反置页表至少需要两次访问内存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6674167" y="432435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736017" y="43666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975158" y="43376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为进一步提高速度，用快表缓冲</a:t>
              </a:r>
            </a:p>
          </p:txBody>
        </p:sp>
      </p:grpSp>
      <p:grpSp>
        <p:nvGrpSpPr>
          <p:cNvPr id="86" name="c2-callout-3"/>
          <p:cNvGrpSpPr/>
          <p:nvPr/>
        </p:nvGrpSpPr>
        <p:grpSpPr>
          <a:xfrm>
            <a:off x="6464618" y="4972050"/>
            <a:ext cx="5193982" cy="782955"/>
            <a:chOff x="6464618" y="4972050"/>
            <a:chExt cx="5193982" cy="782955"/>
          </a:xfrm>
        </p:grpSpPr>
        <p:sp>
          <p:nvSpPr>
            <p:cNvPr id="80" name="Rectangle 80"/>
            <p:cNvSpPr/>
            <p:nvPr/>
          </p:nvSpPr>
          <p:spPr>
            <a:xfrm>
              <a:off x="6464618" y="4972050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4" name="Group 84"/>
            <p:cNvGrpSpPr/>
            <p:nvPr/>
          </p:nvGrpSpPr>
          <p:grpSpPr>
            <a:xfrm>
              <a:off x="6669405" y="5263515"/>
              <a:ext cx="200026" cy="200026"/>
              <a:chOff x="6669405" y="5263515"/>
              <a:chExt cx="200026" cy="200026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6669405" y="52635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6769418" y="53301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6758305" y="536352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5" name="TextBox 85"/>
            <p:cNvSpPr txBox="1"/>
            <p:nvPr/>
          </p:nvSpPr>
          <p:spPr>
            <a:xfrm>
              <a:off x="6971348" y="5120640"/>
              <a:ext cx="4177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快表命中时直接得到 f，杂凑表和反置页表都不用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查。</a:t>
              </a:r>
            </a:p>
          </p:txBody>
        </p:sp>
      </p:grpSp>
      <p:grpSp>
        <p:nvGrpSpPr>
          <p:cNvPr id="8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7" name="TextBox 8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135499" cy="3351847"/>
            <a:chOff x="667512" y="1835468"/>
            <a:chExt cx="513549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分段式存储管理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按程序的逻辑单位分段，段是共享和保护的自然单位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706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6.3.3.1 段、段表与地址映射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例题：段式地址变换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012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6.3.3.2 段的共享与 UNIX 正文段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60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6.3.3.3 段的保护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89091" cy="909257"/>
            <a:chOff x="520446" y="342900"/>
            <a:chExt cx="838909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8909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段式：按程序单位分段，逻辑地址是 (段号, 段内地址)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graph-1"/>
          <p:cNvGrpSpPr/>
          <p:nvPr/>
        </p:nvGrpSpPr>
        <p:grpSpPr>
          <a:xfrm>
            <a:off x="941070" y="1655445"/>
            <a:ext cx="5028247" cy="1737360"/>
            <a:chOff x="941070" y="1655445"/>
            <a:chExt cx="5028247" cy="1737360"/>
          </a:xfrm>
        </p:grpSpPr>
        <p:sp>
          <p:nvSpPr>
            <p:cNvPr id="7" name="Freeform 7"/>
            <p:cNvSpPr/>
            <p:nvPr/>
          </p:nvSpPr>
          <p:spPr>
            <a:xfrm>
              <a:off x="2463165" y="1924050"/>
              <a:ext cx="1888807" cy="9525"/>
            </a:xfrm>
            <a:custGeom>
              <a:avLst/>
              <a:gdLst/>
              <a:ahLst/>
              <a:cxnLst/>
              <a:rect l="l" t="t" r="r" b="b"/>
              <a:pathLst>
                <a:path w="1888807" h="9525">
                  <a:moveTo>
                    <a:pt x="0" y="0"/>
                  </a:moveTo>
                  <a:lnTo>
                    <a:pt x="188880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4351972" y="18764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5208270" y="2192655"/>
              <a:ext cx="9525" cy="567690"/>
            </a:xfrm>
            <a:custGeom>
              <a:avLst/>
              <a:gdLst/>
              <a:ahLst/>
              <a:cxnLst/>
              <a:rect l="l" t="t" r="r" b="b"/>
              <a:pathLst>
                <a:path w="9525" h="567690">
                  <a:moveTo>
                    <a:pt x="0" y="0"/>
                  </a:moveTo>
                  <a:lnTo>
                    <a:pt x="0" y="56769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160645" y="276034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558415" y="3124200"/>
              <a:ext cx="1888807" cy="9525"/>
            </a:xfrm>
            <a:custGeom>
              <a:avLst/>
              <a:gdLst/>
              <a:ahLst/>
              <a:cxnLst/>
              <a:rect l="l" t="t" r="r" b="b"/>
              <a:pathLst>
                <a:path w="1888807" h="9525">
                  <a:moveTo>
                    <a:pt x="1888807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463165" y="30765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941070" y="1655445"/>
              <a:ext cx="1522095" cy="537210"/>
            </a:xfrm>
            <a:prstGeom prst="roundRect">
              <a:avLst>
                <a:gd name="adj" fmla="val 17730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447222" y="1655445"/>
              <a:ext cx="1522095" cy="537210"/>
            </a:xfrm>
            <a:prstGeom prst="roundRect">
              <a:avLst>
                <a:gd name="adj" fmla="val 17730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447222" y="2855595"/>
              <a:ext cx="1522095" cy="537210"/>
            </a:xfrm>
            <a:prstGeom prst="roundRect">
              <a:avLst>
                <a:gd name="adj" fmla="val 17730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941070" y="2855595"/>
              <a:ext cx="1522095" cy="537210"/>
            </a:xfrm>
            <a:prstGeom prst="roundRect">
              <a:avLst>
                <a:gd name="adj" fmla="val 17730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91454" y="1858328"/>
              <a:ext cx="10213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main（段号 0）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14031" y="1858328"/>
              <a:ext cx="7884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X（段号 1）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14031" y="3058478"/>
              <a:ext cx="7884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Y（段号 2）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07878" y="3058478"/>
              <a:ext cx="7884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D（段号 3）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156585" y="1845945"/>
              <a:ext cx="59721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170391" y="1874996"/>
              <a:ext cx="56865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调用 X 段 e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909185" y="2446020"/>
              <a:ext cx="59721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923944" y="2475071"/>
              <a:ext cx="56865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调用 Y 段 f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156585" y="3046095"/>
              <a:ext cx="59721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170391" y="3075146"/>
              <a:ext cx="56865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访问 D 段 a</a:t>
              </a:r>
            </a:p>
          </p:txBody>
        </p:sp>
      </p:grpSp>
      <p:grpSp>
        <p:nvGrpSpPr>
          <p:cNvPr id="58" name="c1-table-2"/>
          <p:cNvGrpSpPr/>
          <p:nvPr/>
        </p:nvGrpSpPr>
        <p:grpSpPr>
          <a:xfrm>
            <a:off x="533400" y="3704272"/>
            <a:ext cx="5842635" cy="2123123"/>
            <a:chOff x="533400" y="3704272"/>
            <a:chExt cx="5842635" cy="2123123"/>
          </a:xfrm>
        </p:grpSpPr>
        <p:sp>
          <p:nvSpPr>
            <p:cNvPr id="28" name="Rectangle 28"/>
            <p:cNvSpPr/>
            <p:nvPr/>
          </p:nvSpPr>
          <p:spPr>
            <a:xfrm>
              <a:off x="533400" y="3704272"/>
              <a:ext cx="584263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72312" y="383286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884998" y="38328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950274" y="38328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段内地址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9086" y="38328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段中内容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70741" y="4257675"/>
              <a:ext cx="3768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002117" y="425767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13926" y="4257675"/>
              <a:ext cx="7310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~ 40k−1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142042" y="4257675"/>
              <a:ext cx="19612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主程序，其中调用 X 段的 e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5481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4552950"/>
              <a:ext cx="584263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03798" y="4681538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002117" y="468153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913926" y="4681538"/>
              <a:ext cx="7310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~ 60k−1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142042" y="4681538"/>
              <a:ext cx="21470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子程序，在 e 处调用 Y 段的 f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497300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03798" y="510635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002117" y="51063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913926" y="5106352"/>
              <a:ext cx="7310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~ 80k−1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142042" y="5106352"/>
              <a:ext cx="21470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子程序，在 f 处访问 D 段的 a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539781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33400" y="5402580"/>
              <a:ext cx="584263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03798" y="553021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002117" y="553021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2913926" y="5530215"/>
              <a:ext cx="7310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~ 20k−1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142042" y="5530215"/>
              <a:ext cx="17649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数据段，a 是其中的数据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3400" y="3704272"/>
              <a:ext cx="5842635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1580198" y="3704272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2515552" y="3704272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4034790" y="3704272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2-card-1"/>
          <p:cNvGrpSpPr/>
          <p:nvPr/>
        </p:nvGrpSpPr>
        <p:grpSpPr>
          <a:xfrm>
            <a:off x="6680835" y="1524000"/>
            <a:ext cx="4977765" cy="1297305"/>
            <a:chOff x="6680835" y="1524000"/>
            <a:chExt cx="4977765" cy="1297305"/>
          </a:xfrm>
        </p:grpSpPr>
        <p:sp>
          <p:nvSpPr>
            <p:cNvPr id="59" name="Rectangle 59"/>
            <p:cNvSpPr/>
            <p:nvPr/>
          </p:nvSpPr>
          <p:spPr>
            <a:xfrm>
              <a:off x="6680835" y="1524000"/>
              <a:ext cx="4977765" cy="1297305"/>
            </a:xfrm>
            <a:prstGeom prst="roundRect">
              <a:avLst>
                <a:gd name="adj" fmla="val 102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690360" y="1657350"/>
              <a:ext cx="47625" cy="103060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917055" y="1722120"/>
              <a:ext cx="12058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986708" y="1756410"/>
              <a:ext cx="10665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1. 内存空间划分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909816" y="208264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动态异长，每区一段。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909816" y="2400776"/>
              <a:ext cx="33119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= 段首址 + 段内地址 = b′ + d</a:t>
              </a:r>
            </a:p>
          </p:txBody>
        </p:sp>
      </p:grpSp>
      <p:grpSp>
        <p:nvGrpSpPr>
          <p:cNvPr id="72" name="c2-card-2"/>
          <p:cNvGrpSpPr/>
          <p:nvPr/>
        </p:nvGrpSpPr>
        <p:grpSpPr>
          <a:xfrm>
            <a:off x="6680835" y="3001328"/>
            <a:ext cx="4977765" cy="1568768"/>
            <a:chOff x="6680835" y="3001328"/>
            <a:chExt cx="4977765" cy="1568768"/>
          </a:xfrm>
        </p:grpSpPr>
        <p:sp>
          <p:nvSpPr>
            <p:cNvPr id="66" name="Rectangle 66"/>
            <p:cNvSpPr/>
            <p:nvPr/>
          </p:nvSpPr>
          <p:spPr>
            <a:xfrm>
              <a:off x="6680835" y="3001328"/>
              <a:ext cx="4977765" cy="1568768"/>
            </a:xfrm>
            <a:prstGeom prst="roundRect">
              <a:avLst>
                <a:gd name="adj" fmla="val 85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690360" y="3134678"/>
              <a:ext cx="47625" cy="130206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6917055" y="3199448"/>
              <a:ext cx="120586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986708" y="3233738"/>
              <a:ext cx="10665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2. 进程空间划分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909816" y="3559969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若干段，每段一个程序单位（主程序、子程序、数据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等），每段都从 0 编址。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909816" y="4149566"/>
              <a:ext cx="39906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逻辑地址 = (段号 s, 段内地址 d)，是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二维地址</a:t>
              </a:r>
            </a:p>
          </p:txBody>
        </p:sp>
      </p:grpSp>
      <p:grpSp>
        <p:nvGrpSpPr>
          <p:cNvPr id="79" name="c2-callout-3"/>
          <p:cNvGrpSpPr/>
          <p:nvPr/>
        </p:nvGrpSpPr>
        <p:grpSpPr>
          <a:xfrm>
            <a:off x="6680835" y="4750118"/>
            <a:ext cx="4977765" cy="756285"/>
            <a:chOff x="6680835" y="4750118"/>
            <a:chExt cx="4977765" cy="756285"/>
          </a:xfrm>
        </p:grpSpPr>
        <p:sp>
          <p:nvSpPr>
            <p:cNvPr id="73" name="Rectangle 73"/>
            <p:cNvSpPr/>
            <p:nvPr/>
          </p:nvSpPr>
          <p:spPr>
            <a:xfrm>
              <a:off x="6680835" y="4750118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6885623" y="5028248"/>
              <a:ext cx="200026" cy="200025"/>
              <a:chOff x="6885623" y="5028248"/>
              <a:chExt cx="200026" cy="200025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6885623" y="502824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6925361" y="507269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6960077" y="518382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7187946" y="4898231"/>
              <a:ext cx="406311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程序里写“调用 X 段 e”，编译后就是地址 (1, e)：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段号和段内地址分开给出。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段表记录每段的首址和长度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graph-1"/>
          <p:cNvGrpSpPr/>
          <p:nvPr/>
        </p:nvGrpSpPr>
        <p:grpSpPr>
          <a:xfrm>
            <a:off x="1053465" y="1535430"/>
            <a:ext cx="4427220" cy="3754755"/>
            <a:chOff x="1053465" y="1535430"/>
            <a:chExt cx="4427220" cy="3754755"/>
          </a:xfrm>
        </p:grpSpPr>
        <p:sp>
          <p:nvSpPr>
            <p:cNvPr id="7" name="Freeform 7"/>
            <p:cNvSpPr/>
            <p:nvPr/>
          </p:nvSpPr>
          <p:spPr>
            <a:xfrm>
              <a:off x="2038350" y="2273618"/>
              <a:ext cx="2004060" cy="9525"/>
            </a:xfrm>
            <a:custGeom>
              <a:avLst/>
              <a:gdLst/>
              <a:ahLst/>
              <a:cxnLst/>
              <a:rect l="l" t="t" r="r" b="b"/>
              <a:pathLst>
                <a:path w="2004060" h="9525">
                  <a:moveTo>
                    <a:pt x="0" y="0"/>
                  </a:moveTo>
                  <a:lnTo>
                    <a:pt x="200406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4042410" y="222599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038350" y="3220402"/>
              <a:ext cx="2005012" cy="128588"/>
            </a:xfrm>
            <a:custGeom>
              <a:avLst/>
              <a:gdLst/>
              <a:ahLst/>
              <a:cxnLst/>
              <a:rect l="l" t="t" r="r" b="b"/>
              <a:pathLst>
                <a:path w="2005012" h="128588">
                  <a:moveTo>
                    <a:pt x="0" y="0"/>
                  </a:moveTo>
                  <a:lnTo>
                    <a:pt x="2005012" y="1285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039552" y="3301365"/>
              <a:ext cx="98107" cy="95250"/>
            </a:xfrm>
            <a:custGeom>
              <a:avLst/>
              <a:gdLst/>
              <a:ahLst/>
              <a:cxnLst/>
              <a:rect l="l" t="t" r="r" b="b"/>
              <a:pathLst>
                <a:path w="98107" h="95250">
                  <a:moveTo>
                    <a:pt x="98107" y="53340"/>
                  </a:moveTo>
                  <a:lnTo>
                    <a:pt x="0" y="95250"/>
                  </a:lnTo>
                  <a:lnTo>
                    <a:pt x="666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038350" y="4243388"/>
              <a:ext cx="2007870" cy="563880"/>
            </a:xfrm>
            <a:custGeom>
              <a:avLst/>
              <a:gdLst/>
              <a:ahLst/>
              <a:cxnLst/>
              <a:rect l="l" t="t" r="r" b="b"/>
              <a:pathLst>
                <a:path w="2007870" h="563880">
                  <a:moveTo>
                    <a:pt x="0" y="0"/>
                  </a:moveTo>
                  <a:lnTo>
                    <a:pt x="2007870" y="5638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033838" y="4761548"/>
              <a:ext cx="103822" cy="91440"/>
            </a:xfrm>
            <a:custGeom>
              <a:avLst/>
              <a:gdLst/>
              <a:ahLst/>
              <a:cxnLst/>
              <a:rect l="l" t="t" r="r" b="b"/>
              <a:pathLst>
                <a:path w="103822" h="91440">
                  <a:moveTo>
                    <a:pt x="103822" y="71438"/>
                  </a:moveTo>
                  <a:lnTo>
                    <a:pt x="0" y="91440"/>
                  </a:lnTo>
                  <a:lnTo>
                    <a:pt x="2571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038350" y="4543425"/>
              <a:ext cx="2005965" cy="383857"/>
            </a:xfrm>
            <a:custGeom>
              <a:avLst/>
              <a:gdLst/>
              <a:ahLst/>
              <a:cxnLst/>
              <a:rect l="l" t="t" r="r" b="b"/>
              <a:pathLst>
                <a:path w="2005965" h="383857">
                  <a:moveTo>
                    <a:pt x="0" y="383857"/>
                  </a:moveTo>
                  <a:lnTo>
                    <a:pt x="200596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035742" y="4496752"/>
              <a:ext cx="101917" cy="93345"/>
            </a:xfrm>
            <a:custGeom>
              <a:avLst/>
              <a:gdLst/>
              <a:ahLst/>
              <a:cxnLst/>
              <a:rect l="l" t="t" r="r" b="b"/>
              <a:pathLst>
                <a:path w="101917" h="93345">
                  <a:moveTo>
                    <a:pt x="101917" y="28575"/>
                  </a:moveTo>
                  <a:lnTo>
                    <a:pt x="18098" y="933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053465" y="2049780"/>
              <a:ext cx="984885" cy="447675"/>
            </a:xfrm>
            <a:prstGeom prst="roundRect">
              <a:avLst>
                <a:gd name="adj" fmla="val 21277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053465" y="2965132"/>
              <a:ext cx="984885" cy="447675"/>
            </a:xfrm>
            <a:prstGeom prst="roundRect">
              <a:avLst>
                <a:gd name="adj" fmla="val 21277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053465" y="3881438"/>
              <a:ext cx="984885" cy="447675"/>
            </a:xfrm>
            <a:prstGeom prst="roundRect">
              <a:avLst>
                <a:gd name="adj" fmla="val 21277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1053465" y="4797742"/>
              <a:ext cx="984885" cy="447675"/>
            </a:xfrm>
            <a:prstGeom prst="roundRect">
              <a:avLst>
                <a:gd name="adj" fmla="val 21277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137660" y="1612582"/>
              <a:ext cx="1343025" cy="321945"/>
            </a:xfrm>
            <a:prstGeom prst="roundRect">
              <a:avLst>
                <a:gd name="adj" fmla="val 2958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137660" y="2067878"/>
              <a:ext cx="1343025" cy="411480"/>
            </a:xfrm>
            <a:prstGeom prst="roundRect">
              <a:avLst>
                <a:gd name="adj" fmla="val 23148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137660" y="2608898"/>
              <a:ext cx="1343025" cy="411480"/>
            </a:xfrm>
            <a:prstGeom prst="roundRect">
              <a:avLst>
                <a:gd name="adj" fmla="val 2314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137660" y="3147060"/>
              <a:ext cx="1343025" cy="501015"/>
            </a:xfrm>
            <a:prstGeom prst="roundRect">
              <a:avLst>
                <a:gd name="adj" fmla="val 19011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137660" y="3777615"/>
              <a:ext cx="1343025" cy="321945"/>
            </a:xfrm>
            <a:prstGeom prst="roundRect">
              <a:avLst>
                <a:gd name="adj" fmla="val 2958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137660" y="4217670"/>
              <a:ext cx="1343025" cy="358140"/>
            </a:xfrm>
            <a:prstGeom prst="roundRect">
              <a:avLst>
                <a:gd name="adj" fmla="val 2659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137660" y="4752975"/>
              <a:ext cx="1343025" cy="537210"/>
            </a:xfrm>
            <a:prstGeom prst="roundRect">
              <a:avLst>
                <a:gd name="adj" fmla="val 177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381024" y="2207895"/>
              <a:ext cx="3297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main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97448" y="3124200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497448" y="4040505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497448" y="4955858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763023" y="170878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265645" y="2207895"/>
              <a:ext cx="10870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100k：main 40k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763023" y="27489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379129" y="3331845"/>
              <a:ext cx="8600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200k：X 60k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763023" y="387381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379129" y="4331970"/>
              <a:ext cx="8600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300k：D 20k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379129" y="4955858"/>
              <a:ext cx="86008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320k：Y 80k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257872" y="153543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进程空间</a:t>
              </a:r>
            </a:p>
          </p:txBody>
        </p:sp>
      </p:grpSp>
      <p:grpSp>
        <p:nvGrpSpPr>
          <p:cNvPr id="64" name="c2-table-1"/>
          <p:cNvGrpSpPr/>
          <p:nvPr/>
        </p:nvGrpSpPr>
        <p:grpSpPr>
          <a:xfrm>
            <a:off x="6459284" y="1524000"/>
            <a:ext cx="5199316" cy="2401824"/>
            <a:chOff x="6459284" y="1524000"/>
            <a:chExt cx="5199316" cy="2401824"/>
          </a:xfrm>
        </p:grpSpPr>
        <p:sp>
          <p:nvSpPr>
            <p:cNvPr id="39" name="Rectangle 39"/>
            <p:cNvSpPr/>
            <p:nvPr/>
          </p:nvSpPr>
          <p:spPr>
            <a:xfrm>
              <a:off x="6464618" y="1524000"/>
              <a:ext cx="5193982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112317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737473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段首址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19600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段长度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227216" y="20764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802091" y="207645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100k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628643" y="2076450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40k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236791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64618" y="2372678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227216" y="250126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802091" y="2501265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200k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628643" y="250126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60k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464618" y="279273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27216" y="29260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802091" y="292608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320k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628643" y="2926080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80k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64618" y="32165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464618" y="3221355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227216" y="334994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02091" y="3349942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300k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628643" y="334994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20k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464618" y="1524000"/>
              <a:ext cx="5193982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8089582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9871710" y="152400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459284" y="372046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左图进程的段表</a:t>
              </a:r>
            </a:p>
          </p:txBody>
        </p:sp>
      </p:grpSp>
      <p:grpSp>
        <p:nvGrpSpPr>
          <p:cNvPr id="76" name="c2-kv-2"/>
          <p:cNvGrpSpPr/>
          <p:nvPr/>
        </p:nvGrpSpPr>
        <p:grpSpPr>
          <a:xfrm>
            <a:off x="6457379" y="4088606"/>
            <a:ext cx="5201221" cy="1527430"/>
            <a:chOff x="6457379" y="4088606"/>
            <a:chExt cx="5201221" cy="1527430"/>
          </a:xfrm>
        </p:grpSpPr>
        <p:sp>
          <p:nvSpPr>
            <p:cNvPr id="65" name="TextBox 65"/>
            <p:cNvSpPr txBox="1"/>
            <p:nvPr/>
          </p:nvSpPr>
          <p:spPr>
            <a:xfrm>
              <a:off x="6457379" y="408860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段表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268908" y="408860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每个进程一个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464618" y="439197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457379" y="450484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空闲表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268908" y="4504849"/>
              <a:ext cx="29870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系统一个，array of (addr, size)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464618" y="480822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457379" y="492109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寄存器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268908" y="4921091"/>
              <a:ext cx="43060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段表首址寄存器 b、段表长度寄存器 l，系统各一个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464618" y="52244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457379" y="533733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快表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268908" y="5337334"/>
              <a:ext cx="24230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系统一组，项为 (s, b′, l′)</a:t>
              </a:r>
            </a:p>
          </p:txBody>
        </p:sp>
      </p:grpSp>
      <p:grpSp>
        <p:nvGrpSpPr>
          <p:cNvPr id="8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77" name="Rectangle 7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1040511" y="6011704"/>
              <a:ext cx="67299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段在内存中的先后与段号无关：本例 D 段（段号 3）放在 Y 段（段号 2）前面。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段式地址映射：段号、段内地址各做一次越界检查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453894" cy="308039"/>
            <a:chOff x="525399" y="1550194"/>
            <a:chExt cx="1045389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4538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映射 σ：(s, d) → (b′ + d) ∪ {Ω}。b′、l′ 是第 s 段的段首址和段长度；图中 s ≤ l−1 即原课件的 0 ≤ s ≤ l−1。</a:t>
              </a:r>
            </a:p>
          </p:txBody>
        </p:sp>
      </p:grpSp>
      <p:grpSp>
        <p:nvGrpSpPr>
          <p:cNvPr id="59" name="c1-flow-1"/>
          <p:cNvGrpSpPr/>
          <p:nvPr/>
        </p:nvGrpSpPr>
        <p:grpSpPr>
          <a:xfrm>
            <a:off x="689610" y="2033588"/>
            <a:ext cx="10780395" cy="2534602"/>
            <a:chOff x="689610" y="2033588"/>
            <a:chExt cx="10780395" cy="2534602"/>
          </a:xfrm>
        </p:grpSpPr>
        <p:sp>
          <p:nvSpPr>
            <p:cNvPr id="9" name="Freeform 9"/>
            <p:cNvSpPr/>
            <p:nvPr/>
          </p:nvSpPr>
          <p:spPr>
            <a:xfrm>
              <a:off x="2602230" y="2444115"/>
              <a:ext cx="187642" cy="9525"/>
            </a:xfrm>
            <a:custGeom>
              <a:avLst/>
              <a:gdLst/>
              <a:ahLst/>
              <a:cxnLst/>
              <a:rect l="l" t="t" r="r" b="b"/>
              <a:pathLst>
                <a:path w="187642" h="9525">
                  <a:moveTo>
                    <a:pt x="0" y="0"/>
                  </a:moveTo>
                  <a:lnTo>
                    <a:pt x="18764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789872" y="23917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870960" y="2853690"/>
              <a:ext cx="9525" cy="137160"/>
            </a:xfrm>
            <a:custGeom>
              <a:avLst/>
              <a:gdLst/>
              <a:ahLst/>
              <a:cxnLst/>
              <a:rect l="l" t="t" r="r" b="b"/>
              <a:pathLst>
                <a:path w="9525" h="137160">
                  <a:moveTo>
                    <a:pt x="0" y="0"/>
                  </a:moveTo>
                  <a:lnTo>
                    <a:pt x="0" y="1371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818572" y="29908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847272" y="2444115"/>
              <a:ext cx="3473768" cy="546735"/>
            </a:xfrm>
            <a:custGeom>
              <a:avLst/>
              <a:gdLst/>
              <a:ahLst/>
              <a:cxnLst/>
              <a:rect l="l" t="t" r="r" b="b"/>
              <a:pathLst>
                <a:path w="3473768" h="546735">
                  <a:moveTo>
                    <a:pt x="0" y="0"/>
                  </a:moveTo>
                  <a:lnTo>
                    <a:pt x="209550" y="0"/>
                  </a:lnTo>
                  <a:lnTo>
                    <a:pt x="3473768" y="0"/>
                  </a:lnTo>
                  <a:lnTo>
                    <a:pt x="3473768" y="441960"/>
                  </a:lnTo>
                  <a:lnTo>
                    <a:pt x="3473768" y="5467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8268652" y="29908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465070" y="3396615"/>
              <a:ext cx="477202" cy="9525"/>
            </a:xfrm>
            <a:custGeom>
              <a:avLst/>
              <a:gdLst/>
              <a:ahLst/>
              <a:cxnLst/>
              <a:rect l="l" t="t" r="r" b="b"/>
              <a:pathLst>
                <a:path w="477202" h="9525">
                  <a:moveTo>
                    <a:pt x="477202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360295" y="3344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799648" y="3396615"/>
              <a:ext cx="381953" cy="9525"/>
            </a:xfrm>
            <a:custGeom>
              <a:avLst/>
              <a:gdLst/>
              <a:ahLst/>
              <a:cxnLst/>
              <a:rect l="l" t="t" r="r" b="b"/>
              <a:pathLst>
                <a:path w="381953" h="9525">
                  <a:moveTo>
                    <a:pt x="0" y="0"/>
                  </a:moveTo>
                  <a:lnTo>
                    <a:pt x="38195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181600" y="3344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6905625" y="3396615"/>
              <a:ext cx="381953" cy="9525"/>
            </a:xfrm>
            <a:custGeom>
              <a:avLst/>
              <a:gdLst/>
              <a:ahLst/>
              <a:cxnLst/>
              <a:rect l="l" t="t" r="r" b="b"/>
              <a:pathLst>
                <a:path w="381953" h="9525">
                  <a:moveTo>
                    <a:pt x="0" y="0"/>
                  </a:moveTo>
                  <a:lnTo>
                    <a:pt x="38195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7287578" y="3344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9249728" y="3396615"/>
              <a:ext cx="381953" cy="9525"/>
            </a:xfrm>
            <a:custGeom>
              <a:avLst/>
              <a:gdLst/>
              <a:ahLst/>
              <a:cxnLst/>
              <a:rect l="l" t="t" r="r" b="b"/>
              <a:pathLst>
                <a:path w="381953" h="9525">
                  <a:moveTo>
                    <a:pt x="0" y="0"/>
                  </a:moveTo>
                  <a:lnTo>
                    <a:pt x="38195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9631680" y="3344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8321040" y="3696652"/>
              <a:ext cx="9525" cy="328612"/>
            </a:xfrm>
            <a:custGeom>
              <a:avLst/>
              <a:gdLst/>
              <a:ahLst/>
              <a:cxnLst/>
              <a:rect l="l" t="t" r="r" b="b"/>
              <a:pathLst>
                <a:path w="9525" h="328612">
                  <a:moveTo>
                    <a:pt x="0" y="0"/>
                  </a:moveTo>
                  <a:lnTo>
                    <a:pt x="0" y="3286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268652" y="40252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10546080" y="2863215"/>
              <a:ext cx="9525" cy="314325"/>
            </a:xfrm>
            <a:custGeom>
              <a:avLst/>
              <a:gdLst/>
              <a:ahLst/>
              <a:cxnLst/>
              <a:rect l="l" t="t" r="r" b="b"/>
              <a:pathLst>
                <a:path w="9525" h="314325">
                  <a:moveTo>
                    <a:pt x="0" y="31432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26" name="Freeform 26"/>
            <p:cNvSpPr/>
            <p:nvPr/>
          </p:nvSpPr>
          <p:spPr>
            <a:xfrm>
              <a:off x="10493692" y="27584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89610" y="2225040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2894648" y="2033588"/>
              <a:ext cx="1952625" cy="820103"/>
            </a:xfrm>
            <a:custGeom>
              <a:avLst/>
              <a:gdLst/>
              <a:ahLst/>
              <a:cxnLst/>
              <a:rect l="l" t="t" r="r" b="b"/>
              <a:pathLst>
                <a:path w="1952625" h="820103">
                  <a:moveTo>
                    <a:pt x="976312" y="0"/>
                  </a:moveTo>
                  <a:lnTo>
                    <a:pt x="1952625" y="410528"/>
                  </a:lnTo>
                  <a:lnTo>
                    <a:pt x="976312" y="820103"/>
                  </a:lnTo>
                  <a:lnTo>
                    <a:pt x="0" y="41052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9641205" y="2128838"/>
              <a:ext cx="1809750" cy="629602"/>
            </a:xfrm>
            <a:prstGeom prst="roundRect">
              <a:avLst>
                <a:gd name="adj" fmla="val 1512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931545" y="3177540"/>
              <a:ext cx="1428750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2942272" y="3095625"/>
              <a:ext cx="1857375" cy="601028"/>
            </a:xfrm>
            <a:custGeom>
              <a:avLst/>
              <a:gdLst/>
              <a:ahLst/>
              <a:cxnLst/>
              <a:rect l="l" t="t" r="r" b="b"/>
              <a:pathLst>
                <a:path w="1857375" h="601028">
                  <a:moveTo>
                    <a:pt x="928688" y="0"/>
                  </a:moveTo>
                  <a:lnTo>
                    <a:pt x="1857375" y="300990"/>
                  </a:lnTo>
                  <a:lnTo>
                    <a:pt x="928688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5286375" y="3081338"/>
              <a:ext cx="1619250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392352" y="3095625"/>
              <a:ext cx="1857375" cy="601028"/>
            </a:xfrm>
            <a:custGeom>
              <a:avLst/>
              <a:gdLst/>
              <a:ahLst/>
              <a:cxnLst/>
              <a:rect l="l" t="t" r="r" b="b"/>
              <a:pathLst>
                <a:path w="1857375" h="601028">
                  <a:moveTo>
                    <a:pt x="928688" y="0"/>
                  </a:moveTo>
                  <a:lnTo>
                    <a:pt x="1857375" y="300990"/>
                  </a:lnTo>
                  <a:lnTo>
                    <a:pt x="928688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9736455" y="3177540"/>
              <a:ext cx="1619250" cy="43815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511415" y="4130040"/>
              <a:ext cx="1619250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91759" y="2355056"/>
              <a:ext cx="13083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逻辑地址 (s, d)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364611" y="2245519"/>
              <a:ext cx="101269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s 查快表得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b′、l′？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840595" y="2245519"/>
              <a:ext cx="141097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(s, b′, l′) 写入快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表，满则淘汰一个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2502" y="330755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段号越界中断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511240" y="3307556"/>
              <a:ext cx="7194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≤ l−1？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414899" y="3198019"/>
              <a:ext cx="1362202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b 和 s 查段表得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b′、l′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913934" y="3307556"/>
              <a:ext cx="8142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≤ l′−1？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28379" y="3307556"/>
              <a:ext cx="14354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b′ + d 得物理地址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25309" y="426005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段内地址越界中断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3899535" y="2882265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922776" y="290893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查不到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507480" y="222789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41770" y="225456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查到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537460" y="318039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2575750" y="320706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929188" y="318039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967478" y="320706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9378315" y="318039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416606" y="320706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349615" y="382143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372856" y="384810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10574655" y="2875598"/>
              <a:ext cx="8953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0597896" y="290226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未命中时并行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0" name="Rectangle 6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130" y="5991225"/>
              <a:ext cx="83145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和页式不同：段长各不相同，段内地址 d 可能超过段长，所以快表命中后也要检查 d ≤ l′−1。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例题：段式地址变换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140815" cy="308039"/>
            <a:chOff x="525399" y="1550194"/>
            <a:chExt cx="914081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14081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段表同前：0 (100k, 40k)、1 (200k, 60k)、2 (320k, 80k)、3 (300k, 20k)，段表长度 l = 4。</a:t>
              </a:r>
            </a:p>
          </p:txBody>
        </p:sp>
      </p:grpSp>
      <p:grpSp>
        <p:nvGrpSpPr>
          <p:cNvPr id="51" name="c1-table-1"/>
          <p:cNvGrpSpPr/>
          <p:nvPr/>
        </p:nvGrpSpPr>
        <p:grpSpPr>
          <a:xfrm>
            <a:off x="533400" y="1967865"/>
            <a:ext cx="6924675" cy="3992880"/>
            <a:chOff x="533400" y="1967865"/>
            <a:chExt cx="6924675" cy="399288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924675" cy="7543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7715" y="2106930"/>
              <a:ext cx="777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逻辑地址</a:t>
              </a:r>
              <a:br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(s, d)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57387" y="224028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段号检查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155632" y="2106930"/>
              <a:ext cx="105727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查段表 b′、</a:t>
              </a:r>
              <a:br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l′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92015" y="224028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段内检查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17945" y="22402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8760" y="2994660"/>
              <a:ext cx="895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12k)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134076" y="299466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86970" y="2994660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100k、40k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46581" y="2994660"/>
              <a:ext cx="9138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12k &lt; 40k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119812" y="2861310"/>
              <a:ext cx="10153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100k+12k =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112k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47186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3476625"/>
              <a:ext cx="6924675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8760" y="3749040"/>
              <a:ext cx="895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15k)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134076" y="374904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≤ 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186970" y="3749040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320k、80k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646581" y="3749040"/>
              <a:ext cx="9138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15k &lt; 80k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19812" y="3615690"/>
              <a:ext cx="10153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320k+15k =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335k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22624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08760" y="4503420"/>
              <a:ext cx="895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59k)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134076" y="450342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≤ 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186970" y="4503420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200k、60k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46581" y="4503420"/>
              <a:ext cx="9138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59k &lt; 60k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19812" y="4370070"/>
              <a:ext cx="10153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200k+59k =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259k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98062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4985385"/>
              <a:ext cx="692467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8760" y="5124450"/>
              <a:ext cx="895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(3, 25k)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134076" y="5124450"/>
              <a:ext cx="4695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≤ 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186970" y="5124450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300k、20k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24116" y="5124450"/>
              <a:ext cx="9587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25k ≥ 20k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014085" y="512445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段内越界中断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546830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67067" y="5612130"/>
              <a:ext cx="7785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(4, 1k)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122718" y="5612130"/>
              <a:ext cx="492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 &gt; 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621119" y="561213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040344" y="5612130"/>
              <a:ext cx="126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014085" y="561213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段号越界中断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1967865"/>
              <a:ext cx="6924675" cy="39928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1775460" y="1967865"/>
              <a:ext cx="9525" cy="39928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2952750" y="1967865"/>
              <a:ext cx="9525" cy="39928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406265" y="1967865"/>
              <a:ext cx="9525" cy="39928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792152" y="1967865"/>
              <a:ext cx="9525" cy="39928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9" name="c2-steps-1"/>
          <p:cNvGrpSpPr/>
          <p:nvPr/>
        </p:nvGrpSpPr>
        <p:grpSpPr>
          <a:xfrm>
            <a:off x="7762875" y="1977390"/>
            <a:ext cx="3518606" cy="2529173"/>
            <a:chOff x="7762875" y="1977390"/>
            <a:chExt cx="3518606" cy="2529173"/>
          </a:xfrm>
        </p:grpSpPr>
        <p:sp>
          <p:nvSpPr>
            <p:cNvPr id="52" name="Rectangle 52"/>
            <p:cNvSpPr/>
            <p:nvPr/>
          </p:nvSpPr>
          <p:spPr>
            <a:xfrm>
              <a:off x="7896225" y="2120265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7762875" y="197739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856499" y="20512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7762875" y="262794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856499" y="2701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7762875" y="327850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856499" y="33523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7762875" y="392906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856499" y="40028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74355" y="201168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查段号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175498" y="2304574"/>
              <a:ext cx="15206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与段表长度 l 比较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174355" y="2662238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查段表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175498" y="2955131"/>
              <a:ext cx="16327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取出第 s 项的 b′、l′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174355" y="331279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查段内地址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175498" y="3606641"/>
              <a:ext cx="12708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与段长 l′ 比较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174355" y="396335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相加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175498" y="4257199"/>
              <a:ext cx="31059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= b′ + d（是加法，不是拼接）</a:t>
              </a:r>
            </a:p>
          </p:txBody>
        </p:sp>
      </p:grpSp>
      <p:grpSp>
        <p:nvGrpSpPr>
          <p:cNvPr id="76" name="c2-callout-2"/>
          <p:cNvGrpSpPr/>
          <p:nvPr/>
        </p:nvGrpSpPr>
        <p:grpSpPr>
          <a:xfrm>
            <a:off x="7762875" y="4684395"/>
            <a:ext cx="3895725" cy="782955"/>
            <a:chOff x="7762875" y="4684395"/>
            <a:chExt cx="3895725" cy="782955"/>
          </a:xfrm>
        </p:grpSpPr>
        <p:sp>
          <p:nvSpPr>
            <p:cNvPr id="70" name="Rectangle 70"/>
            <p:cNvSpPr/>
            <p:nvPr/>
          </p:nvSpPr>
          <p:spPr>
            <a:xfrm>
              <a:off x="7762875" y="4684395"/>
              <a:ext cx="389572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955604" y="4972168"/>
              <a:ext cx="224134" cy="192560"/>
              <a:chOff x="7955604" y="4972168"/>
              <a:chExt cx="224134" cy="19256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8067675" y="504253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7955604" y="497216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067675" y="51203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8269605" y="4832985"/>
              <a:ext cx="29298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易错：(3, 25k) 的段号合法，但 D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段只有 20k，照样越界。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段的共享：几个进程的段表项指向同一个段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graph-1"/>
          <p:cNvGrpSpPr/>
          <p:nvPr/>
        </p:nvGrpSpPr>
        <p:grpSpPr>
          <a:xfrm>
            <a:off x="876300" y="1660207"/>
            <a:ext cx="4876867" cy="3736658"/>
            <a:chOff x="876300" y="1660207"/>
            <a:chExt cx="4876867" cy="3736658"/>
          </a:xfrm>
        </p:grpSpPr>
        <p:sp>
          <p:nvSpPr>
            <p:cNvPr id="7" name="Freeform 7"/>
            <p:cNvSpPr/>
            <p:nvPr/>
          </p:nvSpPr>
          <p:spPr>
            <a:xfrm>
              <a:off x="2339340" y="2672715"/>
              <a:ext cx="1823085" cy="746760"/>
            </a:xfrm>
            <a:custGeom>
              <a:avLst/>
              <a:gdLst/>
              <a:ahLst/>
              <a:cxnLst/>
              <a:rect l="l" t="t" r="r" b="b"/>
              <a:pathLst>
                <a:path w="1823085" h="746760">
                  <a:moveTo>
                    <a:pt x="0" y="0"/>
                  </a:moveTo>
                  <a:lnTo>
                    <a:pt x="1823085" y="7467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4144328" y="3375660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106680" y="80010"/>
                  </a:moveTo>
                  <a:lnTo>
                    <a:pt x="0" y="87630"/>
                  </a:lnTo>
                  <a:lnTo>
                    <a:pt x="3619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475548" y="3982402"/>
              <a:ext cx="1684973" cy="556260"/>
            </a:xfrm>
            <a:custGeom>
              <a:avLst/>
              <a:gdLst/>
              <a:ahLst/>
              <a:cxnLst/>
              <a:rect l="l" t="t" r="r" b="b"/>
              <a:pathLst>
                <a:path w="1684973" h="556260">
                  <a:moveTo>
                    <a:pt x="0" y="556260"/>
                  </a:moveTo>
                  <a:lnTo>
                    <a:pt x="168497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145280" y="3937635"/>
              <a:ext cx="105728" cy="89535"/>
            </a:xfrm>
            <a:custGeom>
              <a:avLst/>
              <a:gdLst/>
              <a:ahLst/>
              <a:cxnLst/>
              <a:rect l="l" t="t" r="r" b="b"/>
              <a:pathLst>
                <a:path w="105728" h="89535">
                  <a:moveTo>
                    <a:pt x="105728" y="15240"/>
                  </a:moveTo>
                  <a:lnTo>
                    <a:pt x="29528" y="89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876300" y="2206942"/>
              <a:ext cx="1790700" cy="465772"/>
            </a:xfrm>
            <a:prstGeom prst="roundRect">
              <a:avLst>
                <a:gd name="adj" fmla="val 8180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876300" y="4538662"/>
              <a:ext cx="1790700" cy="465772"/>
            </a:xfrm>
            <a:prstGeom prst="roundRect">
              <a:avLst>
                <a:gd name="adj" fmla="val 8180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251008" y="2064068"/>
              <a:ext cx="1343025" cy="501015"/>
            </a:xfrm>
            <a:prstGeom prst="roundRect">
              <a:avLst>
                <a:gd name="adj" fmla="val 7605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251008" y="3059430"/>
              <a:ext cx="1343025" cy="1343025"/>
            </a:xfrm>
            <a:prstGeom prst="roundRect">
              <a:avLst>
                <a:gd name="adj" fmla="val 2837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251008" y="4895850"/>
              <a:ext cx="1343025" cy="501015"/>
            </a:xfrm>
            <a:prstGeom prst="roundRect">
              <a:avLst>
                <a:gd name="adj" fmla="val 7605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47679" y="2374582"/>
              <a:ext cx="1247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P1 段表 si：l′ | b′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47679" y="4706302"/>
              <a:ext cx="1247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P2 段表 sj：l′ | b′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76371" y="22498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091873" y="3665220"/>
              <a:ext cx="16612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共享段（首址 b′，长 l′）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76371" y="508063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34484" y="1660207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内存空间</a:t>
              </a:r>
            </a:p>
          </p:txBody>
        </p:sp>
      </p:grpSp>
      <p:grpSp>
        <p:nvGrpSpPr>
          <p:cNvPr id="58" name="c2-card-1"/>
          <p:cNvGrpSpPr/>
          <p:nvPr/>
        </p:nvGrpSpPr>
        <p:grpSpPr>
          <a:xfrm>
            <a:off x="6464618" y="1524000"/>
            <a:ext cx="5193982" cy="2785110"/>
            <a:chOff x="6464618" y="1524000"/>
            <a:chExt cx="5193982" cy="2785110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5193982" cy="2785110"/>
            </a:xfrm>
            <a:prstGeom prst="roundRect">
              <a:avLst>
                <a:gd name="adj" fmla="val 47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1657350"/>
              <a:ext cx="47625" cy="251841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700838" y="1722120"/>
              <a:ext cx="132397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66821" y="1756410"/>
              <a:ext cx="11920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6.3.3.2 如何实现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31874" y="175688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共享段表：系统一张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700838" y="2077402"/>
              <a:ext cx="4759642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63728" y="220599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段名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814691" y="220599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共享计数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89695" y="220599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段长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45230" y="220599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段首址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862310" y="220599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其他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78626" y="26298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93354" y="26298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6814" y="26298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043122" y="26298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979429" y="26298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700838" y="2921318"/>
              <a:ext cx="47596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700838" y="2926080"/>
              <a:ext cx="475964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53182" y="3054668"/>
              <a:ext cx="1563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093354" y="305466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17965" y="3054668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35k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909848" y="3054668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125k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979429" y="305466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700838" y="3346132"/>
              <a:ext cx="47596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078626" y="347853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093354" y="347853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106814" y="347853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043122" y="347853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979429" y="347853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700838" y="2077402"/>
              <a:ext cx="4759642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557135" y="207740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8722042" y="207740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582150" y="207740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595610" y="207740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693598" y="3887629"/>
              <a:ext cx="46501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进程段表（n 个）→ 共享段表（1 项）→ 共享段（1 个）</a:t>
              </a:r>
            </a:p>
          </p:txBody>
        </p:sp>
      </p:grpSp>
      <p:grpSp>
        <p:nvGrpSpPr>
          <p:cNvPr id="65" name="c2-callout-2"/>
          <p:cNvGrpSpPr/>
          <p:nvPr/>
        </p:nvGrpSpPr>
        <p:grpSpPr>
          <a:xfrm>
            <a:off x="6464618" y="4489132"/>
            <a:ext cx="5193982" cy="756285"/>
            <a:chOff x="6464618" y="4489132"/>
            <a:chExt cx="5193982" cy="756285"/>
          </a:xfrm>
        </p:grpSpPr>
        <p:sp>
          <p:nvSpPr>
            <p:cNvPr id="59" name="Rectangle 59"/>
            <p:cNvSpPr/>
            <p:nvPr/>
          </p:nvSpPr>
          <p:spPr>
            <a:xfrm>
              <a:off x="6464618" y="4489132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669405" y="4767263"/>
              <a:ext cx="200026" cy="200025"/>
              <a:chOff x="6669405" y="4767263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6669405" y="47672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709144" y="48117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743859" y="49228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6971729" y="4636294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共享计数表示有几个进程在用这个段。进程不再使用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时计数减 1，减到 0 才回收这段内存。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66" name="Rectangle 66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511" y="6011704"/>
              <a:ext cx="89990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各进程的段表只要把该段的首址、段长写成同一组值（或指向共享段表的同一项），内存里就只需放一份。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324871" cy="909257"/>
            <a:chOff x="520446" y="342900"/>
            <a:chExt cx="53248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3248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例：UNIX 用 text 结构共享正文段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059805" cy="2006918"/>
            <a:chOff x="533400" y="1524000"/>
            <a:chExt cx="6059805" cy="20069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006918"/>
            </a:xfrm>
            <a:prstGeom prst="roundRect">
              <a:avLst>
                <a:gd name="adj" fmla="val 474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8195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共享正文段表：最多 NTEXT 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909"/>
              <a:ext cx="3263519" cy="1513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text {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x_daddr;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在磁盘交换区上的地址 */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x_caddr;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在内存中的地址（已装入时） */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x_size;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大小，以 64 字节为单位 */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*x_iptr;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指向可执行文件的 inode */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x_count;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引用计数 */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char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x_ccount;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已装入内存的引用数 */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text[NTEXT];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#define NTEXT 40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3701415"/>
            <a:ext cx="6059805" cy="1840230"/>
            <a:chOff x="533400" y="3701415"/>
            <a:chExt cx="6059805" cy="1840230"/>
          </a:xfrm>
        </p:grpSpPr>
        <p:sp>
          <p:nvSpPr>
            <p:cNvPr id="11" name="Rectangle 11"/>
            <p:cNvSpPr/>
            <p:nvPr/>
          </p:nvSpPr>
          <p:spPr>
            <a:xfrm>
              <a:off x="533400" y="3701415"/>
              <a:ext cx="6059805" cy="1840230"/>
            </a:xfrm>
            <a:prstGeom prst="roundRect">
              <a:avLst>
                <a:gd name="adj" fmla="val 51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385333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进程这一侧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988" y="4113324"/>
              <a:ext cx="2597531" cy="1347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proc {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……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*p_textp;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指向 text 结构 */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  <a:br/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user {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……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20" b="1" dirty="0">
                  <a:solidFill>
                    <a:srgbClr val="0E7C86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u_tsize;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正文段大小 */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</a:p>
          </p:txBody>
        </p:sp>
      </p:grpSp>
      <p:grpSp>
        <p:nvGrpSpPr>
          <p:cNvPr id="33" name="c2-table-1"/>
          <p:cNvGrpSpPr/>
          <p:nvPr/>
        </p:nvGrpSpPr>
        <p:grpSpPr>
          <a:xfrm>
            <a:off x="6898005" y="1524000"/>
            <a:ext cx="4760595" cy="2000250"/>
            <a:chOff x="6898005" y="1524000"/>
            <a:chExt cx="4760595" cy="2000250"/>
          </a:xfrm>
        </p:grpSpPr>
        <p:sp>
          <p:nvSpPr>
            <p:cNvPr id="15" name="Rectangle 15"/>
            <p:cNvSpPr/>
            <p:nvPr/>
          </p:nvSpPr>
          <p:spPr>
            <a:xfrm>
              <a:off x="6898005" y="1524000"/>
              <a:ext cx="476059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401730" y="1645444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UNIX 中的成分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744050" y="164544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对应的共享机制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995160" y="2045494"/>
              <a:ext cx="7087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text 数组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994458" y="20454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共享段表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898005" y="231933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898005" y="2324100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95160" y="2445544"/>
              <a:ext cx="12545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x_caddr、x_size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994458" y="244554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共享段的段首址、段长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898005" y="271938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995160" y="2845594"/>
              <a:ext cx="620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x_count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994458" y="28455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共享计数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98005" y="311943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898005" y="3124200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95160" y="3245644"/>
              <a:ext cx="6209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p_textp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994458" y="324564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进程到共享段表项的指针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898005" y="1524000"/>
              <a:ext cx="476059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2540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9" name="c2-card-2"/>
          <p:cNvGrpSpPr/>
          <p:nvPr/>
        </p:nvGrpSpPr>
        <p:grpSpPr>
          <a:xfrm>
            <a:off x="6898005" y="3693795"/>
            <a:ext cx="4760595" cy="1185862"/>
            <a:chOff x="6898005" y="3693795"/>
            <a:chExt cx="4760595" cy="1185862"/>
          </a:xfrm>
        </p:grpSpPr>
        <p:sp>
          <p:nvSpPr>
            <p:cNvPr id="34" name="Rectangle 34"/>
            <p:cNvSpPr/>
            <p:nvPr/>
          </p:nvSpPr>
          <p:spPr>
            <a:xfrm>
              <a:off x="6898005" y="3693795"/>
              <a:ext cx="4760595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907530" y="3827145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122795" y="388048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214514" y="391334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效果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15937" y="4225290"/>
              <a:ext cx="403421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同一个程序同时运行多次时，各进程的 p_textp 指向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 text 项，代码在内存中只有一份。</a:t>
              </a:r>
            </a:p>
          </p:txBody>
        </p:sp>
      </p:grpSp>
      <p:grpSp>
        <p:nvGrpSpPr>
          <p:cNvPr id="45" name="c2-card-3"/>
          <p:cNvGrpSpPr/>
          <p:nvPr/>
        </p:nvGrpSpPr>
        <p:grpSpPr>
          <a:xfrm>
            <a:off x="6898005" y="5050155"/>
            <a:ext cx="4760595" cy="1185862"/>
            <a:chOff x="6898005" y="5050155"/>
            <a:chExt cx="4760595" cy="1185862"/>
          </a:xfrm>
        </p:grpSpPr>
        <p:sp>
          <p:nvSpPr>
            <p:cNvPr id="40" name="Rectangle 40"/>
            <p:cNvSpPr/>
            <p:nvPr/>
          </p:nvSpPr>
          <p:spPr>
            <a:xfrm>
              <a:off x="6898005" y="5050155"/>
              <a:ext cx="4760595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907530" y="5183505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122795" y="523684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214514" y="52697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115937" y="5580698"/>
              <a:ext cx="40599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原课件注释缺少结束符 */，define 前缺 #，这里已补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分段式存储管理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段的保护：段表和快表里加上访问权限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7" name="c1-table-1"/>
          <p:cNvGrpSpPr/>
          <p:nvPr/>
        </p:nvGrpSpPr>
        <p:grpSpPr>
          <a:xfrm>
            <a:off x="528066" y="1524000"/>
            <a:ext cx="6065139" cy="1977961"/>
            <a:chOff x="528066" y="1524000"/>
            <a:chExt cx="6065139" cy="1977961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6009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60782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段长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496693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段首址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526917" y="165258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共享段表入口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022395" y="1652588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10263" y="1652588"/>
              <a:ext cx="1466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34928" y="1652588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4993" y="20764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24939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94584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967124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027257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633047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39789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36791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2372678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4993" y="250126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00708" y="2501265"/>
              <a:ext cx="1495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50160" y="250126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967124" y="250126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27257" y="250126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633047" y="250126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39789" y="250126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279273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74993" y="29260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724939" y="29260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694584" y="29260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967124" y="29260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027257" y="29260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633047" y="29260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39789" y="29260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1524000"/>
              <a:ext cx="6059805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316355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2225040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3255645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770120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75910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981700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066" y="3296602"/>
              <a:ext cx="11344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(1) 改进后的段表</a:t>
              </a:r>
            </a:p>
          </p:txBody>
        </p:sp>
      </p:grpSp>
      <p:grpSp>
        <p:nvGrpSpPr>
          <p:cNvPr id="83" name="c1-table-2"/>
          <p:cNvGrpSpPr/>
          <p:nvPr/>
        </p:nvGrpSpPr>
        <p:grpSpPr>
          <a:xfrm>
            <a:off x="528066" y="3640455"/>
            <a:ext cx="6065139" cy="1977962"/>
            <a:chOff x="528066" y="3640455"/>
            <a:chExt cx="6065139" cy="1977962"/>
          </a:xfrm>
        </p:grpSpPr>
        <p:sp>
          <p:nvSpPr>
            <p:cNvPr id="48" name="Rectangle 48"/>
            <p:cNvSpPr/>
            <p:nvPr/>
          </p:nvSpPr>
          <p:spPr>
            <a:xfrm>
              <a:off x="533400" y="3640455"/>
              <a:ext cx="6059805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50582" y="37690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910715" y="37690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段长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3102483" y="376904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段首址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416605" y="376904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247361" y="3769042"/>
              <a:ext cx="1466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113008" y="376904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65481" y="41929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2027834" y="41929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3300374" y="41929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421467" y="41929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270144" y="41929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117869" y="41929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3400" y="448437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33400" y="4489132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65481" y="461772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2003603" y="4617720"/>
              <a:ext cx="1495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l′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3255950" y="461772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4421467" y="46177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270144" y="46177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117869" y="46177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33400" y="490918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65481" y="504253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2027834" y="50425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3300374" y="50425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4421467" y="50425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5270144" y="50425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117869" y="504253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533400" y="3640455"/>
              <a:ext cx="6059805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1498282" y="364045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2649855" y="364045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4043362" y="364045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4891088" y="364045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5739765" y="3640455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528066" y="5413058"/>
              <a:ext cx="11344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(2) 改进后的快表</a:t>
              </a:r>
            </a:p>
          </p:txBody>
        </p:sp>
      </p:grpSp>
      <p:grpSp>
        <p:nvGrpSpPr>
          <p:cNvPr id="97" name="c2-steps-1"/>
          <p:cNvGrpSpPr/>
          <p:nvPr/>
        </p:nvGrpSpPr>
        <p:grpSpPr>
          <a:xfrm>
            <a:off x="6898005" y="1533525"/>
            <a:ext cx="4026713" cy="1781556"/>
            <a:chOff x="6898005" y="1533525"/>
            <a:chExt cx="4026713" cy="1781556"/>
          </a:xfrm>
        </p:grpSpPr>
        <p:sp>
          <p:nvSpPr>
            <p:cNvPr id="84" name="Rectangle 84"/>
            <p:cNvSpPr/>
            <p:nvPr/>
          </p:nvSpPr>
          <p:spPr>
            <a:xfrm>
              <a:off x="7031355" y="1676400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Ellipse 85"/>
            <p:cNvSpPr/>
            <p:nvPr/>
          </p:nvSpPr>
          <p:spPr>
            <a:xfrm>
              <a:off x="6898005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699162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7" name="Ellipse 87"/>
            <p:cNvSpPr/>
            <p:nvPr/>
          </p:nvSpPr>
          <p:spPr>
            <a:xfrm>
              <a:off x="6898005" y="215074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6991629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9" name="Ellipse 89"/>
            <p:cNvSpPr/>
            <p:nvPr/>
          </p:nvSpPr>
          <p:spPr>
            <a:xfrm>
              <a:off x="6898005" y="276701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991629" y="2840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309866" y="156638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防止地址越界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7311009" y="1846898"/>
              <a:ext cx="17326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 s ≤ l−1 和 d ≤ l′−1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309866" y="218360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防止操作越权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7311009" y="2464118"/>
              <a:ext cx="36137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读要求 R = 1，写要求 W = 1，取指执行要求 E = 1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7309866" y="279987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不满足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7311009" y="308038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产生中断，访问不进行</a:t>
              </a:r>
            </a:p>
          </p:txBody>
        </p:sp>
      </p:grpSp>
      <p:grpSp>
        <p:nvGrpSpPr>
          <p:cNvPr id="108" name="c2-card-2"/>
          <p:cNvGrpSpPr/>
          <p:nvPr/>
        </p:nvGrpSpPr>
        <p:grpSpPr>
          <a:xfrm>
            <a:off x="6898005" y="3486150"/>
            <a:ext cx="4760595" cy="2089785"/>
            <a:chOff x="6898005" y="3486150"/>
            <a:chExt cx="4760595" cy="2089785"/>
          </a:xfrm>
        </p:grpSpPr>
        <p:sp>
          <p:nvSpPr>
            <p:cNvPr id="98" name="Rectangle 98"/>
            <p:cNvSpPr/>
            <p:nvPr/>
          </p:nvSpPr>
          <p:spPr>
            <a:xfrm>
              <a:off x="6898005" y="3486150"/>
              <a:ext cx="4760595" cy="2089785"/>
            </a:xfrm>
            <a:prstGeom prst="roundRect">
              <a:avLst>
                <a:gd name="adj" fmla="val 63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9" name="Rectangle 99"/>
            <p:cNvSpPr/>
            <p:nvPr/>
          </p:nvSpPr>
          <p:spPr>
            <a:xfrm>
              <a:off x="6907530" y="3619500"/>
              <a:ext cx="47625" cy="18230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7134225" y="368427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7229666" y="371856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7584186" y="3719989"/>
              <a:ext cx="23808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权限 R=1、W=0、E=1 的段</a:t>
              </a:r>
            </a:p>
          </p:txBody>
        </p:sp>
        <p:sp>
          <p:nvSpPr>
            <p:cNvPr id="103" name="Ellipse 103"/>
            <p:cNvSpPr/>
            <p:nvPr/>
          </p:nvSpPr>
          <p:spPr>
            <a:xfrm>
              <a:off x="7141845" y="4123373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7298436" y="4062889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读取、执行其中的指令：允许</a:t>
              </a:r>
            </a:p>
          </p:txBody>
        </p:sp>
        <p:sp>
          <p:nvSpPr>
            <p:cNvPr id="105" name="Ellipse 105"/>
            <p:cNvSpPr/>
            <p:nvPr/>
          </p:nvSpPr>
          <p:spPr>
            <a:xfrm>
              <a:off x="7141845" y="4441508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7298436" y="4381024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向它写数据：</a:t>
              </a:r>
              <a:r>
                <a:rPr lang="zh-CN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越权中断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7128129" y="4694872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共享的代码段通常就这样设置。</a:t>
              </a:r>
            </a:p>
          </p:txBody>
        </p:sp>
      </p:grpSp>
      <p:grpSp>
        <p:nvGrpSpPr>
          <p:cNvPr id="115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109" name="Rectangle 109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13" name="Group 113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110" name="Freeform 110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11" name="Freeform 111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12" name="Freeform 112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14" name="TextBox 114"/>
            <p:cNvSpPr txBox="1"/>
            <p:nvPr/>
          </p:nvSpPr>
          <p:spPr>
            <a:xfrm>
              <a:off x="1040511" y="6011704"/>
              <a:ext cx="97636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段是有意义的程序单位，整段设一种权限就行；页按固定长度切分，一页里可能同时有代码和数据，不便设置权限。</a:t>
              </a:r>
            </a:p>
          </p:txBody>
        </p:sp>
      </p:grpSp>
      <p:grpSp>
        <p:nvGrpSpPr>
          <p:cNvPr id="11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6" name="TextBox 11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580638" cy="3351847"/>
            <a:chOff x="667512" y="1835468"/>
            <a:chExt cx="3580638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段页式存储管理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进程按段组织，每段再分页装入页架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段式与页式各有长处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7614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6.3.4.1 基本原理：(s, p, d)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所需表目、寄存器与地址映射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四种存储管理方式对比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段页式存储管理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段页式：兼顾段式的共享保护和页式的无碎片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ompare-1"/>
          <p:cNvGrpSpPr/>
          <p:nvPr/>
        </p:nvGrpSpPr>
        <p:grpSpPr>
          <a:xfrm>
            <a:off x="533400" y="1524000"/>
            <a:ext cx="4760596" cy="1318260"/>
            <a:chOff x="533400" y="1524000"/>
            <a:chExt cx="4760596" cy="13182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208848" cy="1318260"/>
            </a:xfrm>
            <a:prstGeom prst="roundRect">
              <a:avLst>
                <a:gd name="adj" fmla="val 101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5156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段式优于页式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便于共享和保护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085148" y="1524000"/>
              <a:ext cx="2208848" cy="1318260"/>
            </a:xfrm>
            <a:prstGeom prst="roundRect">
              <a:avLst>
                <a:gd name="adj" fmla="val 101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094672" y="1657350"/>
              <a:ext cx="47625" cy="105156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325177" y="17583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页式优于段式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3338512" y="217551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496627" y="2112645"/>
              <a:ext cx="134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消除外部碎片问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2751772" y="202120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767012" y="211740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结合</a:t>
              </a:r>
            </a:p>
          </p:txBody>
        </p:sp>
      </p:grpSp>
      <p:grpSp>
        <p:nvGrpSpPr>
          <p:cNvPr id="32" name="c1-card-2"/>
          <p:cNvGrpSpPr/>
          <p:nvPr/>
        </p:nvGrpSpPr>
        <p:grpSpPr>
          <a:xfrm>
            <a:off x="533400" y="3032760"/>
            <a:ext cx="4760595" cy="2844165"/>
            <a:chOff x="533400" y="3032760"/>
            <a:chExt cx="4760595" cy="2844165"/>
          </a:xfrm>
        </p:grpSpPr>
        <p:sp>
          <p:nvSpPr>
            <p:cNvPr id="20" name="Rectangle 20"/>
            <p:cNvSpPr/>
            <p:nvPr/>
          </p:nvSpPr>
          <p:spPr>
            <a:xfrm>
              <a:off x="533400" y="3032760"/>
              <a:ext cx="4760595" cy="2844165"/>
            </a:xfrm>
            <a:prstGeom prst="roundRect">
              <a:avLst>
                <a:gd name="adj" fmla="val 46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3166110"/>
              <a:ext cx="47625" cy="25774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81050" y="3242310"/>
              <a:ext cx="1398270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44421" y="3278029"/>
              <a:ext cx="12715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6.3.4.1 基本原理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1050" y="360616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42899" y="36484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2040" y="3619500"/>
              <a:ext cx="3634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内存空间划分：同页式，静态等长 2^i 的页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架；物理地址 = (页架号, 页内地址) = (f,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d)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81050" y="451294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42899" y="455523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82040" y="452628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进程空间划分：一个进程若干个段，一个段若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干个页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86765" y="521017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4880" y="514731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逻辑地址 = (段号, 逻辑页号, 页内地址) =</a:t>
              </a:r>
              <a:br/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(s, p, d)</a:t>
              </a:r>
            </a:p>
          </p:txBody>
        </p:sp>
      </p:grpSp>
      <p:grpSp>
        <p:nvGrpSpPr>
          <p:cNvPr id="88" name="c2-graph-1"/>
          <p:cNvGrpSpPr/>
          <p:nvPr/>
        </p:nvGrpSpPr>
        <p:grpSpPr>
          <a:xfrm>
            <a:off x="6005512" y="1644491"/>
            <a:ext cx="5159693" cy="4366737"/>
            <a:chOff x="6005512" y="1644491"/>
            <a:chExt cx="5159693" cy="4366737"/>
          </a:xfrm>
        </p:grpSpPr>
        <p:sp>
          <p:nvSpPr>
            <p:cNvPr id="33" name="Freeform 33"/>
            <p:cNvSpPr/>
            <p:nvPr/>
          </p:nvSpPr>
          <p:spPr>
            <a:xfrm>
              <a:off x="8040052" y="2105025"/>
              <a:ext cx="2077403" cy="9525"/>
            </a:xfrm>
            <a:custGeom>
              <a:avLst/>
              <a:gdLst/>
              <a:ahLst/>
              <a:cxnLst/>
              <a:rect l="l" t="t" r="r" b="b"/>
              <a:pathLst>
                <a:path w="2077403" h="9525">
                  <a:moveTo>
                    <a:pt x="0" y="0"/>
                  </a:moveTo>
                  <a:lnTo>
                    <a:pt x="207740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0117455" y="20574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8040052" y="2660332"/>
              <a:ext cx="2082165" cy="658177"/>
            </a:xfrm>
            <a:custGeom>
              <a:avLst/>
              <a:gdLst/>
              <a:ahLst/>
              <a:cxnLst/>
              <a:rect l="l" t="t" r="r" b="b"/>
              <a:pathLst>
                <a:path w="2082165" h="658177">
                  <a:moveTo>
                    <a:pt x="0" y="0"/>
                  </a:moveTo>
                  <a:lnTo>
                    <a:pt x="2082165" y="65817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0107930" y="3273742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104775" y="74295"/>
                  </a:moveTo>
                  <a:lnTo>
                    <a:pt x="0" y="90488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8040052" y="2646045"/>
              <a:ext cx="2078355" cy="278130"/>
            </a:xfrm>
            <a:custGeom>
              <a:avLst/>
              <a:gdLst/>
              <a:ahLst/>
              <a:cxnLst/>
              <a:rect l="l" t="t" r="r" b="b"/>
              <a:pathLst>
                <a:path w="2078355" h="278130">
                  <a:moveTo>
                    <a:pt x="0" y="278130"/>
                  </a:moveTo>
                  <a:lnTo>
                    <a:pt x="207835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0111740" y="2598420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34290"/>
                  </a:moveTo>
                  <a:lnTo>
                    <a:pt x="13335" y="942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8040052" y="3834765"/>
              <a:ext cx="2080260" cy="464820"/>
            </a:xfrm>
            <a:custGeom>
              <a:avLst/>
              <a:gdLst/>
              <a:ahLst/>
              <a:cxnLst/>
              <a:rect l="l" t="t" r="r" b="b"/>
              <a:pathLst>
                <a:path w="2080260" h="464820">
                  <a:moveTo>
                    <a:pt x="0" y="0"/>
                  </a:moveTo>
                  <a:lnTo>
                    <a:pt x="2080260" y="4648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10109835" y="4253865"/>
              <a:ext cx="102870" cy="92392"/>
            </a:xfrm>
            <a:custGeom>
              <a:avLst/>
              <a:gdLst/>
              <a:ahLst/>
              <a:cxnLst/>
              <a:rect l="l" t="t" r="r" b="b"/>
              <a:pathLst>
                <a:path w="102870" h="92392">
                  <a:moveTo>
                    <a:pt x="102870" y="66675"/>
                  </a:moveTo>
                  <a:lnTo>
                    <a:pt x="0" y="92392"/>
                  </a:lnTo>
                  <a:lnTo>
                    <a:pt x="2000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8040052" y="4273868"/>
              <a:ext cx="2080260" cy="484823"/>
            </a:xfrm>
            <a:custGeom>
              <a:avLst/>
              <a:gdLst/>
              <a:ahLst/>
              <a:cxnLst/>
              <a:rect l="l" t="t" r="r" b="b"/>
              <a:pathLst>
                <a:path w="2080260" h="484823">
                  <a:moveTo>
                    <a:pt x="0" y="0"/>
                  </a:moveTo>
                  <a:lnTo>
                    <a:pt x="2080260" y="48482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10108882" y="4712970"/>
              <a:ext cx="103823" cy="92392"/>
            </a:xfrm>
            <a:custGeom>
              <a:avLst/>
              <a:gdLst/>
              <a:ahLst/>
              <a:cxnLst/>
              <a:rect l="l" t="t" r="r" b="b"/>
              <a:pathLst>
                <a:path w="103823" h="92392">
                  <a:moveTo>
                    <a:pt x="103823" y="67627"/>
                  </a:moveTo>
                  <a:lnTo>
                    <a:pt x="0" y="92392"/>
                  </a:lnTo>
                  <a:lnTo>
                    <a:pt x="2190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8040052" y="4149090"/>
              <a:ext cx="2082165" cy="684847"/>
            </a:xfrm>
            <a:custGeom>
              <a:avLst/>
              <a:gdLst/>
              <a:ahLst/>
              <a:cxnLst/>
              <a:rect l="l" t="t" r="r" b="b"/>
              <a:pathLst>
                <a:path w="2082165" h="684847">
                  <a:moveTo>
                    <a:pt x="0" y="684847"/>
                  </a:moveTo>
                  <a:lnTo>
                    <a:pt x="208216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107930" y="4104322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104775" y="15240"/>
                  </a:moveTo>
                  <a:lnTo>
                    <a:pt x="29527" y="904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8040052" y="5448300"/>
              <a:ext cx="2078355" cy="292418"/>
            </a:xfrm>
            <a:custGeom>
              <a:avLst/>
              <a:gdLst/>
              <a:ahLst/>
              <a:cxnLst/>
              <a:rect l="l" t="t" r="r" b="b"/>
              <a:pathLst>
                <a:path w="2078355" h="292418">
                  <a:moveTo>
                    <a:pt x="0" y="0"/>
                  </a:moveTo>
                  <a:lnTo>
                    <a:pt x="2078355" y="29241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111740" y="5693092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60960"/>
                  </a:moveTo>
                  <a:lnTo>
                    <a:pt x="0" y="94297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8040052" y="5445442"/>
              <a:ext cx="2078355" cy="325755"/>
            </a:xfrm>
            <a:custGeom>
              <a:avLst/>
              <a:gdLst/>
              <a:ahLst/>
              <a:cxnLst/>
              <a:rect l="l" t="t" r="r" b="b"/>
              <a:pathLst>
                <a:path w="2078355" h="325755">
                  <a:moveTo>
                    <a:pt x="0" y="325755"/>
                  </a:moveTo>
                  <a:lnTo>
                    <a:pt x="207835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111740" y="5398770"/>
              <a:ext cx="100965" cy="93345"/>
            </a:xfrm>
            <a:custGeom>
              <a:avLst/>
              <a:gdLst/>
              <a:ahLst/>
              <a:cxnLst/>
              <a:rect l="l" t="t" r="r" b="b"/>
              <a:pathLst>
                <a:path w="100965" h="93345">
                  <a:moveTo>
                    <a:pt x="100965" y="32385"/>
                  </a:moveTo>
                  <a:lnTo>
                    <a:pt x="14288" y="933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278052" y="1924050"/>
              <a:ext cx="762000" cy="361950"/>
            </a:xfrm>
            <a:prstGeom prst="roundRect">
              <a:avLst>
                <a:gd name="adj" fmla="val 1052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278052" y="2359342"/>
              <a:ext cx="762000" cy="361950"/>
            </a:xfrm>
            <a:prstGeom prst="roundRect">
              <a:avLst>
                <a:gd name="adj" fmla="val 1052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278052" y="2794635"/>
              <a:ext cx="762000" cy="361950"/>
            </a:xfrm>
            <a:prstGeom prst="roundRect">
              <a:avLst>
                <a:gd name="adj" fmla="val 1052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278052" y="3569018"/>
              <a:ext cx="762000" cy="361950"/>
            </a:xfrm>
            <a:prstGeom prst="roundRect">
              <a:avLst>
                <a:gd name="adj" fmla="val 1052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278052" y="4004310"/>
              <a:ext cx="762000" cy="361950"/>
            </a:xfrm>
            <a:prstGeom prst="roundRect">
              <a:avLst>
                <a:gd name="adj" fmla="val 1052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278052" y="4778692"/>
              <a:ext cx="762000" cy="361950"/>
            </a:xfrm>
            <a:prstGeom prst="roundRect">
              <a:avLst>
                <a:gd name="adj" fmla="val 1052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278052" y="5213985"/>
              <a:ext cx="762000" cy="361950"/>
            </a:xfrm>
            <a:prstGeom prst="roundRect">
              <a:avLst>
                <a:gd name="adj" fmla="val 1052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278052" y="5649278"/>
              <a:ext cx="762000" cy="361950"/>
            </a:xfrm>
            <a:prstGeom prst="roundRect">
              <a:avLst>
                <a:gd name="adj" fmla="val 10526"/>
              </a:avLst>
            </a:prstGeom>
            <a:solidFill>
              <a:srgbClr val="E2F3F4"/>
            </a:solidFill>
            <a:ln w="17145">
              <a:solidFill>
                <a:srgbClr val="0E7C86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212705" y="1924050"/>
              <a:ext cx="952500" cy="36195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212705" y="2387918"/>
              <a:ext cx="952500" cy="36195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10212705" y="2852738"/>
              <a:ext cx="952500" cy="361950"/>
            </a:xfrm>
            <a:prstGeom prst="roundRect">
              <a:avLst>
                <a:gd name="adj" fmla="val 1052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212705" y="3317558"/>
              <a:ext cx="952500" cy="36195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10212705" y="3781425"/>
              <a:ext cx="952500" cy="36195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10212705" y="4246245"/>
              <a:ext cx="952500" cy="36195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10212705" y="4711065"/>
              <a:ext cx="952500" cy="36195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10212705" y="5174932"/>
              <a:ext cx="952500" cy="36195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10212705" y="5639752"/>
              <a:ext cx="952500" cy="361950"/>
            </a:xfrm>
            <a:prstGeom prst="roundRect">
              <a:avLst>
                <a:gd name="adj" fmla="val 1052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542228" y="2039302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0页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42228" y="2474595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1页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542228" y="2909888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2页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542228" y="3684270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0页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542228" y="4119562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1页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542228" y="4893945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0页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542228" y="5329238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1页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542228" y="5765483"/>
              <a:ext cx="2336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5F67"/>
                  </a:solidFill>
                  <a:latin typeface="+mn-lt"/>
                  <a:ea typeface="+mn-ea"/>
                  <a:cs typeface="+mn-cs"/>
                </a:rPr>
                <a:t>2页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531315" y="2039302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25页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531315" y="2504123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26页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531315" y="2967990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27页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0531315" y="3432810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28页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0531315" y="3897630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29页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0531315" y="4361498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30页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531315" y="4826318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31页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0531315" y="5291138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32页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0531315" y="5755005"/>
              <a:ext cx="315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33页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005512" y="2515076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第0段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005512" y="3919061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第1段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6005512" y="5370671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第2段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351789" y="16444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进程空间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381691" y="16444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内存空间</a:t>
              </a:r>
            </a:p>
          </p:txBody>
        </p:sp>
      </p:grpSp>
      <p:grpSp>
        <p:nvGrpSpPr>
          <p:cNvPr id="9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9" name="TextBox 8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段页式存储管理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段页式的表目：段表找到页表，页表给出页架号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able-1"/>
          <p:cNvGrpSpPr/>
          <p:nvPr/>
        </p:nvGrpSpPr>
        <p:grpSpPr>
          <a:xfrm>
            <a:off x="528066" y="1524000"/>
            <a:ext cx="5415534" cy="1977961"/>
            <a:chOff x="528066" y="1524000"/>
            <a:chExt cx="5415534" cy="1977961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6586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56916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页表首址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61916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页表长度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80758" y="20764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46730" y="2076450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b0′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940579" y="207645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679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7267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80758" y="250126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46730" y="250126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b1′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40579" y="250126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927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80758" y="29260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46730" y="2926080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b2′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940579" y="292608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410200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128838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033838" y="1524000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8066" y="3296602"/>
              <a:ext cx="38766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(1) 段表：每个进程一个，项为（页表首址 b′, 页表长度 l′）</a:t>
              </a:r>
            </a:p>
          </p:txBody>
        </p:sp>
      </p:grpSp>
      <p:grpSp>
        <p:nvGrpSpPr>
          <p:cNvPr id="55" name="c1-cells-2"/>
          <p:cNvGrpSpPr/>
          <p:nvPr/>
        </p:nvGrpSpPr>
        <p:grpSpPr>
          <a:xfrm>
            <a:off x="528066" y="3640455"/>
            <a:ext cx="2579941" cy="2081689"/>
            <a:chOff x="528066" y="3640455"/>
            <a:chExt cx="2579941" cy="2081689"/>
          </a:xfrm>
        </p:grpSpPr>
        <p:sp>
          <p:nvSpPr>
            <p:cNvPr id="28" name="TextBox 28"/>
            <p:cNvSpPr txBox="1"/>
            <p:nvPr/>
          </p:nvSpPr>
          <p:spPr>
            <a:xfrm>
              <a:off x="528066" y="3771900"/>
              <a:ext cx="6054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段 0 页表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227772" y="3640455"/>
              <a:ext cx="62674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454181" y="3771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854518" y="3640455"/>
              <a:ext cx="62674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080926" y="3771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481262" y="3640455"/>
              <a:ext cx="62674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2707671" y="3771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06026" y="40886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132771" y="40886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759516" y="408860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28066" y="4508182"/>
              <a:ext cx="6054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段 1 页表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1227772" y="4376738"/>
              <a:ext cx="62674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454181" y="450818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854518" y="4376738"/>
              <a:ext cx="62674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080926" y="450818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506026" y="482393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132771" y="482393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28066" y="5244465"/>
              <a:ext cx="6054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段 2 页表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227772" y="5113020"/>
              <a:ext cx="62674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454181" y="52444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854518" y="5113020"/>
              <a:ext cx="62674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2080926" y="52444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2481262" y="5113020"/>
              <a:ext cx="626745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2707671" y="524446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506026" y="556021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132771" y="556021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759516" y="5560219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57" name="c1-text-3"/>
          <p:cNvGrpSpPr/>
          <p:nvPr/>
        </p:nvGrpSpPr>
        <p:grpSpPr>
          <a:xfrm>
            <a:off x="527304" y="5887402"/>
            <a:ext cx="3881171" cy="234696"/>
            <a:chOff x="527304" y="5887402"/>
            <a:chExt cx="3881171" cy="234696"/>
          </a:xfrm>
        </p:grpSpPr>
        <p:sp>
          <p:nvSpPr>
            <p:cNvPr id="56" name="TextBox 56"/>
            <p:cNvSpPr txBox="1"/>
            <p:nvPr/>
          </p:nvSpPr>
          <p:spPr>
            <a:xfrm>
              <a:off x="527304" y="5887402"/>
              <a:ext cx="38811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(2) 页表：每段一个，下标为逻辑页号，内容为页架号</a:t>
              </a:r>
            </a:p>
          </p:txBody>
        </p:sp>
      </p:grpSp>
      <p:grpSp>
        <p:nvGrpSpPr>
          <p:cNvPr id="69" name="c2-kv-1"/>
          <p:cNvGrpSpPr/>
          <p:nvPr/>
        </p:nvGrpSpPr>
        <p:grpSpPr>
          <a:xfrm>
            <a:off x="6241161" y="1547336"/>
            <a:ext cx="5417439" cy="2062734"/>
            <a:chOff x="6241161" y="1547336"/>
            <a:chExt cx="5417439" cy="2062734"/>
          </a:xfrm>
        </p:grpSpPr>
        <p:sp>
          <p:nvSpPr>
            <p:cNvPr id="58" name="TextBox 58"/>
            <p:cNvSpPr txBox="1"/>
            <p:nvPr/>
          </p:nvSpPr>
          <p:spPr>
            <a:xfrm>
              <a:off x="6241161" y="154733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总页表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864221" y="154733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系统一个，记录各页架是否空闲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248400" y="18507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241161" y="1963579"/>
              <a:ext cx="127685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段表基址寄存器</a:t>
              </a:r>
              <a:br/>
              <a:r>
                <a:rPr lang="en-US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864221" y="1963579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保存正运行程序的段表首址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248400" y="25346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241161" y="2647474"/>
              <a:ext cx="14730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段表限长寄存器 l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864221" y="2647474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保存正运行程序的段表长度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248400" y="29508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241161" y="306371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快表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864221" y="3063716"/>
              <a:ext cx="3467989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一组联想寄存器（快段表 + 快页表），项为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(段号 s, 逻辑页号 p, 页架号 f)</a:t>
              </a:r>
            </a:p>
          </p:txBody>
        </p:sp>
      </p:grpSp>
      <p:grpSp>
        <p:nvGrpSpPr>
          <p:cNvPr id="76" name="c2-callout-2"/>
          <p:cNvGrpSpPr/>
          <p:nvPr/>
        </p:nvGrpSpPr>
        <p:grpSpPr>
          <a:xfrm>
            <a:off x="6248400" y="3734752"/>
            <a:ext cx="5410200" cy="756285"/>
            <a:chOff x="6248400" y="3734752"/>
            <a:chExt cx="5410200" cy="756285"/>
          </a:xfrm>
        </p:grpSpPr>
        <p:sp>
          <p:nvSpPr>
            <p:cNvPr id="70" name="Rectangle 70"/>
            <p:cNvSpPr/>
            <p:nvPr/>
          </p:nvSpPr>
          <p:spPr>
            <a:xfrm>
              <a:off x="6248400" y="373475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6441129" y="4009191"/>
              <a:ext cx="224134" cy="192560"/>
              <a:chOff x="6441129" y="4009191"/>
              <a:chExt cx="224134" cy="19256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6553200" y="407955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6441129" y="400919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553200" y="415734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6755511" y="3881914"/>
              <a:ext cx="434263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段表项里存的是页表的首址和长度，不再是段首址和段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长；段在内存中不连续，连续的只是它的页表。</a:t>
              </a:r>
            </a:p>
          </p:txBody>
        </p:sp>
      </p:grpSp>
      <p:grpSp>
        <p:nvGrpSpPr>
          <p:cNvPr id="91" name="c2-card-3"/>
          <p:cNvGrpSpPr/>
          <p:nvPr/>
        </p:nvGrpSpPr>
        <p:grpSpPr>
          <a:xfrm>
            <a:off x="6248400" y="4671060"/>
            <a:ext cx="5410200" cy="1632585"/>
            <a:chOff x="6248400" y="4671060"/>
            <a:chExt cx="5410200" cy="1632585"/>
          </a:xfrm>
        </p:grpSpPr>
        <p:sp>
          <p:nvSpPr>
            <p:cNvPr id="77" name="Rectangle 77"/>
            <p:cNvSpPr/>
            <p:nvPr/>
          </p:nvSpPr>
          <p:spPr>
            <a:xfrm>
              <a:off x="6248400" y="4671060"/>
              <a:ext cx="5410200" cy="1632585"/>
            </a:xfrm>
            <a:prstGeom prst="roundRect">
              <a:avLst>
                <a:gd name="adj" fmla="val 81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6257925" y="4804410"/>
              <a:ext cx="47625" cy="13658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6484620" y="486918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6580061" y="490347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934581" y="4904899"/>
              <a:ext cx="21750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 (2, 1, d) 所在的页架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6484620" y="5235892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542965" y="527527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775514" y="5247799"/>
              <a:ext cx="36369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查段表第 2 项：页表首址 b2′，页表长度 3</a:t>
              </a:r>
            </a:p>
          </p:txBody>
        </p:sp>
        <p:sp>
          <p:nvSpPr>
            <p:cNvPr id="85" name="Ellipse 85"/>
            <p:cNvSpPr/>
            <p:nvPr/>
          </p:nvSpPr>
          <p:spPr>
            <a:xfrm>
              <a:off x="6484620" y="5553075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6542965" y="559341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6775514" y="5565934"/>
              <a:ext cx="33215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≤ 3−1，查这张页表的第 1 项：f = 33</a:t>
              </a:r>
            </a:p>
          </p:txBody>
        </p:sp>
        <p:sp>
          <p:nvSpPr>
            <p:cNvPr id="88" name="Ellipse 88"/>
            <p:cNvSpPr/>
            <p:nvPr/>
          </p:nvSpPr>
          <p:spPr>
            <a:xfrm>
              <a:off x="6484620" y="5871210"/>
              <a:ext cx="201930" cy="20193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6542965" y="591059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6775514" y="5883116"/>
              <a:ext cx="16871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 = (33, d)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2" name="TextBox 9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段页式存储管理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段页式地址映射：查段表得页表，查页表得页架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419030" cy="308039"/>
            <a:chOff x="525399" y="1550194"/>
            <a:chExt cx="941903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41903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映射 σ：(s, p, d) → (f, d) ∪ {Ω}。图中 s ≤ l−1、p ≤ l′−1 即原课件的 0 ≤ s ≤ l−1、0 ≤ p ≤ l′−1。</a:t>
              </a:r>
            </a:p>
          </p:txBody>
        </p:sp>
      </p:grpSp>
      <p:grpSp>
        <p:nvGrpSpPr>
          <p:cNvPr id="63" name="c1-flow-1"/>
          <p:cNvGrpSpPr/>
          <p:nvPr/>
        </p:nvGrpSpPr>
        <p:grpSpPr>
          <a:xfrm>
            <a:off x="666750" y="2033588"/>
            <a:ext cx="10850880" cy="2534602"/>
            <a:chOff x="666750" y="2033588"/>
            <a:chExt cx="10850880" cy="2534602"/>
          </a:xfrm>
        </p:grpSpPr>
        <p:sp>
          <p:nvSpPr>
            <p:cNvPr id="9" name="Freeform 9"/>
            <p:cNvSpPr/>
            <p:nvPr/>
          </p:nvSpPr>
          <p:spPr>
            <a:xfrm>
              <a:off x="2254568" y="2444115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416492" y="23917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108132" y="2444115"/>
              <a:ext cx="5756910" cy="9525"/>
            </a:xfrm>
            <a:custGeom>
              <a:avLst/>
              <a:gdLst/>
              <a:ahLst/>
              <a:cxnLst/>
              <a:rect l="l" t="t" r="r" b="b"/>
              <a:pathLst>
                <a:path w="5756910" h="9525">
                  <a:moveTo>
                    <a:pt x="0" y="0"/>
                  </a:moveTo>
                  <a:lnTo>
                    <a:pt x="575691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9865042" y="23917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314700" y="2853690"/>
              <a:ext cx="9525" cy="137160"/>
            </a:xfrm>
            <a:custGeom>
              <a:avLst/>
              <a:gdLst/>
              <a:ahLst/>
              <a:cxnLst/>
              <a:rect l="l" t="t" r="r" b="b"/>
              <a:pathLst>
                <a:path w="9525" h="137160">
                  <a:moveTo>
                    <a:pt x="0" y="0"/>
                  </a:moveTo>
                  <a:lnTo>
                    <a:pt x="0" y="1371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262312" y="29908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231708" y="3396615"/>
              <a:ext cx="289560" cy="9525"/>
            </a:xfrm>
            <a:custGeom>
              <a:avLst/>
              <a:gdLst/>
              <a:ahLst/>
              <a:cxnLst/>
              <a:rect l="l" t="t" r="r" b="b"/>
              <a:pathLst>
                <a:path w="289560" h="9525">
                  <a:moveTo>
                    <a:pt x="28956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126932" y="3344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108132" y="3396615"/>
              <a:ext cx="218122" cy="9525"/>
            </a:xfrm>
            <a:custGeom>
              <a:avLst/>
              <a:gdLst/>
              <a:ahLst/>
              <a:cxnLst/>
              <a:rect l="l" t="t" r="r" b="b"/>
              <a:pathLst>
                <a:path w="218122" h="9525">
                  <a:moveTo>
                    <a:pt x="0" y="0"/>
                  </a:moveTo>
                  <a:lnTo>
                    <a:pt x="21812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326255" y="3344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5907405" y="3396615"/>
              <a:ext cx="217170" cy="9525"/>
            </a:xfrm>
            <a:custGeom>
              <a:avLst/>
              <a:gdLst/>
              <a:ahLst/>
              <a:cxnLst/>
              <a:rect l="l" t="t" r="r" b="b"/>
              <a:pathLst>
                <a:path w="217170" h="9525">
                  <a:moveTo>
                    <a:pt x="0" y="0"/>
                  </a:moveTo>
                  <a:lnTo>
                    <a:pt x="21717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124575" y="3344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7817168" y="3396615"/>
              <a:ext cx="217170" cy="9525"/>
            </a:xfrm>
            <a:custGeom>
              <a:avLst/>
              <a:gdLst/>
              <a:ahLst/>
              <a:cxnLst/>
              <a:rect l="l" t="t" r="r" b="b"/>
              <a:pathLst>
                <a:path w="217170" h="9525">
                  <a:moveTo>
                    <a:pt x="0" y="0"/>
                  </a:moveTo>
                  <a:lnTo>
                    <a:pt x="21717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034338" y="3344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7022782" y="3696652"/>
              <a:ext cx="9525" cy="328612"/>
            </a:xfrm>
            <a:custGeom>
              <a:avLst/>
              <a:gdLst/>
              <a:ahLst/>
              <a:cxnLst/>
              <a:rect l="l" t="t" r="r" b="b"/>
              <a:pathLst>
                <a:path w="9525" h="328612">
                  <a:moveTo>
                    <a:pt x="0" y="0"/>
                  </a:moveTo>
                  <a:lnTo>
                    <a:pt x="0" y="3286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6970395" y="40252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8877300" y="2863215"/>
              <a:ext cx="1854518" cy="218122"/>
            </a:xfrm>
            <a:custGeom>
              <a:avLst/>
              <a:gdLst/>
              <a:ahLst/>
              <a:cxnLst/>
              <a:rect l="l" t="t" r="r" b="b"/>
              <a:pathLst>
                <a:path w="1854518" h="218122">
                  <a:moveTo>
                    <a:pt x="0" y="218122"/>
                  </a:moveTo>
                  <a:lnTo>
                    <a:pt x="0" y="57150"/>
                  </a:lnTo>
                  <a:lnTo>
                    <a:pt x="1854518" y="57150"/>
                  </a:lnTo>
                  <a:lnTo>
                    <a:pt x="185451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10679430" y="27584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9615488" y="3396615"/>
              <a:ext cx="225743" cy="9525"/>
            </a:xfrm>
            <a:custGeom>
              <a:avLst/>
              <a:gdLst/>
              <a:ahLst/>
              <a:cxnLst/>
              <a:rect l="l" t="t" r="r" b="b"/>
              <a:pathLst>
                <a:path w="225743" h="9525">
                  <a:moveTo>
                    <a:pt x="0" y="0"/>
                  </a:moveTo>
                  <a:lnTo>
                    <a:pt x="22574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9841230" y="3344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6750" y="2128838"/>
              <a:ext cx="1587818" cy="629602"/>
            </a:xfrm>
            <a:prstGeom prst="roundRect">
              <a:avLst>
                <a:gd name="adj" fmla="val 49924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2521268" y="2033588"/>
              <a:ext cx="1586865" cy="820103"/>
            </a:xfrm>
            <a:custGeom>
              <a:avLst/>
              <a:gdLst/>
              <a:ahLst/>
              <a:cxnLst/>
              <a:rect l="l" t="t" r="r" b="b"/>
              <a:pathLst>
                <a:path w="1586865" h="820103">
                  <a:moveTo>
                    <a:pt x="793433" y="0"/>
                  </a:moveTo>
                  <a:lnTo>
                    <a:pt x="1586865" y="410528"/>
                  </a:lnTo>
                  <a:lnTo>
                    <a:pt x="793433" y="820103"/>
                  </a:lnTo>
                  <a:lnTo>
                    <a:pt x="0" y="41052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9969818" y="2128838"/>
              <a:ext cx="1524000" cy="629602"/>
            </a:xfrm>
            <a:prstGeom prst="roundRect">
              <a:avLst>
                <a:gd name="adj" fmla="val 49924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3432" y="3177540"/>
              <a:ext cx="1333500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2521268" y="3095625"/>
              <a:ext cx="1586865" cy="601028"/>
            </a:xfrm>
            <a:custGeom>
              <a:avLst/>
              <a:gdLst/>
              <a:ahLst/>
              <a:cxnLst/>
              <a:rect l="l" t="t" r="r" b="b"/>
              <a:pathLst>
                <a:path w="1586865" h="601028">
                  <a:moveTo>
                    <a:pt x="793433" y="0"/>
                  </a:moveTo>
                  <a:lnTo>
                    <a:pt x="1586865" y="300990"/>
                  </a:lnTo>
                  <a:lnTo>
                    <a:pt x="793433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431030" y="3081338"/>
              <a:ext cx="1476375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6229350" y="3095625"/>
              <a:ext cx="1587818" cy="601028"/>
            </a:xfrm>
            <a:custGeom>
              <a:avLst/>
              <a:gdLst/>
              <a:ahLst/>
              <a:cxnLst/>
              <a:rect l="l" t="t" r="r" b="b"/>
              <a:pathLst>
                <a:path w="1587818" h="601028">
                  <a:moveTo>
                    <a:pt x="793432" y="0"/>
                  </a:moveTo>
                  <a:lnTo>
                    <a:pt x="1587818" y="300990"/>
                  </a:lnTo>
                  <a:lnTo>
                    <a:pt x="793432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139112" y="3081338"/>
              <a:ext cx="1476375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946005" y="3081338"/>
              <a:ext cx="1571625" cy="629602"/>
            </a:xfrm>
            <a:prstGeom prst="roundRect">
              <a:avLst>
                <a:gd name="adj" fmla="val 15129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308408" y="4130040"/>
              <a:ext cx="1428750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2683" y="2245519"/>
              <a:ext cx="1234999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逻辑地址 (s, p,</a:t>
              </a:r>
              <a:br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848991" y="2245519"/>
              <a:ext cx="93141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(s, p) 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快表得 f？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148252" y="2245519"/>
              <a:ext cx="116713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 与 d 合并得物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理地址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36765" y="330755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段号越界中断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954980" y="3307556"/>
              <a:ext cx="7194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≤ l−1？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569396" y="3198019"/>
              <a:ext cx="1199642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s 和 b 查段表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 (b′, l′)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15676" y="3307556"/>
              <a:ext cx="8142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≤ l′−1？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14055" y="3198019"/>
              <a:ext cx="112649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b′ 与 p 查页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表得 f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075100" y="3198019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(s, p, f) 写入快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表，满则淘汰一个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99365" y="426005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页号越界中断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858000" y="222789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892290" y="225456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查到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3343275" y="2882265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3366516" y="290893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查不到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209800" y="318039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248090" y="320706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154805" y="318039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4193095" y="320706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863840" y="318039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902131" y="320706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7051358" y="382143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074598" y="384810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9623108" y="270414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657398" y="273081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并行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4" name="Rectangle 64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130" y="5728335"/>
              <a:ext cx="9321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快表未命中时要访存 3 次（段表、页表、数据）。快表 20ns、内存 100ns、命中率 98% 时，EAT = 98%×120 +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2%×320 = 124ns。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段页式存储管理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例题：段页式地址变换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321290" cy="569595"/>
            <a:chOff x="525780" y="1548765"/>
            <a:chExt cx="10321290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321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页长 1K，段表长度 l = 3；各段页表：段 0 为 25、28、26，段 1 为 30、31，段 2 为 29、33、32（按逻辑页号 0、1、2 排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列）。</a:t>
              </a:r>
            </a:p>
          </p:txBody>
        </p:sp>
      </p:grpSp>
      <p:grpSp>
        <p:nvGrpSpPr>
          <p:cNvPr id="58" name="c1-table-1"/>
          <p:cNvGrpSpPr/>
          <p:nvPr/>
        </p:nvGrpSpPr>
        <p:grpSpPr>
          <a:xfrm>
            <a:off x="533400" y="2230755"/>
            <a:ext cx="7141845" cy="3792855"/>
            <a:chOff x="533400" y="2230755"/>
            <a:chExt cx="7141845" cy="3792855"/>
          </a:xfrm>
        </p:grpSpPr>
        <p:sp>
          <p:nvSpPr>
            <p:cNvPr id="9" name="Rectangle 9"/>
            <p:cNvSpPr/>
            <p:nvPr/>
          </p:nvSpPr>
          <p:spPr>
            <a:xfrm>
              <a:off x="533400" y="2230755"/>
              <a:ext cx="7141845" cy="71628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51063" y="2489359"/>
              <a:ext cx="9076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(s, p, d)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22145" y="248935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段号检查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15348" y="2362676"/>
              <a:ext cx="7358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95"/>
                </a:lnSpc>
              </a:pPr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页表长度</a:t>
              </a:r>
              <a:br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l′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964318" y="248935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页号检查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009960" y="2489359"/>
              <a:ext cx="7585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页架号 f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57976" y="2362676"/>
              <a:ext cx="847649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95"/>
                </a:lnSpc>
              </a:pPr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物理地址</a:t>
              </a:r>
              <a:br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f×1024+d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08892" y="3079909"/>
              <a:ext cx="592017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(2, 1,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89411" y="3206591"/>
              <a:ext cx="4445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≤ 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223459" y="320659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31583" y="3206591"/>
              <a:ext cx="4445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≤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76868" y="3206591"/>
              <a:ext cx="2247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51575" y="3079909"/>
              <a:ext cx="1060450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33792+100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33892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659505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3664268"/>
              <a:ext cx="7141845" cy="7162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08892" y="3796189"/>
              <a:ext cx="592017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(0, 2,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989411" y="3922871"/>
              <a:ext cx="4445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223459" y="392287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31583" y="3922871"/>
              <a:ext cx="4445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≤ 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276868" y="3922871"/>
              <a:ext cx="2247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01982" y="3796189"/>
              <a:ext cx="1159637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26624+1000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27624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375785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1063" y="4512469"/>
              <a:ext cx="9076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(1, 0, 5)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89411" y="4512469"/>
              <a:ext cx="4445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≤ 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223459" y="451246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131583" y="4512469"/>
              <a:ext cx="4445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≤ 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276868" y="4512469"/>
              <a:ext cx="2247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033814" y="4512469"/>
              <a:ext cx="14959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30720+5 = 30725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839652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4844415"/>
              <a:ext cx="7141845" cy="7162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08892" y="4976336"/>
              <a:ext cx="592017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(1, 2,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989411" y="5103019"/>
              <a:ext cx="4445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≤ 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223459" y="510301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120830" y="5103019"/>
              <a:ext cx="4660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 &gt; 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329437" y="5103019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201080" y="510301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页号越界中断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5555932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51063" y="5692616"/>
              <a:ext cx="9076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(3, 0, 0)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978658" y="5692616"/>
              <a:ext cx="4660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3 &gt; 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223459" y="5692616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294069" y="5692616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29437" y="5692616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01080" y="569261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段号越界中断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2230755"/>
              <a:ext cx="7141845" cy="37928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671638" y="2230755"/>
              <a:ext cx="9525" cy="37928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2742248" y="2230755"/>
              <a:ext cx="9525" cy="37928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3813810" y="2230755"/>
              <a:ext cx="9525" cy="37928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4885372" y="2230755"/>
              <a:ext cx="9525" cy="37928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884545" y="2230755"/>
              <a:ext cx="9525" cy="37928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2" name="c2-steps-1"/>
          <p:cNvGrpSpPr/>
          <p:nvPr/>
        </p:nvGrpSpPr>
        <p:grpSpPr>
          <a:xfrm>
            <a:off x="7980045" y="2240280"/>
            <a:ext cx="3001823" cy="1781556"/>
            <a:chOff x="7980045" y="2240280"/>
            <a:chExt cx="3001823" cy="1781556"/>
          </a:xfrm>
        </p:grpSpPr>
        <p:sp>
          <p:nvSpPr>
            <p:cNvPr id="59" name="Rectangle 59"/>
            <p:cNvSpPr/>
            <p:nvPr/>
          </p:nvSpPr>
          <p:spPr>
            <a:xfrm>
              <a:off x="8113395" y="2383155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Ellipse 60"/>
            <p:cNvSpPr/>
            <p:nvPr/>
          </p:nvSpPr>
          <p:spPr>
            <a:xfrm>
              <a:off x="7980045" y="224028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073669" y="23140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7980045" y="285750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073669" y="29313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7980045" y="347376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073669" y="35475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391906" y="227314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段号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393049" y="2553652"/>
              <a:ext cx="25888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与段表长度 l 比较，取出 (b′, l′)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91906" y="289036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页号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393049" y="3170872"/>
              <a:ext cx="24595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与页表长度 l′ 比较，查页表得 f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391906" y="350662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拼接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93049" y="3787140"/>
              <a:ext cx="18861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与 d 合并：f × 1024 + d</a:t>
              </a:r>
            </a:p>
          </p:txBody>
        </p:sp>
      </p:grpSp>
      <p:grpSp>
        <p:nvGrpSpPr>
          <p:cNvPr id="79" name="c2-callout-2"/>
          <p:cNvGrpSpPr/>
          <p:nvPr/>
        </p:nvGrpSpPr>
        <p:grpSpPr>
          <a:xfrm>
            <a:off x="7980045" y="4192905"/>
            <a:ext cx="3678555" cy="1018222"/>
            <a:chOff x="7980045" y="4192905"/>
            <a:chExt cx="3678555" cy="1018222"/>
          </a:xfrm>
        </p:grpSpPr>
        <p:sp>
          <p:nvSpPr>
            <p:cNvPr id="73" name="Rectangle 73"/>
            <p:cNvSpPr/>
            <p:nvPr/>
          </p:nvSpPr>
          <p:spPr>
            <a:xfrm>
              <a:off x="7980045" y="4192905"/>
              <a:ext cx="3678555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8184833" y="4602480"/>
              <a:ext cx="200026" cy="200025"/>
              <a:chOff x="8184833" y="4602480"/>
              <a:chExt cx="200026" cy="200025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8184833" y="460248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224571" y="464693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6" name="Freeform 76"/>
              <p:cNvSpPr/>
              <p:nvPr/>
            </p:nvSpPr>
            <p:spPr>
              <a:xfrm>
                <a:off x="8259287" y="475805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8" name="TextBox 78"/>
            <p:cNvSpPr txBox="1"/>
            <p:nvPr/>
          </p:nvSpPr>
          <p:spPr>
            <a:xfrm>
              <a:off x="8487156" y="4341019"/>
              <a:ext cx="2854833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段页式和页式一样，d 只有 i 位，不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必检查；物理地址用拼接，不是段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式的 b′ + d。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段页式存储管理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四种存储管理方式对比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9" name="c1-table-1"/>
          <p:cNvGrpSpPr/>
          <p:nvPr/>
        </p:nvGrpSpPr>
        <p:grpSpPr>
          <a:xfrm>
            <a:off x="533400" y="1524000"/>
            <a:ext cx="11125200" cy="4033837"/>
            <a:chOff x="533400" y="1524000"/>
            <a:chExt cx="11125200" cy="403383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74623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121533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界地址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42734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页式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82002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186225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段页式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5889" y="20764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逻辑地址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16112" y="2076450"/>
              <a:ext cx="4725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一维 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29709" y="2076450"/>
              <a:ext cx="13610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一维，拆成 (p, d)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66192" y="2076450"/>
              <a:ext cx="8764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 (s, d)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313164" y="2076450"/>
              <a:ext cx="11026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 (s, p, d)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36791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372678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250126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内存划分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416112" y="250126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动态异长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29709" y="250126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静态等长页架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66192" y="250126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动态异长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313164" y="250126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静态等长页架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79273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5889" y="29260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主要的表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416112" y="2926080"/>
              <a:ext cx="18231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PCB 中的 b、l；空闲区表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29709" y="292608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页表、总页表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66192" y="292608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段表、空闲表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313164" y="292608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段表、页表、总页表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2165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22135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5889" y="33499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越界检查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16112" y="3349942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≤ l−1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29709" y="3349942"/>
              <a:ext cx="512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≤ l−1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866192" y="3349942"/>
              <a:ext cx="12641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≤ l−1，d ≤ l′−1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313164" y="3349942"/>
              <a:ext cx="12641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≤ l−1，p ≤ l′−1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36414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5889" y="3774757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416112" y="3774757"/>
              <a:ext cx="3756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+ a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529709" y="3774757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与 d 拼接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866192" y="3774757"/>
              <a:ext cx="4645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b′ + d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313164" y="3774757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 与 d 拼接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0662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3400" y="4070985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5889" y="4198620"/>
              <a:ext cx="1383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未命中快表时访存次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416112" y="4305300"/>
              <a:ext cx="10703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1（无需查表）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529709" y="430530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66192" y="430530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313164" y="430530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47034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5889" y="483679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外部碎片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416112" y="483679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有，需要紧凑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529709" y="483679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66192" y="483679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313164" y="483679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无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512826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533400" y="5133022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35889" y="52616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共享与保护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2416112" y="52616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双对界可分开代码和数据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4529709" y="52616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不便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866192" y="52616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方便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313164" y="52616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方便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33400" y="1524000"/>
              <a:ext cx="11125200" cy="40328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2308860" y="1524000"/>
              <a:ext cx="9525" cy="4032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4422458" y="1524000"/>
              <a:ext cx="9525" cy="4032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758940" y="1524000"/>
              <a:ext cx="9525" cy="4032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205912" y="1524000"/>
              <a:ext cx="9525" cy="4032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70" name="Rectangle 70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40511" y="6011704"/>
              <a:ext cx="70874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页式、段页式虽然没有外部碎片，但进程最后一页通常用不满，页内仍有少量浪费。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7542" cy="909257"/>
            <a:chOff x="520446" y="342900"/>
            <a:chExt cx="24275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段页式存储管理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111692"/>
            <a:chOff x="533400" y="1524000"/>
            <a:chExt cx="3505200" cy="21116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293328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空闲区表 (128, 64)、(256, 32)、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(1024, 256)，申请 24。FF、BF、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WF 各从哪个区域分配？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943701"/>
              <a:ext cx="284581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FF 分到 128；BF 分到 256，剩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(280, 8)；WF 分到 1024。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815715"/>
            <a:ext cx="3505200" cy="2383155"/>
            <a:chOff x="533400" y="3815715"/>
            <a:chExt cx="3505200" cy="2383155"/>
          </a:xfrm>
        </p:grpSpPr>
        <p:sp>
          <p:nvSpPr>
            <p:cNvPr id="13" name="Rectangle 13"/>
            <p:cNvSpPr/>
            <p:nvPr/>
          </p:nvSpPr>
          <p:spPr>
            <a:xfrm>
              <a:off x="533400" y="3815715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4374356"/>
              <a:ext cx="288954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快表 20ns、内存 100ns、命中率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90%，一级页表的有效访问时间是多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5235416"/>
              <a:ext cx="234086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 × 120 + 0.1 × 220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130ns。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111692"/>
            <a:chOff x="4343400" y="1524000"/>
            <a:chExt cx="3505200" cy="2111692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4281" y="2082641"/>
              <a:ext cx="279261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页长 1K，页表 0→15、1→22、2→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16、3→32。逻辑地址 1500 的物理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地址是多少？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4281" y="2943701"/>
              <a:ext cx="297205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= 1，d = 476，f = 22，物理地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址 22 × 1024 + 476 = 23004。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815715"/>
            <a:ext cx="3505200" cy="2383155"/>
            <a:chOff x="4343400" y="3815715"/>
            <a:chExt cx="3505200" cy="2383155"/>
          </a:xfrm>
        </p:grpSpPr>
        <p:sp>
          <p:nvSpPr>
            <p:cNvPr id="25" name="Rectangle 25"/>
            <p:cNvSpPr/>
            <p:nvPr/>
          </p:nvSpPr>
          <p:spPr>
            <a:xfrm>
              <a:off x="4343400" y="3815715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4281" y="4374356"/>
              <a:ext cx="2685764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coremap 中有 (1024, 100)、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(1180, 100)，执行 mfree(56,</a:t>
              </a:r>
            </a:p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1124) 后是什么？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4281" y="5235416"/>
              <a:ext cx="280974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前一区末尾 1124、后一区首址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1180 都相接，前后合并为 (1024,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256)，表项少一项。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111692"/>
            <a:chOff x="8153400" y="1524000"/>
            <a:chExt cx="3505200" cy="2111692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4281" y="2082641"/>
              <a:ext cx="292516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位地址、页长 4K、pi 和 pj 各 10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位，地址 0x00C01234 的 pi、pj、d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各是多少？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4281" y="2943701"/>
              <a:ext cx="261137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 = 3，pj = 1，d = 0x234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564。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815715"/>
            <a:ext cx="3505200" cy="2383155"/>
            <a:chOff x="8153400" y="3815715"/>
            <a:chExt cx="3505200" cy="2383155"/>
          </a:xfrm>
        </p:grpSpPr>
        <p:sp>
          <p:nvSpPr>
            <p:cNvPr id="37" name="Rectangle 37"/>
            <p:cNvSpPr/>
            <p:nvPr/>
          </p:nvSpPr>
          <p:spPr>
            <a:xfrm>
              <a:off x="8153400" y="3815715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4281" y="4374356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反置页表的大小由什么决定？为什么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还要加杂凑表？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4281" y="4963954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由内存页架数决定，与进程数无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关。顺序查找平均要查半张表，先散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列定位再比较，并配合快表。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7542" cy="909257"/>
            <a:chOff x="520446" y="342900"/>
            <a:chExt cx="24275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第6章 存储管理 · 段页式存储管理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bullets-1"/>
          <p:cNvGrpSpPr/>
          <p:nvPr/>
        </p:nvGrpSpPr>
        <p:grpSpPr>
          <a:xfrm>
            <a:off x="533400" y="1535430"/>
            <a:ext cx="5840730" cy="2602230"/>
            <a:chOff x="533400" y="1535430"/>
            <a:chExt cx="5840730" cy="2602230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5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4390" y="1548765"/>
              <a:ext cx="5467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存储管理五项功能：分配去配、共享、保护、扩充、地址映射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8023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19225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1893570"/>
              <a:ext cx="553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等长分区用位示图、空闲页面表或链；异长分区用四种适应算法挑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选，没有总是最优的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51079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5530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524125"/>
              <a:ext cx="5467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释放时与前后空闲区合并；碎片多时紧凑，要求程序可重定位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85559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28978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2868930"/>
              <a:ext cx="5377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页式物理地址 = 页架号拼接页内地址；快表使平均访问时间接近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一次访存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48615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35284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349948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多级页表省掉空洞的表项；反置页表大小只取决于内存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3830955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5249" y="38732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390" y="3844290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段式便于共享与保护；段页式把段再分页，消除外部碎片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898005" y="1524000"/>
            <a:ext cx="4760595" cy="2844165"/>
            <a:chOff x="6898005" y="1524000"/>
            <a:chExt cx="4760595" cy="2844165"/>
          </a:xfrm>
        </p:grpSpPr>
        <p:sp>
          <p:nvSpPr>
            <p:cNvPr id="26" name="Rectangle 26"/>
            <p:cNvSpPr/>
            <p:nvPr/>
          </p:nvSpPr>
          <p:spPr>
            <a:xfrm>
              <a:off x="6898005" y="1524000"/>
              <a:ext cx="4760595" cy="2844165"/>
            </a:xfrm>
            <a:prstGeom prst="roundRect">
              <a:avLst>
                <a:gd name="adj" fmla="val 46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907530" y="1657350"/>
              <a:ext cx="47625" cy="25774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45655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201408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151370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09485" y="2110740"/>
              <a:ext cx="35013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malloc、mfree 源码的声明笔误：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struct map, *mp、struct map *map、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struct map bp（第 14、15 页）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151370" y="30803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309485" y="3017520"/>
              <a:ext cx="3872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二级页表图下“访存时间变为 5 倍”属于四级页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表，二级为 3 倍（第 33 页）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151370" y="37014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309485" y="3638550"/>
              <a:ext cx="3853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节号：4.3.1.1、6.1.3.4 和第二个 6.3.3.2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应为 6.3.1.1、6.3.1.4、6.3.3.3</a:t>
              </a:r>
            </a:p>
          </p:txBody>
        </p:sp>
      </p:grpSp>
      <p:grpSp>
        <p:nvGrpSpPr>
          <p:cNvPr id="42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7" name="Rectangle 3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130" y="5991225"/>
              <a:ext cx="103763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复习时重点手算：四种分配算法、mfree 合并、三种地址变换和 EAT。每一步写出查了哪张表、做了哪个越界检查。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第6章 存储管理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s_ch6">
  <a:themeElements>
    <a:clrScheme name="os_ch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s_ch6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s_ch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2026-09-17T06:33:22Z</dcterms:created>
  <dcterms:modified xsi:type="dcterms:W3CDTF">2026-09-17T06:33:22Z</dcterms:modified>
  <cp:category/>
  <cp:contentStatus/>
</cp:coreProperties>
</file>