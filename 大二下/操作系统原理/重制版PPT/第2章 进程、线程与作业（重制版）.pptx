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1c008a255af668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a82a9420b00fd60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13d5f517a6ceed0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61332" cy="3437763"/>
            <a:chOff x="666750" y="1619250"/>
            <a:chExt cx="456133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第二章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进程、线程与作业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从多道程序设计到进程、线程与作业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多道程序设计与进程概念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42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进程状态、PCB 与队列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1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UNIX 进程与系统调用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线程实现与作业管理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自学复习版｜据吉林大学《操作系统原理》第二章课件整理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1641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4262" y="407194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多道程序设计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单道的缺点、多道的目标与带来的管理问题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进程的概念与状态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5873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定义、并发与并行、三状态与五状态模型、PCB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进程的组成与组织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上下文、进程队列、类型与特征、相互作用、创建与撤销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0154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进程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406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进程映像与状态、fork/execl/wait/exit 与例题、vfork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线程与轻进程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814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引入动机、线程结构与 TCB、三种实现方式、应用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作业与实例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681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批处理与交互式作业；Java、Linux、Windows 的进程与线程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说出进程的定义和特征，区分进程与程序、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并发与并行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画出进程状态转换图，说出每条转换的原因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067050"/>
              <a:ext cx="3524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PCB 的主要内容，解释上下文切换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4651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40233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fork、execl、wait、exit 写出给定执行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次序的程序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086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0233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比较用户级线程、核心级线程与混合线程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93156" cy="2997517"/>
            <a:chOff x="667512" y="1835468"/>
            <a:chExt cx="559315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多道程序设计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83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让多道程序同时驻留内存、交替使用 CPU，提高系统效率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2.1.1 单道程序设计的缺点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2.1.2 多道程序设计的提出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2.1.3 多道程序设计的问题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15327" cy="909257"/>
            <a:chOff x="520446" y="342900"/>
            <a:chExt cx="88153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多道程序设计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153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单道与多道：程序做 I/O 时，CPU 能不能去运行别的程序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single"/>
          <p:cNvGrpSpPr/>
          <p:nvPr/>
        </p:nvGrpSpPr>
        <p:grpSpPr>
          <a:xfrm>
            <a:off x="533400" y="1524000"/>
            <a:ext cx="5448300" cy="2857500"/>
            <a:chOff x="533400" y="1524000"/>
            <a:chExt cx="5448300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48300" cy="2857500"/>
            </a:xfrm>
            <a:prstGeom prst="roundRect">
              <a:avLst>
                <a:gd name="adj" fmla="val 4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042" y="1692592"/>
              <a:ext cx="2002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单道：内存中只有程序 A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524000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2540318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4511040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5638800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7804" y="23279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7804" y="28422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804" y="33566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2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447800" y="3790950"/>
              <a:ext cx="4304348" cy="9525"/>
            </a:xfrm>
            <a:custGeom>
              <a:avLst/>
              <a:gdLst/>
              <a:ahLst/>
              <a:cxnLst/>
              <a:rect l="l" t="t" r="r" b="b"/>
              <a:pathLst>
                <a:path w="4304348" h="9525">
                  <a:moveTo>
                    <a:pt x="0" y="0"/>
                  </a:moveTo>
                  <a:lnTo>
                    <a:pt x="430434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5743575" y="37480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5359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51677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2399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50159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24000" y="2257425"/>
              <a:ext cx="1016318" cy="285750"/>
            </a:xfrm>
            <a:prstGeom prst="roundRect">
              <a:avLst>
                <a:gd name="adj" fmla="val 2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80920" y="23312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11040" y="2257425"/>
              <a:ext cx="1127760" cy="285750"/>
            </a:xfrm>
            <a:prstGeom prst="roundRect">
              <a:avLst>
                <a:gd name="adj" fmla="val 2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23205" y="23312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40318" y="2771775"/>
              <a:ext cx="1970722" cy="285750"/>
            </a:xfrm>
            <a:prstGeom prst="roundRect">
              <a:avLst>
                <a:gd name="adj" fmla="val 20000"/>
              </a:avLst>
            </a:pr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15051" y="2845594"/>
              <a:ext cx="622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A 的 I/O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540318" y="2257425"/>
              <a:ext cx="1970722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  <a:custDash>
                <a:ds d="357143" sp="285714"/>
              </a:custDash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69666" y="23312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524000" y="3286125"/>
              <a:ext cx="411480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  <a:custDash>
                <a:ds d="357143" sp="285714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24911" y="33599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</p:grpSp>
      <p:grpSp>
        <p:nvGrpSpPr>
          <p:cNvPr id="62" name="multi"/>
          <p:cNvGrpSpPr/>
          <p:nvPr/>
        </p:nvGrpSpPr>
        <p:grpSpPr>
          <a:xfrm>
            <a:off x="6210300" y="1524000"/>
            <a:ext cx="5448300" cy="2857500"/>
            <a:chOff x="6210300" y="1524000"/>
            <a:chExt cx="5448300" cy="2857500"/>
          </a:xfrm>
        </p:grpSpPr>
        <p:sp>
          <p:nvSpPr>
            <p:cNvPr id="33" name="Rectangle 33"/>
            <p:cNvSpPr/>
            <p:nvPr/>
          </p:nvSpPr>
          <p:spPr>
            <a:xfrm>
              <a:off x="6210300" y="1524000"/>
              <a:ext cx="5448300" cy="2857500"/>
            </a:xfrm>
            <a:prstGeom prst="roundRect">
              <a:avLst>
                <a:gd name="adj" fmla="val 4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93942" y="1692592"/>
              <a:ext cx="2597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多道：内存中同时有程序 A 和 B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200900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36" name="Line 36"/>
            <p:cNvSpPr/>
            <p:nvPr/>
          </p:nvSpPr>
          <p:spPr>
            <a:xfrm>
              <a:off x="8217218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37" name="Line 37"/>
            <p:cNvSpPr/>
            <p:nvPr/>
          </p:nvSpPr>
          <p:spPr>
            <a:xfrm>
              <a:off x="8781098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38" name="Line 38"/>
            <p:cNvSpPr/>
            <p:nvPr/>
          </p:nvSpPr>
          <p:spPr>
            <a:xfrm>
              <a:off x="9566910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39" name="Line 39"/>
            <p:cNvSpPr/>
            <p:nvPr/>
          </p:nvSpPr>
          <p:spPr>
            <a:xfrm>
              <a:off x="10187940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40" name="Line 40"/>
            <p:cNvSpPr/>
            <p:nvPr/>
          </p:nvSpPr>
          <p:spPr>
            <a:xfrm>
              <a:off x="11315700" y="2171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>
              <a:solidFill>
                <a:srgbClr val="D9DFEA"/>
              </a:solidFill>
              <a:prstDash val="dash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94704" y="23279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4704" y="28422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4704" y="33566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2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124700" y="3790950"/>
              <a:ext cx="4304348" cy="9525"/>
            </a:xfrm>
            <a:custGeom>
              <a:avLst/>
              <a:gdLst/>
              <a:ahLst/>
              <a:cxnLst/>
              <a:rect l="l" t="t" r="r" b="b"/>
              <a:pathLst>
                <a:path w="4304348" h="9525">
                  <a:moveTo>
                    <a:pt x="0" y="0"/>
                  </a:moveTo>
                  <a:lnTo>
                    <a:pt x="430434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11420475" y="37480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12259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28577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92457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78269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99299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27059" y="39171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t6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200900" y="2257425"/>
              <a:ext cx="1016318" cy="285750"/>
            </a:xfrm>
            <a:prstGeom prst="roundRect">
              <a:avLst>
                <a:gd name="adj" fmla="val 2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57820" y="23312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187940" y="2257425"/>
              <a:ext cx="1127760" cy="285750"/>
            </a:xfrm>
            <a:prstGeom prst="roundRect">
              <a:avLst>
                <a:gd name="adj" fmla="val 2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700105" y="23312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17218" y="2771775"/>
              <a:ext cx="1970722" cy="285750"/>
            </a:xfrm>
            <a:prstGeom prst="roundRect">
              <a:avLst>
                <a:gd name="adj" fmla="val 20000"/>
              </a:avLst>
            </a:pr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91951" y="2845594"/>
              <a:ext cx="622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A 的 I/O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781098" y="2257425"/>
              <a:ext cx="785812" cy="285750"/>
            </a:xfrm>
            <a:prstGeom prst="roundRect">
              <a:avLst>
                <a:gd name="adj" fmla="val 2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21812" y="23312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66910" y="3286125"/>
              <a:ext cx="1748790" cy="28575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3335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130201" y="3359944"/>
              <a:ext cx="622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的 I/O</a:t>
              </a:r>
            </a:p>
          </p:txBody>
        </p:sp>
      </p:grpSp>
      <p:grpSp>
        <p:nvGrpSpPr>
          <p:cNvPr id="68" name="single-note"/>
          <p:cNvGrpSpPr/>
          <p:nvPr/>
        </p:nvGrpSpPr>
        <p:grpSpPr>
          <a:xfrm>
            <a:off x="533400" y="4533900"/>
            <a:ext cx="5448300" cy="1828800"/>
            <a:chOff x="533400" y="4533900"/>
            <a:chExt cx="5448300" cy="1828800"/>
          </a:xfrm>
        </p:grpSpPr>
        <p:sp>
          <p:nvSpPr>
            <p:cNvPr id="63" name="Rectangle 63"/>
            <p:cNvSpPr/>
            <p:nvPr/>
          </p:nvSpPr>
          <p:spPr>
            <a:xfrm>
              <a:off x="533400" y="4533900"/>
              <a:ext cx="5448300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42925" y="466725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4667250"/>
              <a:ext cx="136683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5368" y="47105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单道的三个缺点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5523" y="5024914"/>
              <a:ext cx="4036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处理机利用率低：A 做 I/O 的 t2–t5 期间，CPU 空闲</a:t>
              </a:r>
            </a:p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设备利用率低：设备 2 始终空闲</a:t>
              </a:r>
            </a:p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内存利用率低：内存中只装着 A 一道程序</a:t>
              </a:r>
            </a:p>
          </p:txBody>
        </p:sp>
      </p:grpSp>
      <p:grpSp>
        <p:nvGrpSpPr>
          <p:cNvPr id="74" name="multi-note"/>
          <p:cNvGrpSpPr/>
          <p:nvPr/>
        </p:nvGrpSpPr>
        <p:grpSpPr>
          <a:xfrm>
            <a:off x="6210300" y="4533900"/>
            <a:ext cx="5448300" cy="1828800"/>
            <a:chOff x="6210300" y="4533900"/>
            <a:chExt cx="5448300" cy="1828800"/>
          </a:xfrm>
        </p:grpSpPr>
        <p:sp>
          <p:nvSpPr>
            <p:cNvPr id="69" name="Rectangle 69"/>
            <p:cNvSpPr/>
            <p:nvPr/>
          </p:nvSpPr>
          <p:spPr>
            <a:xfrm>
              <a:off x="6210300" y="4533900"/>
              <a:ext cx="5448300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19825" y="466725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38900" y="4667250"/>
              <a:ext cx="12039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17462" y="47105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多道程序设计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32423" y="5024914"/>
              <a:ext cx="47922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做 I/O 期间，CPU 在 t3–t4 转去运行 B，随后设备 1、设备 2 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时工作。到 t6 时 A、B 都已完成，同一段时间内完成的程序道数增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加，系统效率（吞吐量）随之提高。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多道程序设计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多道程序设计的目标是提高吞吐量，道数要与资源相当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260282"/>
            <a:chOff x="533400" y="1524000"/>
            <a:chExt cx="4977765" cy="22602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60282"/>
            </a:xfrm>
            <a:prstGeom prst="roundRect">
              <a:avLst>
                <a:gd name="adj" fmla="val 59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935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78" y="176926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2.1.2 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7372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提高系统效率（吞吐量）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提高处理机、设备、内存等各种资源的利用率，从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而提高系统效率。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吞吐量指单位时间内系统完成的作业道数：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3022282"/>
              <a:ext cx="4520565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85838" y="3188972"/>
              <a:ext cx="200023" cy="200023"/>
              <a:chOff x="985838" y="3188972"/>
              <a:chExt cx="200023" cy="2000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85838" y="31889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19188" y="32556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87780" y="3184208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吞吐量 = 作业道数 ÷ 全部处理时间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974782"/>
            <a:ext cx="4977765" cy="1289685"/>
            <a:chOff x="533400" y="3974782"/>
            <a:chExt cx="4977765" cy="1289685"/>
          </a:xfrm>
        </p:grpSpPr>
        <p:sp>
          <p:nvSpPr>
            <p:cNvPr id="20" name="Rectangle 20"/>
            <p:cNvSpPr/>
            <p:nvPr/>
          </p:nvSpPr>
          <p:spPr>
            <a:xfrm>
              <a:off x="533400" y="3974782"/>
              <a:ext cx="4977765" cy="1289685"/>
            </a:xfrm>
            <a:prstGeom prst="roundRect">
              <a:avLst>
                <a:gd name="adj" fmla="val 88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519613"/>
              <a:ext cx="200026" cy="200026"/>
              <a:chOff x="738188" y="4519613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5196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586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46196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376738"/>
              <a:ext cx="4063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上一页的时间图中，同样到 t6，单道只完成 A，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多道完成了 A 和 B。</a:t>
              </a:r>
            </a:p>
          </p:txBody>
        </p:sp>
      </p:grpSp>
      <p:grpSp>
        <p:nvGrpSpPr>
          <p:cNvPr id="28" name="c2-text-1"/>
          <p:cNvGrpSpPr/>
          <p:nvPr/>
        </p:nvGrpSpPr>
        <p:grpSpPr>
          <a:xfrm>
            <a:off x="5808345" y="1548765"/>
            <a:ext cx="5539740" cy="588645"/>
            <a:chOff x="5808345" y="1548765"/>
            <a:chExt cx="5539740" cy="588645"/>
          </a:xfrm>
        </p:grpSpPr>
        <p:sp>
          <p:nvSpPr>
            <p:cNvPr id="27" name="TextBox 27"/>
            <p:cNvSpPr txBox="1"/>
            <p:nvPr/>
          </p:nvSpPr>
          <p:spPr>
            <a:xfrm>
              <a:off x="5808345" y="1548765"/>
              <a:ext cx="55397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增加同时运行的道数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可以提高资源利用率，但道数应与系统资源数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量相当：</a:t>
              </a:r>
            </a:p>
          </p:txBody>
        </p:sp>
      </p:grpSp>
      <p:grpSp>
        <p:nvGrpSpPr>
          <p:cNvPr id="43" name="c2-table-2"/>
          <p:cNvGrpSpPr/>
          <p:nvPr/>
        </p:nvGrpSpPr>
        <p:grpSpPr>
          <a:xfrm>
            <a:off x="5815965" y="2268855"/>
            <a:ext cx="5842635" cy="2022158"/>
            <a:chOff x="5815965" y="2268855"/>
            <a:chExt cx="5842635" cy="2022158"/>
          </a:xfrm>
        </p:grpSpPr>
        <p:sp>
          <p:nvSpPr>
            <p:cNvPr id="29" name="Rectangle 29"/>
            <p:cNvSpPr/>
            <p:nvPr/>
          </p:nvSpPr>
          <p:spPr>
            <a:xfrm>
              <a:off x="5815965" y="2268855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90" y="24045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同时运行的道数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34792" y="2404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23788" y="2853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76388" y="2853214"/>
              <a:ext cx="3125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系统资源利用率低，CPU 和设备经常空闲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31613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316611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3788" y="34151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76388" y="3301841"/>
              <a:ext cx="3621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系统开销（system overhead）增大，程序响应速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度下降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38376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23788" y="3977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与资源数量相当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76388" y="39771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资源利用率和响应速度都能兼顾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268855"/>
              <a:ext cx="584263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63802" y="226885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3"/>
          <p:cNvGrpSpPr/>
          <p:nvPr/>
        </p:nvGrpSpPr>
        <p:grpSpPr>
          <a:xfrm>
            <a:off x="5815965" y="4481512"/>
            <a:ext cx="5842635" cy="782955"/>
            <a:chOff x="5815965" y="4481512"/>
            <a:chExt cx="5842635" cy="782955"/>
          </a:xfrm>
        </p:grpSpPr>
        <p:sp>
          <p:nvSpPr>
            <p:cNvPr id="44" name="Rectangle 44"/>
            <p:cNvSpPr/>
            <p:nvPr/>
          </p:nvSpPr>
          <p:spPr>
            <a:xfrm>
              <a:off x="5815965" y="448151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020753" y="4772978"/>
              <a:ext cx="200026" cy="200025"/>
              <a:chOff x="6020753" y="477297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020753" y="47729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060491" y="48174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095207" y="49285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322695" y="4630102"/>
              <a:ext cx="4825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道数过多为什么反而变慢：内存装不下时要频繁在内存和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外存之间交换程序，调度和切换本身也要占用 CPU 时间。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多道程序设计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多道程序设计要解决的三类资源管理问题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11125200" cy="2106930"/>
            <a:chOff x="533400" y="1524000"/>
            <a:chExt cx="11125200" cy="21069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414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30039" y="1655921"/>
              <a:ext cx="17736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2.1.3 要解决的问题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11703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后续章节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11978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2084" y="2119789"/>
              <a:ext cx="58501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程序个数 &gt; 处理机个数：什么时候、按什么规则把 CPU 分给哪道程序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5271" y="2119789"/>
              <a:ext cx="22032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章 中断与处理机调度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460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50782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709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2084" y="2582704"/>
              <a:ext cx="549681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各程序的地址空间既要相对独立，又要能够共享；内存、外存（swap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space）的分配与去配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45271" y="2582704"/>
              <a:ext cx="27195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6、7 章 存储管理、虚拟存储管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62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29898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2084" y="3298984"/>
              <a:ext cx="17363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分配策略；I/O 控制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45271" y="3298984"/>
              <a:ext cx="20741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章 设备与 I/O 管理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11125200" cy="21069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85975" y="1524000"/>
              <a:ext cx="9525" cy="21069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539162" y="1524000"/>
              <a:ext cx="9525" cy="21069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8" name="c1-text-2"/>
          <p:cNvGrpSpPr/>
          <p:nvPr/>
        </p:nvGrpSpPr>
        <p:grpSpPr>
          <a:xfrm>
            <a:off x="527304" y="3830955"/>
            <a:ext cx="5504688" cy="234696"/>
            <a:chOff x="527304" y="3830955"/>
            <a:chExt cx="5504688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527304" y="3830955"/>
              <a:ext cx="5504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除了分配资源，多道程序并发执行本身还带来两类问题，它们各占后面一章：</a:t>
              </a:r>
            </a:p>
          </p:txBody>
        </p:sp>
      </p:grpSp>
      <p:grpSp>
        <p:nvGrpSpPr>
          <p:cNvPr id="44" name="c1-table-3"/>
          <p:cNvGrpSpPr/>
          <p:nvPr/>
        </p:nvGrpSpPr>
        <p:grpSpPr>
          <a:xfrm>
            <a:off x="533400" y="4198620"/>
            <a:ext cx="11125200" cy="1273493"/>
            <a:chOff x="533400" y="4198620"/>
            <a:chExt cx="11125200" cy="1273493"/>
          </a:xfrm>
        </p:grpSpPr>
        <p:sp>
          <p:nvSpPr>
            <p:cNvPr id="29" name="Rectangle 29"/>
            <p:cNvSpPr/>
            <p:nvPr/>
          </p:nvSpPr>
          <p:spPr>
            <a:xfrm>
              <a:off x="533400" y="4198620"/>
              <a:ext cx="11125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1535" y="432625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并发带来的问题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99114" y="43262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具体表现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72078" y="43262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后续章节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889" y="47510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互斥与同步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16112" y="475107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多个进程同时要用打印机、缓冲区，必须约定访问次序，还要互相通知进度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46414" y="475107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章 互斥、同步与通讯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0425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504729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889" y="5175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死锁与饿死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16112" y="5175885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各自占着一部分资源又等对方手里的，谁也推进不了；或某个进程长期抢不到资源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46414" y="5175885"/>
              <a:ext cx="1377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章 死锁与饥饿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198620"/>
              <a:ext cx="11125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308860" y="419862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39162" y="419862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llout-4"/>
          <p:cNvGrpSpPr/>
          <p:nvPr/>
        </p:nvGrpSpPr>
        <p:grpSpPr>
          <a:xfrm>
            <a:off x="533400" y="5652135"/>
            <a:ext cx="11125200" cy="503872"/>
            <a:chOff x="533400" y="5652135"/>
            <a:chExt cx="11125200" cy="503872"/>
          </a:xfrm>
        </p:grpSpPr>
        <p:sp>
          <p:nvSpPr>
            <p:cNvPr id="45" name="Rectangle 45"/>
            <p:cNvSpPr/>
            <p:nvPr/>
          </p:nvSpPr>
          <p:spPr>
            <a:xfrm>
              <a:off x="533400" y="5652135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03585"/>
              <a:ext cx="200023" cy="200023"/>
              <a:chOff x="738188" y="5803585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035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58702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5804059"/>
              <a:ext cx="95916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管理这些资源之前，系统先要能描述“一道正在执行、会走走停停的程序”。下一部分引入的进程就是这样的描述。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进程的概念与状态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进程描述正在执行的程序，它在就绪、运行、等待之间转换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2.2.1 进程的概念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2.2.2 进程状态及状态转换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56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2.2.3 进程控制块 PCB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进程的概念与状态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多道系统中的程序走走停停，暂停时要保存现场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797857" cy="2398776"/>
            <a:chOff x="533400" y="1533525"/>
            <a:chExt cx="4797857" cy="23987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1798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程序占有 CPU，向前执行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暂停：保存现场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2718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PSW、PC 和各寄存器的值保存起来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再推进：恢复现场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438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先恢复各寄存器，最后恢复 PSW 和 PC，程序从断点接着执行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170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如此反复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97605"/>
              <a:ext cx="3097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推进，暂停，推进，暂停，……直到程序结束</a:t>
              </a:r>
            </a:p>
          </p:txBody>
        </p:sp>
      </p:grpSp>
      <p:grpSp>
        <p:nvGrpSpPr>
          <p:cNvPr id="43" name="c1-table-2"/>
          <p:cNvGrpSpPr/>
          <p:nvPr/>
        </p:nvGrpSpPr>
        <p:grpSpPr>
          <a:xfrm>
            <a:off x="533400" y="4103370"/>
            <a:ext cx="5626418" cy="2122170"/>
            <a:chOff x="533400" y="4103370"/>
            <a:chExt cx="5626418" cy="2122170"/>
          </a:xfrm>
        </p:grpSpPr>
        <p:sp>
          <p:nvSpPr>
            <p:cNvPr id="25" name="Rectangle 25"/>
            <p:cNvSpPr/>
            <p:nvPr/>
          </p:nvSpPr>
          <p:spPr>
            <a:xfrm>
              <a:off x="533400" y="4103370"/>
              <a:ext cx="562641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587" y="423195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现场包含什么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9500" y="423195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为什么必须保存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889" y="4655820"/>
              <a:ext cx="1340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PC（程序计数器）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3719" y="465582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下一条指令的地址，丢了就不知道从哪里接着执行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472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95204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889" y="5080635"/>
              <a:ext cx="14745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PSW（程序状态字）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23719" y="5080635"/>
              <a:ext cx="268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条件码、中断屏蔽位、目态/管态标志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3721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5505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通用寄存器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23719" y="55054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正在使用的运算中间结果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795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80072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889" y="5929312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栈指针 SP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23719" y="5929312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本进程栈顶的位置，决定局部变量和返回点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103370"/>
              <a:ext cx="562641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216468" y="410337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table-1"/>
          <p:cNvGrpSpPr/>
          <p:nvPr/>
        </p:nvGrpSpPr>
        <p:grpSpPr>
          <a:xfrm>
            <a:off x="6464618" y="1524000"/>
            <a:ext cx="5193982" cy="1273493"/>
            <a:chOff x="6464618" y="1524000"/>
            <a:chExt cx="5193982" cy="1273493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1840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暂停原因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7741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7106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自身原因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33042" y="2076450"/>
              <a:ext cx="2701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等待资源；启动 I/O 后等待 I/O 完成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7106" y="2501265"/>
              <a:ext cx="846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被剥夺 CPU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33042" y="2501265"/>
              <a:ext cx="2819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CPU 让出来，给其他程序运行的机会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25790" y="152400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464618" y="2977515"/>
            <a:ext cx="5193982" cy="1250632"/>
            <a:chOff x="6464618" y="2977515"/>
            <a:chExt cx="5193982" cy="1250632"/>
          </a:xfrm>
        </p:grpSpPr>
        <p:sp>
          <p:nvSpPr>
            <p:cNvPr id="56" name="Rectangle 56"/>
            <p:cNvSpPr/>
            <p:nvPr/>
          </p:nvSpPr>
          <p:spPr>
            <a:xfrm>
              <a:off x="6464618" y="2977515"/>
              <a:ext cx="519398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311086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00838" y="3175635"/>
              <a:ext cx="185737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3386" y="3209925"/>
              <a:ext cx="1792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PSW 和 PC 最后恢复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93598" y="3536156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一旦装入，CPU 就从断点处取指令执行。所以要先把寄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存器恢复好，再装入 PSW 和 PC。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464618" y="4409122"/>
            <a:ext cx="5193982" cy="1816418"/>
            <a:chOff x="6464618" y="4409122"/>
            <a:chExt cx="5193982" cy="1816418"/>
          </a:xfrm>
        </p:grpSpPr>
        <p:sp>
          <p:nvSpPr>
            <p:cNvPr id="62" name="Rectangle 62"/>
            <p:cNvSpPr/>
            <p:nvPr/>
          </p:nvSpPr>
          <p:spPr>
            <a:xfrm>
              <a:off x="6464618" y="4409122"/>
              <a:ext cx="5193982" cy="1816418"/>
            </a:xfrm>
            <a:prstGeom prst="roundRect">
              <a:avLst>
                <a:gd name="adj" fmla="val 629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69405" y="5216845"/>
              <a:ext cx="200023" cy="200023"/>
              <a:chOff x="6669405" y="5216845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669405" y="52168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802755" y="5283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1729" y="5086826"/>
              <a:ext cx="418033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静态的“程序”描述不了这种走走停停的执行过程，于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是引入进程。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进程的概念与状态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进程是程序关于某个数据集合的一次运行活动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586865"/>
            <a:chOff x="533400" y="1524000"/>
            <a:chExt cx="5410200" cy="15868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8686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01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90297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082" y="1756410"/>
              <a:ext cx="746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2.2.1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9651" y="1756886"/>
              <a:ext cx="15581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进程（Process）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9620" y="20888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796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514" y="210073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可参与并发执行的程序称为进程。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9620" y="240601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965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514" y="241887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进程是具有一定独立功能的程序关于一个数据集合的一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次运行活动。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290888"/>
            <a:ext cx="5410200" cy="1297305"/>
            <a:chOff x="533400" y="3290888"/>
            <a:chExt cx="5410200" cy="1297305"/>
          </a:xfrm>
        </p:grpSpPr>
        <p:sp>
          <p:nvSpPr>
            <p:cNvPr id="19" name="Rectangle 19"/>
            <p:cNvSpPr/>
            <p:nvPr/>
          </p:nvSpPr>
          <p:spPr>
            <a:xfrm>
              <a:off x="533400" y="3290888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" y="348900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8957" y="352329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定义强调两个方面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9140" y="391001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5731" y="384952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动态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：进程是执行中的程序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9140" y="42271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5731" y="416766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并发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：进程可以与其他进程同时执行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768215"/>
            <a:ext cx="5410200" cy="1268730"/>
            <a:chOff x="533400" y="4768215"/>
            <a:chExt cx="5410200" cy="1268730"/>
          </a:xfrm>
        </p:grpSpPr>
        <p:sp>
          <p:nvSpPr>
            <p:cNvPr id="27" name="Rectangle 27"/>
            <p:cNvSpPr/>
            <p:nvPr/>
          </p:nvSpPr>
          <p:spPr>
            <a:xfrm>
              <a:off x="533400" y="4768215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901565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9620" y="496633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060" y="50006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9581" y="500205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同一个程序，两个进程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381" y="5344954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张三和李四同时用 cc 编译各自的源文件：执行的是同一份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代码，数据集合不同，所以是两个进程，各有自己的 PCB。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248400" y="1524000"/>
            <a:ext cx="5410200" cy="2124075"/>
            <a:chOff x="6248400" y="1524000"/>
            <a:chExt cx="5410200" cy="212407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95300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33901" y="1652588"/>
              <a:ext cx="1319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并发 concurrent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00588" y="1652588"/>
              <a:ext cx="1005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 parallel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0889" y="21831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41514" y="207645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宏观上同时，微观上交替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51302" y="218313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微观上同时执行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581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258603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0889" y="27146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41514" y="2714625"/>
              <a:ext cx="1152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不要求多个 CPU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51302" y="2714625"/>
              <a:ext cx="991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要求多个 CPU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006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0889" y="32461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41514" y="3139440"/>
              <a:ext cx="17266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 CPU 上多道程序轮流运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51302" y="313944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多核上两个程序各占一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核；并行算法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3426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44050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6248400" y="3829050"/>
            <a:ext cx="5410200" cy="756285"/>
            <a:chOff x="6248400" y="3829050"/>
            <a:chExt cx="5410200" cy="756285"/>
          </a:xfrm>
        </p:grpSpPr>
        <p:sp>
          <p:nvSpPr>
            <p:cNvPr id="54" name="Rectangle 54"/>
            <p:cNvSpPr/>
            <p:nvPr/>
          </p:nvSpPr>
          <p:spPr>
            <a:xfrm>
              <a:off x="6248400" y="382905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4107180"/>
              <a:ext cx="200026" cy="200025"/>
              <a:chOff x="6453188" y="410718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41071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92926" y="41516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27642" y="42627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511" y="397621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类比：一名厨师轮流照看两口锅是并发；两名厨师各看一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口锅是并行。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248400" y="4765358"/>
            <a:ext cx="5410200" cy="1272540"/>
            <a:chOff x="6248400" y="4765358"/>
            <a:chExt cx="5410200" cy="1272540"/>
          </a:xfrm>
        </p:grpSpPr>
        <p:sp>
          <p:nvSpPr>
            <p:cNvPr id="61" name="Rectangle 61"/>
            <p:cNvSpPr/>
            <p:nvPr/>
          </p:nvSpPr>
          <p:spPr>
            <a:xfrm>
              <a:off x="6248400" y="4765358"/>
              <a:ext cx="5410200" cy="1272540"/>
            </a:xfrm>
            <a:prstGeom prst="roundRect">
              <a:avLst>
                <a:gd name="adj" fmla="val 898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441129" y="5297923"/>
              <a:ext cx="224134" cy="192560"/>
              <a:chOff x="6441129" y="5297923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553200" y="53682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441129" y="52979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53200" y="5446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55511" y="5039201"/>
              <a:ext cx="438772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易错：单 CPU 上任一时刻只有一个进程处于运行态，其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余进程只能是就绪或等待；说“两个进程并行”之前，先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看系统有几个 CPU。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进程的概念与状态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进程的三种基本状态及其转换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1061085" y="1883092"/>
            <a:ext cx="3489007" cy="2600326"/>
            <a:chOff x="1061085" y="1883092"/>
            <a:chExt cx="3489007" cy="2600326"/>
          </a:xfrm>
        </p:grpSpPr>
        <p:sp>
          <p:nvSpPr>
            <p:cNvPr id="7" name="Freeform 7"/>
            <p:cNvSpPr/>
            <p:nvPr/>
          </p:nvSpPr>
          <p:spPr>
            <a:xfrm>
              <a:off x="1800225" y="1896745"/>
              <a:ext cx="1924050" cy="308293"/>
            </a:xfrm>
            <a:custGeom>
              <a:avLst/>
              <a:gdLst/>
              <a:ahLst/>
              <a:cxnLst/>
              <a:rect l="l" t="t" r="r" b="b"/>
              <a:pathLst>
                <a:path w="1924050" h="308293">
                  <a:moveTo>
                    <a:pt x="0" y="308293"/>
                  </a:moveTo>
                  <a:cubicBezTo>
                    <a:pt x="670560" y="13018"/>
                    <a:pt x="1311910" y="0"/>
                    <a:pt x="1924050" y="2692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705225" y="2123122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81915"/>
                  </a:moveTo>
                  <a:lnTo>
                    <a:pt x="0" y="8667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86902" y="2519362"/>
              <a:ext cx="1925002" cy="307975"/>
            </a:xfrm>
            <a:custGeom>
              <a:avLst/>
              <a:gdLst/>
              <a:ahLst/>
              <a:cxnLst/>
              <a:rect l="l" t="t" r="r" b="b"/>
              <a:pathLst>
                <a:path w="1925002" h="307975">
                  <a:moveTo>
                    <a:pt x="1925002" y="0"/>
                  </a:moveTo>
                  <a:cubicBezTo>
                    <a:pt x="1254443" y="295275"/>
                    <a:pt x="612775" y="307975"/>
                    <a:pt x="0" y="3810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00225" y="2513648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0" y="5715"/>
                  </a:moveTo>
                  <a:lnTo>
                    <a:pt x="105727" y="0"/>
                  </a:lnTo>
                  <a:lnTo>
                    <a:pt x="67627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05150" y="2669858"/>
              <a:ext cx="822960" cy="1050608"/>
            </a:xfrm>
            <a:custGeom>
              <a:avLst/>
              <a:gdLst/>
              <a:ahLst/>
              <a:cxnLst/>
              <a:rect l="l" t="t" r="r" b="b"/>
              <a:pathLst>
                <a:path w="822960" h="1050608">
                  <a:moveTo>
                    <a:pt x="822960" y="0"/>
                  </a:moveTo>
                  <a:lnTo>
                    <a:pt x="0" y="10506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46095" y="3690938"/>
              <a:ext cx="96202" cy="103822"/>
            </a:xfrm>
            <a:custGeom>
              <a:avLst/>
              <a:gdLst/>
              <a:ahLst/>
              <a:cxnLst/>
              <a:rect l="l" t="t" r="r" b="b"/>
              <a:pathLst>
                <a:path w="96202" h="103822">
                  <a:moveTo>
                    <a:pt x="0" y="103822"/>
                  </a:moveTo>
                  <a:lnTo>
                    <a:pt x="21908" y="0"/>
                  </a:lnTo>
                  <a:lnTo>
                    <a:pt x="96202" y="590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42122" y="2744152"/>
              <a:ext cx="822960" cy="1050607"/>
            </a:xfrm>
            <a:custGeom>
              <a:avLst/>
              <a:gdLst/>
              <a:ahLst/>
              <a:cxnLst/>
              <a:rect l="l" t="t" r="r" b="b"/>
              <a:pathLst>
                <a:path w="822960" h="1050607">
                  <a:moveTo>
                    <a:pt x="822960" y="105060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83068" y="2669858"/>
              <a:ext cx="96203" cy="103822"/>
            </a:xfrm>
            <a:custGeom>
              <a:avLst/>
              <a:gdLst/>
              <a:ahLst/>
              <a:cxnLst/>
              <a:rect l="l" t="t" r="r" b="b"/>
              <a:pathLst>
                <a:path w="96203" h="103822">
                  <a:moveTo>
                    <a:pt x="0" y="0"/>
                  </a:moveTo>
                  <a:lnTo>
                    <a:pt x="96203" y="45720"/>
                  </a:lnTo>
                  <a:lnTo>
                    <a:pt x="20955" y="1038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61085" y="1981200"/>
              <a:ext cx="762000" cy="7620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788092" y="1981200"/>
              <a:ext cx="762000" cy="7620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425065" y="3721418"/>
              <a:ext cx="762000" cy="7620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63294" y="22826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0302" y="22826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27274" y="40228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4590" y="1883092"/>
              <a:ext cx="7429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47354" y="192119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获得处理机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34590" y="2640330"/>
              <a:ext cx="7429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47354" y="267843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剥夺处理机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182302" y="3132772"/>
              <a:ext cx="60960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99066" y="31699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等待事件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819275" y="3132772"/>
              <a:ext cx="60960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36039" y="31699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事件发生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382578" y="1524000"/>
            <a:ext cx="6276022" cy="1697355"/>
            <a:chOff x="5382578" y="1524000"/>
            <a:chExt cx="6276022" cy="1697355"/>
          </a:xfrm>
        </p:grpSpPr>
        <p:sp>
          <p:nvSpPr>
            <p:cNvPr id="30" name="Rectangle 30"/>
            <p:cNvSpPr/>
            <p:nvPr/>
          </p:nvSpPr>
          <p:spPr>
            <a:xfrm>
              <a:off x="5382578" y="1524000"/>
              <a:ext cx="627602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173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2022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85066" y="2076450"/>
              <a:ext cx="846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运行态 RUN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18666" y="2076450"/>
              <a:ext cx="1798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 CPU，正在向前推进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2367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82578" y="237267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85066" y="2501265"/>
              <a:ext cx="1043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就绪态 READY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18666" y="2501265"/>
              <a:ext cx="2122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可以运行，但还没有得到 CPU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27927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85066" y="2926080"/>
              <a:ext cx="935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等待态 WAIT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8666" y="292608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等待某一事件发生（也叫阻塞态）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1524000"/>
              <a:ext cx="627602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1141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table-2"/>
          <p:cNvGrpSpPr/>
          <p:nvPr/>
        </p:nvGrpSpPr>
        <p:grpSpPr>
          <a:xfrm>
            <a:off x="5382578" y="3402330"/>
            <a:ext cx="6276022" cy="2122170"/>
            <a:chOff x="5382578" y="3402330"/>
            <a:chExt cx="6276022" cy="2122170"/>
          </a:xfrm>
        </p:grpSpPr>
        <p:sp>
          <p:nvSpPr>
            <p:cNvPr id="45" name="Rectangle 45"/>
            <p:cNvSpPr/>
            <p:nvPr/>
          </p:nvSpPr>
          <p:spPr>
            <a:xfrm>
              <a:off x="5382578" y="3402330"/>
              <a:ext cx="627602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81738" y="35299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20225" y="35299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85066" y="395478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 → 运行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18666" y="395478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获得处理机（被调度程序选中）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82578" y="42462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82578" y="425100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85066" y="437959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→ 就绪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18666" y="437959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被剥夺处理机，如时间片用完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82578" y="46701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85066" y="4803458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→ 等待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18666" y="4803458"/>
              <a:ext cx="1951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申请资源未得到；启动 I/O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50949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82578" y="509968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85066" y="522827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 → 就绪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18666" y="5228272"/>
              <a:ext cx="2113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得到资源；I/O 完成发出中断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3402330"/>
              <a:ext cx="627602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511415" y="34023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4" name="Rectangle 6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511" y="601170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易错：等待的进程在事件发生后先回到就绪，不能直接运行；就绪的进程没在运行，也不会直接变成等待。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进程的概念与状态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加上创建和撤销：五状态模型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graph-1"/>
          <p:cNvGrpSpPr/>
          <p:nvPr/>
        </p:nvGrpSpPr>
        <p:grpSpPr>
          <a:xfrm>
            <a:off x="793432" y="1876425"/>
            <a:ext cx="5439728" cy="2712720"/>
            <a:chOff x="793432" y="1876425"/>
            <a:chExt cx="5439728" cy="2712720"/>
          </a:xfrm>
        </p:grpSpPr>
        <p:sp>
          <p:nvSpPr>
            <p:cNvPr id="7" name="Freeform 7"/>
            <p:cNvSpPr/>
            <p:nvPr/>
          </p:nvSpPr>
          <p:spPr>
            <a:xfrm>
              <a:off x="1303972" y="2711768"/>
              <a:ext cx="848678" cy="1257300"/>
            </a:xfrm>
            <a:custGeom>
              <a:avLst/>
              <a:gdLst/>
              <a:ahLst/>
              <a:cxnLst/>
              <a:rect l="l" t="t" r="r" b="b"/>
              <a:pathLst>
                <a:path w="848678" h="1257300">
                  <a:moveTo>
                    <a:pt x="0" y="1257300"/>
                  </a:moveTo>
                  <a:lnTo>
                    <a:pt x="8486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13598" y="2632710"/>
              <a:ext cx="92392" cy="105728"/>
            </a:xfrm>
            <a:custGeom>
              <a:avLst/>
              <a:gdLst/>
              <a:ahLst/>
              <a:cxnLst/>
              <a:rect l="l" t="t" r="r" b="b"/>
              <a:pathLst>
                <a:path w="92392" h="105728">
                  <a:moveTo>
                    <a:pt x="92392" y="0"/>
                  </a:moveTo>
                  <a:lnTo>
                    <a:pt x="79057" y="105728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18435" y="1884362"/>
              <a:ext cx="1621155" cy="298767"/>
            </a:xfrm>
            <a:custGeom>
              <a:avLst/>
              <a:gdLst/>
              <a:ahLst/>
              <a:cxnLst/>
              <a:rect l="l" t="t" r="r" b="b"/>
              <a:pathLst>
                <a:path w="1621155" h="298767">
                  <a:moveTo>
                    <a:pt x="0" y="298767"/>
                  </a:moveTo>
                  <a:cubicBezTo>
                    <a:pt x="568960" y="14288"/>
                    <a:pt x="1109345" y="0"/>
                    <a:pt x="1621155" y="25590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18635" y="209740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03208" y="2498408"/>
              <a:ext cx="1622108" cy="298450"/>
            </a:xfrm>
            <a:custGeom>
              <a:avLst/>
              <a:gdLst/>
              <a:ahLst/>
              <a:cxnLst/>
              <a:rect l="l" t="t" r="r" b="b"/>
              <a:pathLst>
                <a:path w="1622108" h="298450">
                  <a:moveTo>
                    <a:pt x="1622108" y="0"/>
                  </a:moveTo>
                  <a:cubicBezTo>
                    <a:pt x="1053148" y="284480"/>
                    <a:pt x="512445" y="298450"/>
                    <a:pt x="0" y="419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18435" y="249840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0" y="0"/>
                  </a:moveTo>
                  <a:lnTo>
                    <a:pt x="106680" y="0"/>
                  </a:lnTo>
                  <a:lnTo>
                    <a:pt x="63818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06190" y="2641282"/>
              <a:ext cx="749617" cy="1223010"/>
            </a:xfrm>
            <a:custGeom>
              <a:avLst/>
              <a:gdLst/>
              <a:ahLst/>
              <a:cxnLst/>
              <a:rect l="l" t="t" r="r" b="b"/>
              <a:pathLst>
                <a:path w="749617" h="1223010">
                  <a:moveTo>
                    <a:pt x="749617" y="0"/>
                  </a:moveTo>
                  <a:lnTo>
                    <a:pt x="0" y="12230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55708" y="3839528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0" y="105727"/>
                  </a:moveTo>
                  <a:lnTo>
                    <a:pt x="9525" y="0"/>
                  </a:lnTo>
                  <a:lnTo>
                    <a:pt x="90488" y="495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37472" y="2722245"/>
              <a:ext cx="749618" cy="1223010"/>
            </a:xfrm>
            <a:custGeom>
              <a:avLst/>
              <a:gdLst/>
              <a:ahLst/>
              <a:cxnLst/>
              <a:rect l="l" t="t" r="r" b="b"/>
              <a:pathLst>
                <a:path w="749618" h="1223010">
                  <a:moveTo>
                    <a:pt x="749618" y="12230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86990" y="2641282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0" y="0"/>
                  </a:moveTo>
                  <a:lnTo>
                    <a:pt x="90488" y="56197"/>
                  </a:lnTo>
                  <a:lnTo>
                    <a:pt x="9525" y="1057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924425" y="2641282"/>
              <a:ext cx="760095" cy="1239202"/>
            </a:xfrm>
            <a:custGeom>
              <a:avLst/>
              <a:gdLst/>
              <a:ahLst/>
              <a:cxnLst/>
              <a:rect l="l" t="t" r="r" b="b"/>
              <a:pathLst>
                <a:path w="760095" h="1239202">
                  <a:moveTo>
                    <a:pt x="0" y="0"/>
                  </a:moveTo>
                  <a:lnTo>
                    <a:pt x="760095" y="12392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644515" y="3855720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90488" y="105727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93432" y="3922395"/>
              <a:ext cx="647700" cy="647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060258" y="1997392"/>
              <a:ext cx="685800" cy="6858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397692" y="1997392"/>
              <a:ext cx="685800" cy="6858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228975" y="3903345"/>
              <a:ext cx="685800" cy="685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585460" y="3922395"/>
              <a:ext cx="647700" cy="647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9642" y="4170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35518" y="2265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2952" y="2265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04235" y="4170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1670" y="4170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592580" y="320802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18577" y="32427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222308" y="1876425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37103" y="191119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获得处理机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22308" y="2618422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37103" y="26531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剥夺处理机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69055" y="3200400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86949" y="32351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等待事件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700338" y="3200400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18232" y="32351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事件发生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67312" y="320802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92357" y="32427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</p:grpSp>
      <p:grpSp>
        <p:nvGrpSpPr>
          <p:cNvPr id="48" name="c1-callout-2"/>
          <p:cNvGrpSpPr/>
          <p:nvPr/>
        </p:nvGrpSpPr>
        <p:grpSpPr>
          <a:xfrm>
            <a:off x="533400" y="5106352"/>
            <a:ext cx="5842635" cy="1018222"/>
            <a:chOff x="533400" y="5106352"/>
            <a:chExt cx="5842635" cy="1018222"/>
          </a:xfrm>
        </p:grpSpPr>
        <p:sp>
          <p:nvSpPr>
            <p:cNvPr id="42" name="Rectangle 42"/>
            <p:cNvSpPr/>
            <p:nvPr/>
          </p:nvSpPr>
          <p:spPr>
            <a:xfrm>
              <a:off x="533400" y="5106352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512236"/>
              <a:ext cx="224134" cy="192560"/>
              <a:chOff x="726129" y="551223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55826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5122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6603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253514"/>
              <a:ext cx="487464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初创态已经有 PCB，但还没排进就绪队列，不能被调度；终止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态不再运行，PCB 要等父进程取走它的终止状态后才撤销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（UNIX 里就是僵死进程 SZOMB）。</a:t>
              </a:r>
            </a:p>
          </p:txBody>
        </p:sp>
      </p:grpSp>
      <p:grpSp>
        <p:nvGrpSpPr>
          <p:cNvPr id="54" name="c2-kv-1"/>
          <p:cNvGrpSpPr/>
          <p:nvPr/>
        </p:nvGrpSpPr>
        <p:grpSpPr>
          <a:xfrm>
            <a:off x="6673596" y="1547336"/>
            <a:ext cx="5046597" cy="694945"/>
            <a:chOff x="6673596" y="1547336"/>
            <a:chExt cx="5046597" cy="694945"/>
          </a:xfrm>
        </p:grpSpPr>
        <p:sp>
          <p:nvSpPr>
            <p:cNvPr id="49" name="TextBox 49"/>
            <p:cNvSpPr txBox="1"/>
            <p:nvPr/>
          </p:nvSpPr>
          <p:spPr>
            <a:xfrm>
              <a:off x="6673596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初创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7484" y="1547336"/>
              <a:ext cx="4422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进程正在被创建：PCB 已经建立，但还不能参加调度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18507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73596" y="19635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97484" y="1963579"/>
              <a:ext cx="4422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进程已结束运行：系统回收它的资源，最后撤销 PCB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680835" y="2366962"/>
            <a:ext cx="4977765" cy="1568768"/>
            <a:chOff x="6680835" y="2366962"/>
            <a:chExt cx="4977765" cy="1568768"/>
          </a:xfrm>
        </p:grpSpPr>
        <p:sp>
          <p:nvSpPr>
            <p:cNvPr id="55" name="Rectangle 55"/>
            <p:cNvSpPr/>
            <p:nvPr/>
          </p:nvSpPr>
          <p:spPr>
            <a:xfrm>
              <a:off x="6680835" y="2366962"/>
              <a:ext cx="4977765" cy="1568768"/>
            </a:xfrm>
            <a:prstGeom prst="roundRect">
              <a:avLst>
                <a:gd name="adj" fmla="val 85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78955" y="2565082"/>
              <a:ext cx="1022032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49827" y="2599373"/>
              <a:ext cx="8812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Keep in Mind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886575" y="298513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43166" y="292560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进程状态转换由操作系统完成，对用户是透明的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886575" y="330327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43166" y="324278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进程在生存期内要经过多次状态转换，这体现了进程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的动态性和并发性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680835" y="4115752"/>
            <a:ext cx="4977765" cy="756285"/>
            <a:chOff x="6680835" y="4115752"/>
            <a:chExt cx="4977765" cy="756285"/>
          </a:xfrm>
        </p:grpSpPr>
        <p:sp>
          <p:nvSpPr>
            <p:cNvPr id="63" name="Rectangle 63"/>
            <p:cNvSpPr/>
            <p:nvPr/>
          </p:nvSpPr>
          <p:spPr>
            <a:xfrm>
              <a:off x="6680835" y="411575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885623" y="4393883"/>
              <a:ext cx="200026" cy="200026"/>
              <a:chOff x="6885623" y="4393883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885623" y="43938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985635" y="4460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974523" y="44938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187946" y="4262914"/>
              <a:ext cx="402704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 UNIX 的 SIDL、SZOMB 两个状态，分别对应这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里的初创和终止。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338" cy="909257"/>
            <a:chOff x="520446" y="342900"/>
            <a:chExt cx="660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进程的概念与状态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进程控制块 PCB：系统靠它感知和管理进程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3895725" cy="3594735"/>
            <a:chOff x="533400" y="1524000"/>
            <a:chExt cx="3895725" cy="3594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3594735"/>
            </a:xfrm>
            <a:prstGeom prst="roundRect">
              <a:avLst>
                <a:gd name="adj" fmla="val 37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280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78" y="176926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2.2.3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2708434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进程控制块（Process Control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标志进程存在的数据结构，其中保存系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统管理进程所需的全部信息。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4061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343275"/>
              <a:ext cx="1875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建立进程 ⇒ 建立 PCB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414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78555"/>
              <a:ext cx="1888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 PCB ⇒ 撤销进程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010501"/>
              <a:ext cx="32560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PCB 的具体内容因系统而异，右表是常见的内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4733925" y="1524000"/>
            <a:ext cx="6924675" cy="3594736"/>
            <a:chOff x="4733925" y="1524000"/>
            <a:chExt cx="6924675" cy="3594736"/>
          </a:xfrm>
        </p:grpSpPr>
        <p:sp>
          <p:nvSpPr>
            <p:cNvPr id="19" name="Rectangle 19"/>
            <p:cNvSpPr/>
            <p:nvPr/>
          </p:nvSpPr>
          <p:spPr>
            <a:xfrm>
              <a:off x="4733925" y="1524000"/>
              <a:ext cx="692467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437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58655" y="1659731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PCB 中的内容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910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41748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19038" y="2108359"/>
              <a:ext cx="20286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进程标识（pid）；所属用户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（uid）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8908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区分进程；检查权限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33925" y="264318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33925" y="2647950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1748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家族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9038" y="278368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家族联系（父进程、子进程）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88908" y="278368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创建、撤销时维护父子关系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33925" y="309276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41748" y="33456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状态与调度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9038" y="323230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进程状态；调度参数（如优先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88908" y="33456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调度程序据此选择进程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33925" y="376809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33925" y="3772852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41748" y="39076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9038" y="3907631"/>
              <a:ext cx="2445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现场信息（寄存器、PSW、PC）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88908" y="390763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暂停时保存，恢复运行时装回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33925" y="421671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41748" y="43572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9038" y="435721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地址信息；打开文件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88908" y="435721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找到程序和数据；进行文件操作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33925" y="466534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33925" y="4670108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841748" y="48058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通信与链接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9038" y="48058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消息指针；队列指针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88908" y="4805839"/>
              <a:ext cx="2490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进程通信；把 PCB 链入各种队列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733925" y="1524000"/>
              <a:ext cx="6924675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906452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676322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3" name="Rectangle 5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728335"/>
              <a:ext cx="9987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系统启动时就按可容纳的最大进程数建好一张 PCB 表，创建进程时占用其中一个空表项——这也是系统中进程数有上限的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进程的组成与组织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进程由什么构成、怎样排队，进程之间又有什么关系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2.2.4 进程的组成与上下文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2.2.5 进程的队列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2.2.6 进程的类型与特征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326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2.2.7–2.2.9 相互作用、创建撤销、进程与程序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36190" cy="909257"/>
            <a:chOff x="520446" y="342900"/>
            <a:chExt cx="63361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361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= PCB + 程序（代码、数据、堆栈）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085398" cy="3916680"/>
            <a:chOff x="533400" y="1524000"/>
            <a:chExt cx="5085398" cy="3916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3916680"/>
            </a:xfrm>
            <a:prstGeom prst="roundRect">
              <a:avLst>
                <a:gd name="adj" fmla="val 34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499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7636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676" y="1769269"/>
              <a:ext cx="124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2.2.4 进程的组成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1461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进程控制块 PCB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3950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建立进程 ⇒ 建立 PCB；撤销 PCB ⇒ 撤销进程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7813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794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116580"/>
              <a:ext cx="1267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代码（code）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514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51860"/>
              <a:ext cx="1267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数据（data）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38500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3787140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堆栈（stack + heap）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41190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栈：保存返回点、参数、返回值、局部变量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4153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堆：存放动态变量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5914072" y="1885950"/>
            <a:ext cx="5754053" cy="2323624"/>
            <a:chOff x="5914072" y="1885950"/>
            <a:chExt cx="5754053" cy="2323624"/>
          </a:xfrm>
        </p:grpSpPr>
        <p:sp>
          <p:nvSpPr>
            <p:cNvPr id="24" name="Freeform 24"/>
            <p:cNvSpPr/>
            <p:nvPr/>
          </p:nvSpPr>
          <p:spPr>
            <a:xfrm>
              <a:off x="5942648" y="2484120"/>
              <a:ext cx="5696902" cy="9525"/>
            </a:xfrm>
            <a:custGeom>
              <a:avLst/>
              <a:gdLst/>
              <a:ahLst/>
              <a:cxnLst/>
              <a:rect l="l" t="t" r="r" b="b"/>
              <a:pathLst>
                <a:path w="5696902" h="9525">
                  <a:moveTo>
                    <a:pt x="0" y="0"/>
                  </a:moveTo>
                  <a:lnTo>
                    <a:pt x="569690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7472362" y="2228850"/>
              <a:ext cx="9525" cy="436245"/>
            </a:xfrm>
            <a:custGeom>
              <a:avLst/>
              <a:gdLst/>
              <a:ahLst/>
              <a:cxnLst/>
              <a:rect l="l" t="t" r="r" b="b"/>
              <a:pathLst>
                <a:path w="9525" h="436245">
                  <a:moveTo>
                    <a:pt x="0" y="0"/>
                  </a:moveTo>
                  <a:lnTo>
                    <a:pt x="0" y="4362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424738" y="26650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849802" y="2228850"/>
              <a:ext cx="229553" cy="446722"/>
            </a:xfrm>
            <a:custGeom>
              <a:avLst/>
              <a:gdLst/>
              <a:ahLst/>
              <a:cxnLst/>
              <a:rect l="l" t="t" r="r" b="b"/>
              <a:pathLst>
                <a:path w="229553" h="446722">
                  <a:moveTo>
                    <a:pt x="229553" y="0"/>
                  </a:moveTo>
                  <a:lnTo>
                    <a:pt x="0" y="4467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805988" y="265366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106680"/>
                  </a:moveTo>
                  <a:lnTo>
                    <a:pt x="952" y="0"/>
                  </a:lnTo>
                  <a:lnTo>
                    <a:pt x="85725" y="438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264140" y="2228850"/>
              <a:ext cx="251460" cy="448628"/>
            </a:xfrm>
            <a:custGeom>
              <a:avLst/>
              <a:gdLst/>
              <a:ahLst/>
              <a:cxnLst/>
              <a:rect l="l" t="t" r="r" b="b"/>
              <a:pathLst>
                <a:path w="251460" h="448628">
                  <a:moveTo>
                    <a:pt x="0" y="0"/>
                  </a:moveTo>
                  <a:lnTo>
                    <a:pt x="251460" y="4486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473690" y="2653665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106680"/>
                  </a:moveTo>
                  <a:lnTo>
                    <a:pt x="0" y="46672"/>
                  </a:lnTo>
                  <a:lnTo>
                    <a:pt x="828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14072" y="247459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1649075" y="247459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15162" y="1885950"/>
              <a:ext cx="914400" cy="342900"/>
            </a:xfrm>
            <a:prstGeom prst="roundRect">
              <a:avLst>
                <a:gd name="adj" fmla="val 27778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15162" y="2760345"/>
              <a:ext cx="914400" cy="1047750"/>
            </a:xfrm>
            <a:prstGeom prst="roundRect">
              <a:avLst>
                <a:gd name="adj" fmla="val 10417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710738" y="1885950"/>
              <a:ext cx="914400" cy="342900"/>
            </a:xfrm>
            <a:prstGeom prst="roundRect">
              <a:avLst>
                <a:gd name="adj" fmla="val 27778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74480" y="2760345"/>
              <a:ext cx="723900" cy="1047750"/>
            </a:xfrm>
            <a:prstGeom prst="roundRect">
              <a:avLst>
                <a:gd name="adj" fmla="val 13158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322242" y="2760345"/>
              <a:ext cx="1066800" cy="1047750"/>
            </a:xfrm>
            <a:prstGeom prst="roundRect">
              <a:avLst>
                <a:gd name="adj" fmla="val 909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18408" y="198310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04722" y="32099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13983" y="198310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8790" y="32099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79813" y="3209925"/>
              <a:ext cx="751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数据+堆栈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33516" y="2210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系统空间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3516" y="26641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用户空间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8590" y="398954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表记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44165" y="398954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表记 2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5923598" y="4381500"/>
            <a:ext cx="5735002" cy="1059180"/>
            <a:chOff x="5923598" y="4381500"/>
            <a:chExt cx="5735002" cy="1059180"/>
          </a:xfrm>
        </p:grpSpPr>
        <p:sp>
          <p:nvSpPr>
            <p:cNvPr id="48" name="Rectangle 48"/>
            <p:cNvSpPr/>
            <p:nvPr/>
          </p:nvSpPr>
          <p:spPr>
            <a:xfrm>
              <a:off x="5923598" y="4381500"/>
              <a:ext cx="573500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128385" y="4811078"/>
              <a:ext cx="200026" cy="200026"/>
              <a:chOff x="6128385" y="481107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128385" y="48110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28398" y="48777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217285" y="49110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430328" y="4530090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进程的表记：PCB 在系统空间，程序在用户空间。表记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把代码和数据分开存放。进程的程序（代码和数据）称为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进程影像（Process Image）。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9837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表记 2 单独存放代码，多个进程执行同一个程序时就能共用一份代码。后面 UNIX 的 text 结构就是这样做的。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进程上下文与上下文切换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201602" cy="2583180"/>
            <a:chOff x="525780" y="1548765"/>
            <a:chExt cx="5201602" cy="25831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67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进程上下文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process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91715" y="1548765"/>
              <a:ext cx="3253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进程的物理实体与支持进程运行的物理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环境：PCB + 程序，以及系统环境（地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址空间、系统栈、打开文件表……）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149542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上下文切换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context switch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91715" y="255270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由一个进程的上下文转到另一个进程的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1546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274695"/>
              <a:ext cx="89535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系统开销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system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overhead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91715" y="327469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运行操作系统程序、完成系统管理工作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所花费的时间和空间</a:t>
              </a:r>
            </a:p>
          </p:txBody>
        </p:sp>
      </p:grpSp>
      <p:grpSp>
        <p:nvGrpSpPr>
          <p:cNvPr id="17" name="c2-text-1"/>
          <p:cNvGrpSpPr/>
          <p:nvPr/>
        </p:nvGrpSpPr>
        <p:grpSpPr>
          <a:xfrm>
            <a:off x="6024562" y="1548765"/>
            <a:ext cx="2236470" cy="293370"/>
            <a:chOff x="6024562" y="1548765"/>
            <a:chExt cx="2236470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6024562" y="15487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一次进程切换大致要做：</a:t>
              </a:r>
            </a:p>
          </p:txBody>
        </p:sp>
      </p:grpSp>
      <p:grpSp>
        <p:nvGrpSpPr>
          <p:cNvPr id="35" name="c2-steps-2"/>
          <p:cNvGrpSpPr/>
          <p:nvPr/>
        </p:nvGrpSpPr>
        <p:grpSpPr>
          <a:xfrm>
            <a:off x="6032182" y="1983105"/>
            <a:ext cx="4798442" cy="2529173"/>
            <a:chOff x="6032182" y="1983105"/>
            <a:chExt cx="4798442" cy="2529173"/>
          </a:xfrm>
        </p:grpSpPr>
        <p:sp>
          <p:nvSpPr>
            <p:cNvPr id="18" name="Rectangle 18"/>
            <p:cNvSpPr/>
            <p:nvPr/>
          </p:nvSpPr>
          <p:spPr>
            <a:xfrm>
              <a:off x="6165532" y="212598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032182" y="19831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25806" y="2056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032182" y="26336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25806" y="2707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032182" y="328422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25806" y="33580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2182" y="39357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25806" y="40095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43662" y="20173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保存现场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44806" y="2311241"/>
              <a:ext cx="3544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把当前进程的寄存器、PSW、PC 存入它的 PCB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3662" y="266795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改状态、入队列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4806" y="296179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按暂停原因置为就绪或等待，链入相应队列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3662" y="33185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选出新进程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4806" y="36123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调度程序从就绪队列中选出一个进程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3662" y="39700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切换环境、恢复现场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4806" y="4262914"/>
              <a:ext cx="4385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换成新进程的地址空间等系统环境，从它的 PCB 恢复现场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728335"/>
              <a:ext cx="9968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上下文切换期间 CPU 不为任何用户程序工作，这段时间属于系统开销。切换越频繁开销越大，这也是后面引入线程的原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因之一。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 链成队列：就绪队列、等待队列与运行指示字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cells-1"/>
          <p:cNvGrpSpPr/>
          <p:nvPr/>
        </p:nvGrpSpPr>
        <p:grpSpPr>
          <a:xfrm>
            <a:off x="527685" y="1524000"/>
            <a:ext cx="4875847" cy="368618"/>
            <a:chOff x="527685" y="1524000"/>
            <a:chExt cx="4875847" cy="36861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3877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5362" y="1524000"/>
              <a:ext cx="41338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339" y="163877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08748" y="1524000"/>
              <a:ext cx="209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484948" y="16802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513522" y="17087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56422" y="16659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42148" y="1524000"/>
              <a:ext cx="41338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04171" y="163877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54580" y="1524000"/>
              <a:ext cx="209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430780" y="16802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459355" y="17087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802255" y="16659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87980" y="1524000"/>
              <a:ext cx="41338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50956" y="163877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01365" y="1524000"/>
              <a:ext cx="209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377565" y="16802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406140" y="17087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749040" y="16659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34765" y="1524000"/>
              <a:ext cx="41338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47718" y="16387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47198" y="1524000"/>
              <a:ext cx="209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323398" y="16802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351972" y="17087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694872" y="16659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80598" y="1524000"/>
              <a:ext cx="41338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43574" y="163877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193982" y="1524000"/>
              <a:ext cx="20955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524" y="164639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2063115"/>
            <a:ext cx="5193982" cy="729615"/>
            <a:chOff x="533400" y="2063115"/>
            <a:chExt cx="5193982" cy="729615"/>
          </a:xfrm>
        </p:grpSpPr>
        <p:sp>
          <p:nvSpPr>
            <p:cNvPr id="37" name="Rectangle 37"/>
            <p:cNvSpPr/>
            <p:nvPr/>
          </p:nvSpPr>
          <p:spPr>
            <a:xfrm>
              <a:off x="533400" y="206311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2326958"/>
              <a:ext cx="200026" cy="200026"/>
              <a:chOff x="738188" y="232695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23269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23936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24269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2208848"/>
              <a:ext cx="43256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 中的“队列指针”用来把 PCB 串成链。队列不一定先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进先出（FIFO），可以是单向链表，也可以是双向链表。</a:t>
              </a:r>
            </a:p>
          </p:txBody>
        </p:sp>
      </p:grpSp>
      <p:grpSp>
        <p:nvGrpSpPr>
          <p:cNvPr id="50" name="c1-callout-3"/>
          <p:cNvGrpSpPr/>
          <p:nvPr/>
        </p:nvGrpSpPr>
        <p:grpSpPr>
          <a:xfrm>
            <a:off x="533400" y="2962275"/>
            <a:ext cx="5193982" cy="729615"/>
            <a:chOff x="533400" y="2962275"/>
            <a:chExt cx="5193982" cy="729615"/>
          </a:xfrm>
        </p:grpSpPr>
        <p:sp>
          <p:nvSpPr>
            <p:cNvPr id="44" name="Rectangle 44"/>
            <p:cNvSpPr/>
            <p:nvPr/>
          </p:nvSpPr>
          <p:spPr>
            <a:xfrm>
              <a:off x="533400" y="296227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3227070"/>
              <a:ext cx="200026" cy="200025"/>
              <a:chOff x="738188" y="3227070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32270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32715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33826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3108008"/>
              <a:ext cx="41713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进程换队列时只需修改指针，把它的 PCB 从一个链上摘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下、挂到另一个链上，不必移动 PCB 本身。</a:t>
              </a:r>
            </a:p>
          </p:txBody>
        </p:sp>
      </p:grpSp>
      <p:grpSp>
        <p:nvGrpSpPr>
          <p:cNvPr id="68" name="c1-card-4"/>
          <p:cNvGrpSpPr/>
          <p:nvPr/>
        </p:nvGrpSpPr>
        <p:grpSpPr>
          <a:xfrm>
            <a:off x="533400" y="3861435"/>
            <a:ext cx="5193982" cy="2232660"/>
            <a:chOff x="533400" y="3861435"/>
            <a:chExt cx="5193982" cy="2232660"/>
          </a:xfrm>
        </p:grpSpPr>
        <p:sp>
          <p:nvSpPr>
            <p:cNvPr id="51" name="Rectangle 51"/>
            <p:cNvSpPr/>
            <p:nvPr/>
          </p:nvSpPr>
          <p:spPr>
            <a:xfrm>
              <a:off x="533400" y="3861435"/>
              <a:ext cx="5193982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3994785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8190" y="404812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3961" y="40809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99960" y="40833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磁盘中断到来时，系统对队列做什么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58190" y="439674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3868" y="44351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8987" y="4409122"/>
              <a:ext cx="2932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从磁盘等待队列中摘下该进程的 PCB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58190" y="469677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3868" y="47361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8987" y="4709160"/>
              <a:ext cx="2444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PCB 里的状态字段改成就绪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58190" y="4997767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13868" y="50361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8987" y="5009198"/>
              <a:ext cx="2081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把这个 PCB 链入就绪队列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58190" y="529780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3868" y="53361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8987" y="531018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若它的优先级高于正在运行的进程，还可能引起一次剥夺</a:t>
              </a:r>
            </a:p>
          </p:txBody>
        </p:sp>
      </p:grpSp>
      <p:grpSp>
        <p:nvGrpSpPr>
          <p:cNvPr id="88" name="c2-table-1"/>
          <p:cNvGrpSpPr/>
          <p:nvPr/>
        </p:nvGrpSpPr>
        <p:grpSpPr>
          <a:xfrm>
            <a:off x="6032182" y="1524000"/>
            <a:ext cx="5626418" cy="2000250"/>
            <a:chOff x="6032182" y="1524000"/>
            <a:chExt cx="5626418" cy="2000250"/>
          </a:xfrm>
        </p:grpSpPr>
        <p:sp>
          <p:nvSpPr>
            <p:cNvPr id="69" name="Rectangle 69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7863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416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5146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29338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就绪队列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36180" y="2045494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系统中一个或若干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55418" y="2045494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个数由调度算法确定，例如按优先级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分成多个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032182" y="25193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032182" y="252412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29338" y="26455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等待队列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36180" y="26455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每个等待事件一个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55418" y="264556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事件发生时只需检查对应的队列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32182" y="29194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29338" y="31456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运行指示字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36180" y="31456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每个处理机一个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055418" y="3045619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指向正在该处理机上运行的进程的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032182" y="1524000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43426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95350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7" name="c2-table-2"/>
          <p:cNvGrpSpPr/>
          <p:nvPr/>
        </p:nvGrpSpPr>
        <p:grpSpPr>
          <a:xfrm>
            <a:off x="6032182" y="3693795"/>
            <a:ext cx="5626418" cy="2400300"/>
            <a:chOff x="6032182" y="3693795"/>
            <a:chExt cx="5626418" cy="2400300"/>
          </a:xfrm>
        </p:grpSpPr>
        <p:sp>
          <p:nvSpPr>
            <p:cNvPr id="89" name="Rectangle 89"/>
            <p:cNvSpPr/>
            <p:nvPr/>
          </p:nvSpPr>
          <p:spPr>
            <a:xfrm>
              <a:off x="6032182" y="3693795"/>
              <a:ext cx="5626418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678251" y="3815239"/>
              <a:ext cx="957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P 的经历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743803" y="3815239"/>
              <a:ext cx="990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它的 PCB 在哪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770591" y="38152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129338" y="421528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创建后排入就绪链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380095" y="42152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就绪队列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292715" y="42152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032182" y="44891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032182" y="449389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129338" y="461533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调度程序选中它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80095" y="461533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运行指示字指着它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292715" y="46153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032182" y="48891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129338" y="5015389"/>
              <a:ext cx="1359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read 启动磁盘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380095" y="501538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磁盘的等待队列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292715" y="50153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032182" y="52892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032182" y="529399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129338" y="54154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磁盘中断到来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380095" y="541543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摘下后挂到就绪队列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292715" y="54154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032182" y="56892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129338" y="581548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再被选中，时间片用完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380095" y="581548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回到就绪队列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292715" y="5815489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→ 就绪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032182" y="3693795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8278178" y="369379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10190798" y="369379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7305" cy="909257"/>
            <a:chOff x="520446" y="342900"/>
            <a:chExt cx="90073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73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进程队列模型：进程在就绪队列、CPU 与等待队列之间流转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4" name="queue-figure"/>
          <p:cNvGrpSpPr/>
          <p:nvPr/>
        </p:nvGrpSpPr>
        <p:grpSpPr>
          <a:xfrm>
            <a:off x="533400" y="1524000"/>
            <a:ext cx="6991350" cy="4838700"/>
            <a:chOff x="533400" y="1524000"/>
            <a:chExt cx="6991350" cy="4838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91350" cy="4838700"/>
            </a:xfrm>
            <a:prstGeom prst="roundRect">
              <a:avLst>
                <a:gd name="adj" fmla="val 27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21102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143000" y="219075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028950" y="2143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43250" y="2000250"/>
              <a:ext cx="1714500" cy="381000"/>
            </a:xfrm>
            <a:prstGeom prst="rect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429000" y="2000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714750" y="2000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2000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286250" y="2000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2000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93236" y="1802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就绪队列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876800" y="2190750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0" y="0"/>
                  </a:moveTo>
                  <a:lnTo>
                    <a:pt x="542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5410200" y="2143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44440" y="19916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0" y="1981200"/>
              <a:ext cx="819150" cy="419100"/>
            </a:xfrm>
            <a:prstGeom prst="roundRect">
              <a:avLst>
                <a:gd name="adj" fmla="val 1818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60876" y="2106930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362700" y="2190750"/>
              <a:ext cx="371475" cy="9525"/>
            </a:xfrm>
            <a:custGeom>
              <a:avLst/>
              <a:gdLst/>
              <a:ahLst/>
              <a:cxnLst/>
              <a:rect l="l" t="t" r="r" b="b"/>
              <a:pathLst>
                <a:path w="371475" h="9525">
                  <a:moveTo>
                    <a:pt x="0" y="0"/>
                  </a:moveTo>
                  <a:lnTo>
                    <a:pt x="3714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724650" y="2143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70573" y="21102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934075" y="2400300"/>
              <a:ext cx="9525" cy="3276600"/>
            </a:xfrm>
            <a:custGeom>
              <a:avLst/>
              <a:gdLst/>
              <a:ahLst/>
              <a:cxnLst/>
              <a:rect l="l" t="t" r="r" b="b"/>
              <a:pathLst>
                <a:path w="9525" h="3276600">
                  <a:moveTo>
                    <a:pt x="0" y="0"/>
                  </a:moveTo>
                  <a:lnTo>
                    <a:pt x="0" y="3276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676400" y="2295525"/>
              <a:ext cx="9525" cy="3381375"/>
            </a:xfrm>
            <a:custGeom>
              <a:avLst/>
              <a:gdLst/>
              <a:ahLst/>
              <a:cxnLst/>
              <a:rect l="l" t="t" r="r" b="b"/>
              <a:pathLst>
                <a:path w="9525" h="3381375">
                  <a:moveTo>
                    <a:pt x="0" y="33813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1628775" y="2209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781175" y="2857500"/>
              <a:ext cx="4152900" cy="9525"/>
            </a:xfrm>
            <a:custGeom>
              <a:avLst/>
              <a:gdLst/>
              <a:ahLst/>
              <a:cxnLst/>
              <a:rect l="l" t="t" r="r" b="b"/>
              <a:pathLst>
                <a:path w="4152900" h="9525">
                  <a:moveTo>
                    <a:pt x="41529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1695450" y="2809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27349" y="26503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时间片用完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143250" y="3467100"/>
              <a:ext cx="1714500" cy="381000"/>
            </a:xfrm>
            <a:prstGeom prst="rect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429000" y="34671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3714750" y="34671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000500" y="34671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286250" y="34671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572000" y="34671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625953" y="32694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等待队列 1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962525" y="3657600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9715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4876800" y="3609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052565" y="346805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等待事件 1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781175" y="3657600"/>
              <a:ext cx="1343025" cy="9525"/>
            </a:xfrm>
            <a:custGeom>
              <a:avLst/>
              <a:gdLst/>
              <a:ahLst/>
              <a:cxnLst/>
              <a:rect l="l" t="t" r="r" b="b"/>
              <a:pathLst>
                <a:path w="1343025" h="9525">
                  <a:moveTo>
                    <a:pt x="13430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1695450" y="3609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040512" y="346805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 1 发生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43250" y="4343400"/>
              <a:ext cx="1714500" cy="381000"/>
            </a:xfrm>
            <a:prstGeom prst="rect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429000" y="4343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714750" y="4343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00500" y="4343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286250" y="4343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572000" y="4343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625953" y="41457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等待队列 2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4962525" y="4533900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9715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4876800" y="4486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52565" y="434435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等待事件 2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1781175" y="4533900"/>
              <a:ext cx="1343025" cy="9525"/>
            </a:xfrm>
            <a:custGeom>
              <a:avLst/>
              <a:gdLst/>
              <a:ahLst/>
              <a:cxnLst/>
              <a:rect l="l" t="t" r="r" b="b"/>
              <a:pathLst>
                <a:path w="1343025" h="9525">
                  <a:moveTo>
                    <a:pt x="13430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1695450" y="4486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040512" y="434435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 2 发生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143250" y="5486400"/>
              <a:ext cx="1714500" cy="381000"/>
            </a:xfrm>
            <a:prstGeom prst="rect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429000" y="5486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3714750" y="5486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4000500" y="5486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4286250" y="5486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4572000" y="54864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143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625953" y="52887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等待队列 n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4962525" y="5676900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9715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4876800" y="5629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052565" y="548735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等待事件 n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781175" y="5676900"/>
              <a:ext cx="1343025" cy="9525"/>
            </a:xfrm>
            <a:custGeom>
              <a:avLst/>
              <a:gdLst/>
              <a:ahLst/>
              <a:cxnLst/>
              <a:rect l="l" t="t" r="r" b="b"/>
              <a:pathLst>
                <a:path w="1343025" h="9525">
                  <a:moveTo>
                    <a:pt x="13430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1695450" y="5629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040512" y="548735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 n 发生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3975735" y="4966335"/>
              <a:ext cx="49530" cy="49530"/>
            </a:xfrm>
            <a:prstGeom prst="ellipse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3975735" y="5080635"/>
              <a:ext cx="49530" cy="49530"/>
            </a:xfrm>
            <a:prstGeom prst="ellipse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3975735" y="5194935"/>
              <a:ext cx="49530" cy="49530"/>
            </a:xfrm>
            <a:prstGeom prst="ellipse">
              <a:avLst/>
            </a:prstGeom>
            <a:solidFill>
              <a:srgbClr val="5B6475"/>
            </a:solidFill>
            <a:ln>
              <a:noFill/>
            </a:ln>
          </p:spPr>
        </p:sp>
      </p:grpSp>
      <p:grpSp>
        <p:nvGrpSpPr>
          <p:cNvPr id="97" name="queue-notes"/>
          <p:cNvGrpSpPr/>
          <p:nvPr/>
        </p:nvGrpSpPr>
        <p:grpSpPr>
          <a:xfrm>
            <a:off x="7753350" y="1524000"/>
            <a:ext cx="3905250" cy="4838700"/>
            <a:chOff x="7753350" y="1524000"/>
            <a:chExt cx="3905250" cy="4838700"/>
          </a:xfrm>
        </p:grpSpPr>
        <p:sp>
          <p:nvSpPr>
            <p:cNvPr id="75" name="Rectangle 75"/>
            <p:cNvSpPr/>
            <p:nvPr/>
          </p:nvSpPr>
          <p:spPr>
            <a:xfrm>
              <a:off x="7753350" y="1524000"/>
              <a:ext cx="3905250" cy="4838700"/>
            </a:xfrm>
            <a:prstGeom prst="roundRect">
              <a:avLst>
                <a:gd name="adj" fmla="val 34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62875" y="1676400"/>
              <a:ext cx="47625" cy="45339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975473" y="17102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图中六条路径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981950" y="203835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311515" y="20964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62085" y="2088356"/>
              <a:ext cx="1877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新进程的 PCB 排入就绪队列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981950" y="247650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311515" y="25346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62085" y="2526506"/>
              <a:ext cx="21379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从就绪队列选出一个进程交给 CPU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（就绪 → 运行）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981950" y="304800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099488" y="3106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时间片用完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062085" y="3098006"/>
              <a:ext cx="212369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运行的进程回到就绪队列（运行 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就绪）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981950" y="361950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125638" y="3677602"/>
              <a:ext cx="665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等待事件 i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062085" y="3669506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进程进入等待队列 i（运行 → 等待）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981950" y="405765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103376" y="4115752"/>
              <a:ext cx="709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事件 i 发生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062085" y="4107656"/>
              <a:ext cx="21308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等待队列 i 中的进程回到就绪队列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（等待 → 就绪）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981950" y="462915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311515" y="46872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062085" y="46791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进程运行结束，被撤销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76235" y="5155406"/>
              <a:ext cx="32829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每个等待事件一个队列，事件发生时只需检查对应的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进程的两种类型与六个特征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4977765" cy="1400175"/>
            <a:chOff x="533400" y="1524000"/>
            <a:chExt cx="4977765" cy="1400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459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641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19428" y="1645444"/>
              <a:ext cx="990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中的例子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系统进程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5930" y="2045494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操作系统程序，完成系统管理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（服务）功能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4788" y="2045494"/>
              <a:ext cx="1113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 sched，1 号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init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用户进程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5930" y="264556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用户（应用）程序，为用户服务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14788" y="2645569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vi、shell、cc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977765" cy="1400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624012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912870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9" name="c1-callout-2"/>
          <p:cNvGrpSpPr/>
          <p:nvPr/>
        </p:nvGrpSpPr>
        <p:grpSpPr>
          <a:xfrm>
            <a:off x="533400" y="3093720"/>
            <a:ext cx="4977765" cy="978218"/>
            <a:chOff x="533400" y="3093720"/>
            <a:chExt cx="4977765" cy="978218"/>
          </a:xfrm>
        </p:grpSpPr>
        <p:sp>
          <p:nvSpPr>
            <p:cNvPr id="23" name="Rectangle 23"/>
            <p:cNvSpPr/>
            <p:nvPr/>
          </p:nvSpPr>
          <p:spPr>
            <a:xfrm>
              <a:off x="533400" y="3093720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3483293"/>
              <a:ext cx="200026" cy="200026"/>
              <a:chOff x="738188" y="3483293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34832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35499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35833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3240405"/>
              <a:ext cx="39742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“独立性”说进程是可以调度的基本单位，这是针对没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有线程的系统。引入线程后，调度的单位是线程，进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程是资源分配的单位（见 2.3.2）。</a:t>
              </a:r>
            </a:p>
          </p:txBody>
        </p:sp>
      </p:grpSp>
      <p:grpSp>
        <p:nvGrpSpPr>
          <p:cNvPr id="45" name="c1-table-3"/>
          <p:cNvGrpSpPr/>
          <p:nvPr/>
        </p:nvGrpSpPr>
        <p:grpSpPr>
          <a:xfrm>
            <a:off x="533400" y="4242435"/>
            <a:ext cx="4977765" cy="1600200"/>
            <a:chOff x="533400" y="4242435"/>
            <a:chExt cx="4977765" cy="1600200"/>
          </a:xfrm>
        </p:grpSpPr>
        <p:sp>
          <p:nvSpPr>
            <p:cNvPr id="30" name="Rectangle 30"/>
            <p:cNvSpPr/>
            <p:nvPr/>
          </p:nvSpPr>
          <p:spPr>
            <a:xfrm>
              <a:off x="533400" y="4242435"/>
              <a:ext cx="497776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3811" y="43638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还差在哪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42566" y="43638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系统进程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82821" y="43638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用户进程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0555" y="48639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谁创建它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26858" y="4763929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号进程由内核在启动时建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立，其余由 0 号、1 号派生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67112" y="4763929"/>
              <a:ext cx="16969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由用户的 shell 或别的用户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进程创建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2377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242560"/>
              <a:ext cx="497776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4640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活多久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26858" y="5364004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常驻，系统运行期间一直存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67112" y="5364004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随用户的一次计算任务开始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和结束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242435"/>
              <a:ext cx="497776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424940" y="424243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465195" y="424243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kv-1"/>
          <p:cNvGrpSpPr/>
          <p:nvPr/>
        </p:nvGrpSpPr>
        <p:grpSpPr>
          <a:xfrm>
            <a:off x="5809107" y="1545907"/>
            <a:ext cx="5849493" cy="2226184"/>
            <a:chOff x="5809107" y="1545907"/>
            <a:chExt cx="5849493" cy="2226184"/>
          </a:xfrm>
        </p:grpSpPr>
        <p:sp>
          <p:nvSpPr>
            <p:cNvPr id="46" name="TextBox 46"/>
            <p:cNvSpPr txBox="1"/>
            <p:nvPr/>
          </p:nvSpPr>
          <p:spPr>
            <a:xfrm>
              <a:off x="5809107" y="154590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并发性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92062" y="154590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可以与其他进程一道向前推进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1832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09107" y="193833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动态性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92062" y="19383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动态产生、消亡，生存期内状态动态变化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22250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9107" y="2330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独立性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92062" y="23307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一个进程是可以调度的基本单位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26174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809107" y="272319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交往性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92062" y="272319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同时运行的进程之间可能发生相互作用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30099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09107" y="311562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异步性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92062" y="3115627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进程以各自独立、不可预知的速度向前推进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34023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09107" y="350805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结构性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92062" y="3508058"/>
              <a:ext cx="1660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每个进程有一个 PCB</a:t>
              </a:r>
            </a:p>
          </p:txBody>
        </p:sp>
      </p:grpSp>
      <p:grpSp>
        <p:nvGrpSpPr>
          <p:cNvPr id="82" name="c2-table-2"/>
          <p:cNvGrpSpPr/>
          <p:nvPr/>
        </p:nvGrpSpPr>
        <p:grpSpPr>
          <a:xfrm>
            <a:off x="5815965" y="3889058"/>
            <a:ext cx="5842635" cy="2000250"/>
            <a:chOff x="5815965" y="3889058"/>
            <a:chExt cx="5842635" cy="2000250"/>
          </a:xfrm>
        </p:grpSpPr>
        <p:sp>
          <p:nvSpPr>
            <p:cNvPr id="64" name="Rectangle 64"/>
            <p:cNvSpPr/>
            <p:nvPr/>
          </p:nvSpPr>
          <p:spPr>
            <a:xfrm>
              <a:off x="5815965" y="3889058"/>
              <a:ext cx="584263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0516" y="40105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29510" y="40105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它在后面引出什么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13120" y="44105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并发性、交往性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15200" y="4410551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进程之间要互斥、同步、通讯（第 4 章）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4684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15965" y="468915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13120" y="48106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15200" y="4810601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推进速度不可预知，多次运行的次序不同，结果可能不确定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50844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13120" y="52106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15200" y="5210651"/>
              <a:ext cx="4312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进程是调度的基本单位，谁先占 CPU 由调度算法决定（第 3 章）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815965" y="54844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815965" y="548925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13120" y="56107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动态性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15200" y="5610701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有创建也有撤销，生存期内状态不断变化；程序则是静态的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815965" y="3889058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213282" y="388905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进程之间的相互联系与相互作用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2600325"/>
            <a:chOff x="533400" y="1524000"/>
            <a:chExt cx="5410200" cy="26003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60007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1876" y="1645444"/>
              <a:ext cx="8936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2.2.7 相互联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52141" y="1745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相关进程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2881" y="1745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无关进程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3455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1180" y="23455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同一家族的进程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92892" y="2245519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没有逻辑关系、同时执行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24150"/>
              <a:ext cx="5410200" cy="10001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31456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1180" y="2845594"/>
              <a:ext cx="1860550" cy="820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可以共享文件，需要相互通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信、协调推进速度；父进程可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以监视子进程，子进程完成父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进程交给的任务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2892" y="31456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存在资源竞争关系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19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8457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可能出现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1180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92892" y="38457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互斥、死锁、饿死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19262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90975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4293870"/>
            <a:ext cx="5410200" cy="1760220"/>
            <a:chOff x="533400" y="4293870"/>
            <a:chExt cx="5410200" cy="1760220"/>
          </a:xfrm>
        </p:grpSpPr>
        <p:sp>
          <p:nvSpPr>
            <p:cNvPr id="27" name="Rectangle 27"/>
            <p:cNvSpPr/>
            <p:nvPr/>
          </p:nvSpPr>
          <p:spPr>
            <a:xfrm>
              <a:off x="533400" y="4293870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42722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48056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3961" y="451342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99960" y="451580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哪些进程算相关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6762" y="48977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2782" y="4841558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用 fork 创建的 cc 进程与 shell 是父子，属于相关进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程：shell 用 wait 等它结束，还能取到它的终止状态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6762" y="545592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782" y="5399723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另一个用户同时运行的 vi 与这个 cc 没有逻辑关系，是无关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进程：只有在争打印机、内存时才通过资源发生间接联系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248400" y="1524000"/>
            <a:ext cx="5410200" cy="1710690"/>
            <a:chOff x="6248400" y="1524000"/>
            <a:chExt cx="5410200" cy="1710690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1710690"/>
            </a:xfrm>
            <a:prstGeom prst="roundRect">
              <a:avLst>
                <a:gd name="adj" fmla="val 77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14439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3190" y="1710690"/>
              <a:ext cx="81819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5084" y="1743551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相互作用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98830" y="17459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直接相互作用：发生在相关进程之间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7411402" y="2409825"/>
              <a:ext cx="3027045" cy="9525"/>
            </a:xfrm>
            <a:custGeom>
              <a:avLst/>
              <a:gdLst/>
              <a:ahLst/>
              <a:cxnLst/>
              <a:rect l="l" t="t" r="r" b="b"/>
              <a:pathLst>
                <a:path w="3027045" h="9525">
                  <a:moveTo>
                    <a:pt x="0" y="0"/>
                  </a:moveTo>
                  <a:lnTo>
                    <a:pt x="30270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438448" y="23622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944678" y="2181225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543222" y="2181225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1693" y="23441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80238" y="23441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215312" y="2331720"/>
              <a:ext cx="151352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25426" y="2360771"/>
              <a:ext cx="14942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send → receive（同步 sync）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7475" y="2872264"/>
              <a:ext cx="2869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 发送消息，P2 接收，双方要协调步调。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248400" y="3405188"/>
            <a:ext cx="5410200" cy="2648902"/>
            <a:chOff x="6248400" y="3405188"/>
            <a:chExt cx="5410200" cy="2648902"/>
          </a:xfrm>
        </p:grpSpPr>
        <p:sp>
          <p:nvSpPr>
            <p:cNvPr id="52" name="Rectangle 52"/>
            <p:cNvSpPr/>
            <p:nvPr/>
          </p:nvSpPr>
          <p:spPr>
            <a:xfrm>
              <a:off x="6248400" y="3405188"/>
              <a:ext cx="5410200" cy="2648902"/>
            </a:xfrm>
            <a:prstGeom prst="roundRect">
              <a:avLst>
                <a:gd name="adj" fmla="val 50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3538538"/>
              <a:ext cx="47625" cy="23822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3190" y="3591878"/>
              <a:ext cx="81819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5084" y="362473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相互作用 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98830" y="362712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间接相互作用：发生在任何进程之间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7211378" y="4291012"/>
              <a:ext cx="1456372" cy="9525"/>
            </a:xfrm>
            <a:custGeom>
              <a:avLst/>
              <a:gdLst/>
              <a:ahLst/>
              <a:cxnLst/>
              <a:rect l="l" t="t" r="r" b="b"/>
              <a:pathLst>
                <a:path w="1456372" h="9525">
                  <a:moveTo>
                    <a:pt x="0" y="0"/>
                  </a:moveTo>
                  <a:lnTo>
                    <a:pt x="14563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667750" y="42433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9182100" y="4291012"/>
              <a:ext cx="1456373" cy="9525"/>
            </a:xfrm>
            <a:custGeom>
              <a:avLst/>
              <a:gdLst/>
              <a:ahLst/>
              <a:cxnLst/>
              <a:rect l="l" t="t" r="r" b="b"/>
              <a:pathLst>
                <a:path w="1456373" h="9525">
                  <a:moveTo>
                    <a:pt x="0" y="0"/>
                  </a:moveTo>
                  <a:lnTo>
                    <a:pt x="14563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638472" y="42433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744652" y="4062412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763000" y="4131945"/>
              <a:ext cx="419100" cy="318135"/>
            </a:xfrm>
            <a:prstGeom prst="roundRect">
              <a:avLst>
                <a:gd name="adj" fmla="val 2994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743248" y="4062412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81668" y="42252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24091" y="42252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880263" y="42252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837170" y="4211955"/>
              <a:ext cx="30003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63282" y="4241959"/>
              <a:ext cx="2468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wait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818370" y="4211955"/>
              <a:ext cx="2790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845996" y="4241959"/>
              <a:ext cx="2247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hold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67475" y="4753451"/>
              <a:ext cx="4798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 占有（hold）资源 R，P1 在等待（wait）R，两者通过 R 发生联系。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进程的创建与撤销：除初始进程外，进程都由父进程创建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1024890" cy="293370"/>
            <a:chOff x="525780" y="1548765"/>
            <a:chExt cx="10248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进程的创建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1973580"/>
            <a:ext cx="6276023" cy="982980"/>
            <a:chOff x="533400" y="1973580"/>
            <a:chExt cx="6276023" cy="982980"/>
          </a:xfrm>
        </p:grpSpPr>
        <p:sp>
          <p:nvSpPr>
            <p:cNvPr id="9" name="Rectangle 9"/>
            <p:cNvSpPr/>
            <p:nvPr/>
          </p:nvSpPr>
          <p:spPr>
            <a:xfrm>
              <a:off x="533400" y="1973580"/>
              <a:ext cx="1354455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66750" y="21069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883" y="21774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9130" y="251269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 PCB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964055" y="237934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73605" y="1973580"/>
              <a:ext cx="1354455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306955" y="21069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97088" y="21774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99335" y="25126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分配内存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604260" y="237934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3810" y="1973580"/>
              <a:ext cx="1354455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947160" y="21069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37293" y="21774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39540" y="25126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加载程序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245418" y="237934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54968" y="1973580"/>
              <a:ext cx="1354455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88318" y="21069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78451" y="21774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80698" y="25126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入就绪链</a:t>
              </a:r>
            </a:p>
          </p:txBody>
        </p:sp>
      </p:grpSp>
      <p:grpSp>
        <p:nvGrpSpPr>
          <p:cNvPr id="30" name="c1-text-3"/>
          <p:cNvGrpSpPr/>
          <p:nvPr/>
        </p:nvGrpSpPr>
        <p:grpSpPr>
          <a:xfrm>
            <a:off x="526923" y="3168491"/>
            <a:ext cx="5020452" cy="249364"/>
            <a:chOff x="526923" y="3168491"/>
            <a:chExt cx="5020452" cy="249364"/>
          </a:xfrm>
        </p:grpSpPr>
        <p:sp>
          <p:nvSpPr>
            <p:cNvPr id="29" name="TextBox 29"/>
            <p:cNvSpPr txBox="1"/>
            <p:nvPr/>
          </p:nvSpPr>
          <p:spPr>
            <a:xfrm>
              <a:off x="526923" y="3168491"/>
              <a:ext cx="50204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UNIX：pid = fork() 创建子进程；exec(prog, args) 加载新程序</a:t>
              </a:r>
            </a:p>
          </p:txBody>
        </p:sp>
      </p:grpSp>
      <p:grpSp>
        <p:nvGrpSpPr>
          <p:cNvPr id="32" name="c1-text-4"/>
          <p:cNvGrpSpPr/>
          <p:nvPr/>
        </p:nvGrpSpPr>
        <p:grpSpPr>
          <a:xfrm>
            <a:off x="525780" y="3582352"/>
            <a:ext cx="1024890" cy="293370"/>
            <a:chOff x="525780" y="3582352"/>
            <a:chExt cx="1024890" cy="293370"/>
          </a:xfrm>
        </p:grpSpPr>
        <p:sp>
          <p:nvSpPr>
            <p:cNvPr id="31" name="TextBox 31"/>
            <p:cNvSpPr txBox="1"/>
            <p:nvPr/>
          </p:nvSpPr>
          <p:spPr>
            <a:xfrm>
              <a:off x="525780" y="358235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进程的撤销</a:t>
              </a:r>
            </a:p>
          </p:txBody>
        </p:sp>
      </p:grpSp>
      <p:grpSp>
        <p:nvGrpSpPr>
          <p:cNvPr id="47" name="c1-steps-5"/>
          <p:cNvGrpSpPr/>
          <p:nvPr/>
        </p:nvGrpSpPr>
        <p:grpSpPr>
          <a:xfrm>
            <a:off x="533400" y="4007168"/>
            <a:ext cx="6276022" cy="982980"/>
            <a:chOff x="533400" y="4007168"/>
            <a:chExt cx="6276022" cy="982980"/>
          </a:xfrm>
        </p:grpSpPr>
        <p:sp>
          <p:nvSpPr>
            <p:cNvPr id="33" name="Rectangle 33"/>
            <p:cNvSpPr/>
            <p:nvPr/>
          </p:nvSpPr>
          <p:spPr>
            <a:xfrm>
              <a:off x="533400" y="4007168"/>
              <a:ext cx="1901190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66750" y="41405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883" y="42110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9130" y="454628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去配资源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510790" y="441293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720340" y="4007168"/>
              <a:ext cx="1901190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853690" y="41405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43823" y="42110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46070" y="4546282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 PCB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4698682" y="441293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908232" y="4007168"/>
              <a:ext cx="1901190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041582" y="41405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131716" y="42110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33962" y="454628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通知父进程</a:t>
              </a:r>
            </a:p>
          </p:txBody>
        </p:sp>
      </p:grpSp>
      <p:grpSp>
        <p:nvGrpSpPr>
          <p:cNvPr id="49" name="c1-text-6"/>
          <p:cNvGrpSpPr/>
          <p:nvPr/>
        </p:nvGrpSpPr>
        <p:grpSpPr>
          <a:xfrm>
            <a:off x="526923" y="5202079"/>
            <a:ext cx="4693056" cy="249364"/>
            <a:chOff x="526923" y="5202079"/>
            <a:chExt cx="4693056" cy="249364"/>
          </a:xfrm>
        </p:grpSpPr>
        <p:sp>
          <p:nvSpPr>
            <p:cNvPr id="48" name="TextBox 48"/>
            <p:cNvSpPr txBox="1"/>
            <p:nvPr/>
          </p:nvSpPr>
          <p:spPr>
            <a:xfrm>
              <a:off x="526923" y="5202079"/>
              <a:ext cx="4693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UNIX：exit() 由进程自己结束；kill 由其他进程发信号终止它</a:t>
              </a:r>
            </a:p>
          </p:txBody>
        </p:sp>
      </p:grpSp>
      <p:grpSp>
        <p:nvGrpSpPr>
          <p:cNvPr id="67" name="c2-tree-1"/>
          <p:cNvGrpSpPr/>
          <p:nvPr/>
        </p:nvGrpSpPr>
        <p:grpSpPr>
          <a:xfrm>
            <a:off x="7472362" y="1671638"/>
            <a:ext cx="3644266" cy="2562224"/>
            <a:chOff x="7472362" y="1671638"/>
            <a:chExt cx="3644266" cy="2562224"/>
          </a:xfrm>
        </p:grpSpPr>
        <p:sp>
          <p:nvSpPr>
            <p:cNvPr id="50" name="Freeform 50"/>
            <p:cNvSpPr/>
            <p:nvPr/>
          </p:nvSpPr>
          <p:spPr>
            <a:xfrm>
              <a:off x="7681912" y="3309938"/>
              <a:ext cx="568643" cy="714375"/>
            </a:xfrm>
            <a:custGeom>
              <a:avLst/>
              <a:gdLst/>
              <a:ahLst/>
              <a:cxnLst/>
              <a:rect l="l" t="t" r="r" b="b"/>
              <a:pathLst>
                <a:path w="568643" h="714375">
                  <a:moveTo>
                    <a:pt x="56864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250555" y="3309938"/>
              <a:ext cx="567690" cy="714375"/>
            </a:xfrm>
            <a:custGeom>
              <a:avLst/>
              <a:gdLst/>
              <a:ahLst/>
              <a:cxnLst/>
              <a:rect l="l" t="t" r="r" b="b"/>
              <a:pathLst>
                <a:path w="567690" h="714375">
                  <a:moveTo>
                    <a:pt x="0" y="0"/>
                  </a:moveTo>
                  <a:lnTo>
                    <a:pt x="56769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250555" y="2595562"/>
              <a:ext cx="1135380" cy="714375"/>
            </a:xfrm>
            <a:custGeom>
              <a:avLst/>
              <a:gdLst/>
              <a:ahLst/>
              <a:cxnLst/>
              <a:rect l="l" t="t" r="r" b="b"/>
              <a:pathLst>
                <a:path w="1135380" h="714375">
                  <a:moveTo>
                    <a:pt x="113538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385935" y="2595562"/>
              <a:ext cx="1136333" cy="714375"/>
            </a:xfrm>
            <a:custGeom>
              <a:avLst/>
              <a:gdLst/>
              <a:ahLst/>
              <a:cxnLst/>
              <a:rect l="l" t="t" r="r" b="b"/>
              <a:pathLst>
                <a:path w="1136333" h="714375">
                  <a:moveTo>
                    <a:pt x="0" y="0"/>
                  </a:moveTo>
                  <a:lnTo>
                    <a:pt x="113633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385935" y="1881188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72362" y="381476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608695" y="381476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56195" y="3100388"/>
              <a:ext cx="118872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927908" y="3100388"/>
              <a:ext cx="118872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855392" y="2386012"/>
              <a:ext cx="106203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77288" y="1671638"/>
              <a:ext cx="12192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08914" y="3954304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25458" y="39543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25799" y="3239929"/>
              <a:ext cx="1049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1 的 shell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97512" y="3239929"/>
              <a:ext cx="1049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2 的 shell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28462" y="2525554"/>
              <a:ext cx="914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号进程 init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45348" y="1811179"/>
              <a:ext cx="1081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号进程 sched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7114222" y="4572000"/>
            <a:ext cx="4544378" cy="828675"/>
            <a:chOff x="7114222" y="4572000"/>
            <a:chExt cx="4544378" cy="828675"/>
          </a:xfrm>
        </p:grpSpPr>
        <p:sp>
          <p:nvSpPr>
            <p:cNvPr id="68" name="Rectangle 68"/>
            <p:cNvSpPr/>
            <p:nvPr/>
          </p:nvSpPr>
          <p:spPr>
            <a:xfrm>
              <a:off x="7114222" y="4572000"/>
              <a:ext cx="4544378" cy="828675"/>
            </a:xfrm>
            <a:prstGeom prst="roundRect">
              <a:avLst>
                <a:gd name="adj" fmla="val 1379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19010" y="4886325"/>
              <a:ext cx="200026" cy="200026"/>
              <a:chOff x="7319010" y="4886325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19010" y="48863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419023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407910" y="49863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620952" y="474345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除初始进程外，其他进程都由（父）进程创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建，形成进程家族。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进程的组成与组织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进程与程序：联系和区别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365885"/>
            <a:chOff x="533400" y="1524000"/>
            <a:chExt cx="5626418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78" y="176926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2.2.9 联系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进程包括一个程序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进程存在的目的就是执行这个程序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3080385"/>
            <a:ext cx="5626418" cy="1795462"/>
            <a:chOff x="533400" y="3080385"/>
            <a:chExt cx="5626418" cy="1795462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98574" y="32161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2259" y="32161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36647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29153" y="36647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728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7764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1133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可以长期保存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29153" y="41133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有生存期：创建时产生，撤销后消亡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224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56199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一个程序可以对应多个进程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29153" y="456199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一个进程只能执行一个程序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080385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16568" y="30803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3"/>
          <p:cNvGrpSpPr/>
          <p:nvPr/>
        </p:nvGrpSpPr>
        <p:grpSpPr>
          <a:xfrm>
            <a:off x="533400" y="5066348"/>
            <a:ext cx="5626418" cy="782955"/>
            <a:chOff x="533400" y="5066348"/>
            <a:chExt cx="5626418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506634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357813"/>
              <a:ext cx="200026" cy="200026"/>
              <a:chOff x="738188" y="535781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3578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4244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4578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214938"/>
              <a:ext cx="4653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补充：UNIX 中进程可以调用 execl 换成另一个程序，但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任一时刻它只在执行一个程序。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6464618" y="1524000"/>
            <a:ext cx="5193982" cy="4863942"/>
            <a:chOff x="6464618" y="1524000"/>
            <a:chExt cx="5193982" cy="4863942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7184" t="0" r="7185" b="0"/>
            <a:stretch>
              <a:fillRect/>
            </a:stretch>
          </p:blipFill>
          <p:spPr>
            <a:xfrm>
              <a:off x="6464618" y="1524000"/>
              <a:ext cx="5193982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624013" y="616791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菜谱是程序，照着菜谱做蛋糕的过程是进程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178220" cy="3351847"/>
            <a:chOff x="667512" y="1835468"/>
            <a:chExt cx="617822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6387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进程与进程控制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1683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UNIX 为例，看进程映像、进程状态和四个进程控制系统调用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84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2.2.10 UNIX 进程组成（映像）与状态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2.2.11 fork、execl、exit、wait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例题：8 个程序的执行次序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vfork 与 fork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5154" cy="909257"/>
            <a:chOff x="520446" y="342900"/>
            <a:chExt cx="74051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51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进程映像：常驻内存部分与内外存交换部分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image-figure"/>
          <p:cNvGrpSpPr/>
          <p:nvPr/>
        </p:nvGrpSpPr>
        <p:grpSpPr>
          <a:xfrm>
            <a:off x="666750" y="1672114"/>
            <a:ext cx="6858000" cy="4271486"/>
            <a:chOff x="666750" y="1672114"/>
            <a:chExt cx="6858000" cy="4271486"/>
          </a:xfrm>
        </p:grpSpPr>
        <p:sp>
          <p:nvSpPr>
            <p:cNvPr id="7" name="TextBox 7"/>
            <p:cNvSpPr txBox="1"/>
            <p:nvPr/>
          </p:nvSpPr>
          <p:spPr>
            <a:xfrm>
              <a:off x="1295857" y="16721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常驻内存部分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66750" y="1943100"/>
              <a:ext cx="2305050" cy="4000500"/>
            </a:xfrm>
            <a:prstGeom prst="roundRect">
              <a:avLst>
                <a:gd name="adj" fmla="val 4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2152650"/>
              <a:ext cx="1885950" cy="3238500"/>
            </a:xfrm>
            <a:prstGeom prst="roundRect">
              <a:avLst>
                <a:gd name="adj" fmla="val 4040"/>
              </a:avLst>
            </a:prstGeom>
            <a:solidFill>
              <a:srgbClr val="E2F3F4"/>
            </a:solidFill>
            <a:ln w="11430">
              <a:solidFill>
                <a:srgbClr val="0E7C8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31239" y="5544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2438400"/>
              <a:ext cx="142875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4323" y="2625566"/>
              <a:ext cx="809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 结构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191000"/>
              <a:ext cx="142875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4323" y="4378166"/>
              <a:ext cx="809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 结构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62550" y="1672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内外存交换部分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619500" y="1943100"/>
              <a:ext cx="3905250" cy="4000500"/>
            </a:xfrm>
            <a:prstGeom prst="roundRect">
              <a:avLst>
                <a:gd name="adj" fmla="val 2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29050" y="2152650"/>
              <a:ext cx="3486150" cy="1219200"/>
            </a:xfrm>
            <a:prstGeom prst="roundRect">
              <a:avLst>
                <a:gd name="adj" fmla="val 6250"/>
              </a:avLst>
            </a:prstGeom>
            <a:solidFill>
              <a:srgbClr val="E2F3F4"/>
            </a:solidFill>
            <a:ln w="1143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4089" y="3106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系统空间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343150"/>
              <a:ext cx="1333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44734" y="2506980"/>
              <a:ext cx="75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 结构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53100" y="2343150"/>
              <a:ext cx="1333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71438" y="25069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29050" y="3581400"/>
              <a:ext cx="3486150" cy="2152650"/>
            </a:xfrm>
            <a:prstGeom prst="roundRect">
              <a:avLst>
                <a:gd name="adj" fmla="val 3540"/>
              </a:avLst>
            </a:prstGeom>
            <a:solidFill>
              <a:srgbClr val="E3F5F1"/>
            </a:solidFill>
            <a:ln w="1143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64986" y="4583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用户空间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57650" y="3790950"/>
              <a:ext cx="13335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95216" y="39262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进程堆栈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381500"/>
              <a:ext cx="13335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95216" y="45167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进程数据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57650" y="4972050"/>
              <a:ext cx="13335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5216" y="51073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进程代码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819275" y="2971800"/>
              <a:ext cx="9525" cy="1114425"/>
            </a:xfrm>
            <a:custGeom>
              <a:avLst/>
              <a:gdLst/>
              <a:ahLst/>
              <a:cxnLst/>
              <a:rect l="l" t="t" r="r" b="b"/>
              <a:pathLst>
                <a:path w="9525" h="1114425">
                  <a:moveTo>
                    <a:pt x="0" y="0"/>
                  </a:moveTo>
                  <a:lnTo>
                    <a:pt x="0" y="11144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1771650" y="40767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57375" y="3489008"/>
              <a:ext cx="589598" cy="176212"/>
            </a:xfrm>
            <a:prstGeom prst="roundRect">
              <a:avLst>
                <a:gd name="adj" fmla="val 16216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90141" y="35061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B5F67"/>
                  </a:solidFill>
                  <a:latin typeface="Consolas"/>
                  <a:ea typeface="Consolas"/>
                  <a:cs typeface="Consolas"/>
                </a:rPr>
                <a:t>p_textp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2638425" y="2581275"/>
              <a:ext cx="1419225" cy="9525"/>
            </a:xfrm>
            <a:custGeom>
              <a:avLst/>
              <a:gdLst/>
              <a:ahLst/>
              <a:cxnLst/>
              <a:rect l="l" t="t" r="r" b="b"/>
              <a:pathLst>
                <a:path w="1419225" h="9525">
                  <a:moveTo>
                    <a:pt x="14192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2552700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001328" y="2365058"/>
              <a:ext cx="589598" cy="176212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18215" y="238220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B5F67"/>
                  </a:solidFill>
                  <a:latin typeface="Consolas"/>
                  <a:ea typeface="Consolas"/>
                  <a:cs typeface="Consolas"/>
                </a:rPr>
                <a:t>u_procp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2533650" y="2819400"/>
              <a:ext cx="1419225" cy="1771650"/>
            </a:xfrm>
            <a:custGeom>
              <a:avLst/>
              <a:gdLst/>
              <a:ahLst/>
              <a:cxnLst/>
              <a:rect l="l" t="t" r="r" b="b"/>
              <a:pathLst>
                <a:path w="1419225" h="1771650">
                  <a:moveTo>
                    <a:pt x="0" y="0"/>
                  </a:moveTo>
                  <a:lnTo>
                    <a:pt x="800100" y="0"/>
                  </a:lnTo>
                  <a:lnTo>
                    <a:pt x="800100" y="1771650"/>
                  </a:lnTo>
                  <a:lnTo>
                    <a:pt x="1419225" y="17716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3943350" y="4543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3333750" y="40005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3943350" y="3952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52800" y="3393758"/>
              <a:ext cx="516255" cy="176212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85566" y="34109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B5F67"/>
                  </a:solidFill>
                  <a:latin typeface="Consolas"/>
                  <a:ea typeface="Consolas"/>
                  <a:cs typeface="Consolas"/>
                </a:rPr>
                <a:t>p_addr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533650" y="4457700"/>
              <a:ext cx="1419225" cy="723900"/>
            </a:xfrm>
            <a:custGeom>
              <a:avLst/>
              <a:gdLst/>
              <a:ahLst/>
              <a:cxnLst/>
              <a:rect l="l" t="t" r="r" b="b"/>
              <a:pathLst>
                <a:path w="1419225" h="723900">
                  <a:moveTo>
                    <a:pt x="0" y="0"/>
                  </a:moveTo>
                  <a:lnTo>
                    <a:pt x="609600" y="0"/>
                  </a:lnTo>
                  <a:lnTo>
                    <a:pt x="609600" y="723900"/>
                  </a:lnTo>
                  <a:lnTo>
                    <a:pt x="1419225" y="7239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3943350" y="5133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525078" y="4251008"/>
              <a:ext cx="589598" cy="176212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541965" y="42681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B5F67"/>
                  </a:solidFill>
                  <a:latin typeface="Consolas"/>
                  <a:ea typeface="Consolas"/>
                  <a:cs typeface="Consolas"/>
                </a:rPr>
                <a:t>x_caddr</a:t>
              </a:r>
            </a:p>
          </p:txBody>
        </p:sp>
      </p:grpSp>
      <p:grpSp>
        <p:nvGrpSpPr>
          <p:cNvPr id="55" name="note-proc"/>
          <p:cNvGrpSpPr/>
          <p:nvPr/>
        </p:nvGrpSpPr>
        <p:grpSpPr>
          <a:xfrm>
            <a:off x="7848600" y="1524000"/>
            <a:ext cx="3810000" cy="1524000"/>
            <a:chOff x="7848600" y="1524000"/>
            <a:chExt cx="3810000" cy="1524000"/>
          </a:xfrm>
        </p:grpSpPr>
        <p:sp>
          <p:nvSpPr>
            <p:cNvPr id="50" name="Rectangle 50"/>
            <p:cNvSpPr/>
            <p:nvPr/>
          </p:nvSpPr>
          <p:spPr>
            <a:xfrm>
              <a:off x="7848600" y="1524000"/>
              <a:ext cx="3810000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58125" y="1657350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77200" y="1657350"/>
              <a:ext cx="15973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45031" y="1716881"/>
              <a:ext cx="1462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proc 结构：常驻内存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71485" y="2031206"/>
              <a:ext cx="314071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进程被换到外存后，系统仍要靠它调度、决定何时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把进程换入，所以它始终留在内存。</a:t>
              </a:r>
            </a:p>
          </p:txBody>
        </p:sp>
      </p:grpSp>
      <p:grpSp>
        <p:nvGrpSpPr>
          <p:cNvPr id="61" name="note-user"/>
          <p:cNvGrpSpPr/>
          <p:nvPr/>
        </p:nvGrpSpPr>
        <p:grpSpPr>
          <a:xfrm>
            <a:off x="7848600" y="3181350"/>
            <a:ext cx="3810000" cy="1524000"/>
            <a:chOff x="7848600" y="3181350"/>
            <a:chExt cx="3810000" cy="1524000"/>
          </a:xfrm>
        </p:grpSpPr>
        <p:sp>
          <p:nvSpPr>
            <p:cNvPr id="56" name="Rectangle 56"/>
            <p:cNvSpPr/>
            <p:nvPr/>
          </p:nvSpPr>
          <p:spPr>
            <a:xfrm>
              <a:off x="7848600" y="3181350"/>
              <a:ext cx="3810000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858125" y="3314700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77200" y="3314700"/>
              <a:ext cx="145542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8980" y="3374231"/>
              <a:ext cx="1311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user 结构：可换出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71485" y="3688556"/>
              <a:ext cx="314071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只在进程位于内存时才需要，可以和进程的数据、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堆栈一起被换到外存。</a:t>
              </a:r>
            </a:p>
          </p:txBody>
        </p:sp>
      </p:grpSp>
      <p:grpSp>
        <p:nvGrpSpPr>
          <p:cNvPr id="67" name="note-text"/>
          <p:cNvGrpSpPr/>
          <p:nvPr/>
        </p:nvGrpSpPr>
        <p:grpSpPr>
          <a:xfrm>
            <a:off x="7848600" y="4838700"/>
            <a:ext cx="3810000" cy="1524000"/>
            <a:chOff x="7848600" y="4838700"/>
            <a:chExt cx="3810000" cy="1524000"/>
          </a:xfrm>
        </p:grpSpPr>
        <p:sp>
          <p:nvSpPr>
            <p:cNvPr id="62" name="Rectangle 62"/>
            <p:cNvSpPr/>
            <p:nvPr/>
          </p:nvSpPr>
          <p:spPr>
            <a:xfrm>
              <a:off x="7848600" y="4838700"/>
              <a:ext cx="3810000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858125" y="4972050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77200" y="4972050"/>
              <a:ext cx="159734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45031" y="5031581"/>
              <a:ext cx="1462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text 结构：共享正文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71485" y="5345906"/>
              <a:ext cx="3140710" cy="648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描述进程的正文段（代码）。多个进程执行同一程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序时共用一份代码，x_count 记录引用它的进程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2798" cy="909257"/>
            <a:chOff x="520446" y="342900"/>
            <a:chExt cx="67627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 结构：进程换出后仍要留在内存的信息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950970"/>
            <a:chOff x="533400" y="1524000"/>
            <a:chExt cx="5951220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struct proc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496310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p_stat;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进程状态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p_flag;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标志，如是否在内存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p_pri;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优先数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p_sig;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收到的信号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p_uid;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用户号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p_time;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驻留时间，调度用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p_cpu;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CPU 使用量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p_nice;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nice 值，调度用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p_ttyp;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控制终端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p_pid;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进程号，唯一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p_ppid;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父进程号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p_addr;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可交换映像的地址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p_size;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映像大小（×64 字节）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p_wchan;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正在等待的事件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*p_textp;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 text 结构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32" name="c2-table-1"/>
          <p:cNvGrpSpPr/>
          <p:nvPr/>
        </p:nvGrpSpPr>
        <p:grpSpPr>
          <a:xfrm>
            <a:off x="6789420" y="1524000"/>
            <a:ext cx="4869180" cy="2926080"/>
            <a:chOff x="6789420" y="1524000"/>
            <a:chExt cx="4869180" cy="2926080"/>
          </a:xfrm>
        </p:grpSpPr>
        <p:sp>
          <p:nvSpPr>
            <p:cNvPr id="11" name="Rectangle 11"/>
            <p:cNvSpPr/>
            <p:nvPr/>
          </p:nvSpPr>
          <p:spPr>
            <a:xfrm>
              <a:off x="6789420" y="1524000"/>
              <a:ext cx="486918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0759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4025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相关字段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9610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51545" y="2150745"/>
              <a:ext cx="291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p_pid、p_ppid、p_uid、p_ttyp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89420" y="24945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89420" y="2499360"/>
              <a:ext cx="486918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9610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51545" y="263842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p_stat、p_flag、p_sig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789420" y="298227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96100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51545" y="3126105"/>
              <a:ext cx="2953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p_pri、p_time、p_cpu、p_nice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89420" y="34699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89420" y="3474720"/>
              <a:ext cx="486918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96100" y="3613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映像位置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51545" y="361378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p_addr、p_size、p_textp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39576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6100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51545" y="4101465"/>
              <a:ext cx="833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p_wchan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89420" y="1524000"/>
              <a:ext cx="4869180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440102" y="1524000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callout-2"/>
          <p:cNvGrpSpPr/>
          <p:nvPr/>
        </p:nvGrpSpPr>
        <p:grpSpPr>
          <a:xfrm>
            <a:off x="6789420" y="4640580"/>
            <a:ext cx="4869180" cy="834390"/>
            <a:chOff x="6789420" y="4640580"/>
            <a:chExt cx="4869180" cy="834390"/>
          </a:xfrm>
        </p:grpSpPr>
        <p:sp>
          <p:nvSpPr>
            <p:cNvPr id="33" name="Rectangle 33"/>
            <p:cNvSpPr/>
            <p:nvPr/>
          </p:nvSpPr>
          <p:spPr>
            <a:xfrm>
              <a:off x="6789420" y="4640580"/>
              <a:ext cx="4869180" cy="834390"/>
            </a:xfrm>
            <a:prstGeom prst="roundRect">
              <a:avLst>
                <a:gd name="adj" fmla="val 136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994208" y="4957765"/>
              <a:ext cx="200023" cy="200023"/>
              <a:chOff x="6994208" y="495776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994208" y="49577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127558" y="50244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296150" y="4814888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进程在外存时，系统仍要据此调度、决定把谁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换入内存，所以 proc 结构必须常驻内存。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52672" cy="909257"/>
            <a:chOff x="520446" y="342900"/>
            <a:chExt cx="36526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526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 结构与 text 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6276022" cy="4800600"/>
            <a:chOff x="533400" y="1524000"/>
            <a:chExt cx="6276022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74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9665" y="1645444"/>
              <a:ext cx="1311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 结构中的字段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661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1625" y="2045494"/>
              <a:ext cx="173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u_rsav[2]、u_fsav[25]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2922" y="20454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切换时保存的寄存器、浮点寄存器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5455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1625" y="254555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u_uid、u_gid；u_ruid、u_rgid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2922" y="2445544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有效用户号、组号；实际用户号、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045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71625" y="304561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u_procp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2922" y="3045619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指向本进程的 proc 结构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24225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545681"/>
              <a:ext cx="279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71625" y="3545681"/>
              <a:ext cx="2303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u_base、u_count、u_offset[2]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2922" y="3445669"/>
              <a:ext cx="22730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的缓冲地址、剩余字节数、文件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内偏移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195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71625" y="4045744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u_cdir、u_pdir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2922" y="4045744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当前目录、父目录的 inode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195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2435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445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71625" y="4445794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u_uisa[16]、u_uisd[16]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32922" y="44457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段地址、段描述的原型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196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4845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71625" y="4845844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u_tsize、u_dsize、u_ssize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2922" y="4845844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正文、数据、栈的大小（×64）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196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124450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5245894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文件与调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71625" y="5345906"/>
              <a:ext cx="2019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u_ofile[NOFILE]、u_arg[5]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32922" y="53459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打开文件指针；系统调用参数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7197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555" y="59459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71625" y="5845969"/>
              <a:ext cx="21379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u_utime、u_stime、u_cutime、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u_cstime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32922" y="5845969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本进程及子进程的用户态、核心态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276022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469708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231005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ode-1"/>
          <p:cNvGrpSpPr/>
          <p:nvPr/>
        </p:nvGrpSpPr>
        <p:grpSpPr>
          <a:xfrm>
            <a:off x="7114222" y="1524000"/>
            <a:ext cx="4544378" cy="1912620"/>
            <a:chOff x="7114222" y="1524000"/>
            <a:chExt cx="4544378" cy="1912620"/>
          </a:xfrm>
        </p:grpSpPr>
        <p:sp>
          <p:nvSpPr>
            <p:cNvPr id="54" name="Rectangle 54"/>
            <p:cNvSpPr/>
            <p:nvPr/>
          </p:nvSpPr>
          <p:spPr>
            <a:xfrm>
              <a:off x="7114222" y="1524000"/>
              <a:ext cx="454437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42620" y="1675924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struct text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42620" y="1935956"/>
              <a:ext cx="2729357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x_daddr;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磁盘地址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x_caddr;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内存地址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x_size;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大小（×64）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*x_iptr;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对应 inode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x_count;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引用计数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x_ccount;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在内存的引用数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7114222" y="3607118"/>
            <a:ext cx="4544378" cy="729615"/>
            <a:chOff x="7114222" y="3607118"/>
            <a:chExt cx="4544378" cy="729615"/>
          </a:xfrm>
        </p:grpSpPr>
        <p:sp>
          <p:nvSpPr>
            <p:cNvPr id="58" name="Rectangle 58"/>
            <p:cNvSpPr/>
            <p:nvPr/>
          </p:nvSpPr>
          <p:spPr>
            <a:xfrm>
              <a:off x="7114222" y="360711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19010" y="3870962"/>
              <a:ext cx="200023" cy="200023"/>
              <a:chOff x="7319010" y="3870962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19010" y="38709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452360" y="3937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621714" y="3752850"/>
              <a:ext cx="36998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 结构只在进程位于内存时才用得到，可以和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进程的程序一起换到外存。</a:t>
              </a:r>
            </a:p>
          </p:txBody>
        </p:sp>
      </p:grpSp>
      <p:grpSp>
        <p:nvGrpSpPr>
          <p:cNvPr id="69" name="c2-card-3"/>
          <p:cNvGrpSpPr/>
          <p:nvPr/>
        </p:nvGrpSpPr>
        <p:grpSpPr>
          <a:xfrm>
            <a:off x="7114222" y="4506278"/>
            <a:ext cx="4544378" cy="1818322"/>
            <a:chOff x="7114222" y="4506278"/>
            <a:chExt cx="4544378" cy="1818322"/>
          </a:xfrm>
        </p:grpSpPr>
        <p:sp>
          <p:nvSpPr>
            <p:cNvPr id="64" name="Rectangle 64"/>
            <p:cNvSpPr/>
            <p:nvPr/>
          </p:nvSpPr>
          <p:spPr>
            <a:xfrm>
              <a:off x="7114222" y="4506278"/>
              <a:ext cx="4544378" cy="1818322"/>
            </a:xfrm>
            <a:prstGeom prst="roundRect">
              <a:avLst>
                <a:gd name="adj" fmla="val 73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23748" y="4639628"/>
              <a:ext cx="47625" cy="15516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339012" y="46929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30732" y="47258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32154" y="5036820"/>
              <a:ext cx="34255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 user 结构中的 </a:t>
              </a:r>
              <a:r>
                <a:rPr lang="en-US" sz="135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u_sszie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35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u_ssize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（stack size）。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29063" cy="909257"/>
            <a:chOff x="520446" y="342900"/>
            <a:chExt cx="3629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29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进程状态及其转换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4" name="unix-states"/>
          <p:cNvGrpSpPr/>
          <p:nvPr/>
        </p:nvGrpSpPr>
        <p:grpSpPr>
          <a:xfrm>
            <a:off x="533400" y="1524000"/>
            <a:ext cx="7734300" cy="4838700"/>
            <a:chOff x="533400" y="1524000"/>
            <a:chExt cx="7734300" cy="4838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734300" cy="4838700"/>
            </a:xfrm>
            <a:prstGeom prst="roundRect">
              <a:avLst>
                <a:gd name="adj" fmla="val 27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4057650" y="2098358"/>
              <a:ext cx="9525" cy="308610"/>
            </a:xfrm>
            <a:custGeom>
              <a:avLst/>
              <a:gdLst/>
              <a:ahLst/>
              <a:cxnLst/>
              <a:rect l="l" t="t" r="r" b="b"/>
              <a:pathLst>
                <a:path w="9525" h="308610">
                  <a:moveTo>
                    <a:pt x="0" y="3086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4010025" y="20126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4324350" y="2012632"/>
              <a:ext cx="9525" cy="308610"/>
            </a:xfrm>
            <a:custGeom>
              <a:avLst/>
              <a:gdLst/>
              <a:ahLst/>
              <a:cxnLst/>
              <a:rect l="l" t="t" r="r" b="b"/>
              <a:pathLst>
                <a:path w="9525" h="308610">
                  <a:moveTo>
                    <a:pt x="0" y="0"/>
                  </a:moveTo>
                  <a:lnTo>
                    <a:pt x="0" y="3086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76725" y="23117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743450" y="2628900"/>
              <a:ext cx="1266825" cy="9525"/>
            </a:xfrm>
            <a:custGeom>
              <a:avLst/>
              <a:gdLst/>
              <a:ahLst/>
              <a:cxnLst/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68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6000750" y="2581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690812" y="2863215"/>
              <a:ext cx="1117282" cy="681038"/>
            </a:xfrm>
            <a:custGeom>
              <a:avLst/>
              <a:gdLst/>
              <a:ahLst/>
              <a:cxnLst/>
              <a:rect l="l" t="t" r="r" b="b"/>
              <a:pathLst>
                <a:path w="1117282" h="681038">
                  <a:moveTo>
                    <a:pt x="0" y="681038"/>
                  </a:moveTo>
                  <a:lnTo>
                    <a:pt x="11172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774758" y="281844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0"/>
                  </a:moveTo>
                  <a:lnTo>
                    <a:pt x="49530" y="89535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191000" y="2857500"/>
              <a:ext cx="9525" cy="561975"/>
            </a:xfrm>
            <a:custGeom>
              <a:avLst/>
              <a:gdLst/>
              <a:ahLst/>
              <a:cxnLst/>
              <a:rect l="l" t="t" r="r" b="b"/>
              <a:pathLst>
                <a:path w="952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143375" y="34099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489132" y="2821305"/>
              <a:ext cx="1045845" cy="673417"/>
            </a:xfrm>
            <a:custGeom>
              <a:avLst/>
              <a:gdLst/>
              <a:ahLst/>
              <a:cxnLst/>
              <a:rect l="l" t="t" r="r" b="b"/>
              <a:pathLst>
                <a:path w="1045845" h="673417">
                  <a:moveTo>
                    <a:pt x="0" y="0"/>
                  </a:moveTo>
                  <a:lnTo>
                    <a:pt x="1045845" y="6734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5500688" y="3449955"/>
              <a:ext cx="106680" cy="91440"/>
            </a:xfrm>
            <a:custGeom>
              <a:avLst/>
              <a:gdLst/>
              <a:ahLst/>
              <a:cxnLst/>
              <a:rect l="l" t="t" r="r" b="b"/>
              <a:pathLst>
                <a:path w="106680" h="91440">
                  <a:moveTo>
                    <a:pt x="106680" y="91440"/>
                  </a:moveTo>
                  <a:lnTo>
                    <a:pt x="0" y="80010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27245" y="2768918"/>
              <a:ext cx="2475548" cy="798195"/>
            </a:xfrm>
            <a:custGeom>
              <a:avLst/>
              <a:gdLst/>
              <a:ahLst/>
              <a:cxnLst/>
              <a:rect l="l" t="t" r="r" b="b"/>
              <a:pathLst>
                <a:path w="2475548" h="798195">
                  <a:moveTo>
                    <a:pt x="0" y="0"/>
                  </a:moveTo>
                  <a:lnTo>
                    <a:pt x="2475548" y="7981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078980" y="3518535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5248"/>
                  </a:moveTo>
                  <a:lnTo>
                    <a:pt x="0" y="90488"/>
                  </a:lnTo>
                  <a:lnTo>
                    <a:pt x="2952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019425" y="37338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2933700" y="3686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686050" y="3948112"/>
              <a:ext cx="3028950" cy="147638"/>
            </a:xfrm>
            <a:custGeom>
              <a:avLst/>
              <a:gdLst/>
              <a:ahLst/>
              <a:cxnLst/>
              <a:rect l="l" t="t" r="r" b="b"/>
              <a:pathLst>
                <a:path w="3028950" h="147638">
                  <a:moveTo>
                    <a:pt x="3028950" y="0"/>
                  </a:moveTo>
                  <a:lnTo>
                    <a:pt x="3028950" y="147638"/>
                  </a:lnTo>
                  <a:lnTo>
                    <a:pt x="0" y="147638"/>
                  </a:lnTo>
                  <a:lnTo>
                    <a:pt x="0" y="619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638425" y="39243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514600" y="3948112"/>
              <a:ext cx="4914900" cy="300038"/>
            </a:xfrm>
            <a:custGeom>
              <a:avLst/>
              <a:gdLst/>
              <a:ahLst/>
              <a:cxnLst/>
              <a:rect l="l" t="t" r="r" b="b"/>
              <a:pathLst>
                <a:path w="4914900" h="300038">
                  <a:moveTo>
                    <a:pt x="4914900" y="0"/>
                  </a:moveTo>
                  <a:lnTo>
                    <a:pt x="4914900" y="300038"/>
                  </a:lnTo>
                  <a:lnTo>
                    <a:pt x="0" y="300038"/>
                  </a:lnTo>
                  <a:lnTo>
                    <a:pt x="0" y="93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466975" y="39557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190750" y="4033838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2143125" y="3948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Polygon 30"/>
            <p:cNvSpPr/>
            <p:nvPr/>
          </p:nvSpPr>
          <p:spPr>
            <a:xfrm>
              <a:off x="2143125" y="5024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191000" y="3962400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0"/>
                  </a:moveTo>
                  <a:lnTo>
                    <a:pt x="0" y="10572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4143375" y="5010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096000" y="3948112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6048375" y="5024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810500" y="3948112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7762875" y="5024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565910" y="3991928"/>
              <a:ext cx="499110" cy="406717"/>
            </a:xfrm>
            <a:custGeom>
              <a:avLst/>
              <a:gdLst/>
              <a:ahLst/>
              <a:cxnLst/>
              <a:rect l="l" t="t" r="r" b="b"/>
              <a:pathLst>
                <a:path w="499110" h="406717">
                  <a:moveTo>
                    <a:pt x="0" y="406717"/>
                  </a:moveTo>
                  <a:lnTo>
                    <a:pt x="4991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2026920" y="3937635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60007" y="9715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579245" y="4740592"/>
              <a:ext cx="463867" cy="342900"/>
            </a:xfrm>
            <a:custGeom>
              <a:avLst/>
              <a:gdLst/>
              <a:ahLst/>
              <a:cxnLst/>
              <a:rect l="l" t="t" r="r" b="b"/>
              <a:pathLst>
                <a:path w="463867" h="342900">
                  <a:moveTo>
                    <a:pt x="0" y="0"/>
                  </a:moveTo>
                  <a:lnTo>
                    <a:pt x="463867" y="3429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2006918" y="5039678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104775" y="94297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09600" y="4572000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876300" y="4524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3019425" y="53340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6191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2933700" y="5286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686050" y="5548312"/>
              <a:ext cx="3028950" cy="242888"/>
            </a:xfrm>
            <a:custGeom>
              <a:avLst/>
              <a:gdLst/>
              <a:ahLst/>
              <a:cxnLst/>
              <a:rect l="l" t="t" r="r" b="b"/>
              <a:pathLst>
                <a:path w="3028950" h="242888">
                  <a:moveTo>
                    <a:pt x="3028950" y="0"/>
                  </a:moveTo>
                  <a:lnTo>
                    <a:pt x="3028950" y="242888"/>
                  </a:lnTo>
                  <a:lnTo>
                    <a:pt x="0" y="242888"/>
                  </a:lnTo>
                  <a:lnTo>
                    <a:pt x="0" y="619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2638425" y="552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2514600" y="5548312"/>
              <a:ext cx="4914900" cy="452438"/>
            </a:xfrm>
            <a:custGeom>
              <a:avLst/>
              <a:gdLst/>
              <a:ahLst/>
              <a:cxnLst/>
              <a:rect l="l" t="t" r="r" b="b"/>
              <a:pathLst>
                <a:path w="4914900" h="452438">
                  <a:moveTo>
                    <a:pt x="4914900" y="0"/>
                  </a:moveTo>
                  <a:lnTo>
                    <a:pt x="4914900" y="452438"/>
                  </a:lnTo>
                  <a:lnTo>
                    <a:pt x="0" y="452438"/>
                  </a:lnTo>
                  <a:lnTo>
                    <a:pt x="0" y="933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2466975" y="55559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638550" y="1562100"/>
              <a:ext cx="11049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16020" y="1653540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SRUN LOAD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40927" y="1814036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user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3638550" y="2400300"/>
              <a:ext cx="11049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816020" y="2491740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SRUN LOAD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68366" y="2652236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kernel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48375" y="2371725"/>
              <a:ext cx="1047750" cy="51435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096000" y="2419350"/>
              <a:ext cx="9525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2937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61557" y="2563178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SZOMB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828800" y="3505200"/>
              <a:ext cx="11049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211629" y="359664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SRUN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222962" y="37571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LOAD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3638550" y="3505200"/>
              <a:ext cx="11049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939235" y="359664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SSLEEP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032712" y="37571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LOAD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353050" y="3505200"/>
              <a:ext cx="11049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94807" y="3596640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SWAIT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747212" y="37571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LOAD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067550" y="3505200"/>
              <a:ext cx="11049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09307" y="3596640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SSTOP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61712" y="37571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LOAD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71550" y="4362450"/>
              <a:ext cx="7620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82929" y="4506278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SIDL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1828800" y="5105400"/>
              <a:ext cx="1104900" cy="457200"/>
            </a:xfrm>
            <a:prstGeom prst="ellipse">
              <a:avLst/>
            </a:prstGeom>
            <a:solidFill>
              <a:srgbClr val="EEF1F6"/>
            </a:solidFill>
            <a:ln w="17145">
              <a:solidFill>
                <a:srgbClr val="5B6475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211629" y="519684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SRUN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222962" y="53573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SWAP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3638550" y="5105400"/>
              <a:ext cx="1104900" cy="457200"/>
            </a:xfrm>
            <a:prstGeom prst="ellipse">
              <a:avLst/>
            </a:prstGeom>
            <a:solidFill>
              <a:srgbClr val="EEF1F6"/>
            </a:solidFill>
            <a:ln w="17145">
              <a:solidFill>
                <a:srgbClr val="5B6475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939235" y="519684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SSLEEP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032712" y="53573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SWAP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5353050" y="5105400"/>
              <a:ext cx="1104900" cy="457200"/>
            </a:xfrm>
            <a:prstGeom prst="ellipse">
              <a:avLst/>
            </a:prstGeom>
            <a:solidFill>
              <a:srgbClr val="EEF1F6"/>
            </a:solidFill>
            <a:ln w="17145">
              <a:solidFill>
                <a:srgbClr val="5B6475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694807" y="5196840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SWAIT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747212" y="53573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SWAP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067550" y="5105400"/>
              <a:ext cx="1104900" cy="457200"/>
            </a:xfrm>
            <a:prstGeom prst="ellipse">
              <a:avLst/>
            </a:prstGeom>
            <a:solidFill>
              <a:srgbClr val="EEF1F6"/>
            </a:solidFill>
            <a:ln w="17145">
              <a:solidFill>
                <a:srgbClr val="5B647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09307" y="5196840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SSTOP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461712" y="5357336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Consolas"/>
                  <a:ea typeface="Consolas"/>
                  <a:cs typeface="Consolas"/>
                </a:rPr>
                <a:t>SWAP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563302" y="2136458"/>
              <a:ext cx="456248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558464" y="2153602"/>
              <a:ext cx="428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置PSW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362450" y="213645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395216" y="21536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210175" y="242220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234940" y="2439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2676525" y="2955608"/>
              <a:ext cx="74295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689288" y="2972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处理机分派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229100" y="308895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61866" y="3106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睡眠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857750" y="305085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882515" y="3068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924550" y="301275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949315" y="30299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跟踪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3114675" y="352710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3139440" y="35442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唤醒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781550" y="4012882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4806315" y="40300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唤醒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362700" y="4165282"/>
              <a:ext cx="6096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379464" y="4182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结束跟踪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2247900" y="4689158"/>
              <a:ext cx="682942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2280666" y="4706302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换入/换出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4229100" y="468915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4261866" y="4706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134100" y="468915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166866" y="4706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7848600" y="468915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881366" y="4706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571625" y="4079558"/>
              <a:ext cx="47625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592390" y="4096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内存够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1447800" y="4917758"/>
              <a:ext cx="6096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464564" y="4934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内存不够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577215" y="4346258"/>
              <a:ext cx="36957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01180" y="43634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fork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3114675" y="5127308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3139440" y="51444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唤醒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4781550" y="5708332"/>
              <a:ext cx="3429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4806315" y="57254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唤醒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362700" y="5917882"/>
              <a:ext cx="609600" cy="176212"/>
            </a:xfrm>
            <a:prstGeom prst="roundRect">
              <a:avLst>
                <a:gd name="adj" fmla="val 1621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379464" y="5935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结束跟踪</a:t>
              </a:r>
            </a:p>
          </p:txBody>
        </p:sp>
      </p:grpSp>
      <p:grpSp>
        <p:nvGrpSpPr>
          <p:cNvPr id="149" name="state-notes"/>
          <p:cNvGrpSpPr/>
          <p:nvPr/>
        </p:nvGrpSpPr>
        <p:grpSpPr>
          <a:xfrm>
            <a:off x="8458200" y="1524000"/>
            <a:ext cx="3200400" cy="4838700"/>
            <a:chOff x="8458200" y="1524000"/>
            <a:chExt cx="3200400" cy="4838700"/>
          </a:xfrm>
        </p:grpSpPr>
        <p:sp>
          <p:nvSpPr>
            <p:cNvPr id="125" name="Rectangle 125"/>
            <p:cNvSpPr/>
            <p:nvPr/>
          </p:nvSpPr>
          <p:spPr>
            <a:xfrm>
              <a:off x="8458200" y="1524000"/>
              <a:ext cx="3200400" cy="48387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8642223" y="1672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状态名称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643366" y="19821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SRUN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328785" y="19740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可运行：就绪或正在运行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643366" y="226790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SSLEEP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328785" y="22598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高优先级睡眠，不响应信号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643366" y="25536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SWAIT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9328785" y="2545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低优先级睡眠，可被信号唤醒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8643366" y="283940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SSTOP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328785" y="28313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被跟踪（调试）而暂停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643366" y="31251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SIDL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9328785" y="31170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创建过程中的中间状态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8643366" y="341090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SZOMB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9328785" y="34028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僵死：已终止，等父进程回收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8643366" y="36966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LOAD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9328785" y="3688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映像在内存中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643366" y="39824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SWAP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9328785" y="39743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映像已换出到外存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643366" y="42681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user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9328785" y="42600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用户态运行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643366" y="45539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kernel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328785" y="45458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核心态运行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8610600" y="4972050"/>
              <a:ext cx="28956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8642985" y="5117306"/>
              <a:ext cx="2678430" cy="84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对照五状态模型：SIDL 对应初创，SRUN 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应就绪和运行，SSLEEP、SWAIT 对应等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待，SZOMB 对应终止。UNIX 另外区分了是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否换出、是否被跟踪。</a:t>
              </a:r>
            </a:p>
          </p:txBody>
        </p:sp>
      </p:grpSp>
      <p:grpSp>
        <p:nvGrpSpPr>
          <p:cNvPr id="1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0" name="TextBox 15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03758" cy="909257"/>
            <a:chOff x="520446" y="342900"/>
            <a:chExt cx="80037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037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四个进程控制系统调用：fork、execl、exit、wait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3238500"/>
            <a:chOff x="533400" y="1524000"/>
            <a:chExt cx="11125200" cy="3238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2594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5206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8708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返回值与说明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1255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pid = fork()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44265" y="215074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创建子进程，子进程是父进程的复制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92315" y="2150745"/>
              <a:ext cx="4253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父进程得到子进程号（&gt; 0），子进程得到 0；失败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−1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905125"/>
              <a:ext cx="206549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execl(prog, arg0, …,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argn-1, 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4265" y="2905125"/>
              <a:ext cx="29203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arg0 … argn-1 为参数执行程序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2315" y="2905125"/>
              <a:ext cx="39776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覆盖原来的程序，从 prog 的第一条指令开始执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行；参数表以 0 结尾；成功时不返回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136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exit(status)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44265" y="36595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进程自我结束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2315" y="3659505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status 为终止状态；唤醒父进程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03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0812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280535"/>
              <a:ext cx="2061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pid = wait(&amp;status)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44265" y="42805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等待子进程终止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2315" y="4147185"/>
              <a:ext cx="41300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返回终止的子进程编号；status 带回该子进程的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终止状态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3238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3282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8087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4953000"/>
            <a:ext cx="11125200" cy="782955"/>
            <a:chOff x="533400" y="4953000"/>
            <a:chExt cx="11125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4953000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244465"/>
              <a:ext cx="200026" cy="200025"/>
              <a:chOff x="738188" y="524446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2444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2889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4000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101590"/>
              <a:ext cx="9978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fork 调用一次、返回两次：父进程和子进程各从 fork 返回一次，返回值不同，程序靠返回值判断自己是父进程还是子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进程。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6079" cy="909257"/>
            <a:chOff x="520446" y="342900"/>
            <a:chExt cx="71060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6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 之后：同一段代码，父子进程走不同分支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877378"/>
            <a:chOff x="533400" y="1524000"/>
            <a:chExt cx="4977765" cy="18773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77378"/>
            </a:xfrm>
            <a:prstGeom prst="roundRect">
              <a:avLst>
                <a:gd name="adj" fmla="val 50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父进程的程序（子进程复制了同一份）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273" y="1940719"/>
              <a:ext cx="1719834" cy="13971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pid = fork();</a:t>
              </a:r>
              <a:br/>
              <a:r>
                <a:rPr lang="en-US" sz="12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0) {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子进程代码 */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2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父进程代码 */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591878"/>
            <a:ext cx="4977765" cy="1059180"/>
            <a:chOff x="533400" y="3591878"/>
            <a:chExt cx="4977765" cy="1059180"/>
          </a:xfrm>
        </p:grpSpPr>
        <p:sp>
          <p:nvSpPr>
            <p:cNvPr id="11" name="Rectangle 11"/>
            <p:cNvSpPr/>
            <p:nvPr/>
          </p:nvSpPr>
          <p:spPr>
            <a:xfrm>
              <a:off x="533400" y="3591878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021455"/>
              <a:ext cx="200026" cy="200026"/>
              <a:chOff x="738188" y="402145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0214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0881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1214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3740468"/>
              <a:ext cx="3977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 复制 proc 结构、user 结构和整个地址空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间。子进程从 fork 返回处开始执行，而不是从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程序开头执行。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815965" y="1524000"/>
            <a:ext cx="5842635" cy="3459480"/>
            <a:chOff x="5815965" y="1524000"/>
            <a:chExt cx="5842635" cy="3459480"/>
          </a:xfrm>
        </p:grpSpPr>
        <p:sp>
          <p:nvSpPr>
            <p:cNvPr id="18" name="Rectangle 18"/>
            <p:cNvSpPr/>
            <p:nvPr/>
          </p:nvSpPr>
          <p:spPr>
            <a:xfrm>
              <a:off x="5815965" y="1524000"/>
              <a:ext cx="5842635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175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80083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父进程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2510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子进程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22645" y="215074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p_pid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744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16933" y="215074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4945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15965" y="249936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22645" y="263842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p_ppid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2744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72464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29822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22645" y="3126105"/>
              <a:ext cx="1353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 的返回值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6126" y="3126105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12（子进程号）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82784" y="312610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0（恒为 0）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34699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3474720"/>
              <a:ext cx="584263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2645" y="3613785"/>
              <a:ext cx="1376839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pid == 0 是否成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0083" y="374713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26065" y="37471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4224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2645" y="45015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执行的分支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97165" y="4368165"/>
              <a:ext cx="1586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else 分支：父进程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51708" y="4368165"/>
              <a:ext cx="1567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分支：子进程代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1524000"/>
              <a:ext cx="5842635" cy="3459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63802" y="1524000"/>
              <a:ext cx="9525" cy="3459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08820" y="1524000"/>
              <a:ext cx="9525" cy="3459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llout-2"/>
          <p:cNvGrpSpPr/>
          <p:nvPr/>
        </p:nvGrpSpPr>
        <p:grpSpPr>
          <a:xfrm>
            <a:off x="5815965" y="5173980"/>
            <a:ext cx="5842635" cy="782955"/>
            <a:chOff x="5815965" y="5173980"/>
            <a:chExt cx="5842635" cy="782955"/>
          </a:xfrm>
        </p:grpSpPr>
        <p:sp>
          <p:nvSpPr>
            <p:cNvPr id="47" name="Rectangle 47"/>
            <p:cNvSpPr/>
            <p:nvPr/>
          </p:nvSpPr>
          <p:spPr>
            <a:xfrm>
              <a:off x="5815965" y="517398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020753" y="5465447"/>
              <a:ext cx="200023" cy="200023"/>
              <a:chOff x="6020753" y="5465447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20753" y="54654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154103" y="55321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322695" y="532257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复制之后两个进程的数据各是一份：子进程修改自己的变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量，父进程看不到。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0346" cy="909257"/>
            <a:chOff x="520446" y="342900"/>
            <a:chExt cx="52403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03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execl 换程序，exit 与 wait 收尾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869180" cy="2014538"/>
            <a:chOff x="533400" y="1524000"/>
            <a:chExt cx="4869180" cy="2014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014538"/>
            </a:xfrm>
            <a:prstGeom prst="roundRect">
              <a:avLst>
                <a:gd name="adj" fmla="val 472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父进程的程序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654" y="1939290"/>
              <a:ext cx="3204972" cy="1532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pid = fork();</a:t>
              </a:r>
              <a:br/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0) {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execl(</a:t>
              </a:r>
              <a:r>
                <a:rPr lang="en-US" sz="12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"P"</a:t>
              </a:r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0);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子进程换成 P */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父进程代码 */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id = wait(&amp;s);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等子进程结束 */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729038"/>
            <a:ext cx="4869180" cy="932498"/>
            <a:chOff x="533400" y="3729038"/>
            <a:chExt cx="4869180" cy="932498"/>
          </a:xfrm>
        </p:grpSpPr>
        <p:sp>
          <p:nvSpPr>
            <p:cNvPr id="11" name="Rectangle 11"/>
            <p:cNvSpPr/>
            <p:nvPr/>
          </p:nvSpPr>
          <p:spPr>
            <a:xfrm>
              <a:off x="533400" y="3729038"/>
              <a:ext cx="4869180" cy="932498"/>
            </a:xfrm>
            <a:prstGeom prst="roundRect">
              <a:avLst>
                <a:gd name="adj" fmla="val 1021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880961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 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0654" y="4144327"/>
              <a:ext cx="3204972" cy="45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...         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的工作 */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exit(2);    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终止状态为 2 */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5707380" y="1533525"/>
            <a:ext cx="5692521" cy="2764440"/>
            <a:chOff x="5707380" y="1533525"/>
            <a:chExt cx="5692521" cy="2764440"/>
          </a:xfrm>
        </p:grpSpPr>
        <p:sp>
          <p:nvSpPr>
            <p:cNvPr id="15" name="Rectangle 15"/>
            <p:cNvSpPr/>
            <p:nvPr/>
          </p:nvSpPr>
          <p:spPr>
            <a:xfrm>
              <a:off x="584073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70738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0100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707380" y="37204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100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18860" y="156781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20003" y="1861661"/>
              <a:ext cx="5061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子进程（pid 12）复制了父进程（pid 9），在 if 分支中调用 execl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8860" y="2218372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0003" y="2512219"/>
              <a:ext cx="5279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子进程的程序被 P 覆盖，从 P 的第一条指令开始执行；pid 仍为 12，父进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程仍是 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18860" y="3104198"/>
              <a:ext cx="428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20003" y="3397091"/>
              <a:ext cx="4432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执行 exit(2)：子进程终止，终止状态为 2，唤醒父进程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18860" y="3754755"/>
              <a:ext cx="47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20003" y="4048601"/>
              <a:ext cx="4355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父进程的 wait(&amp;s) 返回 12，s 中带回子进程的终止状态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5707380" y="4475798"/>
            <a:ext cx="5951220" cy="782955"/>
            <a:chOff x="5707380" y="4475798"/>
            <a:chExt cx="5951220" cy="782955"/>
          </a:xfrm>
        </p:grpSpPr>
        <p:sp>
          <p:nvSpPr>
            <p:cNvPr id="33" name="Rectangle 33"/>
            <p:cNvSpPr/>
            <p:nvPr/>
          </p:nvSpPr>
          <p:spPr>
            <a:xfrm>
              <a:off x="5707380" y="4475798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912168" y="4767263"/>
              <a:ext cx="200026" cy="200026"/>
              <a:chOff x="5912168" y="4767263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912168" y="47672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2180" y="4833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01068" y="48672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214110" y="4624388"/>
              <a:ext cx="4882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在实际的 UNIX/Linux 中，退出码存放在 s 的 8–15 位，要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WEXITSTATUS(s) 才能取出 2。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64380" cy="909257"/>
            <a:chOff x="520446" y="342900"/>
            <a:chExt cx="96643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643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例题：用 fork、execl、wait、exit 描述 8 个程序的执行次序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737235" y="1588770"/>
            <a:ext cx="3660457" cy="4061460"/>
            <a:chOff x="737235" y="1588770"/>
            <a:chExt cx="3660457" cy="4061460"/>
          </a:xfrm>
        </p:grpSpPr>
        <p:sp>
          <p:nvSpPr>
            <p:cNvPr id="7" name="Freeform 7"/>
            <p:cNvSpPr/>
            <p:nvPr/>
          </p:nvSpPr>
          <p:spPr>
            <a:xfrm>
              <a:off x="1750695" y="1961198"/>
              <a:ext cx="757238" cy="576262"/>
            </a:xfrm>
            <a:custGeom>
              <a:avLst/>
              <a:gdLst/>
              <a:ahLst/>
              <a:cxnLst/>
              <a:rect l="l" t="t" r="r" b="b"/>
              <a:pathLst>
                <a:path w="757238" h="576262">
                  <a:moveTo>
                    <a:pt x="757238" y="0"/>
                  </a:moveTo>
                  <a:lnTo>
                    <a:pt x="0" y="5762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75448" y="2499360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0" y="96203"/>
                  </a:moveTo>
                  <a:lnTo>
                    <a:pt x="46673" y="0"/>
                  </a:lnTo>
                  <a:lnTo>
                    <a:pt x="104775" y="762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19388" y="2054542"/>
              <a:ext cx="33338" cy="353378"/>
            </a:xfrm>
            <a:custGeom>
              <a:avLst/>
              <a:gdLst/>
              <a:ahLst/>
              <a:cxnLst/>
              <a:rect l="l" t="t" r="r" b="b"/>
              <a:pathLst>
                <a:path w="33338" h="353378">
                  <a:moveTo>
                    <a:pt x="0" y="0"/>
                  </a:moveTo>
                  <a:lnTo>
                    <a:pt x="33338" y="3533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05100" y="2403158"/>
              <a:ext cx="95250" cy="99060"/>
            </a:xfrm>
            <a:custGeom>
              <a:avLst/>
              <a:gdLst/>
              <a:ahLst/>
              <a:cxnLst/>
              <a:rect l="l" t="t" r="r" b="b"/>
              <a:pathLst>
                <a:path w="95250" h="99060">
                  <a:moveTo>
                    <a:pt x="57150" y="99060"/>
                  </a:moveTo>
                  <a:lnTo>
                    <a:pt x="0" y="8572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99410" y="1944052"/>
              <a:ext cx="986790" cy="618172"/>
            </a:xfrm>
            <a:custGeom>
              <a:avLst/>
              <a:gdLst/>
              <a:ahLst/>
              <a:cxnLst/>
              <a:rect l="l" t="t" r="r" b="b"/>
              <a:pathLst>
                <a:path w="986790" h="618172">
                  <a:moveTo>
                    <a:pt x="0" y="0"/>
                  </a:moveTo>
                  <a:lnTo>
                    <a:pt x="986790" y="6181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61435" y="252222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0962"/>
                  </a:lnTo>
                  <a:lnTo>
                    <a:pt x="504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29665" y="2947035"/>
              <a:ext cx="239077" cy="423862"/>
            </a:xfrm>
            <a:custGeom>
              <a:avLst/>
              <a:gdLst/>
              <a:ahLst/>
              <a:cxnLst/>
              <a:rect l="l" t="t" r="r" b="b"/>
              <a:pathLst>
                <a:path w="239077" h="423862">
                  <a:moveTo>
                    <a:pt x="239077" y="0"/>
                  </a:moveTo>
                  <a:lnTo>
                    <a:pt x="0" y="4238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82992" y="3348038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0" y="105728"/>
                  </a:moveTo>
                  <a:lnTo>
                    <a:pt x="5715" y="0"/>
                  </a:lnTo>
                  <a:lnTo>
                    <a:pt x="88582" y="466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16392" y="2938462"/>
              <a:ext cx="292418" cy="444817"/>
            </a:xfrm>
            <a:custGeom>
              <a:avLst/>
              <a:gdLst/>
              <a:ahLst/>
              <a:cxnLst/>
              <a:rect l="l" t="t" r="r" b="b"/>
              <a:pathLst>
                <a:path w="292418" h="444817">
                  <a:moveTo>
                    <a:pt x="0" y="0"/>
                  </a:moveTo>
                  <a:lnTo>
                    <a:pt x="292418" y="4448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68805" y="3356610"/>
              <a:ext cx="92393" cy="105728"/>
            </a:xfrm>
            <a:custGeom>
              <a:avLst/>
              <a:gdLst/>
              <a:ahLst/>
              <a:cxnLst/>
              <a:rect l="l" t="t" r="r" b="b"/>
              <a:pathLst>
                <a:path w="92393" h="105728">
                  <a:moveTo>
                    <a:pt x="92393" y="105728"/>
                  </a:moveTo>
                  <a:lnTo>
                    <a:pt x="0" y="52388"/>
                  </a:lnTo>
                  <a:lnTo>
                    <a:pt x="7905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571750" y="2974658"/>
              <a:ext cx="178117" cy="1237297"/>
            </a:xfrm>
            <a:custGeom>
              <a:avLst/>
              <a:gdLst/>
              <a:ahLst/>
              <a:cxnLst/>
              <a:rect l="l" t="t" r="r" b="b"/>
              <a:pathLst>
                <a:path w="178117" h="1237297">
                  <a:moveTo>
                    <a:pt x="178117" y="0"/>
                  </a:moveTo>
                  <a:lnTo>
                    <a:pt x="0" y="12372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525078" y="4204335"/>
              <a:ext cx="94297" cy="101918"/>
            </a:xfrm>
            <a:custGeom>
              <a:avLst/>
              <a:gdLst/>
              <a:ahLst/>
              <a:cxnLst/>
              <a:rect l="l" t="t" r="r" b="b"/>
              <a:pathLst>
                <a:path w="94297" h="101918">
                  <a:moveTo>
                    <a:pt x="33338" y="101918"/>
                  </a:moveTo>
                  <a:lnTo>
                    <a:pt x="0" y="0"/>
                  </a:lnTo>
                  <a:lnTo>
                    <a:pt x="94297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196465" y="3874770"/>
              <a:ext cx="180975" cy="367665"/>
            </a:xfrm>
            <a:custGeom>
              <a:avLst/>
              <a:gdLst/>
              <a:ahLst/>
              <a:cxnLst/>
              <a:rect l="l" t="t" r="r" b="b"/>
              <a:pathLst>
                <a:path w="180975" h="367665">
                  <a:moveTo>
                    <a:pt x="0" y="0"/>
                  </a:moveTo>
                  <a:lnTo>
                    <a:pt x="180975" y="3676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34578" y="422148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3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137285" y="3827145"/>
              <a:ext cx="1406843" cy="1363027"/>
            </a:xfrm>
            <a:custGeom>
              <a:avLst/>
              <a:gdLst/>
              <a:ahLst/>
              <a:cxnLst/>
              <a:rect l="l" t="t" r="r" b="b"/>
              <a:pathLst>
                <a:path w="1406843" h="1363027">
                  <a:moveTo>
                    <a:pt x="0" y="0"/>
                  </a:moveTo>
                  <a:lnTo>
                    <a:pt x="1406843" y="13630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511742" y="5155882"/>
              <a:ext cx="100965" cy="100012"/>
            </a:xfrm>
            <a:custGeom>
              <a:avLst/>
              <a:gdLst/>
              <a:ahLst/>
              <a:cxnLst/>
              <a:rect l="l" t="t" r="r" b="b"/>
              <a:pathLst>
                <a:path w="100965" h="100012">
                  <a:moveTo>
                    <a:pt x="100965" y="100012"/>
                  </a:moveTo>
                  <a:lnTo>
                    <a:pt x="0" y="67628"/>
                  </a:lnTo>
                  <a:lnTo>
                    <a:pt x="6572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591752" y="4770120"/>
              <a:ext cx="98107" cy="331470"/>
            </a:xfrm>
            <a:custGeom>
              <a:avLst/>
              <a:gdLst/>
              <a:ahLst/>
              <a:cxnLst/>
              <a:rect l="l" t="t" r="r" b="b"/>
              <a:pathLst>
                <a:path w="98107" h="331470">
                  <a:moveTo>
                    <a:pt x="0" y="0"/>
                  </a:moveTo>
                  <a:lnTo>
                    <a:pt x="98107" y="3314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644140" y="5088255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72390" y="104775"/>
                  </a:moveTo>
                  <a:lnTo>
                    <a:pt x="0" y="2667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936558" y="2950845"/>
              <a:ext cx="1122997" cy="2174558"/>
            </a:xfrm>
            <a:custGeom>
              <a:avLst/>
              <a:gdLst/>
              <a:ahLst/>
              <a:cxnLst/>
              <a:rect l="l" t="t" r="r" b="b"/>
              <a:pathLst>
                <a:path w="1122997" h="2174558">
                  <a:moveTo>
                    <a:pt x="1122997" y="0"/>
                  </a:moveTo>
                  <a:lnTo>
                    <a:pt x="0" y="2174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893695" y="510349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106680"/>
                  </a:moveTo>
                  <a:lnTo>
                    <a:pt x="952" y="0"/>
                  </a:lnTo>
                  <a:lnTo>
                    <a:pt x="85725" y="438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468880" y="1588770"/>
              <a:ext cx="457200" cy="4572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257300" y="2510790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555558" y="2510790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940492" y="2510790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37235" y="3432810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863090" y="3432810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2295525" y="4312920"/>
              <a:ext cx="457200" cy="4572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2555558" y="5193030"/>
              <a:ext cx="457200" cy="4572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85859" y="173783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4279" y="265985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72537" y="265985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57472" y="265985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4214" y="358187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80069" y="358187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12504" y="4461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72537" y="534209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P8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5166360" y="1524000"/>
            <a:ext cx="6492240" cy="2926080"/>
            <a:chOff x="5166360" y="1524000"/>
            <a:chExt cx="6492240" cy="2926080"/>
          </a:xfrm>
        </p:grpSpPr>
        <p:sp>
          <p:nvSpPr>
            <p:cNvPr id="44" name="Rectangle 44"/>
            <p:cNvSpPr/>
            <p:nvPr/>
          </p:nvSpPr>
          <p:spPr>
            <a:xfrm>
              <a:off x="5166360" y="1524000"/>
              <a:ext cx="649224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6549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05825" y="16630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什么时候可以开始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73040" y="215074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041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最先执行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66360" y="24945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66360" y="2499360"/>
              <a:ext cx="649224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3040" y="2638425"/>
              <a:ext cx="1158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P2、P3、P4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0410" y="2638425"/>
              <a:ext cx="2333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结束后，三者并发执行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166360" y="29822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73040" y="3126105"/>
              <a:ext cx="710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P5、P6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0410" y="3126105"/>
              <a:ext cx="919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结束后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66360" y="34699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166360" y="3474720"/>
              <a:ext cx="649224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73040" y="361378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90410" y="3613785"/>
              <a:ext cx="1686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和 P6 都结束后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39576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73040" y="410146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0410" y="4101465"/>
              <a:ext cx="1994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P4、P5、P7 都结束后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166360" y="1524000"/>
              <a:ext cx="6492240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78968" y="1524000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5166360" y="4640580"/>
            <a:ext cx="6492240" cy="1701165"/>
            <a:chOff x="5166360" y="4640580"/>
            <a:chExt cx="6492240" cy="1701165"/>
          </a:xfrm>
        </p:grpSpPr>
        <p:sp>
          <p:nvSpPr>
            <p:cNvPr id="66" name="Rectangle 66"/>
            <p:cNvSpPr/>
            <p:nvPr/>
          </p:nvSpPr>
          <p:spPr>
            <a:xfrm>
              <a:off x="5166360" y="4640580"/>
              <a:ext cx="6492240" cy="1701165"/>
            </a:xfrm>
            <a:prstGeom prst="roundRect">
              <a:avLst>
                <a:gd name="adj" fmla="val 783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75910" y="485013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458219" y="48858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编程思路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381625" y="52901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39740" y="5227320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主程序用 fork + execl 启动一个程序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5381625" y="56254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539740" y="5562600"/>
              <a:ext cx="5243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wait 收集结束的子进程，用变量 end_pi 记下 Pi 已结束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5381625" y="59607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539740" y="589788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某个程序的前驱全部结束后，再启动它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09204" cy="909257"/>
            <a:chOff x="520446" y="342900"/>
            <a:chExt cx="81092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092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例题解答（上）：启动 P1，再并发启动 P2、P3、P4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492240" cy="4153852"/>
            <a:chOff x="533400" y="1524000"/>
            <a:chExt cx="6492240" cy="4153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938712"/>
              <a:ext cx="645414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5141595"/>
              <a:ext cx="645414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4314190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main()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pid1, pid2, pid3, pid4, pid5, pid6, pid7, pid8;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end_p1 = 0, end_p2 = 0, end_p3 = 0, end_p4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end_p5 = 0, end_p6 = 0, end_p7 = 0, end_p8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pid, status;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((pid1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"P1"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wait(&amp;status);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等 P1 结束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((pid2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"P2"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((pid3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"P3"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((pid4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"P4"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等 P2 结束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pid = wait(&amp;status);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pid2) end_p2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pid3) end_p3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pid4) end_p4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(end_p2 == 0);</a:t>
              </a:r>
            </a:p>
          </p:txBody>
        </p:sp>
      </p:grpSp>
      <p:grpSp>
        <p:nvGrpSpPr>
          <p:cNvPr id="26" name="c2-steps-1"/>
          <p:cNvGrpSpPr/>
          <p:nvPr/>
        </p:nvGrpSpPr>
        <p:grpSpPr>
          <a:xfrm>
            <a:off x="7330440" y="1533525"/>
            <a:ext cx="4026281" cy="2112931"/>
            <a:chOff x="7330440" y="1533525"/>
            <a:chExt cx="4026281" cy="2112931"/>
          </a:xfrm>
        </p:grpSpPr>
        <p:sp>
          <p:nvSpPr>
            <p:cNvPr id="13" name="Rectangle 13"/>
            <p:cNvSpPr/>
            <p:nvPr/>
          </p:nvSpPr>
          <p:spPr>
            <a:xfrm>
              <a:off x="746379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3044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406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30440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2406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1920" y="1567815"/>
              <a:ext cx="732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 P1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3063" y="1861661"/>
              <a:ext cx="30162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 出子进程执行 P1，wait 等它结束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1920" y="2218372"/>
              <a:ext cx="20333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并发启动 P2、P3、P4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3063" y="2512219"/>
              <a:ext cx="2907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 fork 三次，三个子进程同时运行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1920" y="2868930"/>
              <a:ext cx="530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P2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3063" y="3162776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 wait 返回任意一个已结束的子进程，直到 P2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结束才退出循环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7330440" y="3825240"/>
            <a:ext cx="4328160" cy="1852612"/>
            <a:chOff x="7330440" y="3825240"/>
            <a:chExt cx="4328160" cy="1852612"/>
          </a:xfrm>
        </p:grpSpPr>
        <p:sp>
          <p:nvSpPr>
            <p:cNvPr id="27" name="Rectangle 27"/>
            <p:cNvSpPr/>
            <p:nvPr/>
          </p:nvSpPr>
          <p:spPr>
            <a:xfrm>
              <a:off x="7330440" y="3825240"/>
              <a:ext cx="4328160" cy="1852612"/>
            </a:xfrm>
            <a:prstGeom prst="roundRect">
              <a:avLst>
                <a:gd name="adj" fmla="val 617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523169" y="4648318"/>
              <a:ext cx="224134" cy="192560"/>
              <a:chOff x="7523169" y="4648318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635240" y="47186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523169" y="46483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35240" y="4796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837170" y="4371022"/>
              <a:ext cx="3348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易错：循环里也要记下 P3、P4（高亮两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行）。它们可能比 P2 先结束，这里不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记，后面等 P3 的循环就永远等不到。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36708" cy="909257"/>
            <a:chOff x="520446" y="342900"/>
            <a:chExt cx="63367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367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例题解答（下）：按前驱关系启动 P5–P8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4559618"/>
            <a:chOff x="533400" y="1524000"/>
            <a:chExt cx="6492240" cy="4559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559618"/>
            </a:xfrm>
            <a:prstGeom prst="roundRect">
              <a:avLst>
                <a:gd name="adj" fmla="val 2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712462" cy="4074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((pid5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"P5"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((pid6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"P6"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等 P3 和 P6 结束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pid = wait(&amp;status);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pid3) end_p3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pid4) end_p4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pid5) end_p5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pid6) end_p6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(end_p3 == 0 || end_p6 ==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((pid7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"P7"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do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等 P4、P5、P7 结束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pid = wait(&amp;status);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pid4) end_p4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pid5) end_p5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(pid == pid7) end_p7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(end_p4 == 0 || end_p5 == 0 || end_p7 == 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((pid8 = fork()) == 0) execl(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"P8"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0);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wait(&amp;status);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等 P8 结束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exit(0);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steps-1"/>
          <p:cNvGrpSpPr/>
          <p:nvPr/>
        </p:nvGrpSpPr>
        <p:grpSpPr>
          <a:xfrm>
            <a:off x="7330440" y="1533525"/>
            <a:ext cx="4115689" cy="2112930"/>
            <a:chOff x="7330440" y="1533525"/>
            <a:chExt cx="4115689" cy="2112930"/>
          </a:xfrm>
        </p:grpSpPr>
        <p:sp>
          <p:nvSpPr>
            <p:cNvPr id="11" name="Rectangle 11"/>
            <p:cNvSpPr/>
            <p:nvPr/>
          </p:nvSpPr>
          <p:spPr>
            <a:xfrm>
              <a:off x="746379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30440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406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3044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406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1920" y="1567815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结束后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3063" y="1861661"/>
              <a:ext cx="3703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 P5、P6；等到 P3、P6 都结束（P3 可能已在上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一个循环中记下）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1920" y="2453640"/>
              <a:ext cx="1383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P3、P6 结束后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3063" y="2746534"/>
              <a:ext cx="2701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 P7；等到 P4、P5、P7 都结束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1920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3063" y="3397091"/>
              <a:ext cx="32574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 P8，wait 等它结束，主程序 exit(0)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7330440" y="3825240"/>
            <a:ext cx="4328160" cy="2258378"/>
            <a:chOff x="7330440" y="3825240"/>
            <a:chExt cx="4328160" cy="2258378"/>
          </a:xfrm>
        </p:grpSpPr>
        <p:sp>
          <p:nvSpPr>
            <p:cNvPr id="25" name="Rectangle 25"/>
            <p:cNvSpPr/>
            <p:nvPr/>
          </p:nvSpPr>
          <p:spPr>
            <a:xfrm>
              <a:off x="7330440" y="3825240"/>
              <a:ext cx="4328160" cy="2258378"/>
            </a:xfrm>
            <a:prstGeom prst="roundRect">
              <a:avLst>
                <a:gd name="adj" fmla="val 5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39965" y="3958590"/>
              <a:ext cx="47625" cy="19916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78090" y="40347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68298" y="4070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583805" y="44748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41920" y="4411980"/>
              <a:ext cx="3377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int end_p1=end_p2=…</a:t>
              </a:r>
              <a:br/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=end_p8=0;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，不是合法的 C 声明，应逐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个初始化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3805" y="53816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41920" y="5318760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原课件中的 </a:t>
              </a:r>
              <a:r>
                <a:rPr lang="zh-CN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= =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zh-CN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==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02469" cy="909257"/>
            <a:chOff x="520446" y="342900"/>
            <a:chExt cx="58024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946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4661" y="407194"/>
              <a:ext cx="327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UNIX 进程与进程控制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024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vfork 与 fork：要不要复制地址空间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951220" cy="2762250"/>
            <a:chOff x="533400" y="1524000"/>
            <a:chExt cx="5951220" cy="2762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654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45858" y="1652588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63267" y="165258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vfork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158343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复制控制结构（proc、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8999" y="21831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23054" y="21831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12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86038"/>
              <a:ext cx="595122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71462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复制地址空间（代码、数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据、栈）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8999" y="28213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3054" y="282130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否，父子进程共享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94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3528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父子进程的数据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8999" y="3352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两份各自独立的拷贝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23054" y="33528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同一份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433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648075"/>
              <a:ext cx="595122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8833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适合的用法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8999" y="377666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子进程继续执行原来的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23054" y="3776662"/>
              <a:ext cx="1673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子进程马上用 execve 加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载新程序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951220" cy="2762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551748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15802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4466272"/>
            <a:ext cx="5951220" cy="1840230"/>
            <a:chOff x="533400" y="4466272"/>
            <a:chExt cx="5951220" cy="1840230"/>
          </a:xfrm>
        </p:grpSpPr>
        <p:sp>
          <p:nvSpPr>
            <p:cNvPr id="32" name="Rectangle 32"/>
            <p:cNvSpPr/>
            <p:nvPr/>
          </p:nvSpPr>
          <p:spPr>
            <a:xfrm>
              <a:off x="533400" y="4466272"/>
              <a:ext cx="5951220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599622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9620" y="46643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1060" y="46986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7240" y="508539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3831" y="5024914"/>
              <a:ext cx="51090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vfork 后，父进程要等子进程执行 execve 或退出，才继续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7240" y="56749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3831" y="5614511"/>
              <a:ext cx="50459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现代系统的 fork 采用写时复制（copy-on-write），不再立即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复制整个地址空间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789420" y="1524000"/>
            <a:ext cx="4869180" cy="2111692"/>
            <a:chOff x="6789420" y="1524000"/>
            <a:chExt cx="4869180" cy="2111692"/>
          </a:xfrm>
        </p:grpSpPr>
        <p:sp>
          <p:nvSpPr>
            <p:cNvPr id="41" name="Rectangle 41"/>
            <p:cNvSpPr/>
            <p:nvPr/>
          </p:nvSpPr>
          <p:spPr>
            <a:xfrm>
              <a:off x="6789420" y="1524000"/>
              <a:ext cx="4869180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98945" y="1657350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25640" y="1722120"/>
              <a:ext cx="96012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02816" y="1756410"/>
              <a:ext cx="8057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fork 的问题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25640" y="207073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398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6534" y="2082641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不加载新程序：父子数据是两份独立拷贝，不能通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过共享变量交换数据，描述不了“有界缓冲区”这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类问题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025640" y="293084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83985" y="29711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6534" y="2943701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加载新程序：刚复制的地址空间马上被新程序覆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盖，复制白白浪费时间和空间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789420" y="3815715"/>
            <a:ext cx="4869180" cy="2490788"/>
            <a:chOff x="6789420" y="3815715"/>
            <a:chExt cx="4869180" cy="2490788"/>
          </a:xfrm>
        </p:grpSpPr>
        <p:sp>
          <p:nvSpPr>
            <p:cNvPr id="52" name="Rectangle 52"/>
            <p:cNvSpPr/>
            <p:nvPr/>
          </p:nvSpPr>
          <p:spPr>
            <a:xfrm>
              <a:off x="6789420" y="3815715"/>
              <a:ext cx="4869180" cy="2490788"/>
            </a:xfrm>
            <a:prstGeom prst="roundRect">
              <a:avLst>
                <a:gd name="adj" fmla="val 535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87540" y="4013835"/>
              <a:ext cx="103632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2001" y="4048125"/>
              <a:ext cx="887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vfork 的用法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995160" y="443484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51751" y="4374356"/>
              <a:ext cx="25664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父进程使用 vfork 创建子进程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95160" y="475297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51751" y="469249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子进程与父进程共享地址空间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95160" y="50701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51751" y="5010626"/>
              <a:ext cx="3436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子进程使用 execve 改变其虚拟地址空间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56064" cy="3351847"/>
            <a:chOff x="667512" y="1835468"/>
            <a:chExt cx="35560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线程与轻进程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进程负责拥有资源，线程负责执行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1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2.3.1–2.3.2 线程的引入与概念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316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2.3.3–2.3.4 线程结构与线程控制块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2.3.5 用户级、核心级与混合线程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2.3.6 线程的应用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1613" cy="909257"/>
            <a:chOff x="520446" y="342900"/>
            <a:chExt cx="5571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1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为什么引入线程：进程切换太“笨重”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11125200" cy="1781175"/>
            <a:chOff x="533400" y="1524000"/>
            <a:chExt cx="11125200" cy="1781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91150" cy="1781175"/>
            </a:xfrm>
            <a:prstGeom prst="roundRect">
              <a:avLst>
                <a:gd name="adj" fmla="val 7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144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1332" y="1732597"/>
              <a:ext cx="1322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2.3.1 进程切换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6762" y="210597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2782" y="2049780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上下文内容多：PCB + 程序 + 系统环境（地址空间、系统栈、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打开文件表）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319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06992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切换开销大，显得“笨重”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41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0798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相关进程之间耦合关系差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67450" y="1524000"/>
              <a:ext cx="5391150" cy="1781175"/>
            </a:xfrm>
            <a:prstGeom prst="roundRect">
              <a:avLst>
                <a:gd name="adj" fmla="val 7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76975" y="1657350"/>
              <a:ext cx="47625" cy="15144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85382" y="1732597"/>
              <a:ext cx="3306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解决方案：多线程（Multi-threading）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00812" y="210597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6832" y="20497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同一进程中包含多个线程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00812" y="24060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56832" y="23498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上下文只涉及寄存器和用户栈，切换快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00812" y="27070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56832" y="265080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相关线程之间通讯方便、快捷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934075" y="225266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04415" y="23488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2" name="c1-table-2"/>
          <p:cNvGrpSpPr/>
          <p:nvPr/>
        </p:nvGrpSpPr>
        <p:grpSpPr>
          <a:xfrm>
            <a:off x="533400" y="3474720"/>
            <a:ext cx="11125200" cy="2000250"/>
            <a:chOff x="533400" y="3474720"/>
            <a:chExt cx="11125200" cy="2000250"/>
          </a:xfrm>
        </p:grpSpPr>
        <p:sp>
          <p:nvSpPr>
            <p:cNvPr id="28" name="Rectangle 28"/>
            <p:cNvSpPr/>
            <p:nvPr/>
          </p:nvSpPr>
          <p:spPr>
            <a:xfrm>
              <a:off x="533400" y="3474720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14704" y="359616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切换时要保存或更换的内容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43981" y="35961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进程切换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63546" y="359616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同一进程内的线程切换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0555" y="3996214"/>
              <a:ext cx="1485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寄存器（含 PC、SP）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12932" y="39962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84820" y="39962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700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27482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43962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12932" y="43962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4820" y="43962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6701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555" y="47963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12932" y="47963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84820" y="479631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否，线程共用进程的地址空间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0701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507492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555" y="519636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打开文件表等资源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12932" y="51963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84820" y="519636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否，线程共用进程的资源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474720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311015" y="347472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82902" y="347472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llout-3"/>
          <p:cNvGrpSpPr/>
          <p:nvPr/>
        </p:nvGrpSpPr>
        <p:grpSpPr>
          <a:xfrm>
            <a:off x="533400" y="5645468"/>
            <a:ext cx="11125200" cy="481012"/>
            <a:chOff x="533400" y="564546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64546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785487"/>
              <a:ext cx="200023" cy="200023"/>
              <a:chOff x="738188" y="578548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7854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58521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579120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思路：把进程拥有的资源和执行流分开，一个进程里放多条执行流，共用这些资源。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线程：进程中一个相对独立的执行流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049655"/>
            <a:chOff x="533400" y="1524000"/>
            <a:chExt cx="5410200" cy="10496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78" y="176926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2.3.2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7372" y="1768792"/>
              <a:ext cx="1529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线程（Thread）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进程中一个相对独立的执行流。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2764155"/>
            <a:ext cx="5410200" cy="1573530"/>
            <a:chOff x="533400" y="2764155"/>
            <a:chExt cx="5410200" cy="1573530"/>
          </a:xfrm>
        </p:grpSpPr>
        <p:sp>
          <p:nvSpPr>
            <p:cNvPr id="14" name="Rectangle 14"/>
            <p:cNvSpPr/>
            <p:nvPr/>
          </p:nvSpPr>
          <p:spPr>
            <a:xfrm>
              <a:off x="533400" y="276415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9922" y="28998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99652" y="28998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9439" y="28998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33485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31848" y="3348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资源分配单位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41636" y="33485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执行单位（调度单位）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566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66141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9104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拥有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31848" y="379714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地址空间、打开文件等资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41636" y="39104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寄存器、栈等执行现场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764155"/>
              <a:ext cx="5410200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19262" y="2764155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29050" y="2764155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3"/>
          <p:cNvGrpSpPr/>
          <p:nvPr/>
        </p:nvGrpSpPr>
        <p:grpSpPr>
          <a:xfrm>
            <a:off x="533400" y="4528185"/>
            <a:ext cx="5410200" cy="1701165"/>
            <a:chOff x="533400" y="4528185"/>
            <a:chExt cx="5410200" cy="1701165"/>
          </a:xfrm>
        </p:grpSpPr>
        <p:sp>
          <p:nvSpPr>
            <p:cNvPr id="30" name="Rectangle 30"/>
            <p:cNvSpPr/>
            <p:nvPr/>
          </p:nvSpPr>
          <p:spPr>
            <a:xfrm>
              <a:off x="533400" y="452818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66153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1050" y="47377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4507" y="47734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多线程的优点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177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114925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切换速度快：地址空间不变（light weighted）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6765" y="5513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880" y="54502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系统开销小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6765" y="58483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4880" y="57854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通讯容易：共享数据空间</a:t>
              </a:r>
            </a:p>
          </p:txBody>
        </p:sp>
      </p:grpSp>
      <p:grpSp>
        <p:nvGrpSpPr>
          <p:cNvPr id="43" name="c2-image-1"/>
          <p:cNvGrpSpPr/>
          <p:nvPr/>
        </p:nvGrpSpPr>
        <p:grpSpPr>
          <a:xfrm>
            <a:off x="6248400" y="1524000"/>
            <a:ext cx="5410200" cy="4863942"/>
            <a:chOff x="6248400" y="1524000"/>
            <a:chExt cx="5410200" cy="4863942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rcRect l="5402" t="0" r="5402" b="0"/>
            <a:stretch>
              <a:fillRect/>
            </a:stretch>
          </p:blipFill>
          <p:spPr>
            <a:xfrm>
              <a:off x="6248400" y="1524000"/>
              <a:ext cx="5410200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6686169" y="6167914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冰箱、食材架大家共用（进程的资源），厨师各用各的案板（线程）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1042" cy="909257"/>
            <a:chOff x="520446" y="342900"/>
            <a:chExt cx="69610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10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2.3.3 线程结构：多进程与多线程的用户视图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multi-process"/>
          <p:cNvGrpSpPr/>
          <p:nvPr/>
        </p:nvGrpSpPr>
        <p:grpSpPr>
          <a:xfrm>
            <a:off x="533400" y="1524000"/>
            <a:ext cx="5448300" cy="3352800"/>
            <a:chOff x="533400" y="1524000"/>
            <a:chExt cx="5448300" cy="3352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48300" cy="3352800"/>
            </a:xfrm>
            <a:prstGeom prst="roundRect">
              <a:avLst>
                <a:gd name="adj" fmla="val 3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911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多进程：每个进程有自己的内存和寄存器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1962150"/>
              <a:ext cx="2495550" cy="27622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104" y="21183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152650" y="2076450"/>
              <a:ext cx="87630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58923" y="21693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2514600"/>
              <a:ext cx="2266950" cy="2095500"/>
            </a:xfrm>
            <a:prstGeom prst="roundRect">
              <a:avLst>
                <a:gd name="adj" fmla="val 3636"/>
              </a:avLst>
            </a:prstGeom>
            <a:solidFill>
              <a:srgbClr val="E3F5F1"/>
            </a:solidFill>
            <a:ln w="11430">
              <a:solidFill>
                <a:srgbClr val="14A38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9066" y="2610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2857500"/>
              <a:ext cx="1181100" cy="43815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73073" y="30075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14400" y="3409950"/>
              <a:ext cx="1181100" cy="43815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97686" y="35599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静态数据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" y="3962400"/>
              <a:ext cx="1181100" cy="43815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7686" y="41124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程序代码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47900" y="2857500"/>
              <a:ext cx="685800" cy="154305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09698" y="35552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33750" y="1962150"/>
              <a:ext cx="2495550" cy="27622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80054" y="21183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800600" y="2076450"/>
              <a:ext cx="87630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06873" y="21693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48050" y="2514600"/>
              <a:ext cx="2266950" cy="2095500"/>
            </a:xfrm>
            <a:prstGeom prst="roundRect">
              <a:avLst>
                <a:gd name="adj" fmla="val 3636"/>
              </a:avLst>
            </a:prstGeom>
            <a:solidFill>
              <a:srgbClr val="E3F5F1"/>
            </a:solidFill>
            <a:ln w="1143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57016" y="2610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62350" y="2857500"/>
              <a:ext cx="1181100" cy="43815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21023" y="30075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动态堆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562350" y="3409950"/>
              <a:ext cx="1181100" cy="43815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45636" y="35599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静态数据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562350" y="3962400"/>
              <a:ext cx="1181100" cy="43815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45636" y="41124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程序代码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895850" y="2857500"/>
              <a:ext cx="685800" cy="154305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157648" y="35552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</p:grpSp>
      <p:grpSp>
        <p:nvGrpSpPr>
          <p:cNvPr id="62" name="multi-thread"/>
          <p:cNvGrpSpPr/>
          <p:nvPr/>
        </p:nvGrpSpPr>
        <p:grpSpPr>
          <a:xfrm>
            <a:off x="6210300" y="1524000"/>
            <a:ext cx="5448300" cy="3352800"/>
            <a:chOff x="6210300" y="1524000"/>
            <a:chExt cx="5448300" cy="3352800"/>
          </a:xfrm>
        </p:grpSpPr>
        <p:sp>
          <p:nvSpPr>
            <p:cNvPr id="38" name="Rectangle 38"/>
            <p:cNvSpPr/>
            <p:nvPr/>
          </p:nvSpPr>
          <p:spPr>
            <a:xfrm>
              <a:off x="6210300" y="1524000"/>
              <a:ext cx="5448300" cy="3352800"/>
            </a:xfrm>
            <a:prstGeom prst="roundRect">
              <a:avLst>
                <a:gd name="adj" fmla="val 3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94323" y="16911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多线程：线程共享进程的内存，各有寄存器和栈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62700" y="1962150"/>
              <a:ext cx="5143500" cy="2762250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09004" y="2118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2762250"/>
              <a:ext cx="4914900" cy="1847850"/>
            </a:xfrm>
            <a:prstGeom prst="roundRect">
              <a:avLst>
                <a:gd name="adj" fmla="val 4124"/>
              </a:avLst>
            </a:prstGeom>
            <a:solidFill>
              <a:srgbClr val="E3F5F1"/>
            </a:solidFill>
            <a:ln w="1143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5966" y="28584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内存（共享）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91300" y="3105150"/>
              <a:ext cx="1238250" cy="4191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78548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91300" y="3600450"/>
              <a:ext cx="1238250" cy="4191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03161" y="3740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静态数据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91300" y="4095750"/>
              <a:ext cx="1238250" cy="4191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03161" y="42362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程序代码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48650" y="2057400"/>
              <a:ext cx="1409700" cy="2495550"/>
            </a:xfrm>
            <a:prstGeom prst="roundRect">
              <a:avLst>
                <a:gd name="adj" fmla="val 6757"/>
              </a:avLst>
            </a:prstGeom>
            <a:noFill/>
            <a:ln w="15240">
              <a:solidFill>
                <a:srgbClr val="F26B3A"/>
              </a:solidFill>
              <a:custDash>
                <a:ds d="375000" sp="250000"/>
              </a:custDash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29728" y="216455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线程 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15350" y="2381250"/>
              <a:ext cx="8763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21623" y="2464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10600" y="3009900"/>
              <a:ext cx="685800" cy="142875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72398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791700" y="2057400"/>
              <a:ext cx="1409700" cy="2495550"/>
            </a:xfrm>
            <a:prstGeom prst="roundRect">
              <a:avLst>
                <a:gd name="adj" fmla="val 6757"/>
              </a:avLst>
            </a:prstGeom>
            <a:noFill/>
            <a:ln w="15240">
              <a:solidFill>
                <a:srgbClr val="F26B3A"/>
              </a:solidFill>
              <a:custDash>
                <a:ds d="375000" sp="250000"/>
              </a:custDash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72778" y="216455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线程 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058400" y="2381250"/>
              <a:ext cx="8763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264673" y="2464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153650" y="3009900"/>
              <a:ext cx="685800" cy="142875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415448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</p:grpSp>
      <p:grpSp>
        <p:nvGrpSpPr>
          <p:cNvPr id="68" name="n-shared"/>
          <p:cNvGrpSpPr/>
          <p:nvPr/>
        </p:nvGrpSpPr>
        <p:grpSpPr>
          <a:xfrm>
            <a:off x="533400" y="5029200"/>
            <a:ext cx="3555682" cy="1333500"/>
            <a:chOff x="533400" y="5029200"/>
            <a:chExt cx="3555682" cy="1333500"/>
          </a:xfrm>
        </p:grpSpPr>
        <p:sp>
          <p:nvSpPr>
            <p:cNvPr id="63" name="Rectangle 63"/>
            <p:cNvSpPr/>
            <p:nvPr/>
          </p:nvSpPr>
          <p:spPr>
            <a:xfrm>
              <a:off x="533400" y="5029200"/>
              <a:ext cx="3555682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42925" y="516255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162550"/>
              <a:ext cx="10820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4982" y="52220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线程之间共享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6285" y="5536406"/>
              <a:ext cx="285623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程序代码、静态数据、动态堆，以及打开的文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件等进程资源。</a:t>
              </a:r>
            </a:p>
          </p:txBody>
        </p:sp>
      </p:grpSp>
      <p:grpSp>
        <p:nvGrpSpPr>
          <p:cNvPr id="74" name="n-private"/>
          <p:cNvGrpSpPr/>
          <p:nvPr/>
        </p:nvGrpSpPr>
        <p:grpSpPr>
          <a:xfrm>
            <a:off x="4317682" y="5029200"/>
            <a:ext cx="3555682" cy="1333500"/>
            <a:chOff x="4317682" y="5029200"/>
            <a:chExt cx="3555682" cy="1333500"/>
          </a:xfrm>
        </p:grpSpPr>
        <p:sp>
          <p:nvSpPr>
            <p:cNvPr id="69" name="Rectangle 69"/>
            <p:cNvSpPr/>
            <p:nvPr/>
          </p:nvSpPr>
          <p:spPr>
            <a:xfrm>
              <a:off x="4317682" y="5029200"/>
              <a:ext cx="3555682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4327208" y="516255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4546282" y="5162550"/>
              <a:ext cx="108204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629264" y="52220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每个线程私有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540568" y="5536406"/>
              <a:ext cx="292735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寄存器（含 PC、SP）和栈：记录各自执行到哪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里，保存局部变量和返回地址。</a:t>
              </a:r>
            </a:p>
          </p:txBody>
        </p:sp>
      </p:grpSp>
      <p:grpSp>
        <p:nvGrpSpPr>
          <p:cNvPr id="80" name="n-task"/>
          <p:cNvGrpSpPr/>
          <p:nvPr/>
        </p:nvGrpSpPr>
        <p:grpSpPr>
          <a:xfrm>
            <a:off x="8102918" y="5029200"/>
            <a:ext cx="3555682" cy="1333500"/>
            <a:chOff x="8102918" y="5029200"/>
            <a:chExt cx="3555682" cy="1333500"/>
          </a:xfrm>
        </p:grpSpPr>
        <p:sp>
          <p:nvSpPr>
            <p:cNvPr id="75" name="Rectangle 75"/>
            <p:cNvSpPr/>
            <p:nvPr/>
          </p:nvSpPr>
          <p:spPr>
            <a:xfrm>
              <a:off x="8102918" y="5029200"/>
              <a:ext cx="3555682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8112442" y="516255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331518" y="5162550"/>
              <a:ext cx="155257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400235" y="5222081"/>
              <a:ext cx="1415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另一种画法（task）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25802" y="5536406"/>
              <a:ext cx="2970022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task 由正文段和数据段组成，正文段里有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多个程序计数器，每个对应一条执行流。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1214" cy="909257"/>
            <a:chOff x="520446" y="342900"/>
            <a:chExt cx="523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线程控制块 TCB：线程存在的标志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02055"/>
            <a:chOff x="533400" y="1524000"/>
            <a:chExt cx="5410200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5725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685" y="1743551"/>
              <a:ext cx="696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2.3.4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2882" y="1745932"/>
              <a:ext cx="26361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TCB（Thread Control Block）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标志线程存在的数据结构，其中包含对线程管理需要的全部信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息。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542" y="2918460"/>
            <a:ext cx="5417058" cy="1833753"/>
            <a:chOff x="526542" y="2918460"/>
            <a:chExt cx="5417058" cy="1833753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29184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线程标识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88567" y="291846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区分不同的线程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051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542" y="33108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线程状态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8567" y="331089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运行、就绪、等待等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97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37033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调度参数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88567" y="37033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如优先级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90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40957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现场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88567" y="4095750"/>
              <a:ext cx="1708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通用寄存器、PC、SP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82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44881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链接指针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88567" y="4488180"/>
              <a:ext cx="171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TCB 链入各种队列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4869180"/>
            <a:ext cx="5410200" cy="1441132"/>
            <a:chOff x="533400" y="4869180"/>
            <a:chExt cx="5410200" cy="1441132"/>
          </a:xfrm>
        </p:grpSpPr>
        <p:sp>
          <p:nvSpPr>
            <p:cNvPr id="29" name="Rectangle 29"/>
            <p:cNvSpPr/>
            <p:nvPr/>
          </p:nvSpPr>
          <p:spPr>
            <a:xfrm>
              <a:off x="533400" y="4869180"/>
              <a:ext cx="5410200" cy="1441132"/>
            </a:xfrm>
            <a:prstGeom prst="roundRect">
              <a:avLst>
                <a:gd name="adj" fmla="val 793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490210"/>
              <a:ext cx="200026" cy="200026"/>
              <a:chOff x="738188" y="5490210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490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556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590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5247323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线程也有运行、就绪、等待三种状态。用户级线程的状态转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换由运行时系统在目态完成，操作系统看到的仍然是进程的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524000"/>
            <a:ext cx="5410200" cy="1317307"/>
            <a:chOff x="6248400" y="1524000"/>
            <a:chExt cx="5410200" cy="1317307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43910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8183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线程类型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15830" y="1648778"/>
              <a:ext cx="1315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TCB 的存放位置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4412" y="208788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用户级线程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83689" y="208788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目态（用户）空间，由运行时系统管理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3974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2402205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4412" y="25269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核心级线程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3689" y="252698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系统空间，由操作系统管理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316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82915" y="1524000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table-2"/>
          <p:cNvGrpSpPr/>
          <p:nvPr/>
        </p:nvGrpSpPr>
        <p:grpSpPr>
          <a:xfrm>
            <a:off x="6248400" y="3010852"/>
            <a:ext cx="5410200" cy="2400300"/>
            <a:chOff x="6248400" y="3010852"/>
            <a:chExt cx="5410200" cy="2400300"/>
          </a:xfrm>
        </p:grpSpPr>
        <p:sp>
          <p:nvSpPr>
            <p:cNvPr id="48" name="Rectangle 48"/>
            <p:cNvSpPr/>
            <p:nvPr/>
          </p:nvSpPr>
          <p:spPr>
            <a:xfrm>
              <a:off x="6248400" y="3010852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03441" y="31322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74529" y="313229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68099" y="313229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45555" y="35323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68615" y="3532346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pid、所属用户 uid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62185" y="35323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线程标识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806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381095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5555" y="39323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状态与调度参数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68615" y="39323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62185" y="39323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42062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5555" y="43324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68615" y="4332446"/>
              <a:ext cx="1235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寄存器、PSW、PC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62185" y="4332446"/>
              <a:ext cx="1115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寄存器、PC、SP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6062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48400" y="461105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5555" y="47324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地址空间、打开文件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68615" y="4732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862185" y="47324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无，用所属进程的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50063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5555" y="51325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家族联系、消息指针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68615" y="513254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62185" y="513254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3010852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866698" y="301085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760268" y="301085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callout-3"/>
          <p:cNvGrpSpPr/>
          <p:nvPr/>
        </p:nvGrpSpPr>
        <p:grpSpPr>
          <a:xfrm>
            <a:off x="6248400" y="5580698"/>
            <a:ext cx="5410200" cy="729615"/>
            <a:chOff x="6248400" y="5580698"/>
            <a:chExt cx="5410200" cy="729615"/>
          </a:xfrm>
        </p:grpSpPr>
        <p:sp>
          <p:nvSpPr>
            <p:cNvPr id="77" name="Rectangle 77"/>
            <p:cNvSpPr/>
            <p:nvPr/>
          </p:nvSpPr>
          <p:spPr>
            <a:xfrm>
              <a:off x="6248400" y="558069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53188" y="5845493"/>
              <a:ext cx="200026" cy="200025"/>
              <a:chOff x="6453188" y="5845493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453188" y="58454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492926" y="58899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27642" y="60010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755892" y="5727383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线程的资源信息全记在所属进程的 PCB 里，由进程内所有线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程共用，所以 TCB 比 PCB 小得多。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线程的实现：用户级线程与核心级线程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11125200" cy="3146108"/>
            <a:chOff x="533400" y="1524000"/>
            <a:chExt cx="11125200" cy="31461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3613" y="1659731"/>
              <a:ext cx="1081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2.3.5 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71358" y="1659731"/>
              <a:ext cx="2490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用户级线程 User-level thread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56087" y="1659731"/>
              <a:ext cx="2644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核心级线程 Kernel-level thread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43378" y="2108359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library 函数，系统不可见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04901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基于系统调用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创建、撤销、状态转换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3378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在目态完成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4901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由操作系统完成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TCB 与核心栈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3378" y="3005614"/>
              <a:ext cx="2952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TCB 在用户空间；每个进程一个核心栈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04901" y="3005614"/>
              <a:ext cx="2952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TCB 在系统空间；每个线程一个核心栈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5675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3378" y="3454241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不依赖于操作系统，调度灵活；同一进程中多线程切换速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度快（不需进入操作系统）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4901" y="3454241"/>
              <a:ext cx="3914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同一进程内多线程可以并行执行；一个线程进入核心等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待，其他线程仍可执行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2438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43378" y="4130516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同一进程中多个线程不能真正并行；一个线程进入系统受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阻，进程中其他线程都不能执行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4901" y="4130516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系统开销大，同一进程内多线程切换速度慢；调度算法不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能灵活控制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11125200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53079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92315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rd-2"/>
          <p:cNvGrpSpPr/>
          <p:nvPr/>
        </p:nvGrpSpPr>
        <p:grpSpPr>
          <a:xfrm>
            <a:off x="533400" y="4860608"/>
            <a:ext cx="11125200" cy="1316355"/>
            <a:chOff x="533400" y="4860608"/>
            <a:chExt cx="11125200" cy="1316355"/>
          </a:xfrm>
        </p:grpSpPr>
        <p:sp>
          <p:nvSpPr>
            <p:cNvPr id="36" name="Rectangle 36"/>
            <p:cNvSpPr/>
            <p:nvPr/>
          </p:nvSpPr>
          <p:spPr>
            <a:xfrm>
              <a:off x="533400" y="4860608"/>
              <a:ext cx="11125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99395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1050" y="50701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1258" y="51058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3430" y="5447348"/>
              <a:ext cx="9702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原课件“2.3.5 线程的实现”页把三种实现的小节编号写成 2.3.1–2.3.3，与前面的 2.3.1 线程的引入等重复，应为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2.3.5.1–2.3.5.3。第三种是混合线程（Hybrid approach），见后两页。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两种线程的结构：TCB 和核心栈放在哪里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ult"/>
          <p:cNvGrpSpPr/>
          <p:nvPr/>
        </p:nvGrpSpPr>
        <p:grpSpPr>
          <a:xfrm>
            <a:off x="533400" y="1524000"/>
            <a:ext cx="5448300" cy="3429000"/>
            <a:chOff x="533400" y="1524000"/>
            <a:chExt cx="5448300" cy="34290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48300" cy="3429000"/>
            </a:xfrm>
            <a:prstGeom prst="roundRect">
              <a:avLst>
                <a:gd name="adj" fmla="val 388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042" y="1683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用户级线程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" y="1962150"/>
              <a:ext cx="5067300" cy="2857500"/>
            </a:xfrm>
            <a:prstGeom prst="roundRect">
              <a:avLst>
                <a:gd name="adj" fmla="val 1333"/>
              </a:avLst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23900" y="38290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106162" y="205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用户空间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06162" y="3925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系统空间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095500"/>
              <a:ext cx="1905000" cy="1638300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2416" y="217265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 A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343025" y="238125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47825" y="238125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952625" y="238125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66800" y="2990850"/>
              <a:ext cx="1600200" cy="628650"/>
            </a:xfrm>
            <a:prstGeom prst="roundRect">
              <a:avLst>
                <a:gd name="adj" fmla="val 9091"/>
              </a:avLst>
            </a:prstGeom>
            <a:solidFill>
              <a:srgbClr val="E2F3F4"/>
            </a:solidFill>
            <a:ln w="1143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57097" y="30760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运行系统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81200" y="3086100"/>
              <a:ext cx="552450" cy="4000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0E7C8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981200" y="321945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0E7C8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981200" y="33528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57097" y="3399949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TCB 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28950" y="2095500"/>
              <a:ext cx="1905000" cy="1638300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56966" y="217265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 B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457575" y="238125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762375" y="238125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181350" y="2990850"/>
              <a:ext cx="1600200" cy="628650"/>
            </a:xfrm>
            <a:prstGeom prst="roundRect">
              <a:avLst>
                <a:gd name="adj" fmla="val 9091"/>
              </a:avLst>
            </a:prstGeom>
            <a:solidFill>
              <a:srgbClr val="E2F3F4"/>
            </a:solidFill>
            <a:ln w="1143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271647" y="30760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运行系统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95750" y="3086100"/>
              <a:ext cx="552450" cy="266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0E7C8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095750" y="321945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71647" y="3399949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TCB 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166" y="42872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485900" y="4152900"/>
              <a:ext cx="152400" cy="4191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638300" y="4152900"/>
              <a:ext cx="152400" cy="4191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90900" y="4171950"/>
              <a:ext cx="609600" cy="38100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390900" y="43624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9525">
              <a:solidFill>
                <a:srgbClr val="1F293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90416" y="42967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进程表</a:t>
              </a:r>
            </a:p>
          </p:txBody>
        </p:sp>
      </p:grpSp>
      <p:grpSp>
        <p:nvGrpSpPr>
          <p:cNvPr id="70" name="klt"/>
          <p:cNvGrpSpPr/>
          <p:nvPr/>
        </p:nvGrpSpPr>
        <p:grpSpPr>
          <a:xfrm>
            <a:off x="6210300" y="1524000"/>
            <a:ext cx="5448300" cy="3429000"/>
            <a:chOff x="6210300" y="1524000"/>
            <a:chExt cx="5448300" cy="3429000"/>
          </a:xfrm>
        </p:grpSpPr>
        <p:sp>
          <p:nvSpPr>
            <p:cNvPr id="40" name="Rectangle 40"/>
            <p:cNvSpPr/>
            <p:nvPr/>
          </p:nvSpPr>
          <p:spPr>
            <a:xfrm>
              <a:off x="6210300" y="1524000"/>
              <a:ext cx="5448300" cy="3429000"/>
            </a:xfrm>
            <a:prstGeom prst="roundRect">
              <a:avLst>
                <a:gd name="adj" fmla="val 388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93942" y="1683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核心级线程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00800" y="1962150"/>
              <a:ext cx="5067300" cy="2857500"/>
            </a:xfrm>
            <a:prstGeom prst="roundRect">
              <a:avLst>
                <a:gd name="adj" fmla="val 1333"/>
              </a:avLst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6400800" y="38290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783062" y="205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用户空间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83062" y="3925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系统空间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91300" y="2095500"/>
              <a:ext cx="1905000" cy="1638300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19316" y="217265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 A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115175" y="2419350"/>
              <a:ext cx="104775" cy="1104900"/>
            </a:xfrm>
            <a:custGeom>
              <a:avLst/>
              <a:gdLst/>
              <a:ahLst/>
              <a:cxnLst/>
              <a:rect l="l" t="t" r="r" b="b"/>
              <a:pathLst>
                <a:path w="104775" h="1104900">
                  <a:moveTo>
                    <a:pt x="47625" y="0"/>
                  </a:moveTo>
                  <a:lnTo>
                    <a:pt x="104775" y="331470"/>
                  </a:lnTo>
                  <a:lnTo>
                    <a:pt x="0" y="607695"/>
                  </a:lnTo>
                  <a:lnTo>
                    <a:pt x="95250" y="883920"/>
                  </a:lnTo>
                  <a:lnTo>
                    <a:pt x="38100" y="1104900"/>
                  </a:lnTo>
                </a:path>
              </a:pathLst>
            </a:custGeom>
            <a:noFill/>
            <a:ln w="22860">
              <a:solidFill>
                <a:srgbClr val="0E7C86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496175" y="2419350"/>
              <a:ext cx="104775" cy="1104900"/>
            </a:xfrm>
            <a:custGeom>
              <a:avLst/>
              <a:gdLst/>
              <a:ahLst/>
              <a:cxnLst/>
              <a:rect l="l" t="t" r="r" b="b"/>
              <a:pathLst>
                <a:path w="104775" h="1104900">
                  <a:moveTo>
                    <a:pt x="47625" y="0"/>
                  </a:moveTo>
                  <a:lnTo>
                    <a:pt x="104775" y="331470"/>
                  </a:lnTo>
                  <a:lnTo>
                    <a:pt x="0" y="607695"/>
                  </a:lnTo>
                  <a:lnTo>
                    <a:pt x="95250" y="883920"/>
                  </a:lnTo>
                  <a:lnTo>
                    <a:pt x="38100" y="1104900"/>
                  </a:lnTo>
                </a:path>
              </a:pathLst>
            </a:custGeom>
            <a:noFill/>
            <a:ln w="22860">
              <a:solidFill>
                <a:srgbClr val="0E7C86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877175" y="2419350"/>
              <a:ext cx="104775" cy="1104900"/>
            </a:xfrm>
            <a:custGeom>
              <a:avLst/>
              <a:gdLst/>
              <a:ahLst/>
              <a:cxnLst/>
              <a:rect l="l" t="t" r="r" b="b"/>
              <a:pathLst>
                <a:path w="104775" h="1104900">
                  <a:moveTo>
                    <a:pt x="47625" y="0"/>
                  </a:moveTo>
                  <a:lnTo>
                    <a:pt x="104775" y="331470"/>
                  </a:lnTo>
                  <a:lnTo>
                    <a:pt x="0" y="607695"/>
                  </a:lnTo>
                  <a:lnTo>
                    <a:pt x="95250" y="883920"/>
                  </a:lnTo>
                  <a:lnTo>
                    <a:pt x="38100" y="1104900"/>
                  </a:lnTo>
                </a:path>
              </a:pathLst>
            </a:custGeom>
            <a:noFill/>
            <a:ln w="2286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705850" y="2095500"/>
              <a:ext cx="1905000" cy="1638300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833866" y="217265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 B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9229725" y="2419350"/>
              <a:ext cx="104775" cy="1104900"/>
            </a:xfrm>
            <a:custGeom>
              <a:avLst/>
              <a:gdLst/>
              <a:ahLst/>
              <a:cxnLst/>
              <a:rect l="l" t="t" r="r" b="b"/>
              <a:pathLst>
                <a:path w="104775" h="1104900">
                  <a:moveTo>
                    <a:pt x="47625" y="0"/>
                  </a:moveTo>
                  <a:lnTo>
                    <a:pt x="104775" y="331470"/>
                  </a:lnTo>
                  <a:lnTo>
                    <a:pt x="0" y="607695"/>
                  </a:lnTo>
                  <a:lnTo>
                    <a:pt x="95250" y="883920"/>
                  </a:lnTo>
                  <a:lnTo>
                    <a:pt x="38100" y="1104900"/>
                  </a:lnTo>
                </a:path>
              </a:pathLst>
            </a:custGeom>
            <a:noFill/>
            <a:ln w="22860">
              <a:solidFill>
                <a:srgbClr val="0E7C86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610725" y="2419350"/>
              <a:ext cx="104775" cy="1104900"/>
            </a:xfrm>
            <a:custGeom>
              <a:avLst/>
              <a:gdLst/>
              <a:ahLst/>
              <a:cxnLst/>
              <a:rect l="l" t="t" r="r" b="b"/>
              <a:pathLst>
                <a:path w="104775" h="1104900">
                  <a:moveTo>
                    <a:pt x="47625" y="0"/>
                  </a:moveTo>
                  <a:lnTo>
                    <a:pt x="104775" y="331470"/>
                  </a:lnTo>
                  <a:lnTo>
                    <a:pt x="0" y="607695"/>
                  </a:lnTo>
                  <a:lnTo>
                    <a:pt x="95250" y="883920"/>
                  </a:lnTo>
                  <a:lnTo>
                    <a:pt x="38100" y="1104900"/>
                  </a:lnTo>
                </a:path>
              </a:pathLst>
            </a:custGeom>
            <a:noFill/>
            <a:ln w="2286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4066" y="42872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核心栈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162800" y="4152900"/>
              <a:ext cx="152400" cy="4191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15200" y="4152900"/>
              <a:ext cx="152400" cy="4191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467600" y="4152900"/>
              <a:ext cx="152400" cy="4191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620000" y="4152900"/>
              <a:ext cx="152400" cy="4191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772400" y="4152900"/>
              <a:ext cx="152400" cy="4191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1F2937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458200" y="4000500"/>
              <a:ext cx="552450" cy="6667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0E7C86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8458200" y="413385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0E7C86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458200" y="42672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0E7C86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8458200" y="440055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0E7C86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8458200" y="45339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00566" y="428720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TCB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810750" y="4171950"/>
              <a:ext cx="609600" cy="38100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9810750" y="43624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9525">
              <a:solidFill>
                <a:srgbClr val="1F2937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510266" y="42967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进程表</a:t>
              </a:r>
            </a:p>
          </p:txBody>
        </p:sp>
      </p:grpSp>
      <p:grpSp>
        <p:nvGrpSpPr>
          <p:cNvPr id="76" name="ult-note"/>
          <p:cNvGrpSpPr/>
          <p:nvPr/>
        </p:nvGrpSpPr>
        <p:grpSpPr>
          <a:xfrm>
            <a:off x="533400" y="5105400"/>
            <a:ext cx="5448300" cy="1257300"/>
            <a:chOff x="533400" y="5105400"/>
            <a:chExt cx="5448300" cy="1257300"/>
          </a:xfrm>
        </p:grpSpPr>
        <p:sp>
          <p:nvSpPr>
            <p:cNvPr id="71" name="Rectangle 71"/>
            <p:cNvSpPr/>
            <p:nvPr/>
          </p:nvSpPr>
          <p:spPr>
            <a:xfrm>
              <a:off x="533400" y="5105400"/>
              <a:ext cx="5448300" cy="1257300"/>
            </a:xfrm>
            <a:prstGeom prst="roundRect">
              <a:avLst>
                <a:gd name="adj" fmla="val 106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542925" y="523875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62000" y="5238750"/>
              <a:ext cx="122396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1032" y="52982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内核只看到进程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6285" y="5612606"/>
              <a:ext cx="4698238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TCB 在用户空间，由运行系统管理；每个进程一个核心栈。线程切换不必进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入内核，但一个线程在内核中阻塞，整个进程都停下。</a:t>
              </a:r>
            </a:p>
          </p:txBody>
        </p:sp>
      </p:grpSp>
      <p:grpSp>
        <p:nvGrpSpPr>
          <p:cNvPr id="82" name="klt-note"/>
          <p:cNvGrpSpPr/>
          <p:nvPr/>
        </p:nvGrpSpPr>
        <p:grpSpPr>
          <a:xfrm>
            <a:off x="6210300" y="5105400"/>
            <a:ext cx="5448300" cy="1257300"/>
            <a:chOff x="6210300" y="5105400"/>
            <a:chExt cx="5448300" cy="1257300"/>
          </a:xfrm>
        </p:grpSpPr>
        <p:sp>
          <p:nvSpPr>
            <p:cNvPr id="77" name="Rectangle 77"/>
            <p:cNvSpPr/>
            <p:nvPr/>
          </p:nvSpPr>
          <p:spPr>
            <a:xfrm>
              <a:off x="6210300" y="5105400"/>
              <a:ext cx="5448300" cy="1257300"/>
            </a:xfrm>
            <a:prstGeom prst="roundRect">
              <a:avLst>
                <a:gd name="adj" fmla="val 106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219825" y="5238750"/>
              <a:ext cx="47625" cy="9906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38900" y="5238750"/>
              <a:ext cx="136683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513030" y="52982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内核管理每个线程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33185" y="5612606"/>
              <a:ext cx="474091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每个线程在系统空间有自己的 TCB 和核心栈，同一进程的线程可以分到不同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上并行；每次线程切换都要进入内核。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4167" cy="909257"/>
            <a:chOff x="520446" y="342900"/>
            <a:chExt cx="96141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41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混合线程（Solaris）：用户线程、轻进程 LWP、核心线程三层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492240" cy="2764155"/>
            <a:chOff x="533400" y="1524000"/>
            <a:chExt cx="6492240" cy="2764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490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4638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由谁支持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1048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对应关系与特点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117424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用户级线程 User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 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4179" y="2076450"/>
              <a:ext cx="880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 程序（创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建、调度）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62896" y="2076450"/>
              <a:ext cx="33497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LWP 可以多对多；只有与 LWP 相联系的用户线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程才能向前推进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12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86038"/>
              <a:ext cx="6492240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714625"/>
              <a:ext cx="1156335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轻进程 LWP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Light weighted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4179" y="2927985"/>
              <a:ext cx="615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 程序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62896" y="2821305"/>
              <a:ext cx="33345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task（进程）至少一个 LWP；LWP 对操作系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统可见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3281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566160"/>
              <a:ext cx="908304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核心级线程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 level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4179" y="377952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62896" y="3672840"/>
              <a:ext cx="32811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LWP 与唯一一个核心线程对应；核心线程与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可以多对多，也可以固定对应一个 CPU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492240" cy="27641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86928" y="1524000"/>
              <a:ext cx="9525" cy="2764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55645" y="1524000"/>
              <a:ext cx="9525" cy="2764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469130"/>
            <a:ext cx="6492240" cy="1867852"/>
            <a:chOff x="533400" y="4469130"/>
            <a:chExt cx="6492240" cy="1867852"/>
          </a:xfrm>
        </p:grpSpPr>
        <p:sp>
          <p:nvSpPr>
            <p:cNvPr id="27" name="Rectangle 27"/>
            <p:cNvSpPr/>
            <p:nvPr/>
          </p:nvSpPr>
          <p:spPr>
            <a:xfrm>
              <a:off x="533400" y="4469130"/>
              <a:ext cx="6492240" cy="1867852"/>
            </a:xfrm>
            <a:prstGeom prst="roundRect">
              <a:avLst>
                <a:gd name="adj" fmla="val 611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298876"/>
              <a:ext cx="224134" cy="192560"/>
              <a:chOff x="726129" y="5298876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3692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2988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447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171599"/>
              <a:ext cx="545172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轻进程不是进程：LWP 没有自己的地址空间，它是进程内部的调度实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体，同一进程的多个 LWP 共享该进程的地址空间和资源。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7330440" y="1524000"/>
            <a:ext cx="4328160" cy="1522095"/>
            <a:chOff x="7330440" y="1524000"/>
            <a:chExt cx="4328160" cy="1522095"/>
          </a:xfrm>
        </p:grpSpPr>
        <p:sp>
          <p:nvSpPr>
            <p:cNvPr id="34" name="Rectangle 34"/>
            <p:cNvSpPr/>
            <p:nvPr/>
          </p:nvSpPr>
          <p:spPr>
            <a:xfrm>
              <a:off x="7330440" y="1524000"/>
              <a:ext cx="4328160" cy="1522095"/>
            </a:xfrm>
            <a:prstGeom prst="roundRect">
              <a:avLst>
                <a:gd name="adj" fmla="val 876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28560" y="1722120"/>
              <a:ext cx="104394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93913" y="1756410"/>
              <a:ext cx="913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怎样理解 LWP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1321" y="2082641"/>
              <a:ext cx="35671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LWP 相当于内核提供给用户线程的“虚拟处理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机”：用户线程要运行，必须先挂到某个 LWP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上；内核调度的是 LWP 背后的核心线程。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7330440" y="3227070"/>
            <a:ext cx="4328160" cy="1910715"/>
            <a:chOff x="7330440" y="3227070"/>
            <a:chExt cx="4328160" cy="1910715"/>
          </a:xfrm>
        </p:grpSpPr>
        <p:sp>
          <p:nvSpPr>
            <p:cNvPr id="39" name="Rectangle 39"/>
            <p:cNvSpPr/>
            <p:nvPr/>
          </p:nvSpPr>
          <p:spPr>
            <a:xfrm>
              <a:off x="7330440" y="3227070"/>
              <a:ext cx="4328160" cy="63817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86306" y="34613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切换发生在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94102" y="3354705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要进核心态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07955" y="34613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要换地址空间吗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32929" y="399288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同进程的用户级线程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64574" y="39928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02799" y="39928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30440" y="428434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30440" y="4289108"/>
              <a:ext cx="43281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32929" y="441769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同进程的核心级线程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64574" y="44176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2799" y="44176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30440" y="470820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32929" y="484155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两个进程之间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64574" y="484155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02799" y="484155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是，还要换页表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30440" y="3227070"/>
              <a:ext cx="4328160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57322" y="322707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95548" y="322707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3"/>
          <p:cNvGrpSpPr/>
          <p:nvPr/>
        </p:nvGrpSpPr>
        <p:grpSpPr>
          <a:xfrm>
            <a:off x="7330440" y="5317808"/>
            <a:ext cx="4328160" cy="1018222"/>
            <a:chOff x="7330440" y="5317808"/>
            <a:chExt cx="4328160" cy="1018222"/>
          </a:xfrm>
        </p:grpSpPr>
        <p:sp>
          <p:nvSpPr>
            <p:cNvPr id="59" name="Rectangle 59"/>
            <p:cNvSpPr/>
            <p:nvPr/>
          </p:nvSpPr>
          <p:spPr>
            <a:xfrm>
              <a:off x="7330440" y="5317808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535228" y="5727383"/>
              <a:ext cx="200026" cy="200025"/>
              <a:chOff x="7535228" y="5727383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535228" y="57273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574966" y="57718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609682" y="58829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837551" y="5464969"/>
              <a:ext cx="344093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这样既保留了用户级线程切换快、调度灵活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的优点，又能让同一进程的线程在多个 CPU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上并行。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02944" cy="909257"/>
            <a:chOff x="520446" y="342900"/>
            <a:chExt cx="89029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029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Solaris 混合线程示例：3 个 task 的线程怎样映射到 CPU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8" name="solaris-figure"/>
          <p:cNvGrpSpPr/>
          <p:nvPr/>
        </p:nvGrpSpPr>
        <p:grpSpPr>
          <a:xfrm>
            <a:off x="685800" y="1699260"/>
            <a:ext cx="7315200" cy="4390549"/>
            <a:chOff x="685800" y="1699260"/>
            <a:chExt cx="7315200" cy="4390549"/>
          </a:xfrm>
        </p:grpSpPr>
        <p:sp>
          <p:nvSpPr>
            <p:cNvPr id="7" name="Rectangle 7"/>
            <p:cNvSpPr/>
            <p:nvPr/>
          </p:nvSpPr>
          <p:spPr>
            <a:xfrm>
              <a:off x="685800" y="3143250"/>
              <a:ext cx="7315200" cy="2438400"/>
            </a:xfrm>
            <a:prstGeom prst="roundRect">
              <a:avLst>
                <a:gd name="adj" fmla="val 8594"/>
              </a:avLst>
            </a:prstGeom>
            <a:solidFill>
              <a:srgbClr val="E3F5F1"/>
            </a:solidFill>
            <a:ln w="13335">
              <a:solidFill>
                <a:srgbClr val="14A38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0204" y="5318760"/>
              <a:ext cx="117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kernel（内核）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62531" y="16992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3500" y="1924050"/>
              <a:ext cx="171450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867531" y="16992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1924050"/>
              <a:ext cx="1333500" cy="16764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9231" y="16992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48250" y="1924050"/>
              <a:ext cx="243840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3335">
              <a:solidFill>
                <a:srgbClr val="1F293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714500" y="2552700"/>
              <a:ext cx="152400" cy="676275"/>
            </a:xfrm>
            <a:custGeom>
              <a:avLst/>
              <a:gdLst/>
              <a:ahLst/>
              <a:cxnLst/>
              <a:rect l="l" t="t" r="r" b="b"/>
              <a:pathLst>
                <a:path w="152400" h="676275">
                  <a:moveTo>
                    <a:pt x="0" y="0"/>
                  </a:moveTo>
                  <a:lnTo>
                    <a:pt x="15240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1866900" y="2552700"/>
              <a:ext cx="152400" cy="676275"/>
            </a:xfrm>
            <a:custGeom>
              <a:avLst/>
              <a:gdLst/>
              <a:ahLst/>
              <a:cxnLst/>
              <a:rect l="l" t="t" r="r" b="b"/>
              <a:pathLst>
                <a:path w="152400" h="676275">
                  <a:moveTo>
                    <a:pt x="15240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2667000" y="2552700"/>
              <a:ext cx="9525" cy="676275"/>
            </a:xfrm>
            <a:custGeom>
              <a:avLst/>
              <a:gdLst/>
              <a:ahLst/>
              <a:cxnLst/>
              <a:rect l="l" t="t" r="r" b="b"/>
              <a:pathLst>
                <a:path w="9525" h="676275">
                  <a:moveTo>
                    <a:pt x="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18" name="Line 18"/>
            <p:cNvSpPr/>
            <p:nvPr/>
          </p:nvSpPr>
          <p:spPr>
            <a:xfrm>
              <a:off x="3857625" y="2552700"/>
              <a:ext cx="219075" cy="676275"/>
            </a:xfrm>
            <a:custGeom>
              <a:avLst/>
              <a:gdLst/>
              <a:ahLst/>
              <a:cxnLst/>
              <a:rect l="l" t="t" r="r" b="b"/>
              <a:pathLst>
                <a:path w="219075" h="676275">
                  <a:moveTo>
                    <a:pt x="0" y="0"/>
                  </a:moveTo>
                  <a:lnTo>
                    <a:pt x="219075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4076700" y="2552700"/>
              <a:ext cx="209550" cy="676275"/>
            </a:xfrm>
            <a:custGeom>
              <a:avLst/>
              <a:gdLst/>
              <a:ahLst/>
              <a:cxnLst/>
              <a:rect l="l" t="t" r="r" b="b"/>
              <a:pathLst>
                <a:path w="209550" h="676275">
                  <a:moveTo>
                    <a:pt x="20955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5334000" y="2552700"/>
              <a:ext cx="171450" cy="676275"/>
            </a:xfrm>
            <a:custGeom>
              <a:avLst/>
              <a:gdLst/>
              <a:ahLst/>
              <a:cxnLst/>
              <a:rect l="l" t="t" r="r" b="b"/>
              <a:pathLst>
                <a:path w="171450" h="676275">
                  <a:moveTo>
                    <a:pt x="0" y="0"/>
                  </a:moveTo>
                  <a:lnTo>
                    <a:pt x="17145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5334000" y="2552700"/>
              <a:ext cx="723900" cy="676275"/>
            </a:xfrm>
            <a:custGeom>
              <a:avLst/>
              <a:gdLst/>
              <a:ahLst/>
              <a:cxnLst/>
              <a:rect l="l" t="t" r="r" b="b"/>
              <a:pathLst>
                <a:path w="723900" h="676275">
                  <a:moveTo>
                    <a:pt x="0" y="0"/>
                  </a:moveTo>
                  <a:lnTo>
                    <a:pt x="72390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5505450" y="2552700"/>
              <a:ext cx="190500" cy="676275"/>
            </a:xfrm>
            <a:custGeom>
              <a:avLst/>
              <a:gdLst/>
              <a:ahLst/>
              <a:cxnLst/>
              <a:rect l="l" t="t" r="r" b="b"/>
              <a:pathLst>
                <a:path w="190500" h="676275">
                  <a:moveTo>
                    <a:pt x="19050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5695950" y="2552700"/>
              <a:ext cx="361950" cy="676275"/>
            </a:xfrm>
            <a:custGeom>
              <a:avLst/>
              <a:gdLst/>
              <a:ahLst/>
              <a:cxnLst/>
              <a:rect l="l" t="t" r="r" b="b"/>
              <a:pathLst>
                <a:path w="361950" h="676275">
                  <a:moveTo>
                    <a:pt x="0" y="0"/>
                  </a:moveTo>
                  <a:lnTo>
                    <a:pt x="36195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5505450" y="2552700"/>
              <a:ext cx="552450" cy="676275"/>
            </a:xfrm>
            <a:custGeom>
              <a:avLst/>
              <a:gdLst/>
              <a:ahLst/>
              <a:cxnLst/>
              <a:rect l="l" t="t" r="r" b="b"/>
              <a:pathLst>
                <a:path w="552450" h="676275">
                  <a:moveTo>
                    <a:pt x="55245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6057900" y="2552700"/>
              <a:ext cx="9525" cy="676275"/>
            </a:xfrm>
            <a:custGeom>
              <a:avLst/>
              <a:gdLst/>
              <a:ahLst/>
              <a:cxnLst/>
              <a:rect l="l" t="t" r="r" b="b"/>
              <a:pathLst>
                <a:path w="9525" h="676275">
                  <a:moveTo>
                    <a:pt x="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6667500" y="2552700"/>
              <a:ext cx="9525" cy="676275"/>
            </a:xfrm>
            <a:custGeom>
              <a:avLst/>
              <a:gdLst/>
              <a:ahLst/>
              <a:cxnLst/>
              <a:rect l="l" t="t" r="r" b="b"/>
              <a:pathLst>
                <a:path w="9525" h="676275">
                  <a:moveTo>
                    <a:pt x="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7" name="Line 27"/>
            <p:cNvSpPr/>
            <p:nvPr/>
          </p:nvSpPr>
          <p:spPr>
            <a:xfrm>
              <a:off x="7143750" y="2552700"/>
              <a:ext cx="9525" cy="676275"/>
            </a:xfrm>
            <a:custGeom>
              <a:avLst/>
              <a:gdLst/>
              <a:ahLst/>
              <a:cxnLst/>
              <a:rect l="l" t="t" r="r" b="b"/>
              <a:pathLst>
                <a:path w="9525" h="676275">
                  <a:moveTo>
                    <a:pt x="0" y="0"/>
                  </a:moveTo>
                  <a:lnTo>
                    <a:pt x="0" y="676275"/>
                  </a:lnTo>
                </a:path>
              </a:pathLst>
            </a:custGeom>
            <a:noFill/>
            <a:ln w="12382">
              <a:solidFill>
                <a:srgbClr val="5B6475"/>
              </a:solidFill>
              <a:custDash>
                <a:ds d="230769" sp="230769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166687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97167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61937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743075" y="3228975"/>
              <a:ext cx="247650" cy="2476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543175" y="3228975"/>
              <a:ext cx="247650" cy="2476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810000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23862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952875" y="3228975"/>
              <a:ext cx="247650" cy="2476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28637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64832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01027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61987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096125" y="2057400"/>
              <a:ext cx="104775" cy="476250"/>
            </a:xfrm>
            <a:custGeom>
              <a:avLst/>
              <a:gdLst/>
              <a:ahLst/>
              <a:cxnLst/>
              <a:rect l="l" t="t" r="r" b="b"/>
              <a:pathLst>
                <a:path w="104775" h="476250">
                  <a:moveTo>
                    <a:pt x="47625" y="0"/>
                  </a:moveTo>
                  <a:lnTo>
                    <a:pt x="104775" y="142875"/>
                  </a:lnTo>
                  <a:lnTo>
                    <a:pt x="0" y="261938"/>
                  </a:lnTo>
                  <a:lnTo>
                    <a:pt x="95250" y="381000"/>
                  </a:lnTo>
                  <a:lnTo>
                    <a:pt x="38100" y="4762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381625" y="3228975"/>
              <a:ext cx="247650" cy="2476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934075" y="3228975"/>
              <a:ext cx="247650" cy="2476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543675" y="3228975"/>
              <a:ext cx="247650" cy="2476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019925" y="3228975"/>
              <a:ext cx="247650" cy="2476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866900" y="3476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1866900" y="4362450"/>
              <a:ext cx="2228850" cy="609600"/>
            </a:xfrm>
            <a:custGeom>
              <a:avLst/>
              <a:gdLst/>
              <a:ahLst/>
              <a:cxnLst/>
              <a:rect l="l" t="t" r="r" b="b"/>
              <a:pathLst>
                <a:path w="2228850" h="609600">
                  <a:moveTo>
                    <a:pt x="0" y="0"/>
                  </a:moveTo>
                  <a:lnTo>
                    <a:pt x="222885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667000" y="3476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2667000" y="4362450"/>
              <a:ext cx="1428750" cy="609600"/>
            </a:xfrm>
            <a:custGeom>
              <a:avLst/>
              <a:gdLst/>
              <a:ahLst/>
              <a:cxnLst/>
              <a:rect l="l" t="t" r="r" b="b"/>
              <a:pathLst>
                <a:path w="1428750" h="609600">
                  <a:moveTo>
                    <a:pt x="0" y="0"/>
                  </a:moveTo>
                  <a:lnTo>
                    <a:pt x="142875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333750" y="436245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76200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076700" y="3476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4076700" y="4362450"/>
              <a:ext cx="19050" cy="609600"/>
            </a:xfrm>
            <a:custGeom>
              <a:avLst/>
              <a:gdLst/>
              <a:ahLst/>
              <a:cxnLst/>
              <a:rect l="l" t="t" r="r" b="b"/>
              <a:pathLst>
                <a:path w="19050" h="609600">
                  <a:moveTo>
                    <a:pt x="0" y="0"/>
                  </a:moveTo>
                  <a:lnTo>
                    <a:pt x="1905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4095750" y="4362450"/>
              <a:ext cx="571500" cy="609600"/>
            </a:xfrm>
            <a:custGeom>
              <a:avLst/>
              <a:gdLst/>
              <a:ahLst/>
              <a:cxnLst/>
              <a:rect l="l" t="t" r="r" b="b"/>
              <a:pathLst>
                <a:path w="571500" h="609600">
                  <a:moveTo>
                    <a:pt x="571500" y="0"/>
                  </a:moveTo>
                  <a:lnTo>
                    <a:pt x="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505450" y="3476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4095750" y="4362450"/>
              <a:ext cx="1409700" cy="609600"/>
            </a:xfrm>
            <a:custGeom>
              <a:avLst/>
              <a:gdLst/>
              <a:ahLst/>
              <a:cxnLst/>
              <a:rect l="l" t="t" r="r" b="b"/>
              <a:pathLst>
                <a:path w="1409700" h="609600">
                  <a:moveTo>
                    <a:pt x="1409700" y="0"/>
                  </a:moveTo>
                  <a:lnTo>
                    <a:pt x="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6057900" y="3476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4095750" y="4362450"/>
              <a:ext cx="1962150" cy="609600"/>
            </a:xfrm>
            <a:custGeom>
              <a:avLst/>
              <a:gdLst/>
              <a:ahLst/>
              <a:cxnLst/>
              <a:rect l="l" t="t" r="r" b="b"/>
              <a:pathLst>
                <a:path w="1962150" h="609600">
                  <a:moveTo>
                    <a:pt x="1962150" y="0"/>
                  </a:moveTo>
                  <a:lnTo>
                    <a:pt x="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667500" y="3476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095750" y="4362450"/>
              <a:ext cx="2571750" cy="609600"/>
            </a:xfrm>
            <a:custGeom>
              <a:avLst/>
              <a:gdLst/>
              <a:ahLst/>
              <a:cxnLst/>
              <a:rect l="l" t="t" r="r" b="b"/>
              <a:pathLst>
                <a:path w="2571750" h="609600">
                  <a:moveTo>
                    <a:pt x="2571750" y="0"/>
                  </a:moveTo>
                  <a:lnTo>
                    <a:pt x="0" y="60960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143750" y="34766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81927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261937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328612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402907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461962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545782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01027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61987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096125" y="3962400"/>
              <a:ext cx="104775" cy="400050"/>
            </a:xfrm>
            <a:custGeom>
              <a:avLst/>
              <a:gdLst/>
              <a:ahLst/>
              <a:cxnLst/>
              <a:rect l="l" t="t" r="r" b="b"/>
              <a:pathLst>
                <a:path w="104775" h="400050">
                  <a:moveTo>
                    <a:pt x="47625" y="0"/>
                  </a:moveTo>
                  <a:lnTo>
                    <a:pt x="104775" y="120015"/>
                  </a:lnTo>
                  <a:lnTo>
                    <a:pt x="0" y="220028"/>
                  </a:lnTo>
                  <a:lnTo>
                    <a:pt x="95250" y="320040"/>
                  </a:lnTo>
                  <a:lnTo>
                    <a:pt x="38100" y="4000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3238500" y="4972050"/>
              <a:ext cx="857250" cy="819150"/>
            </a:xfrm>
            <a:custGeom>
              <a:avLst/>
              <a:gdLst/>
              <a:ahLst/>
              <a:cxnLst/>
              <a:rect l="l" t="t" r="r" b="b"/>
              <a:pathLst>
                <a:path w="857250" h="819150">
                  <a:moveTo>
                    <a:pt x="857250" y="0"/>
                  </a:moveTo>
                  <a:lnTo>
                    <a:pt x="0" y="81915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4095750" y="49720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4095750" y="4972050"/>
              <a:ext cx="857250" cy="819150"/>
            </a:xfrm>
            <a:custGeom>
              <a:avLst/>
              <a:gdLst/>
              <a:ahLst/>
              <a:cxnLst/>
              <a:rect l="l" t="t" r="r" b="b"/>
              <a:pathLst>
                <a:path w="857250" h="819150">
                  <a:moveTo>
                    <a:pt x="0" y="0"/>
                  </a:moveTo>
                  <a:lnTo>
                    <a:pt x="857250" y="81915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7143750" y="4362450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11430">
              <a:solidFill>
                <a:srgbClr val="1F2937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3095625" y="5791200"/>
              <a:ext cx="285750" cy="285750"/>
            </a:xfrm>
            <a:prstGeom prst="roundRect">
              <a:avLst>
                <a:gd name="adj" fmla="val 1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3952875" y="5791200"/>
              <a:ext cx="285750" cy="285750"/>
            </a:xfrm>
            <a:prstGeom prst="roundRect">
              <a:avLst>
                <a:gd name="adj" fmla="val 1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810125" y="5791200"/>
              <a:ext cx="285750" cy="285750"/>
            </a:xfrm>
            <a:prstGeom prst="roundRect">
              <a:avLst>
                <a:gd name="adj" fmla="val 1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000875" y="5791200"/>
              <a:ext cx="285750" cy="285750"/>
            </a:xfrm>
            <a:prstGeom prst="roundRect">
              <a:avLst>
                <a:gd name="adj" fmla="val 1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04735" y="5869781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CPU</a:t>
              </a:r>
            </a:p>
          </p:txBody>
        </p:sp>
      </p:grpSp>
      <p:grpSp>
        <p:nvGrpSpPr>
          <p:cNvPr id="100" name="solaris-notes"/>
          <p:cNvGrpSpPr/>
          <p:nvPr/>
        </p:nvGrpSpPr>
        <p:grpSpPr>
          <a:xfrm>
            <a:off x="8343900" y="1524000"/>
            <a:ext cx="3314700" cy="4838700"/>
            <a:chOff x="8343900" y="1524000"/>
            <a:chExt cx="3314700" cy="4838700"/>
          </a:xfrm>
        </p:grpSpPr>
        <p:sp>
          <p:nvSpPr>
            <p:cNvPr id="79" name="Rectangle 79"/>
            <p:cNvSpPr/>
            <p:nvPr/>
          </p:nvSpPr>
          <p:spPr>
            <a:xfrm>
              <a:off x="8343900" y="1524000"/>
              <a:ext cx="3314700" cy="4838700"/>
            </a:xfrm>
            <a:prstGeom prst="roundRect">
              <a:avLst>
                <a:gd name="adj" fmla="val 4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27923" y="16721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图例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8582025" y="1943100"/>
              <a:ext cx="104775" cy="247650"/>
            </a:xfrm>
            <a:custGeom>
              <a:avLst/>
              <a:gdLst/>
              <a:ahLst/>
              <a:cxnLst/>
              <a:rect l="l" t="t" r="r" b="b"/>
              <a:pathLst>
                <a:path w="104775" h="247650">
                  <a:moveTo>
                    <a:pt x="47625" y="0"/>
                  </a:moveTo>
                  <a:lnTo>
                    <a:pt x="104775" y="74295"/>
                  </a:lnTo>
                  <a:lnTo>
                    <a:pt x="0" y="136208"/>
                  </a:lnTo>
                  <a:lnTo>
                    <a:pt x="95250" y="198120"/>
                  </a:lnTo>
                  <a:lnTo>
                    <a:pt x="38100" y="2476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795766" y="20107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用户级线程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10125075" y="1981200"/>
              <a:ext cx="171450" cy="17145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357866" y="2010728"/>
              <a:ext cx="7558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LWP 轻进程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8582025" y="2305050"/>
              <a:ext cx="104775" cy="247650"/>
            </a:xfrm>
            <a:custGeom>
              <a:avLst/>
              <a:gdLst/>
              <a:ahLst/>
              <a:cxnLst/>
              <a:rect l="l" t="t" r="r" b="b"/>
              <a:pathLst>
                <a:path w="104775" h="247650">
                  <a:moveTo>
                    <a:pt x="47625" y="0"/>
                  </a:moveTo>
                  <a:lnTo>
                    <a:pt x="104775" y="74295"/>
                  </a:lnTo>
                  <a:lnTo>
                    <a:pt x="0" y="136208"/>
                  </a:lnTo>
                  <a:lnTo>
                    <a:pt x="95250" y="198120"/>
                  </a:lnTo>
                  <a:lnTo>
                    <a:pt x="38100" y="24765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795766" y="23726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核心级线程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0125075" y="2343150"/>
              <a:ext cx="171450" cy="171450"/>
            </a:xfrm>
            <a:prstGeom prst="roundRect">
              <a:avLst>
                <a:gd name="adj" fmla="val 11111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57866" y="2372678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496300" y="2667000"/>
              <a:ext cx="3009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8562975" y="287655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700135" y="2831306"/>
              <a:ext cx="257708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task1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：3 个用户线程配 2 个 LWP，其中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两个线程共用一个 LWP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8562975" y="338137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700135" y="3336131"/>
              <a:ext cx="257708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task2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：2 个用户线程共用 1 个 LWP（多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对一）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8562975" y="388620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700135" y="3840956"/>
              <a:ext cx="257708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task3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：3 个用户线程复用 2 个 LWP（多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对多），另外 2 个线程各配一个 LWP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8562975" y="439102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700135" y="4345781"/>
              <a:ext cx="2635758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LWP 对应一个核心线程；内核中另有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个核心线程不对应 LWP，只做内核自己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的工作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8562975" y="509587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700135" y="5050631"/>
              <a:ext cx="257175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核心线程由内核调度到左边 3 个 CPU 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（多对多）；最右边的核心线程固定在第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 CPU 上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线程与轻进程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线程的应用：需要共享数据的多个控制流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842635" cy="3150870"/>
            <a:chOff x="533400" y="1524000"/>
            <a:chExt cx="5842635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6994" y="1659731"/>
              <a:ext cx="1254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2.3.6 适用场合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865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内在的多控制流，需要共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享数据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61500" y="2221706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例如生产者–消费者问题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多线程优于多进程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61500" y="2783681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线程的创建和切换比进程快得多（原课件给出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的数字是快 100 倍）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459004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提高处理机与设备的并行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61500" y="3459004"/>
              <a:ext cx="31341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一个线程等 I/O 时，同进程的其他线程继续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计算（需核心级线程）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947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99954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2476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多处理机环境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61500" y="4134326"/>
              <a:ext cx="2979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线程分布在多个 CPU 上，提高处理机利用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率，加快进程推进速度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4891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2-card-1"/>
          <p:cNvGrpSpPr/>
          <p:nvPr/>
        </p:nvGrpSpPr>
        <p:grpSpPr>
          <a:xfrm>
            <a:off x="6680835" y="1524000"/>
            <a:ext cx="4977765" cy="1720215"/>
            <a:chOff x="6680835" y="1524000"/>
            <a:chExt cx="4977765" cy="1720215"/>
          </a:xfrm>
        </p:grpSpPr>
        <p:sp>
          <p:nvSpPr>
            <p:cNvPr id="26" name="Rectangle 26"/>
            <p:cNvSpPr/>
            <p:nvPr/>
          </p:nvSpPr>
          <p:spPr>
            <a:xfrm>
              <a:off x="6680835" y="1524000"/>
              <a:ext cx="4977765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90360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28485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20130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4273" y="1768792"/>
              <a:ext cx="342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 字处理（各线程执行不同代码）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934200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92315" y="2129790"/>
              <a:ext cx="1259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T1：交互编辑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934200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2315" y="2465070"/>
              <a:ext cx="1259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T2：词法检查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4200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92315" y="2800350"/>
              <a:ext cx="1259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T3：定时保存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680835" y="3434715"/>
            <a:ext cx="4977765" cy="1335405"/>
            <a:chOff x="6680835" y="3434715"/>
            <a:chExt cx="4977765" cy="1335405"/>
          </a:xfrm>
        </p:grpSpPr>
        <p:sp>
          <p:nvSpPr>
            <p:cNvPr id="38" name="Rectangle 38"/>
            <p:cNvSpPr/>
            <p:nvPr/>
          </p:nvSpPr>
          <p:spPr>
            <a:xfrm>
              <a:off x="6680835" y="3434715"/>
              <a:ext cx="497776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356806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28485" y="3644265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20130" y="367998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14273" y="3679508"/>
              <a:ext cx="349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 server（各线程执行相同代码）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20865" y="4040505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每来一个 http 请求，就 pop up（临时创建）一个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线程来处理它。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选择的依据：几个控制流要频繁共享同一批数据，用多线程；彼此独立、需要互相隔离保护，用多进程。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从用户的角度看计算任务：批处理作业与交互式作业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作业与作业步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2.4.1 批处理作业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2.4.2 交互式作业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小结：作业、进程、线程的关系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作业：用户要求计算机完成的计算任务集合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030605"/>
            <a:chOff x="533400" y="1524000"/>
            <a:chExt cx="5626418" cy="1030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1635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536" y="1769269"/>
              <a:ext cx="1189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2.4 作业（Job）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用户要求计算机系统为其完成的计算任务集合。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745105"/>
            <a:ext cx="5626418" cy="1701165"/>
            <a:chOff x="533400" y="2745105"/>
            <a:chExt cx="5626418" cy="1701165"/>
          </a:xfrm>
        </p:grpSpPr>
        <p:sp>
          <p:nvSpPr>
            <p:cNvPr id="13" name="Rectangle 13"/>
            <p:cNvSpPr/>
            <p:nvPr/>
          </p:nvSpPr>
          <p:spPr>
            <a:xfrm>
              <a:off x="533400" y="2745105"/>
              <a:ext cx="5626418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87845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2954655"/>
              <a:ext cx="15030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1211" y="2990374"/>
              <a:ext cx="1382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作业步（job step）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3318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作业处理过程中一个相对独立的步骤。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7299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6671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一般一个作业步可由一个进程完成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0652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0024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某些作业步之间可以并行</a:t>
              </a:r>
            </a:p>
          </p:txBody>
        </p:sp>
      </p:grpSp>
      <p:grpSp>
        <p:nvGrpSpPr>
          <p:cNvPr id="28" name="c1-kv-3"/>
          <p:cNvGrpSpPr/>
          <p:nvPr/>
        </p:nvGrpSpPr>
        <p:grpSpPr>
          <a:xfrm>
            <a:off x="525780" y="4661535"/>
            <a:ext cx="5634038" cy="1297305"/>
            <a:chOff x="525780" y="4661535"/>
            <a:chExt cx="5634038" cy="1297305"/>
          </a:xfrm>
        </p:grpSpPr>
        <p:sp>
          <p:nvSpPr>
            <p:cNvPr id="23" name="TextBox 23"/>
            <p:cNvSpPr txBox="1"/>
            <p:nvPr/>
          </p:nvSpPr>
          <p:spPr>
            <a:xfrm>
              <a:off x="525780" y="466153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批处理作业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65935" y="466153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用户事先写好作业说明书，系统照着自动处理，中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途不与用户交互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2635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53835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交互式作业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65935" y="5383530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用户在终端上逐条输入命令，系统逐条执行并给出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回应</a:t>
              </a:r>
            </a:p>
          </p:txBody>
        </p:sp>
      </p:grpSp>
      <p:grpSp>
        <p:nvGrpSpPr>
          <p:cNvPr id="39" name="c2-flow-1"/>
          <p:cNvGrpSpPr/>
          <p:nvPr/>
        </p:nvGrpSpPr>
        <p:grpSpPr>
          <a:xfrm>
            <a:off x="6828472" y="1781175"/>
            <a:ext cx="4466272" cy="2343150"/>
            <a:chOff x="6828472" y="1781175"/>
            <a:chExt cx="4466272" cy="2343150"/>
          </a:xfrm>
        </p:grpSpPr>
        <p:sp>
          <p:nvSpPr>
            <p:cNvPr id="29" name="Freeform 29"/>
            <p:cNvSpPr/>
            <p:nvPr/>
          </p:nvSpPr>
          <p:spPr>
            <a:xfrm>
              <a:off x="9062085" y="221932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09698" y="2628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062085" y="317182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09698" y="35814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28472" y="178117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28472" y="273367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28472" y="368617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37367" y="1911191"/>
              <a:ext cx="10494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 $FORTN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8400" y="2863691"/>
              <a:ext cx="867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 $LINK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05642" y="3816191"/>
              <a:ext cx="912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$EXEC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464618" y="4572000"/>
            <a:ext cx="5193982" cy="1327785"/>
            <a:chOff x="6464618" y="4572000"/>
            <a:chExt cx="5193982" cy="1327785"/>
          </a:xfrm>
        </p:grpSpPr>
        <p:sp>
          <p:nvSpPr>
            <p:cNvPr id="40" name="Rectangle 40"/>
            <p:cNvSpPr/>
            <p:nvPr/>
          </p:nvSpPr>
          <p:spPr>
            <a:xfrm>
              <a:off x="6464618" y="4572000"/>
              <a:ext cx="5193982" cy="1327785"/>
            </a:xfrm>
            <a:prstGeom prst="roundRect">
              <a:avLst>
                <a:gd name="adj" fmla="val 860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69405" y="5135880"/>
              <a:ext cx="200026" cy="200026"/>
              <a:chOff x="6669405" y="5135880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669405" y="5135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69418" y="5202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58305" y="5235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971348" y="4854892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下一页的作业说明书就是一个这样的作业：编译、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链接、执行三个作业步，每一步通常由一个进程完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批处理作业：用作业控制语言写作业说明书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417820" cy="1895475"/>
            <a:chOff x="525780" y="1548765"/>
            <a:chExt cx="5417820" cy="189547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663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作业控制语言 JCL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65058" y="15487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描述批处理作业控制意图的语言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作业说明书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65058" y="1988820"/>
              <a:ext cx="32442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JCL 语句的序列，语句一般以特殊符号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（如 $）起始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作业控制程序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5058" y="27108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解释并处理作业说明书的程序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作业控制进程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65058" y="31508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执行作业控制程序的进程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575685"/>
            <a:ext cx="5410200" cy="1647825"/>
            <a:chOff x="533400" y="3575685"/>
            <a:chExt cx="5410200" cy="1647825"/>
          </a:xfrm>
        </p:grpSpPr>
        <p:sp>
          <p:nvSpPr>
            <p:cNvPr id="19" name="Rectangle 19"/>
            <p:cNvSpPr/>
            <p:nvPr/>
          </p:nvSpPr>
          <p:spPr>
            <a:xfrm>
              <a:off x="533400" y="3575685"/>
              <a:ext cx="5410200" cy="1647825"/>
            </a:xfrm>
            <a:prstGeom prst="roundRect">
              <a:avLst>
                <a:gd name="adj" fmla="val 57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372760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作业说明书示例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0273" y="3992404"/>
              <a:ext cx="907034" cy="1167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$JOB    J1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$FORTN  …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$LINK   …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$EXEC   …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$ENDJOB</a:t>
              </a:r>
            </a:p>
          </p:txBody>
        </p:sp>
      </p:grpSp>
      <p:grpSp>
        <p:nvGrpSpPr>
          <p:cNvPr id="24" name="c1-text-3"/>
          <p:cNvGrpSpPr/>
          <p:nvPr/>
        </p:nvGrpSpPr>
        <p:grpSpPr>
          <a:xfrm>
            <a:off x="526923" y="5434489"/>
            <a:ext cx="5052314" cy="500824"/>
            <a:chOff x="526923" y="5434489"/>
            <a:chExt cx="5052314" cy="50082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5434489"/>
              <a:ext cx="50523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作业说明书在作业进入系统时就交给了系统，它告诉系统这个作业分几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步、要用哪些资源，这正是作业调度挑选作业的依据。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248400" y="1524000"/>
            <a:ext cx="5410200" cy="2926080"/>
            <a:chOff x="6248400" y="1524000"/>
            <a:chExt cx="5410200" cy="292608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589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640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5080" y="2150745"/>
              <a:ext cx="866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$JOB J1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94358" y="2150745"/>
              <a:ext cx="2131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作业开始，作业名为 J1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4993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5080" y="2638425"/>
              <a:ext cx="799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$FORTN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94358" y="2638425"/>
              <a:ext cx="2017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 FORTRAN 源程序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9822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5080" y="3126105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$LINK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94358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469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347472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5080" y="3613785"/>
              <a:ext cx="6313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$EXEC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94358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9576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5080" y="4101465"/>
              <a:ext cx="922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$ENDJOB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94358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作业结束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82915" y="1524000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llout-2"/>
          <p:cNvGrpSpPr/>
          <p:nvPr/>
        </p:nvGrpSpPr>
        <p:grpSpPr>
          <a:xfrm>
            <a:off x="6248400" y="4640580"/>
            <a:ext cx="5410200" cy="1243965"/>
            <a:chOff x="6248400" y="4640580"/>
            <a:chExt cx="5410200" cy="1243965"/>
          </a:xfrm>
        </p:grpSpPr>
        <p:sp>
          <p:nvSpPr>
            <p:cNvPr id="47" name="Rectangle 47"/>
            <p:cNvSpPr/>
            <p:nvPr/>
          </p:nvSpPr>
          <p:spPr>
            <a:xfrm>
              <a:off x="6248400" y="4640580"/>
              <a:ext cx="5410200" cy="1243965"/>
            </a:xfrm>
            <a:prstGeom prst="roundRect">
              <a:avLst>
                <a:gd name="adj" fmla="val 918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5162550"/>
              <a:ext cx="200026" cy="200026"/>
              <a:chOff x="6453188" y="516255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51625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53200" y="5229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42088" y="52625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130" y="4881562"/>
              <a:ext cx="4520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$FORTN、$LINK、$EXEC 各对应一个作业步；$JOB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$ENDJOB 标出作业的开始和结束。作业控制进程读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到哪条语句，就执行对应的作业步。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作业控制进程：逐条解释执行作业说明书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flow-1"/>
          <p:cNvGrpSpPr/>
          <p:nvPr/>
        </p:nvGrpSpPr>
        <p:grpSpPr>
          <a:xfrm>
            <a:off x="680085" y="1702118"/>
            <a:ext cx="5982652" cy="4406264"/>
            <a:chOff x="680085" y="1702118"/>
            <a:chExt cx="5982652" cy="4406264"/>
          </a:xfrm>
        </p:grpSpPr>
        <p:sp>
          <p:nvSpPr>
            <p:cNvPr id="7" name="Freeform 7"/>
            <p:cNvSpPr/>
            <p:nvPr/>
          </p:nvSpPr>
          <p:spPr>
            <a:xfrm>
              <a:off x="3670935" y="2140268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18548" y="2390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70935" y="2933700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0"/>
                  </a:moveTo>
                  <a:lnTo>
                    <a:pt x="0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18548" y="3088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670935" y="3823335"/>
              <a:ext cx="9525" cy="73343"/>
            </a:xfrm>
            <a:custGeom>
              <a:avLst/>
              <a:gdLst/>
              <a:ahLst/>
              <a:cxnLst/>
              <a:rect l="l" t="t" r="r" b="b"/>
              <a:pathLst>
                <a:path w="9525" h="73343">
                  <a:moveTo>
                    <a:pt x="0" y="0"/>
                  </a:moveTo>
                  <a:lnTo>
                    <a:pt x="0" y="733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18548" y="38966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84132" y="4302442"/>
              <a:ext cx="187642" cy="9525"/>
            </a:xfrm>
            <a:custGeom>
              <a:avLst/>
              <a:gdLst/>
              <a:ahLst/>
              <a:cxnLst/>
              <a:rect l="l" t="t" r="r" b="b"/>
              <a:pathLst>
                <a:path w="187642" h="9525">
                  <a:moveTo>
                    <a:pt x="18764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79358" y="4250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571048" y="430244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58690" y="4250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579245" y="3508058"/>
              <a:ext cx="1087755" cy="479108"/>
            </a:xfrm>
            <a:custGeom>
              <a:avLst/>
              <a:gdLst/>
              <a:ahLst/>
              <a:cxnLst/>
              <a:rect l="l" t="t" r="r" b="b"/>
              <a:pathLst>
                <a:path w="1087755" h="479108">
                  <a:moveTo>
                    <a:pt x="0" y="479108"/>
                  </a:moveTo>
                  <a:lnTo>
                    <a:pt x="0" y="269558"/>
                  </a:lnTo>
                  <a:lnTo>
                    <a:pt x="0" y="0"/>
                  </a:lnTo>
                  <a:lnTo>
                    <a:pt x="982980" y="0"/>
                  </a:lnTo>
                  <a:lnTo>
                    <a:pt x="108775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67000" y="3455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763578" y="4521518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1190" y="4772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763578" y="5314950"/>
              <a:ext cx="9525" cy="250507"/>
            </a:xfrm>
            <a:custGeom>
              <a:avLst/>
              <a:gdLst/>
              <a:ahLst/>
              <a:cxnLst/>
              <a:rect l="l" t="t" r="r" b="b"/>
              <a:pathLst>
                <a:path w="9525" h="250507">
                  <a:moveTo>
                    <a:pt x="0" y="0"/>
                  </a:moveTo>
                  <a:lnTo>
                    <a:pt x="0" y="2505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1190" y="55654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1775" y="1702118"/>
              <a:ext cx="17992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71775" y="2495550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771775" y="3193732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771775" y="4001452"/>
              <a:ext cx="1799272" cy="601027"/>
            </a:xfrm>
            <a:custGeom>
              <a:avLst/>
              <a:gdLst/>
              <a:ahLst/>
              <a:cxnLst/>
              <a:rect l="l" t="t" r="r" b="b"/>
              <a:pathLst>
                <a:path w="1799272" h="601027">
                  <a:moveTo>
                    <a:pt x="899160" y="0"/>
                  </a:moveTo>
                  <a:lnTo>
                    <a:pt x="1799272" y="300990"/>
                  </a:lnTo>
                  <a:lnTo>
                    <a:pt x="899160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0085" y="3987165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63465" y="4083368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63465" y="4876800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63465" y="5670232"/>
              <a:ext cx="17992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47517" y="18321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读入作业内容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61360" y="262556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释放输入井空间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14218" y="331041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顺序取一条作业控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制语句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47517" y="421338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是结束语句？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2528" y="410384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执行该作业步（可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能创建子进程）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54003" y="421338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申请输出井空间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40160" y="50068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输出作业结果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40160" y="580024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进程自我终止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510790" y="40862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9080" y="41128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603432" y="40862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641723" y="41128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1602105"/>
            <a:chOff x="7114222" y="1524000"/>
            <a:chExt cx="4544378" cy="1602105"/>
          </a:xfrm>
        </p:grpSpPr>
        <p:sp>
          <p:nvSpPr>
            <p:cNvPr id="44" name="Rectangle 44"/>
            <p:cNvSpPr/>
            <p:nvPr/>
          </p:nvSpPr>
          <p:spPr>
            <a:xfrm>
              <a:off x="7114222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374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61872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3042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输入井与输出井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54252" y="211074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磁盘上划出的缓冲区（SPOOLing 技术）。作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业先被读入输入井，运行结果先写到输出井，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再由系统送往打印机等输出设备。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7114222" y="3316605"/>
            <a:ext cx="4544378" cy="2969895"/>
            <a:chOff x="7114222" y="3316605"/>
            <a:chExt cx="4544378" cy="2969895"/>
          </a:xfrm>
        </p:grpSpPr>
        <p:sp>
          <p:nvSpPr>
            <p:cNvPr id="50" name="Rectangle 50"/>
            <p:cNvSpPr/>
            <p:nvPr/>
          </p:nvSpPr>
          <p:spPr>
            <a:xfrm>
              <a:off x="7114222" y="3316605"/>
              <a:ext cx="4544378" cy="2969895"/>
            </a:xfrm>
            <a:prstGeom prst="roundRect">
              <a:avLst>
                <a:gd name="adj" fmla="val 449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23772" y="35261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05129" y="35618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流程要点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29488" y="39662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87602" y="390334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作业内容读入后，释放它在输入井中占的空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329488" y="45872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87602" y="452437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每取一条语句就执行一个作业步，执行时可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能创建子进程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29488" y="52082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87602" y="5145405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取到结束语句：申请输出井空间，输出结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果，作业控制进程自我终止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交互式作业：帐户管理、注册与注销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842635" cy="2200275"/>
            <a:chOff x="533400" y="1524000"/>
            <a:chExt cx="5842635" cy="2200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5749" y="1645444"/>
              <a:ext cx="109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2.4.2 帐户管理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992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帐户文件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2635" y="2045494"/>
              <a:ext cx="40723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/etc/passwd 文件：（用户名，口令，用户根目录，同组用户，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余额……）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193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24125"/>
              <a:ext cx="584263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745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创建帐户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32635" y="2645569"/>
              <a:ext cx="3994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用户提供用户名、口令、资金；系统操作员建立用户根目录（如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/usr/zhang），填写 passwd 文件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3345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撤销帐户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2635" y="3245644"/>
              <a:ext cx="38661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删除该用户目录及其所有文件；在 passwd 文件中清除对应的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entry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84263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30718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table-2"/>
          <p:cNvGrpSpPr/>
          <p:nvPr/>
        </p:nvGrpSpPr>
        <p:grpSpPr>
          <a:xfrm>
            <a:off x="533400" y="3893820"/>
            <a:ext cx="5842635" cy="2200275"/>
            <a:chOff x="533400" y="3893820"/>
            <a:chExt cx="5842635" cy="2200275"/>
          </a:xfrm>
        </p:grpSpPr>
        <p:sp>
          <p:nvSpPr>
            <p:cNvPr id="22" name="Rectangle 22"/>
            <p:cNvSpPr/>
            <p:nvPr/>
          </p:nvSpPr>
          <p:spPr>
            <a:xfrm>
              <a:off x="533400" y="3893820"/>
              <a:ext cx="5842635" cy="60007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2783" y="4015264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作业怎样变成进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75814" y="41152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批处理作业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54194" y="41152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交互式作业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0555" y="46153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进入系统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16430" y="461533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先排在输入井，成为后备作业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94810" y="4615339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用户注册后直接建立 shell 进程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8891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893945"/>
              <a:ext cx="584263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5015389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作业调度（高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16430" y="5015389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选中后装入内存，建立作业控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制进程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94810" y="51154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没有这一级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4892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5615464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进程调度（低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16430" y="5715476"/>
              <a:ext cx="1980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决定每个作业步何时占用 CPU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94810" y="5715476"/>
              <a:ext cx="1829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决定命令进程何时占用 CPU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93820"/>
              <a:ext cx="584263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814512" y="389382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092892" y="389382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table-1"/>
          <p:cNvGrpSpPr/>
          <p:nvPr/>
        </p:nvGrpSpPr>
        <p:grpSpPr>
          <a:xfrm>
            <a:off x="6680835" y="1524000"/>
            <a:ext cx="4977765" cy="2400300"/>
            <a:chOff x="6680835" y="1524000"/>
            <a:chExt cx="4977765" cy="2400300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2157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1045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7990" y="2145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72450" y="2045494"/>
              <a:ext cx="31122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logon: 输入用户名；password: 输入口令（不回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5193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2524125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7990" y="26455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72450" y="26455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在终端上交互地输入命令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29194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7990" y="30456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显式注销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72450" y="3045619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用户输入 logoff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3194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0835" y="3324225"/>
              <a:ext cx="497776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7990" y="3545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隐式注销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2450" y="3445669"/>
              <a:ext cx="31620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长时间没有输入命令（如 5 分钟）时，系统自动注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1524000"/>
              <a:ext cx="497776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7053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llout-2"/>
          <p:cNvGrpSpPr/>
          <p:nvPr/>
        </p:nvGrpSpPr>
        <p:grpSpPr>
          <a:xfrm>
            <a:off x="6680835" y="4093845"/>
            <a:ext cx="4977765" cy="2000250"/>
            <a:chOff x="6680835" y="4093845"/>
            <a:chExt cx="4977765" cy="2000250"/>
          </a:xfrm>
        </p:grpSpPr>
        <p:sp>
          <p:nvSpPr>
            <p:cNvPr id="61" name="Rectangle 61"/>
            <p:cNvSpPr/>
            <p:nvPr/>
          </p:nvSpPr>
          <p:spPr>
            <a:xfrm>
              <a:off x="6680835" y="4093845"/>
              <a:ext cx="4977765" cy="2000250"/>
            </a:xfrm>
            <a:prstGeom prst="roundRect">
              <a:avLst>
                <a:gd name="adj" fmla="val 571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885623" y="4993958"/>
              <a:ext cx="200026" cy="200026"/>
              <a:chOff x="6885623" y="499395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885623" y="49939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985635" y="50606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974523" y="50939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88327" y="4751070"/>
              <a:ext cx="405993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补充：现代 UNIX/Linux 把口令的散列值放在只有管理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员可读的 /etc/shadow 中，/etc/passwd 里不再存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放口令。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99562" cy="909257"/>
            <a:chOff x="520446" y="342900"/>
            <a:chExt cx="52995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995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命令解释程序（shell）的工作循环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flow-1"/>
          <p:cNvGrpSpPr/>
          <p:nvPr/>
        </p:nvGrpSpPr>
        <p:grpSpPr>
          <a:xfrm>
            <a:off x="937260" y="1702118"/>
            <a:ext cx="6110287" cy="4488180"/>
            <a:chOff x="937260" y="1702118"/>
            <a:chExt cx="6110287" cy="4488180"/>
          </a:xfrm>
        </p:grpSpPr>
        <p:sp>
          <p:nvSpPr>
            <p:cNvPr id="7" name="Freeform 7"/>
            <p:cNvSpPr/>
            <p:nvPr/>
          </p:nvSpPr>
          <p:spPr>
            <a:xfrm>
              <a:off x="3888105" y="2140268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0"/>
                  </a:moveTo>
                  <a:lnTo>
                    <a:pt x="0" y="155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35718" y="2295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888105" y="3028950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0"/>
                  </a:moveTo>
                  <a:lnTo>
                    <a:pt x="0" y="74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35718" y="31032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697730" y="3508058"/>
              <a:ext cx="606742" cy="9525"/>
            </a:xfrm>
            <a:custGeom>
              <a:avLst/>
              <a:gdLst/>
              <a:ahLst/>
              <a:cxnLst/>
              <a:rect l="l" t="t" r="r" b="b"/>
              <a:pathLst>
                <a:path w="606742" h="9525">
                  <a:moveTo>
                    <a:pt x="0" y="0"/>
                  </a:moveTo>
                  <a:lnTo>
                    <a:pt x="6067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304472" y="3455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88105" y="3809048"/>
              <a:ext cx="9525" cy="87630"/>
            </a:xfrm>
            <a:custGeom>
              <a:avLst/>
              <a:gdLst/>
              <a:ahLst/>
              <a:cxnLst/>
              <a:rect l="l" t="t" r="r" b="b"/>
              <a:pathLst>
                <a:path w="9525" h="87630">
                  <a:moveTo>
                    <a:pt x="0" y="0"/>
                  </a:moveTo>
                  <a:lnTo>
                    <a:pt x="0" y="87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35718" y="38966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697730" y="4302442"/>
              <a:ext cx="606742" cy="9525"/>
            </a:xfrm>
            <a:custGeom>
              <a:avLst/>
              <a:gdLst/>
              <a:ahLst/>
              <a:cxnLst/>
              <a:rect l="l" t="t" r="r" b="b"/>
              <a:pathLst>
                <a:path w="606742" h="9525">
                  <a:moveTo>
                    <a:pt x="0" y="0"/>
                  </a:moveTo>
                  <a:lnTo>
                    <a:pt x="6067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304472" y="4250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888105" y="4602480"/>
              <a:ext cx="9525" cy="169545"/>
            </a:xfrm>
            <a:custGeom>
              <a:avLst/>
              <a:gdLst/>
              <a:ahLst/>
              <a:cxnLst/>
              <a:rect l="l" t="t" r="r" b="b"/>
              <a:pathLst>
                <a:path w="9525" h="169545">
                  <a:moveTo>
                    <a:pt x="0" y="0"/>
                  </a:moveTo>
                  <a:lnTo>
                    <a:pt x="0" y="1695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35718" y="4772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888105" y="5314950"/>
              <a:ext cx="9525" cy="169545"/>
            </a:xfrm>
            <a:custGeom>
              <a:avLst/>
              <a:gdLst/>
              <a:ahLst/>
              <a:cxnLst/>
              <a:rect l="l" t="t" r="r" b="b"/>
              <a:pathLst>
                <a:path w="9525" h="169545">
                  <a:moveTo>
                    <a:pt x="0" y="0"/>
                  </a:moveTo>
                  <a:lnTo>
                    <a:pt x="0" y="1695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835718" y="54844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697730" y="5889308"/>
              <a:ext cx="606742" cy="9525"/>
            </a:xfrm>
            <a:custGeom>
              <a:avLst/>
              <a:gdLst/>
              <a:ahLst/>
              <a:cxnLst/>
              <a:rect l="l" t="t" r="r" b="b"/>
              <a:pathLst>
                <a:path w="606742" h="9525">
                  <a:moveTo>
                    <a:pt x="0" y="0"/>
                  </a:moveTo>
                  <a:lnTo>
                    <a:pt x="6067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304472" y="58369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470785" y="5889308"/>
              <a:ext cx="607695" cy="9525"/>
            </a:xfrm>
            <a:custGeom>
              <a:avLst/>
              <a:gdLst/>
              <a:ahLst/>
              <a:cxnLst/>
              <a:rect l="l" t="t" r="r" b="b"/>
              <a:pathLst>
                <a:path w="607695" h="9525">
                  <a:moveTo>
                    <a:pt x="60769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366010" y="58369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802505" y="1905000"/>
              <a:ext cx="2245042" cy="2667000"/>
            </a:xfrm>
            <a:custGeom>
              <a:avLst/>
              <a:gdLst/>
              <a:ahLst/>
              <a:cxnLst/>
              <a:rect l="l" t="t" r="r" b="b"/>
              <a:pathLst>
                <a:path w="2245042" h="2667000">
                  <a:moveTo>
                    <a:pt x="2035492" y="2397442"/>
                  </a:moveTo>
                  <a:lnTo>
                    <a:pt x="2245042" y="2397442"/>
                  </a:lnTo>
                  <a:lnTo>
                    <a:pt x="2238375" y="2397442"/>
                  </a:lnTo>
                  <a:lnTo>
                    <a:pt x="2238375" y="2667000"/>
                  </a:lnTo>
                  <a:lnTo>
                    <a:pt x="2238375" y="0"/>
                  </a:lnTo>
                  <a:lnTo>
                    <a:pt x="2238375" y="16192"/>
                  </a:lnTo>
                  <a:lnTo>
                    <a:pt x="104775" y="16192"/>
                  </a:lnTo>
                  <a:lnTo>
                    <a:pt x="0" y="161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697730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802505" y="1905000"/>
              <a:ext cx="2245042" cy="4000500"/>
            </a:xfrm>
            <a:custGeom>
              <a:avLst/>
              <a:gdLst/>
              <a:ahLst/>
              <a:cxnLst/>
              <a:rect l="l" t="t" r="r" b="b"/>
              <a:pathLst>
                <a:path w="2245042" h="4000500">
                  <a:moveTo>
                    <a:pt x="2035492" y="3984307"/>
                  </a:moveTo>
                  <a:lnTo>
                    <a:pt x="2245042" y="3984307"/>
                  </a:lnTo>
                  <a:lnTo>
                    <a:pt x="2245042" y="4000500"/>
                  </a:lnTo>
                  <a:lnTo>
                    <a:pt x="2238375" y="4000500"/>
                  </a:lnTo>
                  <a:lnTo>
                    <a:pt x="2238375" y="0"/>
                  </a:lnTo>
                  <a:lnTo>
                    <a:pt x="2238375" y="16192"/>
                  </a:lnTo>
                  <a:lnTo>
                    <a:pt x="104775" y="16192"/>
                  </a:lnTo>
                  <a:lnTo>
                    <a:pt x="0" y="161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697730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606868" y="1905000"/>
              <a:ext cx="1366838" cy="3765232"/>
            </a:xfrm>
            <a:custGeom>
              <a:avLst/>
              <a:gdLst/>
              <a:ahLst/>
              <a:cxnLst/>
              <a:rect l="l" t="t" r="r" b="b"/>
              <a:pathLst>
                <a:path w="1366838" h="3765232">
                  <a:moveTo>
                    <a:pt x="44768" y="3765232"/>
                  </a:moveTo>
                  <a:lnTo>
                    <a:pt x="44768" y="3555682"/>
                  </a:lnTo>
                  <a:lnTo>
                    <a:pt x="44768" y="0"/>
                  </a:lnTo>
                  <a:lnTo>
                    <a:pt x="0" y="0"/>
                  </a:lnTo>
                  <a:lnTo>
                    <a:pt x="1262062" y="0"/>
                  </a:lnTo>
                  <a:lnTo>
                    <a:pt x="1262062" y="16192"/>
                  </a:lnTo>
                  <a:lnTo>
                    <a:pt x="1366838" y="161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973705" y="1868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78480" y="1702118"/>
              <a:ext cx="16192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78480" y="2400300"/>
              <a:ext cx="16192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078480" y="3208020"/>
              <a:ext cx="1619250" cy="601027"/>
            </a:xfrm>
            <a:custGeom>
              <a:avLst/>
              <a:gdLst/>
              <a:ahLst/>
              <a:cxnLst/>
              <a:rect l="l" t="t" r="r" b="b"/>
              <a:pathLst>
                <a:path w="1619250" h="601027">
                  <a:moveTo>
                    <a:pt x="809625" y="0"/>
                  </a:moveTo>
                  <a:lnTo>
                    <a:pt x="1619250" y="300038"/>
                  </a:lnTo>
                  <a:lnTo>
                    <a:pt x="809625" y="601027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09248" y="3193732"/>
              <a:ext cx="1428750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078480" y="4001452"/>
              <a:ext cx="1619250" cy="601027"/>
            </a:xfrm>
            <a:custGeom>
              <a:avLst/>
              <a:gdLst/>
              <a:ahLst/>
              <a:cxnLst/>
              <a:rect l="l" t="t" r="r" b="b"/>
              <a:pathLst>
                <a:path w="1619250" h="601027">
                  <a:moveTo>
                    <a:pt x="809625" y="0"/>
                  </a:moveTo>
                  <a:lnTo>
                    <a:pt x="1619250" y="300990"/>
                  </a:lnTo>
                  <a:lnTo>
                    <a:pt x="809625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09248" y="4083368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078480" y="4876800"/>
              <a:ext cx="16192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078480" y="5589270"/>
              <a:ext cx="1619250" cy="601028"/>
            </a:xfrm>
            <a:custGeom>
              <a:avLst/>
              <a:gdLst/>
              <a:ahLst/>
              <a:cxnLst/>
              <a:rect l="l" t="t" r="r" b="b"/>
              <a:pathLst>
                <a:path w="1619250" h="601028">
                  <a:moveTo>
                    <a:pt x="809625" y="0"/>
                  </a:moveTo>
                  <a:lnTo>
                    <a:pt x="1619250" y="300038"/>
                  </a:lnTo>
                  <a:lnTo>
                    <a:pt x="809625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09248" y="5670232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37260" y="5670232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373949" y="1832134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显示提示符 $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12668" y="2516029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读入终端命令并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20689" y="3418999"/>
              <a:ext cx="934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logout？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29466" y="331041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记帐，结束会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50844" y="42133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内部命令？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72518" y="42133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直接处理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50844" y="50068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建立子进程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50844" y="580024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后台命令？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00205" y="580024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输出子进程号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8217" y="580024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等子进程结束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38712" y="329184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977003" y="33185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916680" y="38128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939921" y="38395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938712" y="40862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977003" y="41128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916680" y="464820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939921" y="46748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38712" y="56730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977003" y="56997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607945" y="56730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646236" y="56997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75" name="c2-kv-1"/>
          <p:cNvGrpSpPr/>
          <p:nvPr/>
        </p:nvGrpSpPr>
        <p:grpSpPr>
          <a:xfrm>
            <a:off x="7539038" y="1548765"/>
            <a:ext cx="4119562" cy="2459355"/>
            <a:chOff x="7539038" y="1548765"/>
            <a:chExt cx="4119562" cy="2459355"/>
          </a:xfrm>
        </p:grpSpPr>
        <p:sp>
          <p:nvSpPr>
            <p:cNvPr id="64" name="TextBox 64"/>
            <p:cNvSpPr txBox="1"/>
            <p:nvPr/>
          </p:nvSpPr>
          <p:spPr>
            <a:xfrm>
              <a:off x="753903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内部命令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81072" y="1548765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由命令解释程序自己处理，不建立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子进程，如 cd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546658" y="2150745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39038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其他命令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81072" y="227076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建立子进程来执行对应的程序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546658" y="2590800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39038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前台命令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81072" y="2710815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等子进程结束后，才显示下一个提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示符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46658" y="3312795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39038" y="34328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后台命令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81072" y="3432810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输出子进程号后马上显示提示符，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子进程在后台运行</a:t>
              </a:r>
            </a:p>
          </p:txBody>
        </p:sp>
      </p:grpSp>
      <p:grpSp>
        <p:nvGrpSpPr>
          <p:cNvPr id="82" name="c2-callout-2"/>
          <p:cNvGrpSpPr/>
          <p:nvPr/>
        </p:nvGrpSpPr>
        <p:grpSpPr>
          <a:xfrm>
            <a:off x="7546658" y="4139565"/>
            <a:ext cx="4111942" cy="782955"/>
            <a:chOff x="7546658" y="4139565"/>
            <a:chExt cx="4111942" cy="782955"/>
          </a:xfrm>
        </p:grpSpPr>
        <p:sp>
          <p:nvSpPr>
            <p:cNvPr id="76" name="Rectangle 76"/>
            <p:cNvSpPr/>
            <p:nvPr/>
          </p:nvSpPr>
          <p:spPr>
            <a:xfrm>
              <a:off x="7546658" y="4139565"/>
              <a:ext cx="411194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751445" y="4431030"/>
              <a:ext cx="200026" cy="200025"/>
              <a:chOff x="7751445" y="4431030"/>
              <a:chExt cx="200026" cy="2000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751445" y="44310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791184" y="44754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825899" y="45866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053388" y="4288155"/>
              <a:ext cx="2701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shell 中命令末尾加 &amp;（如 cc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prog.c &amp;），就是后台命令。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作业、进程、线程三者的关系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701040" y="1838325"/>
            <a:ext cx="4642486" cy="2514600"/>
            <a:chOff x="701040" y="1838325"/>
            <a:chExt cx="4642486" cy="2514600"/>
          </a:xfrm>
        </p:grpSpPr>
        <p:sp>
          <p:nvSpPr>
            <p:cNvPr id="7" name="Freeform 7"/>
            <p:cNvSpPr/>
            <p:nvPr/>
          </p:nvSpPr>
          <p:spPr>
            <a:xfrm>
              <a:off x="947738" y="3095625"/>
              <a:ext cx="415290" cy="1047750"/>
            </a:xfrm>
            <a:custGeom>
              <a:avLst/>
              <a:gdLst/>
              <a:ahLst/>
              <a:cxnLst/>
              <a:rect l="l" t="t" r="r" b="b"/>
              <a:pathLst>
                <a:path w="415290" h="1047750">
                  <a:moveTo>
                    <a:pt x="415290" y="0"/>
                  </a:moveTo>
                  <a:lnTo>
                    <a:pt x="0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63028" y="3095625"/>
              <a:ext cx="414338" cy="1047750"/>
            </a:xfrm>
            <a:custGeom>
              <a:avLst/>
              <a:gdLst/>
              <a:ahLst/>
              <a:cxnLst/>
              <a:rect l="l" t="t" r="r" b="b"/>
              <a:pathLst>
                <a:path w="414338" h="1047750">
                  <a:moveTo>
                    <a:pt x="0" y="0"/>
                  </a:moveTo>
                  <a:lnTo>
                    <a:pt x="414338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3095625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66248" y="3095625"/>
              <a:ext cx="415290" cy="1047750"/>
            </a:xfrm>
            <a:custGeom>
              <a:avLst/>
              <a:gdLst/>
              <a:ahLst/>
              <a:cxnLst/>
              <a:rect l="l" t="t" r="r" b="b"/>
              <a:pathLst>
                <a:path w="415290" h="1047750">
                  <a:moveTo>
                    <a:pt x="415290" y="0"/>
                  </a:moveTo>
                  <a:lnTo>
                    <a:pt x="0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681538" y="3095625"/>
              <a:ext cx="414338" cy="1047750"/>
            </a:xfrm>
            <a:custGeom>
              <a:avLst/>
              <a:gdLst/>
              <a:ahLst/>
              <a:cxnLst/>
              <a:rect l="l" t="t" r="r" b="b"/>
              <a:pathLst>
                <a:path w="414338" h="1047750">
                  <a:moveTo>
                    <a:pt x="0" y="0"/>
                  </a:moveTo>
                  <a:lnTo>
                    <a:pt x="414338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63028" y="2047875"/>
              <a:ext cx="1659255" cy="1047750"/>
            </a:xfrm>
            <a:custGeom>
              <a:avLst/>
              <a:gdLst/>
              <a:ahLst/>
              <a:cxnLst/>
              <a:rect l="l" t="t" r="r" b="b"/>
              <a:pathLst>
                <a:path w="1659255" h="1047750">
                  <a:moveTo>
                    <a:pt x="1659255" y="0"/>
                  </a:moveTo>
                  <a:lnTo>
                    <a:pt x="0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2047875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22282" y="2047875"/>
              <a:ext cx="1659255" cy="1047750"/>
            </a:xfrm>
            <a:custGeom>
              <a:avLst/>
              <a:gdLst/>
              <a:ahLst/>
              <a:cxnLst/>
              <a:rect l="l" t="t" r="r" b="b"/>
              <a:pathLst>
                <a:path w="1659255" h="1047750">
                  <a:moveTo>
                    <a:pt x="0" y="0"/>
                  </a:moveTo>
                  <a:lnTo>
                    <a:pt x="1659255" y="1047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1040" y="3933825"/>
              <a:ext cx="49434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530668" y="3933825"/>
              <a:ext cx="49434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52512" y="2886075"/>
              <a:ext cx="62103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74632" y="3933825"/>
              <a:ext cx="49434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11768" y="2886075"/>
              <a:ext cx="62103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19550" y="3933825"/>
              <a:ext cx="49434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49178" y="3933825"/>
              <a:ext cx="49434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71022" y="2886075"/>
              <a:ext cx="62103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4632" y="1838325"/>
              <a:ext cx="494348" cy="419100"/>
            </a:xfrm>
            <a:prstGeom prst="roundRect">
              <a:avLst>
                <a:gd name="adj" fmla="val 1818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1248" y="40733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20876" y="40733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9255" y="302561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5793" y="40733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8510" y="302561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09758" y="40733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39386" y="40733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57765" y="302561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65793" y="19778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4857750"/>
            <a:ext cx="4977765" cy="782955"/>
            <a:chOff x="533400" y="4857750"/>
            <a:chExt cx="4977765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485775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149215"/>
              <a:ext cx="200026" cy="200026"/>
              <a:chOff x="738188" y="514921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149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215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249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00634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例：一个作业分几个作业步，每步一个进程，每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个进程里又有一个或多个线程。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815965" y="1524000"/>
            <a:ext cx="5842635" cy="1800225"/>
            <a:chOff x="5815965" y="1524000"/>
            <a:chExt cx="5842635" cy="1800225"/>
          </a:xfrm>
        </p:grpSpPr>
        <p:sp>
          <p:nvSpPr>
            <p:cNvPr id="41" name="Rectangle 41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82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595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23788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作业与进程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5868" y="2108359"/>
              <a:ext cx="3914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作业进入内存后变为进程；一个作业通常与多个进程相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15965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23788" y="28970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进程与线程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5868" y="2783681"/>
              <a:ext cx="3914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一个进程一般包含多个线程，至少包含一个线程；不支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持多线程的系统，可以把每个进程看成单线程进程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1524000"/>
              <a:ext cx="584263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213282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table-2"/>
          <p:cNvGrpSpPr/>
          <p:nvPr/>
        </p:nvGrpSpPr>
        <p:grpSpPr>
          <a:xfrm>
            <a:off x="5815965" y="3514725"/>
            <a:ext cx="5842635" cy="1795462"/>
            <a:chOff x="5815965" y="3514725"/>
            <a:chExt cx="5842635" cy="1795462"/>
          </a:xfrm>
        </p:grpSpPr>
        <p:sp>
          <p:nvSpPr>
            <p:cNvPr id="53" name="Rectangle 53"/>
            <p:cNvSpPr/>
            <p:nvPr/>
          </p:nvSpPr>
          <p:spPr>
            <a:xfrm>
              <a:off x="5815965" y="3514725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38214" y="36495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14905" y="3649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是什么的单位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23788" y="40981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5868" y="40981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用户提交计算任务的单位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44072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15965" y="441198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23788" y="45477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25868" y="454771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资源分配的单位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48558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23788" y="49963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25868" y="49963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执行（调度）的单位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3514725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213282" y="35147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722876" cy="3569017"/>
            <a:chOff x="667512" y="1835468"/>
            <a:chExt cx="4722876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7228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实例：Java、Linux 与</a:t>
              </a:r>
              <a:br/>
              <a:r>
                <a:rPr lang="en-US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看三个真实系统怎样表示和管理进程与线程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555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2.5.1 Java 线程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219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2.5.2 Linux 进程与线程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3126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2.5.3 Windows 进程、线程与纤程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1954" cy="909257"/>
            <a:chOff x="520446" y="342900"/>
            <a:chExt cx="84919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19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线程的四种基本状态，以及与操作系统线程的对应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798195" y="1620202"/>
            <a:ext cx="4826317" cy="2982278"/>
            <a:chOff x="798195" y="1620202"/>
            <a:chExt cx="4826317" cy="2982278"/>
          </a:xfrm>
        </p:grpSpPr>
        <p:sp>
          <p:nvSpPr>
            <p:cNvPr id="7" name="Freeform 7"/>
            <p:cNvSpPr/>
            <p:nvPr/>
          </p:nvSpPr>
          <p:spPr>
            <a:xfrm>
              <a:off x="1629728" y="2319338"/>
              <a:ext cx="1023938" cy="561022"/>
            </a:xfrm>
            <a:custGeom>
              <a:avLst/>
              <a:gdLst/>
              <a:ahLst/>
              <a:cxnLst/>
              <a:rect l="l" t="t" r="r" b="b"/>
              <a:pathLst>
                <a:path w="1023938" h="561022">
                  <a:moveTo>
                    <a:pt x="0" y="561022"/>
                  </a:moveTo>
                  <a:lnTo>
                    <a:pt x="10239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30805" y="227361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0"/>
                  </a:moveTo>
                  <a:lnTo>
                    <a:pt x="46673" y="8763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29965" y="2260282"/>
              <a:ext cx="1171575" cy="590550"/>
            </a:xfrm>
            <a:custGeom>
              <a:avLst/>
              <a:gdLst/>
              <a:ahLst/>
              <a:cxnLst/>
              <a:rect l="l" t="t" r="r" b="b"/>
              <a:pathLst>
                <a:path w="1171575" h="590550">
                  <a:moveTo>
                    <a:pt x="0" y="0"/>
                  </a:moveTo>
                  <a:lnTo>
                    <a:pt x="1171575" y="5905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79632" y="2808922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84773"/>
                  </a:moveTo>
                  <a:lnTo>
                    <a:pt x="0" y="84773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48585" y="2448878"/>
              <a:ext cx="263207" cy="1242060"/>
            </a:xfrm>
            <a:custGeom>
              <a:avLst/>
              <a:gdLst/>
              <a:ahLst/>
              <a:cxnLst/>
              <a:rect l="l" t="t" r="r" b="b"/>
              <a:pathLst>
                <a:path w="263207" h="1242060">
                  <a:moveTo>
                    <a:pt x="263207" y="0"/>
                  </a:moveTo>
                  <a:cubicBezTo>
                    <a:pt x="15557" y="441325"/>
                    <a:pt x="0" y="855345"/>
                    <a:pt x="216535" y="12420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23210" y="3667125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106680"/>
                  </a:moveTo>
                  <a:lnTo>
                    <a:pt x="0" y="46672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8990" y="2531745"/>
              <a:ext cx="262572" cy="1242060"/>
            </a:xfrm>
            <a:custGeom>
              <a:avLst/>
              <a:gdLst/>
              <a:ahLst/>
              <a:cxnLst/>
              <a:rect l="l" t="t" r="r" b="b"/>
              <a:pathLst>
                <a:path w="262572" h="1242060">
                  <a:moveTo>
                    <a:pt x="0" y="1242060"/>
                  </a:moveTo>
                  <a:cubicBezTo>
                    <a:pt x="247015" y="800100"/>
                    <a:pt x="262572" y="386080"/>
                    <a:pt x="4667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48990" y="2448878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0" y="0"/>
                  </a:moveTo>
                  <a:lnTo>
                    <a:pt x="88582" y="60007"/>
                  </a:lnTo>
                  <a:lnTo>
                    <a:pt x="4762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98195" y="2657475"/>
              <a:ext cx="876300" cy="876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691765" y="1620202"/>
              <a:ext cx="876300" cy="8763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748212" y="2657475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691765" y="3726180"/>
              <a:ext cx="876300" cy="8763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70389" y="3021330"/>
              <a:ext cx="331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69365" y="1984058"/>
              <a:ext cx="721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Runnable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1043" y="302133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Dead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16032" y="4090035"/>
              <a:ext cx="62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Blocked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05952" y="2484120"/>
              <a:ext cx="55530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24216" y="2518886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start()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597592" y="2484120"/>
              <a:ext cx="112204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99566" y="2518886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stop() / run 结束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13572" y="3018472"/>
              <a:ext cx="162591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93212" y="3053239"/>
              <a:ext cx="16656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sleep() / suspend() / I/O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28962" y="3018472"/>
              <a:ext cx="81057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40588" y="3053239"/>
              <a:ext cx="788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resume() 等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4857750"/>
            <a:ext cx="5410200" cy="1335405"/>
            <a:chOff x="533400" y="4857750"/>
            <a:chExt cx="5410200" cy="1335405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425440"/>
              <a:ext cx="200026" cy="200026"/>
              <a:chOff x="738188" y="5425440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4254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4921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5254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006340"/>
              <a:ext cx="43586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补充：JDK 5 起 Java 用 Thread.State 表示六种状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态：NEW, RUNNABLE, BLOCKED, WAITING,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TIMED_WAITING, TERMINATED。stop、suspend、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resume 因为不安全，已被废弃。</a:t>
              </a:r>
            </a:p>
          </p:txBody>
        </p:sp>
      </p:grpSp>
      <p:grpSp>
        <p:nvGrpSpPr>
          <p:cNvPr id="50" name="c2-kv-1"/>
          <p:cNvGrpSpPr/>
          <p:nvPr/>
        </p:nvGrpSpPr>
        <p:grpSpPr>
          <a:xfrm>
            <a:off x="6240780" y="1548765"/>
            <a:ext cx="5417820" cy="1895475"/>
            <a:chOff x="6240780" y="1548765"/>
            <a:chExt cx="5417820" cy="1895475"/>
          </a:xfrm>
        </p:grpSpPr>
        <p:sp>
          <p:nvSpPr>
            <p:cNvPr id="39" name="TextBox 39"/>
            <p:cNvSpPr txBox="1"/>
            <p:nvPr/>
          </p:nvSpPr>
          <p:spPr>
            <a:xfrm>
              <a:off x="6240780" y="1548765"/>
              <a:ext cx="41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3300" y="154876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新建的线程，还没有调用 start()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0780" y="1988820"/>
              <a:ext cx="901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Runnable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53300" y="1988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可运行状态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0780" y="2428875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Blocked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53300" y="2428875"/>
              <a:ext cx="39966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封锁状态：睡眠、被挂起或等待 I/O；睡眠时间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到、被 resume()、I/O 完成后回到 Runnable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030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0780" y="3150870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Dead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53300" y="31508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终止状态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575685"/>
            <a:ext cx="5410200" cy="2617470"/>
            <a:chOff x="6248400" y="3575685"/>
            <a:chExt cx="5410200" cy="2617470"/>
          </a:xfrm>
        </p:grpSpPr>
        <p:sp>
          <p:nvSpPr>
            <p:cNvPr id="51" name="Rectangle 51"/>
            <p:cNvSpPr/>
            <p:nvPr/>
          </p:nvSpPr>
          <p:spPr>
            <a:xfrm>
              <a:off x="6248400" y="3575685"/>
              <a:ext cx="5410200" cy="2617470"/>
            </a:xfrm>
            <a:prstGeom prst="roundRect">
              <a:avLst>
                <a:gd name="adj" fmla="val 50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709035"/>
              <a:ext cx="47625" cy="23507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96050" y="3785235"/>
              <a:ext cx="1330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49459" y="3820954"/>
              <a:ext cx="1224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Java 线程与 JVM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01765" y="42252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9880" y="4162425"/>
              <a:ext cx="4568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线程由 Java 虚拟机 JVM 支持，JVM 位于操作系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统之上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01765" y="48463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9880" y="4783455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线程与操作系统线程的对应关系由 JVM 确定：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NT 的 JVM 为一对一，Solaris 的 JVM 为多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对多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3660" cy="909257"/>
            <a:chOff x="520446" y="342900"/>
            <a:chExt cx="8233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3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Linux：进程和线程都用 clone 创建，区别在共享什么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1651635"/>
            <a:chOff x="533400" y="1524000"/>
            <a:chExt cx="4760595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3822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155" y="1769269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2.5.2 Linux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进程与线程在系统内部具有统一的表示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977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二者的差别通过另一个系统调用 clone（不同于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fork）体现出来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366135"/>
            <a:ext cx="4760595" cy="907732"/>
            <a:chOff x="533400" y="3366135"/>
            <a:chExt cx="4760595" cy="907732"/>
          </a:xfrm>
        </p:grpSpPr>
        <p:sp>
          <p:nvSpPr>
            <p:cNvPr id="16" name="Rectangle 16"/>
            <p:cNvSpPr/>
            <p:nvPr/>
          </p:nvSpPr>
          <p:spPr>
            <a:xfrm>
              <a:off x="533400" y="3366135"/>
              <a:ext cx="476059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518059"/>
              <a:ext cx="13212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clone 系统调用的形式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035" y="3779996"/>
              <a:ext cx="2514854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pid = clone(function, stack_ptr,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sharing_flags, arg);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464368"/>
            <a:ext cx="4760595" cy="1711642"/>
            <a:chOff x="533400" y="4464368"/>
            <a:chExt cx="4760595" cy="1711642"/>
          </a:xfrm>
        </p:grpSpPr>
        <p:sp>
          <p:nvSpPr>
            <p:cNvPr id="20" name="Rectangle 20"/>
            <p:cNvSpPr/>
            <p:nvPr/>
          </p:nvSpPr>
          <p:spPr>
            <a:xfrm>
              <a:off x="533400" y="4464368"/>
              <a:ext cx="4760595" cy="1711642"/>
            </a:xfrm>
            <a:prstGeom prst="roundRect">
              <a:avLst>
                <a:gd name="adj" fmla="val 667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219700"/>
              <a:ext cx="200026" cy="200025"/>
              <a:chOff x="738188" y="5219700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2197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2641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3752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5076825"/>
              <a:ext cx="3729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新的执行流从 function(arg) 开始运行，使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stack_ptr 指向的栈。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598795" y="1524000"/>
            <a:ext cx="6059805" cy="2705100"/>
            <a:chOff x="5598795" y="1524000"/>
            <a:chExt cx="6059805" cy="2705100"/>
          </a:xfrm>
        </p:grpSpPr>
        <p:sp>
          <p:nvSpPr>
            <p:cNvPr id="27" name="Rectangle 27"/>
            <p:cNvSpPr/>
            <p:nvPr/>
          </p:nvSpPr>
          <p:spPr>
            <a:xfrm>
              <a:off x="5598795" y="1524000"/>
              <a:ext cx="6059805" cy="7543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70483" y="1663065"/>
              <a:ext cx="159591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sharing_flags 标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志位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58175" y="17964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置位时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17468" y="1796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不置位时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05475" y="2417445"/>
              <a:ext cx="1090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CLONE_VM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44765" y="24174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共享地址空间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05022" y="24174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复制地址空间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598795" y="2761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598795" y="27660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05475" y="290512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CLONE_FILES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44765" y="2905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共享打开文件表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05022" y="2905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复制打开文件表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32489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5475" y="3392805"/>
              <a:ext cx="1605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CLONE_SIGHAND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44765" y="33928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共享信号处理程序表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05022" y="33928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复制信号处理程序表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37366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598795" y="374142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5475" y="3880485"/>
              <a:ext cx="1112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CLONE_PID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44765" y="3880485"/>
              <a:ext cx="1589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沿用调用者的 PID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05022" y="3880485"/>
              <a:ext cx="1387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获得自己的 PID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1524000"/>
              <a:ext cx="6059805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33322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593580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5598795" y="4419600"/>
            <a:ext cx="6059805" cy="782955"/>
            <a:chOff x="5598795" y="4419600"/>
            <a:chExt cx="6059805" cy="782955"/>
          </a:xfrm>
        </p:grpSpPr>
        <p:sp>
          <p:nvSpPr>
            <p:cNvPr id="52" name="Rectangle 52"/>
            <p:cNvSpPr/>
            <p:nvPr/>
          </p:nvSpPr>
          <p:spPr>
            <a:xfrm>
              <a:off x="5598795" y="441960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5803583" y="4711067"/>
              <a:ext cx="200023" cy="200023"/>
              <a:chOff x="5803583" y="471106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803583" y="47110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936933" y="47777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105525" y="4568190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这些标志都置位，得到的是与调用者共享资源的线程；都不置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位，效果和 fork 出一个新进程相近。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5598795" y="5393055"/>
            <a:ext cx="6059805" cy="782955"/>
            <a:chOff x="5598795" y="5393055"/>
            <a:chExt cx="6059805" cy="782955"/>
          </a:xfrm>
        </p:grpSpPr>
        <p:sp>
          <p:nvSpPr>
            <p:cNvPr id="58" name="Rectangle 58"/>
            <p:cNvSpPr/>
            <p:nvPr/>
          </p:nvSpPr>
          <p:spPr>
            <a:xfrm>
              <a:off x="5598795" y="539305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5803583" y="5684520"/>
              <a:ext cx="200026" cy="200026"/>
              <a:chOff x="5803583" y="5684520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5803583" y="56845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903595" y="57511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892483" y="57845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105525" y="5541645"/>
              <a:ext cx="4987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pthread_create 正是用一组置位的标志调用 clone 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的，所以 Linux 的线程本质上是与创建者共享资源的进程。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86651" cy="909257"/>
            <a:chOff x="520446" y="342900"/>
            <a:chExt cx="73866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866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Windows：用 CreateProcess 创建进程的过程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248795" cy="2851309"/>
            <a:chOff x="533400" y="1533525"/>
            <a:chExt cx="4248795" cy="28513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652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39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2757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Win32 应用调用 CreateProcess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1724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消息被发给 Win32 子系统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47888"/>
              <a:ext cx="2414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Win32 子系统调用进程管理器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60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请求创建进程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0818"/>
              <a:ext cx="2557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进程管理器调用对象管理器 OM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998946"/>
              <a:ext cx="3835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创建进程对象，把对象句柄（把柄）返回给 Win32 子系统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137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再次调用进程管理器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81876"/>
              <a:ext cx="2432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Win32 子系统请求为该进程创建线程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89667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返回句柄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64806"/>
              <a:ext cx="27339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Win32 子系统把句柄返回给新进程和线程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4548188"/>
            <a:ext cx="6059805" cy="1600200"/>
            <a:chOff x="533400" y="4548188"/>
            <a:chExt cx="6059805" cy="1600200"/>
          </a:xfrm>
        </p:grpSpPr>
        <p:sp>
          <p:nvSpPr>
            <p:cNvPr id="29" name="Rectangle 29"/>
            <p:cNvSpPr/>
            <p:nvPr/>
          </p:nvSpPr>
          <p:spPr>
            <a:xfrm>
              <a:off x="533400" y="4548188"/>
              <a:ext cx="605980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1733" y="46696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06778" y="4669631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95763" y="4669631"/>
              <a:ext cx="649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Windows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0555" y="5169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创建方式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00200" y="5069681"/>
              <a:ext cx="22303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 先复制父进程，再用 execl 换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上新程序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45280" y="506968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一次调用就指定要执行的程序，不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复制父进程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5435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5548312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57697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父子关系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00200" y="5669756"/>
              <a:ext cx="2180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记在 proc 结构里，父进程用 wait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等子进程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45280" y="5669756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不维护父子层次，靠句柄和等待函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数打交道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48188"/>
              <a:ext cx="605980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498282" y="454818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43362" y="454818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kv-1"/>
          <p:cNvGrpSpPr/>
          <p:nvPr/>
        </p:nvGrpSpPr>
        <p:grpSpPr>
          <a:xfrm>
            <a:off x="6891147" y="1545907"/>
            <a:ext cx="4767453" cy="1556576"/>
            <a:chOff x="6891147" y="1545907"/>
            <a:chExt cx="4767453" cy="1556576"/>
          </a:xfrm>
        </p:grpSpPr>
        <p:sp>
          <p:nvSpPr>
            <p:cNvPr id="45" name="TextBox 45"/>
            <p:cNvSpPr txBox="1"/>
            <p:nvPr/>
          </p:nvSpPr>
          <p:spPr>
            <a:xfrm>
              <a:off x="6891147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进程对象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10360" y="154590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描述进程拥有的资源：访问令牌、配额、虚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拟存储等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20859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1147" y="21926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线程对象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10360" y="2192655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描述执行：线程上下文、动态优先级、挂起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98005" y="27327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1147" y="28384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句柄（把柄）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10360" y="28384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程序通过句柄访问内核对象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898005" y="3219450"/>
            <a:ext cx="4760595" cy="978218"/>
            <a:chOff x="6898005" y="3219450"/>
            <a:chExt cx="4760595" cy="978218"/>
          </a:xfrm>
        </p:grpSpPr>
        <p:sp>
          <p:nvSpPr>
            <p:cNvPr id="54" name="Rectangle 54"/>
            <p:cNvSpPr/>
            <p:nvPr/>
          </p:nvSpPr>
          <p:spPr>
            <a:xfrm>
              <a:off x="6898005" y="3219450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102793" y="3608070"/>
              <a:ext cx="200026" cy="200026"/>
              <a:chOff x="7102793" y="3608070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102793" y="36080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02805" y="36747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191693" y="37080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405497" y="3365182"/>
              <a:ext cx="37856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句柄不是进程号：它是本进程私有的、指向内核对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象的引用，关闭句柄只是减少对象的引用计数，并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不等于终止那个进程。</a:t>
              </a:r>
            </a:p>
          </p:txBody>
        </p:sp>
      </p:grpSp>
      <p:grpSp>
        <p:nvGrpSpPr>
          <p:cNvPr id="66" name="c2-card-3"/>
          <p:cNvGrpSpPr/>
          <p:nvPr/>
        </p:nvGrpSpPr>
        <p:grpSpPr>
          <a:xfrm>
            <a:off x="6898005" y="4367212"/>
            <a:ext cx="4760595" cy="1781175"/>
            <a:chOff x="6898005" y="4367212"/>
            <a:chExt cx="4760595" cy="1781175"/>
          </a:xfrm>
        </p:grpSpPr>
        <p:sp>
          <p:nvSpPr>
            <p:cNvPr id="61" name="Rectangle 61"/>
            <p:cNvSpPr/>
            <p:nvPr/>
          </p:nvSpPr>
          <p:spPr>
            <a:xfrm>
              <a:off x="6898005" y="4367212"/>
              <a:ext cx="4760595" cy="1781175"/>
            </a:xfrm>
            <a:prstGeom prst="roundRect">
              <a:avLst>
                <a:gd name="adj" fmla="val 7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07530" y="4500562"/>
              <a:ext cx="47625" cy="15144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22795" y="4553902"/>
              <a:ext cx="1034415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95127" y="4586764"/>
              <a:ext cx="887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纤程（Fiber）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15937" y="489870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比线程更轻的执行单位，由应用程序自己调度，内核不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知道它的存在；一个线程中可以轮流运行多个纤程。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07727" cy="909257"/>
            <a:chOff x="520446" y="342900"/>
            <a:chExt cx="57077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077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进程对象与线程对象：属性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11125200" cy="4033837"/>
            <a:chOff x="533400" y="1524000"/>
            <a:chExt cx="11125200" cy="403383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413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92580" y="1652588"/>
              <a:ext cx="2179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进程对象（Type：Process）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3634" y="1652588"/>
              <a:ext cx="2086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线程对象（Type：Thread）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3226" y="2076450"/>
              <a:ext cx="1519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进程标识 Process 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77634" y="2076450"/>
              <a:ext cx="1349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客户标识 Client id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3226" y="2501265"/>
              <a:ext cx="1907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基础优先级 Base priority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77634" y="2501265"/>
              <a:ext cx="2165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动态优先级 Dynamic priority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处理机亲合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3226" y="2926080"/>
              <a:ext cx="3304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缺省亲合处理机 Default processor affinity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7634" y="2926080"/>
              <a:ext cx="3256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处理机亲合掩码 Thread processor affinity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93226" y="3349942"/>
              <a:ext cx="1867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 Execution 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77634" y="3349942"/>
              <a:ext cx="261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已执行时间 Thread execution time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414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3226" y="3774757"/>
              <a:ext cx="17381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访问令牌 Access token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77634" y="3774757"/>
              <a:ext cx="2472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非角色令牌 Impersonation token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0662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07098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41986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93226" y="4198620"/>
              <a:ext cx="3224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执行/调试端口 Exception/debugging ports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77634" y="4198620"/>
              <a:ext cx="2044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终止端口 Termination port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4900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889" y="46234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93226" y="4623435"/>
              <a:ext cx="1608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退出状态 Exit status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77634" y="4623435"/>
              <a:ext cx="1608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终止状态 Exit status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149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19662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889" y="51549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独有属性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93226" y="5154930"/>
              <a:ext cx="3979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配额限制 Quota limits；输入/输出计数 I/O counters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77634" y="5048250"/>
              <a:ext cx="4302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线程上下文 Thread context；警觉状态 Alert status；挂起计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 Suspension count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4032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85975" y="1524000"/>
              <a:ext cx="9525" cy="4032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70382" y="1524000"/>
              <a:ext cx="9525" cy="4032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0" name="Rectangle 5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91916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对照看：进程对象管资源（令牌、配额、I/O 计数），线程对象管执行（上下文、动态优先级、挂起计数）。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07727" cy="909257"/>
            <a:chOff x="520446" y="342900"/>
            <a:chExt cx="57077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077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进程对象与线程对象：服务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11125200" cy="1996440"/>
            <a:chOff x="533400" y="1524000"/>
            <a:chExt cx="11125200" cy="1996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155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3862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1063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20302" y="215074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创建进程、打开进程、查询进程信息、设置进程信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息、当前进程、终止进程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92315" y="215074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创建线程、打开线程、查询线程信息、设置线程信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息、当前线程、终止线程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独有服务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0302" y="2905125"/>
              <a:ext cx="41395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虚拟存储操作：分配/释放、读/写、保护、加锁/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开锁、查询、刷新虚拟存储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2315" y="290512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取上下文、置上下文；挂起、恢复；警示线程、测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试线程警示；注册终止端口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11125200" cy="1996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08860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80872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ompare-2"/>
          <p:cNvGrpSpPr/>
          <p:nvPr/>
        </p:nvGrpSpPr>
        <p:grpSpPr>
          <a:xfrm>
            <a:off x="533400" y="3710940"/>
            <a:ext cx="11125200" cy="1367790"/>
            <a:chOff x="533400" y="3710940"/>
            <a:chExt cx="11125200" cy="1367790"/>
          </a:xfrm>
        </p:grpSpPr>
        <p:sp>
          <p:nvSpPr>
            <p:cNvPr id="23" name="Rectangle 23"/>
            <p:cNvSpPr/>
            <p:nvPr/>
          </p:nvSpPr>
          <p:spPr>
            <a:xfrm>
              <a:off x="533400" y="371094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84429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3430" y="39452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进程对象独有的服务都和地址空间有关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3624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29958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虚拟存储属于进程，由进程内所有线程共用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6977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63486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所以分配、读写、保护虚拟存储是进程对象的服务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67450" y="371094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76975" y="384429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7480" y="39452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线程对象独有的服务都和执行有关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20815" y="43624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78930" y="42995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上下文、挂起计数属于线程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20815" y="46977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78930" y="4634865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所以取/置上下文、挂起/恢复是线程对象的服务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934075" y="42329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04415" y="43291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0" name="Rectangle 4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728335"/>
              <a:ext cx="9930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对上真实 API：VirtualAlloc、VirtualProtect 作用于进程对象，SuspendThread、GetThreadContext 作用于线程对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象。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01084" cy="909257"/>
            <a:chOff x="520446" y="342900"/>
            <a:chExt cx="41010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91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线程的七种状态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8" name="c1-graph-1"/>
          <p:cNvGrpSpPr/>
          <p:nvPr/>
        </p:nvGrpSpPr>
        <p:grpSpPr>
          <a:xfrm>
            <a:off x="769430" y="1790700"/>
            <a:ext cx="5521832" cy="4229100"/>
            <a:chOff x="769430" y="1790700"/>
            <a:chExt cx="5521832" cy="4229100"/>
          </a:xfrm>
        </p:grpSpPr>
        <p:sp>
          <p:nvSpPr>
            <p:cNvPr id="7" name="Freeform 7"/>
            <p:cNvSpPr/>
            <p:nvPr/>
          </p:nvSpPr>
          <p:spPr>
            <a:xfrm>
              <a:off x="1755458" y="2095500"/>
              <a:ext cx="792480" cy="9525"/>
            </a:xfrm>
            <a:custGeom>
              <a:avLst/>
              <a:gdLst/>
              <a:ahLst/>
              <a:cxnLst/>
              <a:rect l="l" t="t" r="r" b="b"/>
              <a:pathLst>
                <a:path w="792480" h="9525">
                  <a:moveTo>
                    <a:pt x="0" y="0"/>
                  </a:moveTo>
                  <a:lnTo>
                    <a:pt x="7924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47938" y="2047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57512" y="2409825"/>
              <a:ext cx="9525" cy="1323975"/>
            </a:xfrm>
            <a:custGeom>
              <a:avLst/>
              <a:gdLst/>
              <a:ahLst/>
              <a:cxnLst/>
              <a:rect l="l" t="t" r="r" b="b"/>
              <a:pathLst>
                <a:path w="9525" h="1323975">
                  <a:moveTo>
                    <a:pt x="0" y="0"/>
                  </a:moveTo>
                  <a:lnTo>
                    <a:pt x="0" y="13239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09888" y="3733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52788" y="3495675"/>
              <a:ext cx="707708" cy="541972"/>
            </a:xfrm>
            <a:custGeom>
              <a:avLst/>
              <a:gdLst/>
              <a:ahLst/>
              <a:cxnLst/>
              <a:rect l="l" t="t" r="r" b="b"/>
              <a:pathLst>
                <a:path w="707708" h="541972">
                  <a:moveTo>
                    <a:pt x="0" y="541972"/>
                  </a:moveTo>
                  <a:cubicBezTo>
                    <a:pt x="327025" y="424497"/>
                    <a:pt x="562928" y="243840"/>
                    <a:pt x="707708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19538" y="3413760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89535" y="0"/>
                  </a:moveTo>
                  <a:lnTo>
                    <a:pt x="81915" y="105728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66110" y="3248978"/>
              <a:ext cx="706755" cy="541972"/>
            </a:xfrm>
            <a:custGeom>
              <a:avLst/>
              <a:gdLst/>
              <a:ahLst/>
              <a:cxnLst/>
              <a:rect l="l" t="t" r="r" b="b"/>
              <a:pathLst>
                <a:path w="706755" h="541972">
                  <a:moveTo>
                    <a:pt x="706755" y="0"/>
                  </a:moveTo>
                  <a:cubicBezTo>
                    <a:pt x="380365" y="117475"/>
                    <a:pt x="144780" y="298133"/>
                    <a:pt x="0" y="54197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17532" y="3767138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0" y="105728"/>
                  </a:moveTo>
                  <a:lnTo>
                    <a:pt x="7620" y="0"/>
                  </a:lnTo>
                  <a:lnTo>
                    <a:pt x="89535" y="4857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276725" y="3438525"/>
              <a:ext cx="116205" cy="320040"/>
            </a:xfrm>
            <a:custGeom>
              <a:avLst/>
              <a:gdLst/>
              <a:ahLst/>
              <a:cxnLst/>
              <a:rect l="l" t="t" r="r" b="b"/>
              <a:pathLst>
                <a:path w="116205" h="320040">
                  <a:moveTo>
                    <a:pt x="0" y="0"/>
                  </a:moveTo>
                  <a:lnTo>
                    <a:pt x="116205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48162" y="3742372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77153" y="105728"/>
                  </a:moveTo>
                  <a:lnTo>
                    <a:pt x="0" y="32385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67088" y="4143375"/>
              <a:ext cx="851535" cy="9525"/>
            </a:xfrm>
            <a:custGeom>
              <a:avLst/>
              <a:gdLst/>
              <a:ahLst/>
              <a:cxnLst/>
              <a:rect l="l" t="t" r="r" b="b"/>
              <a:pathLst>
                <a:path w="851535" h="9525">
                  <a:moveTo>
                    <a:pt x="85153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71838" y="4095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847272" y="4143375"/>
              <a:ext cx="729615" cy="9525"/>
            </a:xfrm>
            <a:custGeom>
              <a:avLst/>
              <a:gdLst/>
              <a:ahLst/>
              <a:cxnLst/>
              <a:rect l="l" t="t" r="r" b="b"/>
              <a:pathLst>
                <a:path w="729615" h="9525">
                  <a:moveTo>
                    <a:pt x="0" y="0"/>
                  </a:moveTo>
                  <a:lnTo>
                    <a:pt x="7296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76888" y="4095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366135" y="2117408"/>
              <a:ext cx="2487930" cy="1741170"/>
            </a:xfrm>
            <a:custGeom>
              <a:avLst/>
              <a:gdLst/>
              <a:ahLst/>
              <a:cxnLst/>
              <a:rect l="l" t="t" r="r" b="b"/>
              <a:pathLst>
                <a:path w="2487930" h="1741170">
                  <a:moveTo>
                    <a:pt x="2487930" y="1741170"/>
                  </a:moveTo>
                  <a:cubicBezTo>
                    <a:pt x="1976120" y="642620"/>
                    <a:pt x="1146810" y="62230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3270885" y="2069782"/>
              <a:ext cx="98108" cy="95250"/>
            </a:xfrm>
            <a:custGeom>
              <a:avLst/>
              <a:gdLst/>
              <a:ahLst/>
              <a:cxnLst/>
              <a:rect l="l" t="t" r="r" b="b"/>
              <a:pathLst>
                <a:path w="98108" h="95250">
                  <a:moveTo>
                    <a:pt x="0" y="42862"/>
                  </a:moveTo>
                  <a:lnTo>
                    <a:pt x="98108" y="0"/>
                  </a:lnTo>
                  <a:lnTo>
                    <a:pt x="92393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247072" y="4365308"/>
              <a:ext cx="1062990" cy="1060132"/>
            </a:xfrm>
            <a:custGeom>
              <a:avLst/>
              <a:gdLst/>
              <a:ahLst/>
              <a:cxnLst/>
              <a:rect l="l" t="t" r="r" b="b"/>
              <a:pathLst>
                <a:path w="1062990" h="1060132">
                  <a:moveTo>
                    <a:pt x="1062990" y="0"/>
                  </a:moveTo>
                  <a:lnTo>
                    <a:pt x="0" y="10601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179445" y="539210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4290" y="0"/>
                  </a:lnTo>
                  <a:lnTo>
                    <a:pt x="100965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957512" y="4552950"/>
              <a:ext cx="9525" cy="847725"/>
            </a:xfrm>
            <a:custGeom>
              <a:avLst/>
              <a:gdLst/>
              <a:ahLst/>
              <a:cxnLst/>
              <a:rect l="l" t="t" r="r" b="b"/>
              <a:pathLst>
                <a:path w="9525" h="847725">
                  <a:moveTo>
                    <a:pt x="0" y="8477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09888" y="44577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609725" y="5715000"/>
              <a:ext cx="1033462" cy="9525"/>
            </a:xfrm>
            <a:custGeom>
              <a:avLst/>
              <a:gdLst/>
              <a:ahLst/>
              <a:cxnLst/>
              <a:rect l="l" t="t" r="r" b="b"/>
              <a:pathLst>
                <a:path w="1033462" h="9525">
                  <a:moveTo>
                    <a:pt x="103346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514475" y="566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434465" y="4416742"/>
              <a:ext cx="1217295" cy="1088708"/>
            </a:xfrm>
            <a:custGeom>
              <a:avLst/>
              <a:gdLst/>
              <a:ahLst/>
              <a:cxnLst/>
              <a:rect l="l" t="t" r="r" b="b"/>
              <a:pathLst>
                <a:path w="1217295" h="1088708">
                  <a:moveTo>
                    <a:pt x="0" y="1088708"/>
                  </a:moveTo>
                  <a:lnTo>
                    <a:pt x="12172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620328" y="4352925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2865" y="99060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652712" y="17907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864292" y="2838450"/>
              <a:ext cx="609600" cy="609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2652712" y="3838575"/>
              <a:ext cx="609600" cy="609600"/>
            </a:xfrm>
            <a:prstGeom prst="ellipse">
              <a:avLst/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228148" y="3838575"/>
              <a:ext cx="609600" cy="6096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681662" y="3838575"/>
              <a:ext cx="609600" cy="6096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652712" y="54102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95350" y="54102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9430" y="20212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创建线程对象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89873" y="20212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01452" y="30689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89873" y="4069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5308" y="4069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18822" y="4069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89873" y="5640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2510" y="5640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607945" y="3027045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622740" y="306085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入就绪队列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524250" y="370046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550247" y="37352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276600" y="340042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302597" y="34351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抢先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188142" y="355092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14139" y="35847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切换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582352" y="405003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608349" y="4084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剥夺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34915" y="4050030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056861" y="40847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执行完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74845" y="2505075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489640" y="253984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重新初始化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95662" y="4836795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410458" y="487060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等待某对象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794635" y="483679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820632" y="48706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唤醒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666875" y="5621655"/>
              <a:ext cx="8229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677619" y="565642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唤醒但栈在外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729740" y="4836795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743583" y="487060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换入内核栈</a:t>
              </a:r>
            </a:p>
          </p:txBody>
        </p:sp>
      </p:grpSp>
      <p:grpSp>
        <p:nvGrpSpPr>
          <p:cNvPr id="89" name="c2-kv-1"/>
          <p:cNvGrpSpPr/>
          <p:nvPr/>
        </p:nvGrpSpPr>
        <p:grpSpPr>
          <a:xfrm>
            <a:off x="6890385" y="1548765"/>
            <a:ext cx="4768215" cy="4343400"/>
            <a:chOff x="6890385" y="1548765"/>
            <a:chExt cx="4768215" cy="4343400"/>
          </a:xfrm>
        </p:grpSpPr>
        <p:sp>
          <p:nvSpPr>
            <p:cNvPr id="69" name="TextBox 69"/>
            <p:cNvSpPr txBox="1"/>
            <p:nvPr/>
          </p:nvSpPr>
          <p:spPr>
            <a:xfrm>
              <a:off x="6890385" y="1548765"/>
              <a:ext cx="1505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初始 Initialized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03932" y="15487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线程对象刚创建，或被重新初始化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898005" y="18688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90385" y="1988820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就绪 Ready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03932" y="1988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等待被调度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898005" y="23088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90385" y="2428875"/>
              <a:ext cx="1306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备用 Standby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03932" y="2428875"/>
              <a:ext cx="2872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已被选中，下一个就在某处理机上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运行；被更高优先级线程抢先时退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回就绪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898005" y="331279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90385" y="3432810"/>
              <a:ext cx="1252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运行 Running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603932" y="343281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正在处理机上执行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898005" y="37528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890385" y="3872865"/>
              <a:ext cx="1242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等待 Waiting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603932" y="3872865"/>
              <a:ext cx="29108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等待某个对象，如 I/O 完成、事件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898005" y="44748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890385" y="4594860"/>
              <a:ext cx="1549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转换 Transition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603932" y="4594860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等待已结束，但内核栈被换出了内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存，要先换入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898005" y="519684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90385" y="5316855"/>
              <a:ext cx="110537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终止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Terminated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03932" y="5316855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执行完毕；线程对象可重新初始化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后再用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03003" cy="909257"/>
            <a:chOff x="520446" y="342900"/>
            <a:chExt cx="58030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030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自测题（一）：进程与 UNIX 系统调用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就绪态和等待态的进程都没有在运行，二者的区别是什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625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就绪态只缺 CPU，分到 CPU 就能运行；等待态在等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某个事件（资源、I/O 完成），即使给它 CPU 也无法推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1937385"/>
            <a:chOff x="533400" y="39376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471011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for (i = 0; i &lt; 2; i++) fork(); 之后，一共有几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个进程（含原进程）？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4 个。第一次循环后有 2 个进程，这 2 个在第二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次循环中各 fork 一次，共 4 个。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806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“等待 → 运行”和“就绪 → 等待”这两种转换能否发生？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都不能。等待的进程在事件发生后先回到就绪；就绪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的进程没有运行，不会因申请资源或启动 I/O 而进入等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223135"/>
            <a:chOff x="6248400" y="365188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66296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子进程执行 execl("P", 0) 成功后，它的 pid、父进程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号和程序分别怎样变化？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子进程的 pid 和父进程号都不变；原来的程序被 P 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盖，从 P 的第一条指令开始执行，execl 不再返回。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0881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8747" y="407194"/>
              <a:ext cx="4077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 · 实例：Java、Linux 与 Windows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自测题（二）：例题、线程与作业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6439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例题中第一个 do-while 只需要等 P2，为什么还要判断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pid3、pid4？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49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 wait 返回的是任意一个已结束的子进程。P3、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可能先于 P2 结束，这时不记下，后面等 P3 的循环就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永远等不到。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1937385"/>
            <a:chOff x="533400" y="39376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线程切换为什么比进程切换快？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同一进程的线程共享地址空间和打开文件等资源，切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换时只需保存、恢复寄存器和栈，不必切换地址空间。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767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采用用户级线程时，一个线程执行阻塞式 I/O，同进程的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其他线程能否继续运行？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不能。内核看不到线程，只把整个进程置为等待。采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用核心级线程时，其他线程可以继续运行。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223135"/>
            <a:chOff x="6248400" y="365188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作业、进程、线程分别是什么的单位？三者数量上是什么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作业是用户提交计算任务的单位，进程是资源分配单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位，线程是执行单位。一个作业通常对应多个进程，一个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进程至少包含一个线程。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829372" cy="909257"/>
            <a:chOff x="520446" y="342900"/>
            <a:chExt cx="1829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1641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4262" y="407194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第2章 进程、线程与作业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6167438" cy="4266248"/>
            <a:chOff x="533400" y="1524000"/>
            <a:chExt cx="6167438" cy="42662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376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931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多道程序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1838" y="210835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提高资源利用率和吞吐量；道数要与资源相当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616743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51838" y="2556986"/>
              <a:ext cx="4658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程序关于数据集合的一次运行活动；动态、并发；PCB + 程序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51838" y="30056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就绪、运行、等待三态；加上初创、终止为五态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616743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 与队列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51838" y="345424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进程存在的标志；按状态链成就绪队列、等待队列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903821"/>
              <a:ext cx="385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51838" y="390382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fork 复制、execl 换程序、exit 终止、wait 等子进程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1195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216718"/>
              <a:ext cx="616743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51838" y="435244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进程管资源、线程管执行；用户级、核心级、混合三种实现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6058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51838" y="480107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用户的计算任务集合；进入内存后变为进程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11016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114925"/>
              <a:ext cx="616743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53630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两级调度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51838" y="5249704"/>
              <a:ext cx="4564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作业调度把后备作业装入内存变成进程；进程调度决定进程何时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 CPU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167438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639252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1"/>
          <p:cNvGrpSpPr/>
          <p:nvPr/>
        </p:nvGrpSpPr>
        <p:grpSpPr>
          <a:xfrm>
            <a:off x="7005638" y="1524000"/>
            <a:ext cx="4652962" cy="2558415"/>
            <a:chOff x="7005638" y="1524000"/>
            <a:chExt cx="4652962" cy="2558415"/>
          </a:xfrm>
        </p:grpSpPr>
        <p:sp>
          <p:nvSpPr>
            <p:cNvPr id="40" name="Rectangle 40"/>
            <p:cNvSpPr/>
            <p:nvPr/>
          </p:nvSpPr>
          <p:spPr>
            <a:xfrm>
              <a:off x="7005638" y="1524000"/>
              <a:ext cx="4652962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15162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53288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09993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259002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17118" y="211074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例题代码：end_p 变量的声明写法不合法，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“= =”应为“==”（第 32 页）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259002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17118" y="2731770"/>
              <a:ext cx="3577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 结构：u_sszie 应为 u_ssize（第 25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259002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17118" y="335280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线程实现的小节编号应为 2.3.5.1–2.3.5.3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39 页）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7005638" y="4272915"/>
            <a:ext cx="4652962" cy="1517332"/>
            <a:chOff x="7005638" y="4272915"/>
            <a:chExt cx="4652962" cy="1517332"/>
          </a:xfrm>
        </p:grpSpPr>
        <p:sp>
          <p:nvSpPr>
            <p:cNvPr id="51" name="Rectangle 51"/>
            <p:cNvSpPr/>
            <p:nvPr/>
          </p:nvSpPr>
          <p:spPr>
            <a:xfrm>
              <a:off x="7005638" y="4272915"/>
              <a:ext cx="4652962" cy="1517332"/>
            </a:xfrm>
            <a:prstGeom prst="roundRect">
              <a:avLst>
                <a:gd name="adj" fmla="val 753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10425" y="4931095"/>
              <a:ext cx="200023" cy="200023"/>
              <a:chOff x="7210425" y="493109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210425" y="49310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343775" y="49977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512368" y="4650105"/>
              <a:ext cx="3739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复习重点：画进程状态转换图并说出每条边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的原因；读 fork/execl/wait 程序，判断父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子进程各执行哪段代码。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第2章 进程、线程与作业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2">
  <a:themeElements>
    <a:clrScheme name="os_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2026-09-19T03:33:58Z</dcterms:created>
  <dcterms:modified xsi:type="dcterms:W3CDTF">2026-09-19T03:33:58Z</dcterms:modified>
  <cp:category/>
  <cp:contentStatus/>
</cp:coreProperties>
</file>