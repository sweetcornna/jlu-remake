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os_ch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os_ch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1c008a255af6688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a82a9420b00fd60.png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13d5f517a6ceed0.png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561332" cy="3437763"/>
            <a:chOff x="666750" y="1619250"/>
            <a:chExt cx="456133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操作系统原理 · 第二章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456133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进程、线程与作业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8953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从多道程序设计到进程、线程与作业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多道程序设计与进程概念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42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进程状态、PCB 与队列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717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UNIX 进程与系统调用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线程实现与作业管理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13752" cy="205359"/>
            <a:chOff x="680466" y="6192202"/>
            <a:chExt cx="441375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13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自学复习版｜据吉林大学《操作系统原理》第二章课件整理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1641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4262" y="407194"/>
              <a:ext cx="1653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多道程序设计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单道的缺点、多道的目标与带来的管理问题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进程的概念与状态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5873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定义、并发与并行、三状态与五状态模型、PCB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进程的组成与组织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上下文、进程队列、类型与特征、相互作用、创建与撤销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015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进程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4069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进程映像与状态、fork/execl/wait/exit 与例题、vfork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线程与轻进程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8142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引入动机、线程结构与 TCB、三种实现方式、应用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作业与实例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4681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批处理与交互式作业；Java、Linux、Windows 的进程与线程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说出进程的定义和特征，区分进程与程序、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并发与并行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画出进程状态转换图，说出每条转换的原因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1299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067050"/>
              <a:ext cx="35242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 PCB 的主要内容，解释上下文切换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4651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40233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fork、execl、wait、exit 写出给定执行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次序的程序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0862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02336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比较用户级线程、核心级线程与混合线程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593156" cy="2997517"/>
            <a:chOff x="667512" y="1835468"/>
            <a:chExt cx="559315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多道程序设计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83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让多道程序同时驻留内存、交替使用 CPU，提高系统效率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2.1.1 单道程序设计的缺点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2.1.2 多道程序设计的提出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2.1.3 多道程序设计的问题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15327" cy="909257"/>
            <a:chOff x="520446" y="342900"/>
            <a:chExt cx="88153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多道程序设计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153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单道与多道：程序做 I/O 时，CPU 能不能去运行别的程序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single"/>
          <p:cNvGrpSpPr/>
          <p:nvPr/>
        </p:nvGrpSpPr>
        <p:grpSpPr>
          <a:xfrm>
            <a:off x="533400" y="1524000"/>
            <a:ext cx="5448300" cy="2857500"/>
            <a:chOff x="533400" y="1524000"/>
            <a:chExt cx="5448300" cy="2857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48300" cy="2857500"/>
            </a:xfrm>
            <a:prstGeom prst="roundRect">
              <a:avLst>
                <a:gd name="adj" fmla="val 4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042" y="1692592"/>
              <a:ext cx="20024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单道：内存中只有程序 A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52400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10" name="Line 10"/>
            <p:cNvSpPr/>
            <p:nvPr/>
          </p:nvSpPr>
          <p:spPr>
            <a:xfrm>
              <a:off x="2540318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11" name="Line 11"/>
            <p:cNvSpPr/>
            <p:nvPr/>
          </p:nvSpPr>
          <p:spPr>
            <a:xfrm>
              <a:off x="451104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12" name="Line 12"/>
            <p:cNvSpPr/>
            <p:nvPr/>
          </p:nvSpPr>
          <p:spPr>
            <a:xfrm>
              <a:off x="563880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17804" y="2327910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7804" y="2842260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17804" y="3356610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 2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1447800" y="3790950"/>
              <a:ext cx="4304348" cy="9525"/>
            </a:xfrm>
            <a:custGeom>
              <a:avLst/>
              <a:gdLst/>
              <a:ahLst/>
              <a:cxnLst/>
              <a:rect l="l" t="t" r="r" b="b"/>
              <a:pathLst>
                <a:path w="4304348" h="9525">
                  <a:moveTo>
                    <a:pt x="0" y="0"/>
                  </a:moveTo>
                  <a:lnTo>
                    <a:pt x="430434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5743575" y="374808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43535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51677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2239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55015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t6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524000" y="2257425"/>
              <a:ext cx="1016318" cy="285750"/>
            </a:xfrm>
            <a:prstGeom prst="roundRect">
              <a:avLst>
                <a:gd name="adj" fmla="val 2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980920" y="23312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11040" y="2257425"/>
              <a:ext cx="1127760" cy="285750"/>
            </a:xfrm>
            <a:prstGeom prst="roundRect">
              <a:avLst>
                <a:gd name="adj" fmla="val 2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023205" y="23312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540318" y="2771775"/>
              <a:ext cx="1970722" cy="285750"/>
            </a:xfrm>
            <a:prstGeom prst="roundRect">
              <a:avLst>
                <a:gd name="adj" fmla="val 20000"/>
              </a:avLst>
            </a:prstGeom>
            <a:solidFill>
              <a:srgbClr val="E2F3F4"/>
            </a:solidFill>
            <a:ln w="13335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215051" y="2845594"/>
              <a:ext cx="622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A 的 I/O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540318" y="2257425"/>
              <a:ext cx="1970722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  <a:custDash>
                <a:ds d="357143" sp="285714"/>
              </a:custDash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369666" y="23312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524000" y="3286125"/>
              <a:ext cx="4114800" cy="2857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  <a:custDash>
                <a:ds d="357143" sp="285714"/>
              </a:custDash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424911" y="33599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</p:grpSp>
      <p:grpSp>
        <p:nvGrpSpPr>
          <p:cNvPr id="62" name="multi"/>
          <p:cNvGrpSpPr/>
          <p:nvPr/>
        </p:nvGrpSpPr>
        <p:grpSpPr>
          <a:xfrm>
            <a:off x="6210300" y="1524000"/>
            <a:ext cx="5448300" cy="2857500"/>
            <a:chOff x="6210300" y="1524000"/>
            <a:chExt cx="5448300" cy="2857500"/>
          </a:xfrm>
        </p:grpSpPr>
        <p:sp>
          <p:nvSpPr>
            <p:cNvPr id="33" name="Rectangle 33"/>
            <p:cNvSpPr/>
            <p:nvPr/>
          </p:nvSpPr>
          <p:spPr>
            <a:xfrm>
              <a:off x="6210300" y="1524000"/>
              <a:ext cx="5448300" cy="2857500"/>
            </a:xfrm>
            <a:prstGeom prst="roundRect">
              <a:avLst>
                <a:gd name="adj" fmla="val 4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93942" y="1692592"/>
              <a:ext cx="25978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多道：内存中同时有程序 A 和 B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720090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36" name="Line 36"/>
            <p:cNvSpPr/>
            <p:nvPr/>
          </p:nvSpPr>
          <p:spPr>
            <a:xfrm>
              <a:off x="8217218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37" name="Line 37"/>
            <p:cNvSpPr/>
            <p:nvPr/>
          </p:nvSpPr>
          <p:spPr>
            <a:xfrm>
              <a:off x="8781098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38" name="Line 38"/>
            <p:cNvSpPr/>
            <p:nvPr/>
          </p:nvSpPr>
          <p:spPr>
            <a:xfrm>
              <a:off x="956691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39" name="Line 39"/>
            <p:cNvSpPr/>
            <p:nvPr/>
          </p:nvSpPr>
          <p:spPr>
            <a:xfrm>
              <a:off x="1018794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40" name="Line 40"/>
            <p:cNvSpPr/>
            <p:nvPr/>
          </p:nvSpPr>
          <p:spPr>
            <a:xfrm>
              <a:off x="11315700" y="2171700"/>
              <a:ext cx="9525" cy="1600200"/>
            </a:xfrm>
            <a:custGeom>
              <a:avLst/>
              <a:gdLst/>
              <a:ahLst/>
              <a:cxnLst/>
              <a:rect l="l" t="t" r="r" b="b"/>
              <a:pathLst>
                <a:path w="9525" h="1600200">
                  <a:moveTo>
                    <a:pt x="0" y="0"/>
                  </a:moveTo>
                  <a:lnTo>
                    <a:pt x="0" y="1600200"/>
                  </a:lnTo>
                </a:path>
              </a:pathLst>
            </a:custGeom>
            <a:noFill/>
            <a:ln w="11430">
              <a:solidFill>
                <a:srgbClr val="D9DFEA"/>
              </a:solidFill>
              <a:prstDash val="dash"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94704" y="2327910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94704" y="2842260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 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394704" y="3356610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 2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7124700" y="3790950"/>
              <a:ext cx="4304348" cy="9525"/>
            </a:xfrm>
            <a:custGeom>
              <a:avLst/>
              <a:gdLst/>
              <a:ahLst/>
              <a:cxnLst/>
              <a:rect l="l" t="t" r="r" b="b"/>
              <a:pathLst>
                <a:path w="4304348" h="9525">
                  <a:moveTo>
                    <a:pt x="0" y="0"/>
                  </a:moveTo>
                  <a:lnTo>
                    <a:pt x="430434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Polygon 45"/>
            <p:cNvSpPr/>
            <p:nvPr/>
          </p:nvSpPr>
          <p:spPr>
            <a:xfrm>
              <a:off x="11420475" y="374808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1225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28577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692457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47826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09929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27059" y="39171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t6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200900" y="2257425"/>
              <a:ext cx="1016318" cy="285750"/>
            </a:xfrm>
            <a:prstGeom prst="roundRect">
              <a:avLst>
                <a:gd name="adj" fmla="val 2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657820" y="23312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0187940" y="2257425"/>
              <a:ext cx="1127760" cy="285750"/>
            </a:xfrm>
            <a:prstGeom prst="roundRect">
              <a:avLst>
                <a:gd name="adj" fmla="val 2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0700105" y="23312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8217218" y="2771775"/>
              <a:ext cx="1970722" cy="285750"/>
            </a:xfrm>
            <a:prstGeom prst="roundRect">
              <a:avLst>
                <a:gd name="adj" fmla="val 20000"/>
              </a:avLst>
            </a:prstGeom>
            <a:solidFill>
              <a:srgbClr val="E2F3F4"/>
            </a:solidFill>
            <a:ln w="13335">
              <a:solidFill>
                <a:srgbClr val="0E7C86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891951" y="2845594"/>
              <a:ext cx="622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A 的 I/O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781098" y="2257425"/>
              <a:ext cx="785812" cy="285750"/>
            </a:xfrm>
            <a:prstGeom prst="roundRect">
              <a:avLst>
                <a:gd name="adj" fmla="val 2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121812" y="23312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9566910" y="3286125"/>
              <a:ext cx="1748790" cy="285750"/>
            </a:xfrm>
            <a:prstGeom prst="roundRect">
              <a:avLst>
                <a:gd name="adj" fmla="val 20000"/>
              </a:avLst>
            </a:prstGeom>
            <a:solidFill>
              <a:srgbClr val="FDEEE7"/>
            </a:solidFill>
            <a:ln w="13335">
              <a:solidFill>
                <a:srgbClr val="F26B3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0130201" y="3359944"/>
              <a:ext cx="6222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 的 I/O</a:t>
              </a:r>
            </a:p>
          </p:txBody>
        </p:sp>
      </p:grpSp>
      <p:grpSp>
        <p:nvGrpSpPr>
          <p:cNvPr id="68" name="single-note"/>
          <p:cNvGrpSpPr/>
          <p:nvPr/>
        </p:nvGrpSpPr>
        <p:grpSpPr>
          <a:xfrm>
            <a:off x="533400" y="4533900"/>
            <a:ext cx="5448300" cy="1828800"/>
            <a:chOff x="533400" y="4533900"/>
            <a:chExt cx="5448300" cy="1828800"/>
          </a:xfrm>
        </p:grpSpPr>
        <p:sp>
          <p:nvSpPr>
            <p:cNvPr id="63" name="Rectangle 63"/>
            <p:cNvSpPr/>
            <p:nvPr/>
          </p:nvSpPr>
          <p:spPr>
            <a:xfrm>
              <a:off x="533400" y="4533900"/>
              <a:ext cx="5448300" cy="1828800"/>
            </a:xfrm>
            <a:prstGeom prst="roundRect">
              <a:avLst>
                <a:gd name="adj" fmla="val 7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542925" y="4667250"/>
              <a:ext cx="47625" cy="15621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762000" y="4667250"/>
              <a:ext cx="136683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35368" y="471058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单道的三个缺点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5523" y="5024914"/>
              <a:ext cx="403631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处理机利用率低：A 做 I/O 的 t2–t5 期间，CPU 空闲</a:t>
              </a:r>
            </a:p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设备利用率低：设备 2 始终空闲</a:t>
              </a:r>
            </a:p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 内存利用率低：内存中只装着 A 一道程序</a:t>
              </a:r>
            </a:p>
          </p:txBody>
        </p:sp>
      </p:grpSp>
      <p:grpSp>
        <p:nvGrpSpPr>
          <p:cNvPr id="74" name="multi-note"/>
          <p:cNvGrpSpPr/>
          <p:nvPr/>
        </p:nvGrpSpPr>
        <p:grpSpPr>
          <a:xfrm>
            <a:off x="6210300" y="4533900"/>
            <a:ext cx="5448300" cy="1828800"/>
            <a:chOff x="6210300" y="4533900"/>
            <a:chExt cx="5448300" cy="1828800"/>
          </a:xfrm>
        </p:grpSpPr>
        <p:sp>
          <p:nvSpPr>
            <p:cNvPr id="69" name="Rectangle 69"/>
            <p:cNvSpPr/>
            <p:nvPr/>
          </p:nvSpPr>
          <p:spPr>
            <a:xfrm>
              <a:off x="6210300" y="4533900"/>
              <a:ext cx="5448300" cy="1828800"/>
            </a:xfrm>
            <a:prstGeom prst="roundRect">
              <a:avLst>
                <a:gd name="adj" fmla="val 7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6219825" y="4667250"/>
              <a:ext cx="47625" cy="15621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438900" y="4667250"/>
              <a:ext cx="120396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517462" y="471058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多道程序设计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432423" y="5024914"/>
              <a:ext cx="479221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做 I/O 期间，CPU 在 t3–t4 转去运行 B，随后设备 1、设备 2 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时工作。到 t6 时 A、B 都已完成，同一段时间内完成的程序道数增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加，系统效率（吞吐量）随之提高。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多道程序设计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多道程序设计的目标是提高吞吐量，道数要与资源相当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977765" cy="2260282"/>
            <a:chOff x="533400" y="1524000"/>
            <a:chExt cx="4977765" cy="22602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260282"/>
            </a:xfrm>
            <a:prstGeom prst="roundRect">
              <a:avLst>
                <a:gd name="adj" fmla="val 59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9358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478" y="1769269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2.1.2 目标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37372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提高系统效率（吞吐量）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提高处理机、设备、内存等各种资源的利用率，从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而提高系统效率。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274748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吞吐量指单位时间内系统完成的作业道数：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81050" y="3022282"/>
              <a:ext cx="4520565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985838" y="3188972"/>
              <a:ext cx="200023" cy="200023"/>
              <a:chOff x="985838" y="3188972"/>
              <a:chExt cx="200023" cy="200023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985838" y="318897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119188" y="32556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287780" y="3184208"/>
              <a:ext cx="31047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吞吐量 = 作业道数 ÷ 全部处理时间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3974782"/>
            <a:ext cx="4977765" cy="1289685"/>
            <a:chOff x="533400" y="3974782"/>
            <a:chExt cx="4977765" cy="1289685"/>
          </a:xfrm>
        </p:grpSpPr>
        <p:sp>
          <p:nvSpPr>
            <p:cNvPr id="20" name="Rectangle 20"/>
            <p:cNvSpPr/>
            <p:nvPr/>
          </p:nvSpPr>
          <p:spPr>
            <a:xfrm>
              <a:off x="533400" y="3974782"/>
              <a:ext cx="4977765" cy="1289685"/>
            </a:xfrm>
            <a:prstGeom prst="roundRect">
              <a:avLst>
                <a:gd name="adj" fmla="val 886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4519613"/>
              <a:ext cx="200026" cy="200026"/>
              <a:chOff x="738188" y="4519613"/>
              <a:chExt cx="200026" cy="20002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5196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45862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27088" y="46196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130" y="4376738"/>
              <a:ext cx="4063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上一页的时间图中，同样到 t6，单道只完成 A，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多道完成了 A 和 B。</a:t>
              </a:r>
            </a:p>
          </p:txBody>
        </p:sp>
      </p:grpSp>
      <p:grpSp>
        <p:nvGrpSpPr>
          <p:cNvPr id="28" name="c2-text-1"/>
          <p:cNvGrpSpPr/>
          <p:nvPr/>
        </p:nvGrpSpPr>
        <p:grpSpPr>
          <a:xfrm>
            <a:off x="5808345" y="1548765"/>
            <a:ext cx="5539740" cy="588645"/>
            <a:chOff x="5808345" y="1548765"/>
            <a:chExt cx="5539740" cy="588645"/>
          </a:xfrm>
        </p:grpSpPr>
        <p:sp>
          <p:nvSpPr>
            <p:cNvPr id="27" name="TextBox 27"/>
            <p:cNvSpPr txBox="1"/>
            <p:nvPr/>
          </p:nvSpPr>
          <p:spPr>
            <a:xfrm>
              <a:off x="5808345" y="1548765"/>
              <a:ext cx="5539740" cy="588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增加同时运行的道数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可以提高资源利用率，但道数应与系统资源数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量相当：</a:t>
              </a:r>
            </a:p>
          </p:txBody>
        </p:sp>
      </p:grpSp>
      <p:grpSp>
        <p:nvGrpSpPr>
          <p:cNvPr id="43" name="c2-table-2"/>
          <p:cNvGrpSpPr/>
          <p:nvPr/>
        </p:nvGrpSpPr>
        <p:grpSpPr>
          <a:xfrm>
            <a:off x="5815965" y="2268855"/>
            <a:ext cx="5842635" cy="2022158"/>
            <a:chOff x="5815965" y="2268855"/>
            <a:chExt cx="5842635" cy="2022158"/>
          </a:xfrm>
        </p:grpSpPr>
        <p:sp>
          <p:nvSpPr>
            <p:cNvPr id="29" name="Rectangle 29"/>
            <p:cNvSpPr/>
            <p:nvPr/>
          </p:nvSpPr>
          <p:spPr>
            <a:xfrm>
              <a:off x="5815965" y="2268855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82690" y="24045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同时运行的道数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34792" y="24045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923788" y="28532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76388" y="2853214"/>
              <a:ext cx="31250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系统资源利用率低，CPU 和设备经常空闲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316134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15965" y="316611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23788" y="341518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76388" y="3301841"/>
              <a:ext cx="36217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系统开销（system overhead）增大，程序响应速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度下降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383762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23788" y="397716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与资源数量相当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76388" y="39771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资源利用率和响应速度都能兼顾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268855"/>
              <a:ext cx="5842635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563802" y="226885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llout-3"/>
          <p:cNvGrpSpPr/>
          <p:nvPr/>
        </p:nvGrpSpPr>
        <p:grpSpPr>
          <a:xfrm>
            <a:off x="5815965" y="4481512"/>
            <a:ext cx="5842635" cy="782955"/>
            <a:chOff x="5815965" y="4481512"/>
            <a:chExt cx="5842635" cy="782955"/>
          </a:xfrm>
        </p:grpSpPr>
        <p:sp>
          <p:nvSpPr>
            <p:cNvPr id="44" name="Rectangle 44"/>
            <p:cNvSpPr/>
            <p:nvPr/>
          </p:nvSpPr>
          <p:spPr>
            <a:xfrm>
              <a:off x="5815965" y="448151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020753" y="4772978"/>
              <a:ext cx="200026" cy="200025"/>
              <a:chOff x="6020753" y="4772978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020753" y="477297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060491" y="481742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095207" y="492855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322695" y="4630102"/>
              <a:ext cx="4825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道数过多为什么反而变慢：内存装不下时要频繁在内存和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外存之间交换程序，调度和切换本身也要占用 CPU 时间。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多道程序设计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多道程序设计要解决的三类资源管理问题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11125200" cy="2129790"/>
            <a:chOff x="533400" y="1524000"/>
            <a:chExt cx="11125200" cy="21297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86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14146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30039" y="1658779"/>
              <a:ext cx="17736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2.1.3 要解决的问题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711703" y="165877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后续章节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7604" y="212836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94941" y="2128361"/>
              <a:ext cx="58501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程序个数 &gt; 处理机个数：什么时候、按什么规则把 CPU 分给哪道程序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48128" y="2128361"/>
              <a:ext cx="22032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章 中断与处理机调度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574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62212"/>
              <a:ext cx="11125200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7604" y="272367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94941" y="2596991"/>
              <a:ext cx="5496814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各程序的地址空间既要相对独立，又要能够共享；内存、外存（swap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space）的分配与去配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648128" y="2596991"/>
              <a:ext cx="271957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6、7 章 存储管理、虚拟存储管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79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604" y="33189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94941" y="3318986"/>
              <a:ext cx="17363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分配策略；I/O 控制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48128" y="3318986"/>
              <a:ext cx="20741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9 章 设备与 I/O 管理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11125200" cy="21297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85975" y="1524000"/>
              <a:ext cx="9525" cy="2129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8539162" y="1524000"/>
              <a:ext cx="9525" cy="2129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8" name="c1-text-2"/>
          <p:cNvGrpSpPr/>
          <p:nvPr/>
        </p:nvGrpSpPr>
        <p:grpSpPr>
          <a:xfrm>
            <a:off x="527304" y="3858577"/>
            <a:ext cx="5504688" cy="234696"/>
            <a:chOff x="527304" y="3858577"/>
            <a:chExt cx="5504688" cy="234696"/>
          </a:xfrm>
        </p:grpSpPr>
        <p:sp>
          <p:nvSpPr>
            <p:cNvPr id="27" name="TextBox 27"/>
            <p:cNvSpPr txBox="1"/>
            <p:nvPr/>
          </p:nvSpPr>
          <p:spPr>
            <a:xfrm>
              <a:off x="527304" y="3858577"/>
              <a:ext cx="5504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除了分配资源，多道程序并发执行本身还带来两类问题，它们各占后面一章：</a:t>
              </a:r>
            </a:p>
          </p:txBody>
        </p:sp>
      </p:grpSp>
      <p:grpSp>
        <p:nvGrpSpPr>
          <p:cNvPr id="44" name="c1-table-3"/>
          <p:cNvGrpSpPr/>
          <p:nvPr/>
        </p:nvGrpSpPr>
        <p:grpSpPr>
          <a:xfrm>
            <a:off x="533400" y="4231005"/>
            <a:ext cx="11125200" cy="1291590"/>
            <a:chOff x="533400" y="4231005"/>
            <a:chExt cx="11125200" cy="1291590"/>
          </a:xfrm>
        </p:grpSpPr>
        <p:sp>
          <p:nvSpPr>
            <p:cNvPr id="29" name="Rectangle 29"/>
            <p:cNvSpPr/>
            <p:nvPr/>
          </p:nvSpPr>
          <p:spPr>
            <a:xfrm>
              <a:off x="533400" y="4231005"/>
              <a:ext cx="11125200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1535" y="43624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并发带来的问题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99114" y="43624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具体表现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772078" y="43624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后续章节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8746" y="479298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互斥与同步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18969" y="4792980"/>
              <a:ext cx="53431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多个进程同时要用打印机、缓冲区，必须约定访问次序，还要互相通知进度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649272" y="4792980"/>
              <a:ext cx="18618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章 互斥、同步与通讯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50873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509206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8746" y="522255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死锁与饿死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18969" y="5222558"/>
              <a:ext cx="5827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各自占着一部分资源又等对方手里的，谁也推进不了；或某个进程长期抢不到资源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49272" y="5222558"/>
              <a:ext cx="13772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 章 死锁与饥饿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231005"/>
              <a:ext cx="1112520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308860" y="423100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8539162" y="423100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1-callout-4"/>
          <p:cNvGrpSpPr/>
          <p:nvPr/>
        </p:nvGrpSpPr>
        <p:grpSpPr>
          <a:xfrm>
            <a:off x="533400" y="5707380"/>
            <a:ext cx="11125200" cy="655320"/>
            <a:chOff x="533400" y="5707380"/>
            <a:chExt cx="11125200" cy="655320"/>
          </a:xfrm>
        </p:grpSpPr>
        <p:sp>
          <p:nvSpPr>
            <p:cNvPr id="45" name="Rectangle 45"/>
            <p:cNvSpPr/>
            <p:nvPr/>
          </p:nvSpPr>
          <p:spPr>
            <a:xfrm>
              <a:off x="533400" y="5707380"/>
              <a:ext cx="11125200" cy="655320"/>
            </a:xfrm>
            <a:prstGeom prst="roundRect">
              <a:avLst>
                <a:gd name="adj" fmla="val 17442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935030"/>
              <a:ext cx="200023" cy="200023"/>
              <a:chOff x="738188" y="5935030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350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60017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511" y="5935504"/>
              <a:ext cx="95916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管理这些资源之前，系统先要能描述“一道正在执行、会走走停停的程序”。下一部分引入的进程就是这样的描述。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801868" cy="2997517"/>
            <a:chOff x="667512" y="1835468"/>
            <a:chExt cx="580186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进程的概念与状态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791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进程描述正在执行的程序，它在就绪、运行、等待之间转换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2.2.1 进程的概念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2.2.2 进程状态及状态转换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56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2.2.3 进程控制块 PCB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进程的概念与状态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多道系统中的程序走走停停，暂停时要保存现场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4797857" cy="2411159"/>
            <a:chOff x="533400" y="1533525"/>
            <a:chExt cx="4797857" cy="241115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45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7558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9566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17989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程序占有 CPU，向前执行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741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暂停：保存现场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7927"/>
              <a:ext cx="2718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PSW、PC 和各寄存器的值保存起来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80844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再推进：恢复现场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088957"/>
              <a:ext cx="43848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先恢复各寄存器，最后恢复 PSW 和 PC，程序从断点接着执行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4294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如此反复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709988"/>
              <a:ext cx="30976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推进，暂停，推进，暂停，……直到程序结束</a:t>
              </a:r>
            </a:p>
          </p:txBody>
        </p:sp>
      </p:grpSp>
      <p:grpSp>
        <p:nvGrpSpPr>
          <p:cNvPr id="43" name="c1-table-2"/>
          <p:cNvGrpSpPr/>
          <p:nvPr/>
        </p:nvGrpSpPr>
        <p:grpSpPr>
          <a:xfrm>
            <a:off x="533400" y="4120515"/>
            <a:ext cx="5626418" cy="2150745"/>
            <a:chOff x="533400" y="4120515"/>
            <a:chExt cx="5626418" cy="2150745"/>
          </a:xfrm>
        </p:grpSpPr>
        <p:sp>
          <p:nvSpPr>
            <p:cNvPr id="25" name="Rectangle 25"/>
            <p:cNvSpPr/>
            <p:nvPr/>
          </p:nvSpPr>
          <p:spPr>
            <a:xfrm>
              <a:off x="533400" y="4120515"/>
              <a:ext cx="5626418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86587" y="42519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现场包含什么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9500" y="42519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为什么必须保存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8746" y="4681538"/>
              <a:ext cx="13401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PC（程序计数器）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326576" y="4681538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下一条指令的地址，丢了就不知道从哪里接着执行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97586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4980622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8746" y="5112067"/>
              <a:ext cx="14745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PSW（程序状态字）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326576" y="5112067"/>
              <a:ext cx="26857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条件码、中断屏蔽位、目态/管态标志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4063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8746" y="554259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通用寄存器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326576" y="5542598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正在使用的运算中间结果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8359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840730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8746" y="5972175"/>
              <a:ext cx="74773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栈指针 SP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326576" y="5972175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本进程栈顶的位置，决定局部变量和返回点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120515"/>
              <a:ext cx="5626418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216468" y="4120515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table-1"/>
          <p:cNvGrpSpPr/>
          <p:nvPr/>
        </p:nvGrpSpPr>
        <p:grpSpPr>
          <a:xfrm>
            <a:off x="6464618" y="1524000"/>
            <a:ext cx="5193982" cy="1290638"/>
            <a:chOff x="6464618" y="1524000"/>
            <a:chExt cx="5193982" cy="1290638"/>
          </a:xfrm>
        </p:grpSpPr>
        <p:sp>
          <p:nvSpPr>
            <p:cNvPr id="44" name="Rectangle 44"/>
            <p:cNvSpPr/>
            <p:nvPr/>
          </p:nvSpPr>
          <p:spPr>
            <a:xfrm>
              <a:off x="6464618" y="1524000"/>
              <a:ext cx="5193982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018401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暂停原因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777412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69964" y="20850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自身原因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35899" y="2085022"/>
              <a:ext cx="2701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等待资源；启动 I/O 后等待 I/O 完成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23793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64618" y="2384108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69964" y="2515552"/>
              <a:ext cx="8463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被剥夺 CPU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35899" y="2515552"/>
              <a:ext cx="28194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CPU 让出来，给其他程序运行的机会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64618" y="1524000"/>
              <a:ext cx="5193982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225790" y="1524000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card-2"/>
          <p:cNvGrpSpPr/>
          <p:nvPr/>
        </p:nvGrpSpPr>
        <p:grpSpPr>
          <a:xfrm>
            <a:off x="6464618" y="2999422"/>
            <a:ext cx="5193982" cy="1274445"/>
            <a:chOff x="6464618" y="2999422"/>
            <a:chExt cx="5193982" cy="1274445"/>
          </a:xfrm>
        </p:grpSpPr>
        <p:sp>
          <p:nvSpPr>
            <p:cNvPr id="56" name="Rectangle 56"/>
            <p:cNvSpPr/>
            <p:nvPr/>
          </p:nvSpPr>
          <p:spPr>
            <a:xfrm>
              <a:off x="6464618" y="2999422"/>
              <a:ext cx="5193982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4142" y="3132772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706552" y="3203258"/>
              <a:ext cx="1966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34578" y="3238976"/>
              <a:ext cx="19118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 PSW 和 PC 最后恢复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699314" y="3577114"/>
              <a:ext cx="440575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 一旦装入，CPU 就从断点处取指令执行。所以要先把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寄存器恢复好，再装入 PSW 和 PC。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6464618" y="4459605"/>
            <a:ext cx="5193982" cy="1811655"/>
            <a:chOff x="6464618" y="4459605"/>
            <a:chExt cx="5193982" cy="1811655"/>
          </a:xfrm>
        </p:grpSpPr>
        <p:sp>
          <p:nvSpPr>
            <p:cNvPr id="62" name="Rectangle 62"/>
            <p:cNvSpPr/>
            <p:nvPr/>
          </p:nvSpPr>
          <p:spPr>
            <a:xfrm>
              <a:off x="6464618" y="4459605"/>
              <a:ext cx="5193982" cy="1811655"/>
            </a:xfrm>
            <a:prstGeom prst="roundRect">
              <a:avLst>
                <a:gd name="adj" fmla="val 630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669405" y="5265422"/>
              <a:ext cx="200023" cy="200023"/>
              <a:chOff x="6669405" y="5265422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669405" y="526542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802755" y="53320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971729" y="5134451"/>
              <a:ext cx="418033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静态的“程序”描述不了这种走走停停的执行过程，于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是引入进程。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进程的概念与状态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进程是程序关于某个数据集合的一次运行活动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410200" cy="1613535"/>
            <a:chOff x="533400" y="1524000"/>
            <a:chExt cx="5410200" cy="16135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13535"/>
            </a:xfrm>
            <a:prstGeom prst="roundRect">
              <a:avLst>
                <a:gd name="adj" fmla="val 82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4683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1763" y="1763554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2.2.1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32038" y="1767364"/>
              <a:ext cx="15581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进程（Process）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5335" y="2106930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33680" y="214726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66228" y="2119789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可参与并发执行的程序称为进程。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5335" y="2426970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33680" y="246730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228" y="2439829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进程是具有一定独立功能的程序关于一个数据集合的一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次运行活动。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322320"/>
            <a:ext cx="5410200" cy="1323022"/>
            <a:chOff x="533400" y="3322320"/>
            <a:chExt cx="5410200" cy="1323022"/>
          </a:xfrm>
        </p:grpSpPr>
        <p:sp>
          <p:nvSpPr>
            <p:cNvPr id="19" name="Rectangle 19"/>
            <p:cNvSpPr/>
            <p:nvPr/>
          </p:nvSpPr>
          <p:spPr>
            <a:xfrm>
              <a:off x="533400" y="3322320"/>
              <a:ext cx="5410200" cy="1323022"/>
            </a:xfrm>
            <a:prstGeom prst="roundRect">
              <a:avLst>
                <a:gd name="adj" fmla="val 1007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7235" y="352615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1840" y="356187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定义强调两个方面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44855" y="395954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1446" y="390001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动态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：进程是执行中的程序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44855" y="427958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01446" y="422005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并发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：进程可以与其他进程同时执行</a:t>
              </a:r>
            </a:p>
          </p:txBody>
        </p:sp>
      </p:grpSp>
      <p:grpSp>
        <p:nvGrpSpPr>
          <p:cNvPr id="33" name="c1-card-3"/>
          <p:cNvGrpSpPr/>
          <p:nvPr/>
        </p:nvGrpSpPr>
        <p:grpSpPr>
          <a:xfrm>
            <a:off x="533400" y="4831080"/>
            <a:ext cx="5410200" cy="1293495"/>
            <a:chOff x="533400" y="4831080"/>
            <a:chExt cx="5410200" cy="1293495"/>
          </a:xfrm>
        </p:grpSpPr>
        <p:sp>
          <p:nvSpPr>
            <p:cNvPr id="27" name="Rectangle 27"/>
            <p:cNvSpPr/>
            <p:nvPr/>
          </p:nvSpPr>
          <p:spPr>
            <a:xfrm>
              <a:off x="533400" y="4831080"/>
              <a:ext cx="5410200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96443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75335" y="503491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70445" y="50706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33869" y="507539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同一个程序，两个进程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8096" y="5426869"/>
              <a:ext cx="469430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张三和李四同时用 cc 编译各自的源文件：执行的是同一份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代码，数据集合不同，所以是两个进程，各有自己的 PCB。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6248400" y="1524000"/>
            <a:ext cx="5410200" cy="2146935"/>
            <a:chOff x="6248400" y="1524000"/>
            <a:chExt cx="5410200" cy="2146935"/>
          </a:xfrm>
        </p:grpSpPr>
        <p:sp>
          <p:nvSpPr>
            <p:cNvPr id="34" name="Rectangle 34"/>
            <p:cNvSpPr/>
            <p:nvPr/>
          </p:nvSpPr>
          <p:spPr>
            <a:xfrm>
              <a:off x="6248400" y="1524000"/>
              <a:ext cx="5410200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95300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33901" y="1655445"/>
              <a:ext cx="1319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并发 concurrent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100588" y="1655445"/>
              <a:ext cx="10052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并行 parallel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3747" y="219170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44372" y="2085022"/>
              <a:ext cx="1688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宏观上同时，微观上交替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654159" y="219170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微观上同时执行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25927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48400" y="259746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53747" y="272891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44372" y="2728912"/>
              <a:ext cx="11527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不要求多个 CPU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54159" y="2728912"/>
              <a:ext cx="991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要求多个 CPU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302323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53747" y="32661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44372" y="3159442"/>
              <a:ext cx="17266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 CPU 上多道程序轮流运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54159" y="3159442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多核上两个程序各占一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核；并行算法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1524000"/>
              <a:ext cx="5410200" cy="21469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434262" y="1524000"/>
              <a:ext cx="9525" cy="2146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544050" y="1524000"/>
              <a:ext cx="9525" cy="2146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llout-2"/>
          <p:cNvGrpSpPr/>
          <p:nvPr/>
        </p:nvGrpSpPr>
        <p:grpSpPr>
          <a:xfrm>
            <a:off x="6248400" y="3856672"/>
            <a:ext cx="5410200" cy="756285"/>
            <a:chOff x="6248400" y="3856672"/>
            <a:chExt cx="5410200" cy="756285"/>
          </a:xfrm>
        </p:grpSpPr>
        <p:sp>
          <p:nvSpPr>
            <p:cNvPr id="54" name="Rectangle 54"/>
            <p:cNvSpPr/>
            <p:nvPr/>
          </p:nvSpPr>
          <p:spPr>
            <a:xfrm>
              <a:off x="6248400" y="385667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453188" y="4134803"/>
              <a:ext cx="200026" cy="200025"/>
              <a:chOff x="6453188" y="4134803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453188" y="413480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492926" y="417925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527642" y="429037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755511" y="4003834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类比：一名厨师轮流照看两口锅是并发；两名厨师各看一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口锅是并行。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6248400" y="4798695"/>
            <a:ext cx="5410200" cy="1326832"/>
            <a:chOff x="6248400" y="4798695"/>
            <a:chExt cx="5410200" cy="1326832"/>
          </a:xfrm>
        </p:grpSpPr>
        <p:sp>
          <p:nvSpPr>
            <p:cNvPr id="61" name="Rectangle 61"/>
            <p:cNvSpPr/>
            <p:nvPr/>
          </p:nvSpPr>
          <p:spPr>
            <a:xfrm>
              <a:off x="6248400" y="4798695"/>
              <a:ext cx="5410200" cy="1326832"/>
            </a:xfrm>
            <a:prstGeom prst="roundRect">
              <a:avLst>
                <a:gd name="adj" fmla="val 861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441129" y="5357931"/>
              <a:ext cx="224134" cy="192560"/>
              <a:chOff x="6441129" y="5357931"/>
              <a:chExt cx="224134" cy="19256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553200" y="542829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441129" y="535793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553200" y="550608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755511" y="5099209"/>
              <a:ext cx="4387723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易错：单 CPU 上任一时刻只有一个进程处于运行态，其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余进程只能是就绪或等待；说“两个进程并行”之前，先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看系统有几个 CPU。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进程的概念与状态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进程的三种基本状态及其转换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graph-1"/>
          <p:cNvGrpSpPr/>
          <p:nvPr/>
        </p:nvGrpSpPr>
        <p:grpSpPr>
          <a:xfrm>
            <a:off x="1061085" y="2100262"/>
            <a:ext cx="3489007" cy="3049906"/>
            <a:chOff x="1061085" y="2100262"/>
            <a:chExt cx="3489007" cy="3049906"/>
          </a:xfrm>
        </p:grpSpPr>
        <p:sp>
          <p:nvSpPr>
            <p:cNvPr id="7" name="Freeform 7"/>
            <p:cNvSpPr/>
            <p:nvPr/>
          </p:nvSpPr>
          <p:spPr>
            <a:xfrm>
              <a:off x="1800225" y="2113915"/>
              <a:ext cx="1924050" cy="307340"/>
            </a:xfrm>
            <a:custGeom>
              <a:avLst/>
              <a:gdLst/>
              <a:ahLst/>
              <a:cxnLst/>
              <a:rect l="l" t="t" r="r" b="b"/>
              <a:pathLst>
                <a:path w="1924050" h="307340">
                  <a:moveTo>
                    <a:pt x="0" y="307340"/>
                  </a:moveTo>
                  <a:cubicBezTo>
                    <a:pt x="670560" y="12700"/>
                    <a:pt x="1311910" y="0"/>
                    <a:pt x="1924050" y="26924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705225" y="2339340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81915"/>
                  </a:moveTo>
                  <a:lnTo>
                    <a:pt x="0" y="8763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886902" y="2735580"/>
              <a:ext cx="1925002" cy="308293"/>
            </a:xfrm>
            <a:custGeom>
              <a:avLst/>
              <a:gdLst/>
              <a:ahLst/>
              <a:cxnLst/>
              <a:rect l="l" t="t" r="r" b="b"/>
              <a:pathLst>
                <a:path w="1925002" h="308293">
                  <a:moveTo>
                    <a:pt x="1925002" y="0"/>
                  </a:moveTo>
                  <a:cubicBezTo>
                    <a:pt x="1254443" y="295275"/>
                    <a:pt x="612775" y="308293"/>
                    <a:pt x="0" y="39053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00225" y="2730818"/>
              <a:ext cx="105727" cy="87630"/>
            </a:xfrm>
            <a:custGeom>
              <a:avLst/>
              <a:gdLst/>
              <a:ahLst/>
              <a:cxnLst/>
              <a:rect l="l" t="t" r="r" b="b"/>
              <a:pathLst>
                <a:path w="105727" h="87630">
                  <a:moveTo>
                    <a:pt x="0" y="4762"/>
                  </a:moveTo>
                  <a:lnTo>
                    <a:pt x="105727" y="0"/>
                  </a:lnTo>
                  <a:lnTo>
                    <a:pt x="67627" y="8763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062288" y="2909888"/>
              <a:ext cx="900112" cy="1446847"/>
            </a:xfrm>
            <a:custGeom>
              <a:avLst/>
              <a:gdLst/>
              <a:ahLst/>
              <a:cxnLst/>
              <a:rect l="l" t="t" r="r" b="b"/>
              <a:pathLst>
                <a:path w="900112" h="1446847">
                  <a:moveTo>
                    <a:pt x="900112" y="0"/>
                  </a:moveTo>
                  <a:lnTo>
                    <a:pt x="0" y="144684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11805" y="4331970"/>
              <a:ext cx="91440" cy="105727"/>
            </a:xfrm>
            <a:custGeom>
              <a:avLst/>
              <a:gdLst/>
              <a:ahLst/>
              <a:cxnLst/>
              <a:rect l="l" t="t" r="r" b="b"/>
              <a:pathLst>
                <a:path w="91440" h="105727">
                  <a:moveTo>
                    <a:pt x="0" y="105727"/>
                  </a:moveTo>
                  <a:lnTo>
                    <a:pt x="10478" y="0"/>
                  </a:lnTo>
                  <a:lnTo>
                    <a:pt x="91440" y="5048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699260" y="2990850"/>
              <a:ext cx="900112" cy="1446847"/>
            </a:xfrm>
            <a:custGeom>
              <a:avLst/>
              <a:gdLst/>
              <a:ahLst/>
              <a:cxnLst/>
              <a:rect l="l" t="t" r="r" b="b"/>
              <a:pathLst>
                <a:path w="900112" h="1446847">
                  <a:moveTo>
                    <a:pt x="900112" y="144684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648778" y="2909888"/>
              <a:ext cx="90488" cy="106680"/>
            </a:xfrm>
            <a:custGeom>
              <a:avLst/>
              <a:gdLst/>
              <a:ahLst/>
              <a:cxnLst/>
              <a:rect l="l" t="t" r="r" b="b"/>
              <a:pathLst>
                <a:path w="90488" h="106680">
                  <a:moveTo>
                    <a:pt x="0" y="0"/>
                  </a:moveTo>
                  <a:lnTo>
                    <a:pt x="90488" y="56197"/>
                  </a:lnTo>
                  <a:lnTo>
                    <a:pt x="9525" y="1066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1061085" y="2197418"/>
              <a:ext cx="762000" cy="7620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3788092" y="2197418"/>
              <a:ext cx="762000" cy="76200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2425065" y="4388168"/>
              <a:ext cx="762000" cy="7620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263294" y="24998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90302" y="24998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27274" y="46896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434590" y="2100262"/>
              <a:ext cx="742950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447354" y="2137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获得处理机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434590" y="2857500"/>
              <a:ext cx="742950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447354" y="289464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剥夺处理机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182302" y="3573780"/>
              <a:ext cx="609600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199066" y="36109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等待事件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819275" y="3573780"/>
              <a:ext cx="609600" cy="186690"/>
            </a:xfrm>
            <a:prstGeom prst="roundRect">
              <a:avLst>
                <a:gd name="adj" fmla="val 2040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836039" y="36109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事件发生</a:t>
              </a:r>
            </a:p>
          </p:txBody>
        </p:sp>
      </p:grpSp>
      <p:grpSp>
        <p:nvGrpSpPr>
          <p:cNvPr id="44" name="c2-table-1"/>
          <p:cNvGrpSpPr/>
          <p:nvPr/>
        </p:nvGrpSpPr>
        <p:grpSpPr>
          <a:xfrm>
            <a:off x="5382578" y="1524000"/>
            <a:ext cx="6276022" cy="1720215"/>
            <a:chOff x="5382578" y="1524000"/>
            <a:chExt cx="6276022" cy="1720215"/>
          </a:xfrm>
        </p:grpSpPr>
        <p:sp>
          <p:nvSpPr>
            <p:cNvPr id="30" name="Rectangle 30"/>
            <p:cNvSpPr/>
            <p:nvPr/>
          </p:nvSpPr>
          <p:spPr>
            <a:xfrm>
              <a:off x="5382578" y="1524000"/>
              <a:ext cx="6276022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81738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2022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487924" y="2085022"/>
              <a:ext cx="8463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运行态 RUN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21524" y="2085022"/>
              <a:ext cx="17989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占有 CPU，正在向前推进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82578" y="237934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82578" y="2384108"/>
              <a:ext cx="627602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487924" y="2515552"/>
              <a:ext cx="10434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就绪态 READY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1524" y="2515552"/>
              <a:ext cx="21220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可以运行，但还没有得到 CPU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82578" y="280987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487924" y="2946082"/>
              <a:ext cx="935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等待态 WAIT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1524" y="294608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等待某一事件发生（也叫阻塞态）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82578" y="1524000"/>
              <a:ext cx="6276022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511415" y="152400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2-table-2"/>
          <p:cNvGrpSpPr/>
          <p:nvPr/>
        </p:nvGrpSpPr>
        <p:grpSpPr>
          <a:xfrm>
            <a:off x="5382578" y="3429952"/>
            <a:ext cx="6276022" cy="2150746"/>
            <a:chOff x="5382578" y="3429952"/>
            <a:chExt cx="6276022" cy="2150746"/>
          </a:xfrm>
        </p:grpSpPr>
        <p:sp>
          <p:nvSpPr>
            <p:cNvPr id="45" name="Rectangle 45"/>
            <p:cNvSpPr/>
            <p:nvPr/>
          </p:nvSpPr>
          <p:spPr>
            <a:xfrm>
              <a:off x="5382578" y="3429952"/>
              <a:ext cx="6276022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281738" y="356139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转换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20225" y="356139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487924" y="3990975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 → 运行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21524" y="399097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获得处理机（被调度程序选中）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82578" y="42852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82578" y="4290060"/>
              <a:ext cx="627602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487924" y="4421505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 → 就绪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21524" y="4421505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被剥夺处理机，如时间片用完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82578" y="47158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487924" y="4852035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 → 等待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621524" y="4852035"/>
              <a:ext cx="19519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申请资源未得到；启动 I/O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82578" y="514540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382578" y="5150168"/>
              <a:ext cx="627602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487924" y="528161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 → 就绪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21524" y="5281612"/>
              <a:ext cx="21134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得到资源；I/O 完成发出中断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82578" y="3429952"/>
              <a:ext cx="6276022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511415" y="3429952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4" name="Rectangle 6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511" y="6004084"/>
              <a:ext cx="89990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易错：等待的进程在事件发生后先回到就绪，不能直接运行；就绪的进程没在运行，也不会直接变成等待。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进程的概念与状态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加上创建和撤销：五状态模型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graph-1"/>
          <p:cNvGrpSpPr/>
          <p:nvPr/>
        </p:nvGrpSpPr>
        <p:grpSpPr>
          <a:xfrm>
            <a:off x="793432" y="1903095"/>
            <a:ext cx="5439728" cy="2772727"/>
            <a:chOff x="793432" y="1903095"/>
            <a:chExt cx="5439728" cy="2772727"/>
          </a:xfrm>
        </p:grpSpPr>
        <p:sp>
          <p:nvSpPr>
            <p:cNvPr id="7" name="Freeform 7"/>
            <p:cNvSpPr/>
            <p:nvPr/>
          </p:nvSpPr>
          <p:spPr>
            <a:xfrm>
              <a:off x="1300162" y="2741295"/>
              <a:ext cx="858202" cy="1312545"/>
            </a:xfrm>
            <a:custGeom>
              <a:avLst/>
              <a:gdLst/>
              <a:ahLst/>
              <a:cxnLst/>
              <a:rect l="l" t="t" r="r" b="b"/>
              <a:pathLst>
                <a:path w="858202" h="1312545">
                  <a:moveTo>
                    <a:pt x="0" y="1312545"/>
                  </a:moveTo>
                  <a:lnTo>
                    <a:pt x="85820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118360" y="2661285"/>
              <a:ext cx="92392" cy="105728"/>
            </a:xfrm>
            <a:custGeom>
              <a:avLst/>
              <a:gdLst/>
              <a:ahLst/>
              <a:cxnLst/>
              <a:rect l="l" t="t" r="r" b="b"/>
              <a:pathLst>
                <a:path w="92392" h="105728">
                  <a:moveTo>
                    <a:pt x="92392" y="0"/>
                  </a:moveTo>
                  <a:lnTo>
                    <a:pt x="80010" y="105728"/>
                  </a:lnTo>
                  <a:lnTo>
                    <a:pt x="0" y="5429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718435" y="1910080"/>
              <a:ext cx="1621155" cy="298768"/>
            </a:xfrm>
            <a:custGeom>
              <a:avLst/>
              <a:gdLst/>
              <a:ahLst/>
              <a:cxnLst/>
              <a:rect l="l" t="t" r="r" b="b"/>
              <a:pathLst>
                <a:path w="1621155" h="298768">
                  <a:moveTo>
                    <a:pt x="0" y="298768"/>
                  </a:moveTo>
                  <a:cubicBezTo>
                    <a:pt x="568960" y="14288"/>
                    <a:pt x="1109345" y="0"/>
                    <a:pt x="1621155" y="25590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318635" y="2124075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106680" y="84773"/>
                  </a:moveTo>
                  <a:lnTo>
                    <a:pt x="0" y="84773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803208" y="2524125"/>
              <a:ext cx="1622108" cy="298768"/>
            </a:xfrm>
            <a:custGeom>
              <a:avLst/>
              <a:gdLst/>
              <a:ahLst/>
              <a:cxnLst/>
              <a:rect l="l" t="t" r="r" b="b"/>
              <a:pathLst>
                <a:path w="1622108" h="298768">
                  <a:moveTo>
                    <a:pt x="1622108" y="0"/>
                  </a:moveTo>
                  <a:cubicBezTo>
                    <a:pt x="1053148" y="284480"/>
                    <a:pt x="512445" y="298768"/>
                    <a:pt x="0" y="42862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718435" y="2524125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0" y="0"/>
                  </a:moveTo>
                  <a:lnTo>
                    <a:pt x="106680" y="0"/>
                  </a:lnTo>
                  <a:lnTo>
                    <a:pt x="63818" y="8572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00475" y="2669858"/>
              <a:ext cx="760095" cy="1278255"/>
            </a:xfrm>
            <a:custGeom>
              <a:avLst/>
              <a:gdLst/>
              <a:ahLst/>
              <a:cxnLst/>
              <a:rect l="l" t="t" r="r" b="b"/>
              <a:pathLst>
                <a:path w="760095" h="1278255">
                  <a:moveTo>
                    <a:pt x="760095" y="0"/>
                  </a:moveTo>
                  <a:lnTo>
                    <a:pt x="0" y="127825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751898" y="3923348"/>
              <a:ext cx="89535" cy="106680"/>
            </a:xfrm>
            <a:custGeom>
              <a:avLst/>
              <a:gdLst/>
              <a:ahLst/>
              <a:cxnLst/>
              <a:rect l="l" t="t" r="r" b="b"/>
              <a:pathLst>
                <a:path w="89535" h="106680">
                  <a:moveTo>
                    <a:pt x="0" y="106680"/>
                  </a:moveTo>
                  <a:lnTo>
                    <a:pt x="7620" y="0"/>
                  </a:lnTo>
                  <a:lnTo>
                    <a:pt x="89535" y="4857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631758" y="2751772"/>
              <a:ext cx="760095" cy="1278255"/>
            </a:xfrm>
            <a:custGeom>
              <a:avLst/>
              <a:gdLst/>
              <a:ahLst/>
              <a:cxnLst/>
              <a:rect l="l" t="t" r="r" b="b"/>
              <a:pathLst>
                <a:path w="760095" h="1278255">
                  <a:moveTo>
                    <a:pt x="760095" y="127825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583180" y="2669858"/>
              <a:ext cx="89535" cy="105727"/>
            </a:xfrm>
            <a:custGeom>
              <a:avLst/>
              <a:gdLst/>
              <a:ahLst/>
              <a:cxnLst/>
              <a:rect l="l" t="t" r="r" b="b"/>
              <a:pathLst>
                <a:path w="89535" h="105727">
                  <a:moveTo>
                    <a:pt x="0" y="0"/>
                  </a:moveTo>
                  <a:lnTo>
                    <a:pt x="89535" y="57150"/>
                  </a:lnTo>
                  <a:lnTo>
                    <a:pt x="7620" y="10572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920615" y="2669858"/>
              <a:ext cx="769620" cy="1294447"/>
            </a:xfrm>
            <a:custGeom>
              <a:avLst/>
              <a:gdLst/>
              <a:ahLst/>
              <a:cxnLst/>
              <a:rect l="l" t="t" r="r" b="b"/>
              <a:pathLst>
                <a:path w="769620" h="1294447">
                  <a:moveTo>
                    <a:pt x="0" y="0"/>
                  </a:moveTo>
                  <a:lnTo>
                    <a:pt x="769620" y="129444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649278" y="3939540"/>
              <a:ext cx="89535" cy="106680"/>
            </a:xfrm>
            <a:custGeom>
              <a:avLst/>
              <a:gdLst/>
              <a:ahLst/>
              <a:cxnLst/>
              <a:rect l="l" t="t" r="r" b="b"/>
              <a:pathLst>
                <a:path w="89535" h="106680">
                  <a:moveTo>
                    <a:pt x="89535" y="106680"/>
                  </a:moveTo>
                  <a:lnTo>
                    <a:pt x="0" y="49530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793432" y="4009072"/>
              <a:ext cx="647700" cy="6477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2060258" y="2024062"/>
              <a:ext cx="685800" cy="6858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4397692" y="2024062"/>
              <a:ext cx="685800" cy="68580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3228975" y="3990022"/>
              <a:ext cx="685800" cy="685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5585460" y="4009072"/>
              <a:ext cx="647700" cy="6477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9642" y="42576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初创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235518" y="229171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72952" y="229171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404235" y="42576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41670" y="42576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592580" y="326517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618577" y="329898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222308" y="1903095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237103" y="193786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获得处理机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222308" y="2645092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237103" y="267890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剥夺处理机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869055" y="3256598"/>
              <a:ext cx="57435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886949" y="3291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等待事件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700338" y="3256598"/>
              <a:ext cx="57435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718232" y="3291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事件发生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167312" y="326517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192357" y="32999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结束</a:t>
              </a:r>
            </a:p>
          </p:txBody>
        </p:sp>
      </p:grpSp>
      <p:grpSp>
        <p:nvGrpSpPr>
          <p:cNvPr id="48" name="c1-callout-2"/>
          <p:cNvGrpSpPr/>
          <p:nvPr/>
        </p:nvGrpSpPr>
        <p:grpSpPr>
          <a:xfrm>
            <a:off x="533400" y="5220652"/>
            <a:ext cx="5842635" cy="1018222"/>
            <a:chOff x="533400" y="5220652"/>
            <a:chExt cx="5842635" cy="1018222"/>
          </a:xfrm>
        </p:grpSpPr>
        <p:sp>
          <p:nvSpPr>
            <p:cNvPr id="42" name="Rectangle 42"/>
            <p:cNvSpPr/>
            <p:nvPr/>
          </p:nvSpPr>
          <p:spPr>
            <a:xfrm>
              <a:off x="533400" y="5220652"/>
              <a:ext cx="5842635" cy="1018222"/>
            </a:xfrm>
            <a:prstGeom prst="roundRect">
              <a:avLst>
                <a:gd name="adj" fmla="val 112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26129" y="5625583"/>
              <a:ext cx="224134" cy="192560"/>
              <a:chOff x="726129" y="5625583"/>
              <a:chExt cx="224134" cy="19256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838200" y="56959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26129" y="56255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57737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511" y="5367814"/>
              <a:ext cx="487464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初创态已经有 PCB，但还没排进就绪队列，不能被调度；终止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态不再运行，PCB 要等父进程取走它的终止状态后才撤销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（UNIX 里就是僵死进程 SZOMB）。</a:t>
              </a:r>
            </a:p>
          </p:txBody>
        </p:sp>
      </p:grpSp>
      <p:grpSp>
        <p:nvGrpSpPr>
          <p:cNvPr id="54" name="c2-kv-1"/>
          <p:cNvGrpSpPr/>
          <p:nvPr/>
        </p:nvGrpSpPr>
        <p:grpSpPr>
          <a:xfrm>
            <a:off x="6673596" y="1547336"/>
            <a:ext cx="4985004" cy="1235964"/>
            <a:chOff x="6673596" y="1547336"/>
            <a:chExt cx="4985004" cy="1235964"/>
          </a:xfrm>
        </p:grpSpPr>
        <p:sp>
          <p:nvSpPr>
            <p:cNvPr id="49" name="TextBox 49"/>
            <p:cNvSpPr txBox="1"/>
            <p:nvPr/>
          </p:nvSpPr>
          <p:spPr>
            <a:xfrm>
              <a:off x="6673596" y="154733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初创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97484" y="1547336"/>
              <a:ext cx="3972941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进程正在被创建：PCB 已经建立，但还不能参加调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680835" y="212121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73596" y="22369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终止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297484" y="2236946"/>
              <a:ext cx="380161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进程已结束运行：系统回收它的资源，最后撤销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</p:grpSp>
      <p:grpSp>
        <p:nvGrpSpPr>
          <p:cNvPr id="62" name="c2-card-2"/>
          <p:cNvGrpSpPr/>
          <p:nvPr/>
        </p:nvGrpSpPr>
        <p:grpSpPr>
          <a:xfrm>
            <a:off x="6680835" y="2912745"/>
            <a:ext cx="4977765" cy="1594485"/>
            <a:chOff x="6680835" y="2912745"/>
            <a:chExt cx="4977765" cy="1594485"/>
          </a:xfrm>
        </p:grpSpPr>
        <p:sp>
          <p:nvSpPr>
            <p:cNvPr id="55" name="Rectangle 55"/>
            <p:cNvSpPr/>
            <p:nvPr/>
          </p:nvSpPr>
          <p:spPr>
            <a:xfrm>
              <a:off x="6680835" y="2912745"/>
              <a:ext cx="4977765" cy="1594485"/>
            </a:xfrm>
            <a:prstGeom prst="roundRect">
              <a:avLst>
                <a:gd name="adj" fmla="val 8363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884670" y="3116580"/>
              <a:ext cx="107537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952812" y="3152299"/>
              <a:ext cx="9400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Keep in Mind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892290" y="354996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048881" y="348948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进程状态转换由操作系统完成，对用户是透明的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892290" y="387000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48881" y="3809524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进程在生存期内要经过多次状态转换，这体现了进程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的动态性和并发性</a:t>
              </a:r>
            </a:p>
          </p:txBody>
        </p:sp>
      </p:grpSp>
      <p:grpSp>
        <p:nvGrpSpPr>
          <p:cNvPr id="69" name="c2-callout-3"/>
          <p:cNvGrpSpPr/>
          <p:nvPr/>
        </p:nvGrpSpPr>
        <p:grpSpPr>
          <a:xfrm>
            <a:off x="6680835" y="4692968"/>
            <a:ext cx="4977765" cy="1545908"/>
            <a:chOff x="6680835" y="4692968"/>
            <a:chExt cx="4977765" cy="1545908"/>
          </a:xfrm>
        </p:grpSpPr>
        <p:sp>
          <p:nvSpPr>
            <p:cNvPr id="63" name="Rectangle 63"/>
            <p:cNvSpPr/>
            <p:nvPr/>
          </p:nvSpPr>
          <p:spPr>
            <a:xfrm>
              <a:off x="6680835" y="4692968"/>
              <a:ext cx="4977765" cy="1545908"/>
            </a:xfrm>
            <a:prstGeom prst="roundRect">
              <a:avLst>
                <a:gd name="adj" fmla="val 739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885623" y="5366385"/>
              <a:ext cx="200026" cy="200026"/>
              <a:chOff x="6885623" y="5366385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6885623" y="53663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6985635" y="54330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974523" y="54663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7187946" y="5235416"/>
              <a:ext cx="402704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后面 UNIX 的 SIDL、SZOMB 两个状态，分别对应这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里的初创和终止。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04338" cy="909257"/>
            <a:chOff x="520446" y="342900"/>
            <a:chExt cx="66043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进程的概念与状态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043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进程控制块 PCB：系统靠它感知和管理进程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3895725" cy="3594735"/>
            <a:chOff x="533400" y="1524000"/>
            <a:chExt cx="3895725" cy="35947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895725" cy="3594735"/>
            </a:xfrm>
            <a:prstGeom prst="roundRect">
              <a:avLst>
                <a:gd name="adj" fmla="val 37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32803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478" y="1769269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2.2.3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2708434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进程控制块（Process Control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Block）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722245"/>
              <a:ext cx="3253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标志进程存在的数据结构，其中保存系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统管理进程所需的全部信息。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340614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343275"/>
              <a:ext cx="18750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建立进程 ⇒ 建立 PCB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7414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678555"/>
              <a:ext cx="18882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 PCB ⇒ 撤销进程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4573" y="4010501"/>
              <a:ext cx="32560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PCB 的具体内容因系统而异，右表是常见的内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容。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4733925" y="1524000"/>
            <a:ext cx="6924675" cy="3594736"/>
            <a:chOff x="4733925" y="1524000"/>
            <a:chExt cx="6924675" cy="3594736"/>
          </a:xfrm>
        </p:grpSpPr>
        <p:sp>
          <p:nvSpPr>
            <p:cNvPr id="19" name="Rectangle 19"/>
            <p:cNvSpPr/>
            <p:nvPr/>
          </p:nvSpPr>
          <p:spPr>
            <a:xfrm>
              <a:off x="4733925" y="1524000"/>
              <a:ext cx="692467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14377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758655" y="1659731"/>
              <a:ext cx="10749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PCB 中的内容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99105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841748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19038" y="2108359"/>
              <a:ext cx="20286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进程标识（pid）；所属用户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（uid）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788908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区分进程；检查权限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733925" y="264318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733925" y="2647950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41748" y="27836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家族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019038" y="278368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家族联系（父进程、子进程）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88908" y="278368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创建、撤销时维护父子关系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733925" y="309276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841748" y="33456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状态与调度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019038" y="3232309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进程状态；调度参数（如优先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级）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788908" y="334565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调度程序据此选择进程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733925" y="376809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733925" y="3772852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841748" y="39076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19038" y="3907631"/>
              <a:ext cx="24455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现场信息（寄存器、PSW、PC）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88908" y="390763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暂停时保存，恢复运行时装回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33925" y="421671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841748" y="43572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19038" y="435721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地址信息；打开文件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788908" y="435721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找到程序和数据；进行文件操作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4733925" y="466534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733925" y="4670108"/>
              <a:ext cx="692467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841748" y="480583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通信与链接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19038" y="480583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消息指针；队列指针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88908" y="4805839"/>
              <a:ext cx="24903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进程通信；把 PCB 链入各种队列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733925" y="1524000"/>
              <a:ext cx="6924675" cy="35947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5906452" y="1524000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8676322" y="1524000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53" name="Rectangle 53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130" y="5728335"/>
              <a:ext cx="99879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系统启动时就按可容纳的最大进程数建好一张 PCB 表，创建进程时占用其中一个空表项——这也是系统中进程数有上限的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35499" cy="3351847"/>
            <a:chOff x="667512" y="1835468"/>
            <a:chExt cx="513549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进程的组成与组织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进程由什么构成、怎样排队，进程之间又有什么关系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48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2.2.4 进程的组成与上下文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2.2.5 进程的队列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46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2.2.6 进程的类型与特征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43264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2.2.7–2.2.9 相互作用、创建撤销、进程与程序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36190" cy="909257"/>
            <a:chOff x="520446" y="342900"/>
            <a:chExt cx="63361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361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= PCB + 程序（代码、数据、堆栈）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5085398" cy="3916680"/>
            <a:chOff x="533400" y="1524000"/>
            <a:chExt cx="5085398" cy="39166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3916680"/>
            </a:xfrm>
            <a:prstGeom prst="roundRect">
              <a:avLst>
                <a:gd name="adj" fmla="val 34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4998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7636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4676" y="1769269"/>
              <a:ext cx="12481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2.2.4 进程的组成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14617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进程控制块 PCB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46020"/>
              <a:ext cx="39500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建立进程 ⇒ 建立 PCB；撤销 PCB ⇒ 撤销进程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78130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7944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116580"/>
              <a:ext cx="12672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代码（code）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5147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451860"/>
              <a:ext cx="12672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数据（data）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38500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3787140"/>
              <a:ext cx="20547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堆栈（stack + heap）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411908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栈：保存返回点、参数、返回值、局部变量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4573" y="44153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堆：存放动态变量</a:t>
              </a:r>
            </a:p>
          </p:txBody>
        </p:sp>
      </p:grpSp>
      <p:grpSp>
        <p:nvGrpSpPr>
          <p:cNvPr id="47" name="c2-graph-1"/>
          <p:cNvGrpSpPr/>
          <p:nvPr/>
        </p:nvGrpSpPr>
        <p:grpSpPr>
          <a:xfrm>
            <a:off x="5914072" y="1885950"/>
            <a:ext cx="5754053" cy="2323624"/>
            <a:chOff x="5914072" y="1885950"/>
            <a:chExt cx="5754053" cy="2323624"/>
          </a:xfrm>
        </p:grpSpPr>
        <p:sp>
          <p:nvSpPr>
            <p:cNvPr id="24" name="Freeform 24"/>
            <p:cNvSpPr/>
            <p:nvPr/>
          </p:nvSpPr>
          <p:spPr>
            <a:xfrm>
              <a:off x="5942648" y="2484120"/>
              <a:ext cx="5696902" cy="9525"/>
            </a:xfrm>
            <a:custGeom>
              <a:avLst/>
              <a:gdLst/>
              <a:ahLst/>
              <a:cxnLst/>
              <a:rect l="l" t="t" r="r" b="b"/>
              <a:pathLst>
                <a:path w="5696902" h="9525">
                  <a:moveTo>
                    <a:pt x="0" y="0"/>
                  </a:moveTo>
                  <a:lnTo>
                    <a:pt x="569690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25" name="Freeform 25"/>
            <p:cNvSpPr/>
            <p:nvPr/>
          </p:nvSpPr>
          <p:spPr>
            <a:xfrm>
              <a:off x="7472362" y="2228850"/>
              <a:ext cx="9525" cy="436245"/>
            </a:xfrm>
            <a:custGeom>
              <a:avLst/>
              <a:gdLst/>
              <a:ahLst/>
              <a:cxnLst/>
              <a:rect l="l" t="t" r="r" b="b"/>
              <a:pathLst>
                <a:path w="9525" h="436245">
                  <a:moveTo>
                    <a:pt x="0" y="0"/>
                  </a:moveTo>
                  <a:lnTo>
                    <a:pt x="0" y="4362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424738" y="26650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9849802" y="2228850"/>
              <a:ext cx="229553" cy="446722"/>
            </a:xfrm>
            <a:custGeom>
              <a:avLst/>
              <a:gdLst/>
              <a:ahLst/>
              <a:cxnLst/>
              <a:rect l="l" t="t" r="r" b="b"/>
              <a:pathLst>
                <a:path w="229553" h="446722">
                  <a:moveTo>
                    <a:pt x="229553" y="0"/>
                  </a:moveTo>
                  <a:lnTo>
                    <a:pt x="0" y="44672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805988" y="2653665"/>
              <a:ext cx="85725" cy="106680"/>
            </a:xfrm>
            <a:custGeom>
              <a:avLst/>
              <a:gdLst/>
              <a:ahLst/>
              <a:cxnLst/>
              <a:rect l="l" t="t" r="r" b="b"/>
              <a:pathLst>
                <a:path w="85725" h="106680">
                  <a:moveTo>
                    <a:pt x="0" y="106680"/>
                  </a:moveTo>
                  <a:lnTo>
                    <a:pt x="952" y="0"/>
                  </a:lnTo>
                  <a:lnTo>
                    <a:pt x="85725" y="4381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0264140" y="2228850"/>
              <a:ext cx="251460" cy="448628"/>
            </a:xfrm>
            <a:custGeom>
              <a:avLst/>
              <a:gdLst/>
              <a:ahLst/>
              <a:cxnLst/>
              <a:rect l="l" t="t" r="r" b="b"/>
              <a:pathLst>
                <a:path w="251460" h="448628">
                  <a:moveTo>
                    <a:pt x="0" y="0"/>
                  </a:moveTo>
                  <a:lnTo>
                    <a:pt x="251460" y="4486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473690" y="2653665"/>
              <a:ext cx="88583" cy="106680"/>
            </a:xfrm>
            <a:custGeom>
              <a:avLst/>
              <a:gdLst/>
              <a:ahLst/>
              <a:cxnLst/>
              <a:rect l="l" t="t" r="r" b="b"/>
              <a:pathLst>
                <a:path w="88583" h="106680">
                  <a:moveTo>
                    <a:pt x="88583" y="106680"/>
                  </a:moveTo>
                  <a:lnTo>
                    <a:pt x="0" y="46672"/>
                  </a:lnTo>
                  <a:lnTo>
                    <a:pt x="8286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914072" y="2474595"/>
              <a:ext cx="19050" cy="190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11649075" y="2474595"/>
              <a:ext cx="19050" cy="190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015162" y="1885950"/>
              <a:ext cx="914400" cy="342900"/>
            </a:xfrm>
            <a:prstGeom prst="roundRect">
              <a:avLst>
                <a:gd name="adj" fmla="val 27778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015162" y="2760345"/>
              <a:ext cx="914400" cy="1047750"/>
            </a:xfrm>
            <a:prstGeom prst="roundRect">
              <a:avLst>
                <a:gd name="adj" fmla="val 10417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710738" y="1885950"/>
              <a:ext cx="914400" cy="342900"/>
            </a:xfrm>
            <a:prstGeom prst="roundRect">
              <a:avLst>
                <a:gd name="adj" fmla="val 27778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174480" y="2760345"/>
              <a:ext cx="723900" cy="1047750"/>
            </a:xfrm>
            <a:prstGeom prst="roundRect">
              <a:avLst>
                <a:gd name="adj" fmla="val 13158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0322242" y="2760345"/>
              <a:ext cx="1066800" cy="1047750"/>
            </a:xfrm>
            <a:prstGeom prst="roundRect">
              <a:avLst>
                <a:gd name="adj" fmla="val 909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18408" y="1983105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04722" y="32099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013983" y="1983105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368790" y="32099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代码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79813" y="3209925"/>
              <a:ext cx="7516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数据+堆栈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33516" y="22107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系统空间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33516" y="266414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用户空间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48590" y="398954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表记 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944165" y="398954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表记 2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5923598" y="4381500"/>
            <a:ext cx="5735002" cy="1059180"/>
            <a:chOff x="5923598" y="4381500"/>
            <a:chExt cx="5735002" cy="1059180"/>
          </a:xfrm>
        </p:grpSpPr>
        <p:sp>
          <p:nvSpPr>
            <p:cNvPr id="48" name="Rectangle 48"/>
            <p:cNvSpPr/>
            <p:nvPr/>
          </p:nvSpPr>
          <p:spPr>
            <a:xfrm>
              <a:off x="5923598" y="4381500"/>
              <a:ext cx="5735002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128385" y="4811078"/>
              <a:ext cx="200026" cy="200026"/>
              <a:chOff x="6128385" y="4811078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128385" y="48110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228398" y="48777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217285" y="49110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430328" y="4530090"/>
              <a:ext cx="4777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进程的表记：PCB 在系统空间，程序在用户空间。表记 2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把代码和数据分开存放。进程的程序（代码和数据）称为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进程影像（Process Image）。</a:t>
              </a:r>
            </a:p>
          </p:txBody>
        </p:sp>
      </p:grpSp>
      <p:grpSp>
        <p:nvGrpSpPr>
          <p:cNvPr id="6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130" y="5991225"/>
              <a:ext cx="98379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表记 2 单独存放代码，多个进程执行同一个程序时就能共用一份代码。后面 UNIX 的 text 结构就是这样做的。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进程上下文与上下文切换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6923" y="1545431"/>
            <a:ext cx="5200459" cy="1956244"/>
            <a:chOff x="526923" y="1545431"/>
            <a:chExt cx="5200459" cy="1956244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1378458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进程上下文</a:t>
              </a:r>
              <a:br/>
              <a:r>
                <a:rPr lang="en-US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process context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92858" y="1545431"/>
              <a:ext cx="3231642" cy="729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进程的物理实体与支持进程运行的物理环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境：PCB + 程序，以及系统环境（地址空间、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系统栈、打开文件表……）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2964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923" y="2397919"/>
              <a:ext cx="1276045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上下文切换</a:t>
              </a:r>
              <a:br/>
              <a:r>
                <a:rPr lang="en-US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context switch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292858" y="2397919"/>
              <a:ext cx="31015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由一个进程的上下文转到另一个进程的上下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9098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923" y="3012281"/>
              <a:ext cx="1311808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系统开销 system</a:t>
              </a:r>
              <a:br/>
              <a:r>
                <a:rPr lang="en-US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overhead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292858" y="3012281"/>
              <a:ext cx="31015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运行操作系统程序、完成系统管理工作所花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费的时间和空间</a:t>
              </a:r>
            </a:p>
          </p:txBody>
        </p:sp>
      </p:grpSp>
      <p:grpSp>
        <p:nvGrpSpPr>
          <p:cNvPr id="30" name="c1-table-2"/>
          <p:cNvGrpSpPr/>
          <p:nvPr/>
        </p:nvGrpSpPr>
        <p:grpSpPr>
          <a:xfrm>
            <a:off x="533400" y="3615690"/>
            <a:ext cx="5193982" cy="1525905"/>
            <a:chOff x="533400" y="3615690"/>
            <a:chExt cx="5193982" cy="1525905"/>
          </a:xfrm>
        </p:grpSpPr>
        <p:sp>
          <p:nvSpPr>
            <p:cNvPr id="16" name="Rectangle 16"/>
            <p:cNvSpPr/>
            <p:nvPr/>
          </p:nvSpPr>
          <p:spPr>
            <a:xfrm>
              <a:off x="533400" y="3615690"/>
              <a:ext cx="5193982" cy="38100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0011" y="373284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容易混的词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51798" y="3732848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包括什么（范围由小到大）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8078" y="411480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78724" y="4114800"/>
              <a:ext cx="16268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PSW、PC 和各寄存器的值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37388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378642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8078" y="4495800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78724" y="4495800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标识、状态、调度参数、现场信息等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75488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8078" y="487680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进程上下文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978724" y="4876800"/>
              <a:ext cx="14395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 + 程序 + 系统环境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615690"/>
              <a:ext cx="5193982" cy="1525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879282" y="3615690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2" name="c2-text-1"/>
          <p:cNvGrpSpPr/>
          <p:nvPr/>
        </p:nvGrpSpPr>
        <p:grpSpPr>
          <a:xfrm>
            <a:off x="6025706" y="1545431"/>
            <a:ext cx="1908404" cy="249364"/>
            <a:chOff x="6025706" y="1545431"/>
            <a:chExt cx="1908404" cy="249364"/>
          </a:xfrm>
        </p:grpSpPr>
        <p:sp>
          <p:nvSpPr>
            <p:cNvPr id="31" name="TextBox 31"/>
            <p:cNvSpPr txBox="1"/>
            <p:nvPr/>
          </p:nvSpPr>
          <p:spPr>
            <a:xfrm>
              <a:off x="6025706" y="15454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一次进程切换大致要做：</a:t>
              </a:r>
            </a:p>
          </p:txBody>
        </p:sp>
      </p:grpSp>
      <p:grpSp>
        <p:nvGrpSpPr>
          <p:cNvPr id="50" name="c2-steps-2"/>
          <p:cNvGrpSpPr/>
          <p:nvPr/>
        </p:nvGrpSpPr>
        <p:grpSpPr>
          <a:xfrm>
            <a:off x="6032182" y="1918335"/>
            <a:ext cx="4011549" cy="2149412"/>
            <a:chOff x="6032182" y="1918335"/>
            <a:chExt cx="4011549" cy="2149412"/>
          </a:xfrm>
        </p:grpSpPr>
        <p:sp>
          <p:nvSpPr>
            <p:cNvPr id="33" name="Rectangle 33"/>
            <p:cNvSpPr/>
            <p:nvPr/>
          </p:nvSpPr>
          <p:spPr>
            <a:xfrm>
              <a:off x="6165532" y="2061210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6032182" y="191833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25806" y="19921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032182" y="247173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25806" y="2545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032182" y="302418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25806" y="30980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032182" y="35775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25806" y="36514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44806" y="19492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保存现场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45948" y="2204085"/>
              <a:ext cx="29075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把当前进程的寄存器、PSW、PC 存入它的 PCB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44806" y="250174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改状态、入队列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45948" y="2756535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按暂停原因置为就绪或等待，链入相应队列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44806" y="30551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选出新进程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45948" y="3309938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调度程序从就绪队列中选出一个进程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44806" y="360854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切换环境、恢复现场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45948" y="3862388"/>
              <a:ext cx="35977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换成新进程的地址空间等系统环境，从它的 PCB 恢复现场</a:t>
              </a:r>
            </a:p>
          </p:txBody>
        </p:sp>
      </p:grpSp>
      <p:grpSp>
        <p:nvGrpSpPr>
          <p:cNvPr id="67" name="c2-compare-3"/>
          <p:cNvGrpSpPr/>
          <p:nvPr/>
        </p:nvGrpSpPr>
        <p:grpSpPr>
          <a:xfrm>
            <a:off x="6032182" y="4230052"/>
            <a:ext cx="5626418" cy="1411605"/>
            <a:chOff x="6032182" y="4230052"/>
            <a:chExt cx="5626418" cy="1411605"/>
          </a:xfrm>
        </p:grpSpPr>
        <p:sp>
          <p:nvSpPr>
            <p:cNvPr id="51" name="Rectangle 51"/>
            <p:cNvSpPr/>
            <p:nvPr/>
          </p:nvSpPr>
          <p:spPr>
            <a:xfrm>
              <a:off x="6032182" y="4230052"/>
              <a:ext cx="2604135" cy="1411605"/>
            </a:xfrm>
            <a:prstGeom prst="roundRect">
              <a:avLst>
                <a:gd name="adj" fmla="val 94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041708" y="4363402"/>
              <a:ext cx="47625" cy="11449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244780" y="44315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进程切换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260782" y="4785360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16230" y="4732496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换地址空间、系统栈、打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开文件表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260782" y="5313045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416230" y="5261134"/>
              <a:ext cx="12363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开销大，“笨重”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054465" y="4230052"/>
              <a:ext cx="2604135" cy="1411605"/>
            </a:xfrm>
            <a:prstGeom prst="roundRect">
              <a:avLst>
                <a:gd name="adj" fmla="val 94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063990" y="4363402"/>
              <a:ext cx="47625" cy="11449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267063" y="443150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同进程的线程切换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9283065" y="4785360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438513" y="4732496"/>
              <a:ext cx="18011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地址空间不变，只换寄存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器和用户栈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9283065" y="5313045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438513" y="5261134"/>
              <a:ext cx="20376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切换快，开销小（2.3.1）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8682990" y="477297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766223" y="4879658"/>
              <a:ext cx="1573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7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8" name="Rectangle 68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1041273" y="6039326"/>
              <a:ext cx="9727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上下文切换期间 CPU 不为任何用户程序工作，这段时间属于系统开销。切换越频繁开销越大，这也是后面引入线程的原因之一。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34181" cy="909257"/>
            <a:chOff x="520446" y="342900"/>
            <a:chExt cx="76341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341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 链成队列：就绪队列、等待队列与运行指示字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cells-1"/>
          <p:cNvGrpSpPr/>
          <p:nvPr/>
        </p:nvGrpSpPr>
        <p:grpSpPr>
          <a:xfrm>
            <a:off x="527685" y="1524000"/>
            <a:ext cx="4875847" cy="381000"/>
            <a:chOff x="527685" y="1524000"/>
            <a:chExt cx="4875847" cy="381000"/>
          </a:xfrm>
        </p:grpSpPr>
        <p:sp>
          <p:nvSpPr>
            <p:cNvPr id="7" name="TextBox 7"/>
            <p:cNvSpPr txBox="1"/>
            <p:nvPr/>
          </p:nvSpPr>
          <p:spPr>
            <a:xfrm>
              <a:off x="527685" y="16444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head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995362" y="1524000"/>
              <a:ext cx="41338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58339" y="164449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408748" y="1524000"/>
              <a:ext cx="209550" cy="3810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1484948" y="168592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1513522" y="17145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56422" y="167163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1942148" y="1524000"/>
              <a:ext cx="41338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004171" y="164449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354580" y="1524000"/>
              <a:ext cx="209550" cy="3810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2430780" y="168592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2459355" y="17145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802255" y="167163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887980" y="1524000"/>
              <a:ext cx="41338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950956" y="164449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301365" y="1524000"/>
              <a:ext cx="209550" cy="3810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3377565" y="168592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3406140" y="17145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749040" y="167163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3834765" y="1524000"/>
              <a:ext cx="41338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947718" y="164449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……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247198" y="1524000"/>
              <a:ext cx="209550" cy="3810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4323398" y="168592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4351972" y="17145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4694872" y="167163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780598" y="1524000"/>
              <a:ext cx="413385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843574" y="1644491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193982" y="1524000"/>
              <a:ext cx="209550" cy="3810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57524" y="165211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43" name="c1-callout-2"/>
          <p:cNvGrpSpPr/>
          <p:nvPr/>
        </p:nvGrpSpPr>
        <p:grpSpPr>
          <a:xfrm>
            <a:off x="533400" y="2080260"/>
            <a:ext cx="5193982" cy="729615"/>
            <a:chOff x="533400" y="2080260"/>
            <a:chExt cx="5193982" cy="729615"/>
          </a:xfrm>
        </p:grpSpPr>
        <p:sp>
          <p:nvSpPr>
            <p:cNvPr id="37" name="Rectangle 37"/>
            <p:cNvSpPr/>
            <p:nvPr/>
          </p:nvSpPr>
          <p:spPr>
            <a:xfrm>
              <a:off x="533400" y="2080260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2345055"/>
              <a:ext cx="200026" cy="200026"/>
              <a:chOff x="738188" y="2345055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23450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24117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27088" y="244506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2226945"/>
              <a:ext cx="43256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 中的“队列指针”用来把 PCB 串成链。队列不一定先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进先出（FIFO），可以是单向链表，也可以是双向链表。</a:t>
              </a:r>
            </a:p>
          </p:txBody>
        </p:sp>
      </p:grpSp>
      <p:grpSp>
        <p:nvGrpSpPr>
          <p:cNvPr id="50" name="c1-callout-3"/>
          <p:cNvGrpSpPr/>
          <p:nvPr/>
        </p:nvGrpSpPr>
        <p:grpSpPr>
          <a:xfrm>
            <a:off x="533400" y="2985135"/>
            <a:ext cx="5193982" cy="729615"/>
            <a:chOff x="533400" y="2985135"/>
            <a:chExt cx="5193982" cy="729615"/>
          </a:xfrm>
        </p:grpSpPr>
        <p:sp>
          <p:nvSpPr>
            <p:cNvPr id="44" name="Rectangle 44"/>
            <p:cNvSpPr/>
            <p:nvPr/>
          </p:nvSpPr>
          <p:spPr>
            <a:xfrm>
              <a:off x="533400" y="298513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3249930"/>
              <a:ext cx="200026" cy="200025"/>
              <a:chOff x="738188" y="3249930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32499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77926" y="32943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12642" y="34055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3130868"/>
              <a:ext cx="41713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进程换队列时只需修改指针，把它的 PCB 从一个链上摘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下、挂到另一个链上，不必移动 PCB 本身。</a:t>
              </a:r>
            </a:p>
          </p:txBody>
        </p:sp>
      </p:grpSp>
      <p:grpSp>
        <p:nvGrpSpPr>
          <p:cNvPr id="68" name="c1-card-4"/>
          <p:cNvGrpSpPr/>
          <p:nvPr/>
        </p:nvGrpSpPr>
        <p:grpSpPr>
          <a:xfrm>
            <a:off x="533400" y="3889058"/>
            <a:ext cx="5193982" cy="2266950"/>
            <a:chOff x="533400" y="3889058"/>
            <a:chExt cx="5193982" cy="2266950"/>
          </a:xfrm>
        </p:grpSpPr>
        <p:sp>
          <p:nvSpPr>
            <p:cNvPr id="51" name="Rectangle 51"/>
            <p:cNvSpPr/>
            <p:nvPr/>
          </p:nvSpPr>
          <p:spPr>
            <a:xfrm>
              <a:off x="533400" y="3889058"/>
              <a:ext cx="5193982" cy="226695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542925" y="4022408"/>
              <a:ext cx="47625" cy="20002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63905" y="4081462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59346" y="411575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214247" y="412146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磁盘中断到来时，系统对队列做什么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63905" y="4443412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19583" y="44817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44702" y="4455795"/>
              <a:ext cx="29324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从磁盘等待队列中摘下该进程的 PCB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763905" y="474630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9583" y="47846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44702" y="4758690"/>
              <a:ext cx="2444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PCB 里的状态字段改成就绪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63905" y="5048250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19583" y="508758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44702" y="5060633"/>
              <a:ext cx="2081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把这个 PCB 链入就绪队列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63905" y="5351145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19583" y="53895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44702" y="536352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若它的优先级高于正在运行的进程，还可能引起一次剥夺</a:t>
              </a:r>
            </a:p>
          </p:txBody>
        </p:sp>
      </p:grpSp>
      <p:grpSp>
        <p:nvGrpSpPr>
          <p:cNvPr id="88" name="c2-table-1"/>
          <p:cNvGrpSpPr/>
          <p:nvPr/>
        </p:nvGrpSpPr>
        <p:grpSpPr>
          <a:xfrm>
            <a:off x="6032182" y="1524000"/>
            <a:ext cx="5626418" cy="2023110"/>
            <a:chOff x="6032182" y="1524000"/>
            <a:chExt cx="5626418" cy="2023110"/>
          </a:xfrm>
        </p:grpSpPr>
        <p:sp>
          <p:nvSpPr>
            <p:cNvPr id="69" name="Rectangle 69"/>
            <p:cNvSpPr/>
            <p:nvPr/>
          </p:nvSpPr>
          <p:spPr>
            <a:xfrm>
              <a:off x="6032182" y="1524000"/>
              <a:ext cx="5626418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57863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队列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04167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数量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15146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132195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就绪队列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539038" y="2054066"/>
              <a:ext cx="11493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系统中一个或若干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058275" y="2054066"/>
              <a:ext cx="22872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个数由调度算法确定，例如按优先级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分成多个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032182" y="25307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032182" y="2535555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132195" y="26598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等待队列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539038" y="26598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每个等待事件一个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058275" y="26598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事件发生时只需检查对应的队列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032182" y="29365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132195" y="316563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运行指示字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539038" y="316563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每个处理机一个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058275" y="3065621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指向正在该处理机上运行的进程的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6032182" y="1524000"/>
              <a:ext cx="5626418" cy="20231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7434262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8953500" y="1524000"/>
              <a:ext cx="9525" cy="20231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7" name="c2-table-2"/>
          <p:cNvGrpSpPr/>
          <p:nvPr/>
        </p:nvGrpSpPr>
        <p:grpSpPr>
          <a:xfrm>
            <a:off x="6032182" y="3722370"/>
            <a:ext cx="5626418" cy="2434590"/>
            <a:chOff x="6032182" y="3722370"/>
            <a:chExt cx="5626418" cy="2434590"/>
          </a:xfrm>
        </p:grpSpPr>
        <p:sp>
          <p:nvSpPr>
            <p:cNvPr id="89" name="Rectangle 89"/>
            <p:cNvSpPr/>
            <p:nvPr/>
          </p:nvSpPr>
          <p:spPr>
            <a:xfrm>
              <a:off x="6032182" y="3722370"/>
              <a:ext cx="5626418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678251" y="3846671"/>
              <a:ext cx="9576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 P 的经历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743803" y="3846671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它的 PCB 在哪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770591" y="384667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6132195" y="425243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创建后排入就绪链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382952" y="425243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就绪队列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10295572" y="42524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6032182" y="45291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6032182" y="453390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6132195" y="465820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调度程序选中它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382952" y="465820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运行指示字指着它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0295572" y="46582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6032182" y="49349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6132195" y="5063966"/>
              <a:ext cx="1359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 read 启动磁盘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382952" y="506396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磁盘的等待队列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10295572" y="50639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105" name="Rectangle 105"/>
            <p:cNvSpPr/>
            <p:nvPr/>
          </p:nvSpPr>
          <p:spPr>
            <a:xfrm>
              <a:off x="6032182" y="53406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6032182" y="534543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6132195" y="54697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磁盘中断到来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8382952" y="54697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摘下后挂到就绪队列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10295572" y="54697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6032182" y="57464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132195" y="587549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再被选中，时间片用完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8382952" y="587549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回到就绪队列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10295572" y="5875496"/>
              <a:ext cx="7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 → 就绪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6032182" y="3722370"/>
              <a:ext cx="5626418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5" name="Rectangle 115"/>
            <p:cNvSpPr/>
            <p:nvPr/>
          </p:nvSpPr>
          <p:spPr>
            <a:xfrm>
              <a:off x="8278178" y="372237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6" name="Rectangle 116"/>
            <p:cNvSpPr/>
            <p:nvPr/>
          </p:nvSpPr>
          <p:spPr>
            <a:xfrm>
              <a:off x="10190798" y="3722370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2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8" name="TextBox 11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07305" cy="909257"/>
            <a:chOff x="520446" y="342900"/>
            <a:chExt cx="90073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073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进程队列模型：进程在就绪队列、CPU 与等待队列之间流转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4" name="queue-figure"/>
          <p:cNvGrpSpPr/>
          <p:nvPr/>
        </p:nvGrpSpPr>
        <p:grpSpPr>
          <a:xfrm>
            <a:off x="533400" y="1524000"/>
            <a:ext cx="6991350" cy="4838700"/>
            <a:chOff x="533400" y="1524000"/>
            <a:chExt cx="6991350" cy="48387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991350" cy="4838700"/>
            </a:xfrm>
            <a:prstGeom prst="roundRect">
              <a:avLst>
                <a:gd name="adj" fmla="val 275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423" y="21102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1143000" y="2190750"/>
              <a:ext cx="1895475" cy="9525"/>
            </a:xfrm>
            <a:custGeom>
              <a:avLst/>
              <a:gdLst/>
              <a:ahLst/>
              <a:cxnLst/>
              <a:rect l="l" t="t" r="r" b="b"/>
              <a:pathLst>
                <a:path w="1895475" h="9525">
                  <a:moveTo>
                    <a:pt x="0" y="0"/>
                  </a:moveTo>
                  <a:lnTo>
                    <a:pt x="18954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3028950" y="2143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3143250" y="2000250"/>
              <a:ext cx="1714500" cy="381000"/>
            </a:xfrm>
            <a:prstGeom prst="rect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3429000" y="200025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3714750" y="200025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4000500" y="200025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4286250" y="200025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4572000" y="200025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93236" y="18026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就绪队列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4876800" y="2190750"/>
              <a:ext cx="542925" cy="9525"/>
            </a:xfrm>
            <a:custGeom>
              <a:avLst/>
              <a:gdLst/>
              <a:ahLst/>
              <a:cxnLst/>
              <a:rect l="l" t="t" r="r" b="b"/>
              <a:pathLst>
                <a:path w="542925" h="9525">
                  <a:moveTo>
                    <a:pt x="0" y="0"/>
                  </a:moveTo>
                  <a:lnTo>
                    <a:pt x="5429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5410200" y="2143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044440" y="19916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524500" y="1981200"/>
              <a:ext cx="819150" cy="419100"/>
            </a:xfrm>
            <a:prstGeom prst="roundRect">
              <a:avLst>
                <a:gd name="adj" fmla="val 18182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60876" y="2106930"/>
              <a:ext cx="34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6362700" y="2190750"/>
              <a:ext cx="371475" cy="9525"/>
            </a:xfrm>
            <a:custGeom>
              <a:avLst/>
              <a:gdLst/>
              <a:ahLst/>
              <a:cxnLst/>
              <a:rect l="l" t="t" r="r" b="b"/>
              <a:pathLst>
                <a:path w="371475" h="9525">
                  <a:moveTo>
                    <a:pt x="0" y="0"/>
                  </a:moveTo>
                  <a:lnTo>
                    <a:pt x="3714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6724650" y="2143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70573" y="21102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完成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5934075" y="2400300"/>
              <a:ext cx="9525" cy="3276600"/>
            </a:xfrm>
            <a:custGeom>
              <a:avLst/>
              <a:gdLst/>
              <a:ahLst/>
              <a:cxnLst/>
              <a:rect l="l" t="t" r="r" b="b"/>
              <a:pathLst>
                <a:path w="9525" h="3276600">
                  <a:moveTo>
                    <a:pt x="0" y="0"/>
                  </a:moveTo>
                  <a:lnTo>
                    <a:pt x="0" y="32766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1676400" y="2295525"/>
              <a:ext cx="9525" cy="3381375"/>
            </a:xfrm>
            <a:custGeom>
              <a:avLst/>
              <a:gdLst/>
              <a:ahLst/>
              <a:cxnLst/>
              <a:rect l="l" t="t" r="r" b="b"/>
              <a:pathLst>
                <a:path w="9525" h="3381375">
                  <a:moveTo>
                    <a:pt x="0" y="338137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Polygon 28"/>
            <p:cNvSpPr/>
            <p:nvPr/>
          </p:nvSpPr>
          <p:spPr>
            <a:xfrm>
              <a:off x="1628775" y="22098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781175" y="2857500"/>
              <a:ext cx="4152900" cy="9525"/>
            </a:xfrm>
            <a:custGeom>
              <a:avLst/>
              <a:gdLst/>
              <a:ahLst/>
              <a:cxnLst/>
              <a:rect l="l" t="t" r="r" b="b"/>
              <a:pathLst>
                <a:path w="4152900" h="9525">
                  <a:moveTo>
                    <a:pt x="415290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Polygon 30"/>
            <p:cNvSpPr/>
            <p:nvPr/>
          </p:nvSpPr>
          <p:spPr>
            <a:xfrm>
              <a:off x="1695450" y="28098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427349" y="26503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时间片用完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143250" y="3467100"/>
              <a:ext cx="1714500" cy="381000"/>
            </a:xfrm>
            <a:prstGeom prst="rect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3429000" y="34671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3714750" y="34671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4000500" y="34671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36" name="Line 36"/>
            <p:cNvSpPr/>
            <p:nvPr/>
          </p:nvSpPr>
          <p:spPr>
            <a:xfrm>
              <a:off x="4286250" y="34671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4572000" y="34671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625953" y="3269456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等待队列 1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4962525" y="365760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97155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Polygon 40"/>
            <p:cNvSpPr/>
            <p:nvPr/>
          </p:nvSpPr>
          <p:spPr>
            <a:xfrm>
              <a:off x="4876800" y="36099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052565" y="34680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等待事件 1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1781175" y="3657600"/>
              <a:ext cx="1343025" cy="9525"/>
            </a:xfrm>
            <a:custGeom>
              <a:avLst/>
              <a:gdLst/>
              <a:ahLst/>
              <a:cxnLst/>
              <a:rect l="l" t="t" r="r" b="b"/>
              <a:pathLst>
                <a:path w="1343025" h="9525">
                  <a:moveTo>
                    <a:pt x="13430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1695450" y="36099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040512" y="3468052"/>
              <a:ext cx="7386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事件 1 发生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143250" y="4343400"/>
              <a:ext cx="1714500" cy="381000"/>
            </a:xfrm>
            <a:prstGeom prst="rect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46" name="Line 46"/>
            <p:cNvSpPr/>
            <p:nvPr/>
          </p:nvSpPr>
          <p:spPr>
            <a:xfrm>
              <a:off x="3429000" y="4343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47" name="Line 47"/>
            <p:cNvSpPr/>
            <p:nvPr/>
          </p:nvSpPr>
          <p:spPr>
            <a:xfrm>
              <a:off x="3714750" y="4343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48" name="Line 48"/>
            <p:cNvSpPr/>
            <p:nvPr/>
          </p:nvSpPr>
          <p:spPr>
            <a:xfrm>
              <a:off x="4000500" y="4343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49" name="Line 49"/>
            <p:cNvSpPr/>
            <p:nvPr/>
          </p:nvSpPr>
          <p:spPr>
            <a:xfrm>
              <a:off x="4286250" y="4343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50" name="Line 50"/>
            <p:cNvSpPr/>
            <p:nvPr/>
          </p:nvSpPr>
          <p:spPr>
            <a:xfrm>
              <a:off x="4572000" y="4343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625953" y="4145756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等待队列 2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4962525" y="453390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97155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Polygon 53"/>
            <p:cNvSpPr/>
            <p:nvPr/>
          </p:nvSpPr>
          <p:spPr>
            <a:xfrm>
              <a:off x="4876800" y="4486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052565" y="4344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等待事件 2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1781175" y="4533900"/>
              <a:ext cx="1343025" cy="9525"/>
            </a:xfrm>
            <a:custGeom>
              <a:avLst/>
              <a:gdLst/>
              <a:ahLst/>
              <a:cxnLst/>
              <a:rect l="l" t="t" r="r" b="b"/>
              <a:pathLst>
                <a:path w="1343025" h="9525">
                  <a:moveTo>
                    <a:pt x="13430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6" name="Polygon 56"/>
            <p:cNvSpPr/>
            <p:nvPr/>
          </p:nvSpPr>
          <p:spPr>
            <a:xfrm>
              <a:off x="1695450" y="4486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040512" y="4344352"/>
              <a:ext cx="7386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事件 2 发生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3143250" y="5486400"/>
              <a:ext cx="1714500" cy="381000"/>
            </a:xfrm>
            <a:prstGeom prst="rect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9" name="Line 59"/>
            <p:cNvSpPr/>
            <p:nvPr/>
          </p:nvSpPr>
          <p:spPr>
            <a:xfrm>
              <a:off x="3429000" y="5486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60" name="Line 60"/>
            <p:cNvSpPr/>
            <p:nvPr/>
          </p:nvSpPr>
          <p:spPr>
            <a:xfrm>
              <a:off x="3714750" y="5486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61" name="Line 61"/>
            <p:cNvSpPr/>
            <p:nvPr/>
          </p:nvSpPr>
          <p:spPr>
            <a:xfrm>
              <a:off x="4000500" y="5486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62" name="Line 62"/>
            <p:cNvSpPr/>
            <p:nvPr/>
          </p:nvSpPr>
          <p:spPr>
            <a:xfrm>
              <a:off x="4286250" y="5486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63" name="Line 63"/>
            <p:cNvSpPr/>
            <p:nvPr/>
          </p:nvSpPr>
          <p:spPr>
            <a:xfrm>
              <a:off x="4572000" y="54864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w="11430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3625953" y="5288756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等待队列 n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4962525" y="567690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97155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6" name="Polygon 66"/>
            <p:cNvSpPr/>
            <p:nvPr/>
          </p:nvSpPr>
          <p:spPr>
            <a:xfrm>
              <a:off x="4876800" y="5629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052565" y="548735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等待事件 n</a:t>
              </a:r>
            </a:p>
          </p:txBody>
        </p:sp>
        <p:sp>
          <p:nvSpPr>
            <p:cNvPr id="68" name="Freeform 68"/>
            <p:cNvSpPr/>
            <p:nvPr/>
          </p:nvSpPr>
          <p:spPr>
            <a:xfrm>
              <a:off x="1781175" y="5676900"/>
              <a:ext cx="1343025" cy="9525"/>
            </a:xfrm>
            <a:custGeom>
              <a:avLst/>
              <a:gdLst/>
              <a:ahLst/>
              <a:cxnLst/>
              <a:rect l="l" t="t" r="r" b="b"/>
              <a:pathLst>
                <a:path w="1343025" h="9525">
                  <a:moveTo>
                    <a:pt x="13430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9" name="Polygon 69"/>
            <p:cNvSpPr/>
            <p:nvPr/>
          </p:nvSpPr>
          <p:spPr>
            <a:xfrm>
              <a:off x="1695450" y="5629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040512" y="5487352"/>
              <a:ext cx="7386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事件 n 发生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3975735" y="4966335"/>
              <a:ext cx="49530" cy="49530"/>
            </a:xfrm>
            <a:prstGeom prst="ellipse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2" name="Ellipse 72"/>
            <p:cNvSpPr/>
            <p:nvPr/>
          </p:nvSpPr>
          <p:spPr>
            <a:xfrm>
              <a:off x="3975735" y="5080635"/>
              <a:ext cx="49530" cy="49530"/>
            </a:xfrm>
            <a:prstGeom prst="ellipse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3" name="Ellipse 73"/>
            <p:cNvSpPr/>
            <p:nvPr/>
          </p:nvSpPr>
          <p:spPr>
            <a:xfrm>
              <a:off x="3975735" y="5194935"/>
              <a:ext cx="49530" cy="49530"/>
            </a:xfrm>
            <a:prstGeom prst="ellipse">
              <a:avLst/>
            </a:prstGeom>
            <a:solidFill>
              <a:srgbClr val="5B6475"/>
            </a:solidFill>
            <a:ln>
              <a:noFill/>
            </a:ln>
          </p:spPr>
        </p:sp>
      </p:grpSp>
      <p:grpSp>
        <p:nvGrpSpPr>
          <p:cNvPr id="97" name="queue-notes"/>
          <p:cNvGrpSpPr/>
          <p:nvPr/>
        </p:nvGrpSpPr>
        <p:grpSpPr>
          <a:xfrm>
            <a:off x="7753350" y="1524000"/>
            <a:ext cx="3905250" cy="4838700"/>
            <a:chOff x="7753350" y="1524000"/>
            <a:chExt cx="3905250" cy="4838700"/>
          </a:xfrm>
        </p:grpSpPr>
        <p:sp>
          <p:nvSpPr>
            <p:cNvPr id="75" name="Rectangle 75"/>
            <p:cNvSpPr/>
            <p:nvPr/>
          </p:nvSpPr>
          <p:spPr>
            <a:xfrm>
              <a:off x="7753350" y="1524000"/>
              <a:ext cx="3905250" cy="4838700"/>
            </a:xfrm>
            <a:prstGeom prst="roundRect">
              <a:avLst>
                <a:gd name="adj" fmla="val 34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7762875" y="1676400"/>
              <a:ext cx="47625" cy="45339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975473" y="17102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图中六条路径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7981950" y="203835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311515" y="20964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062085" y="2088356"/>
              <a:ext cx="18776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新进程的 PCB 排入就绪队列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7981950" y="247650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311515" y="25346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调度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9062085" y="2526506"/>
              <a:ext cx="2137918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从就绪队列选出一个进程交给 CPU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（就绪 → 运行）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7981950" y="304800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8099488" y="31061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时间片用完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062085" y="3098006"/>
              <a:ext cx="2123694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运行的进程回到就绪队列（运行 →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就绪）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7981950" y="361950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8125638" y="3677602"/>
              <a:ext cx="6651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等待事件 i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062085" y="3669506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进程进入等待队列 i（运行 → 等待）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7981950" y="405765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8103376" y="4115752"/>
              <a:ext cx="709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事件 i 发生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9062085" y="4107656"/>
              <a:ext cx="2130806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等待队列 i 中的进程回到就绪队列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（等待 → 就绪）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7981950" y="462915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8311515" y="46872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完成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062085" y="467915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进程运行结束，被撤销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7976235" y="5155406"/>
              <a:ext cx="3282950" cy="429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每个等待事件一个队列，事件发生时只需检查对应的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队列。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8" name="TextBox 9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进程的两种类型与六个特征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4977765" cy="1617345"/>
            <a:chOff x="533400" y="1524000"/>
            <a:chExt cx="4977765" cy="16173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2459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66416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19428" y="1648301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UNIX 中的例子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系统进程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28788" y="205406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操作系统程序，完成系统管理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（服务）功能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017645" y="2054066"/>
              <a:ext cx="11137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号 sched，1 号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init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307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35555"/>
              <a:ext cx="497776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7598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用户进程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28788" y="265985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用户（应用）程序，为用户服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17645" y="2759869"/>
              <a:ext cx="9462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vi、shell、cc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4977765" cy="1617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624012" y="1524000"/>
              <a:ext cx="9525" cy="1617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912870" y="1524000"/>
              <a:ext cx="9525" cy="1617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9" name="c1-callout-2"/>
          <p:cNvGrpSpPr/>
          <p:nvPr/>
        </p:nvGrpSpPr>
        <p:grpSpPr>
          <a:xfrm>
            <a:off x="533400" y="3316605"/>
            <a:ext cx="4977765" cy="978218"/>
            <a:chOff x="533400" y="3316605"/>
            <a:chExt cx="4977765" cy="978218"/>
          </a:xfrm>
        </p:grpSpPr>
        <p:sp>
          <p:nvSpPr>
            <p:cNvPr id="23" name="Rectangle 23"/>
            <p:cNvSpPr/>
            <p:nvPr/>
          </p:nvSpPr>
          <p:spPr>
            <a:xfrm>
              <a:off x="533400" y="3316605"/>
              <a:ext cx="4977765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3705225"/>
              <a:ext cx="200026" cy="200026"/>
              <a:chOff x="738188" y="3705225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37052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3771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27088" y="38052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3462338"/>
              <a:ext cx="3974211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“独立性”说进程是可以调度的基本单位，这是针对没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有线程的系统。引入线程后，调度的单位是线程，进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程是资源分配的单位（见 2.3.2）。</a:t>
              </a:r>
            </a:p>
          </p:txBody>
        </p:sp>
      </p:grpSp>
      <p:grpSp>
        <p:nvGrpSpPr>
          <p:cNvPr id="45" name="c1-table-3"/>
          <p:cNvGrpSpPr/>
          <p:nvPr/>
        </p:nvGrpSpPr>
        <p:grpSpPr>
          <a:xfrm>
            <a:off x="533400" y="4469130"/>
            <a:ext cx="4977765" cy="1617345"/>
            <a:chOff x="533400" y="4469130"/>
            <a:chExt cx="4977765" cy="1617345"/>
          </a:xfrm>
        </p:grpSpPr>
        <p:sp>
          <p:nvSpPr>
            <p:cNvPr id="30" name="Rectangle 30"/>
            <p:cNvSpPr/>
            <p:nvPr/>
          </p:nvSpPr>
          <p:spPr>
            <a:xfrm>
              <a:off x="533400" y="4469130"/>
              <a:ext cx="497776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3811" y="4593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还差在哪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142566" y="4593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系统进程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82821" y="4593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用户进程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3412" y="50992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谁创建它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29715" y="4999196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号进程由内核在启动时建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立，其余由 0 号、1 号派生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569970" y="4999196"/>
              <a:ext cx="169697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由用户的 shell 或别的用户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进程创建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47592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480685"/>
              <a:ext cx="497776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412" y="570499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活多久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529715" y="5604986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常驻，系统运行期间一直存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569970" y="5604986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随用户的一次计算任务开始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和结束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469130"/>
              <a:ext cx="4977765" cy="1617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424940" y="4469130"/>
              <a:ext cx="9525" cy="1617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3465195" y="4469130"/>
              <a:ext cx="9525" cy="1617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2-kv-1"/>
          <p:cNvGrpSpPr/>
          <p:nvPr/>
        </p:nvGrpSpPr>
        <p:grpSpPr>
          <a:xfrm>
            <a:off x="5809107" y="1545907"/>
            <a:ext cx="5849493" cy="2253806"/>
            <a:chOff x="5809107" y="1545907"/>
            <a:chExt cx="5849493" cy="2253806"/>
          </a:xfrm>
        </p:grpSpPr>
        <p:sp>
          <p:nvSpPr>
            <p:cNvPr id="46" name="TextBox 46"/>
            <p:cNvSpPr txBox="1"/>
            <p:nvPr/>
          </p:nvSpPr>
          <p:spPr>
            <a:xfrm>
              <a:off x="5809107" y="154590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并发性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92062" y="1545907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可以与其他进程一道向前推进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18354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809107" y="194405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动态性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92062" y="1944052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动态产生、消亡，生存期内状态动态变化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815965" y="223266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809107" y="234219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独立性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92062" y="234219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一个进程是可以调度的基本单位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815965" y="26308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809107" y="27393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交往性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592062" y="273939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同时运行的进程之间可能发生相互作用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815965" y="302895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809107" y="313753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异步性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592062" y="313753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进程以各自独立、不可预知的速度向前推进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815965" y="342709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809107" y="353568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结构性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592062" y="3535680"/>
              <a:ext cx="1660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每个进程有一个 PCB</a:t>
              </a:r>
            </a:p>
          </p:txBody>
        </p:sp>
      </p:grpSp>
      <p:grpSp>
        <p:nvGrpSpPr>
          <p:cNvPr id="82" name="c2-table-2"/>
          <p:cNvGrpSpPr/>
          <p:nvPr/>
        </p:nvGrpSpPr>
        <p:grpSpPr>
          <a:xfrm>
            <a:off x="5815965" y="3921442"/>
            <a:ext cx="5842635" cy="2028825"/>
            <a:chOff x="5815965" y="3921442"/>
            <a:chExt cx="5842635" cy="2028825"/>
          </a:xfrm>
        </p:grpSpPr>
        <p:sp>
          <p:nvSpPr>
            <p:cNvPr id="64" name="Rectangle 64"/>
            <p:cNvSpPr/>
            <p:nvPr/>
          </p:nvSpPr>
          <p:spPr>
            <a:xfrm>
              <a:off x="5815965" y="3921442"/>
              <a:ext cx="584263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360516" y="40457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29510" y="404574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它在后面引出什么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15978" y="445150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并发性、交往性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18058" y="4451509"/>
              <a:ext cx="2747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进程之间要互斥、同步、通讯（第 4 章）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815965" y="472821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815965" y="4732972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915978" y="485727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异步性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18058" y="485727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推进速度不可预知，多次运行的次序不同，结果可能不确定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5815965" y="51339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915978" y="526303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独立性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318058" y="5263039"/>
              <a:ext cx="4312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进程是调度的基本单位，谁先占 CPU 由调度算法决定（第 3 章）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815965" y="553974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5815965" y="5544502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5915978" y="566880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动态性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318058" y="566880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有创建也有撤销，生存期内状态不断变化；程序则是静态的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5815965" y="3921442"/>
              <a:ext cx="584263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1" name="Rectangle 81"/>
            <p:cNvSpPr/>
            <p:nvPr/>
          </p:nvSpPr>
          <p:spPr>
            <a:xfrm>
              <a:off x="7213282" y="392144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进程之间的相互联系与相互作用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410200" cy="2623185"/>
            <a:chOff x="533400" y="1524000"/>
            <a:chExt cx="5410200" cy="26231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60579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1876" y="1648301"/>
              <a:ext cx="89367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2.2.7 相互联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52141" y="17483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相关进程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62881" y="174831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无关进程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35410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是什么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24038" y="235410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同一家族的进程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095750" y="2254091"/>
              <a:ext cx="15760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没有逻辑关系、同时执行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3081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35580"/>
              <a:ext cx="5410200" cy="100584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31599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24038" y="2859881"/>
              <a:ext cx="1860550" cy="8201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可以共享文件，需要相互通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信、协调推进速度；父进程可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以监视子进程，子进程完成父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进程交给的任务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95750" y="315991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存在资源竞争关系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366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38657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可能出现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24038" y="38657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95750" y="386572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互斥、死锁、饿死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410200" cy="26231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719262" y="1524000"/>
              <a:ext cx="9525" cy="26231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990975" y="1524000"/>
              <a:ext cx="9525" cy="26231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6" name="c1-card-2"/>
          <p:cNvGrpSpPr/>
          <p:nvPr/>
        </p:nvGrpSpPr>
        <p:grpSpPr>
          <a:xfrm>
            <a:off x="533400" y="4322445"/>
            <a:ext cx="5410200" cy="1786890"/>
            <a:chOff x="533400" y="4322445"/>
            <a:chExt cx="5410200" cy="1786890"/>
          </a:xfrm>
        </p:grpSpPr>
        <p:sp>
          <p:nvSpPr>
            <p:cNvPr id="27" name="Rectangle 27"/>
            <p:cNvSpPr/>
            <p:nvPr/>
          </p:nvSpPr>
          <p:spPr>
            <a:xfrm>
              <a:off x="533400" y="4322445"/>
              <a:ext cx="5410200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455795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3905" y="451485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59346" y="454914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14247" y="45548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哪些进程算相关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72478" y="494442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8497" y="4888230"/>
              <a:ext cx="44542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shell 用 fork 创建的 cc 进程与 shell 是父子，属于相关进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程：shell 用 wait 等它结束，还能取到它的终止状态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72478" y="550449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8497" y="5448300"/>
              <a:ext cx="44971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另一个用户同时运行的 vi 与这个 cc 没有逻辑关系，是无关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进程：只有在争打印机、内存时才通过资源发生间接联系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248400" y="1524000"/>
            <a:ext cx="5410200" cy="1763078"/>
            <a:chOff x="6248400" y="1524000"/>
            <a:chExt cx="5410200" cy="1763078"/>
          </a:xfrm>
        </p:grpSpPr>
        <p:sp>
          <p:nvSpPr>
            <p:cNvPr id="37" name="Rectangle 37"/>
            <p:cNvSpPr/>
            <p:nvPr/>
          </p:nvSpPr>
          <p:spPr>
            <a:xfrm>
              <a:off x="6248400" y="1524000"/>
              <a:ext cx="5410200" cy="1763078"/>
            </a:xfrm>
            <a:prstGeom prst="roundRect">
              <a:avLst>
                <a:gd name="adj" fmla="val 7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57925" y="1657350"/>
              <a:ext cx="47625" cy="14963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8905" y="1716405"/>
              <a:ext cx="86201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58321" y="1750695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相互作用 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48360" y="175641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直接相互作用：发生在相关进程之间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7415212" y="2440305"/>
              <a:ext cx="3019425" cy="9525"/>
            </a:xfrm>
            <a:custGeom>
              <a:avLst/>
              <a:gdLst/>
              <a:ahLst/>
              <a:cxnLst/>
              <a:rect l="l" t="t" r="r" b="b"/>
              <a:pathLst>
                <a:path w="3019425" h="9525">
                  <a:moveTo>
                    <a:pt x="0" y="0"/>
                  </a:moveTo>
                  <a:lnTo>
                    <a:pt x="30194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434638" y="239268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6948488" y="2211705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10539412" y="2211705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79372" y="237029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670297" y="237029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45780" y="2354580"/>
              <a:ext cx="165354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153000" y="2386965"/>
              <a:ext cx="16391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send → receive（同步 sync）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473190" y="2918936"/>
              <a:ext cx="28698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 发送消息，P2 接收，双方要协调步调。</a:t>
              </a:r>
            </a:p>
          </p:txBody>
        </p:sp>
      </p:grpSp>
      <p:grpSp>
        <p:nvGrpSpPr>
          <p:cNvPr id="72" name="c2-card-2"/>
          <p:cNvGrpSpPr/>
          <p:nvPr/>
        </p:nvGrpSpPr>
        <p:grpSpPr>
          <a:xfrm>
            <a:off x="6248400" y="3462338"/>
            <a:ext cx="5410200" cy="2646998"/>
            <a:chOff x="6248400" y="3462338"/>
            <a:chExt cx="5410200" cy="2646998"/>
          </a:xfrm>
        </p:grpSpPr>
        <p:sp>
          <p:nvSpPr>
            <p:cNvPr id="52" name="Rectangle 52"/>
            <p:cNvSpPr/>
            <p:nvPr/>
          </p:nvSpPr>
          <p:spPr>
            <a:xfrm>
              <a:off x="6248400" y="3462338"/>
              <a:ext cx="5410200" cy="2646998"/>
            </a:xfrm>
            <a:prstGeom prst="roundRect">
              <a:avLst>
                <a:gd name="adj" fmla="val 50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57925" y="3595688"/>
              <a:ext cx="47625" cy="23802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78905" y="3654742"/>
              <a:ext cx="86201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58321" y="3689032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相互作用 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48360" y="369379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间接相互作用：发生在任何进程之间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7216140" y="4378642"/>
              <a:ext cx="1443990" cy="9525"/>
            </a:xfrm>
            <a:custGeom>
              <a:avLst/>
              <a:gdLst/>
              <a:ahLst/>
              <a:cxnLst/>
              <a:rect l="l" t="t" r="r" b="b"/>
              <a:pathLst>
                <a:path w="1443990" h="9525">
                  <a:moveTo>
                    <a:pt x="0" y="0"/>
                  </a:moveTo>
                  <a:lnTo>
                    <a:pt x="14439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8660130" y="43310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9189720" y="4378642"/>
              <a:ext cx="1443990" cy="9525"/>
            </a:xfrm>
            <a:custGeom>
              <a:avLst/>
              <a:gdLst/>
              <a:ahLst/>
              <a:cxnLst/>
              <a:rect l="l" t="t" r="r" b="b"/>
              <a:pathLst>
                <a:path w="1443990" h="9525">
                  <a:moveTo>
                    <a:pt x="0" y="0"/>
                  </a:moveTo>
                  <a:lnTo>
                    <a:pt x="14439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633710" y="43310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1" name="Ellipse 61"/>
            <p:cNvSpPr/>
            <p:nvPr/>
          </p:nvSpPr>
          <p:spPr>
            <a:xfrm>
              <a:off x="6749415" y="4150042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8755380" y="4213860"/>
              <a:ext cx="433388" cy="329565"/>
            </a:xfrm>
            <a:prstGeom prst="roundRect">
              <a:avLst>
                <a:gd name="adj" fmla="val 2890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10738485" y="4150042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880299" y="430863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20835" y="430863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869369" y="430863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824788" y="4292918"/>
              <a:ext cx="32194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850753" y="4325302"/>
              <a:ext cx="2700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wait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809798" y="4292918"/>
              <a:ext cx="29908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836448" y="4325302"/>
              <a:ext cx="2457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hold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473190" y="4856321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P2 占有（hold）资源 R，P1 在等待（wait）R，两者通过 R 发生联系。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进程的创建与撤销：除初始进程外，进程都由父进程创建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5780" y="1548765"/>
            <a:ext cx="1024890" cy="293370"/>
            <a:chOff x="525780" y="1548765"/>
            <a:chExt cx="10248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进程的创建</a:t>
              </a:r>
            </a:p>
          </p:txBody>
        </p:sp>
      </p:grpSp>
      <p:grpSp>
        <p:nvGrpSpPr>
          <p:cNvPr id="28" name="c1-steps-2"/>
          <p:cNvGrpSpPr/>
          <p:nvPr/>
        </p:nvGrpSpPr>
        <p:grpSpPr>
          <a:xfrm>
            <a:off x="533400" y="1973580"/>
            <a:ext cx="6276023" cy="982980"/>
            <a:chOff x="533400" y="1973580"/>
            <a:chExt cx="6276023" cy="982980"/>
          </a:xfrm>
        </p:grpSpPr>
        <p:sp>
          <p:nvSpPr>
            <p:cNvPr id="9" name="Rectangle 9"/>
            <p:cNvSpPr/>
            <p:nvPr/>
          </p:nvSpPr>
          <p:spPr>
            <a:xfrm>
              <a:off x="533400" y="1973580"/>
              <a:ext cx="1354455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66750" y="210693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883" y="21774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59130" y="2512695"/>
              <a:ext cx="8559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 PCB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1964055" y="237934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173605" y="1973580"/>
              <a:ext cx="1354455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306955" y="210693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397088" y="21774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99335" y="25126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分配内存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3604260" y="237934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3813810" y="1973580"/>
              <a:ext cx="1354455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3947160" y="210693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037293" y="21774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39540" y="25126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加载程序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5245418" y="2379345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54968" y="1973580"/>
              <a:ext cx="1354455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588318" y="210693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678451" y="217741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580698" y="25126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入就绪链</a:t>
              </a:r>
            </a:p>
          </p:txBody>
        </p:sp>
      </p:grpSp>
      <p:grpSp>
        <p:nvGrpSpPr>
          <p:cNvPr id="30" name="c1-text-3"/>
          <p:cNvGrpSpPr/>
          <p:nvPr/>
        </p:nvGrpSpPr>
        <p:grpSpPr>
          <a:xfrm>
            <a:off x="526923" y="3168491"/>
            <a:ext cx="5020452" cy="249364"/>
            <a:chOff x="526923" y="3168491"/>
            <a:chExt cx="5020452" cy="249364"/>
          </a:xfrm>
        </p:grpSpPr>
        <p:sp>
          <p:nvSpPr>
            <p:cNvPr id="29" name="TextBox 29"/>
            <p:cNvSpPr txBox="1"/>
            <p:nvPr/>
          </p:nvSpPr>
          <p:spPr>
            <a:xfrm>
              <a:off x="526923" y="3168491"/>
              <a:ext cx="50204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UNIX：pid = fork() 创建子进程；exec(prog, args) 加载新程序</a:t>
              </a:r>
            </a:p>
          </p:txBody>
        </p:sp>
      </p:grpSp>
      <p:grpSp>
        <p:nvGrpSpPr>
          <p:cNvPr id="32" name="c1-text-4"/>
          <p:cNvGrpSpPr/>
          <p:nvPr/>
        </p:nvGrpSpPr>
        <p:grpSpPr>
          <a:xfrm>
            <a:off x="525780" y="3582352"/>
            <a:ext cx="1024890" cy="293370"/>
            <a:chOff x="525780" y="3582352"/>
            <a:chExt cx="1024890" cy="293370"/>
          </a:xfrm>
        </p:grpSpPr>
        <p:sp>
          <p:nvSpPr>
            <p:cNvPr id="31" name="TextBox 31"/>
            <p:cNvSpPr txBox="1"/>
            <p:nvPr/>
          </p:nvSpPr>
          <p:spPr>
            <a:xfrm>
              <a:off x="525780" y="358235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进程的撤销</a:t>
              </a:r>
            </a:p>
          </p:txBody>
        </p:sp>
      </p:grpSp>
      <p:grpSp>
        <p:nvGrpSpPr>
          <p:cNvPr id="47" name="c1-steps-5"/>
          <p:cNvGrpSpPr/>
          <p:nvPr/>
        </p:nvGrpSpPr>
        <p:grpSpPr>
          <a:xfrm>
            <a:off x="533400" y="4007168"/>
            <a:ext cx="6276022" cy="982980"/>
            <a:chOff x="533400" y="4007168"/>
            <a:chExt cx="6276022" cy="982980"/>
          </a:xfrm>
        </p:grpSpPr>
        <p:sp>
          <p:nvSpPr>
            <p:cNvPr id="33" name="Rectangle 33"/>
            <p:cNvSpPr/>
            <p:nvPr/>
          </p:nvSpPr>
          <p:spPr>
            <a:xfrm>
              <a:off x="533400" y="4007168"/>
              <a:ext cx="1901190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Ellipse 34"/>
            <p:cNvSpPr/>
            <p:nvPr/>
          </p:nvSpPr>
          <p:spPr>
            <a:xfrm>
              <a:off x="666750" y="414051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6883" y="421100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9130" y="454628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去配资源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2510790" y="441293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2720340" y="4007168"/>
              <a:ext cx="1901190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2853690" y="414051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943823" y="421100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846070" y="4546282"/>
              <a:ext cx="8559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 PCB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4698682" y="441293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908232" y="4007168"/>
              <a:ext cx="1901190" cy="982980"/>
            </a:xfrm>
            <a:prstGeom prst="roundRect">
              <a:avLst>
                <a:gd name="adj" fmla="val 1162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5041582" y="414051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131716" y="421100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033962" y="4546282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通知父进程</a:t>
              </a:r>
            </a:p>
          </p:txBody>
        </p:sp>
      </p:grpSp>
      <p:grpSp>
        <p:nvGrpSpPr>
          <p:cNvPr id="49" name="c1-text-6"/>
          <p:cNvGrpSpPr/>
          <p:nvPr/>
        </p:nvGrpSpPr>
        <p:grpSpPr>
          <a:xfrm>
            <a:off x="526923" y="5202079"/>
            <a:ext cx="4693056" cy="249364"/>
            <a:chOff x="526923" y="5202079"/>
            <a:chExt cx="4693056" cy="249364"/>
          </a:xfrm>
        </p:grpSpPr>
        <p:sp>
          <p:nvSpPr>
            <p:cNvPr id="48" name="TextBox 48"/>
            <p:cNvSpPr txBox="1"/>
            <p:nvPr/>
          </p:nvSpPr>
          <p:spPr>
            <a:xfrm>
              <a:off x="526923" y="5202079"/>
              <a:ext cx="46930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UNIX：exit() 由进程自己结束；kill 由其他进程发信号终止它</a:t>
              </a:r>
            </a:p>
          </p:txBody>
        </p:sp>
      </p:grpSp>
      <p:grpSp>
        <p:nvGrpSpPr>
          <p:cNvPr id="67" name="c2-tree-1"/>
          <p:cNvGrpSpPr/>
          <p:nvPr/>
        </p:nvGrpSpPr>
        <p:grpSpPr>
          <a:xfrm>
            <a:off x="7661910" y="1671638"/>
            <a:ext cx="3833812" cy="2562224"/>
            <a:chOff x="7661910" y="1671638"/>
            <a:chExt cx="3833812" cy="2562224"/>
          </a:xfrm>
        </p:grpSpPr>
        <p:sp>
          <p:nvSpPr>
            <p:cNvPr id="50" name="Freeform 50"/>
            <p:cNvSpPr/>
            <p:nvPr/>
          </p:nvSpPr>
          <p:spPr>
            <a:xfrm>
              <a:off x="7871460" y="3309938"/>
              <a:ext cx="757238" cy="714375"/>
            </a:xfrm>
            <a:custGeom>
              <a:avLst/>
              <a:gdLst/>
              <a:ahLst/>
              <a:cxnLst/>
              <a:rect l="l" t="t" r="r" b="b"/>
              <a:pathLst>
                <a:path w="757238" h="714375">
                  <a:moveTo>
                    <a:pt x="757238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628698" y="3309938"/>
              <a:ext cx="757238" cy="714375"/>
            </a:xfrm>
            <a:custGeom>
              <a:avLst/>
              <a:gdLst/>
              <a:ahLst/>
              <a:cxnLst/>
              <a:rect l="l" t="t" r="r" b="b"/>
              <a:pathLst>
                <a:path w="757238" h="714375">
                  <a:moveTo>
                    <a:pt x="0" y="0"/>
                  </a:moveTo>
                  <a:lnTo>
                    <a:pt x="757238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8628698" y="2595562"/>
              <a:ext cx="757238" cy="714375"/>
            </a:xfrm>
            <a:custGeom>
              <a:avLst/>
              <a:gdLst/>
              <a:ahLst/>
              <a:cxnLst/>
              <a:rect l="l" t="t" r="r" b="b"/>
              <a:pathLst>
                <a:path w="757238" h="714375">
                  <a:moveTo>
                    <a:pt x="757238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9385935" y="2595562"/>
              <a:ext cx="1515428" cy="714375"/>
            </a:xfrm>
            <a:custGeom>
              <a:avLst/>
              <a:gdLst/>
              <a:ahLst/>
              <a:cxnLst/>
              <a:rect l="l" t="t" r="r" b="b"/>
              <a:pathLst>
                <a:path w="1515428" h="714375">
                  <a:moveTo>
                    <a:pt x="0" y="0"/>
                  </a:moveTo>
                  <a:lnTo>
                    <a:pt x="1515428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9385935" y="1881188"/>
              <a:ext cx="9525" cy="714375"/>
            </a:xfrm>
            <a:custGeom>
              <a:avLst/>
              <a:gdLst/>
              <a:ahLst/>
              <a:cxnLst/>
              <a:rect l="l" t="t" r="r" b="b"/>
              <a:pathLst>
                <a:path w="9525" h="714375">
                  <a:moveTo>
                    <a:pt x="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661910" y="3814762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9176385" y="3814762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8034338" y="3100388"/>
              <a:ext cx="118872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307002" y="3100388"/>
              <a:ext cx="118872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8855392" y="2386012"/>
              <a:ext cx="106203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8777288" y="1671638"/>
              <a:ext cx="121920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798462" y="3954304"/>
              <a:ext cx="145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293148" y="395430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cc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103942" y="3239929"/>
              <a:ext cx="10495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终端 1 的 shell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376607" y="3239929"/>
              <a:ext cx="10495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终端 2 的 shell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28462" y="2525554"/>
              <a:ext cx="9149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号进程 init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845348" y="1811179"/>
              <a:ext cx="1081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号进程 sched</a:t>
              </a:r>
            </a:p>
          </p:txBody>
        </p:sp>
      </p:grpSp>
      <p:grpSp>
        <p:nvGrpSpPr>
          <p:cNvPr id="74" name="c2-callout-2"/>
          <p:cNvGrpSpPr/>
          <p:nvPr/>
        </p:nvGrpSpPr>
        <p:grpSpPr>
          <a:xfrm>
            <a:off x="7114222" y="4572000"/>
            <a:ext cx="4544378" cy="828675"/>
            <a:chOff x="7114222" y="4572000"/>
            <a:chExt cx="4544378" cy="828675"/>
          </a:xfrm>
        </p:grpSpPr>
        <p:sp>
          <p:nvSpPr>
            <p:cNvPr id="68" name="Rectangle 68"/>
            <p:cNvSpPr/>
            <p:nvPr/>
          </p:nvSpPr>
          <p:spPr>
            <a:xfrm>
              <a:off x="7114222" y="4572000"/>
              <a:ext cx="4544378" cy="828675"/>
            </a:xfrm>
            <a:prstGeom prst="roundRect">
              <a:avLst>
                <a:gd name="adj" fmla="val 1379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319010" y="4886325"/>
              <a:ext cx="200026" cy="200026"/>
              <a:chOff x="7319010" y="4886325"/>
              <a:chExt cx="200026" cy="200026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19010" y="48863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419023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7407910" y="49863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7620952" y="4743450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除初始进程外，其他进程都由（父）进程创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建，形成进程家族。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进程的组成与组织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进程与程序：联系和区别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1365885"/>
            <a:chOff x="533400" y="1524000"/>
            <a:chExt cx="5626418" cy="13658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478" y="1769269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2.2.9 联系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进程包括一个程序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进程存在的目的就是执行这个程序</a:t>
              </a:r>
            </a:p>
          </p:txBody>
        </p:sp>
      </p:grpSp>
      <p:grpSp>
        <p:nvGrpSpPr>
          <p:cNvPr id="30" name="c1-table-2"/>
          <p:cNvGrpSpPr/>
          <p:nvPr/>
        </p:nvGrpSpPr>
        <p:grpSpPr>
          <a:xfrm>
            <a:off x="533400" y="3080385"/>
            <a:ext cx="5626418" cy="1795462"/>
            <a:chOff x="533400" y="3080385"/>
            <a:chExt cx="5626418" cy="1795462"/>
          </a:xfrm>
        </p:grpSpPr>
        <p:sp>
          <p:nvSpPr>
            <p:cNvPr id="16" name="Rectangle 16"/>
            <p:cNvSpPr/>
            <p:nvPr/>
          </p:nvSpPr>
          <p:spPr>
            <a:xfrm>
              <a:off x="533400" y="3080385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598574" y="32161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12259" y="32161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1223" y="36647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静态的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29153" y="36647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7287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97764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411337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可以长期保存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29153" y="411337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有生存期：创建时产生，撤销后消亡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4224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56199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一个程序可以对应多个进程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129153" y="456199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一个进程只能执行一个程序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080385"/>
              <a:ext cx="5626418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016568" y="308038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llout-3"/>
          <p:cNvGrpSpPr/>
          <p:nvPr/>
        </p:nvGrpSpPr>
        <p:grpSpPr>
          <a:xfrm>
            <a:off x="533400" y="5066348"/>
            <a:ext cx="5626418" cy="782955"/>
            <a:chOff x="533400" y="5066348"/>
            <a:chExt cx="5626418" cy="782955"/>
          </a:xfrm>
        </p:grpSpPr>
        <p:sp>
          <p:nvSpPr>
            <p:cNvPr id="31" name="Rectangle 31"/>
            <p:cNvSpPr/>
            <p:nvPr/>
          </p:nvSpPr>
          <p:spPr>
            <a:xfrm>
              <a:off x="533400" y="5066348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357813"/>
              <a:ext cx="200026" cy="200026"/>
              <a:chOff x="738188" y="5357813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3578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54244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54578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214938"/>
              <a:ext cx="46539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补充：UNIX 中进程可以调用 execl 换成另一个程序，但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任一时刻它只在执行一个程序。</a:t>
              </a:r>
            </a:p>
          </p:txBody>
        </p:sp>
      </p:grpSp>
      <p:grpSp>
        <p:nvGrpSpPr>
          <p:cNvPr id="40" name="c2-image-1"/>
          <p:cNvGrpSpPr/>
          <p:nvPr/>
        </p:nvGrpSpPr>
        <p:grpSpPr>
          <a:xfrm>
            <a:off x="6464618" y="1524000"/>
            <a:ext cx="5193982" cy="4863942"/>
            <a:chOff x="6464618" y="1524000"/>
            <a:chExt cx="5193982" cy="4863942"/>
          </a:xfrm>
        </p:grpSpPr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2"/>
            <a:srcRect l="7184" t="0" r="7185" b="0"/>
            <a:stretch>
              <a:fillRect/>
            </a:stretch>
          </p:blipFill>
          <p:spPr>
            <a:xfrm>
              <a:off x="6464618" y="1524000"/>
              <a:ext cx="5193982" cy="4549140"/>
            </a:xfrm>
            <a:prstGeom prst="roundRect">
              <a:avLst>
                <a:gd name="adj" fmla="val 2931"/>
              </a:avLst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7624013" y="616791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菜谱是程序，照着菜谱做蛋糕的过程是进程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178220" cy="3351847"/>
            <a:chOff x="667512" y="1835468"/>
            <a:chExt cx="617822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63875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进程与进程控制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1683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 UNIX 为例，看进程映像、进程状态和四个进程控制系统调用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846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2.2.10 UNIX 进程组成（映像）与状态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1249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2.2.11 fork、execl、exit、wait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08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例题：8 个程序的执行次序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3378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vfork 与 fork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05154" cy="909257"/>
            <a:chOff x="520446" y="342900"/>
            <a:chExt cx="74051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051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进程映像：常驻内存部分与内外存交换部分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image-figure"/>
          <p:cNvGrpSpPr/>
          <p:nvPr/>
        </p:nvGrpSpPr>
        <p:grpSpPr>
          <a:xfrm>
            <a:off x="666750" y="1672114"/>
            <a:ext cx="6858000" cy="4271486"/>
            <a:chOff x="666750" y="1672114"/>
            <a:chExt cx="6858000" cy="4271486"/>
          </a:xfrm>
        </p:grpSpPr>
        <p:sp>
          <p:nvSpPr>
            <p:cNvPr id="7" name="TextBox 7"/>
            <p:cNvSpPr txBox="1"/>
            <p:nvPr/>
          </p:nvSpPr>
          <p:spPr>
            <a:xfrm>
              <a:off x="1295857" y="1672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常驻内存部分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66750" y="1943100"/>
              <a:ext cx="2305050" cy="4000500"/>
            </a:xfrm>
            <a:prstGeom prst="roundRect">
              <a:avLst>
                <a:gd name="adj" fmla="val 49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876300" y="2152650"/>
              <a:ext cx="1885950" cy="3238500"/>
            </a:xfrm>
            <a:prstGeom prst="roundRect">
              <a:avLst>
                <a:gd name="adj" fmla="val 4040"/>
              </a:avLst>
            </a:prstGeom>
            <a:solidFill>
              <a:srgbClr val="E2F3F4"/>
            </a:solidFill>
            <a:ln w="11430">
              <a:solidFill>
                <a:srgbClr val="0E7C8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531239" y="55445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系统空间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104900" y="2438400"/>
              <a:ext cx="1428750" cy="5334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414323" y="2625566"/>
              <a:ext cx="809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proc 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104900" y="4191000"/>
              <a:ext cx="1428750" cy="533400"/>
            </a:xfrm>
            <a:prstGeom prst="roundRect">
              <a:avLst>
                <a:gd name="adj" fmla="val 1071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14323" y="4378166"/>
              <a:ext cx="809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text 结构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62550" y="167211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内外存交换部分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619500" y="1943100"/>
              <a:ext cx="3905250" cy="4000500"/>
            </a:xfrm>
            <a:prstGeom prst="roundRect">
              <a:avLst>
                <a:gd name="adj" fmla="val 29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829050" y="2152650"/>
              <a:ext cx="3486150" cy="1219200"/>
            </a:xfrm>
            <a:prstGeom prst="roundRect">
              <a:avLst>
                <a:gd name="adj" fmla="val 6250"/>
              </a:avLst>
            </a:prstGeom>
            <a:solidFill>
              <a:srgbClr val="E2F3F4"/>
            </a:solidFill>
            <a:ln w="11430">
              <a:solidFill>
                <a:srgbClr val="0E7C8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84089" y="31061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系统空间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057650" y="2343150"/>
              <a:ext cx="1333500" cy="47625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344734" y="2506980"/>
              <a:ext cx="7593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user 结构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53100" y="2343150"/>
              <a:ext cx="1333500" cy="47625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71438" y="250698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系统栈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829050" y="3581400"/>
              <a:ext cx="3486150" cy="2152650"/>
            </a:xfrm>
            <a:prstGeom prst="roundRect">
              <a:avLst>
                <a:gd name="adj" fmla="val 3540"/>
              </a:avLst>
            </a:prstGeom>
            <a:solidFill>
              <a:srgbClr val="E3F5F1"/>
            </a:solidFill>
            <a:ln w="11430">
              <a:solidFill>
                <a:srgbClr val="14A38B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64986" y="45839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用户空间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057650" y="3790950"/>
              <a:ext cx="1333500" cy="4191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5240">
              <a:solidFill>
                <a:srgbClr val="14A38B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395216" y="39262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进程堆栈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057650" y="4381500"/>
              <a:ext cx="1333500" cy="4191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5240">
              <a:solidFill>
                <a:srgbClr val="14A38B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395216" y="45167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进程数据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057650" y="4972050"/>
              <a:ext cx="1333500" cy="419100"/>
            </a:xfrm>
            <a:prstGeom prst="roundRect">
              <a:avLst>
                <a:gd name="adj" fmla="val 13636"/>
              </a:avLst>
            </a:prstGeom>
            <a:solidFill>
              <a:srgbClr val="FFFFFF"/>
            </a:solidFill>
            <a:ln w="15240">
              <a:solidFill>
                <a:srgbClr val="14A38B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395216" y="51073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进程代码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1819275" y="2971800"/>
              <a:ext cx="9525" cy="1114425"/>
            </a:xfrm>
            <a:custGeom>
              <a:avLst/>
              <a:gdLst/>
              <a:ahLst/>
              <a:cxnLst/>
              <a:rect l="l" t="t" r="r" b="b"/>
              <a:pathLst>
                <a:path w="9525" h="1114425">
                  <a:moveTo>
                    <a:pt x="0" y="0"/>
                  </a:moveTo>
                  <a:lnTo>
                    <a:pt x="0" y="11144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1771650" y="40767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857375" y="3489008"/>
              <a:ext cx="589598" cy="176212"/>
            </a:xfrm>
            <a:prstGeom prst="roundRect">
              <a:avLst>
                <a:gd name="adj" fmla="val 16216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890141" y="35061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B5F67"/>
                  </a:solidFill>
                  <a:latin typeface="Consolas"/>
                  <a:ea typeface="Consolas"/>
                  <a:cs typeface="Consolas"/>
                </a:rPr>
                <a:t>p_textp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2638425" y="2581275"/>
              <a:ext cx="1419225" cy="9525"/>
            </a:xfrm>
            <a:custGeom>
              <a:avLst/>
              <a:gdLst/>
              <a:ahLst/>
              <a:cxnLst/>
              <a:rect l="l" t="t" r="r" b="b"/>
              <a:pathLst>
                <a:path w="1419225" h="9525">
                  <a:moveTo>
                    <a:pt x="14192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2552700" y="2533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001328" y="2365058"/>
              <a:ext cx="589598" cy="176212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018215" y="238220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B5F67"/>
                  </a:solidFill>
                  <a:latin typeface="Consolas"/>
                  <a:ea typeface="Consolas"/>
                  <a:cs typeface="Consolas"/>
                </a:rPr>
                <a:t>u_procp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2533650" y="2819400"/>
              <a:ext cx="1419225" cy="1771650"/>
            </a:xfrm>
            <a:custGeom>
              <a:avLst/>
              <a:gdLst/>
              <a:ahLst/>
              <a:cxnLst/>
              <a:rect l="l" t="t" r="r" b="b"/>
              <a:pathLst>
                <a:path w="1419225" h="1771650">
                  <a:moveTo>
                    <a:pt x="0" y="0"/>
                  </a:moveTo>
                  <a:lnTo>
                    <a:pt x="800100" y="0"/>
                  </a:lnTo>
                  <a:lnTo>
                    <a:pt x="800100" y="1771650"/>
                  </a:lnTo>
                  <a:lnTo>
                    <a:pt x="1419225" y="17716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Polygon 40"/>
            <p:cNvSpPr/>
            <p:nvPr/>
          </p:nvSpPr>
          <p:spPr>
            <a:xfrm>
              <a:off x="3943350" y="45434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3333750" y="40005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3943350" y="39528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3352800" y="3393758"/>
              <a:ext cx="516255" cy="176212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385566" y="341090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0B5F67"/>
                  </a:solidFill>
                  <a:latin typeface="Consolas"/>
                  <a:ea typeface="Consolas"/>
                  <a:cs typeface="Consolas"/>
                </a:rPr>
                <a:t>p_addr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2533650" y="4457700"/>
              <a:ext cx="1419225" cy="723900"/>
            </a:xfrm>
            <a:custGeom>
              <a:avLst/>
              <a:gdLst/>
              <a:ahLst/>
              <a:cxnLst/>
              <a:rect l="l" t="t" r="r" b="b"/>
              <a:pathLst>
                <a:path w="1419225" h="723900">
                  <a:moveTo>
                    <a:pt x="0" y="0"/>
                  </a:moveTo>
                  <a:lnTo>
                    <a:pt x="609600" y="0"/>
                  </a:lnTo>
                  <a:lnTo>
                    <a:pt x="609600" y="723900"/>
                  </a:lnTo>
                  <a:lnTo>
                    <a:pt x="1419225" y="7239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3943350" y="51339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2525078" y="4251008"/>
              <a:ext cx="589598" cy="176212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541965" y="42681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0B5F67"/>
                  </a:solidFill>
                  <a:latin typeface="Consolas"/>
                  <a:ea typeface="Consolas"/>
                  <a:cs typeface="Consolas"/>
                </a:rPr>
                <a:t>x_caddr</a:t>
              </a:r>
            </a:p>
          </p:txBody>
        </p:sp>
      </p:grpSp>
      <p:grpSp>
        <p:nvGrpSpPr>
          <p:cNvPr id="55" name="note-proc"/>
          <p:cNvGrpSpPr/>
          <p:nvPr/>
        </p:nvGrpSpPr>
        <p:grpSpPr>
          <a:xfrm>
            <a:off x="7848600" y="1524000"/>
            <a:ext cx="3810000" cy="1524000"/>
            <a:chOff x="7848600" y="1524000"/>
            <a:chExt cx="3810000" cy="1524000"/>
          </a:xfrm>
        </p:grpSpPr>
        <p:sp>
          <p:nvSpPr>
            <p:cNvPr id="50" name="Rectangle 50"/>
            <p:cNvSpPr/>
            <p:nvPr/>
          </p:nvSpPr>
          <p:spPr>
            <a:xfrm>
              <a:off x="7848600" y="1524000"/>
              <a:ext cx="3810000" cy="1524000"/>
            </a:xfrm>
            <a:prstGeom prst="roundRect">
              <a:avLst>
                <a:gd name="adj" fmla="val 87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858125" y="1657350"/>
              <a:ext cx="47625" cy="12573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077200" y="1657350"/>
              <a:ext cx="15973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145031" y="1716881"/>
              <a:ext cx="14626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proc 结构：常驻内存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71485" y="2031206"/>
              <a:ext cx="314071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进程被换到外存后，系统仍要靠它调度、决定何时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把进程换入，所以它始终留在内存。</a:t>
              </a:r>
            </a:p>
          </p:txBody>
        </p:sp>
      </p:grpSp>
      <p:grpSp>
        <p:nvGrpSpPr>
          <p:cNvPr id="61" name="note-user"/>
          <p:cNvGrpSpPr/>
          <p:nvPr/>
        </p:nvGrpSpPr>
        <p:grpSpPr>
          <a:xfrm>
            <a:off x="7848600" y="3181350"/>
            <a:ext cx="3810000" cy="1524000"/>
            <a:chOff x="7848600" y="3181350"/>
            <a:chExt cx="3810000" cy="1524000"/>
          </a:xfrm>
        </p:grpSpPr>
        <p:sp>
          <p:nvSpPr>
            <p:cNvPr id="56" name="Rectangle 56"/>
            <p:cNvSpPr/>
            <p:nvPr/>
          </p:nvSpPr>
          <p:spPr>
            <a:xfrm>
              <a:off x="7848600" y="3181350"/>
              <a:ext cx="3810000" cy="1524000"/>
            </a:xfrm>
            <a:prstGeom prst="roundRect">
              <a:avLst>
                <a:gd name="adj" fmla="val 87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858125" y="3314700"/>
              <a:ext cx="47625" cy="12573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077200" y="3314700"/>
              <a:ext cx="145542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148980" y="3374231"/>
              <a:ext cx="13118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user 结构：可换出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071485" y="3688556"/>
              <a:ext cx="314071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只在进程位于内存时才需要，可以和进程的数据、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堆栈一起被换到外存。</a:t>
              </a:r>
            </a:p>
          </p:txBody>
        </p:sp>
      </p:grpSp>
      <p:grpSp>
        <p:nvGrpSpPr>
          <p:cNvPr id="67" name="note-text"/>
          <p:cNvGrpSpPr/>
          <p:nvPr/>
        </p:nvGrpSpPr>
        <p:grpSpPr>
          <a:xfrm>
            <a:off x="7848600" y="4838700"/>
            <a:ext cx="3810000" cy="1524000"/>
            <a:chOff x="7848600" y="4838700"/>
            <a:chExt cx="3810000" cy="1524000"/>
          </a:xfrm>
        </p:grpSpPr>
        <p:sp>
          <p:nvSpPr>
            <p:cNvPr id="62" name="Rectangle 62"/>
            <p:cNvSpPr/>
            <p:nvPr/>
          </p:nvSpPr>
          <p:spPr>
            <a:xfrm>
              <a:off x="7848600" y="4838700"/>
              <a:ext cx="3810000" cy="1524000"/>
            </a:xfrm>
            <a:prstGeom prst="roundRect">
              <a:avLst>
                <a:gd name="adj" fmla="val 87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858125" y="4972050"/>
              <a:ext cx="47625" cy="12573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8077200" y="4972050"/>
              <a:ext cx="159734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145031" y="5031581"/>
              <a:ext cx="14626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text 结构：共享正文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71485" y="5345906"/>
              <a:ext cx="3140710" cy="6486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描述进程的正文段（代码）。多个进程执行同一程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序时共用一份代码，x_count 记录引用它的进程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62798" cy="909257"/>
            <a:chOff x="520446" y="342900"/>
            <a:chExt cx="67627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627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proc 结构：进程换出后仍要留在内存的信息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950970"/>
            <a:chOff x="533400" y="1524000"/>
            <a:chExt cx="5951220" cy="39509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133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struct proc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496310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proc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p_stat;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进程状态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p_flag;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标志，如是否在内存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p_pri;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优先数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p_sig;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收到的信号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p_uid;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用户号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p_time;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驻留时间，调度用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p_cpu;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CPU 使用量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p_nice;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nice 值，调度用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p_ttyp;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控制终端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p_pid;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进程号，唯一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p_ppid;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父进程号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p_addr;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可交换映像的地址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p_size;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映像大小（×64 字节）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p_wchan;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正在等待的事件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*p_textp;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指向 text 结构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32" name="c2-table-1"/>
          <p:cNvGrpSpPr/>
          <p:nvPr/>
        </p:nvGrpSpPr>
        <p:grpSpPr>
          <a:xfrm>
            <a:off x="6789420" y="1524000"/>
            <a:ext cx="4869180" cy="2926080"/>
            <a:chOff x="6789420" y="1524000"/>
            <a:chExt cx="4869180" cy="2926080"/>
          </a:xfrm>
        </p:grpSpPr>
        <p:sp>
          <p:nvSpPr>
            <p:cNvPr id="11" name="Rectangle 11"/>
            <p:cNvSpPr/>
            <p:nvPr/>
          </p:nvSpPr>
          <p:spPr>
            <a:xfrm>
              <a:off x="6789420" y="1524000"/>
              <a:ext cx="4869180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40759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40252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相关字段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96100" y="21507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551545" y="2150745"/>
              <a:ext cx="29129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p_pid、p_ppid、p_uid、p_ttyp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789420" y="249459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789420" y="2499360"/>
              <a:ext cx="486918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6100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551545" y="2638425"/>
              <a:ext cx="2206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p_stat、p_flag、p_sig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789420" y="298227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6100" y="312610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551545" y="3126105"/>
              <a:ext cx="29533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p_pri、p_time、p_cpu、p_nice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789420" y="346995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89420" y="3474720"/>
              <a:ext cx="486918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96100" y="36137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映像位置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51545" y="3613785"/>
              <a:ext cx="2478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p_addr、p_size、p_textp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789420" y="395763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96100" y="41014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等待原因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51545" y="4101465"/>
              <a:ext cx="8330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p_wchan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789420" y="1524000"/>
              <a:ext cx="4869180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440102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2-callout-2"/>
          <p:cNvGrpSpPr/>
          <p:nvPr/>
        </p:nvGrpSpPr>
        <p:grpSpPr>
          <a:xfrm>
            <a:off x="6789420" y="4640580"/>
            <a:ext cx="4869180" cy="834390"/>
            <a:chOff x="6789420" y="4640580"/>
            <a:chExt cx="4869180" cy="834390"/>
          </a:xfrm>
        </p:grpSpPr>
        <p:sp>
          <p:nvSpPr>
            <p:cNvPr id="33" name="Rectangle 33"/>
            <p:cNvSpPr/>
            <p:nvPr/>
          </p:nvSpPr>
          <p:spPr>
            <a:xfrm>
              <a:off x="6789420" y="4640580"/>
              <a:ext cx="4869180" cy="834390"/>
            </a:xfrm>
            <a:prstGeom prst="roundRect">
              <a:avLst>
                <a:gd name="adj" fmla="val 136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994208" y="4957765"/>
              <a:ext cx="200023" cy="200023"/>
              <a:chOff x="6994208" y="4957765"/>
              <a:chExt cx="200023" cy="2000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994208" y="495776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127558" y="50244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7296150" y="4814888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进程在外存时，系统仍要据此调度、决定把谁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换入内存，所以 proc 结构必须常驻内存。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652672" cy="909257"/>
            <a:chOff x="520446" y="342900"/>
            <a:chExt cx="36526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6526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user 结构与 text 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3" name="c1-table-1"/>
          <p:cNvGrpSpPr/>
          <p:nvPr/>
        </p:nvGrpSpPr>
        <p:grpSpPr>
          <a:xfrm>
            <a:off x="533400" y="1524000"/>
            <a:ext cx="6276022" cy="4800600"/>
            <a:chOff x="533400" y="1524000"/>
            <a:chExt cx="6276022" cy="4800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744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9665" y="1645444"/>
              <a:ext cx="13118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user 结构中的字段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6610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71625" y="2045494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u_rsav[2]、u_fsav[25]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2922" y="204549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切换时保存的寄存器、浮点寄存器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6276022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5455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71625" y="2545556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u_uid、u_gid；u_ruid、u_rgid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32922" y="2445544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有效用户号、组号；实际用户号、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组号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1941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30456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71625" y="304561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u_procp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32922" y="3045619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指向本进程的 proc 结构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194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24225"/>
              <a:ext cx="6276022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545681"/>
              <a:ext cx="2790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71625" y="3545681"/>
              <a:ext cx="23032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u_base、u_count、u_offset[2]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332922" y="3445669"/>
              <a:ext cx="22730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I/O 的缓冲地址、剩余字节数、文件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内偏移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195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40457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71625" y="4045744"/>
              <a:ext cx="10819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u_cdir、u_pdir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332922" y="4045744"/>
              <a:ext cx="1790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当前目录、父目录的 inode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3195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324350"/>
              <a:ext cx="62760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55" y="44457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71625" y="4445794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u_uisa[16]、u_uisd[16]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332922" y="444579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段地址、段描述的原型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7196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555" y="48458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571625" y="4845844"/>
              <a:ext cx="19413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u_tsize、u_dsize、u_ssize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332922" y="4845844"/>
              <a:ext cx="20695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正文、数据、栈的大小（×64）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1196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124450"/>
              <a:ext cx="6276022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0555" y="5245894"/>
              <a:ext cx="580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文件与调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571625" y="5345906"/>
              <a:ext cx="2019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u_ofile[NOFILE]、u_arg[5]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332922" y="53459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打开文件指针；系统调用参数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7197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0555" y="59459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571625" y="5845969"/>
              <a:ext cx="213791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u_utime、u_stime、u_cutime、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u_cstime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332922" y="5845969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本进程及子进程的用户态、核心态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1524000"/>
              <a:ext cx="6276022" cy="48006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469708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4231005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ode-1"/>
          <p:cNvGrpSpPr/>
          <p:nvPr/>
        </p:nvGrpSpPr>
        <p:grpSpPr>
          <a:xfrm>
            <a:off x="7114222" y="1524000"/>
            <a:ext cx="4544378" cy="1912620"/>
            <a:chOff x="7114222" y="1524000"/>
            <a:chExt cx="4544378" cy="1912620"/>
          </a:xfrm>
        </p:grpSpPr>
        <p:sp>
          <p:nvSpPr>
            <p:cNvPr id="54" name="Rectangle 54"/>
            <p:cNvSpPr/>
            <p:nvPr/>
          </p:nvSpPr>
          <p:spPr>
            <a:xfrm>
              <a:off x="7114222" y="1524000"/>
              <a:ext cx="4544378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42620" y="1675924"/>
              <a:ext cx="8133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struct text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42620" y="1935956"/>
              <a:ext cx="2729357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text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x_daddr;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磁盘地址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x_caddr;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内存地址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x_size;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大小（×64）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*x_iptr;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对应 inode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x_count;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引用计数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x_ccount;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在内存的引用数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63" name="c2-callout-2"/>
          <p:cNvGrpSpPr/>
          <p:nvPr/>
        </p:nvGrpSpPr>
        <p:grpSpPr>
          <a:xfrm>
            <a:off x="7114222" y="3607118"/>
            <a:ext cx="4544378" cy="729615"/>
            <a:chOff x="7114222" y="3607118"/>
            <a:chExt cx="4544378" cy="729615"/>
          </a:xfrm>
        </p:grpSpPr>
        <p:sp>
          <p:nvSpPr>
            <p:cNvPr id="58" name="Rectangle 58"/>
            <p:cNvSpPr/>
            <p:nvPr/>
          </p:nvSpPr>
          <p:spPr>
            <a:xfrm>
              <a:off x="7114222" y="3607118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19010" y="3870962"/>
              <a:ext cx="200023" cy="200023"/>
              <a:chOff x="7319010" y="3870962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19010" y="38709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452360" y="39376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7621714" y="3752850"/>
              <a:ext cx="369989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user 结构只在进程位于内存时才用得到，可以和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进程的程序一起换到外存。</a:t>
              </a:r>
            </a:p>
          </p:txBody>
        </p:sp>
      </p:grpSp>
      <p:grpSp>
        <p:nvGrpSpPr>
          <p:cNvPr id="69" name="c2-card-3"/>
          <p:cNvGrpSpPr/>
          <p:nvPr/>
        </p:nvGrpSpPr>
        <p:grpSpPr>
          <a:xfrm>
            <a:off x="7114222" y="4506278"/>
            <a:ext cx="4544378" cy="1818322"/>
            <a:chOff x="7114222" y="4506278"/>
            <a:chExt cx="4544378" cy="1818322"/>
          </a:xfrm>
        </p:grpSpPr>
        <p:sp>
          <p:nvSpPr>
            <p:cNvPr id="64" name="Rectangle 64"/>
            <p:cNvSpPr/>
            <p:nvPr/>
          </p:nvSpPr>
          <p:spPr>
            <a:xfrm>
              <a:off x="7114222" y="4506278"/>
              <a:ext cx="4544378" cy="1818322"/>
            </a:xfrm>
            <a:prstGeom prst="roundRect">
              <a:avLst>
                <a:gd name="adj" fmla="val 73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123748" y="4639628"/>
              <a:ext cx="47625" cy="155162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7339012" y="469296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430732" y="47258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332154" y="5036820"/>
              <a:ext cx="34255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 user 结构中的 </a:t>
              </a:r>
              <a:r>
                <a:rPr lang="en-US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u_sszie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应为 </a:t>
              </a:r>
              <a:r>
                <a:rPr lang="en-US" sz="135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u_ssize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（stack size）。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629063" cy="909257"/>
            <a:chOff x="520446" y="342900"/>
            <a:chExt cx="36290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6290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进程状态及其转换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4" name="unix-states"/>
          <p:cNvGrpSpPr/>
          <p:nvPr/>
        </p:nvGrpSpPr>
        <p:grpSpPr>
          <a:xfrm>
            <a:off x="533400" y="1524000"/>
            <a:ext cx="7734300" cy="4838700"/>
            <a:chOff x="533400" y="1524000"/>
            <a:chExt cx="7734300" cy="48387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7734300" cy="4838700"/>
            </a:xfrm>
            <a:prstGeom prst="roundRect">
              <a:avLst>
                <a:gd name="adj" fmla="val 275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4057650" y="2098358"/>
              <a:ext cx="9525" cy="308610"/>
            </a:xfrm>
            <a:custGeom>
              <a:avLst/>
              <a:gdLst/>
              <a:ahLst/>
              <a:cxnLst/>
              <a:rect l="l" t="t" r="r" b="b"/>
              <a:pathLst>
                <a:path w="9525" h="308610">
                  <a:moveTo>
                    <a:pt x="0" y="30861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4010025" y="20126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4324350" y="2012632"/>
              <a:ext cx="9525" cy="308610"/>
            </a:xfrm>
            <a:custGeom>
              <a:avLst/>
              <a:gdLst/>
              <a:ahLst/>
              <a:cxnLst/>
              <a:rect l="l" t="t" r="r" b="b"/>
              <a:pathLst>
                <a:path w="9525" h="308610">
                  <a:moveTo>
                    <a:pt x="0" y="0"/>
                  </a:moveTo>
                  <a:lnTo>
                    <a:pt x="0" y="3086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4276725" y="23117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4743450" y="2628900"/>
              <a:ext cx="1266825" cy="9525"/>
            </a:xfrm>
            <a:custGeom>
              <a:avLst/>
              <a:gdLst/>
              <a:ahLst/>
              <a:cxnLst/>
              <a:rect l="l" t="t" r="r" b="b"/>
              <a:pathLst>
                <a:path w="1266825" h="9525">
                  <a:moveTo>
                    <a:pt x="0" y="0"/>
                  </a:moveTo>
                  <a:lnTo>
                    <a:pt x="12668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6000750" y="25812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690812" y="2863215"/>
              <a:ext cx="1117282" cy="681038"/>
            </a:xfrm>
            <a:custGeom>
              <a:avLst/>
              <a:gdLst/>
              <a:ahLst/>
              <a:cxnLst/>
              <a:rect l="l" t="t" r="r" b="b"/>
              <a:pathLst>
                <a:path w="1117282" h="681038">
                  <a:moveTo>
                    <a:pt x="0" y="681038"/>
                  </a:moveTo>
                  <a:lnTo>
                    <a:pt x="111728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3774758" y="2818448"/>
              <a:ext cx="106680" cy="89535"/>
            </a:xfrm>
            <a:custGeom>
              <a:avLst/>
              <a:gdLst/>
              <a:ahLst/>
              <a:cxnLst/>
              <a:rect l="l" t="t" r="r" b="b"/>
              <a:pathLst>
                <a:path w="106680" h="89535">
                  <a:moveTo>
                    <a:pt x="106680" y="0"/>
                  </a:moveTo>
                  <a:lnTo>
                    <a:pt x="49530" y="89535"/>
                  </a:lnTo>
                  <a:lnTo>
                    <a:pt x="0" y="857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191000" y="2857500"/>
              <a:ext cx="9525" cy="561975"/>
            </a:xfrm>
            <a:custGeom>
              <a:avLst/>
              <a:gdLst/>
              <a:ahLst/>
              <a:cxnLst/>
              <a:rect l="l" t="t" r="r" b="b"/>
              <a:pathLst>
                <a:path w="9525" h="561975">
                  <a:moveTo>
                    <a:pt x="0" y="0"/>
                  </a:moveTo>
                  <a:lnTo>
                    <a:pt x="0" y="5619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4143375" y="34099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4489132" y="2821305"/>
              <a:ext cx="1045845" cy="673417"/>
            </a:xfrm>
            <a:custGeom>
              <a:avLst/>
              <a:gdLst/>
              <a:ahLst/>
              <a:cxnLst/>
              <a:rect l="l" t="t" r="r" b="b"/>
              <a:pathLst>
                <a:path w="1045845" h="673417">
                  <a:moveTo>
                    <a:pt x="0" y="0"/>
                  </a:moveTo>
                  <a:lnTo>
                    <a:pt x="1045845" y="67341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5500688" y="3449955"/>
              <a:ext cx="106680" cy="91440"/>
            </a:xfrm>
            <a:custGeom>
              <a:avLst/>
              <a:gdLst/>
              <a:ahLst/>
              <a:cxnLst/>
              <a:rect l="l" t="t" r="r" b="b"/>
              <a:pathLst>
                <a:path w="106680" h="91440">
                  <a:moveTo>
                    <a:pt x="106680" y="91440"/>
                  </a:moveTo>
                  <a:lnTo>
                    <a:pt x="0" y="80010"/>
                  </a:lnTo>
                  <a:lnTo>
                    <a:pt x="523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4627245" y="2768918"/>
              <a:ext cx="2475548" cy="798195"/>
            </a:xfrm>
            <a:custGeom>
              <a:avLst/>
              <a:gdLst/>
              <a:ahLst/>
              <a:cxnLst/>
              <a:rect l="l" t="t" r="r" b="b"/>
              <a:pathLst>
                <a:path w="2475548" h="798195">
                  <a:moveTo>
                    <a:pt x="0" y="0"/>
                  </a:moveTo>
                  <a:lnTo>
                    <a:pt x="2475548" y="79819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7078980" y="3518535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75248"/>
                  </a:moveTo>
                  <a:lnTo>
                    <a:pt x="0" y="90488"/>
                  </a:lnTo>
                  <a:lnTo>
                    <a:pt x="2952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3019425" y="37338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6191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2933700" y="36861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2686050" y="3948112"/>
              <a:ext cx="3028950" cy="147638"/>
            </a:xfrm>
            <a:custGeom>
              <a:avLst/>
              <a:gdLst/>
              <a:ahLst/>
              <a:cxnLst/>
              <a:rect l="l" t="t" r="r" b="b"/>
              <a:pathLst>
                <a:path w="3028950" h="147638">
                  <a:moveTo>
                    <a:pt x="3028950" y="0"/>
                  </a:moveTo>
                  <a:lnTo>
                    <a:pt x="3028950" y="147638"/>
                  </a:lnTo>
                  <a:lnTo>
                    <a:pt x="0" y="147638"/>
                  </a:lnTo>
                  <a:lnTo>
                    <a:pt x="0" y="619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2638425" y="39243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514600" y="3948112"/>
              <a:ext cx="4914900" cy="300038"/>
            </a:xfrm>
            <a:custGeom>
              <a:avLst/>
              <a:gdLst/>
              <a:ahLst/>
              <a:cxnLst/>
              <a:rect l="l" t="t" r="r" b="b"/>
              <a:pathLst>
                <a:path w="4914900" h="300038">
                  <a:moveTo>
                    <a:pt x="4914900" y="0"/>
                  </a:moveTo>
                  <a:lnTo>
                    <a:pt x="4914900" y="300038"/>
                  </a:lnTo>
                  <a:lnTo>
                    <a:pt x="0" y="300038"/>
                  </a:lnTo>
                  <a:lnTo>
                    <a:pt x="0" y="933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Polygon 27"/>
            <p:cNvSpPr/>
            <p:nvPr/>
          </p:nvSpPr>
          <p:spPr>
            <a:xfrm>
              <a:off x="2466975" y="39557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190750" y="4033838"/>
              <a:ext cx="9525" cy="1000125"/>
            </a:xfrm>
            <a:custGeom>
              <a:avLst/>
              <a:gdLst/>
              <a:ahLst/>
              <a:cxnLst/>
              <a:rect l="l" t="t" r="r" b="b"/>
              <a:pathLst>
                <a:path w="9525" h="1000125">
                  <a:moveTo>
                    <a:pt x="0" y="0"/>
                  </a:moveTo>
                  <a:lnTo>
                    <a:pt x="0" y="10001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Polygon 29"/>
            <p:cNvSpPr/>
            <p:nvPr/>
          </p:nvSpPr>
          <p:spPr>
            <a:xfrm>
              <a:off x="2143125" y="394811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Polygon 30"/>
            <p:cNvSpPr/>
            <p:nvPr/>
          </p:nvSpPr>
          <p:spPr>
            <a:xfrm>
              <a:off x="2143125" y="50244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191000" y="3962400"/>
              <a:ext cx="9525" cy="1057275"/>
            </a:xfrm>
            <a:custGeom>
              <a:avLst/>
              <a:gdLst/>
              <a:ahLst/>
              <a:cxnLst/>
              <a:rect l="l" t="t" r="r" b="b"/>
              <a:pathLst>
                <a:path w="9525" h="1057275">
                  <a:moveTo>
                    <a:pt x="0" y="0"/>
                  </a:moveTo>
                  <a:lnTo>
                    <a:pt x="0" y="10572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4143375" y="50101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6096000" y="3948112"/>
              <a:ext cx="9525" cy="1085850"/>
            </a:xfrm>
            <a:custGeom>
              <a:avLst/>
              <a:gdLst/>
              <a:ahLst/>
              <a:cxnLst/>
              <a:rect l="l" t="t" r="r" b="b"/>
              <a:pathLst>
                <a:path w="9525" h="1085850">
                  <a:moveTo>
                    <a:pt x="0" y="0"/>
                  </a:moveTo>
                  <a:lnTo>
                    <a:pt x="0" y="10858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6048375" y="50244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7810500" y="3948112"/>
              <a:ext cx="9525" cy="1085850"/>
            </a:xfrm>
            <a:custGeom>
              <a:avLst/>
              <a:gdLst/>
              <a:ahLst/>
              <a:cxnLst/>
              <a:rect l="l" t="t" r="r" b="b"/>
              <a:pathLst>
                <a:path w="9525" h="1085850">
                  <a:moveTo>
                    <a:pt x="0" y="0"/>
                  </a:moveTo>
                  <a:lnTo>
                    <a:pt x="0" y="10858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Polygon 36"/>
            <p:cNvSpPr/>
            <p:nvPr/>
          </p:nvSpPr>
          <p:spPr>
            <a:xfrm>
              <a:off x="7762875" y="502443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1565910" y="3991928"/>
              <a:ext cx="499110" cy="406717"/>
            </a:xfrm>
            <a:custGeom>
              <a:avLst/>
              <a:gdLst/>
              <a:ahLst/>
              <a:cxnLst/>
              <a:rect l="l" t="t" r="r" b="b"/>
              <a:pathLst>
                <a:path w="499110" h="406717">
                  <a:moveTo>
                    <a:pt x="0" y="406717"/>
                  </a:moveTo>
                  <a:lnTo>
                    <a:pt x="4991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Polygon 38"/>
            <p:cNvSpPr/>
            <p:nvPr/>
          </p:nvSpPr>
          <p:spPr>
            <a:xfrm>
              <a:off x="2026920" y="3937635"/>
              <a:ext cx="103822" cy="97155"/>
            </a:xfrm>
            <a:custGeom>
              <a:avLst/>
              <a:gdLst/>
              <a:ahLst/>
              <a:cxnLst/>
              <a:rect l="l" t="t" r="r" b="b"/>
              <a:pathLst>
                <a:path w="103822" h="97155">
                  <a:moveTo>
                    <a:pt x="103822" y="0"/>
                  </a:moveTo>
                  <a:lnTo>
                    <a:pt x="60007" y="97155"/>
                  </a:lnTo>
                  <a:lnTo>
                    <a:pt x="0" y="2286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1579245" y="4740592"/>
              <a:ext cx="463867" cy="342900"/>
            </a:xfrm>
            <a:custGeom>
              <a:avLst/>
              <a:gdLst/>
              <a:ahLst/>
              <a:cxnLst/>
              <a:rect l="l" t="t" r="r" b="b"/>
              <a:pathLst>
                <a:path w="463867" h="342900">
                  <a:moveTo>
                    <a:pt x="0" y="0"/>
                  </a:moveTo>
                  <a:lnTo>
                    <a:pt x="463867" y="3429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Polygon 40"/>
            <p:cNvSpPr/>
            <p:nvPr/>
          </p:nvSpPr>
          <p:spPr>
            <a:xfrm>
              <a:off x="2006918" y="5039678"/>
              <a:ext cx="104775" cy="94297"/>
            </a:xfrm>
            <a:custGeom>
              <a:avLst/>
              <a:gdLst/>
              <a:ahLst/>
              <a:cxnLst/>
              <a:rect l="l" t="t" r="r" b="b"/>
              <a:pathLst>
                <a:path w="104775" h="94297">
                  <a:moveTo>
                    <a:pt x="104775" y="94297"/>
                  </a:moveTo>
                  <a:lnTo>
                    <a:pt x="0" y="76200"/>
                  </a:lnTo>
                  <a:lnTo>
                    <a:pt x="571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609600" y="4572000"/>
              <a:ext cx="276225" cy="9525"/>
            </a:xfrm>
            <a:custGeom>
              <a:avLst/>
              <a:gdLst/>
              <a:ahLst/>
              <a:cxnLst/>
              <a:rect l="l" t="t" r="r" b="b"/>
              <a:pathLst>
                <a:path w="276225" h="9525">
                  <a:moveTo>
                    <a:pt x="0" y="0"/>
                  </a:moveTo>
                  <a:lnTo>
                    <a:pt x="2762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876300" y="45243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3019425" y="53340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61912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Polygon 44"/>
            <p:cNvSpPr/>
            <p:nvPr/>
          </p:nvSpPr>
          <p:spPr>
            <a:xfrm>
              <a:off x="2933700" y="52863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2686050" y="5548312"/>
              <a:ext cx="3028950" cy="242888"/>
            </a:xfrm>
            <a:custGeom>
              <a:avLst/>
              <a:gdLst/>
              <a:ahLst/>
              <a:cxnLst/>
              <a:rect l="l" t="t" r="r" b="b"/>
              <a:pathLst>
                <a:path w="3028950" h="242888">
                  <a:moveTo>
                    <a:pt x="3028950" y="0"/>
                  </a:moveTo>
                  <a:lnTo>
                    <a:pt x="3028950" y="242888"/>
                  </a:lnTo>
                  <a:lnTo>
                    <a:pt x="0" y="242888"/>
                  </a:lnTo>
                  <a:lnTo>
                    <a:pt x="0" y="619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2638425" y="55245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2514600" y="5548312"/>
              <a:ext cx="4914900" cy="452438"/>
            </a:xfrm>
            <a:custGeom>
              <a:avLst/>
              <a:gdLst/>
              <a:ahLst/>
              <a:cxnLst/>
              <a:rect l="l" t="t" r="r" b="b"/>
              <a:pathLst>
                <a:path w="4914900" h="452438">
                  <a:moveTo>
                    <a:pt x="4914900" y="0"/>
                  </a:moveTo>
                  <a:lnTo>
                    <a:pt x="4914900" y="452438"/>
                  </a:lnTo>
                  <a:lnTo>
                    <a:pt x="0" y="452438"/>
                  </a:lnTo>
                  <a:lnTo>
                    <a:pt x="0" y="933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2466975" y="55559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3638550" y="1562100"/>
              <a:ext cx="11049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816020" y="1653540"/>
              <a:ext cx="7499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SRUN LOAD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040927" y="1814036"/>
              <a:ext cx="3001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user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3638550" y="2400300"/>
              <a:ext cx="11049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3816020" y="2491740"/>
              <a:ext cx="7499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SRUN LOAD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968366" y="2652236"/>
              <a:ext cx="4452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kernel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048375" y="2371725"/>
              <a:ext cx="1047750" cy="514350"/>
            </a:xfrm>
            <a:prstGeom prst="ellipse">
              <a:avLst/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6096000" y="2419350"/>
              <a:ext cx="9525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1F2937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61557" y="2563178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SZOMB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828800" y="3505200"/>
              <a:ext cx="11049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211629" y="3596640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SRUN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222962" y="37571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LOAD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3638550" y="3505200"/>
              <a:ext cx="11049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3939235" y="3596640"/>
              <a:ext cx="5035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SSLEEP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032712" y="37571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LOAD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5353050" y="3505200"/>
              <a:ext cx="11049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694807" y="3596640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SWAIT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747212" y="37571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LOAD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7067550" y="3505200"/>
              <a:ext cx="11049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409307" y="3596640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SSTOP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461712" y="37571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LOAD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971550" y="4362450"/>
              <a:ext cx="7620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182929" y="4506278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SIDL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1828800" y="5105400"/>
              <a:ext cx="1104900" cy="457200"/>
            </a:xfrm>
            <a:prstGeom prst="ellipse">
              <a:avLst/>
            </a:prstGeom>
            <a:solidFill>
              <a:srgbClr val="EEF1F6"/>
            </a:solidFill>
            <a:ln w="17145">
              <a:solidFill>
                <a:srgbClr val="5B6475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2211629" y="5196840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SRUN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2222962" y="53573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SWAP</a:t>
              </a:r>
            </a:p>
          </p:txBody>
        </p:sp>
        <p:sp>
          <p:nvSpPr>
            <p:cNvPr id="75" name="Ellipse 75"/>
            <p:cNvSpPr/>
            <p:nvPr/>
          </p:nvSpPr>
          <p:spPr>
            <a:xfrm>
              <a:off x="3638550" y="5105400"/>
              <a:ext cx="1104900" cy="457200"/>
            </a:xfrm>
            <a:prstGeom prst="ellipse">
              <a:avLst/>
            </a:prstGeom>
            <a:solidFill>
              <a:srgbClr val="EEF1F6"/>
            </a:solidFill>
            <a:ln w="17145">
              <a:solidFill>
                <a:srgbClr val="5B6475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3939235" y="5196840"/>
              <a:ext cx="5035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SSLEEP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4032712" y="53573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SWAP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5353050" y="5105400"/>
              <a:ext cx="1104900" cy="457200"/>
            </a:xfrm>
            <a:prstGeom prst="ellipse">
              <a:avLst/>
            </a:prstGeom>
            <a:solidFill>
              <a:srgbClr val="EEF1F6"/>
            </a:solidFill>
            <a:ln w="17145">
              <a:solidFill>
                <a:srgbClr val="5B6475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5694807" y="5196840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SWAIT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747212" y="53573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SWAP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7067550" y="5105400"/>
              <a:ext cx="1104900" cy="457200"/>
            </a:xfrm>
            <a:prstGeom prst="ellipse">
              <a:avLst/>
            </a:prstGeom>
            <a:solidFill>
              <a:srgbClr val="EEF1F6"/>
            </a:solidFill>
            <a:ln w="17145">
              <a:solidFill>
                <a:srgbClr val="5B6475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409307" y="5196840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SSTOP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7461712" y="5357336"/>
              <a:ext cx="3165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Consolas"/>
                  <a:ea typeface="Consolas"/>
                  <a:cs typeface="Consolas"/>
                </a:rPr>
                <a:t>SWAP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3563302" y="2136458"/>
              <a:ext cx="456248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3558464" y="2153602"/>
              <a:ext cx="4283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置PSW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4362450" y="21364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4395216" y="21536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中断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5210175" y="242220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5234940" y="2439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终止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2676525" y="2955608"/>
              <a:ext cx="74295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2689288" y="297275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处理机分派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4229100" y="30889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4261866" y="31061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睡眠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4857750" y="30508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4882515" y="3068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5924550" y="30127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5949315" y="30299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跟踪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3114675" y="352710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3139440" y="35442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唤醒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4781550" y="4012882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4806315" y="403002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唤醒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6362700" y="4165282"/>
              <a:ext cx="6096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6379464" y="41824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结束跟踪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2247900" y="4689158"/>
              <a:ext cx="682942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2280666" y="4706302"/>
              <a:ext cx="6538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换入/换出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4229100" y="46891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4261866" y="4706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换出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6134100" y="46891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6166866" y="4706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换出</a:t>
              </a:r>
            </a:p>
          </p:txBody>
        </p:sp>
        <p:sp>
          <p:nvSpPr>
            <p:cNvPr id="110" name="Rectangle 110"/>
            <p:cNvSpPr/>
            <p:nvPr/>
          </p:nvSpPr>
          <p:spPr>
            <a:xfrm>
              <a:off x="7848600" y="468915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7881366" y="47063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换出</a:t>
              </a:r>
            </a:p>
          </p:txBody>
        </p:sp>
        <p:sp>
          <p:nvSpPr>
            <p:cNvPr id="112" name="Rectangle 112"/>
            <p:cNvSpPr/>
            <p:nvPr/>
          </p:nvSpPr>
          <p:spPr>
            <a:xfrm>
              <a:off x="1571625" y="4079558"/>
              <a:ext cx="47625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1592390" y="40967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内存够</a:t>
              </a:r>
            </a:p>
          </p:txBody>
        </p:sp>
        <p:sp>
          <p:nvSpPr>
            <p:cNvPr id="114" name="Rectangle 114"/>
            <p:cNvSpPr/>
            <p:nvPr/>
          </p:nvSpPr>
          <p:spPr>
            <a:xfrm>
              <a:off x="1447800" y="4917758"/>
              <a:ext cx="6096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5" name="TextBox 115"/>
            <p:cNvSpPr txBox="1"/>
            <p:nvPr/>
          </p:nvSpPr>
          <p:spPr>
            <a:xfrm>
              <a:off x="1464564" y="49349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内存不够</a:t>
              </a:r>
            </a:p>
          </p:txBody>
        </p:sp>
        <p:sp>
          <p:nvSpPr>
            <p:cNvPr id="116" name="Rectangle 116"/>
            <p:cNvSpPr/>
            <p:nvPr/>
          </p:nvSpPr>
          <p:spPr>
            <a:xfrm>
              <a:off x="577215" y="4346258"/>
              <a:ext cx="36957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7" name="TextBox 117"/>
            <p:cNvSpPr txBox="1"/>
            <p:nvPr/>
          </p:nvSpPr>
          <p:spPr>
            <a:xfrm>
              <a:off x="601180" y="43634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fork</a:t>
              </a:r>
            </a:p>
          </p:txBody>
        </p:sp>
        <p:sp>
          <p:nvSpPr>
            <p:cNvPr id="118" name="Rectangle 118"/>
            <p:cNvSpPr/>
            <p:nvPr/>
          </p:nvSpPr>
          <p:spPr>
            <a:xfrm>
              <a:off x="3114675" y="5127308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9" name="TextBox 119"/>
            <p:cNvSpPr txBox="1"/>
            <p:nvPr/>
          </p:nvSpPr>
          <p:spPr>
            <a:xfrm>
              <a:off x="3139440" y="51444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唤醒</a:t>
              </a:r>
            </a:p>
          </p:txBody>
        </p:sp>
        <p:sp>
          <p:nvSpPr>
            <p:cNvPr id="120" name="Rectangle 120"/>
            <p:cNvSpPr/>
            <p:nvPr/>
          </p:nvSpPr>
          <p:spPr>
            <a:xfrm>
              <a:off x="4781550" y="5708332"/>
              <a:ext cx="3429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21" name="TextBox 121"/>
            <p:cNvSpPr txBox="1"/>
            <p:nvPr/>
          </p:nvSpPr>
          <p:spPr>
            <a:xfrm>
              <a:off x="4806315" y="57254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唤醒</a:t>
              </a:r>
            </a:p>
          </p:txBody>
        </p:sp>
        <p:sp>
          <p:nvSpPr>
            <p:cNvPr id="122" name="Rectangle 122"/>
            <p:cNvSpPr/>
            <p:nvPr/>
          </p:nvSpPr>
          <p:spPr>
            <a:xfrm>
              <a:off x="6362700" y="5917882"/>
              <a:ext cx="609600" cy="176212"/>
            </a:xfrm>
            <a:prstGeom prst="roundRect">
              <a:avLst>
                <a:gd name="adj" fmla="val 1621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6379464" y="59350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结束跟踪</a:t>
              </a:r>
            </a:p>
          </p:txBody>
        </p:sp>
      </p:grpSp>
      <p:grpSp>
        <p:nvGrpSpPr>
          <p:cNvPr id="149" name="state-notes"/>
          <p:cNvGrpSpPr/>
          <p:nvPr/>
        </p:nvGrpSpPr>
        <p:grpSpPr>
          <a:xfrm>
            <a:off x="8458200" y="1524000"/>
            <a:ext cx="3200400" cy="4838700"/>
            <a:chOff x="8458200" y="1524000"/>
            <a:chExt cx="3200400" cy="4838700"/>
          </a:xfrm>
        </p:grpSpPr>
        <p:sp>
          <p:nvSpPr>
            <p:cNvPr id="125" name="Rectangle 125"/>
            <p:cNvSpPr/>
            <p:nvPr/>
          </p:nvSpPr>
          <p:spPr>
            <a:xfrm>
              <a:off x="8458200" y="1524000"/>
              <a:ext cx="3200400" cy="48387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8642223" y="1672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状态名称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8643366" y="1982152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SRUN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9328785" y="197405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可运行：就绪或正在运行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8643366" y="2267902"/>
              <a:ext cx="5035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SSLEEP</a:t>
              </a:r>
            </a:p>
          </p:txBody>
        </p:sp>
        <p:sp>
          <p:nvSpPr>
            <p:cNvPr id="130" name="TextBox 130"/>
            <p:cNvSpPr txBox="1"/>
            <p:nvPr/>
          </p:nvSpPr>
          <p:spPr>
            <a:xfrm>
              <a:off x="9328785" y="225980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高优先级睡眠，不响应信号</a:t>
              </a: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8643366" y="2553652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SWAIT</a:t>
              </a:r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9328785" y="254555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低优先级睡眠，可被信号唤醒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8643366" y="2839402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SSTOP</a:t>
              </a:r>
            </a:p>
          </p:txBody>
        </p:sp>
        <p:sp>
          <p:nvSpPr>
            <p:cNvPr id="134" name="TextBox 134"/>
            <p:cNvSpPr txBox="1"/>
            <p:nvPr/>
          </p:nvSpPr>
          <p:spPr>
            <a:xfrm>
              <a:off x="9328785" y="28313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被跟踪（调试）而暂停</a:t>
              </a:r>
            </a:p>
          </p:txBody>
        </p:sp>
        <p:sp>
          <p:nvSpPr>
            <p:cNvPr id="135" name="TextBox 135"/>
            <p:cNvSpPr txBox="1"/>
            <p:nvPr/>
          </p:nvSpPr>
          <p:spPr>
            <a:xfrm>
              <a:off x="8643366" y="3125152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SIDL</a:t>
              </a:r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9328785" y="311705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创建过程中的中间状态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8643366" y="3410902"/>
              <a:ext cx="4213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SZOMB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9328785" y="34028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僵死：已终止，等父进程回收</a:t>
              </a:r>
            </a:p>
          </p:txBody>
        </p:sp>
        <p:sp>
          <p:nvSpPr>
            <p:cNvPr id="139" name="TextBox 139"/>
            <p:cNvSpPr txBox="1"/>
            <p:nvPr/>
          </p:nvSpPr>
          <p:spPr>
            <a:xfrm>
              <a:off x="8643366" y="3696652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LOAD</a:t>
              </a:r>
            </a:p>
          </p:txBody>
        </p:sp>
        <p:sp>
          <p:nvSpPr>
            <p:cNvPr id="140" name="TextBox 140"/>
            <p:cNvSpPr txBox="1"/>
            <p:nvPr/>
          </p:nvSpPr>
          <p:spPr>
            <a:xfrm>
              <a:off x="9328785" y="36885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映像在内存中</a:t>
              </a:r>
            </a:p>
          </p:txBody>
        </p:sp>
        <p:sp>
          <p:nvSpPr>
            <p:cNvPr id="141" name="TextBox 141"/>
            <p:cNvSpPr txBox="1"/>
            <p:nvPr/>
          </p:nvSpPr>
          <p:spPr>
            <a:xfrm>
              <a:off x="8643366" y="3982402"/>
              <a:ext cx="3392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SWAP</a:t>
              </a:r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9328785" y="397430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映像已换出到外存</a:t>
              </a:r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8643366" y="426815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user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9328785" y="42600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用户态运行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8643366" y="4553902"/>
              <a:ext cx="477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kernel</a:t>
              </a:r>
            </a:p>
          </p:txBody>
        </p:sp>
        <p:sp>
          <p:nvSpPr>
            <p:cNvPr id="146" name="TextBox 146"/>
            <p:cNvSpPr txBox="1"/>
            <p:nvPr/>
          </p:nvSpPr>
          <p:spPr>
            <a:xfrm>
              <a:off x="9328785" y="45458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核心态运行</a:t>
              </a:r>
            </a:p>
          </p:txBody>
        </p:sp>
        <p:sp>
          <p:nvSpPr>
            <p:cNvPr id="147" name="Rectangle 147"/>
            <p:cNvSpPr/>
            <p:nvPr/>
          </p:nvSpPr>
          <p:spPr>
            <a:xfrm>
              <a:off x="8610600" y="4972050"/>
              <a:ext cx="28956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8" name="TextBox 148"/>
            <p:cNvSpPr txBox="1"/>
            <p:nvPr/>
          </p:nvSpPr>
          <p:spPr>
            <a:xfrm>
              <a:off x="8642985" y="5117306"/>
              <a:ext cx="2678430" cy="8486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对照五状态模型：SIDL 对应初创，SRUN 对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应就绪和运行，SSLEEP、SWAIT 对应等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待，SZOMB 对应终止。UNIX 另外区分了是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否换出、是否被跟踪。</a:t>
              </a:r>
            </a:p>
          </p:txBody>
        </p:sp>
      </p:grpSp>
      <p:grpSp>
        <p:nvGrpSpPr>
          <p:cNvPr id="1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0" name="TextBox 15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03758" cy="909257"/>
            <a:chOff x="520446" y="342900"/>
            <a:chExt cx="800375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0375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四个进程控制系统调用：fork、execl、exit、wait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11125200" cy="3238500"/>
            <a:chOff x="533400" y="1524000"/>
            <a:chExt cx="11125200" cy="3238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2594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052060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08708" y="16630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返回值与说明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284095"/>
              <a:ext cx="12555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 = fork()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644265" y="2150745"/>
              <a:ext cx="3063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创建子进程，子进程是父进程的复制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92315" y="2150745"/>
              <a:ext cx="42538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父进程得到子进程号（&gt; 0），子进程得到 0；失败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 −1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61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6606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2905125"/>
              <a:ext cx="2065496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execl(prog, arg0, …,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argn-1, 0)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44265" y="2905125"/>
              <a:ext cx="29203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 arg0 … argn-1 为参数执行程序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prog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92315" y="2905125"/>
              <a:ext cx="39776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覆盖原来的程序，从 prog 的第一条指令开始执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行；参数表以 0 结尾；成功时不返回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156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659505"/>
              <a:ext cx="13616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exit(status)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44265" y="365950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进程自我结束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92315" y="3659505"/>
              <a:ext cx="29634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status 为终止状态；唤醒父进程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03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00812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4280535"/>
              <a:ext cx="20612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 = wait(&amp;status)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44265" y="428053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等待子进程终止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92315" y="4147185"/>
              <a:ext cx="41300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返回终止的子进程编号；status 带回该子进程的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终止状态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11125200" cy="3238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532822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80872" y="1524000"/>
              <a:ext cx="9525" cy="3238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callout-2"/>
          <p:cNvGrpSpPr/>
          <p:nvPr/>
        </p:nvGrpSpPr>
        <p:grpSpPr>
          <a:xfrm>
            <a:off x="533400" y="4953000"/>
            <a:ext cx="11125200" cy="1409700"/>
            <a:chOff x="533400" y="4953000"/>
            <a:chExt cx="11125200" cy="1409700"/>
          </a:xfrm>
        </p:grpSpPr>
        <p:sp>
          <p:nvSpPr>
            <p:cNvPr id="32" name="Rectangle 32"/>
            <p:cNvSpPr/>
            <p:nvPr/>
          </p:nvSpPr>
          <p:spPr>
            <a:xfrm>
              <a:off x="533400" y="4953000"/>
              <a:ext cx="11125200" cy="1409700"/>
            </a:xfrm>
            <a:prstGeom prst="roundRect">
              <a:avLst>
                <a:gd name="adj" fmla="val 810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557838"/>
              <a:ext cx="200026" cy="200025"/>
              <a:chOff x="738188" y="5557838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55783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560228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571341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414962"/>
              <a:ext cx="9978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fork 调用一次、返回两次：父进程和子进程各从 fork 返回一次，返回值不同，程序靠返回值判断自己是父进程还是子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进程。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06079" cy="909257"/>
            <a:chOff x="520446" y="342900"/>
            <a:chExt cx="71060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060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 之后：同一段代码，父子进程走不同分支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977765" cy="1877378"/>
            <a:chOff x="533400" y="1524000"/>
            <a:chExt cx="4977765" cy="18773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877378"/>
            </a:xfrm>
            <a:prstGeom prst="roundRect">
              <a:avLst>
                <a:gd name="adj" fmla="val 507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父进程的程序（子进程复制了同一份）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0273" y="1940719"/>
              <a:ext cx="1719834" cy="13971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pid = fork();</a:t>
              </a:r>
              <a:br/>
              <a:r>
                <a:rPr lang="en-US" sz="12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0) {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子进程代码 */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} </a:t>
              </a:r>
              <a:r>
                <a:rPr lang="en-US" sz="128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父进程代码 */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3591878"/>
            <a:ext cx="4977765" cy="1059180"/>
            <a:chOff x="533400" y="3591878"/>
            <a:chExt cx="4977765" cy="1059180"/>
          </a:xfrm>
        </p:grpSpPr>
        <p:sp>
          <p:nvSpPr>
            <p:cNvPr id="11" name="Rectangle 11"/>
            <p:cNvSpPr/>
            <p:nvPr/>
          </p:nvSpPr>
          <p:spPr>
            <a:xfrm>
              <a:off x="533400" y="3591878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4021455"/>
              <a:ext cx="200026" cy="200026"/>
              <a:chOff x="738188" y="4021455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40214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40881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412146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3740468"/>
              <a:ext cx="39776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 复制 proc 结构、user 结构和整个地址空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间。子进程从 fork 返回处开始执行，而不是从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程序开头执行。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5815965" y="1524000"/>
            <a:ext cx="5842635" cy="3459480"/>
            <a:chOff x="5815965" y="1524000"/>
            <a:chExt cx="5842635" cy="3459480"/>
          </a:xfrm>
        </p:grpSpPr>
        <p:sp>
          <p:nvSpPr>
            <p:cNvPr id="18" name="Rectangle 18"/>
            <p:cNvSpPr/>
            <p:nvPr/>
          </p:nvSpPr>
          <p:spPr>
            <a:xfrm>
              <a:off x="5815965" y="1524000"/>
              <a:ext cx="5842635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81750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80083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父进程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25100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子进程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22645" y="2150745"/>
              <a:ext cx="545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p_pid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527447" y="215074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516933" y="2150745"/>
              <a:ext cx="2373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815965" y="24945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815965" y="249936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22645" y="2638425"/>
              <a:ext cx="6619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p_ppid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27447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572464" y="2638425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815965" y="29822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22645" y="3126105"/>
              <a:ext cx="13530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 的返回值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66126" y="3126105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12（子进程号）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082784" y="3126105"/>
              <a:ext cx="1105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0（恒为 0）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34699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15965" y="3474720"/>
              <a:ext cx="584263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22645" y="3613785"/>
              <a:ext cx="1376839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 == 0 是否成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80083" y="374713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不成立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426065" y="374713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成立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15965" y="42243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22645" y="45015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执行的分支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97165" y="4368165"/>
              <a:ext cx="15868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else 分支：父进程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51708" y="4368165"/>
              <a:ext cx="15678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if 分支：子进程代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1524000"/>
              <a:ext cx="5842635" cy="3459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563802" y="1524000"/>
              <a:ext cx="9525" cy="3459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608820" y="1524000"/>
              <a:ext cx="9525" cy="3459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callout-2"/>
          <p:cNvGrpSpPr/>
          <p:nvPr/>
        </p:nvGrpSpPr>
        <p:grpSpPr>
          <a:xfrm>
            <a:off x="5815965" y="5173980"/>
            <a:ext cx="5842635" cy="782955"/>
            <a:chOff x="5815965" y="5173980"/>
            <a:chExt cx="5842635" cy="782955"/>
          </a:xfrm>
        </p:grpSpPr>
        <p:sp>
          <p:nvSpPr>
            <p:cNvPr id="47" name="Rectangle 47"/>
            <p:cNvSpPr/>
            <p:nvPr/>
          </p:nvSpPr>
          <p:spPr>
            <a:xfrm>
              <a:off x="5815965" y="517398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020753" y="5465447"/>
              <a:ext cx="200023" cy="200023"/>
              <a:chOff x="6020753" y="5465447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020753" y="54654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154103" y="55321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322695" y="5322570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复制之后两个进程的数据各是一份：子进程修改自己的变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量，父进程看不到。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40346" cy="909257"/>
            <a:chOff x="520446" y="342900"/>
            <a:chExt cx="52403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403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execl 换程序，exit 与 wait 收尾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869180" cy="2014538"/>
            <a:chOff x="533400" y="1524000"/>
            <a:chExt cx="4869180" cy="20145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2014538"/>
            </a:xfrm>
            <a:prstGeom prst="roundRect">
              <a:avLst>
                <a:gd name="adj" fmla="val 472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父进程的程序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0654" y="1939290"/>
              <a:ext cx="3204972" cy="1532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02"/>
                </a:lnSpc>
              </a:pP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pid = fork();</a:t>
              </a:r>
              <a:br/>
              <a:r>
                <a:rPr lang="en-US" sz="120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0) {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execl(</a:t>
              </a:r>
              <a:r>
                <a:rPr lang="en-US" sz="12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"P"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0);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子进程换成 P */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} </a:t>
              </a:r>
              <a:r>
                <a:rPr lang="en-US" sz="120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父进程代码 */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id = wait(&amp;s);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等子进程结束 */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729038"/>
            <a:ext cx="4869180" cy="932498"/>
            <a:chOff x="533400" y="3729038"/>
            <a:chExt cx="4869180" cy="932498"/>
          </a:xfrm>
        </p:grpSpPr>
        <p:sp>
          <p:nvSpPr>
            <p:cNvPr id="11" name="Rectangle 11"/>
            <p:cNvSpPr/>
            <p:nvPr/>
          </p:nvSpPr>
          <p:spPr>
            <a:xfrm>
              <a:off x="533400" y="3729038"/>
              <a:ext cx="4869180" cy="932498"/>
            </a:xfrm>
            <a:prstGeom prst="roundRect">
              <a:avLst>
                <a:gd name="adj" fmla="val 1021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880961"/>
              <a:ext cx="3981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 P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0654" y="4144327"/>
              <a:ext cx="3204972" cy="4509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02"/>
                </a:lnSpc>
              </a:pP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...              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P 的工作 */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exit(2);         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终止状态为 2 */</a:t>
              </a:r>
            </a:p>
          </p:txBody>
        </p:sp>
      </p:grpSp>
      <p:grpSp>
        <p:nvGrpSpPr>
          <p:cNvPr id="32" name="c2-steps-1"/>
          <p:cNvGrpSpPr/>
          <p:nvPr/>
        </p:nvGrpSpPr>
        <p:grpSpPr>
          <a:xfrm>
            <a:off x="5707380" y="1533525"/>
            <a:ext cx="5692521" cy="2764440"/>
            <a:chOff x="5707380" y="1533525"/>
            <a:chExt cx="5692521" cy="2764440"/>
          </a:xfrm>
        </p:grpSpPr>
        <p:sp>
          <p:nvSpPr>
            <p:cNvPr id="15" name="Rectangle 15"/>
            <p:cNvSpPr/>
            <p:nvPr/>
          </p:nvSpPr>
          <p:spPr>
            <a:xfrm>
              <a:off x="5840730" y="1676400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707380" y="21840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80100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707380" y="30699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80100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707380" y="37204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01004" y="37942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118860" y="1567815"/>
              <a:ext cx="4816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20003" y="1861661"/>
              <a:ext cx="5061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子进程（pid 12）复制了父进程（pid 9），在 if 分支中调用 execl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18860" y="2218372"/>
              <a:ext cx="545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execl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120003" y="2512219"/>
              <a:ext cx="52798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子进程的程序被 P 覆盖，从 P 的第一条指令开始执行；pid 仍为 12，父进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程仍是 9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18860" y="3104198"/>
              <a:ext cx="428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exit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20003" y="3397091"/>
              <a:ext cx="44324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执行 exit(2)：子进程终止，终止状态为 2，唤醒父进程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18860" y="3754755"/>
              <a:ext cx="4710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20003" y="4048601"/>
              <a:ext cx="43552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父进程的 wait(&amp;s) 返回 12，s 中带回子进程的终止状态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5707380" y="4475798"/>
            <a:ext cx="5951220" cy="782955"/>
            <a:chOff x="5707380" y="4475798"/>
            <a:chExt cx="5951220" cy="782955"/>
          </a:xfrm>
        </p:grpSpPr>
        <p:sp>
          <p:nvSpPr>
            <p:cNvPr id="33" name="Rectangle 33"/>
            <p:cNvSpPr/>
            <p:nvPr/>
          </p:nvSpPr>
          <p:spPr>
            <a:xfrm>
              <a:off x="5707380" y="4475798"/>
              <a:ext cx="595122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5912168" y="4767263"/>
              <a:ext cx="200026" cy="200026"/>
              <a:chOff x="5912168" y="4767263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912168" y="47672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012180" y="48339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001068" y="48672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214110" y="4624388"/>
              <a:ext cx="4882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在实际的 UNIX/Linux 中，退出码存放在 s 的 8–15 位，要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WEXITSTATUS(s) 才能取出 2。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64380" cy="909257"/>
            <a:chOff x="520446" y="342900"/>
            <a:chExt cx="96643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643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例题：用 fork、execl、wait、exit 描述 8 个程序的执行次序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graph-1"/>
          <p:cNvGrpSpPr/>
          <p:nvPr/>
        </p:nvGrpSpPr>
        <p:grpSpPr>
          <a:xfrm>
            <a:off x="737235" y="1632585"/>
            <a:ext cx="3660457" cy="4600575"/>
            <a:chOff x="737235" y="1632585"/>
            <a:chExt cx="3660457" cy="4600575"/>
          </a:xfrm>
        </p:grpSpPr>
        <p:sp>
          <p:nvSpPr>
            <p:cNvPr id="7" name="Freeform 7"/>
            <p:cNvSpPr/>
            <p:nvPr/>
          </p:nvSpPr>
          <p:spPr>
            <a:xfrm>
              <a:off x="1736408" y="2018348"/>
              <a:ext cx="782002" cy="682943"/>
            </a:xfrm>
            <a:custGeom>
              <a:avLst/>
              <a:gdLst/>
              <a:ahLst/>
              <a:cxnLst/>
              <a:rect l="l" t="t" r="r" b="b"/>
              <a:pathLst>
                <a:path w="782002" h="682943">
                  <a:moveTo>
                    <a:pt x="782002" y="0"/>
                  </a:moveTo>
                  <a:lnTo>
                    <a:pt x="0" y="68294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664970" y="2666048"/>
              <a:ext cx="102870" cy="98108"/>
            </a:xfrm>
            <a:custGeom>
              <a:avLst/>
              <a:gdLst/>
              <a:ahLst/>
              <a:cxnLst/>
              <a:rect l="l" t="t" r="r" b="b"/>
              <a:pathLst>
                <a:path w="102870" h="98108">
                  <a:moveTo>
                    <a:pt x="0" y="98108"/>
                  </a:moveTo>
                  <a:lnTo>
                    <a:pt x="40005" y="0"/>
                  </a:lnTo>
                  <a:lnTo>
                    <a:pt x="102870" y="7143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716530" y="2098358"/>
              <a:ext cx="40005" cy="490538"/>
            </a:xfrm>
            <a:custGeom>
              <a:avLst/>
              <a:gdLst/>
              <a:ahLst/>
              <a:cxnLst/>
              <a:rect l="l" t="t" r="r" b="b"/>
              <a:pathLst>
                <a:path w="40005" h="490538">
                  <a:moveTo>
                    <a:pt x="0" y="0"/>
                  </a:moveTo>
                  <a:lnTo>
                    <a:pt x="40005" y="49053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09862" y="2585085"/>
              <a:ext cx="94297" cy="99060"/>
            </a:xfrm>
            <a:custGeom>
              <a:avLst/>
              <a:gdLst/>
              <a:ahLst/>
              <a:cxnLst/>
              <a:rect l="l" t="t" r="r" b="b"/>
              <a:pathLst>
                <a:path w="94297" h="99060">
                  <a:moveTo>
                    <a:pt x="55245" y="99060"/>
                  </a:moveTo>
                  <a:lnTo>
                    <a:pt x="0" y="7620"/>
                  </a:lnTo>
                  <a:lnTo>
                    <a:pt x="9429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890838" y="2000250"/>
              <a:ext cx="1007745" cy="725805"/>
            </a:xfrm>
            <a:custGeom>
              <a:avLst/>
              <a:gdLst/>
              <a:ahLst/>
              <a:cxnLst/>
              <a:rect l="l" t="t" r="r" b="b"/>
              <a:pathLst>
                <a:path w="1007745" h="725805">
                  <a:moveTo>
                    <a:pt x="0" y="0"/>
                  </a:moveTo>
                  <a:lnTo>
                    <a:pt x="1007745" y="7258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870960" y="2687955"/>
              <a:ext cx="104775" cy="94298"/>
            </a:xfrm>
            <a:custGeom>
              <a:avLst/>
              <a:gdLst/>
              <a:ahLst/>
              <a:cxnLst/>
              <a:rect l="l" t="t" r="r" b="b"/>
              <a:pathLst>
                <a:path w="104775" h="94298">
                  <a:moveTo>
                    <a:pt x="104775" y="94298"/>
                  </a:moveTo>
                  <a:lnTo>
                    <a:pt x="0" y="77153"/>
                  </a:lnTo>
                  <a:lnTo>
                    <a:pt x="5524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112520" y="3134678"/>
              <a:ext cx="268605" cy="546735"/>
            </a:xfrm>
            <a:custGeom>
              <a:avLst/>
              <a:gdLst/>
              <a:ahLst/>
              <a:cxnLst/>
              <a:rect l="l" t="t" r="r" b="b"/>
              <a:pathLst>
                <a:path w="268605" h="546735">
                  <a:moveTo>
                    <a:pt x="268605" y="0"/>
                  </a:moveTo>
                  <a:lnTo>
                    <a:pt x="0" y="5467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070610" y="3660458"/>
              <a:ext cx="84772" cy="106680"/>
            </a:xfrm>
            <a:custGeom>
              <a:avLst/>
              <a:gdLst/>
              <a:ahLst/>
              <a:cxnLst/>
              <a:rect l="l" t="t" r="r" b="b"/>
              <a:pathLst>
                <a:path w="84772" h="106680">
                  <a:moveTo>
                    <a:pt x="0" y="106680"/>
                  </a:moveTo>
                  <a:lnTo>
                    <a:pt x="0" y="0"/>
                  </a:lnTo>
                  <a:lnTo>
                    <a:pt x="84772" y="419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604010" y="3128010"/>
              <a:ext cx="321945" cy="563880"/>
            </a:xfrm>
            <a:custGeom>
              <a:avLst/>
              <a:gdLst/>
              <a:ahLst/>
              <a:cxnLst/>
              <a:rect l="l" t="t" r="r" b="b"/>
              <a:pathLst>
                <a:path w="321945" h="563880">
                  <a:moveTo>
                    <a:pt x="0" y="0"/>
                  </a:moveTo>
                  <a:lnTo>
                    <a:pt x="321945" y="5638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884998" y="3668078"/>
              <a:ext cx="88582" cy="106680"/>
            </a:xfrm>
            <a:custGeom>
              <a:avLst/>
              <a:gdLst/>
              <a:ahLst/>
              <a:cxnLst/>
              <a:rect l="l" t="t" r="r" b="b"/>
              <a:pathLst>
                <a:path w="88582" h="106680">
                  <a:moveTo>
                    <a:pt x="88582" y="106680"/>
                  </a:moveTo>
                  <a:lnTo>
                    <a:pt x="0" y="47625"/>
                  </a:lnTo>
                  <a:lnTo>
                    <a:pt x="8286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566035" y="3157538"/>
              <a:ext cx="188595" cy="1503997"/>
            </a:xfrm>
            <a:custGeom>
              <a:avLst/>
              <a:gdLst/>
              <a:ahLst/>
              <a:cxnLst/>
              <a:rect l="l" t="t" r="r" b="b"/>
              <a:pathLst>
                <a:path w="188595" h="1503997">
                  <a:moveTo>
                    <a:pt x="188595" y="0"/>
                  </a:moveTo>
                  <a:lnTo>
                    <a:pt x="0" y="15039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518410" y="4655820"/>
              <a:ext cx="94298" cy="100965"/>
            </a:xfrm>
            <a:custGeom>
              <a:avLst/>
              <a:gdLst/>
              <a:ahLst/>
              <a:cxnLst/>
              <a:rect l="l" t="t" r="r" b="b"/>
              <a:pathLst>
                <a:path w="94298" h="100965">
                  <a:moveTo>
                    <a:pt x="35243" y="100965"/>
                  </a:moveTo>
                  <a:lnTo>
                    <a:pt x="0" y="0"/>
                  </a:lnTo>
                  <a:lnTo>
                    <a:pt x="94298" y="1238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185035" y="4199572"/>
              <a:ext cx="208598" cy="486728"/>
            </a:xfrm>
            <a:custGeom>
              <a:avLst/>
              <a:gdLst/>
              <a:ahLst/>
              <a:cxnLst/>
              <a:rect l="l" t="t" r="r" b="b"/>
              <a:pathLst>
                <a:path w="208598" h="486728">
                  <a:moveTo>
                    <a:pt x="0" y="0"/>
                  </a:moveTo>
                  <a:lnTo>
                    <a:pt x="208598" y="4867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349818" y="4667250"/>
              <a:ext cx="87630" cy="106680"/>
            </a:xfrm>
            <a:custGeom>
              <a:avLst/>
              <a:gdLst/>
              <a:ahLst/>
              <a:cxnLst/>
              <a:rect l="l" t="t" r="r" b="b"/>
              <a:pathLst>
                <a:path w="87630" h="106680">
                  <a:moveTo>
                    <a:pt x="80962" y="106680"/>
                  </a:moveTo>
                  <a:lnTo>
                    <a:pt x="0" y="38100"/>
                  </a:lnTo>
                  <a:lnTo>
                    <a:pt x="8763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124902" y="4158615"/>
              <a:ext cx="1436370" cy="1598295"/>
            </a:xfrm>
            <a:custGeom>
              <a:avLst/>
              <a:gdLst/>
              <a:ahLst/>
              <a:cxnLst/>
              <a:rect l="l" t="t" r="r" b="b"/>
              <a:pathLst>
                <a:path w="1436370" h="1598295">
                  <a:moveTo>
                    <a:pt x="0" y="0"/>
                  </a:moveTo>
                  <a:lnTo>
                    <a:pt x="1436370" y="159829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526030" y="5724525"/>
              <a:ext cx="99060" cy="102870"/>
            </a:xfrm>
            <a:custGeom>
              <a:avLst/>
              <a:gdLst/>
              <a:ahLst/>
              <a:cxnLst/>
              <a:rect l="l" t="t" r="r" b="b"/>
              <a:pathLst>
                <a:path w="99060" h="102870">
                  <a:moveTo>
                    <a:pt x="99060" y="102870"/>
                  </a:moveTo>
                  <a:lnTo>
                    <a:pt x="0" y="63818"/>
                  </a:lnTo>
                  <a:lnTo>
                    <a:pt x="7048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583180" y="5223510"/>
              <a:ext cx="118110" cy="458153"/>
            </a:xfrm>
            <a:custGeom>
              <a:avLst/>
              <a:gdLst/>
              <a:ahLst/>
              <a:cxnLst/>
              <a:rect l="l" t="t" r="r" b="b"/>
              <a:pathLst>
                <a:path w="118110" h="458153">
                  <a:moveTo>
                    <a:pt x="0" y="0"/>
                  </a:moveTo>
                  <a:lnTo>
                    <a:pt x="118110" y="4581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654618" y="5669280"/>
              <a:ext cx="92392" cy="104775"/>
            </a:xfrm>
            <a:custGeom>
              <a:avLst/>
              <a:gdLst/>
              <a:ahLst/>
              <a:cxnLst/>
              <a:rect l="l" t="t" r="r" b="b"/>
              <a:pathLst>
                <a:path w="92392" h="104775">
                  <a:moveTo>
                    <a:pt x="70485" y="104775"/>
                  </a:moveTo>
                  <a:lnTo>
                    <a:pt x="0" y="23812"/>
                  </a:lnTo>
                  <a:lnTo>
                    <a:pt x="9239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2920365" y="3138488"/>
              <a:ext cx="1151572" cy="2562225"/>
            </a:xfrm>
            <a:custGeom>
              <a:avLst/>
              <a:gdLst/>
              <a:ahLst/>
              <a:cxnLst/>
              <a:rect l="l" t="t" r="r" b="b"/>
              <a:pathLst>
                <a:path w="1151572" h="2562225">
                  <a:moveTo>
                    <a:pt x="1151572" y="0"/>
                  </a:moveTo>
                  <a:lnTo>
                    <a:pt x="0" y="25622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877502" y="5680710"/>
              <a:ext cx="86677" cy="106680"/>
            </a:xfrm>
            <a:custGeom>
              <a:avLst/>
              <a:gdLst/>
              <a:ahLst/>
              <a:cxnLst/>
              <a:rect l="l" t="t" r="r" b="b"/>
              <a:pathLst>
                <a:path w="86677" h="106680">
                  <a:moveTo>
                    <a:pt x="3810" y="106680"/>
                  </a:moveTo>
                  <a:lnTo>
                    <a:pt x="0" y="0"/>
                  </a:lnTo>
                  <a:lnTo>
                    <a:pt x="86677" y="3905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2468880" y="1632585"/>
              <a:ext cx="457200" cy="45720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8" name="Ellipse 28"/>
            <p:cNvSpPr/>
            <p:nvPr/>
          </p:nvSpPr>
          <p:spPr>
            <a:xfrm>
              <a:off x="1257300" y="2692718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2555558" y="2692718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3940492" y="2692718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737235" y="3752850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1863090" y="3752850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2295525" y="4764405"/>
              <a:ext cx="457200" cy="4572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2555558" y="5775960"/>
              <a:ext cx="457200" cy="45720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585859" y="178165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374279" y="2841784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672537" y="2841784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057472" y="2841784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4214" y="390191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980069" y="390191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412504" y="491347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P7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672537" y="5925026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P8</a:t>
              </a:r>
            </a:p>
          </p:txBody>
        </p:sp>
      </p:grpSp>
      <p:grpSp>
        <p:nvGrpSpPr>
          <p:cNvPr id="65" name="c2-table-1"/>
          <p:cNvGrpSpPr/>
          <p:nvPr/>
        </p:nvGrpSpPr>
        <p:grpSpPr>
          <a:xfrm>
            <a:off x="5166360" y="1524000"/>
            <a:ext cx="6492240" cy="2926080"/>
            <a:chOff x="5166360" y="1524000"/>
            <a:chExt cx="6492240" cy="2926080"/>
          </a:xfrm>
        </p:grpSpPr>
        <p:sp>
          <p:nvSpPr>
            <p:cNvPr id="44" name="Rectangle 44"/>
            <p:cNvSpPr/>
            <p:nvPr/>
          </p:nvSpPr>
          <p:spPr>
            <a:xfrm>
              <a:off x="5166360" y="1524000"/>
              <a:ext cx="6492240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6549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505825" y="16630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什么时候可以开始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273040" y="2150745"/>
              <a:ext cx="2616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90410" y="21507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最先执行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166360" y="249459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166360" y="2499360"/>
              <a:ext cx="649224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73040" y="2638425"/>
              <a:ext cx="1158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P2、P3、P4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90410" y="2638425"/>
              <a:ext cx="2333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结束后，三者并发执行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166360" y="298227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273040" y="3126105"/>
              <a:ext cx="7100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P5、P6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90410" y="3126105"/>
              <a:ext cx="9197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结束后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166360" y="346995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166360" y="3474720"/>
              <a:ext cx="649224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273040" y="3613785"/>
              <a:ext cx="2616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090410" y="3613785"/>
              <a:ext cx="16863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和 P6 都结束后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166360" y="39576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273040" y="4101465"/>
              <a:ext cx="2616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P8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090410" y="4101465"/>
              <a:ext cx="19949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P4、P5、P7 都结束后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166360" y="1524000"/>
              <a:ext cx="6492240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978968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5" name="c2-card-2"/>
          <p:cNvGrpSpPr/>
          <p:nvPr/>
        </p:nvGrpSpPr>
        <p:grpSpPr>
          <a:xfrm>
            <a:off x="5166360" y="4640580"/>
            <a:ext cx="6492240" cy="1701165"/>
            <a:chOff x="5166360" y="4640580"/>
            <a:chExt cx="6492240" cy="1701165"/>
          </a:xfrm>
        </p:grpSpPr>
        <p:sp>
          <p:nvSpPr>
            <p:cNvPr id="66" name="Rectangle 66"/>
            <p:cNvSpPr/>
            <p:nvPr/>
          </p:nvSpPr>
          <p:spPr>
            <a:xfrm>
              <a:off x="5166360" y="4640580"/>
              <a:ext cx="6492240" cy="1701165"/>
            </a:xfrm>
            <a:prstGeom prst="roundRect">
              <a:avLst>
                <a:gd name="adj" fmla="val 783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5375910" y="485013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458219" y="488584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编程思路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5381625" y="52901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5539740" y="5227320"/>
              <a:ext cx="33369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主程序用 fork + execl 启动一个程序</a:t>
              </a:r>
            </a:p>
          </p:txBody>
        </p:sp>
        <p:sp>
          <p:nvSpPr>
            <p:cNvPr id="71" name="Ellipse 71"/>
            <p:cNvSpPr/>
            <p:nvPr/>
          </p:nvSpPr>
          <p:spPr>
            <a:xfrm>
              <a:off x="5381625" y="56254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5539740" y="5562600"/>
              <a:ext cx="52434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 wait 收集结束的子进程，用变量 end_pi 记下 Pi 已结束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5381625" y="596074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539740" y="589788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某个程序的前驱全部结束后，再启动它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09204" cy="909257"/>
            <a:chOff x="520446" y="342900"/>
            <a:chExt cx="81092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092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例题解答（上）：启动 P1，再并发启动 P2、P3、P4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492240" cy="4153852"/>
            <a:chOff x="533400" y="1524000"/>
            <a:chExt cx="6492240" cy="41538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153852"/>
            </a:xfrm>
            <a:prstGeom prst="roundRect">
              <a:avLst>
                <a:gd name="adj" fmla="val 22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4938712"/>
              <a:ext cx="645414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5141595"/>
              <a:ext cx="645414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035" y="1937861"/>
              <a:ext cx="4314190" cy="36690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main()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pid1, pid2, pid3, pid4, pid5, pid6, pid7, pid8;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end_p1 = 0, end_p2 = 0, end_p3 = 0, end_p4 = 0;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end_p5 = 0, end_p6 = 0, end_p7 = 0, end_p8 = 0;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pid, status;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((pid1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"P1"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wait(&amp;status);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等 P1 结束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((pid2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"P2"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((pid3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"P3"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((pid4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"P4"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do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   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等 P2 结束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pid = wait(&amp;status);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pid2) end_p2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pid3) end_p3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pid4) end_p4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(end_p2 == 0);</a:t>
              </a:r>
            </a:p>
          </p:txBody>
        </p:sp>
      </p:grpSp>
      <p:grpSp>
        <p:nvGrpSpPr>
          <p:cNvPr id="26" name="c2-steps-1"/>
          <p:cNvGrpSpPr/>
          <p:nvPr/>
        </p:nvGrpSpPr>
        <p:grpSpPr>
          <a:xfrm>
            <a:off x="7330440" y="1533525"/>
            <a:ext cx="4026281" cy="2112931"/>
            <a:chOff x="7330440" y="1533525"/>
            <a:chExt cx="4026281" cy="2112931"/>
          </a:xfrm>
        </p:grpSpPr>
        <p:sp>
          <p:nvSpPr>
            <p:cNvPr id="13" name="Rectangle 13"/>
            <p:cNvSpPr/>
            <p:nvPr/>
          </p:nvSpPr>
          <p:spPr>
            <a:xfrm>
              <a:off x="746379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733044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2406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330440" y="21840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2406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330440" y="283464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42406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41920" y="1567815"/>
              <a:ext cx="7327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 P1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3063" y="1861661"/>
              <a:ext cx="30162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 出子进程执行 P1，wait 等它结束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41920" y="2218372"/>
              <a:ext cx="20333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并发启动 P2、P3、P4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43063" y="2512219"/>
              <a:ext cx="29078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 fork 三次，三个子进程同时运行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41920" y="2868930"/>
              <a:ext cx="5308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 P2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43063" y="3162776"/>
              <a:ext cx="36136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 wait 返回任意一个已结束的子进程，直到 P2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结束才退出循环</a:t>
              </a:r>
            </a:p>
          </p:txBody>
        </p:sp>
      </p:grpSp>
      <p:grpSp>
        <p:nvGrpSpPr>
          <p:cNvPr id="33" name="c2-callout-2"/>
          <p:cNvGrpSpPr/>
          <p:nvPr/>
        </p:nvGrpSpPr>
        <p:grpSpPr>
          <a:xfrm>
            <a:off x="7330440" y="3825240"/>
            <a:ext cx="4328160" cy="1852612"/>
            <a:chOff x="7330440" y="3825240"/>
            <a:chExt cx="4328160" cy="1852612"/>
          </a:xfrm>
        </p:grpSpPr>
        <p:sp>
          <p:nvSpPr>
            <p:cNvPr id="27" name="Rectangle 27"/>
            <p:cNvSpPr/>
            <p:nvPr/>
          </p:nvSpPr>
          <p:spPr>
            <a:xfrm>
              <a:off x="7330440" y="3825240"/>
              <a:ext cx="4328160" cy="1852612"/>
            </a:xfrm>
            <a:prstGeom prst="roundRect">
              <a:avLst>
                <a:gd name="adj" fmla="val 617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523169" y="4648318"/>
              <a:ext cx="224134" cy="192560"/>
              <a:chOff x="7523169" y="4648318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635240" y="47186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523169" y="46483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635240" y="47964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7837170" y="4371022"/>
              <a:ext cx="33489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易错：循环里也要记下 P3、P4（高亮两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行）。它们可能比 P2 先结束，这里不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记，后面等 P3 的循环就永远等不到。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36708" cy="909257"/>
            <a:chOff x="520446" y="342900"/>
            <a:chExt cx="633670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3670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例题解答（下）：按前驱关系启动 P5–P8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492240" cy="4559618"/>
            <a:chOff x="533400" y="1524000"/>
            <a:chExt cx="6492240" cy="45596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559618"/>
            </a:xfrm>
            <a:prstGeom prst="roundRect">
              <a:avLst>
                <a:gd name="adj" fmla="val 208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712462" cy="4074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((pid5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"P5"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((pid6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"P6"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do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   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等 P3 和 P6 结束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pid = wait(&amp;status);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pid3) end_p3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pid4) end_p4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pid5) end_p5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pid6) end_p6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(end_p3 == 0 || end_p6 ==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((pid7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"P7"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do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          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等 P4、P5、P7 结束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pid = wait(&amp;status);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pid4) end_p4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pid5) end_p5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(pid == pid7) end_p7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(end_p4 == 0 || end_p5 == 0 || end_p7 == 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((pid8 = fork()) == 0) execl(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"P8"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0);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wait(&amp;status);     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等 P8 结束 */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exit(0);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4" name="c2-steps-1"/>
          <p:cNvGrpSpPr/>
          <p:nvPr/>
        </p:nvGrpSpPr>
        <p:grpSpPr>
          <a:xfrm>
            <a:off x="7330440" y="1533525"/>
            <a:ext cx="4115689" cy="2112930"/>
            <a:chOff x="7330440" y="1533525"/>
            <a:chExt cx="4115689" cy="2112930"/>
          </a:xfrm>
        </p:grpSpPr>
        <p:sp>
          <p:nvSpPr>
            <p:cNvPr id="11" name="Rectangle 11"/>
            <p:cNvSpPr/>
            <p:nvPr/>
          </p:nvSpPr>
          <p:spPr>
            <a:xfrm>
              <a:off x="7463790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733044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42406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30440" y="241935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2406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330440" y="30699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2406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41920" y="1567815"/>
              <a:ext cx="934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结束后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43063" y="1861661"/>
              <a:ext cx="37030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 P5、P6；等到 P3、P6 都结束（P3 可能已在上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一个循环中记下）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741920" y="2453640"/>
              <a:ext cx="1383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P3、P6 结束后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3063" y="2746534"/>
              <a:ext cx="27010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 P7；等到 P4、P5、P7 都结束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41920" y="310419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43063" y="3397091"/>
              <a:ext cx="32574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 P8，wait 等它结束，主程序 exit(0)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7330440" y="3825240"/>
            <a:ext cx="4328160" cy="2258378"/>
            <a:chOff x="7330440" y="3825240"/>
            <a:chExt cx="4328160" cy="2258378"/>
          </a:xfrm>
        </p:grpSpPr>
        <p:sp>
          <p:nvSpPr>
            <p:cNvPr id="25" name="Rectangle 25"/>
            <p:cNvSpPr/>
            <p:nvPr/>
          </p:nvSpPr>
          <p:spPr>
            <a:xfrm>
              <a:off x="7330440" y="3825240"/>
              <a:ext cx="4328160" cy="2258378"/>
            </a:xfrm>
            <a:prstGeom prst="roundRect">
              <a:avLst>
                <a:gd name="adj" fmla="val 59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339965" y="3958590"/>
              <a:ext cx="47625" cy="19916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78090" y="403479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68298" y="4070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583805" y="447484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741920" y="4411980"/>
              <a:ext cx="33775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原课件写作 </a:t>
              </a:r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int end_p1=end_p2=…</a:t>
              </a:r>
              <a:br/>
              <a:r>
                <a:rPr lang="en-US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=end_p8=0;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，不是合法的 C 声明，应逐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个初始化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583805" y="53816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741920" y="5318760"/>
              <a:ext cx="21153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原课件中的 </a:t>
              </a:r>
              <a:r>
                <a:rPr lang="zh-CN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= =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应为 </a:t>
              </a:r>
              <a:r>
                <a:rPr lang="zh-CN" sz="1500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==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02469" cy="909257"/>
            <a:chOff x="520446" y="342900"/>
            <a:chExt cx="58024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31946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54661" y="407194"/>
              <a:ext cx="3277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UNIX 进程与进程控制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024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vfork 与 fork：要不要复制地址空间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5951220" cy="2762250"/>
            <a:chOff x="533400" y="1524000"/>
            <a:chExt cx="5951220" cy="27622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9654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345858" y="1652588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fork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63267" y="165258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vfork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076450"/>
              <a:ext cx="1583436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复制控制结构（proc、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user）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58999" y="218313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23054" y="218313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8127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86038"/>
              <a:ext cx="595122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714625"/>
              <a:ext cx="1688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复制地址空间（代码、数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据、栈）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58999" y="282130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23054" y="282130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否，父子进程共享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21945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335280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父子进程的数据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58999" y="335280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两份各自独立的拷贝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23054" y="335280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同一份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64331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648075"/>
              <a:ext cx="595122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88334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适合的用法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58999" y="3776662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子进程继续执行原来的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23054" y="3776662"/>
              <a:ext cx="16733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子进程马上用 execve 加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载新程序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5951220" cy="2762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551748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515802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card-2"/>
          <p:cNvGrpSpPr/>
          <p:nvPr/>
        </p:nvGrpSpPr>
        <p:grpSpPr>
          <a:xfrm>
            <a:off x="533400" y="4466272"/>
            <a:ext cx="5951220" cy="1840230"/>
            <a:chOff x="533400" y="4466272"/>
            <a:chExt cx="5951220" cy="1840230"/>
          </a:xfrm>
        </p:grpSpPr>
        <p:sp>
          <p:nvSpPr>
            <p:cNvPr id="32" name="Rectangle 32"/>
            <p:cNvSpPr/>
            <p:nvPr/>
          </p:nvSpPr>
          <p:spPr>
            <a:xfrm>
              <a:off x="533400" y="4466272"/>
              <a:ext cx="5951220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599622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69620" y="46643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61060" y="46986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77240" y="508539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33831" y="5024914"/>
              <a:ext cx="510908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 vfork 后，父进程要等子进程执行 execve 或退出，才继续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77240" y="567499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33831" y="5614511"/>
              <a:ext cx="504596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现代系统的 fork 采用写时复制（copy-on-write），不再立即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复制整个地址空间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789420" y="1524000"/>
            <a:ext cx="4869180" cy="2111692"/>
            <a:chOff x="6789420" y="1524000"/>
            <a:chExt cx="4869180" cy="2111692"/>
          </a:xfrm>
        </p:grpSpPr>
        <p:sp>
          <p:nvSpPr>
            <p:cNvPr id="41" name="Rectangle 41"/>
            <p:cNvSpPr/>
            <p:nvPr/>
          </p:nvSpPr>
          <p:spPr>
            <a:xfrm>
              <a:off x="6789420" y="1524000"/>
              <a:ext cx="4869180" cy="2111692"/>
            </a:xfrm>
            <a:prstGeom prst="roundRect">
              <a:avLst>
                <a:gd name="adj" fmla="val 63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98945" y="1657350"/>
              <a:ext cx="47625" cy="184499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025640" y="1722120"/>
              <a:ext cx="96012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102816" y="1756410"/>
              <a:ext cx="8057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fork 的问题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025640" y="2070735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83985" y="2110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16534" y="2082641"/>
              <a:ext cx="39819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不加载新程序：父子数据是两份独立拷贝，不能通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过共享变量交换数据，描述不了“有界缓冲区”这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类问题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025640" y="293084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83985" y="297118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316534" y="2943701"/>
              <a:ext cx="38016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加载新程序：刚复制的地址空间马上被新程序覆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盖，复制白白浪费时间和空间</a:t>
              </a:r>
            </a:p>
          </p:txBody>
        </p:sp>
      </p:grpSp>
      <p:grpSp>
        <p:nvGrpSpPr>
          <p:cNvPr id="61" name="c2-card-2"/>
          <p:cNvGrpSpPr/>
          <p:nvPr/>
        </p:nvGrpSpPr>
        <p:grpSpPr>
          <a:xfrm>
            <a:off x="6789420" y="3815715"/>
            <a:ext cx="4869180" cy="2490788"/>
            <a:chOff x="6789420" y="3815715"/>
            <a:chExt cx="4869180" cy="2490788"/>
          </a:xfrm>
        </p:grpSpPr>
        <p:sp>
          <p:nvSpPr>
            <p:cNvPr id="52" name="Rectangle 52"/>
            <p:cNvSpPr/>
            <p:nvPr/>
          </p:nvSpPr>
          <p:spPr>
            <a:xfrm>
              <a:off x="6789420" y="3815715"/>
              <a:ext cx="4869180" cy="2490788"/>
            </a:xfrm>
            <a:prstGeom prst="roundRect">
              <a:avLst>
                <a:gd name="adj" fmla="val 5354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987540" y="4013835"/>
              <a:ext cx="1036320" cy="247650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062001" y="4048125"/>
              <a:ext cx="887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vfork 的用法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995160" y="4434840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151751" y="4374356"/>
              <a:ext cx="25664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父进程使用 vfork 创建子进程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995160" y="475297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151751" y="4692491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子进程与父进程共享地址空间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6995160" y="507015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151751" y="5010626"/>
              <a:ext cx="34362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子进程使用 execve 改变其虚拟地址空间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556064" cy="3351847"/>
            <a:chOff x="667512" y="1835468"/>
            <a:chExt cx="355606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线程与轻进程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进程负责拥有资源，线程负责执行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9129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2.3.1–2.3.2 线程的引入与概念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3167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2.3.3–2.3.4 线程结构与线程控制块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542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2.3.5 用户级、核心级与混合线程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2.3.6 线程的应用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71613" cy="909257"/>
            <a:chOff x="520446" y="342900"/>
            <a:chExt cx="55716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716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为什么引入线程：进程切换太“笨重”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11125200" cy="1800225"/>
            <a:chOff x="533400" y="1524000"/>
            <a:chExt cx="11125200" cy="1800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353050" cy="18002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335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7047" y="1738312"/>
              <a:ext cx="13226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2.3.1 进程切换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2478" y="21145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8497" y="2058352"/>
              <a:ext cx="42913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上下文内容多：PCB + 程序 + 系统环境（地址空间、系统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栈、打开文件表）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67462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618422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切换开销大，显得“笨重”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97656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92036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相关进程之间耦合关系差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05550" y="1524000"/>
              <a:ext cx="5353050" cy="1800225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315075" y="1657350"/>
              <a:ext cx="47625" cy="15335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29197" y="1738312"/>
              <a:ext cx="33063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解决方案：多线程（Multi-threading）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544628" y="21145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00647" y="205835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同一进程中包含多个线程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544628" y="241744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00647" y="236124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上下文只涉及寄存器和用户栈，切换快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544628" y="271938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00647" y="266319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相关线程之间通讯方便、快捷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934075" y="226218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10546" y="2363629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2" name="c1-table-2"/>
          <p:cNvGrpSpPr/>
          <p:nvPr/>
        </p:nvGrpSpPr>
        <p:grpSpPr>
          <a:xfrm>
            <a:off x="533400" y="3499485"/>
            <a:ext cx="11125200" cy="2028825"/>
            <a:chOff x="533400" y="3499485"/>
            <a:chExt cx="11125200" cy="2028825"/>
          </a:xfrm>
        </p:grpSpPr>
        <p:sp>
          <p:nvSpPr>
            <p:cNvPr id="28" name="Rectangle 28"/>
            <p:cNvSpPr/>
            <p:nvPr/>
          </p:nvSpPr>
          <p:spPr>
            <a:xfrm>
              <a:off x="533400" y="3499485"/>
              <a:ext cx="11125200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514704" y="362378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切换时要保存或更换的内容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843981" y="36237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进程切换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63546" y="362378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同一进程内的线程切换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3412" y="4029551"/>
              <a:ext cx="14850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寄存器（含 PC、SP）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15790" y="40295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87678" y="40295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3062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431101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3412" y="443531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415790" y="443531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87678" y="443531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71201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3412" y="48410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地址空间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415790" y="48410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087678" y="484108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否，线程共用进程的地址空间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51177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512254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3412" y="524684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打开文件表等资源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415790" y="524684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087678" y="524684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否，线程共用进程的资源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3499485"/>
              <a:ext cx="11125200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4311015" y="349948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982902" y="349948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1-callout-3"/>
          <p:cNvGrpSpPr/>
          <p:nvPr/>
        </p:nvGrpSpPr>
        <p:grpSpPr>
          <a:xfrm>
            <a:off x="533400" y="5702618"/>
            <a:ext cx="11125200" cy="660082"/>
            <a:chOff x="533400" y="5702618"/>
            <a:chExt cx="11125200" cy="660082"/>
          </a:xfrm>
        </p:grpSpPr>
        <p:sp>
          <p:nvSpPr>
            <p:cNvPr id="53" name="Rectangle 53"/>
            <p:cNvSpPr/>
            <p:nvPr/>
          </p:nvSpPr>
          <p:spPr>
            <a:xfrm>
              <a:off x="533400" y="5702618"/>
              <a:ext cx="11125200" cy="660082"/>
            </a:xfrm>
            <a:prstGeom prst="roundRect">
              <a:avLst>
                <a:gd name="adj" fmla="val 17316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5933125"/>
              <a:ext cx="200023" cy="200023"/>
              <a:chOff x="738188" y="5933125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59331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71538" y="59997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5938838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思路：把进程拥有的资源和执行流分开，一个进程里放多条执行流，共用这些资源。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线程：进程中一个相对独立的执行流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049655"/>
            <a:chOff x="533400" y="1524000"/>
            <a:chExt cx="5410200" cy="10496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049655"/>
            </a:xfrm>
            <a:prstGeom prst="roundRect">
              <a:avLst>
                <a:gd name="adj" fmla="val 127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7829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478" y="1769269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2.3.2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37372" y="1768792"/>
              <a:ext cx="15292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线程（Thread）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进程中一个相对独立的执行流。</a:t>
              </a:r>
            </a:p>
          </p:txBody>
        </p:sp>
      </p:grpSp>
      <p:grpSp>
        <p:nvGrpSpPr>
          <p:cNvPr id="29" name="c1-table-2"/>
          <p:cNvGrpSpPr/>
          <p:nvPr/>
        </p:nvGrpSpPr>
        <p:grpSpPr>
          <a:xfrm>
            <a:off x="533400" y="2764155"/>
            <a:ext cx="5410200" cy="1573530"/>
            <a:chOff x="533400" y="2764155"/>
            <a:chExt cx="5410200" cy="1573530"/>
          </a:xfrm>
        </p:grpSpPr>
        <p:sp>
          <p:nvSpPr>
            <p:cNvPr id="14" name="Rectangle 14"/>
            <p:cNvSpPr/>
            <p:nvPr/>
          </p:nvSpPr>
          <p:spPr>
            <a:xfrm>
              <a:off x="533400" y="2764155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9922" y="28998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99652" y="28998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09439" y="28998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1223" y="33485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31848" y="33485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41636" y="3348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执行单位（调度单位）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6566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661410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91048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拥有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31848" y="3797141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地址空间、打开文件等资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41636" y="391048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寄存器、栈等执行现场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2764155"/>
              <a:ext cx="5410200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719262" y="2764155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3829050" y="2764155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card-3"/>
          <p:cNvGrpSpPr/>
          <p:nvPr/>
        </p:nvGrpSpPr>
        <p:grpSpPr>
          <a:xfrm>
            <a:off x="533400" y="4528185"/>
            <a:ext cx="5410200" cy="1701165"/>
            <a:chOff x="533400" y="4528185"/>
            <a:chExt cx="5410200" cy="1701165"/>
          </a:xfrm>
        </p:grpSpPr>
        <p:sp>
          <p:nvSpPr>
            <p:cNvPr id="30" name="Rectangle 30"/>
            <p:cNvSpPr/>
            <p:nvPr/>
          </p:nvSpPr>
          <p:spPr>
            <a:xfrm>
              <a:off x="533400" y="4528185"/>
              <a:ext cx="5410200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42925" y="4661535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81050" y="473773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54507" y="477345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多线程的优点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86765" y="517779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4880" y="5114925"/>
              <a:ext cx="42355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切换速度快：地址空间不变（light weighted）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6765" y="55130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44880" y="545020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系统开销小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86765" y="584835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4880" y="57854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通讯容易：共享数据空间</a:t>
              </a:r>
            </a:p>
          </p:txBody>
        </p:sp>
      </p:grpSp>
      <p:grpSp>
        <p:nvGrpSpPr>
          <p:cNvPr id="43" name="c2-image-1"/>
          <p:cNvGrpSpPr/>
          <p:nvPr/>
        </p:nvGrpSpPr>
        <p:grpSpPr>
          <a:xfrm>
            <a:off x="6248400" y="1524000"/>
            <a:ext cx="5410200" cy="4863942"/>
            <a:chOff x="6248400" y="1524000"/>
            <a:chExt cx="5410200" cy="4863942"/>
          </a:xfrm>
        </p:grpSpPr>
        <p:pic>
          <p:nvPicPr>
            <p:cNvPr id="41" name="Image 41"/>
            <p:cNvPicPr>
              <a:picLocks noChangeAspect="1"/>
            </p:cNvPicPr>
            <p:nvPr/>
          </p:nvPicPr>
          <p:blipFill>
            <a:blip r:embed="rId2"/>
            <a:srcRect l="5402" t="0" r="5402" b="0"/>
            <a:stretch>
              <a:fillRect/>
            </a:stretch>
          </p:blipFill>
          <p:spPr>
            <a:xfrm>
              <a:off x="6248400" y="1524000"/>
              <a:ext cx="5410200" cy="4549140"/>
            </a:xfrm>
            <a:prstGeom prst="roundRect">
              <a:avLst>
                <a:gd name="adj" fmla="val 2931"/>
              </a:avLst>
            </a:prstGeom>
          </p:spPr>
        </p:pic>
        <p:sp>
          <p:nvSpPr>
            <p:cNvPr id="42" name="TextBox 42"/>
            <p:cNvSpPr txBox="1"/>
            <p:nvPr/>
          </p:nvSpPr>
          <p:spPr>
            <a:xfrm>
              <a:off x="6686169" y="6167914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冰箱、食材架大家共用（进程的资源），厨师各用各的案板（线程）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61042" cy="909257"/>
            <a:chOff x="520446" y="342900"/>
            <a:chExt cx="69610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610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2.3.3 线程结构：多进程与多线程的用户视图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multi-process"/>
          <p:cNvGrpSpPr/>
          <p:nvPr/>
        </p:nvGrpSpPr>
        <p:grpSpPr>
          <a:xfrm>
            <a:off x="533400" y="1524000"/>
            <a:ext cx="5448300" cy="3352800"/>
            <a:chOff x="533400" y="1524000"/>
            <a:chExt cx="5448300" cy="33528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48300" cy="3352800"/>
            </a:xfrm>
            <a:prstGeom prst="roundRect">
              <a:avLst>
                <a:gd name="adj" fmla="val 39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423" y="169116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多进程：每个进程有自己的内存和寄存器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85800" y="1962150"/>
              <a:ext cx="2495550" cy="2762250"/>
            </a:xfrm>
            <a:prstGeom prst="roundRect">
              <a:avLst>
                <a:gd name="adj" fmla="val 45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2104" y="2118360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1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2152650" y="2076450"/>
              <a:ext cx="876300" cy="32385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2358923" y="216931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00100" y="2514600"/>
              <a:ext cx="2266950" cy="2095500"/>
            </a:xfrm>
            <a:prstGeom prst="roundRect">
              <a:avLst>
                <a:gd name="adj" fmla="val 3636"/>
              </a:avLst>
            </a:prstGeom>
            <a:solidFill>
              <a:srgbClr val="E3F5F1"/>
            </a:solidFill>
            <a:ln w="11430">
              <a:solidFill>
                <a:srgbClr val="14A38B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09066" y="26108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内存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14400" y="2857500"/>
              <a:ext cx="1181100" cy="43815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73073" y="300751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动态堆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14400" y="3409950"/>
              <a:ext cx="1181100" cy="43815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197686" y="35599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静态数据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914400" y="3962400"/>
              <a:ext cx="1181100" cy="43815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97686" y="411241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程序代码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247900" y="2857500"/>
              <a:ext cx="685800" cy="154305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509698" y="355520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333750" y="1962150"/>
              <a:ext cx="2495550" cy="2762250"/>
            </a:xfrm>
            <a:prstGeom prst="roundRect">
              <a:avLst>
                <a:gd name="adj" fmla="val 45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480054" y="2118360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2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800600" y="2076450"/>
              <a:ext cx="876300" cy="32385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006873" y="216931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448050" y="2514600"/>
              <a:ext cx="2266950" cy="2095500"/>
            </a:xfrm>
            <a:prstGeom prst="roundRect">
              <a:avLst>
                <a:gd name="adj" fmla="val 3636"/>
              </a:avLst>
            </a:prstGeom>
            <a:solidFill>
              <a:srgbClr val="E3F5F1"/>
            </a:solidFill>
            <a:ln w="11430">
              <a:solidFill>
                <a:srgbClr val="14A38B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57016" y="26108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内存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562350" y="2857500"/>
              <a:ext cx="1181100" cy="43815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21023" y="300751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动态堆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562350" y="3409950"/>
              <a:ext cx="1181100" cy="43815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845636" y="35599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静态数据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562350" y="3962400"/>
              <a:ext cx="1181100" cy="43815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845636" y="411241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程序代码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895850" y="2857500"/>
              <a:ext cx="685800" cy="154305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157648" y="355520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</a:t>
              </a:r>
            </a:p>
          </p:txBody>
        </p:sp>
      </p:grpSp>
      <p:grpSp>
        <p:nvGrpSpPr>
          <p:cNvPr id="62" name="multi-thread"/>
          <p:cNvGrpSpPr/>
          <p:nvPr/>
        </p:nvGrpSpPr>
        <p:grpSpPr>
          <a:xfrm>
            <a:off x="6210300" y="1524000"/>
            <a:ext cx="5448300" cy="3352800"/>
            <a:chOff x="6210300" y="1524000"/>
            <a:chExt cx="5448300" cy="3352800"/>
          </a:xfrm>
        </p:grpSpPr>
        <p:sp>
          <p:nvSpPr>
            <p:cNvPr id="38" name="Rectangle 38"/>
            <p:cNvSpPr/>
            <p:nvPr/>
          </p:nvSpPr>
          <p:spPr>
            <a:xfrm>
              <a:off x="6210300" y="1524000"/>
              <a:ext cx="5448300" cy="3352800"/>
            </a:xfrm>
            <a:prstGeom prst="roundRect">
              <a:avLst>
                <a:gd name="adj" fmla="val 39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94323" y="169116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多线程：线程共享进程的内存，各有寄存器和栈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62700" y="1962150"/>
              <a:ext cx="5143500" cy="2762250"/>
            </a:xfrm>
            <a:prstGeom prst="roundRect">
              <a:avLst>
                <a:gd name="adj" fmla="val 4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09004" y="21183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77000" y="2762250"/>
              <a:ext cx="4914900" cy="1847850"/>
            </a:xfrm>
            <a:prstGeom prst="roundRect">
              <a:avLst>
                <a:gd name="adj" fmla="val 4124"/>
              </a:avLst>
            </a:prstGeom>
            <a:solidFill>
              <a:srgbClr val="E3F5F1"/>
            </a:solidFill>
            <a:ln w="11430">
              <a:solidFill>
                <a:srgbClr val="14A38B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85966" y="28584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内存（共享）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591300" y="3105150"/>
              <a:ext cx="1238250" cy="419100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78548" y="32456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动态堆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591300" y="3600450"/>
              <a:ext cx="1238250" cy="419100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903161" y="37409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静态数据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591300" y="4095750"/>
              <a:ext cx="1238250" cy="419100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903161" y="42362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程序代码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248650" y="2057400"/>
              <a:ext cx="1409700" cy="2495550"/>
            </a:xfrm>
            <a:prstGeom prst="roundRect">
              <a:avLst>
                <a:gd name="adj" fmla="val 6757"/>
              </a:avLst>
            </a:prstGeom>
            <a:noFill/>
            <a:ln w="15240">
              <a:solidFill>
                <a:srgbClr val="F26B3A"/>
              </a:solidFill>
              <a:custDash>
                <a:ds d="375000" sp="250000"/>
              </a:custDash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729728" y="216455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线程 1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8515350" y="2381250"/>
              <a:ext cx="876300" cy="30480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721623" y="24645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3009900"/>
              <a:ext cx="685800" cy="142875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872398" y="36504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791700" y="2057400"/>
              <a:ext cx="1409700" cy="2495550"/>
            </a:xfrm>
            <a:prstGeom prst="roundRect">
              <a:avLst>
                <a:gd name="adj" fmla="val 6757"/>
              </a:avLst>
            </a:prstGeom>
            <a:noFill/>
            <a:ln w="15240">
              <a:solidFill>
                <a:srgbClr val="F26B3A"/>
              </a:solidFill>
              <a:custDash>
                <a:ds d="375000" sp="250000"/>
              </a:custDash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72778" y="216455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线程 2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10058400" y="2381250"/>
              <a:ext cx="876300" cy="30480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0264673" y="24645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10153650" y="3009900"/>
              <a:ext cx="685800" cy="1428750"/>
            </a:xfrm>
            <a:prstGeom prst="roundRect">
              <a:avLst>
                <a:gd name="adj" fmla="val 694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0415448" y="36504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</a:t>
              </a:r>
            </a:p>
          </p:txBody>
        </p:sp>
      </p:grpSp>
      <p:grpSp>
        <p:nvGrpSpPr>
          <p:cNvPr id="68" name="n-shared"/>
          <p:cNvGrpSpPr/>
          <p:nvPr/>
        </p:nvGrpSpPr>
        <p:grpSpPr>
          <a:xfrm>
            <a:off x="533400" y="5029200"/>
            <a:ext cx="3555682" cy="1333500"/>
            <a:chOff x="533400" y="5029200"/>
            <a:chExt cx="3555682" cy="1333500"/>
          </a:xfrm>
        </p:grpSpPr>
        <p:sp>
          <p:nvSpPr>
            <p:cNvPr id="63" name="Rectangle 63"/>
            <p:cNvSpPr/>
            <p:nvPr/>
          </p:nvSpPr>
          <p:spPr>
            <a:xfrm>
              <a:off x="533400" y="5029200"/>
              <a:ext cx="3555682" cy="13335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542925" y="5162550"/>
              <a:ext cx="47625" cy="10668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762000" y="5162550"/>
              <a:ext cx="108204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44982" y="522208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线程之间共享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6285" y="5536406"/>
              <a:ext cx="285623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程序代码、静态数据、动态堆，以及打开的文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件等进程资源。</a:t>
              </a:r>
            </a:p>
          </p:txBody>
        </p:sp>
      </p:grpSp>
      <p:grpSp>
        <p:nvGrpSpPr>
          <p:cNvPr id="74" name="n-private"/>
          <p:cNvGrpSpPr/>
          <p:nvPr/>
        </p:nvGrpSpPr>
        <p:grpSpPr>
          <a:xfrm>
            <a:off x="4317682" y="5029200"/>
            <a:ext cx="3555682" cy="1333500"/>
            <a:chOff x="4317682" y="5029200"/>
            <a:chExt cx="3555682" cy="1333500"/>
          </a:xfrm>
        </p:grpSpPr>
        <p:sp>
          <p:nvSpPr>
            <p:cNvPr id="69" name="Rectangle 69"/>
            <p:cNvSpPr/>
            <p:nvPr/>
          </p:nvSpPr>
          <p:spPr>
            <a:xfrm>
              <a:off x="4317682" y="5029200"/>
              <a:ext cx="3555682" cy="13335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4327208" y="5162550"/>
              <a:ext cx="47625" cy="10668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4546282" y="5162550"/>
              <a:ext cx="108204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4629264" y="522208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每个线程私有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4540568" y="5536406"/>
              <a:ext cx="292735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寄存器（含 PC、SP）和栈：记录各自执行到哪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里，保存局部变量和返回地址。</a:t>
              </a:r>
            </a:p>
          </p:txBody>
        </p:sp>
      </p:grpSp>
      <p:grpSp>
        <p:nvGrpSpPr>
          <p:cNvPr id="80" name="n-task"/>
          <p:cNvGrpSpPr/>
          <p:nvPr/>
        </p:nvGrpSpPr>
        <p:grpSpPr>
          <a:xfrm>
            <a:off x="8102918" y="5029200"/>
            <a:ext cx="3555682" cy="1333500"/>
            <a:chOff x="8102918" y="5029200"/>
            <a:chExt cx="3555682" cy="1333500"/>
          </a:xfrm>
        </p:grpSpPr>
        <p:sp>
          <p:nvSpPr>
            <p:cNvPr id="75" name="Rectangle 75"/>
            <p:cNvSpPr/>
            <p:nvPr/>
          </p:nvSpPr>
          <p:spPr>
            <a:xfrm>
              <a:off x="8102918" y="5029200"/>
              <a:ext cx="3555682" cy="13335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8112442" y="5162550"/>
              <a:ext cx="47625" cy="10668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8331518" y="5162550"/>
              <a:ext cx="1552575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400235" y="5222081"/>
              <a:ext cx="1415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另一种画法（task）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325802" y="5536406"/>
              <a:ext cx="2970022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 task 由正文段和数据段组成，正文段里有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多个程序计数器，每个对应一条执行流。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31214" cy="909257"/>
            <a:chOff x="520446" y="342900"/>
            <a:chExt cx="523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3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线程控制块 TCB：线程存在的标志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202055"/>
            <a:chOff x="533400" y="1524000"/>
            <a:chExt cx="5410200" cy="1202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8685" y="1743551"/>
              <a:ext cx="6962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2.3.4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22882" y="1745932"/>
              <a:ext cx="26361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TCB（Thread Control Block）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标志线程存在的数据结构，其中包含对线程管理需要的全部信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息。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6542" y="2918460"/>
            <a:ext cx="5417058" cy="1833753"/>
            <a:chOff x="526542" y="2918460"/>
            <a:chExt cx="5417058" cy="1833753"/>
          </a:xfrm>
        </p:grpSpPr>
        <p:sp>
          <p:nvSpPr>
            <p:cNvPr id="14" name="TextBox 14"/>
            <p:cNvSpPr txBox="1"/>
            <p:nvPr/>
          </p:nvSpPr>
          <p:spPr>
            <a:xfrm>
              <a:off x="526542" y="291846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线程标识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88567" y="291846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区分不同的线程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2051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26542" y="33108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线程状态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88567" y="331089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运行、就绪、等待等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975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542" y="37033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调度参数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88567" y="37033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如优先级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99002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40957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现场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88567" y="4095750"/>
              <a:ext cx="17083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通用寄存器、PC、SP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3824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542" y="44881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链接指针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88567" y="4488180"/>
              <a:ext cx="1717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TCB 链入各种队列</a:t>
              </a:r>
            </a:p>
          </p:txBody>
        </p:sp>
      </p:grpSp>
      <p:grpSp>
        <p:nvGrpSpPr>
          <p:cNvPr id="35" name="c1-callout-3"/>
          <p:cNvGrpSpPr/>
          <p:nvPr/>
        </p:nvGrpSpPr>
        <p:grpSpPr>
          <a:xfrm>
            <a:off x="533400" y="4869180"/>
            <a:ext cx="5410200" cy="1441132"/>
            <a:chOff x="533400" y="4869180"/>
            <a:chExt cx="5410200" cy="1441132"/>
          </a:xfrm>
        </p:grpSpPr>
        <p:sp>
          <p:nvSpPr>
            <p:cNvPr id="29" name="Rectangle 29"/>
            <p:cNvSpPr/>
            <p:nvPr/>
          </p:nvSpPr>
          <p:spPr>
            <a:xfrm>
              <a:off x="533400" y="4869180"/>
              <a:ext cx="5410200" cy="1441132"/>
            </a:xfrm>
            <a:prstGeom prst="roundRect">
              <a:avLst>
                <a:gd name="adj" fmla="val 793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490210"/>
              <a:ext cx="200026" cy="200026"/>
              <a:chOff x="738188" y="5490210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490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556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5590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892" y="5247323"/>
              <a:ext cx="44714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线程也有运行、就绪、等待三种状态。用户级线程的状态转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换由运行时系统在目态完成，操作系统看到的仍然是进程的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状态。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248400" y="1524000"/>
            <a:ext cx="5410200" cy="1317307"/>
            <a:chOff x="6248400" y="1524000"/>
            <a:chExt cx="5410200" cy="1317307"/>
          </a:xfrm>
        </p:grpSpPr>
        <p:sp>
          <p:nvSpPr>
            <p:cNvPr id="36" name="Rectangle 36"/>
            <p:cNvSpPr/>
            <p:nvPr/>
          </p:nvSpPr>
          <p:spPr>
            <a:xfrm>
              <a:off x="6248400" y="1524000"/>
              <a:ext cx="5410200" cy="43910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98183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线程类型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215830" y="1648778"/>
              <a:ext cx="1315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TCB 的存放位置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44412" y="208788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用户级线程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83689" y="208788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目态（用户）空间，由运行时系统管理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23974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48400" y="2402205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44412" y="252698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核心级线程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83689" y="252698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系统空间，由操作系统管理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1524000"/>
              <a:ext cx="5410200" cy="1316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082915" y="1524000"/>
              <a:ext cx="9525" cy="1316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c2-table-2"/>
          <p:cNvGrpSpPr/>
          <p:nvPr/>
        </p:nvGrpSpPr>
        <p:grpSpPr>
          <a:xfrm>
            <a:off x="6248400" y="3010852"/>
            <a:ext cx="5410200" cy="2400300"/>
            <a:chOff x="6248400" y="3010852"/>
            <a:chExt cx="5410200" cy="2400300"/>
          </a:xfrm>
        </p:grpSpPr>
        <p:sp>
          <p:nvSpPr>
            <p:cNvPr id="48" name="Rectangle 48"/>
            <p:cNvSpPr/>
            <p:nvPr/>
          </p:nvSpPr>
          <p:spPr>
            <a:xfrm>
              <a:off x="6248400" y="3010852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903441" y="31322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74529" y="313229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PCB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568099" y="3132296"/>
              <a:ext cx="287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TCB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45555" y="353234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68615" y="3532346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pid、所属用户 uid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862185" y="35323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线程标识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248400" y="3806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48400" y="381095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45555" y="39323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状态与调度参数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968615" y="39323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862185" y="39323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42062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45555" y="433244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现场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968615" y="4332446"/>
              <a:ext cx="12352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寄存器、PSW、PC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862185" y="4332446"/>
              <a:ext cx="11157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寄存器、PC、SP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248400" y="46062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248400" y="4611052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345555" y="473249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地址空间、打开文件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968615" y="47324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862185" y="473249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无，用所属进程的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248400" y="50063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345555" y="513254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家族联系、消息指针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968615" y="513254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862185" y="513254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248400" y="3010852"/>
              <a:ext cx="541020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7866698" y="301085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760268" y="301085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3" name="c2-callout-3"/>
          <p:cNvGrpSpPr/>
          <p:nvPr/>
        </p:nvGrpSpPr>
        <p:grpSpPr>
          <a:xfrm>
            <a:off x="6248400" y="5580698"/>
            <a:ext cx="5410200" cy="729615"/>
            <a:chOff x="6248400" y="5580698"/>
            <a:chExt cx="5410200" cy="729615"/>
          </a:xfrm>
        </p:grpSpPr>
        <p:sp>
          <p:nvSpPr>
            <p:cNvPr id="77" name="Rectangle 77"/>
            <p:cNvSpPr/>
            <p:nvPr/>
          </p:nvSpPr>
          <p:spPr>
            <a:xfrm>
              <a:off x="6248400" y="558069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6453188" y="5845493"/>
              <a:ext cx="200026" cy="200025"/>
              <a:chOff x="6453188" y="5845493"/>
              <a:chExt cx="200026" cy="200025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6453188" y="584549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6492926" y="588994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6527642" y="600106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6755892" y="5727383"/>
              <a:ext cx="45142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线程的资源信息全记在所属进程的 PCB 里，由进程内所有线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程共用，所以 TCB 比 PCB 小得多。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线程的实现：用户级线程与核心级线程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33400" y="1524000"/>
            <a:ext cx="11125200" cy="3146108"/>
            <a:chOff x="533400" y="1524000"/>
            <a:chExt cx="11125200" cy="31461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93613" y="1659731"/>
              <a:ext cx="10817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2.3.5 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571358" y="1659731"/>
              <a:ext cx="24908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用户级线程 User-level thread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56087" y="1659731"/>
              <a:ext cx="26444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核心级线程 Kernel-level thread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实现方法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43378" y="2108359"/>
              <a:ext cx="24167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 library 函数，系统不可见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04901" y="21083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基于系统调用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创建、撤销、状态转换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43378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在目态完成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4901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由操作系统完成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60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5614"/>
              <a:ext cx="10749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TCB 与核心栈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43378" y="3005614"/>
              <a:ext cx="29526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TCB 在用户空间；每个进程一个核心栈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04901" y="3005614"/>
              <a:ext cx="29526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TCB 在系统空间；每个线程一个核心栈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147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19462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56758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43378" y="3454241"/>
              <a:ext cx="40769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不依赖于操作系统，调度灵活；同一进程中多线程切换速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度快（不需进入操作系统）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04901" y="3454241"/>
              <a:ext cx="39143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同一进程内多线程可以并行执行；一个线程进入核心等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待，其他线程仍可执行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2438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43378" y="4130516"/>
              <a:ext cx="40769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同一进程中多个线程不能真正并行；一个线程进入系统受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阻，进程中其他线程都不能执行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04901" y="4130516"/>
              <a:ext cx="40769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系统开销大，同一进程内多线程切换速度慢；调度算法不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能灵活控制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11125200" cy="3146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530792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092315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card-2"/>
          <p:cNvGrpSpPr/>
          <p:nvPr/>
        </p:nvGrpSpPr>
        <p:grpSpPr>
          <a:xfrm>
            <a:off x="533400" y="4860608"/>
            <a:ext cx="11125200" cy="1502092"/>
            <a:chOff x="533400" y="4860608"/>
            <a:chExt cx="11125200" cy="1502092"/>
          </a:xfrm>
        </p:grpSpPr>
        <p:sp>
          <p:nvSpPr>
            <p:cNvPr id="36" name="Rectangle 36"/>
            <p:cNvSpPr/>
            <p:nvPr/>
          </p:nvSpPr>
          <p:spPr>
            <a:xfrm>
              <a:off x="533400" y="4860608"/>
              <a:ext cx="11125200" cy="1502092"/>
            </a:xfrm>
            <a:prstGeom prst="roundRect">
              <a:avLst>
                <a:gd name="adj" fmla="val 88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42925" y="4993958"/>
              <a:ext cx="47625" cy="12353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781050" y="507015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71258" y="510587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3430" y="5447348"/>
              <a:ext cx="9702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原课件“2.3.5 线程的实现”页把三种实现的小节编号写成 2.3.1–2.3.3，与前面的 2.3.1 线程的引入等重复，应为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2.3.5.1–2.3.5.3。第三种是混合线程（Hybrid approach），见后两页。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61057" cy="909257"/>
            <a:chOff x="520446" y="342900"/>
            <a:chExt cx="62610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610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两种线程的结构：TCB 和核心栈放在哪里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ult"/>
          <p:cNvGrpSpPr/>
          <p:nvPr/>
        </p:nvGrpSpPr>
        <p:grpSpPr>
          <a:xfrm>
            <a:off x="533400" y="1524000"/>
            <a:ext cx="5448300" cy="3429000"/>
            <a:chOff x="533400" y="1524000"/>
            <a:chExt cx="5448300" cy="34290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48300" cy="3429000"/>
            </a:xfrm>
            <a:prstGeom prst="roundRect">
              <a:avLst>
                <a:gd name="adj" fmla="val 388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17042" y="16830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用户级线程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" y="1962150"/>
              <a:ext cx="5067300" cy="2857500"/>
            </a:xfrm>
            <a:prstGeom prst="roundRect">
              <a:avLst>
                <a:gd name="adj" fmla="val 1333"/>
              </a:avLst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723900" y="3829050"/>
              <a:ext cx="5067300" cy="9525"/>
            </a:xfrm>
            <a:custGeom>
              <a:avLst/>
              <a:gdLst/>
              <a:ahLst/>
              <a:cxnLst/>
              <a:rect l="l" t="t" r="r" b="b"/>
              <a:pathLst>
                <a:path w="5067300" h="9525">
                  <a:moveTo>
                    <a:pt x="0" y="0"/>
                  </a:moveTo>
                  <a:lnTo>
                    <a:pt x="5067300" y="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106162" y="20583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用户空间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06162" y="39252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系统空间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14400" y="2095500"/>
              <a:ext cx="1905000" cy="1638300"/>
            </a:xfrm>
            <a:prstGeom prst="roundRect">
              <a:avLst>
                <a:gd name="adj" fmla="val 11628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42416" y="2172652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 A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1343025" y="238125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647825" y="238125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952625" y="238125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066800" y="2990850"/>
              <a:ext cx="1600200" cy="628650"/>
            </a:xfrm>
            <a:prstGeom prst="roundRect">
              <a:avLst>
                <a:gd name="adj" fmla="val 9091"/>
              </a:avLst>
            </a:prstGeom>
            <a:solidFill>
              <a:srgbClr val="E2F3F4"/>
            </a:solidFill>
            <a:ln w="11430">
              <a:solidFill>
                <a:srgbClr val="0E7C8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57097" y="30760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运行系统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981200" y="3086100"/>
              <a:ext cx="552450" cy="40005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0E7C86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1981200" y="32194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1981200" y="335280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157097" y="3399949"/>
              <a:ext cx="4272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TCB 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028950" y="2095500"/>
              <a:ext cx="1905000" cy="1638300"/>
            </a:xfrm>
            <a:prstGeom prst="roundRect">
              <a:avLst>
                <a:gd name="adj" fmla="val 11628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156966" y="2172652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 B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3457575" y="238125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762375" y="238125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181350" y="2990850"/>
              <a:ext cx="1600200" cy="628650"/>
            </a:xfrm>
            <a:prstGeom prst="roundRect">
              <a:avLst>
                <a:gd name="adj" fmla="val 9091"/>
              </a:avLst>
            </a:prstGeom>
            <a:solidFill>
              <a:srgbClr val="E2F3F4"/>
            </a:solidFill>
            <a:ln w="1143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271647" y="30760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运行系统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095750" y="3086100"/>
              <a:ext cx="552450" cy="2667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0E7C86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4095750" y="32194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271647" y="3399949"/>
              <a:ext cx="4272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TCB 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7166" y="42872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4859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6383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390900" y="4171950"/>
              <a:ext cx="609600" cy="381000"/>
            </a:xfrm>
            <a:prstGeom prst="rect">
              <a:avLst/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3390900" y="436245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090416" y="429672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进程表</a:t>
              </a:r>
            </a:p>
          </p:txBody>
        </p:sp>
      </p:grpSp>
      <p:grpSp>
        <p:nvGrpSpPr>
          <p:cNvPr id="70" name="klt"/>
          <p:cNvGrpSpPr/>
          <p:nvPr/>
        </p:nvGrpSpPr>
        <p:grpSpPr>
          <a:xfrm>
            <a:off x="6210300" y="1524000"/>
            <a:ext cx="5448300" cy="3429000"/>
            <a:chOff x="6210300" y="1524000"/>
            <a:chExt cx="5448300" cy="3429000"/>
          </a:xfrm>
        </p:grpSpPr>
        <p:sp>
          <p:nvSpPr>
            <p:cNvPr id="40" name="Rectangle 40"/>
            <p:cNvSpPr/>
            <p:nvPr/>
          </p:nvSpPr>
          <p:spPr>
            <a:xfrm>
              <a:off x="6210300" y="1524000"/>
              <a:ext cx="5448300" cy="3429000"/>
            </a:xfrm>
            <a:prstGeom prst="roundRect">
              <a:avLst>
                <a:gd name="adj" fmla="val 388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93942" y="16830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核心级线程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00800" y="1962150"/>
              <a:ext cx="5067300" cy="2857500"/>
            </a:xfrm>
            <a:prstGeom prst="roundRect">
              <a:avLst>
                <a:gd name="adj" fmla="val 1333"/>
              </a:avLst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43" name="Line 43"/>
            <p:cNvSpPr/>
            <p:nvPr/>
          </p:nvSpPr>
          <p:spPr>
            <a:xfrm>
              <a:off x="6400800" y="3829050"/>
              <a:ext cx="5067300" cy="9525"/>
            </a:xfrm>
            <a:custGeom>
              <a:avLst/>
              <a:gdLst/>
              <a:ahLst/>
              <a:cxnLst/>
              <a:rect l="l" t="t" r="r" b="b"/>
              <a:pathLst>
                <a:path w="5067300" h="9525">
                  <a:moveTo>
                    <a:pt x="0" y="0"/>
                  </a:moveTo>
                  <a:lnTo>
                    <a:pt x="5067300" y="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783062" y="20583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用户空间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783062" y="39252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系统空间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591300" y="2095500"/>
              <a:ext cx="1905000" cy="1638300"/>
            </a:xfrm>
            <a:prstGeom prst="roundRect">
              <a:avLst>
                <a:gd name="adj" fmla="val 11628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19316" y="2172652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 A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7115175" y="2419350"/>
              <a:ext cx="104775" cy="1104900"/>
            </a:xfrm>
            <a:custGeom>
              <a:avLst/>
              <a:gdLst/>
              <a:ahLst/>
              <a:cxnLst/>
              <a:rect l="l" t="t" r="r" b="b"/>
              <a:pathLst>
                <a:path w="104775" h="1104900">
                  <a:moveTo>
                    <a:pt x="47625" y="0"/>
                  </a:moveTo>
                  <a:lnTo>
                    <a:pt x="104775" y="331470"/>
                  </a:lnTo>
                  <a:lnTo>
                    <a:pt x="0" y="607695"/>
                  </a:lnTo>
                  <a:lnTo>
                    <a:pt x="95250" y="883920"/>
                  </a:lnTo>
                  <a:lnTo>
                    <a:pt x="38100" y="1104900"/>
                  </a:lnTo>
                </a:path>
              </a:pathLst>
            </a:custGeom>
            <a:noFill/>
            <a:ln w="22860">
              <a:solidFill>
                <a:srgbClr val="0E7C86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496175" y="2419350"/>
              <a:ext cx="104775" cy="1104900"/>
            </a:xfrm>
            <a:custGeom>
              <a:avLst/>
              <a:gdLst/>
              <a:ahLst/>
              <a:cxnLst/>
              <a:rect l="l" t="t" r="r" b="b"/>
              <a:pathLst>
                <a:path w="104775" h="1104900">
                  <a:moveTo>
                    <a:pt x="47625" y="0"/>
                  </a:moveTo>
                  <a:lnTo>
                    <a:pt x="104775" y="331470"/>
                  </a:lnTo>
                  <a:lnTo>
                    <a:pt x="0" y="607695"/>
                  </a:lnTo>
                  <a:lnTo>
                    <a:pt x="95250" y="883920"/>
                  </a:lnTo>
                  <a:lnTo>
                    <a:pt x="38100" y="1104900"/>
                  </a:lnTo>
                </a:path>
              </a:pathLst>
            </a:custGeom>
            <a:noFill/>
            <a:ln w="22860">
              <a:solidFill>
                <a:srgbClr val="0E7C86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877175" y="2419350"/>
              <a:ext cx="104775" cy="1104900"/>
            </a:xfrm>
            <a:custGeom>
              <a:avLst/>
              <a:gdLst/>
              <a:ahLst/>
              <a:cxnLst/>
              <a:rect l="l" t="t" r="r" b="b"/>
              <a:pathLst>
                <a:path w="104775" h="1104900">
                  <a:moveTo>
                    <a:pt x="47625" y="0"/>
                  </a:moveTo>
                  <a:lnTo>
                    <a:pt x="104775" y="331470"/>
                  </a:lnTo>
                  <a:lnTo>
                    <a:pt x="0" y="607695"/>
                  </a:lnTo>
                  <a:lnTo>
                    <a:pt x="95250" y="883920"/>
                  </a:lnTo>
                  <a:lnTo>
                    <a:pt x="38100" y="1104900"/>
                  </a:lnTo>
                </a:path>
              </a:pathLst>
            </a:custGeom>
            <a:noFill/>
            <a:ln w="22860">
              <a:solidFill>
                <a:srgbClr val="0E7C8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8705850" y="2095500"/>
              <a:ext cx="1905000" cy="1638300"/>
            </a:xfrm>
            <a:prstGeom prst="roundRect">
              <a:avLst>
                <a:gd name="adj" fmla="val 11628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833866" y="2172652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 B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9229725" y="2419350"/>
              <a:ext cx="104775" cy="1104900"/>
            </a:xfrm>
            <a:custGeom>
              <a:avLst/>
              <a:gdLst/>
              <a:ahLst/>
              <a:cxnLst/>
              <a:rect l="l" t="t" r="r" b="b"/>
              <a:pathLst>
                <a:path w="104775" h="1104900">
                  <a:moveTo>
                    <a:pt x="47625" y="0"/>
                  </a:moveTo>
                  <a:lnTo>
                    <a:pt x="104775" y="331470"/>
                  </a:lnTo>
                  <a:lnTo>
                    <a:pt x="0" y="607695"/>
                  </a:lnTo>
                  <a:lnTo>
                    <a:pt x="95250" y="883920"/>
                  </a:lnTo>
                  <a:lnTo>
                    <a:pt x="38100" y="1104900"/>
                  </a:lnTo>
                </a:path>
              </a:pathLst>
            </a:custGeom>
            <a:noFill/>
            <a:ln w="22860">
              <a:solidFill>
                <a:srgbClr val="0E7C86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9610725" y="2419350"/>
              <a:ext cx="104775" cy="1104900"/>
            </a:xfrm>
            <a:custGeom>
              <a:avLst/>
              <a:gdLst/>
              <a:ahLst/>
              <a:cxnLst/>
              <a:rect l="l" t="t" r="r" b="b"/>
              <a:pathLst>
                <a:path w="104775" h="1104900">
                  <a:moveTo>
                    <a:pt x="47625" y="0"/>
                  </a:moveTo>
                  <a:lnTo>
                    <a:pt x="104775" y="331470"/>
                  </a:lnTo>
                  <a:lnTo>
                    <a:pt x="0" y="607695"/>
                  </a:lnTo>
                  <a:lnTo>
                    <a:pt x="95250" y="883920"/>
                  </a:lnTo>
                  <a:lnTo>
                    <a:pt x="38100" y="1104900"/>
                  </a:lnTo>
                </a:path>
              </a:pathLst>
            </a:custGeom>
            <a:noFill/>
            <a:ln w="2286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24066" y="42872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核心栈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1628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3152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4676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6200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772400" y="4152900"/>
              <a:ext cx="152400" cy="419100"/>
            </a:xfrm>
            <a:prstGeom prst="rect">
              <a:avLst/>
            </a:prstGeom>
            <a:solidFill>
              <a:srgbClr val="FFFFFF"/>
            </a:solidFill>
            <a:ln w="11430">
              <a:solidFill>
                <a:srgbClr val="1F2937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458200" y="4000500"/>
              <a:ext cx="552450" cy="666750"/>
            </a:xfrm>
            <a:prstGeom prst="rect">
              <a:avLst/>
            </a:prstGeom>
            <a:solidFill>
              <a:srgbClr val="FFFFFF"/>
            </a:solidFill>
            <a:ln w="13335">
              <a:solidFill>
                <a:srgbClr val="0E7C86"/>
              </a:solidFill>
            </a:ln>
          </p:spPr>
        </p:sp>
        <p:sp>
          <p:nvSpPr>
            <p:cNvPr id="62" name="Line 62"/>
            <p:cNvSpPr/>
            <p:nvPr/>
          </p:nvSpPr>
          <p:spPr>
            <a:xfrm>
              <a:off x="8458200" y="41338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63" name="Line 63"/>
            <p:cNvSpPr/>
            <p:nvPr/>
          </p:nvSpPr>
          <p:spPr>
            <a:xfrm>
              <a:off x="8458200" y="426720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64" name="Line 64"/>
            <p:cNvSpPr/>
            <p:nvPr/>
          </p:nvSpPr>
          <p:spPr>
            <a:xfrm>
              <a:off x="8458200" y="440055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65" name="Line 65"/>
            <p:cNvSpPr/>
            <p:nvPr/>
          </p:nvSpPr>
          <p:spPr>
            <a:xfrm>
              <a:off x="8458200" y="4533900"/>
              <a:ext cx="552450" cy="9525"/>
            </a:xfrm>
            <a:custGeom>
              <a:avLst/>
              <a:gdLst/>
              <a:ahLst/>
              <a:cxnLst/>
              <a:rect l="l" t="t" r="r" b="b"/>
              <a:pathLst>
                <a:path w="552450" h="9525">
                  <a:moveTo>
                    <a:pt x="0" y="0"/>
                  </a:moveTo>
                  <a:lnTo>
                    <a:pt x="552450" y="0"/>
                  </a:lnTo>
                </a:path>
              </a:pathLst>
            </a:custGeom>
            <a:noFill/>
            <a:ln w="9525">
              <a:solidFill>
                <a:srgbClr val="0E7C8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100566" y="4287202"/>
              <a:ext cx="2694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TCB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810750" y="4171950"/>
              <a:ext cx="609600" cy="381000"/>
            </a:xfrm>
            <a:prstGeom prst="rect">
              <a:avLst/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68" name="Line 68"/>
            <p:cNvSpPr/>
            <p:nvPr/>
          </p:nvSpPr>
          <p:spPr>
            <a:xfrm>
              <a:off x="9810750" y="4362450"/>
              <a:ext cx="609600" cy="9525"/>
            </a:xfrm>
            <a:custGeom>
              <a:avLst/>
              <a:gdLst/>
              <a:ahLst/>
              <a:cxnLst/>
              <a:rect l="l" t="t" r="r" b="b"/>
              <a:pathLst>
                <a:path w="609600" h="9525">
                  <a:moveTo>
                    <a:pt x="0" y="0"/>
                  </a:moveTo>
                  <a:lnTo>
                    <a:pt x="609600" y="0"/>
                  </a:lnTo>
                </a:path>
              </a:pathLst>
            </a:custGeom>
            <a:noFill/>
            <a:ln w="9525">
              <a:solidFill>
                <a:srgbClr val="1F2937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0510266" y="429672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进程表</a:t>
              </a:r>
            </a:p>
          </p:txBody>
        </p:sp>
      </p:grpSp>
      <p:grpSp>
        <p:nvGrpSpPr>
          <p:cNvPr id="76" name="ult-note"/>
          <p:cNvGrpSpPr/>
          <p:nvPr/>
        </p:nvGrpSpPr>
        <p:grpSpPr>
          <a:xfrm>
            <a:off x="533400" y="5105400"/>
            <a:ext cx="5448300" cy="1257300"/>
            <a:chOff x="533400" y="5105400"/>
            <a:chExt cx="5448300" cy="1257300"/>
          </a:xfrm>
        </p:grpSpPr>
        <p:sp>
          <p:nvSpPr>
            <p:cNvPr id="71" name="Rectangle 71"/>
            <p:cNvSpPr/>
            <p:nvPr/>
          </p:nvSpPr>
          <p:spPr>
            <a:xfrm>
              <a:off x="533400" y="5105400"/>
              <a:ext cx="5448300" cy="1257300"/>
            </a:xfrm>
            <a:prstGeom prst="roundRect">
              <a:avLst>
                <a:gd name="adj" fmla="val 1060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542925" y="5238750"/>
              <a:ext cx="47625" cy="9906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62000" y="5238750"/>
              <a:ext cx="122396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41032" y="52982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内核只看到进程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56285" y="5612606"/>
              <a:ext cx="4698238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TCB 在用户空间，由运行系统管理；每个进程一个核心栈。线程切换不必进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入内核，但一个线程在内核中阻塞，整个进程都停下。</a:t>
              </a:r>
            </a:p>
          </p:txBody>
        </p:sp>
      </p:grpSp>
      <p:grpSp>
        <p:nvGrpSpPr>
          <p:cNvPr id="82" name="klt-note"/>
          <p:cNvGrpSpPr/>
          <p:nvPr/>
        </p:nvGrpSpPr>
        <p:grpSpPr>
          <a:xfrm>
            <a:off x="6210300" y="5105400"/>
            <a:ext cx="5448300" cy="1257300"/>
            <a:chOff x="6210300" y="5105400"/>
            <a:chExt cx="5448300" cy="1257300"/>
          </a:xfrm>
        </p:grpSpPr>
        <p:sp>
          <p:nvSpPr>
            <p:cNvPr id="77" name="Rectangle 77"/>
            <p:cNvSpPr/>
            <p:nvPr/>
          </p:nvSpPr>
          <p:spPr>
            <a:xfrm>
              <a:off x="6210300" y="5105400"/>
              <a:ext cx="5448300" cy="1257300"/>
            </a:xfrm>
            <a:prstGeom prst="roundRect">
              <a:avLst>
                <a:gd name="adj" fmla="val 1060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6219825" y="5238750"/>
              <a:ext cx="47625" cy="9906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6438900" y="5238750"/>
              <a:ext cx="136683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513030" y="529828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内核管理每个线程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433185" y="5612606"/>
              <a:ext cx="4740910" cy="434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每个线程在系统空间有自己的 TCB 和核心栈，同一进程的线程可以分到不同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上并行；每次线程切换都要进入内核。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14167" cy="909257"/>
            <a:chOff x="520446" y="342900"/>
            <a:chExt cx="96141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141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混合线程（Solaris）：用户线程、轻进程 LWP、核心线程三层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6492240" cy="2764155"/>
            <a:chOff x="533400" y="1524000"/>
            <a:chExt cx="6492240" cy="2764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4490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46388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由谁支持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71048" y="165258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对应关系与特点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076450"/>
              <a:ext cx="117424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用户级线程 User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level thread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94179" y="2076450"/>
              <a:ext cx="8808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 程序（创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建、调度）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362896" y="2076450"/>
              <a:ext cx="33497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LWP 可以多对多；只有与 LWP 相联系的用户线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程才能向前推进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8127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86038"/>
              <a:ext cx="6492240" cy="85153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714625"/>
              <a:ext cx="1156335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轻进程 LWP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Light weighted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process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94179" y="2927985"/>
              <a:ext cx="6150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Lib 程序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62896" y="2821305"/>
              <a:ext cx="33345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task（进程）至少一个 LWP；LWP 对操作系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统可见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43281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3566160"/>
              <a:ext cx="908304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核心级线程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Kernel level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thread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94179" y="3779520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kernel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62896" y="3672840"/>
              <a:ext cx="32811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LWP 与唯一一个核心线程对应；核心线程与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可以多对多，也可以固定对应一个 CPU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6492240" cy="27641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86928" y="1524000"/>
              <a:ext cx="9525" cy="2764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255645" y="1524000"/>
              <a:ext cx="9525" cy="27641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llout-2"/>
          <p:cNvGrpSpPr/>
          <p:nvPr/>
        </p:nvGrpSpPr>
        <p:grpSpPr>
          <a:xfrm>
            <a:off x="533400" y="4469130"/>
            <a:ext cx="6492240" cy="1867852"/>
            <a:chOff x="533400" y="4469130"/>
            <a:chExt cx="6492240" cy="1867852"/>
          </a:xfrm>
        </p:grpSpPr>
        <p:sp>
          <p:nvSpPr>
            <p:cNvPr id="27" name="Rectangle 27"/>
            <p:cNvSpPr/>
            <p:nvPr/>
          </p:nvSpPr>
          <p:spPr>
            <a:xfrm>
              <a:off x="533400" y="4469130"/>
              <a:ext cx="6492240" cy="1867852"/>
            </a:xfrm>
            <a:prstGeom prst="roundRect">
              <a:avLst>
                <a:gd name="adj" fmla="val 611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129" y="5298876"/>
              <a:ext cx="224134" cy="192560"/>
              <a:chOff x="726129" y="5298876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38200" y="536924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6129" y="529887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544703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511" y="5171599"/>
              <a:ext cx="545172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轻进程不是进程：LWP 没有自己的地址空间，它是进程内部的调度实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体，同一进程的多个 LWP 共享该进程的地址空间和资源。</a:t>
              </a:r>
            </a:p>
          </p:txBody>
        </p:sp>
      </p:grpSp>
      <p:grpSp>
        <p:nvGrpSpPr>
          <p:cNvPr id="38" name="c2-card-1"/>
          <p:cNvGrpSpPr/>
          <p:nvPr/>
        </p:nvGrpSpPr>
        <p:grpSpPr>
          <a:xfrm>
            <a:off x="7330440" y="1524000"/>
            <a:ext cx="4328160" cy="1522095"/>
            <a:chOff x="7330440" y="1524000"/>
            <a:chExt cx="4328160" cy="1522095"/>
          </a:xfrm>
        </p:grpSpPr>
        <p:sp>
          <p:nvSpPr>
            <p:cNvPr id="34" name="Rectangle 34"/>
            <p:cNvSpPr/>
            <p:nvPr/>
          </p:nvSpPr>
          <p:spPr>
            <a:xfrm>
              <a:off x="7330440" y="1524000"/>
              <a:ext cx="4328160" cy="1522095"/>
            </a:xfrm>
            <a:prstGeom prst="roundRect">
              <a:avLst>
                <a:gd name="adj" fmla="val 8761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528560" y="1722120"/>
              <a:ext cx="1043940" cy="247650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93913" y="1756410"/>
              <a:ext cx="913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怎样理解 LWP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21321" y="2082641"/>
              <a:ext cx="356717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LWP 相当于内核提供给用户线程的“虚拟处理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机”：用户线程要运行，必须先挂到某个 LWP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上；内核调度的是 LWP 背后的核心线程。</a:t>
              </a:r>
            </a:p>
          </p:txBody>
        </p:sp>
      </p:grpSp>
      <p:grpSp>
        <p:nvGrpSpPr>
          <p:cNvPr id="58" name="c2-table-2"/>
          <p:cNvGrpSpPr/>
          <p:nvPr/>
        </p:nvGrpSpPr>
        <p:grpSpPr>
          <a:xfrm>
            <a:off x="7330440" y="3227070"/>
            <a:ext cx="4328160" cy="1910715"/>
            <a:chOff x="7330440" y="3227070"/>
            <a:chExt cx="4328160" cy="1910715"/>
          </a:xfrm>
        </p:grpSpPr>
        <p:sp>
          <p:nvSpPr>
            <p:cNvPr id="39" name="Rectangle 39"/>
            <p:cNvSpPr/>
            <p:nvPr/>
          </p:nvSpPr>
          <p:spPr>
            <a:xfrm>
              <a:off x="7330440" y="3227070"/>
              <a:ext cx="4328160" cy="63817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786306" y="346138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切换发生在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94102" y="3354705"/>
              <a:ext cx="774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要进核心态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307955" y="346138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要换地址空间吗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32929" y="399288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同进程的用户级线程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164574" y="399288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202799" y="399288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330440" y="4284345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330440" y="4289108"/>
              <a:ext cx="432816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432929" y="441769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同进程的核心级线程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164574" y="44176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2799" y="44176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330440" y="4708208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432929" y="484155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两个进程之间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164574" y="484155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202799" y="484155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是，还要换页表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330440" y="3227070"/>
              <a:ext cx="4328160" cy="19107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9057322" y="3227070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095548" y="3227070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callout-3"/>
          <p:cNvGrpSpPr/>
          <p:nvPr/>
        </p:nvGrpSpPr>
        <p:grpSpPr>
          <a:xfrm>
            <a:off x="7330440" y="5317808"/>
            <a:ext cx="4328160" cy="1018222"/>
            <a:chOff x="7330440" y="5317808"/>
            <a:chExt cx="4328160" cy="1018222"/>
          </a:xfrm>
        </p:grpSpPr>
        <p:sp>
          <p:nvSpPr>
            <p:cNvPr id="59" name="Rectangle 59"/>
            <p:cNvSpPr/>
            <p:nvPr/>
          </p:nvSpPr>
          <p:spPr>
            <a:xfrm>
              <a:off x="7330440" y="5317808"/>
              <a:ext cx="4328160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535228" y="5727383"/>
              <a:ext cx="200026" cy="200025"/>
              <a:chOff x="7535228" y="5727383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535228" y="57273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574966" y="57718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609682" y="58829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7837551" y="5464969"/>
              <a:ext cx="344093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这样既保留了用户级线程切换快、调度灵活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的优点，又能让同一进程的线程在多个 CPU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上并行。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02944" cy="909257"/>
            <a:chOff x="520446" y="342900"/>
            <a:chExt cx="89029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029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Solaris 混合线程示例：3 个 task 的线程怎样映射到 CPU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8" name="solaris-figure"/>
          <p:cNvGrpSpPr/>
          <p:nvPr/>
        </p:nvGrpSpPr>
        <p:grpSpPr>
          <a:xfrm>
            <a:off x="685800" y="1699260"/>
            <a:ext cx="7315200" cy="4390549"/>
            <a:chOff x="685800" y="1699260"/>
            <a:chExt cx="7315200" cy="4390549"/>
          </a:xfrm>
        </p:grpSpPr>
        <p:sp>
          <p:nvSpPr>
            <p:cNvPr id="7" name="Rectangle 7"/>
            <p:cNvSpPr/>
            <p:nvPr/>
          </p:nvSpPr>
          <p:spPr>
            <a:xfrm>
              <a:off x="685800" y="3143250"/>
              <a:ext cx="7315200" cy="2438400"/>
            </a:xfrm>
            <a:prstGeom prst="roundRect">
              <a:avLst>
                <a:gd name="adj" fmla="val 8594"/>
              </a:avLst>
            </a:prstGeom>
            <a:solidFill>
              <a:srgbClr val="E3F5F1"/>
            </a:solidFill>
            <a:ln w="13335">
              <a:solidFill>
                <a:srgbClr val="14A38B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70204" y="5318760"/>
              <a:ext cx="1175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kernel（内核）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62531" y="169926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task1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333500" y="1924050"/>
              <a:ext cx="1714500" cy="16764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867531" y="169926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task2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29000" y="1924050"/>
              <a:ext cx="1333500" cy="167640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39231" y="169926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task3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048250" y="1924050"/>
              <a:ext cx="2438400" cy="167640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3335">
              <a:solidFill>
                <a:srgbClr val="1F2937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1714500" y="2552700"/>
              <a:ext cx="152400" cy="676275"/>
            </a:xfrm>
            <a:custGeom>
              <a:avLst/>
              <a:gdLst/>
              <a:ahLst/>
              <a:cxnLst/>
              <a:rect l="l" t="t" r="r" b="b"/>
              <a:pathLst>
                <a:path w="152400" h="676275">
                  <a:moveTo>
                    <a:pt x="0" y="0"/>
                  </a:moveTo>
                  <a:lnTo>
                    <a:pt x="15240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16" name="Line 16"/>
            <p:cNvSpPr/>
            <p:nvPr/>
          </p:nvSpPr>
          <p:spPr>
            <a:xfrm>
              <a:off x="1866900" y="2552700"/>
              <a:ext cx="152400" cy="676275"/>
            </a:xfrm>
            <a:custGeom>
              <a:avLst/>
              <a:gdLst/>
              <a:ahLst/>
              <a:cxnLst/>
              <a:rect l="l" t="t" r="r" b="b"/>
              <a:pathLst>
                <a:path w="152400" h="676275">
                  <a:moveTo>
                    <a:pt x="15240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17" name="Line 17"/>
            <p:cNvSpPr/>
            <p:nvPr/>
          </p:nvSpPr>
          <p:spPr>
            <a:xfrm>
              <a:off x="2667000" y="2552700"/>
              <a:ext cx="9525" cy="676275"/>
            </a:xfrm>
            <a:custGeom>
              <a:avLst/>
              <a:gdLst/>
              <a:ahLst/>
              <a:cxnLst/>
              <a:rect l="l" t="t" r="r" b="b"/>
              <a:pathLst>
                <a:path w="9525" h="676275">
                  <a:moveTo>
                    <a:pt x="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18" name="Line 18"/>
            <p:cNvSpPr/>
            <p:nvPr/>
          </p:nvSpPr>
          <p:spPr>
            <a:xfrm>
              <a:off x="3857625" y="2552700"/>
              <a:ext cx="219075" cy="676275"/>
            </a:xfrm>
            <a:custGeom>
              <a:avLst/>
              <a:gdLst/>
              <a:ahLst/>
              <a:cxnLst/>
              <a:rect l="l" t="t" r="r" b="b"/>
              <a:pathLst>
                <a:path w="219075" h="676275">
                  <a:moveTo>
                    <a:pt x="0" y="0"/>
                  </a:moveTo>
                  <a:lnTo>
                    <a:pt x="219075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19" name="Line 19"/>
            <p:cNvSpPr/>
            <p:nvPr/>
          </p:nvSpPr>
          <p:spPr>
            <a:xfrm>
              <a:off x="4076700" y="2552700"/>
              <a:ext cx="209550" cy="676275"/>
            </a:xfrm>
            <a:custGeom>
              <a:avLst/>
              <a:gdLst/>
              <a:ahLst/>
              <a:cxnLst/>
              <a:rect l="l" t="t" r="r" b="b"/>
              <a:pathLst>
                <a:path w="209550" h="676275">
                  <a:moveTo>
                    <a:pt x="20955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0" name="Line 20"/>
            <p:cNvSpPr/>
            <p:nvPr/>
          </p:nvSpPr>
          <p:spPr>
            <a:xfrm>
              <a:off x="5334000" y="2552700"/>
              <a:ext cx="171450" cy="676275"/>
            </a:xfrm>
            <a:custGeom>
              <a:avLst/>
              <a:gdLst/>
              <a:ahLst/>
              <a:cxnLst/>
              <a:rect l="l" t="t" r="r" b="b"/>
              <a:pathLst>
                <a:path w="171450" h="676275">
                  <a:moveTo>
                    <a:pt x="0" y="0"/>
                  </a:moveTo>
                  <a:lnTo>
                    <a:pt x="17145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1" name="Line 21"/>
            <p:cNvSpPr/>
            <p:nvPr/>
          </p:nvSpPr>
          <p:spPr>
            <a:xfrm>
              <a:off x="5334000" y="2552700"/>
              <a:ext cx="723900" cy="676275"/>
            </a:xfrm>
            <a:custGeom>
              <a:avLst/>
              <a:gdLst/>
              <a:ahLst/>
              <a:cxnLst/>
              <a:rect l="l" t="t" r="r" b="b"/>
              <a:pathLst>
                <a:path w="723900" h="676275">
                  <a:moveTo>
                    <a:pt x="0" y="0"/>
                  </a:moveTo>
                  <a:lnTo>
                    <a:pt x="72390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2" name="Line 22"/>
            <p:cNvSpPr/>
            <p:nvPr/>
          </p:nvSpPr>
          <p:spPr>
            <a:xfrm>
              <a:off x="5505450" y="2552700"/>
              <a:ext cx="190500" cy="676275"/>
            </a:xfrm>
            <a:custGeom>
              <a:avLst/>
              <a:gdLst/>
              <a:ahLst/>
              <a:cxnLst/>
              <a:rect l="l" t="t" r="r" b="b"/>
              <a:pathLst>
                <a:path w="190500" h="676275">
                  <a:moveTo>
                    <a:pt x="19050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3" name="Line 23"/>
            <p:cNvSpPr/>
            <p:nvPr/>
          </p:nvSpPr>
          <p:spPr>
            <a:xfrm>
              <a:off x="5695950" y="2552700"/>
              <a:ext cx="361950" cy="676275"/>
            </a:xfrm>
            <a:custGeom>
              <a:avLst/>
              <a:gdLst/>
              <a:ahLst/>
              <a:cxnLst/>
              <a:rect l="l" t="t" r="r" b="b"/>
              <a:pathLst>
                <a:path w="361950" h="676275">
                  <a:moveTo>
                    <a:pt x="0" y="0"/>
                  </a:moveTo>
                  <a:lnTo>
                    <a:pt x="36195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4" name="Line 24"/>
            <p:cNvSpPr/>
            <p:nvPr/>
          </p:nvSpPr>
          <p:spPr>
            <a:xfrm>
              <a:off x="5505450" y="2552700"/>
              <a:ext cx="552450" cy="676275"/>
            </a:xfrm>
            <a:custGeom>
              <a:avLst/>
              <a:gdLst/>
              <a:ahLst/>
              <a:cxnLst/>
              <a:rect l="l" t="t" r="r" b="b"/>
              <a:pathLst>
                <a:path w="552450" h="676275">
                  <a:moveTo>
                    <a:pt x="55245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5" name="Line 25"/>
            <p:cNvSpPr/>
            <p:nvPr/>
          </p:nvSpPr>
          <p:spPr>
            <a:xfrm>
              <a:off x="6057900" y="2552700"/>
              <a:ext cx="9525" cy="676275"/>
            </a:xfrm>
            <a:custGeom>
              <a:avLst/>
              <a:gdLst/>
              <a:ahLst/>
              <a:cxnLst/>
              <a:rect l="l" t="t" r="r" b="b"/>
              <a:pathLst>
                <a:path w="9525" h="676275">
                  <a:moveTo>
                    <a:pt x="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6" name="Line 26"/>
            <p:cNvSpPr/>
            <p:nvPr/>
          </p:nvSpPr>
          <p:spPr>
            <a:xfrm>
              <a:off x="6667500" y="2552700"/>
              <a:ext cx="9525" cy="676275"/>
            </a:xfrm>
            <a:custGeom>
              <a:avLst/>
              <a:gdLst/>
              <a:ahLst/>
              <a:cxnLst/>
              <a:rect l="l" t="t" r="r" b="b"/>
              <a:pathLst>
                <a:path w="9525" h="676275">
                  <a:moveTo>
                    <a:pt x="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7" name="Line 27"/>
            <p:cNvSpPr/>
            <p:nvPr/>
          </p:nvSpPr>
          <p:spPr>
            <a:xfrm>
              <a:off x="7143750" y="2552700"/>
              <a:ext cx="9525" cy="676275"/>
            </a:xfrm>
            <a:custGeom>
              <a:avLst/>
              <a:gdLst/>
              <a:ahLst/>
              <a:cxnLst/>
              <a:rect l="l" t="t" r="r" b="b"/>
              <a:pathLst>
                <a:path w="9525" h="676275">
                  <a:moveTo>
                    <a:pt x="0" y="0"/>
                  </a:moveTo>
                  <a:lnTo>
                    <a:pt x="0" y="676275"/>
                  </a:lnTo>
                </a:path>
              </a:pathLst>
            </a:custGeom>
            <a:noFill/>
            <a:ln w="12382">
              <a:solidFill>
                <a:srgbClr val="5B6475"/>
              </a:solidFill>
              <a:custDash>
                <a:ds d="230769" sp="230769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166687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97167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1937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74307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254317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3810000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423862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395287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528637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64832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601027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61987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096125" y="2057400"/>
              <a:ext cx="104775" cy="476250"/>
            </a:xfrm>
            <a:custGeom>
              <a:avLst/>
              <a:gdLst/>
              <a:ahLst/>
              <a:cxnLst/>
              <a:rect l="l" t="t" r="r" b="b"/>
              <a:pathLst>
                <a:path w="104775" h="476250">
                  <a:moveTo>
                    <a:pt x="47625" y="0"/>
                  </a:moveTo>
                  <a:lnTo>
                    <a:pt x="104775" y="142875"/>
                  </a:lnTo>
                  <a:lnTo>
                    <a:pt x="0" y="261938"/>
                  </a:lnTo>
                  <a:lnTo>
                    <a:pt x="95250" y="381000"/>
                  </a:lnTo>
                  <a:lnTo>
                    <a:pt x="38100" y="4762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538162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593407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654367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7019925" y="3228975"/>
              <a:ext cx="247650" cy="2476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45" name="Line 45"/>
            <p:cNvSpPr/>
            <p:nvPr/>
          </p:nvSpPr>
          <p:spPr>
            <a:xfrm>
              <a:off x="186690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46" name="Line 46"/>
            <p:cNvSpPr/>
            <p:nvPr/>
          </p:nvSpPr>
          <p:spPr>
            <a:xfrm>
              <a:off x="1866900" y="4362450"/>
              <a:ext cx="2228850" cy="609600"/>
            </a:xfrm>
            <a:custGeom>
              <a:avLst/>
              <a:gdLst/>
              <a:ahLst/>
              <a:cxnLst/>
              <a:rect l="l" t="t" r="r" b="b"/>
              <a:pathLst>
                <a:path w="2228850" h="609600">
                  <a:moveTo>
                    <a:pt x="0" y="0"/>
                  </a:moveTo>
                  <a:lnTo>
                    <a:pt x="222885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47" name="Line 47"/>
            <p:cNvSpPr/>
            <p:nvPr/>
          </p:nvSpPr>
          <p:spPr>
            <a:xfrm>
              <a:off x="266700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48" name="Line 48"/>
            <p:cNvSpPr/>
            <p:nvPr/>
          </p:nvSpPr>
          <p:spPr>
            <a:xfrm>
              <a:off x="2667000" y="4362450"/>
              <a:ext cx="1428750" cy="609600"/>
            </a:xfrm>
            <a:custGeom>
              <a:avLst/>
              <a:gdLst/>
              <a:ahLst/>
              <a:cxnLst/>
              <a:rect l="l" t="t" r="r" b="b"/>
              <a:pathLst>
                <a:path w="1428750" h="609600">
                  <a:moveTo>
                    <a:pt x="0" y="0"/>
                  </a:moveTo>
                  <a:lnTo>
                    <a:pt x="142875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49" name="Line 49"/>
            <p:cNvSpPr/>
            <p:nvPr/>
          </p:nvSpPr>
          <p:spPr>
            <a:xfrm>
              <a:off x="3333750" y="4362450"/>
              <a:ext cx="762000" cy="609600"/>
            </a:xfrm>
            <a:custGeom>
              <a:avLst/>
              <a:gdLst/>
              <a:ahLst/>
              <a:cxnLst/>
              <a:rect l="l" t="t" r="r" b="b"/>
              <a:pathLst>
                <a:path w="762000" h="609600">
                  <a:moveTo>
                    <a:pt x="0" y="0"/>
                  </a:moveTo>
                  <a:lnTo>
                    <a:pt x="76200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50" name="Line 50"/>
            <p:cNvSpPr/>
            <p:nvPr/>
          </p:nvSpPr>
          <p:spPr>
            <a:xfrm>
              <a:off x="407670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51" name="Line 51"/>
            <p:cNvSpPr/>
            <p:nvPr/>
          </p:nvSpPr>
          <p:spPr>
            <a:xfrm>
              <a:off x="4076700" y="4362450"/>
              <a:ext cx="19050" cy="609600"/>
            </a:xfrm>
            <a:custGeom>
              <a:avLst/>
              <a:gdLst/>
              <a:ahLst/>
              <a:cxnLst/>
              <a:rect l="l" t="t" r="r" b="b"/>
              <a:pathLst>
                <a:path w="19050" h="609600">
                  <a:moveTo>
                    <a:pt x="0" y="0"/>
                  </a:moveTo>
                  <a:lnTo>
                    <a:pt x="1905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52" name="Line 52"/>
            <p:cNvSpPr/>
            <p:nvPr/>
          </p:nvSpPr>
          <p:spPr>
            <a:xfrm>
              <a:off x="4095750" y="4362450"/>
              <a:ext cx="571500" cy="609600"/>
            </a:xfrm>
            <a:custGeom>
              <a:avLst/>
              <a:gdLst/>
              <a:ahLst/>
              <a:cxnLst/>
              <a:rect l="l" t="t" r="r" b="b"/>
              <a:pathLst>
                <a:path w="571500" h="609600">
                  <a:moveTo>
                    <a:pt x="571500" y="0"/>
                  </a:moveTo>
                  <a:lnTo>
                    <a:pt x="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53" name="Line 53"/>
            <p:cNvSpPr/>
            <p:nvPr/>
          </p:nvSpPr>
          <p:spPr>
            <a:xfrm>
              <a:off x="550545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54" name="Line 54"/>
            <p:cNvSpPr/>
            <p:nvPr/>
          </p:nvSpPr>
          <p:spPr>
            <a:xfrm>
              <a:off x="4095750" y="4362450"/>
              <a:ext cx="1409700" cy="609600"/>
            </a:xfrm>
            <a:custGeom>
              <a:avLst/>
              <a:gdLst/>
              <a:ahLst/>
              <a:cxnLst/>
              <a:rect l="l" t="t" r="r" b="b"/>
              <a:pathLst>
                <a:path w="1409700" h="609600">
                  <a:moveTo>
                    <a:pt x="1409700" y="0"/>
                  </a:moveTo>
                  <a:lnTo>
                    <a:pt x="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55" name="Line 55"/>
            <p:cNvSpPr/>
            <p:nvPr/>
          </p:nvSpPr>
          <p:spPr>
            <a:xfrm>
              <a:off x="605790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56" name="Line 56"/>
            <p:cNvSpPr/>
            <p:nvPr/>
          </p:nvSpPr>
          <p:spPr>
            <a:xfrm>
              <a:off x="4095750" y="4362450"/>
              <a:ext cx="1962150" cy="609600"/>
            </a:xfrm>
            <a:custGeom>
              <a:avLst/>
              <a:gdLst/>
              <a:ahLst/>
              <a:cxnLst/>
              <a:rect l="l" t="t" r="r" b="b"/>
              <a:pathLst>
                <a:path w="1962150" h="609600">
                  <a:moveTo>
                    <a:pt x="1962150" y="0"/>
                  </a:moveTo>
                  <a:lnTo>
                    <a:pt x="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57" name="Line 57"/>
            <p:cNvSpPr/>
            <p:nvPr/>
          </p:nvSpPr>
          <p:spPr>
            <a:xfrm>
              <a:off x="666750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58" name="Line 58"/>
            <p:cNvSpPr/>
            <p:nvPr/>
          </p:nvSpPr>
          <p:spPr>
            <a:xfrm>
              <a:off x="4095750" y="4362450"/>
              <a:ext cx="2571750" cy="609600"/>
            </a:xfrm>
            <a:custGeom>
              <a:avLst/>
              <a:gdLst/>
              <a:ahLst/>
              <a:cxnLst/>
              <a:rect l="l" t="t" r="r" b="b"/>
              <a:pathLst>
                <a:path w="2571750" h="609600">
                  <a:moveTo>
                    <a:pt x="2571750" y="0"/>
                  </a:moveTo>
                  <a:lnTo>
                    <a:pt x="0" y="60960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59" name="Line 59"/>
            <p:cNvSpPr/>
            <p:nvPr/>
          </p:nvSpPr>
          <p:spPr>
            <a:xfrm>
              <a:off x="7143750" y="3476625"/>
              <a:ext cx="9525" cy="466725"/>
            </a:xfrm>
            <a:custGeom>
              <a:avLst/>
              <a:gdLst/>
              <a:ahLst/>
              <a:cxnLst/>
              <a:rect l="l" t="t" r="r" b="b"/>
              <a:pathLst>
                <a:path w="9525" h="466725">
                  <a:moveTo>
                    <a:pt x="0" y="0"/>
                  </a:moveTo>
                  <a:lnTo>
                    <a:pt x="0" y="466725"/>
                  </a:lnTo>
                </a:path>
              </a:pathLst>
            </a:custGeom>
            <a:noFill/>
            <a:ln w="14288">
              <a:solidFill>
                <a:srgbClr val="1F2937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81927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261937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328612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402907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461962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545782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601027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661987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7096125" y="3962400"/>
              <a:ext cx="104775" cy="400050"/>
            </a:xfrm>
            <a:custGeom>
              <a:avLst/>
              <a:gdLst/>
              <a:ahLst/>
              <a:cxnLst/>
              <a:rect l="l" t="t" r="r" b="b"/>
              <a:pathLst>
                <a:path w="104775" h="400050">
                  <a:moveTo>
                    <a:pt x="47625" y="0"/>
                  </a:moveTo>
                  <a:lnTo>
                    <a:pt x="104775" y="120015"/>
                  </a:lnTo>
                  <a:lnTo>
                    <a:pt x="0" y="220028"/>
                  </a:lnTo>
                  <a:lnTo>
                    <a:pt x="95250" y="320040"/>
                  </a:lnTo>
                  <a:lnTo>
                    <a:pt x="38100" y="4000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69" name="Line 69"/>
            <p:cNvSpPr/>
            <p:nvPr/>
          </p:nvSpPr>
          <p:spPr>
            <a:xfrm>
              <a:off x="3238500" y="4972050"/>
              <a:ext cx="857250" cy="819150"/>
            </a:xfrm>
            <a:custGeom>
              <a:avLst/>
              <a:gdLst/>
              <a:ahLst/>
              <a:cxnLst/>
              <a:rect l="l" t="t" r="r" b="b"/>
              <a:pathLst>
                <a:path w="857250" h="819150">
                  <a:moveTo>
                    <a:pt x="857250" y="0"/>
                  </a:moveTo>
                  <a:lnTo>
                    <a:pt x="0" y="81915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70" name="Line 70"/>
            <p:cNvSpPr/>
            <p:nvPr/>
          </p:nvSpPr>
          <p:spPr>
            <a:xfrm>
              <a:off x="4095750" y="4972050"/>
              <a:ext cx="9525" cy="819150"/>
            </a:xfrm>
            <a:custGeom>
              <a:avLst/>
              <a:gdLst/>
              <a:ahLst/>
              <a:cxnLst/>
              <a:rect l="l" t="t" r="r" b="b"/>
              <a:pathLst>
                <a:path w="9525" h="819150">
                  <a:moveTo>
                    <a:pt x="0" y="0"/>
                  </a:moveTo>
                  <a:lnTo>
                    <a:pt x="0" y="81915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71" name="Line 71"/>
            <p:cNvSpPr/>
            <p:nvPr/>
          </p:nvSpPr>
          <p:spPr>
            <a:xfrm>
              <a:off x="4095750" y="4972050"/>
              <a:ext cx="857250" cy="819150"/>
            </a:xfrm>
            <a:custGeom>
              <a:avLst/>
              <a:gdLst/>
              <a:ahLst/>
              <a:cxnLst/>
              <a:rect l="l" t="t" r="r" b="b"/>
              <a:pathLst>
                <a:path w="857250" h="819150">
                  <a:moveTo>
                    <a:pt x="0" y="0"/>
                  </a:moveTo>
                  <a:lnTo>
                    <a:pt x="857250" y="81915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72" name="Line 72"/>
            <p:cNvSpPr/>
            <p:nvPr/>
          </p:nvSpPr>
          <p:spPr>
            <a:xfrm>
              <a:off x="7143750" y="4362450"/>
              <a:ext cx="9525" cy="1428750"/>
            </a:xfrm>
            <a:custGeom>
              <a:avLst/>
              <a:gdLst/>
              <a:ahLst/>
              <a:cxnLst/>
              <a:rect l="l" t="t" r="r" b="b"/>
              <a:pathLst>
                <a:path w="9525" h="1428750">
                  <a:moveTo>
                    <a:pt x="0" y="0"/>
                  </a:moveTo>
                  <a:lnTo>
                    <a:pt x="0" y="1428750"/>
                  </a:lnTo>
                </a:path>
              </a:pathLst>
            </a:custGeom>
            <a:noFill/>
            <a:ln w="11430">
              <a:solidFill>
                <a:srgbClr val="1F2937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3095625" y="5791200"/>
              <a:ext cx="285750" cy="285750"/>
            </a:xfrm>
            <a:prstGeom prst="roundRect">
              <a:avLst>
                <a:gd name="adj" fmla="val 1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3952875" y="5791200"/>
              <a:ext cx="285750" cy="285750"/>
            </a:xfrm>
            <a:prstGeom prst="roundRect">
              <a:avLst>
                <a:gd name="adj" fmla="val 1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4810125" y="5791200"/>
              <a:ext cx="285750" cy="285750"/>
            </a:xfrm>
            <a:prstGeom prst="roundRect">
              <a:avLst>
                <a:gd name="adj" fmla="val 1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7000875" y="5791200"/>
              <a:ext cx="285750" cy="285750"/>
            </a:xfrm>
            <a:prstGeom prst="roundRect">
              <a:avLst>
                <a:gd name="adj" fmla="val 1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404735" y="5869781"/>
              <a:ext cx="274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CPU</a:t>
              </a:r>
            </a:p>
          </p:txBody>
        </p:sp>
      </p:grpSp>
      <p:grpSp>
        <p:nvGrpSpPr>
          <p:cNvPr id="100" name="solaris-notes"/>
          <p:cNvGrpSpPr/>
          <p:nvPr/>
        </p:nvGrpSpPr>
        <p:grpSpPr>
          <a:xfrm>
            <a:off x="8343900" y="1524000"/>
            <a:ext cx="3314700" cy="4838700"/>
            <a:chOff x="8343900" y="1524000"/>
            <a:chExt cx="3314700" cy="4838700"/>
          </a:xfrm>
        </p:grpSpPr>
        <p:sp>
          <p:nvSpPr>
            <p:cNvPr id="79" name="Rectangle 79"/>
            <p:cNvSpPr/>
            <p:nvPr/>
          </p:nvSpPr>
          <p:spPr>
            <a:xfrm>
              <a:off x="8343900" y="1524000"/>
              <a:ext cx="3314700" cy="4838700"/>
            </a:xfrm>
            <a:prstGeom prst="roundRect">
              <a:avLst>
                <a:gd name="adj" fmla="val 40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527923" y="16721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图例</a:t>
              </a:r>
            </a:p>
          </p:txBody>
        </p:sp>
        <p:sp>
          <p:nvSpPr>
            <p:cNvPr id="81" name="Freeform 81"/>
            <p:cNvSpPr/>
            <p:nvPr/>
          </p:nvSpPr>
          <p:spPr>
            <a:xfrm>
              <a:off x="8582025" y="1943100"/>
              <a:ext cx="104775" cy="247650"/>
            </a:xfrm>
            <a:custGeom>
              <a:avLst/>
              <a:gdLst/>
              <a:ahLst/>
              <a:cxnLst/>
              <a:rect l="l" t="t" r="r" b="b"/>
              <a:pathLst>
                <a:path w="104775" h="247650">
                  <a:moveTo>
                    <a:pt x="47625" y="0"/>
                  </a:moveTo>
                  <a:lnTo>
                    <a:pt x="104775" y="74295"/>
                  </a:lnTo>
                  <a:lnTo>
                    <a:pt x="0" y="136208"/>
                  </a:lnTo>
                  <a:lnTo>
                    <a:pt x="95250" y="198120"/>
                  </a:lnTo>
                  <a:lnTo>
                    <a:pt x="38100" y="247650"/>
                  </a:lnTo>
                </a:path>
              </a:pathLst>
            </a:custGeom>
            <a:noFill/>
            <a:ln w="20955">
              <a:solidFill>
                <a:srgbClr val="0E7C86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795766" y="20107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用户级线程</a:t>
              </a:r>
            </a:p>
          </p:txBody>
        </p:sp>
        <p:sp>
          <p:nvSpPr>
            <p:cNvPr id="83" name="Ellipse 83"/>
            <p:cNvSpPr/>
            <p:nvPr/>
          </p:nvSpPr>
          <p:spPr>
            <a:xfrm>
              <a:off x="10125075" y="1981200"/>
              <a:ext cx="171450" cy="171450"/>
            </a:xfrm>
            <a:prstGeom prst="ellipse">
              <a:avLst/>
            </a:prstGeom>
            <a:solidFill>
              <a:srgbClr val="6B7280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10357866" y="2010728"/>
              <a:ext cx="7558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LWP 轻进程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8582025" y="2305050"/>
              <a:ext cx="104775" cy="247650"/>
            </a:xfrm>
            <a:custGeom>
              <a:avLst/>
              <a:gdLst/>
              <a:ahLst/>
              <a:cxnLst/>
              <a:rect l="l" t="t" r="r" b="b"/>
              <a:pathLst>
                <a:path w="104775" h="247650">
                  <a:moveTo>
                    <a:pt x="47625" y="0"/>
                  </a:moveTo>
                  <a:lnTo>
                    <a:pt x="104775" y="74295"/>
                  </a:lnTo>
                  <a:lnTo>
                    <a:pt x="0" y="136208"/>
                  </a:lnTo>
                  <a:lnTo>
                    <a:pt x="95250" y="198120"/>
                  </a:lnTo>
                  <a:lnTo>
                    <a:pt x="38100" y="247650"/>
                  </a:lnTo>
                </a:path>
              </a:pathLst>
            </a:custGeom>
            <a:noFill/>
            <a:ln w="20955">
              <a:solidFill>
                <a:srgbClr val="1F2937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8795766" y="237267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核心级线程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10125075" y="2343150"/>
              <a:ext cx="171450" cy="171450"/>
            </a:xfrm>
            <a:prstGeom prst="roundRect">
              <a:avLst>
                <a:gd name="adj" fmla="val 11111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10357866" y="2372678"/>
              <a:ext cx="257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8496300" y="2667000"/>
              <a:ext cx="30099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Ellipse 90"/>
            <p:cNvSpPr/>
            <p:nvPr/>
          </p:nvSpPr>
          <p:spPr>
            <a:xfrm>
              <a:off x="8562975" y="2876550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8700135" y="2831306"/>
              <a:ext cx="257708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task1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：3 个用户线程配 2 个 LWP，其中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两个线程共用一个 LWP</a:t>
              </a:r>
            </a:p>
          </p:txBody>
        </p:sp>
        <p:sp>
          <p:nvSpPr>
            <p:cNvPr id="92" name="Ellipse 92"/>
            <p:cNvSpPr/>
            <p:nvPr/>
          </p:nvSpPr>
          <p:spPr>
            <a:xfrm>
              <a:off x="8562975" y="3381375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8700135" y="3336131"/>
              <a:ext cx="257708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task2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：2 个用户线程共用 1 个 LWP（多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对一）</a:t>
              </a:r>
            </a:p>
          </p:txBody>
        </p:sp>
        <p:sp>
          <p:nvSpPr>
            <p:cNvPr id="94" name="Ellipse 94"/>
            <p:cNvSpPr/>
            <p:nvPr/>
          </p:nvSpPr>
          <p:spPr>
            <a:xfrm>
              <a:off x="8562975" y="3886200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8700135" y="3840956"/>
              <a:ext cx="257708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task3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：3 个用户线程复用 2 个 LWP（多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对多），另外 2 个线程各配一个 LWP</a:t>
              </a:r>
            </a:p>
          </p:txBody>
        </p:sp>
        <p:sp>
          <p:nvSpPr>
            <p:cNvPr id="96" name="Ellipse 96"/>
            <p:cNvSpPr/>
            <p:nvPr/>
          </p:nvSpPr>
          <p:spPr>
            <a:xfrm>
              <a:off x="8562975" y="4391025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8700135" y="4345781"/>
              <a:ext cx="2635758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LWP 对应一个核心线程；内核中另有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个核心线程不对应 LWP，只做内核自己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的工作</a:t>
              </a:r>
            </a:p>
          </p:txBody>
        </p:sp>
        <p:sp>
          <p:nvSpPr>
            <p:cNvPr id="98" name="Ellipse 98"/>
            <p:cNvSpPr/>
            <p:nvPr/>
          </p:nvSpPr>
          <p:spPr>
            <a:xfrm>
              <a:off x="8562975" y="5095875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8700135" y="5050631"/>
              <a:ext cx="2571750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核心线程由内核调度到左边 3 个 CPU 上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（多对多）；最右边的核心线程固定在第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个 CPU 上</a:t>
              </a:r>
            </a:p>
          </p:txBody>
        </p:sp>
      </p:grpSp>
      <p:grpSp>
        <p:nvGrpSpPr>
          <p:cNvPr id="10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1" name="TextBox 10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线程与轻进程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线程的应用：需要共享数据的多个控制流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5842635" cy="2828925"/>
            <a:chOff x="533400" y="1524000"/>
            <a:chExt cx="5842635" cy="28289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5324" y="1648301"/>
              <a:ext cx="1097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2.3.6 适用场合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0884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3412" y="2054066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内在的多控制流，需要共享数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853690" y="2154079"/>
              <a:ext cx="1602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例如生产者–消费者问题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307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535555"/>
              <a:ext cx="584263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3412" y="27598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多线程优于多进程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53690" y="2659856"/>
              <a:ext cx="32829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线程的创建和切换比进程快得多（原课件给出的数字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是快 100 倍）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1365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3412" y="336565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提高处理机与设备的并行性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53690" y="3265646"/>
              <a:ext cx="302691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一个线程等 I/O 时，同进程的其他线程继续计算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（需核心级线程）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423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747135"/>
              <a:ext cx="584263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3412" y="397144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多处理机环境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53690" y="3871436"/>
              <a:ext cx="31762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线程分布在多个 CPU 上，提高处理机利用率，加快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进程推进速度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842635" cy="28289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748915" y="1524000"/>
              <a:ext cx="9525" cy="2828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2" name="c1-callout-2"/>
          <p:cNvGrpSpPr/>
          <p:nvPr/>
        </p:nvGrpSpPr>
        <p:grpSpPr>
          <a:xfrm>
            <a:off x="533400" y="4528185"/>
            <a:ext cx="5842635" cy="978218"/>
            <a:chOff x="533400" y="4528185"/>
            <a:chExt cx="5842635" cy="978218"/>
          </a:xfrm>
        </p:grpSpPr>
        <p:sp>
          <p:nvSpPr>
            <p:cNvPr id="26" name="Rectangle 26"/>
            <p:cNvSpPr/>
            <p:nvPr/>
          </p:nvSpPr>
          <p:spPr>
            <a:xfrm>
              <a:off x="533400" y="4528185"/>
              <a:ext cx="5842635" cy="978218"/>
            </a:xfrm>
            <a:prstGeom prst="roundRect">
              <a:avLst>
                <a:gd name="adj" fmla="val 1168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26129" y="4913113"/>
              <a:ext cx="224134" cy="192560"/>
              <a:chOff x="726129" y="4913113"/>
              <a:chExt cx="224134" cy="19256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38200" y="498348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26129" y="491311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38200" y="50612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892" y="4673918"/>
              <a:ext cx="48143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后两种场合要看线程怎样实现：用户级线程中一个线程进入系统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受阻，同进程的其他线程都不能执行，也不能真正并行；要用核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心级线程或混合线程。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680835" y="1524000"/>
            <a:ext cx="4977765" cy="1838325"/>
            <a:chOff x="6680835" y="1524000"/>
            <a:chExt cx="4977765" cy="1838325"/>
          </a:xfrm>
        </p:grpSpPr>
        <p:sp>
          <p:nvSpPr>
            <p:cNvPr id="33" name="Rectangle 33"/>
            <p:cNvSpPr/>
            <p:nvPr/>
          </p:nvSpPr>
          <p:spPr>
            <a:xfrm>
              <a:off x="6680835" y="1524000"/>
              <a:ext cx="4977765" cy="1838325"/>
            </a:xfrm>
            <a:prstGeom prst="roundRect">
              <a:avLst>
                <a:gd name="adj" fmla="val 72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690360" y="1657350"/>
              <a:ext cx="47625" cy="15716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911340" y="1716405"/>
              <a:ext cx="46196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003710" y="1750695"/>
              <a:ext cx="2781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80744" y="1756410"/>
              <a:ext cx="30805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Word 字处理（各线程执行不同代码）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919912" y="214693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075932" y="2090738"/>
              <a:ext cx="113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T1：交互编辑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919912" y="2448877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75932" y="2392680"/>
              <a:ext cx="113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T2：词法检查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919912" y="275177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75932" y="2695575"/>
              <a:ext cx="113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T3：定时保存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05625" y="2994184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三个线程读写的是内存里同一份文档，放在一个进程里共享最方便。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680835" y="3537585"/>
            <a:ext cx="4977765" cy="1968818"/>
            <a:chOff x="6680835" y="3537585"/>
            <a:chExt cx="4977765" cy="1968818"/>
          </a:xfrm>
        </p:grpSpPr>
        <p:sp>
          <p:nvSpPr>
            <p:cNvPr id="46" name="Rectangle 46"/>
            <p:cNvSpPr/>
            <p:nvPr/>
          </p:nvSpPr>
          <p:spPr>
            <a:xfrm>
              <a:off x="6680835" y="3537585"/>
              <a:ext cx="4977765" cy="1968818"/>
            </a:xfrm>
            <a:prstGeom prst="roundRect">
              <a:avLst>
                <a:gd name="adj" fmla="val 67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690360" y="3670935"/>
              <a:ext cx="47625" cy="17021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911340" y="3729990"/>
              <a:ext cx="46196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03710" y="3764280"/>
              <a:ext cx="2781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80744" y="3769995"/>
              <a:ext cx="3144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HTTP server（各线程执行相同代码）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904482" y="4103370"/>
              <a:ext cx="432568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每来一个 http 请求，就 pop up（临时创建）一个线程来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处理它。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05625" y="4660106"/>
              <a:ext cx="42786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各线程执行同一段处理代码，只是处理的请求不同。创建线程比创建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进程快得多，来一个请求建一个线程也负担得起。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4" name="Rectangle 5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83736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选择的依据：几个控制流要频繁共享同一批数据，用多线程；彼此独立、需要互相隔离保护，用多进程。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35499" cy="3351847"/>
            <a:chOff x="667512" y="1835468"/>
            <a:chExt cx="513549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0058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从用户的角度看计算任务：批处理作业与交互式作业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205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 作业与作业步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2.4.1 批处理作业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2.4.2 交互式作业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小结：作业、进程、线程的关系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作业：用户要求计算机完成的计算任务集合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030605"/>
            <a:chOff x="533400" y="1524000"/>
            <a:chExt cx="5626418" cy="10306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030605"/>
            </a:xfrm>
            <a:prstGeom prst="roundRect">
              <a:avLst>
                <a:gd name="adj" fmla="val 129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76390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1635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4536" y="1769269"/>
              <a:ext cx="1189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2.4 作业（Job）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用户要求计算机系统为其完成的计算任务集合。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2745105"/>
            <a:ext cx="5626418" cy="1701165"/>
            <a:chOff x="533400" y="2745105"/>
            <a:chExt cx="5626418" cy="1701165"/>
          </a:xfrm>
        </p:grpSpPr>
        <p:sp>
          <p:nvSpPr>
            <p:cNvPr id="13" name="Rectangle 13"/>
            <p:cNvSpPr/>
            <p:nvPr/>
          </p:nvSpPr>
          <p:spPr>
            <a:xfrm>
              <a:off x="533400" y="2745105"/>
              <a:ext cx="5626418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2878455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1050" y="2954655"/>
              <a:ext cx="150304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1211" y="2990374"/>
              <a:ext cx="1382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作业步（job step）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33184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作业处理过程中一个相对独立的步骤。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372999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66712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一般一个作业步可由一个进程完成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06527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00240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某些作业步之间可以并行</a:t>
              </a:r>
            </a:p>
          </p:txBody>
        </p:sp>
      </p:grpSp>
      <p:grpSp>
        <p:nvGrpSpPr>
          <p:cNvPr id="28" name="c1-kv-3"/>
          <p:cNvGrpSpPr/>
          <p:nvPr/>
        </p:nvGrpSpPr>
        <p:grpSpPr>
          <a:xfrm>
            <a:off x="525780" y="4661535"/>
            <a:ext cx="5634038" cy="1297305"/>
            <a:chOff x="525780" y="4661535"/>
            <a:chExt cx="5634038" cy="1297305"/>
          </a:xfrm>
        </p:grpSpPr>
        <p:sp>
          <p:nvSpPr>
            <p:cNvPr id="23" name="TextBox 23"/>
            <p:cNvSpPr txBox="1"/>
            <p:nvPr/>
          </p:nvSpPr>
          <p:spPr>
            <a:xfrm>
              <a:off x="525780" y="466153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批处理作业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65935" y="4661535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用户事先写好作业说明书，系统照着自动处理，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中途不与用户交互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26351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5780" y="53835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交互式作业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65935" y="538353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用户在终端上逐条输入命令，系统逐条执行并给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出回应</a:t>
              </a:r>
            </a:p>
          </p:txBody>
        </p:sp>
      </p:grpSp>
      <p:grpSp>
        <p:nvGrpSpPr>
          <p:cNvPr id="39" name="c2-flow-1"/>
          <p:cNvGrpSpPr/>
          <p:nvPr/>
        </p:nvGrpSpPr>
        <p:grpSpPr>
          <a:xfrm>
            <a:off x="6828472" y="1781175"/>
            <a:ext cx="4466272" cy="2343150"/>
            <a:chOff x="6828472" y="1781175"/>
            <a:chExt cx="4466272" cy="2343150"/>
          </a:xfrm>
        </p:grpSpPr>
        <p:sp>
          <p:nvSpPr>
            <p:cNvPr id="29" name="Freeform 29"/>
            <p:cNvSpPr/>
            <p:nvPr/>
          </p:nvSpPr>
          <p:spPr>
            <a:xfrm>
              <a:off x="9062085" y="2219325"/>
              <a:ext cx="9525" cy="409575"/>
            </a:xfrm>
            <a:custGeom>
              <a:avLst/>
              <a:gdLst/>
              <a:ahLst/>
              <a:cxnLst/>
              <a:rect l="l" t="t" r="r" b="b"/>
              <a:pathLst>
                <a:path w="9525" h="409575">
                  <a:moveTo>
                    <a:pt x="0" y="0"/>
                  </a:moveTo>
                  <a:lnTo>
                    <a:pt x="0" y="409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009698" y="2628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9062085" y="3171825"/>
              <a:ext cx="9525" cy="409575"/>
            </a:xfrm>
            <a:custGeom>
              <a:avLst/>
              <a:gdLst/>
              <a:ahLst/>
              <a:cxnLst/>
              <a:rect l="l" t="t" r="r" b="b"/>
              <a:pathLst>
                <a:path w="9525" h="409575">
                  <a:moveTo>
                    <a:pt x="0" y="0"/>
                  </a:moveTo>
                  <a:lnTo>
                    <a:pt x="0" y="409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09698" y="35814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28472" y="1781175"/>
              <a:ext cx="4466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28472" y="2733675"/>
              <a:ext cx="4466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28472" y="3686175"/>
              <a:ext cx="4466272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537367" y="1911191"/>
              <a:ext cx="10494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 $FORTN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628400" y="2863691"/>
              <a:ext cx="8673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链接 $LINK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605642" y="3816191"/>
              <a:ext cx="9128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 $EXEC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6464618" y="4572000"/>
            <a:ext cx="5193982" cy="1327785"/>
            <a:chOff x="6464618" y="4572000"/>
            <a:chExt cx="5193982" cy="1327785"/>
          </a:xfrm>
        </p:grpSpPr>
        <p:sp>
          <p:nvSpPr>
            <p:cNvPr id="40" name="Rectangle 40"/>
            <p:cNvSpPr/>
            <p:nvPr/>
          </p:nvSpPr>
          <p:spPr>
            <a:xfrm>
              <a:off x="6464618" y="4572000"/>
              <a:ext cx="5193982" cy="1327785"/>
            </a:xfrm>
            <a:prstGeom prst="roundRect">
              <a:avLst>
                <a:gd name="adj" fmla="val 860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669405" y="5135880"/>
              <a:ext cx="200026" cy="200026"/>
              <a:chOff x="6669405" y="5135880"/>
              <a:chExt cx="200026" cy="20002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669405" y="5135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769418" y="5202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758305" y="5235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971348" y="4854892"/>
              <a:ext cx="4206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下一页的作业说明书就是一个这样的作业：编译、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链接、执行三个作业步，每一步通常由一个进程完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批处理作业：用作业控制语言写作业说明书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5780" y="1548765"/>
            <a:ext cx="5417820" cy="1895475"/>
            <a:chOff x="525780" y="1548765"/>
            <a:chExt cx="5417820" cy="189547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663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作业控制语言 JCL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365058" y="154876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描述批处理作业控制意图的语言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作业说明书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65058" y="1988820"/>
              <a:ext cx="32442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JCL 语句的序列，语句一般以特殊符号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（如 $）起始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作业控制程序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5058" y="27108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解释并处理作业说明书的程序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0308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15087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作业控制进程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65058" y="315087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执行作业控制程序的进程</a:t>
              </a:r>
            </a:p>
          </p:txBody>
        </p:sp>
      </p:grpSp>
      <p:grpSp>
        <p:nvGrpSpPr>
          <p:cNvPr id="22" name="c1-code-2"/>
          <p:cNvGrpSpPr/>
          <p:nvPr/>
        </p:nvGrpSpPr>
        <p:grpSpPr>
          <a:xfrm>
            <a:off x="533400" y="3575685"/>
            <a:ext cx="5410200" cy="1647825"/>
            <a:chOff x="533400" y="3575685"/>
            <a:chExt cx="5410200" cy="1647825"/>
          </a:xfrm>
        </p:grpSpPr>
        <p:sp>
          <p:nvSpPr>
            <p:cNvPr id="19" name="Rectangle 19"/>
            <p:cNvSpPr/>
            <p:nvPr/>
          </p:nvSpPr>
          <p:spPr>
            <a:xfrm>
              <a:off x="533400" y="3575685"/>
              <a:ext cx="5410200" cy="1647825"/>
            </a:xfrm>
            <a:prstGeom prst="roundRect">
              <a:avLst>
                <a:gd name="adj" fmla="val 57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1797" y="3727609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作业说明书示例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0273" y="3992404"/>
              <a:ext cx="907034" cy="1167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$JOB    J1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$FORTN  …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$LINK   …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$EXEC   …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$ENDJOB</a:t>
              </a:r>
            </a:p>
          </p:txBody>
        </p:sp>
      </p:grpSp>
      <p:grpSp>
        <p:nvGrpSpPr>
          <p:cNvPr id="24" name="c1-text-3"/>
          <p:cNvGrpSpPr/>
          <p:nvPr/>
        </p:nvGrpSpPr>
        <p:grpSpPr>
          <a:xfrm>
            <a:off x="526923" y="5434489"/>
            <a:ext cx="5052314" cy="500824"/>
            <a:chOff x="526923" y="5434489"/>
            <a:chExt cx="5052314" cy="500824"/>
          </a:xfrm>
        </p:grpSpPr>
        <p:sp>
          <p:nvSpPr>
            <p:cNvPr id="23" name="TextBox 23"/>
            <p:cNvSpPr txBox="1"/>
            <p:nvPr/>
          </p:nvSpPr>
          <p:spPr>
            <a:xfrm>
              <a:off x="526923" y="5434489"/>
              <a:ext cx="505231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作业说明书在作业进入系统时就交给了系统，它告诉系统这个作业分几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步、要用哪些资源，这正是作业调度挑选作业的依据。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6248400" y="1524000"/>
            <a:ext cx="5410200" cy="2926080"/>
            <a:chOff x="6248400" y="1524000"/>
            <a:chExt cx="5410200" cy="292608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5896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6406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55080" y="2150745"/>
              <a:ext cx="8665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$JOB J1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94358" y="2150745"/>
              <a:ext cx="2131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作业开始，作业名为 J1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24945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48400" y="2499360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5080" y="2638425"/>
              <a:ext cx="7993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$FORTN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194358" y="2638425"/>
              <a:ext cx="20170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 FORTRAN 源程序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9822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5080" y="3126105"/>
              <a:ext cx="5753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$LINK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94358" y="312610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链接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34699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48400" y="3474720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55080" y="3613785"/>
              <a:ext cx="6313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$EXEC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94358" y="361378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9576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5080" y="4101465"/>
              <a:ext cx="9225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$ENDJOB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94358" y="41014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作业结束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1524000"/>
              <a:ext cx="5410200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82915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llout-2"/>
          <p:cNvGrpSpPr/>
          <p:nvPr/>
        </p:nvGrpSpPr>
        <p:grpSpPr>
          <a:xfrm>
            <a:off x="6248400" y="4640580"/>
            <a:ext cx="5410200" cy="1243965"/>
            <a:chOff x="6248400" y="4640580"/>
            <a:chExt cx="5410200" cy="1243965"/>
          </a:xfrm>
        </p:grpSpPr>
        <p:sp>
          <p:nvSpPr>
            <p:cNvPr id="47" name="Rectangle 47"/>
            <p:cNvSpPr/>
            <p:nvPr/>
          </p:nvSpPr>
          <p:spPr>
            <a:xfrm>
              <a:off x="6248400" y="4640580"/>
              <a:ext cx="5410200" cy="1243965"/>
            </a:xfrm>
            <a:prstGeom prst="roundRect">
              <a:avLst>
                <a:gd name="adj" fmla="val 918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453188" y="5162550"/>
              <a:ext cx="200026" cy="200026"/>
              <a:chOff x="6453188" y="5162550"/>
              <a:chExt cx="200026" cy="20002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453188" y="51625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53200" y="52292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542088" y="52625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755130" y="4881562"/>
              <a:ext cx="45205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$FORTN、$LINK、$EXEC 各对应一个作业步；$JOB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 $ENDJOB 标出作业的开始和结束。作业控制进程读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到哪条语句，就执行对应的作业步。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作业控制进程：逐条解释执行作业说明书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flow-1"/>
          <p:cNvGrpSpPr/>
          <p:nvPr/>
        </p:nvGrpSpPr>
        <p:grpSpPr>
          <a:xfrm>
            <a:off x="680085" y="1702118"/>
            <a:ext cx="5982652" cy="4406264"/>
            <a:chOff x="680085" y="1702118"/>
            <a:chExt cx="5982652" cy="4406264"/>
          </a:xfrm>
        </p:grpSpPr>
        <p:sp>
          <p:nvSpPr>
            <p:cNvPr id="7" name="Freeform 7"/>
            <p:cNvSpPr/>
            <p:nvPr/>
          </p:nvSpPr>
          <p:spPr>
            <a:xfrm>
              <a:off x="3670935" y="2140268"/>
              <a:ext cx="9525" cy="250508"/>
            </a:xfrm>
            <a:custGeom>
              <a:avLst/>
              <a:gdLst/>
              <a:ahLst/>
              <a:cxnLst/>
              <a:rect l="l" t="t" r="r" b="b"/>
              <a:pathLst>
                <a:path w="9525" h="250508">
                  <a:moveTo>
                    <a:pt x="0" y="0"/>
                  </a:moveTo>
                  <a:lnTo>
                    <a:pt x="0" y="25050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618548" y="23907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670935" y="2933700"/>
              <a:ext cx="9525" cy="155258"/>
            </a:xfrm>
            <a:custGeom>
              <a:avLst/>
              <a:gdLst/>
              <a:ahLst/>
              <a:cxnLst/>
              <a:rect l="l" t="t" r="r" b="b"/>
              <a:pathLst>
                <a:path w="9525" h="155258">
                  <a:moveTo>
                    <a:pt x="0" y="0"/>
                  </a:moveTo>
                  <a:lnTo>
                    <a:pt x="0" y="1552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618548" y="30889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670935" y="3823335"/>
              <a:ext cx="9525" cy="73343"/>
            </a:xfrm>
            <a:custGeom>
              <a:avLst/>
              <a:gdLst/>
              <a:ahLst/>
              <a:cxnLst/>
              <a:rect l="l" t="t" r="r" b="b"/>
              <a:pathLst>
                <a:path w="9525" h="73343">
                  <a:moveTo>
                    <a:pt x="0" y="0"/>
                  </a:moveTo>
                  <a:lnTo>
                    <a:pt x="0" y="7334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618548" y="38966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584132" y="4302442"/>
              <a:ext cx="187642" cy="9525"/>
            </a:xfrm>
            <a:custGeom>
              <a:avLst/>
              <a:gdLst/>
              <a:ahLst/>
              <a:cxnLst/>
              <a:rect l="l" t="t" r="r" b="b"/>
              <a:pathLst>
                <a:path w="187642" h="9525">
                  <a:moveTo>
                    <a:pt x="187642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479358" y="42500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571048" y="4302442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0" y="0"/>
                  </a:moveTo>
                  <a:lnTo>
                    <a:pt x="187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758690" y="42500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579245" y="3508058"/>
              <a:ext cx="1087755" cy="479108"/>
            </a:xfrm>
            <a:custGeom>
              <a:avLst/>
              <a:gdLst/>
              <a:ahLst/>
              <a:cxnLst/>
              <a:rect l="l" t="t" r="r" b="b"/>
              <a:pathLst>
                <a:path w="1087755" h="479108">
                  <a:moveTo>
                    <a:pt x="0" y="479108"/>
                  </a:moveTo>
                  <a:lnTo>
                    <a:pt x="0" y="269558"/>
                  </a:lnTo>
                  <a:lnTo>
                    <a:pt x="0" y="0"/>
                  </a:lnTo>
                  <a:lnTo>
                    <a:pt x="982980" y="0"/>
                  </a:lnTo>
                  <a:lnTo>
                    <a:pt x="108775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667000" y="34556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763578" y="4521518"/>
              <a:ext cx="9525" cy="250508"/>
            </a:xfrm>
            <a:custGeom>
              <a:avLst/>
              <a:gdLst/>
              <a:ahLst/>
              <a:cxnLst/>
              <a:rect l="l" t="t" r="r" b="b"/>
              <a:pathLst>
                <a:path w="9525" h="250508">
                  <a:moveTo>
                    <a:pt x="0" y="0"/>
                  </a:moveTo>
                  <a:lnTo>
                    <a:pt x="0" y="25050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711190" y="47720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5763578" y="5314950"/>
              <a:ext cx="9525" cy="250507"/>
            </a:xfrm>
            <a:custGeom>
              <a:avLst/>
              <a:gdLst/>
              <a:ahLst/>
              <a:cxnLst/>
              <a:rect l="l" t="t" r="r" b="b"/>
              <a:pathLst>
                <a:path w="9525" h="250507">
                  <a:moveTo>
                    <a:pt x="0" y="0"/>
                  </a:moveTo>
                  <a:lnTo>
                    <a:pt x="0" y="25050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711190" y="55654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771775" y="1702118"/>
              <a:ext cx="17992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771775" y="2495550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771775" y="3193732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771775" y="4001452"/>
              <a:ext cx="1799272" cy="601027"/>
            </a:xfrm>
            <a:custGeom>
              <a:avLst/>
              <a:gdLst/>
              <a:ahLst/>
              <a:cxnLst/>
              <a:rect l="l" t="t" r="r" b="b"/>
              <a:pathLst>
                <a:path w="1799272" h="601027">
                  <a:moveTo>
                    <a:pt x="899160" y="0"/>
                  </a:moveTo>
                  <a:lnTo>
                    <a:pt x="1799272" y="300990"/>
                  </a:lnTo>
                  <a:lnTo>
                    <a:pt x="899160" y="601027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80085" y="3987165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863465" y="4083368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863465" y="4876800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863465" y="5670232"/>
              <a:ext cx="17992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147517" y="183213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读入作业内容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61360" y="262556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释放输入井空间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014218" y="3310414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顺序取一条作业控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制语句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147517" y="421338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是结束语句？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2528" y="4103846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执行该作业步（可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能创建子进程）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154003" y="421338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申请输出井空间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40160" y="500681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输出作业结果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40160" y="580024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进程自我终止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510790" y="408622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549080" y="41128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603432" y="408622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41723" y="41128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7114222" y="1524000"/>
            <a:ext cx="4544378" cy="1602105"/>
            <a:chOff x="7114222" y="1524000"/>
            <a:chExt cx="4544378" cy="1602105"/>
          </a:xfrm>
        </p:grpSpPr>
        <p:sp>
          <p:nvSpPr>
            <p:cNvPr id="44" name="Rectangle 44"/>
            <p:cNvSpPr/>
            <p:nvPr/>
          </p:nvSpPr>
          <p:spPr>
            <a:xfrm>
              <a:off x="7114222" y="1524000"/>
              <a:ext cx="454437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123748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361872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43042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输入井与输出井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54252" y="2110740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磁盘上划出的缓冲区（SPOOLing 技术）。作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业先被读入输入井，运行结果先写到输出井，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再由系统送往打印机等输出设备。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7114222" y="3316605"/>
            <a:ext cx="4544378" cy="2969895"/>
            <a:chOff x="7114222" y="3316605"/>
            <a:chExt cx="4544378" cy="2969895"/>
          </a:xfrm>
        </p:grpSpPr>
        <p:sp>
          <p:nvSpPr>
            <p:cNvPr id="50" name="Rectangle 50"/>
            <p:cNvSpPr/>
            <p:nvPr/>
          </p:nvSpPr>
          <p:spPr>
            <a:xfrm>
              <a:off x="7114222" y="3316605"/>
              <a:ext cx="4544378" cy="2969895"/>
            </a:xfrm>
            <a:prstGeom prst="roundRect">
              <a:avLst>
                <a:gd name="adj" fmla="val 449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323772" y="352615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405129" y="35618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流程要点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329488" y="396621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87602" y="3903345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作业内容读入后，释放它在输入井中占的空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间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329488" y="458724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487602" y="4524375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每取一条语句就执行一个作业步，执行时可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能创建子进程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7329488" y="52082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487602" y="5145405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取到结束语句：申请输出井空间，输出结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果，作业控制进程自我终止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交互式作业：帐户管理、注册与注销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table-1"/>
          <p:cNvGrpSpPr/>
          <p:nvPr/>
        </p:nvGrpSpPr>
        <p:grpSpPr>
          <a:xfrm>
            <a:off x="533400" y="1524000"/>
            <a:ext cx="5842635" cy="2223135"/>
            <a:chOff x="533400" y="1524000"/>
            <a:chExt cx="5842635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5749" y="1648301"/>
              <a:ext cx="1097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2.4.2 帐户管理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9926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3412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帐户文件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35493" y="2054066"/>
              <a:ext cx="40723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/etc/passwd 文件：（用户名，口令，用户根目录，同组用户，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余额……）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307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535555"/>
              <a:ext cx="584263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3412" y="27598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创建帐户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35493" y="2659856"/>
              <a:ext cx="39941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用户提供用户名、口令、资金；系统操作员建立用户根目录（如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/usr/zhang），填写 passwd 文件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1365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3412" y="33656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撤销帐户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35493" y="3265646"/>
              <a:ext cx="386613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删除该用户目录及其所有文件；在 passwd 文件中清除对应的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entry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842635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930718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1" name="c1-table-2"/>
          <p:cNvGrpSpPr/>
          <p:nvPr/>
        </p:nvGrpSpPr>
        <p:grpSpPr>
          <a:xfrm>
            <a:off x="533400" y="3922395"/>
            <a:ext cx="5842635" cy="2223135"/>
            <a:chOff x="533400" y="3922395"/>
            <a:chExt cx="5842635" cy="2223135"/>
          </a:xfrm>
        </p:grpSpPr>
        <p:sp>
          <p:nvSpPr>
            <p:cNvPr id="22" name="Rectangle 22"/>
            <p:cNvSpPr/>
            <p:nvPr/>
          </p:nvSpPr>
          <p:spPr>
            <a:xfrm>
              <a:off x="533400" y="3922395"/>
              <a:ext cx="5842635" cy="60579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2783" y="4046696"/>
              <a:ext cx="10071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作业怎样变成进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75814" y="414670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批处理作业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854194" y="414670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交互式作业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3412" y="465248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进入系统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919288" y="465248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先排在输入井，成为后备作业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197668" y="4652486"/>
              <a:ext cx="2099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用户注册后直接建立 shell 进程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929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933950"/>
              <a:ext cx="584263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5058251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作业调度（高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级）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19288" y="5058251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选中后装入内存，建立作业控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制进程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97668" y="515826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没有这一级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5349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3412" y="5664041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进程调度（低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级）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919288" y="5764054"/>
              <a:ext cx="1980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决定每个作业步何时占用 CPU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197668" y="5764054"/>
              <a:ext cx="18298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决定命令进程何时占用 CPU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922395"/>
              <a:ext cx="5842635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814512" y="3922395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092892" y="3922395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table-1"/>
          <p:cNvGrpSpPr/>
          <p:nvPr/>
        </p:nvGrpSpPr>
        <p:grpSpPr>
          <a:xfrm>
            <a:off x="6680835" y="1524000"/>
            <a:ext cx="4977765" cy="2428875"/>
            <a:chOff x="6680835" y="1524000"/>
            <a:chExt cx="4977765" cy="2428875"/>
          </a:xfrm>
        </p:grpSpPr>
        <p:sp>
          <p:nvSpPr>
            <p:cNvPr id="42" name="Rectangle 42"/>
            <p:cNvSpPr/>
            <p:nvPr/>
          </p:nvSpPr>
          <p:spPr>
            <a:xfrm>
              <a:off x="6680835" y="1524000"/>
              <a:ext cx="497776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2157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71045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80848" y="21540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175308" y="2054066"/>
              <a:ext cx="311226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logon: 输入用户名；password: 输入口令（不回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680835" y="25307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680835" y="2535555"/>
              <a:ext cx="497776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80848" y="26598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175308" y="265985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在终端上交互地输入命令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680835" y="293655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80848" y="30656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显式注销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75308" y="3065621"/>
              <a:ext cx="1119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用户输入 logoff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680835" y="334232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680835" y="3347085"/>
              <a:ext cx="497776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780848" y="35713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隐式注销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5308" y="3471386"/>
              <a:ext cx="31620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长时间没有输入命令（如 5 分钟）时，系统自动注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680835" y="1524000"/>
              <a:ext cx="4977765" cy="24288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8070532" y="1524000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callout-2"/>
          <p:cNvGrpSpPr/>
          <p:nvPr/>
        </p:nvGrpSpPr>
        <p:grpSpPr>
          <a:xfrm>
            <a:off x="6680835" y="4128135"/>
            <a:ext cx="4977765" cy="2017395"/>
            <a:chOff x="6680835" y="4128135"/>
            <a:chExt cx="4977765" cy="2017395"/>
          </a:xfrm>
        </p:grpSpPr>
        <p:sp>
          <p:nvSpPr>
            <p:cNvPr id="61" name="Rectangle 61"/>
            <p:cNvSpPr/>
            <p:nvPr/>
          </p:nvSpPr>
          <p:spPr>
            <a:xfrm>
              <a:off x="6680835" y="4128135"/>
              <a:ext cx="4977765" cy="2017395"/>
            </a:xfrm>
            <a:prstGeom prst="roundRect">
              <a:avLst>
                <a:gd name="adj" fmla="val 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885623" y="5036820"/>
              <a:ext cx="200026" cy="200026"/>
              <a:chOff x="6885623" y="5036820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885623" y="50368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985635" y="51034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974523" y="51368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7188327" y="4793932"/>
              <a:ext cx="405993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补充：现代 UNIX/Linux 把口令的散列值放在只有管理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员可读的 /etc/shadow 中，/etc/passwd 里不再存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放口令。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99562" cy="909257"/>
            <a:chOff x="520446" y="342900"/>
            <a:chExt cx="52995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995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命令解释程序（shell）的工作循环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3" name="c1-flow-1"/>
          <p:cNvGrpSpPr/>
          <p:nvPr/>
        </p:nvGrpSpPr>
        <p:grpSpPr>
          <a:xfrm>
            <a:off x="937260" y="1735455"/>
            <a:ext cx="6110287" cy="4448175"/>
            <a:chOff x="937260" y="1735455"/>
            <a:chExt cx="6110287" cy="4448175"/>
          </a:xfrm>
        </p:grpSpPr>
        <p:sp>
          <p:nvSpPr>
            <p:cNvPr id="7" name="Freeform 7"/>
            <p:cNvSpPr/>
            <p:nvPr/>
          </p:nvSpPr>
          <p:spPr>
            <a:xfrm>
              <a:off x="3888105" y="2107882"/>
              <a:ext cx="9525" cy="319088"/>
            </a:xfrm>
            <a:custGeom>
              <a:avLst/>
              <a:gdLst/>
              <a:ahLst/>
              <a:cxnLst/>
              <a:rect l="l" t="t" r="r" b="b"/>
              <a:pathLst>
                <a:path w="9525" h="319088">
                  <a:moveTo>
                    <a:pt x="0" y="0"/>
                  </a:moveTo>
                  <a:lnTo>
                    <a:pt x="0" y="3190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835718" y="24269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888105" y="2904172"/>
              <a:ext cx="9525" cy="223838"/>
            </a:xfrm>
            <a:custGeom>
              <a:avLst/>
              <a:gdLst/>
              <a:ahLst/>
              <a:cxnLst/>
              <a:rect l="l" t="t" r="r" b="b"/>
              <a:pathLst>
                <a:path w="9525" h="223838">
                  <a:moveTo>
                    <a:pt x="0" y="0"/>
                  </a:moveTo>
                  <a:lnTo>
                    <a:pt x="0" y="2238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835718" y="31280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697730" y="3514725"/>
              <a:ext cx="606742" cy="9525"/>
            </a:xfrm>
            <a:custGeom>
              <a:avLst/>
              <a:gdLst/>
              <a:ahLst/>
              <a:cxnLst/>
              <a:rect l="l" t="t" r="r" b="b"/>
              <a:pathLst>
                <a:path w="606742" h="9525">
                  <a:moveTo>
                    <a:pt x="0" y="0"/>
                  </a:moveTo>
                  <a:lnTo>
                    <a:pt x="60674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304472" y="34623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88105" y="3795712"/>
              <a:ext cx="9525" cy="128588"/>
            </a:xfrm>
            <a:custGeom>
              <a:avLst/>
              <a:gdLst/>
              <a:ahLst/>
              <a:cxnLst/>
              <a:rect l="l" t="t" r="r" b="b"/>
              <a:pathLst>
                <a:path w="9525" h="128588">
                  <a:moveTo>
                    <a:pt x="0" y="0"/>
                  </a:moveTo>
                  <a:lnTo>
                    <a:pt x="0" y="1285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835718" y="3924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697730" y="4310062"/>
              <a:ext cx="606742" cy="9525"/>
            </a:xfrm>
            <a:custGeom>
              <a:avLst/>
              <a:gdLst/>
              <a:ahLst/>
              <a:cxnLst/>
              <a:rect l="l" t="t" r="r" b="b"/>
              <a:pathLst>
                <a:path w="606742" h="9525">
                  <a:moveTo>
                    <a:pt x="0" y="0"/>
                  </a:moveTo>
                  <a:lnTo>
                    <a:pt x="60674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304472" y="42576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888105" y="4592002"/>
              <a:ext cx="9525" cy="223838"/>
            </a:xfrm>
            <a:custGeom>
              <a:avLst/>
              <a:gdLst/>
              <a:ahLst/>
              <a:cxnLst/>
              <a:rect l="l" t="t" r="r" b="b"/>
              <a:pathLst>
                <a:path w="9525" h="223838">
                  <a:moveTo>
                    <a:pt x="0" y="0"/>
                  </a:moveTo>
                  <a:lnTo>
                    <a:pt x="0" y="2238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835718" y="48158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888105" y="5293042"/>
              <a:ext cx="9525" cy="223838"/>
            </a:xfrm>
            <a:custGeom>
              <a:avLst/>
              <a:gdLst/>
              <a:ahLst/>
              <a:cxnLst/>
              <a:rect l="l" t="t" r="r" b="b"/>
              <a:pathLst>
                <a:path w="9525" h="223838">
                  <a:moveTo>
                    <a:pt x="0" y="0"/>
                  </a:moveTo>
                  <a:lnTo>
                    <a:pt x="0" y="2238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835718" y="55168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697730" y="5902642"/>
              <a:ext cx="606742" cy="9525"/>
            </a:xfrm>
            <a:custGeom>
              <a:avLst/>
              <a:gdLst/>
              <a:ahLst/>
              <a:cxnLst/>
              <a:rect l="l" t="t" r="r" b="b"/>
              <a:pathLst>
                <a:path w="606742" h="9525">
                  <a:moveTo>
                    <a:pt x="0" y="0"/>
                  </a:moveTo>
                  <a:lnTo>
                    <a:pt x="60674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304472" y="58502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470785" y="5902642"/>
              <a:ext cx="607695" cy="9525"/>
            </a:xfrm>
            <a:custGeom>
              <a:avLst/>
              <a:gdLst/>
              <a:ahLst/>
              <a:cxnLst/>
              <a:rect l="l" t="t" r="r" b="b"/>
              <a:pathLst>
                <a:path w="607695" h="9525">
                  <a:moveTo>
                    <a:pt x="60769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366010" y="58502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4802505" y="1905952"/>
              <a:ext cx="2245042" cy="2675572"/>
            </a:xfrm>
            <a:custGeom>
              <a:avLst/>
              <a:gdLst/>
              <a:ahLst/>
              <a:cxnLst/>
              <a:rect l="l" t="t" r="r" b="b"/>
              <a:pathLst>
                <a:path w="2245042" h="2675572">
                  <a:moveTo>
                    <a:pt x="2035492" y="2404110"/>
                  </a:moveTo>
                  <a:lnTo>
                    <a:pt x="2245042" y="2404110"/>
                  </a:lnTo>
                  <a:lnTo>
                    <a:pt x="2238375" y="2404110"/>
                  </a:lnTo>
                  <a:lnTo>
                    <a:pt x="2238375" y="2675572"/>
                  </a:lnTo>
                  <a:lnTo>
                    <a:pt x="2238375" y="0"/>
                  </a:lnTo>
                  <a:lnTo>
                    <a:pt x="2238375" y="16193"/>
                  </a:lnTo>
                  <a:lnTo>
                    <a:pt x="104775" y="16193"/>
                  </a:lnTo>
                  <a:lnTo>
                    <a:pt x="0" y="161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697730" y="18697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4802505" y="1905952"/>
              <a:ext cx="2245042" cy="4012882"/>
            </a:xfrm>
            <a:custGeom>
              <a:avLst/>
              <a:gdLst/>
              <a:ahLst/>
              <a:cxnLst/>
              <a:rect l="l" t="t" r="r" b="b"/>
              <a:pathLst>
                <a:path w="2245042" h="4012882">
                  <a:moveTo>
                    <a:pt x="2035492" y="3996690"/>
                  </a:moveTo>
                  <a:lnTo>
                    <a:pt x="2245042" y="3996690"/>
                  </a:lnTo>
                  <a:lnTo>
                    <a:pt x="2245042" y="4012882"/>
                  </a:lnTo>
                  <a:lnTo>
                    <a:pt x="2238375" y="4012882"/>
                  </a:lnTo>
                  <a:lnTo>
                    <a:pt x="2238375" y="0"/>
                  </a:lnTo>
                  <a:lnTo>
                    <a:pt x="2238375" y="16193"/>
                  </a:lnTo>
                  <a:lnTo>
                    <a:pt x="104775" y="16193"/>
                  </a:lnTo>
                  <a:lnTo>
                    <a:pt x="0" y="161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697730" y="18697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606868" y="1905952"/>
              <a:ext cx="1366838" cy="3810952"/>
            </a:xfrm>
            <a:custGeom>
              <a:avLst/>
              <a:gdLst/>
              <a:ahLst/>
              <a:cxnLst/>
              <a:rect l="l" t="t" r="r" b="b"/>
              <a:pathLst>
                <a:path w="1366838" h="3810952">
                  <a:moveTo>
                    <a:pt x="44768" y="3810952"/>
                  </a:moveTo>
                  <a:lnTo>
                    <a:pt x="44768" y="3601402"/>
                  </a:lnTo>
                  <a:lnTo>
                    <a:pt x="44768" y="0"/>
                  </a:lnTo>
                  <a:lnTo>
                    <a:pt x="0" y="0"/>
                  </a:lnTo>
                  <a:lnTo>
                    <a:pt x="1262062" y="0"/>
                  </a:lnTo>
                  <a:lnTo>
                    <a:pt x="1262062" y="16193"/>
                  </a:lnTo>
                  <a:lnTo>
                    <a:pt x="1366838" y="161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973705" y="18697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078480" y="1735455"/>
              <a:ext cx="1619250" cy="37242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078480" y="2531745"/>
              <a:ext cx="161925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3078480" y="3232785"/>
              <a:ext cx="1619250" cy="562928"/>
            </a:xfrm>
            <a:custGeom>
              <a:avLst/>
              <a:gdLst/>
              <a:ahLst/>
              <a:cxnLst/>
              <a:rect l="l" t="t" r="r" b="b"/>
              <a:pathLst>
                <a:path w="1619250" h="562928">
                  <a:moveTo>
                    <a:pt x="809625" y="0"/>
                  </a:moveTo>
                  <a:lnTo>
                    <a:pt x="1619250" y="281940"/>
                  </a:lnTo>
                  <a:lnTo>
                    <a:pt x="809625" y="562928"/>
                  </a:lnTo>
                  <a:lnTo>
                    <a:pt x="0" y="28194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09248" y="3328035"/>
              <a:ext cx="1428750" cy="37242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3078480" y="4029075"/>
              <a:ext cx="1619250" cy="562928"/>
            </a:xfrm>
            <a:custGeom>
              <a:avLst/>
              <a:gdLst/>
              <a:ahLst/>
              <a:cxnLst/>
              <a:rect l="l" t="t" r="r" b="b"/>
              <a:pathLst>
                <a:path w="1619250" h="562928">
                  <a:moveTo>
                    <a:pt x="809625" y="0"/>
                  </a:moveTo>
                  <a:lnTo>
                    <a:pt x="1619250" y="280988"/>
                  </a:lnTo>
                  <a:lnTo>
                    <a:pt x="809625" y="562928"/>
                  </a:lnTo>
                  <a:lnTo>
                    <a:pt x="0" y="28098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09248" y="4124325"/>
              <a:ext cx="142875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078480" y="4920615"/>
              <a:ext cx="161925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3078480" y="5621655"/>
              <a:ext cx="1619250" cy="561975"/>
            </a:xfrm>
            <a:custGeom>
              <a:avLst/>
              <a:gdLst/>
              <a:ahLst/>
              <a:cxnLst/>
              <a:rect l="l" t="t" r="r" b="b"/>
              <a:pathLst>
                <a:path w="1619250" h="561975">
                  <a:moveTo>
                    <a:pt x="809625" y="0"/>
                  </a:moveTo>
                  <a:lnTo>
                    <a:pt x="1619250" y="280988"/>
                  </a:lnTo>
                  <a:lnTo>
                    <a:pt x="809625" y="561975"/>
                  </a:lnTo>
                  <a:lnTo>
                    <a:pt x="0" y="28098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09248" y="5716905"/>
              <a:ext cx="142875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37260" y="5716905"/>
              <a:ext cx="142875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466316" y="1848802"/>
              <a:ext cx="8435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显示提示符 $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246691" y="2645093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读入终端命令并分析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504657" y="3441382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logout？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623560" y="344138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记帐，结束会话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529393" y="423672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内部命令？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835587" y="423672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直接处理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529393" y="50330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建立子进程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529393" y="582930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后台命令？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694236" y="582930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输出子进程号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222248" y="582930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等子进程结束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948238" y="3318510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987671" y="3341370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3916680" y="3833812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940492" y="3856673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948238" y="4113848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987671" y="413670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916680" y="4676775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940492" y="4699635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4948238" y="5706428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4987671" y="572928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2617470" y="5706428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2656904" y="572928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75" name="c2-kv-1"/>
          <p:cNvGrpSpPr/>
          <p:nvPr/>
        </p:nvGrpSpPr>
        <p:grpSpPr>
          <a:xfrm>
            <a:off x="7540180" y="1545431"/>
            <a:ext cx="4118420" cy="1850517"/>
            <a:chOff x="7540180" y="1545431"/>
            <a:chExt cx="4118420" cy="1850517"/>
          </a:xfrm>
        </p:grpSpPr>
        <p:sp>
          <p:nvSpPr>
            <p:cNvPr id="64" name="TextBox 64"/>
            <p:cNvSpPr txBox="1"/>
            <p:nvPr/>
          </p:nvSpPr>
          <p:spPr>
            <a:xfrm>
              <a:off x="7540180" y="15454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内部命令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465058" y="1545431"/>
              <a:ext cx="27764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由命令解释程序自己处理，不建立子进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程，如 cd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546658" y="2056448"/>
              <a:ext cx="41119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540180" y="21588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其他命令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465058" y="215884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建立子进程来执行对应的程序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7546658" y="2430780"/>
              <a:ext cx="41119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540180" y="25331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前台命令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465058" y="253317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等子进程结束后，才显示下一个提示符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546658" y="2805112"/>
              <a:ext cx="41119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540180" y="29065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后台命令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465058" y="2906554"/>
              <a:ext cx="293903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输出子进程号后马上显示提示符，子进程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在后台运行</a:t>
              </a:r>
            </a:p>
          </p:txBody>
        </p:sp>
      </p:grpSp>
      <p:grpSp>
        <p:nvGrpSpPr>
          <p:cNvPr id="82" name="c2-callout-2"/>
          <p:cNvGrpSpPr/>
          <p:nvPr/>
        </p:nvGrpSpPr>
        <p:grpSpPr>
          <a:xfrm>
            <a:off x="7546658" y="3510915"/>
            <a:ext cx="4111942" cy="702945"/>
            <a:chOff x="7546658" y="3510915"/>
            <a:chExt cx="4111942" cy="702945"/>
          </a:xfrm>
        </p:grpSpPr>
        <p:sp>
          <p:nvSpPr>
            <p:cNvPr id="76" name="Rectangle 76"/>
            <p:cNvSpPr/>
            <p:nvPr/>
          </p:nvSpPr>
          <p:spPr>
            <a:xfrm>
              <a:off x="7546658" y="3510915"/>
              <a:ext cx="4111942" cy="702945"/>
            </a:xfrm>
            <a:prstGeom prst="roundRect">
              <a:avLst>
                <a:gd name="adj" fmla="val 16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751445" y="3761423"/>
              <a:ext cx="200026" cy="200025"/>
              <a:chOff x="7751445" y="3761423"/>
              <a:chExt cx="200026" cy="200025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7751445" y="37614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7791184" y="38058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825899" y="39169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8054530" y="3655219"/>
              <a:ext cx="28902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 shell 中命令末尾加 &amp;（如 cc prog.c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&amp;），就是后台命令。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作业、进程、线程三者的关系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ree-1"/>
          <p:cNvGrpSpPr/>
          <p:nvPr/>
        </p:nvGrpSpPr>
        <p:grpSpPr>
          <a:xfrm>
            <a:off x="783908" y="1838325"/>
            <a:ext cx="4476750" cy="2514600"/>
            <a:chOff x="783908" y="1838325"/>
            <a:chExt cx="4476750" cy="2514600"/>
          </a:xfrm>
        </p:grpSpPr>
        <p:sp>
          <p:nvSpPr>
            <p:cNvPr id="7" name="Freeform 7"/>
            <p:cNvSpPr/>
            <p:nvPr/>
          </p:nvSpPr>
          <p:spPr>
            <a:xfrm>
              <a:off x="1031558" y="3095625"/>
              <a:ext cx="497205" cy="1047750"/>
            </a:xfrm>
            <a:custGeom>
              <a:avLst/>
              <a:gdLst/>
              <a:ahLst/>
              <a:cxnLst/>
              <a:rect l="l" t="t" r="r" b="b"/>
              <a:pathLst>
                <a:path w="497205" h="1047750">
                  <a:moveTo>
                    <a:pt x="497205" y="0"/>
                  </a:moveTo>
                  <a:lnTo>
                    <a:pt x="0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28762" y="3095625"/>
              <a:ext cx="498158" cy="1047750"/>
            </a:xfrm>
            <a:custGeom>
              <a:avLst/>
              <a:gdLst/>
              <a:ahLst/>
              <a:cxnLst/>
              <a:rect l="l" t="t" r="r" b="b"/>
              <a:pathLst>
                <a:path w="498158" h="1047750">
                  <a:moveTo>
                    <a:pt x="0" y="0"/>
                  </a:moveTo>
                  <a:lnTo>
                    <a:pt x="498158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022282" y="3095625"/>
              <a:ext cx="9525" cy="1047750"/>
            </a:xfrm>
            <a:custGeom>
              <a:avLst/>
              <a:gdLst/>
              <a:ahLst/>
              <a:cxnLst/>
              <a:rect l="l" t="t" r="r" b="b"/>
              <a:pathLst>
                <a:path w="9525"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017645" y="3095625"/>
              <a:ext cx="497205" cy="1047750"/>
            </a:xfrm>
            <a:custGeom>
              <a:avLst/>
              <a:gdLst/>
              <a:ahLst/>
              <a:cxnLst/>
              <a:rect l="l" t="t" r="r" b="b"/>
              <a:pathLst>
                <a:path w="497205" h="1047750">
                  <a:moveTo>
                    <a:pt x="497205" y="0"/>
                  </a:moveTo>
                  <a:lnTo>
                    <a:pt x="0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514850" y="3095625"/>
              <a:ext cx="498157" cy="1047750"/>
            </a:xfrm>
            <a:custGeom>
              <a:avLst/>
              <a:gdLst/>
              <a:ahLst/>
              <a:cxnLst/>
              <a:rect l="l" t="t" r="r" b="b"/>
              <a:pathLst>
                <a:path w="498157" h="1047750">
                  <a:moveTo>
                    <a:pt x="0" y="0"/>
                  </a:moveTo>
                  <a:lnTo>
                    <a:pt x="498157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528762" y="2047875"/>
              <a:ext cx="1493520" cy="1047750"/>
            </a:xfrm>
            <a:custGeom>
              <a:avLst/>
              <a:gdLst/>
              <a:ahLst/>
              <a:cxnLst/>
              <a:rect l="l" t="t" r="r" b="b"/>
              <a:pathLst>
                <a:path w="1493520" h="1047750">
                  <a:moveTo>
                    <a:pt x="1493520" y="0"/>
                  </a:moveTo>
                  <a:lnTo>
                    <a:pt x="0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022282" y="2047875"/>
              <a:ext cx="9525" cy="1047750"/>
            </a:xfrm>
            <a:custGeom>
              <a:avLst/>
              <a:gdLst/>
              <a:ahLst/>
              <a:cxnLst/>
              <a:rect l="l" t="t" r="r" b="b"/>
              <a:pathLst>
                <a:path w="9525"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022282" y="2047875"/>
              <a:ext cx="1492568" cy="1047750"/>
            </a:xfrm>
            <a:custGeom>
              <a:avLst/>
              <a:gdLst/>
              <a:ahLst/>
              <a:cxnLst/>
              <a:rect l="l" t="t" r="r" b="b"/>
              <a:pathLst>
                <a:path w="1492568" h="1047750">
                  <a:moveTo>
                    <a:pt x="0" y="0"/>
                  </a:moveTo>
                  <a:lnTo>
                    <a:pt x="1492568" y="1047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783908" y="3933825"/>
              <a:ext cx="49434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779270" y="3933825"/>
              <a:ext cx="49434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218248" y="2886075"/>
              <a:ext cx="62103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774632" y="3933825"/>
              <a:ext cx="49434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711768" y="2886075"/>
              <a:ext cx="62103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770948" y="3933825"/>
              <a:ext cx="49434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766310" y="3933825"/>
              <a:ext cx="49434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205288" y="2886075"/>
              <a:ext cx="62103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774632" y="1838325"/>
              <a:ext cx="494348" cy="419100"/>
            </a:xfrm>
            <a:prstGeom prst="roundRect">
              <a:avLst>
                <a:gd name="adj" fmla="val 18182"/>
              </a:avLst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5068" y="40733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70431" y="40733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4990" y="302561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65793" y="40733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798510" y="302561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861156" y="40733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56518" y="40733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91078" y="302561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65793" y="19778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作业</a:t>
              </a:r>
            </a:p>
          </p:txBody>
        </p:sp>
      </p:grpSp>
      <p:grpSp>
        <p:nvGrpSpPr>
          <p:cNvPr id="40" name="c1-callout-2"/>
          <p:cNvGrpSpPr/>
          <p:nvPr/>
        </p:nvGrpSpPr>
        <p:grpSpPr>
          <a:xfrm>
            <a:off x="533400" y="4857750"/>
            <a:ext cx="4977765" cy="782955"/>
            <a:chOff x="533400" y="4857750"/>
            <a:chExt cx="4977765" cy="782955"/>
          </a:xfrm>
        </p:grpSpPr>
        <p:sp>
          <p:nvSpPr>
            <p:cNvPr id="34" name="Rectangle 34"/>
            <p:cNvSpPr/>
            <p:nvPr/>
          </p:nvSpPr>
          <p:spPr>
            <a:xfrm>
              <a:off x="533400" y="485775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149215"/>
              <a:ext cx="200026" cy="200026"/>
              <a:chOff x="738188" y="5149215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1492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52158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27088" y="52492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006340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例：一个作业分几个作业步，每步一个进程，每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个进程里又有一个或多个线程。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5815965" y="1524000"/>
            <a:ext cx="5842635" cy="1800225"/>
            <a:chOff x="5815965" y="1524000"/>
            <a:chExt cx="5842635" cy="1800225"/>
          </a:xfrm>
        </p:grpSpPr>
        <p:sp>
          <p:nvSpPr>
            <p:cNvPr id="41" name="Rectangle 41"/>
            <p:cNvSpPr/>
            <p:nvPr/>
          </p:nvSpPr>
          <p:spPr>
            <a:xfrm>
              <a:off x="5815965" y="1524000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3821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小结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25953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923788" y="22217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作业与进程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25868" y="2108359"/>
              <a:ext cx="39143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作业进入内存后变为进程；一个作业通常与多个进程相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15965" y="2643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815965" y="264795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923788" y="28970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进程与线程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25868" y="2783681"/>
              <a:ext cx="39143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一个进程一般包含多个线程，至少包含一个线程；不支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持多线程的系统，可以把每个进程看成单线程进程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1524000"/>
              <a:ext cx="5842635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213282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table-2"/>
          <p:cNvGrpSpPr/>
          <p:nvPr/>
        </p:nvGrpSpPr>
        <p:grpSpPr>
          <a:xfrm>
            <a:off x="5815965" y="3514725"/>
            <a:ext cx="5842635" cy="1795462"/>
            <a:chOff x="5815965" y="3514725"/>
            <a:chExt cx="5842635" cy="1795462"/>
          </a:xfrm>
        </p:grpSpPr>
        <p:sp>
          <p:nvSpPr>
            <p:cNvPr id="53" name="Rectangle 53"/>
            <p:cNvSpPr/>
            <p:nvPr/>
          </p:nvSpPr>
          <p:spPr>
            <a:xfrm>
              <a:off x="5815965" y="3514725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338214" y="364950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914905" y="364950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是什么的单位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23788" y="40981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325868" y="40981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用户提交计算任务的单位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15965" y="440721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815965" y="4411980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23788" y="45477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25868" y="454771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资源分配的单位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815965" y="48558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923788" y="499633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325868" y="499633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执行（调度）的单位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815965" y="3514725"/>
              <a:ext cx="584263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7213282" y="351472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722876" cy="3569017"/>
            <a:chOff x="667512" y="1835468"/>
            <a:chExt cx="4722876" cy="35690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第七部分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722876" cy="1275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500"/>
                </a:lnSpc>
              </a:pPr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实例：Java、Linux 与</a:t>
              </a:r>
              <a:br/>
              <a:r>
                <a:rPr lang="en-US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6128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9490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看三个真实系统怎样表示和管理进程与线程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4596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402455"/>
              <a:ext cx="15556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2.5.1 Java 线程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8139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756785"/>
              <a:ext cx="22195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2.5.2 Linux 进程与线程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51682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5111115"/>
              <a:ext cx="31268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2.5.3 Windows 进程、线程与纤程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91954" cy="909257"/>
            <a:chOff x="520446" y="342900"/>
            <a:chExt cx="84919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919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线程的四种基本状态，以及与操作系统线程的对应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graph-1"/>
          <p:cNvGrpSpPr/>
          <p:nvPr/>
        </p:nvGrpSpPr>
        <p:grpSpPr>
          <a:xfrm>
            <a:off x="798195" y="1620202"/>
            <a:ext cx="4826317" cy="2982278"/>
            <a:chOff x="798195" y="1620202"/>
            <a:chExt cx="4826317" cy="2982278"/>
          </a:xfrm>
        </p:grpSpPr>
        <p:sp>
          <p:nvSpPr>
            <p:cNvPr id="7" name="Freeform 7"/>
            <p:cNvSpPr/>
            <p:nvPr/>
          </p:nvSpPr>
          <p:spPr>
            <a:xfrm>
              <a:off x="1629728" y="2319338"/>
              <a:ext cx="1023938" cy="561022"/>
            </a:xfrm>
            <a:custGeom>
              <a:avLst/>
              <a:gdLst/>
              <a:ahLst/>
              <a:cxnLst/>
              <a:rect l="l" t="t" r="r" b="b"/>
              <a:pathLst>
                <a:path w="1023938" h="561022">
                  <a:moveTo>
                    <a:pt x="0" y="561022"/>
                  </a:moveTo>
                  <a:lnTo>
                    <a:pt x="10239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30805" y="2273618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0"/>
                  </a:moveTo>
                  <a:lnTo>
                    <a:pt x="46673" y="87630"/>
                  </a:lnTo>
                  <a:lnTo>
                    <a:pt x="0" y="38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529965" y="2260282"/>
              <a:ext cx="1171575" cy="590550"/>
            </a:xfrm>
            <a:custGeom>
              <a:avLst/>
              <a:gdLst/>
              <a:ahLst/>
              <a:cxnLst/>
              <a:rect l="l" t="t" r="r" b="b"/>
              <a:pathLst>
                <a:path w="1171575" h="590550">
                  <a:moveTo>
                    <a:pt x="0" y="0"/>
                  </a:moveTo>
                  <a:lnTo>
                    <a:pt x="1171575" y="5905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679632" y="2808922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106680" y="84773"/>
                  </a:moveTo>
                  <a:lnTo>
                    <a:pt x="0" y="84773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648585" y="2448878"/>
              <a:ext cx="263207" cy="1242060"/>
            </a:xfrm>
            <a:custGeom>
              <a:avLst/>
              <a:gdLst/>
              <a:ahLst/>
              <a:cxnLst/>
              <a:rect l="l" t="t" r="r" b="b"/>
              <a:pathLst>
                <a:path w="263207" h="1242060">
                  <a:moveTo>
                    <a:pt x="263207" y="0"/>
                  </a:moveTo>
                  <a:cubicBezTo>
                    <a:pt x="15557" y="441325"/>
                    <a:pt x="0" y="855345"/>
                    <a:pt x="216535" y="124206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823210" y="3667125"/>
              <a:ext cx="88583" cy="106680"/>
            </a:xfrm>
            <a:custGeom>
              <a:avLst/>
              <a:gdLst/>
              <a:ahLst/>
              <a:cxnLst/>
              <a:rect l="l" t="t" r="r" b="b"/>
              <a:pathLst>
                <a:path w="88583" h="106680">
                  <a:moveTo>
                    <a:pt x="88583" y="106680"/>
                  </a:moveTo>
                  <a:lnTo>
                    <a:pt x="0" y="46672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348990" y="2531745"/>
              <a:ext cx="262572" cy="1242060"/>
            </a:xfrm>
            <a:custGeom>
              <a:avLst/>
              <a:gdLst/>
              <a:ahLst/>
              <a:cxnLst/>
              <a:rect l="l" t="t" r="r" b="b"/>
              <a:pathLst>
                <a:path w="262572" h="1242060">
                  <a:moveTo>
                    <a:pt x="0" y="1242060"/>
                  </a:moveTo>
                  <a:cubicBezTo>
                    <a:pt x="247015" y="800100"/>
                    <a:pt x="262572" y="386080"/>
                    <a:pt x="46672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348990" y="2448878"/>
              <a:ext cx="88582" cy="106680"/>
            </a:xfrm>
            <a:custGeom>
              <a:avLst/>
              <a:gdLst/>
              <a:ahLst/>
              <a:cxnLst/>
              <a:rect l="l" t="t" r="r" b="b"/>
              <a:pathLst>
                <a:path w="88582" h="106680">
                  <a:moveTo>
                    <a:pt x="0" y="0"/>
                  </a:moveTo>
                  <a:lnTo>
                    <a:pt x="88582" y="60007"/>
                  </a:lnTo>
                  <a:lnTo>
                    <a:pt x="4762" y="1066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798195" y="2657475"/>
              <a:ext cx="876300" cy="876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691765" y="1620202"/>
              <a:ext cx="876300" cy="87630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4748212" y="2657475"/>
              <a:ext cx="876300" cy="8763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2691765" y="3726180"/>
              <a:ext cx="876300" cy="8763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70389" y="3021330"/>
              <a:ext cx="331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69365" y="1984058"/>
              <a:ext cx="7211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Runnable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91043" y="3021330"/>
              <a:ext cx="3906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Dead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16032" y="4090035"/>
              <a:ext cx="6277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Blocked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905952" y="2484120"/>
              <a:ext cx="55530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924216" y="2518886"/>
              <a:ext cx="5178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start()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597592" y="2484120"/>
              <a:ext cx="1122045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599566" y="2518886"/>
              <a:ext cx="11180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stop() / run 结束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913572" y="3018472"/>
              <a:ext cx="162591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893212" y="3053239"/>
              <a:ext cx="16656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sleep() / suspend() / I/O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099435" y="3283268"/>
              <a:ext cx="81057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111061" y="3318034"/>
              <a:ext cx="7882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resume() 等</a:t>
              </a:r>
            </a:p>
          </p:txBody>
        </p:sp>
      </p:grpSp>
      <p:grpSp>
        <p:nvGrpSpPr>
          <p:cNvPr id="38" name="c1-callout-2"/>
          <p:cNvGrpSpPr/>
          <p:nvPr/>
        </p:nvGrpSpPr>
        <p:grpSpPr>
          <a:xfrm>
            <a:off x="533400" y="4857750"/>
            <a:ext cx="5410200" cy="1335405"/>
            <a:chOff x="533400" y="4857750"/>
            <a:chExt cx="5410200" cy="1335405"/>
          </a:xfrm>
        </p:grpSpPr>
        <p:sp>
          <p:nvSpPr>
            <p:cNvPr id="32" name="Rectangle 32"/>
            <p:cNvSpPr/>
            <p:nvPr/>
          </p:nvSpPr>
          <p:spPr>
            <a:xfrm>
              <a:off x="533400" y="4857750"/>
              <a:ext cx="5410200" cy="1335405"/>
            </a:xfrm>
            <a:prstGeom prst="roundRect">
              <a:avLst>
                <a:gd name="adj" fmla="val 85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425440"/>
              <a:ext cx="200026" cy="200026"/>
              <a:chOff x="738188" y="5425440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4254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54921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7088" y="55254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006340"/>
              <a:ext cx="435864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补充：JDK 5 起 Java 用 Thread.State 表示六种状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态：NEW, RUNNABLE, BLOCKED, WAITING,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TIMED_WAITING, TERMINATED。stop、suspend、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resume 因为不安全，已被废弃。</a:t>
              </a:r>
            </a:p>
          </p:txBody>
        </p:sp>
      </p:grpSp>
      <p:grpSp>
        <p:nvGrpSpPr>
          <p:cNvPr id="50" name="c2-kv-1"/>
          <p:cNvGrpSpPr/>
          <p:nvPr/>
        </p:nvGrpSpPr>
        <p:grpSpPr>
          <a:xfrm>
            <a:off x="6240780" y="1548765"/>
            <a:ext cx="5417820" cy="1895475"/>
            <a:chOff x="6240780" y="1548765"/>
            <a:chExt cx="5417820" cy="1895475"/>
          </a:xfrm>
        </p:grpSpPr>
        <p:sp>
          <p:nvSpPr>
            <p:cNvPr id="39" name="TextBox 39"/>
            <p:cNvSpPr txBox="1"/>
            <p:nvPr/>
          </p:nvSpPr>
          <p:spPr>
            <a:xfrm>
              <a:off x="6240780" y="1548765"/>
              <a:ext cx="41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New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53300" y="1548765"/>
              <a:ext cx="30744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新建的线程，还没有调用 start()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0780" y="1988820"/>
              <a:ext cx="9013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Runnable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53300" y="198882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可运行状态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23088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40780" y="2428875"/>
              <a:ext cx="7847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Blocked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53300" y="2428875"/>
              <a:ext cx="39966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封锁状态：睡眠、被挂起或等待 I/O；睡眠时间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到、被 resume()、I/O 完成后回到 Runnable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30308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40780" y="3150870"/>
              <a:ext cx="4882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Dead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53300" y="315087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终止状态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248400" y="3575685"/>
            <a:ext cx="5410200" cy="2617470"/>
            <a:chOff x="6248400" y="3575685"/>
            <a:chExt cx="5410200" cy="2617470"/>
          </a:xfrm>
        </p:grpSpPr>
        <p:sp>
          <p:nvSpPr>
            <p:cNvPr id="51" name="Rectangle 51"/>
            <p:cNvSpPr/>
            <p:nvPr/>
          </p:nvSpPr>
          <p:spPr>
            <a:xfrm>
              <a:off x="6248400" y="3575685"/>
              <a:ext cx="5410200" cy="2617470"/>
            </a:xfrm>
            <a:prstGeom prst="roundRect">
              <a:avLst>
                <a:gd name="adj" fmla="val 50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57925" y="3709035"/>
              <a:ext cx="47625" cy="235077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96050" y="3785235"/>
              <a:ext cx="1330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49459" y="3820954"/>
              <a:ext cx="12247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Java 线程与 JVM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501765" y="422529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659880" y="4162425"/>
              <a:ext cx="4568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线程由 Java 虚拟机 JVM 支持，JVM 位于操作系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统之上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501765" y="48463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59880" y="4783455"/>
              <a:ext cx="44443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线程与操作系统线程的对应关系由 JVM 确定：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NT 的 JVM 为一对一，Solaris 的 JVM 为多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对多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33660" cy="909257"/>
            <a:chOff x="520446" y="342900"/>
            <a:chExt cx="82336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336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Linux：进程和线程都用 clone 创建，区别在共享什么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4760595" cy="1651635"/>
            <a:chOff x="533400" y="1524000"/>
            <a:chExt cx="4760595" cy="1651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3822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155" y="1769269"/>
              <a:ext cx="9000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2.5.2 Linux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进程与线程在系统内部具有统一的表示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3977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二者的差别通过另一个系统调用 clone（不同于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fork）体现出来</a:t>
              </a:r>
            </a:p>
          </p:txBody>
        </p:sp>
      </p:grpSp>
      <p:grpSp>
        <p:nvGrpSpPr>
          <p:cNvPr id="19" name="c1-code-2"/>
          <p:cNvGrpSpPr/>
          <p:nvPr/>
        </p:nvGrpSpPr>
        <p:grpSpPr>
          <a:xfrm>
            <a:off x="533400" y="3366135"/>
            <a:ext cx="4760595" cy="907732"/>
            <a:chOff x="533400" y="3366135"/>
            <a:chExt cx="4760595" cy="907732"/>
          </a:xfrm>
        </p:grpSpPr>
        <p:sp>
          <p:nvSpPr>
            <p:cNvPr id="16" name="Rectangle 16"/>
            <p:cNvSpPr/>
            <p:nvPr/>
          </p:nvSpPr>
          <p:spPr>
            <a:xfrm>
              <a:off x="533400" y="3366135"/>
              <a:ext cx="4760595" cy="907732"/>
            </a:xfrm>
            <a:prstGeom prst="roundRect">
              <a:avLst>
                <a:gd name="adj" fmla="val 104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1797" y="3518059"/>
              <a:ext cx="13212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clone 系统调用的形式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1035" y="3779996"/>
              <a:ext cx="2514854" cy="422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pid = clone(function, stack_ptr,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sharing_flags, arg);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4464368"/>
            <a:ext cx="4760595" cy="1711642"/>
            <a:chOff x="533400" y="4464368"/>
            <a:chExt cx="4760595" cy="1711642"/>
          </a:xfrm>
        </p:grpSpPr>
        <p:sp>
          <p:nvSpPr>
            <p:cNvPr id="20" name="Rectangle 20"/>
            <p:cNvSpPr/>
            <p:nvPr/>
          </p:nvSpPr>
          <p:spPr>
            <a:xfrm>
              <a:off x="533400" y="4464368"/>
              <a:ext cx="4760595" cy="1711642"/>
            </a:xfrm>
            <a:prstGeom prst="roundRect">
              <a:avLst>
                <a:gd name="adj" fmla="val 667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219700"/>
              <a:ext cx="200026" cy="200025"/>
              <a:chOff x="738188" y="5219700"/>
              <a:chExt cx="200026" cy="20002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521970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77926" y="526415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12642" y="537527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130" y="5076825"/>
              <a:ext cx="37299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新的执行流从 function(arg) 开始运行，使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 stack_ptr 指向的栈。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598795" y="1524000"/>
            <a:ext cx="6059805" cy="2705100"/>
            <a:chOff x="5598795" y="1524000"/>
            <a:chExt cx="6059805" cy="2705100"/>
          </a:xfrm>
        </p:grpSpPr>
        <p:sp>
          <p:nvSpPr>
            <p:cNvPr id="27" name="Rectangle 27"/>
            <p:cNvSpPr/>
            <p:nvPr/>
          </p:nvSpPr>
          <p:spPr>
            <a:xfrm>
              <a:off x="5598795" y="1524000"/>
              <a:ext cx="6059805" cy="7543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770483" y="1663065"/>
              <a:ext cx="1595914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sharing_flags 标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志位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58175" y="17964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置位时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217468" y="17964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不置位时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05475" y="2417445"/>
              <a:ext cx="10905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CLONE_VM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44765" y="24174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共享地址空间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705022" y="24174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复制地址空间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598795" y="27612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598795" y="276606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705475" y="2905125"/>
              <a:ext cx="13594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CLONE_FILES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44765" y="29051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共享打开文件表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705022" y="29051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复制打开文件表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598795" y="32489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705475" y="3392805"/>
              <a:ext cx="16058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CLONE_SIGHAND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44765" y="339280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共享信号处理程序表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05022" y="339280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复制信号处理程序表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598795" y="37366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598795" y="374142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705475" y="3880485"/>
              <a:ext cx="11129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CLONE_PID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44765" y="3880485"/>
              <a:ext cx="1589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沿用调用者的 PID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705022" y="3880485"/>
              <a:ext cx="1387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获得自己的 PID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598795" y="1524000"/>
              <a:ext cx="6059805" cy="27051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533322" y="1524000"/>
              <a:ext cx="9525" cy="2705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593580" y="1524000"/>
              <a:ext cx="9525" cy="2705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llout-2"/>
          <p:cNvGrpSpPr/>
          <p:nvPr/>
        </p:nvGrpSpPr>
        <p:grpSpPr>
          <a:xfrm>
            <a:off x="5598795" y="4419600"/>
            <a:ext cx="6059805" cy="782955"/>
            <a:chOff x="5598795" y="4419600"/>
            <a:chExt cx="6059805" cy="782955"/>
          </a:xfrm>
        </p:grpSpPr>
        <p:sp>
          <p:nvSpPr>
            <p:cNvPr id="52" name="Rectangle 52"/>
            <p:cNvSpPr/>
            <p:nvPr/>
          </p:nvSpPr>
          <p:spPr>
            <a:xfrm>
              <a:off x="5598795" y="441960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5803583" y="4711067"/>
              <a:ext cx="200023" cy="200023"/>
              <a:chOff x="5803583" y="4711067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5803583" y="471106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936933" y="47777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105525" y="4568190"/>
              <a:ext cx="5158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这些标志都置位，得到的是与调用者共享资源的线程；都不置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位，效果和 fork 出一个新进程相近。</a:t>
              </a:r>
            </a:p>
          </p:txBody>
        </p:sp>
      </p:grpSp>
      <p:grpSp>
        <p:nvGrpSpPr>
          <p:cNvPr id="64" name="c2-callout-3"/>
          <p:cNvGrpSpPr/>
          <p:nvPr/>
        </p:nvGrpSpPr>
        <p:grpSpPr>
          <a:xfrm>
            <a:off x="5598795" y="5393055"/>
            <a:ext cx="6059805" cy="782955"/>
            <a:chOff x="5598795" y="5393055"/>
            <a:chExt cx="6059805" cy="782955"/>
          </a:xfrm>
        </p:grpSpPr>
        <p:sp>
          <p:nvSpPr>
            <p:cNvPr id="58" name="Rectangle 58"/>
            <p:cNvSpPr/>
            <p:nvPr/>
          </p:nvSpPr>
          <p:spPr>
            <a:xfrm>
              <a:off x="5598795" y="539305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5803583" y="5684520"/>
              <a:ext cx="200026" cy="200026"/>
              <a:chOff x="5803583" y="5684520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5803583" y="56845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5903595" y="57511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5892483" y="57845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6105525" y="5541645"/>
              <a:ext cx="4987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pthread_create 正是用一组置位的标志调用 clone 实现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的，所以 Linux 的线程本质上是与创建者共享资源的进程。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86651" cy="909257"/>
            <a:chOff x="520446" y="342900"/>
            <a:chExt cx="73866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866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Windows：用 CreateProcess 创建进程的过程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4248795" cy="2867502"/>
            <a:chOff x="533400" y="1533525"/>
            <a:chExt cx="4248795" cy="2867502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3479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202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070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9469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88143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3955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1564957"/>
              <a:ext cx="2757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Win32 应用调用 CreateProcess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1833086"/>
              <a:ext cx="17245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消息被发给 Win32 子系统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152650"/>
              <a:ext cx="24143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Win32 子系统调用进程管理器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24198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请求创建进程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2739390"/>
              <a:ext cx="25574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进程管理器调用对象管理器 OM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006566"/>
              <a:ext cx="38354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创建进程对象，把对象句柄（把柄）返回给 Win32 子系统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32613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再次调用进程管理器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3593306"/>
              <a:ext cx="24323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Win32 子系统请求为该进程创建线程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39128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返回句柄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4180999"/>
              <a:ext cx="273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Win32 子系统把句柄返回给新进程和线程</a:t>
              </a:r>
            </a:p>
          </p:txBody>
        </p:sp>
      </p:grpSp>
      <p:grpSp>
        <p:nvGrpSpPr>
          <p:cNvPr id="44" name="c1-table-2"/>
          <p:cNvGrpSpPr/>
          <p:nvPr/>
        </p:nvGrpSpPr>
        <p:grpSpPr>
          <a:xfrm>
            <a:off x="533400" y="4569142"/>
            <a:ext cx="6059805" cy="1617346"/>
            <a:chOff x="533400" y="4569142"/>
            <a:chExt cx="6059805" cy="1617346"/>
          </a:xfrm>
        </p:grpSpPr>
        <p:sp>
          <p:nvSpPr>
            <p:cNvPr id="29" name="Rectangle 29"/>
            <p:cNvSpPr/>
            <p:nvPr/>
          </p:nvSpPr>
          <p:spPr>
            <a:xfrm>
              <a:off x="533400" y="4569142"/>
              <a:ext cx="6059805" cy="40576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61733" y="4693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606778" y="4693444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UNIX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95763" y="4693444"/>
              <a:ext cx="649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Windows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3412" y="51992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创建方式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603058" y="5099209"/>
              <a:ext cx="223037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 先复制父进程，再用 execl 换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上新程序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148138" y="5099209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一次调用就指定要执行的程序，不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复制父进程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557593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5580698"/>
              <a:ext cx="605980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3412" y="58050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父子关系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603058" y="5704999"/>
              <a:ext cx="2180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记在 proc 结构里，父进程用 wait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等子进程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148138" y="5704999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不维护父子层次，靠句柄和等待函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数打交道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569142"/>
              <a:ext cx="6059805" cy="1617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498282" y="4569142"/>
              <a:ext cx="9525" cy="1617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043362" y="4569142"/>
              <a:ext cx="9525" cy="1617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kv-1"/>
          <p:cNvGrpSpPr/>
          <p:nvPr/>
        </p:nvGrpSpPr>
        <p:grpSpPr>
          <a:xfrm>
            <a:off x="6891147" y="1545907"/>
            <a:ext cx="4767453" cy="1568006"/>
            <a:chOff x="6891147" y="1545907"/>
            <a:chExt cx="4767453" cy="1568006"/>
          </a:xfrm>
        </p:grpSpPr>
        <p:sp>
          <p:nvSpPr>
            <p:cNvPr id="45" name="TextBox 45"/>
            <p:cNvSpPr txBox="1"/>
            <p:nvPr/>
          </p:nvSpPr>
          <p:spPr>
            <a:xfrm>
              <a:off x="6891147" y="154590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进程对象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10360" y="1545907"/>
              <a:ext cx="30998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描述进程拥有的资源：访问令牌、配额、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虚拟存储等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898005" y="208883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91147" y="21983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线程对象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10360" y="2198370"/>
              <a:ext cx="30998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描述执行：线程上下文、动态优先级、挂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起计数等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898005" y="274034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91147" y="284988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句柄（把柄）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10360" y="284988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程序通过句柄访问内核对象</a:t>
              </a:r>
            </a:p>
          </p:txBody>
        </p:sp>
      </p:grpSp>
      <p:grpSp>
        <p:nvGrpSpPr>
          <p:cNvPr id="60" name="c2-callout-2"/>
          <p:cNvGrpSpPr/>
          <p:nvPr/>
        </p:nvGrpSpPr>
        <p:grpSpPr>
          <a:xfrm>
            <a:off x="6898005" y="3235642"/>
            <a:ext cx="4760595" cy="978218"/>
            <a:chOff x="6898005" y="3235642"/>
            <a:chExt cx="4760595" cy="978218"/>
          </a:xfrm>
        </p:grpSpPr>
        <p:sp>
          <p:nvSpPr>
            <p:cNvPr id="54" name="Rectangle 54"/>
            <p:cNvSpPr/>
            <p:nvPr/>
          </p:nvSpPr>
          <p:spPr>
            <a:xfrm>
              <a:off x="6898005" y="3235642"/>
              <a:ext cx="4760595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102793" y="3624263"/>
              <a:ext cx="200026" cy="200026"/>
              <a:chOff x="7102793" y="3624263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102793" y="36242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202805" y="36909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191693" y="37242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7405497" y="3381375"/>
              <a:ext cx="37856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句柄不是进程号：它是本进程私有的、指向内核对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象的引用，关闭句柄只是减少对象的引用计数，并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不等于终止那个进程。</a:t>
              </a:r>
            </a:p>
          </p:txBody>
        </p:sp>
      </p:grpSp>
      <p:grpSp>
        <p:nvGrpSpPr>
          <p:cNvPr id="66" name="c2-card-3"/>
          <p:cNvGrpSpPr/>
          <p:nvPr/>
        </p:nvGrpSpPr>
        <p:grpSpPr>
          <a:xfrm>
            <a:off x="6898005" y="4388168"/>
            <a:ext cx="4760595" cy="1798320"/>
            <a:chOff x="6898005" y="4388168"/>
            <a:chExt cx="4760595" cy="1798320"/>
          </a:xfrm>
        </p:grpSpPr>
        <p:sp>
          <p:nvSpPr>
            <p:cNvPr id="61" name="Rectangle 61"/>
            <p:cNvSpPr/>
            <p:nvPr/>
          </p:nvSpPr>
          <p:spPr>
            <a:xfrm>
              <a:off x="6898005" y="4388168"/>
              <a:ext cx="4760595" cy="1798320"/>
            </a:xfrm>
            <a:prstGeom prst="roundRect">
              <a:avLst>
                <a:gd name="adj" fmla="val 74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907530" y="4521518"/>
              <a:ext cx="47625" cy="15316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128510" y="4580572"/>
              <a:ext cx="109347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198633" y="4614862"/>
              <a:ext cx="9513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纤程（Fiber）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121652" y="493776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比线程更轻的执行单位，由应用程序自己调度，内核不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知道它的存在；一个线程中可以轮流运行多个纤程。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07727" cy="909257"/>
            <a:chOff x="520446" y="342900"/>
            <a:chExt cx="57077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077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进程对象与线程对象：属性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33400" y="1524000"/>
            <a:ext cx="11125200" cy="4085272"/>
            <a:chOff x="533400" y="1524000"/>
            <a:chExt cx="11125200" cy="408527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3053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64133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392580" y="1655445"/>
              <a:ext cx="21797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进程对象（Type：Process）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23634" y="1655445"/>
              <a:ext cx="2086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线程对象（Type：Thread）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8746" y="20850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96084" y="2085022"/>
              <a:ext cx="15199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进程标识 Process id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980492" y="2085022"/>
              <a:ext cx="13497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客户标识 Client id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793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84108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8746" y="251555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96084" y="2515552"/>
              <a:ext cx="19073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基础优先级 Base priority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80492" y="2515552"/>
              <a:ext cx="21657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动态优先级 Dynamic priority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098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8746" y="29460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处理机亲合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96084" y="2946082"/>
              <a:ext cx="33046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缺省亲合处理机 Default processor affinity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80492" y="2946082"/>
              <a:ext cx="3256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处理机亲合掩码 Thread processor affinity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394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24421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8746" y="3375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96084" y="3375660"/>
              <a:ext cx="18671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执行时间 Execution time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80492" y="3375660"/>
              <a:ext cx="26102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已执行时间 Thread execution time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6699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8746" y="38061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196084" y="3806190"/>
              <a:ext cx="17381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访问令牌 Access token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80492" y="3806190"/>
              <a:ext cx="24728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非角色令牌 Impersonation token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1005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105275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8746" y="423576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端口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196084" y="4235768"/>
              <a:ext cx="32241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执行/调试端口 Exception/debugging ports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80492" y="4235768"/>
              <a:ext cx="20447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终止端口 Termination port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5300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8746" y="466629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196084" y="4666298"/>
              <a:ext cx="1608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退出状态 Exit status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80492" y="4666298"/>
              <a:ext cx="1608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终止状态 Exit status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9606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4965382"/>
              <a:ext cx="1112520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8746" y="520350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独有属性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196084" y="5203508"/>
              <a:ext cx="39792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配额限制 Quota limits；输入/输出计数 I/O counters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80492" y="5096828"/>
              <a:ext cx="43022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线程上下文 Thread context；警觉状态 Alert status；挂起计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 Suspension count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11125200" cy="40843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085975" y="1524000"/>
              <a:ext cx="9525" cy="40843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870382" y="1524000"/>
              <a:ext cx="9525" cy="40843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0" name="Rectangle 5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511" y="6004084"/>
              <a:ext cx="91916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对照看：进程对象管资源（令牌、配额、I/O 计数），线程对象管执行（上下文、动态优先级、挂起计数）。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07727" cy="909257"/>
            <a:chOff x="520446" y="342900"/>
            <a:chExt cx="57077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077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进程对象与线程对象：服务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11125200" cy="1996440"/>
            <a:chOff x="533400" y="1524000"/>
            <a:chExt cx="11125200" cy="19964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876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11555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服务类别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238625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进程对象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910638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线程对象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2840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两者都有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20302" y="215074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创建进程、打开进程、查询进程信息、设置进程信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息、当前进程、终止进程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92315" y="215074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创建线程、打开线程、查询线程信息、设置线程信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息、当前线程、终止线程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61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6606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3038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独有服务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0302" y="2905125"/>
              <a:ext cx="41395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虚拟存储操作：分配/释放、读/写、保护、加锁/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开锁、查询、刷新虚拟存储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92315" y="290512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取上下文、置上下文；挂起、恢复；警示线程、测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试线程警示；注册终止端口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11125200" cy="19964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308860" y="1524000"/>
              <a:ext cx="9525" cy="19964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980872" y="1524000"/>
              <a:ext cx="9525" cy="19964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1-compare-2"/>
          <p:cNvGrpSpPr/>
          <p:nvPr/>
        </p:nvGrpSpPr>
        <p:grpSpPr>
          <a:xfrm>
            <a:off x="533400" y="3710940"/>
            <a:ext cx="11125200" cy="1697355"/>
            <a:chOff x="533400" y="3710940"/>
            <a:chExt cx="11125200" cy="1697355"/>
          </a:xfrm>
        </p:grpSpPr>
        <p:sp>
          <p:nvSpPr>
            <p:cNvPr id="23" name="Rectangle 23"/>
            <p:cNvSpPr/>
            <p:nvPr/>
          </p:nvSpPr>
          <p:spPr>
            <a:xfrm>
              <a:off x="533400" y="3710940"/>
              <a:ext cx="5353050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844290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73430" y="394525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进程对象独有的服务都和地址空间有关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6765" y="436245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429958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虚拟存储属于进程，由进程内所有线程共用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6765" y="469773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4880" y="463486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所以分配、读写、保护虚拟存储是进程对象的服务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305550" y="3710940"/>
              <a:ext cx="5353050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315075" y="3844290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45580" y="394525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线程对象独有的服务都和执行有关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558915" y="436245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17030" y="42995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上下文、挂起计数属于线程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558915" y="469773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17030" y="4634865"/>
              <a:ext cx="4275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所以取/置上下文、挂起/恢复是线程对象的服务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5934075" y="439769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04415" y="449389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0" name="Rectangle 40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728335"/>
              <a:ext cx="99307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对上真实 API：VirtualAlloc、VirtualProtect 作用于进程对象，SuspendThread、GetThreadContext 作用于线程对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象。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01084" cy="909257"/>
            <a:chOff x="520446" y="342900"/>
            <a:chExt cx="41010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9913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线程的七种状态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8" name="c1-graph-1"/>
          <p:cNvGrpSpPr/>
          <p:nvPr/>
        </p:nvGrpSpPr>
        <p:grpSpPr>
          <a:xfrm>
            <a:off x="769430" y="1790700"/>
            <a:ext cx="5521832" cy="4229100"/>
            <a:chOff x="769430" y="1790700"/>
            <a:chExt cx="5521832" cy="4229100"/>
          </a:xfrm>
        </p:grpSpPr>
        <p:sp>
          <p:nvSpPr>
            <p:cNvPr id="7" name="Freeform 7"/>
            <p:cNvSpPr/>
            <p:nvPr/>
          </p:nvSpPr>
          <p:spPr>
            <a:xfrm>
              <a:off x="1755458" y="2095500"/>
              <a:ext cx="792480" cy="9525"/>
            </a:xfrm>
            <a:custGeom>
              <a:avLst/>
              <a:gdLst/>
              <a:ahLst/>
              <a:cxnLst/>
              <a:rect l="l" t="t" r="r" b="b"/>
              <a:pathLst>
                <a:path w="792480" h="9525">
                  <a:moveTo>
                    <a:pt x="0" y="0"/>
                  </a:moveTo>
                  <a:lnTo>
                    <a:pt x="7924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547938" y="20478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957512" y="2409825"/>
              <a:ext cx="9525" cy="1323975"/>
            </a:xfrm>
            <a:custGeom>
              <a:avLst/>
              <a:gdLst/>
              <a:ahLst/>
              <a:cxnLst/>
              <a:rect l="l" t="t" r="r" b="b"/>
              <a:pathLst>
                <a:path w="9525" h="1323975">
                  <a:moveTo>
                    <a:pt x="0" y="0"/>
                  </a:moveTo>
                  <a:lnTo>
                    <a:pt x="0" y="13239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09888" y="37338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252788" y="3495675"/>
              <a:ext cx="707708" cy="541972"/>
            </a:xfrm>
            <a:custGeom>
              <a:avLst/>
              <a:gdLst/>
              <a:ahLst/>
              <a:cxnLst/>
              <a:rect l="l" t="t" r="r" b="b"/>
              <a:pathLst>
                <a:path w="707708" h="541972">
                  <a:moveTo>
                    <a:pt x="0" y="541972"/>
                  </a:moveTo>
                  <a:cubicBezTo>
                    <a:pt x="327025" y="424497"/>
                    <a:pt x="562928" y="243840"/>
                    <a:pt x="707708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919538" y="3413760"/>
              <a:ext cx="89535" cy="105728"/>
            </a:xfrm>
            <a:custGeom>
              <a:avLst/>
              <a:gdLst/>
              <a:ahLst/>
              <a:cxnLst/>
              <a:rect l="l" t="t" r="r" b="b"/>
              <a:pathLst>
                <a:path w="89535" h="105728">
                  <a:moveTo>
                    <a:pt x="89535" y="0"/>
                  </a:moveTo>
                  <a:lnTo>
                    <a:pt x="81915" y="105728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166110" y="3248978"/>
              <a:ext cx="706755" cy="541972"/>
            </a:xfrm>
            <a:custGeom>
              <a:avLst/>
              <a:gdLst/>
              <a:ahLst/>
              <a:cxnLst/>
              <a:rect l="l" t="t" r="r" b="b"/>
              <a:pathLst>
                <a:path w="706755" h="541972">
                  <a:moveTo>
                    <a:pt x="706755" y="0"/>
                  </a:moveTo>
                  <a:cubicBezTo>
                    <a:pt x="380365" y="117475"/>
                    <a:pt x="144780" y="298133"/>
                    <a:pt x="0" y="541972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117532" y="3767138"/>
              <a:ext cx="89535" cy="105728"/>
            </a:xfrm>
            <a:custGeom>
              <a:avLst/>
              <a:gdLst/>
              <a:ahLst/>
              <a:cxnLst/>
              <a:rect l="l" t="t" r="r" b="b"/>
              <a:pathLst>
                <a:path w="89535" h="105728">
                  <a:moveTo>
                    <a:pt x="0" y="105728"/>
                  </a:moveTo>
                  <a:lnTo>
                    <a:pt x="7620" y="0"/>
                  </a:lnTo>
                  <a:lnTo>
                    <a:pt x="89535" y="4857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276725" y="3438525"/>
              <a:ext cx="116205" cy="320040"/>
            </a:xfrm>
            <a:custGeom>
              <a:avLst/>
              <a:gdLst/>
              <a:ahLst/>
              <a:cxnLst/>
              <a:rect l="l" t="t" r="r" b="b"/>
              <a:pathLst>
                <a:path w="116205" h="320040">
                  <a:moveTo>
                    <a:pt x="0" y="0"/>
                  </a:moveTo>
                  <a:lnTo>
                    <a:pt x="116205" y="3200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348162" y="3742372"/>
              <a:ext cx="89535" cy="105728"/>
            </a:xfrm>
            <a:custGeom>
              <a:avLst/>
              <a:gdLst/>
              <a:ahLst/>
              <a:cxnLst/>
              <a:rect l="l" t="t" r="r" b="b"/>
              <a:pathLst>
                <a:path w="89535" h="105728">
                  <a:moveTo>
                    <a:pt x="77153" y="105728"/>
                  </a:moveTo>
                  <a:lnTo>
                    <a:pt x="0" y="32385"/>
                  </a:lnTo>
                  <a:lnTo>
                    <a:pt x="895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367088" y="4143375"/>
              <a:ext cx="851535" cy="9525"/>
            </a:xfrm>
            <a:custGeom>
              <a:avLst/>
              <a:gdLst/>
              <a:ahLst/>
              <a:cxnLst/>
              <a:rect l="l" t="t" r="r" b="b"/>
              <a:pathLst>
                <a:path w="851535" h="9525">
                  <a:moveTo>
                    <a:pt x="85153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271838" y="40957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847272" y="4143375"/>
              <a:ext cx="729615" cy="9525"/>
            </a:xfrm>
            <a:custGeom>
              <a:avLst/>
              <a:gdLst/>
              <a:ahLst/>
              <a:cxnLst/>
              <a:rect l="l" t="t" r="r" b="b"/>
              <a:pathLst>
                <a:path w="729615" h="9525">
                  <a:moveTo>
                    <a:pt x="0" y="0"/>
                  </a:moveTo>
                  <a:lnTo>
                    <a:pt x="7296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576888" y="40957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3366135" y="2117408"/>
              <a:ext cx="2487930" cy="1741170"/>
            </a:xfrm>
            <a:custGeom>
              <a:avLst/>
              <a:gdLst/>
              <a:ahLst/>
              <a:cxnLst/>
              <a:rect l="l" t="t" r="r" b="b"/>
              <a:pathLst>
                <a:path w="2487930" h="1741170">
                  <a:moveTo>
                    <a:pt x="2487930" y="1741170"/>
                  </a:moveTo>
                  <a:cubicBezTo>
                    <a:pt x="1976120" y="642620"/>
                    <a:pt x="1146810" y="62230"/>
                    <a:pt x="0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2" name="Freeform 22"/>
            <p:cNvSpPr/>
            <p:nvPr/>
          </p:nvSpPr>
          <p:spPr>
            <a:xfrm>
              <a:off x="3270885" y="2069782"/>
              <a:ext cx="98108" cy="95250"/>
            </a:xfrm>
            <a:custGeom>
              <a:avLst/>
              <a:gdLst/>
              <a:ahLst/>
              <a:cxnLst/>
              <a:rect l="l" t="t" r="r" b="b"/>
              <a:pathLst>
                <a:path w="98108" h="95250">
                  <a:moveTo>
                    <a:pt x="0" y="42862"/>
                  </a:moveTo>
                  <a:lnTo>
                    <a:pt x="98108" y="0"/>
                  </a:lnTo>
                  <a:lnTo>
                    <a:pt x="92393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3247072" y="4365308"/>
              <a:ext cx="1062990" cy="1060132"/>
            </a:xfrm>
            <a:custGeom>
              <a:avLst/>
              <a:gdLst/>
              <a:ahLst/>
              <a:cxnLst/>
              <a:rect l="l" t="t" r="r" b="b"/>
              <a:pathLst>
                <a:path w="1062990" h="1060132">
                  <a:moveTo>
                    <a:pt x="1062990" y="0"/>
                  </a:moveTo>
                  <a:lnTo>
                    <a:pt x="0" y="106013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3179445" y="5392102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0" y="100965"/>
                  </a:moveTo>
                  <a:lnTo>
                    <a:pt x="34290" y="0"/>
                  </a:lnTo>
                  <a:lnTo>
                    <a:pt x="100965" y="6762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2957512" y="4552950"/>
              <a:ext cx="9525" cy="847725"/>
            </a:xfrm>
            <a:custGeom>
              <a:avLst/>
              <a:gdLst/>
              <a:ahLst/>
              <a:cxnLst/>
              <a:rect l="l" t="t" r="r" b="b"/>
              <a:pathLst>
                <a:path w="9525" h="847725">
                  <a:moveTo>
                    <a:pt x="0" y="84772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2909888" y="44577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1609725" y="5715000"/>
              <a:ext cx="1033462" cy="9525"/>
            </a:xfrm>
            <a:custGeom>
              <a:avLst/>
              <a:gdLst/>
              <a:ahLst/>
              <a:cxnLst/>
              <a:rect l="l" t="t" r="r" b="b"/>
              <a:pathLst>
                <a:path w="1033462" h="9525">
                  <a:moveTo>
                    <a:pt x="1033462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514475" y="56673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434465" y="4416742"/>
              <a:ext cx="1217295" cy="1088708"/>
            </a:xfrm>
            <a:custGeom>
              <a:avLst/>
              <a:gdLst/>
              <a:ahLst/>
              <a:cxnLst/>
              <a:rect l="l" t="t" r="r" b="b"/>
              <a:pathLst>
                <a:path w="1217295" h="1088708">
                  <a:moveTo>
                    <a:pt x="0" y="1088708"/>
                  </a:moveTo>
                  <a:lnTo>
                    <a:pt x="12172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620328" y="4352925"/>
              <a:ext cx="102870" cy="99060"/>
            </a:xfrm>
            <a:custGeom>
              <a:avLst/>
              <a:gdLst/>
              <a:ahLst/>
              <a:cxnLst/>
              <a:rect l="l" t="t" r="r" b="b"/>
              <a:pathLst>
                <a:path w="102870" h="99060">
                  <a:moveTo>
                    <a:pt x="102870" y="0"/>
                  </a:moveTo>
                  <a:lnTo>
                    <a:pt x="62865" y="99060"/>
                  </a:lnTo>
                  <a:lnTo>
                    <a:pt x="0" y="2762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2652712" y="1790700"/>
              <a:ext cx="609600" cy="6096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3864292" y="2838450"/>
              <a:ext cx="609600" cy="6096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2652712" y="3838575"/>
              <a:ext cx="609600" cy="609600"/>
            </a:xfrm>
            <a:prstGeom prst="ellipse">
              <a:avLst/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4228148" y="3838575"/>
              <a:ext cx="609600" cy="609600"/>
            </a:xfrm>
            <a:prstGeom prst="ellipse">
              <a:avLst/>
            </a:prstGeom>
            <a:solidFill>
              <a:srgbClr val="0E7C86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5681662" y="3838575"/>
              <a:ext cx="609600" cy="6096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2652712" y="5410200"/>
              <a:ext cx="609600" cy="6096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895350" y="5410200"/>
              <a:ext cx="609600" cy="6096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9430" y="202120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创建线程对象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789873" y="20212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001452" y="30689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789873" y="40690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365308" y="40690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818822" y="40690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终止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789873" y="56407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32510" y="56407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2607945" y="3027045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622740" y="306085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入就绪队列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3524250" y="3700462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550247" y="37352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选中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3276600" y="3400425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3302597" y="34351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抢先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188142" y="355092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214139" y="358473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切换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3582352" y="4050030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3608349" y="40847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剥夺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034915" y="4050030"/>
              <a:ext cx="44958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056861" y="408479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执行完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4474845" y="2505075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4489640" y="253984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重新初始化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3395662" y="4836795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3410458" y="487060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等待某对象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2794635" y="4836795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2820632" y="48706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唤醒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1666875" y="5621655"/>
              <a:ext cx="8229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677619" y="565642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唤醒但栈在外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1729740" y="4836795"/>
              <a:ext cx="69818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743583" y="487060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换入内核栈</a:t>
              </a:r>
            </a:p>
          </p:txBody>
        </p:sp>
      </p:grpSp>
      <p:grpSp>
        <p:nvGrpSpPr>
          <p:cNvPr id="89" name="c2-kv-1"/>
          <p:cNvGrpSpPr/>
          <p:nvPr/>
        </p:nvGrpSpPr>
        <p:grpSpPr>
          <a:xfrm>
            <a:off x="6890385" y="1548765"/>
            <a:ext cx="4768215" cy="4343400"/>
            <a:chOff x="6890385" y="1548765"/>
            <a:chExt cx="4768215" cy="4343400"/>
          </a:xfrm>
        </p:grpSpPr>
        <p:sp>
          <p:nvSpPr>
            <p:cNvPr id="69" name="TextBox 69"/>
            <p:cNvSpPr txBox="1"/>
            <p:nvPr/>
          </p:nvSpPr>
          <p:spPr>
            <a:xfrm>
              <a:off x="6890385" y="1548765"/>
              <a:ext cx="15059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初始 Initialized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603932" y="154876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线程对象刚创建，或被重新初始化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898005" y="186880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890385" y="1988820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就绪 Ready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603932" y="198882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等待被调度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898005" y="230886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890385" y="2428875"/>
              <a:ext cx="13061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备用 Standby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603932" y="2428875"/>
              <a:ext cx="2872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已被选中，下一个就在某处理机上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运行；被更高优先级线程抢先时退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回就绪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898005" y="331279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890385" y="3432810"/>
              <a:ext cx="1252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运行 Running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603932" y="343281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正在处理机上执行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6898005" y="37528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890385" y="3872865"/>
              <a:ext cx="12420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等待 Waiting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8603932" y="3872865"/>
              <a:ext cx="27203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等待某个对象，如 I/O 完成、事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件发生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898005" y="447484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890385" y="4594860"/>
              <a:ext cx="15492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转换 Transition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603932" y="4594860"/>
              <a:ext cx="2872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等待已结束，但内核栈被换出了内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存，要先换入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898005" y="519684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890385" y="5316855"/>
              <a:ext cx="110537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终止</a:t>
              </a:r>
              <a:br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Terminated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8603932" y="5316855"/>
              <a:ext cx="2872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执行完毕；线程对象可重新初始化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后再用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03003" cy="909257"/>
            <a:chOff x="520446" y="342900"/>
            <a:chExt cx="58030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030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自测题（一）：进程与 UNIX 系统调用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就绪态和等待态的进程都没有在运行，二者的区别是什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6253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就绪态只缺 CPU，分到 CPU 就能运行；等待态在等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某个事件（资源、I/O 完成），即使给它 CPU 也无法推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5410200" cy="1937385"/>
            <a:chOff x="533400" y="393763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4710113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 for (i = 0; i &lt; 2; i++) fork(); 之后，一共有几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个进程（含原进程）？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5145405"/>
              <a:ext cx="4672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 4 个。第一次循环后有 2 个进程，这 2 个在第二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次循环中各 fork 一次，共 4 个。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8060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“等待 → 运行”和“就绪 → 等待”这两种转换能否发生？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都不能。等待的进程在事件发生后先回到就绪；就绪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的进程没有运行，不会因申请资源或启动 I/O 而进入等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2223135"/>
            <a:chOff x="6248400" y="3651885"/>
            <a:chExt cx="5410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66296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子进程执行 execl("P", 0) 成功后，它的 pid、父进程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号和程序分别怎样变化？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806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子进程的 pid 和父进程号都不变；原来的程序被 P 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盖，从 P 的第一条指令开始执行，execl 不再返回。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408813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38747" y="407194"/>
              <a:ext cx="4077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 · 实例：Java、Linux 与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自测题（二）：例题、线程与作业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66439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例题中第一个 do-while 只需要等 P2，为什么还要判断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pid3、pid4？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47491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因为 wait 返回的是任意一个已结束的子进程。P3、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 可能先于 P2 结束，这时不记下，后面等 P3 的循环就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永远等不到。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5410200" cy="1937385"/>
            <a:chOff x="533400" y="393763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线程切换为什么比进程切换快？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85965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同一进程的线程共享地址空间和打开文件等资源，切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换时只需保存、恢复寄存器和栈，不必切换地址空间。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776788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采用用户级线程时，一个线程执行阻塞式 I/O，同进程的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其他线程能否继续运行？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73177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不能。内核看不到线程，只把整个进程置为等待。采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用核心级线程时，其他线程可以继续运行。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2223135"/>
            <a:chOff x="6248400" y="3651885"/>
            <a:chExt cx="5410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作业、进程、线程分别是什么的单位？三者数量上是什么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作业是用户提交计算任务的单位，进程是资源分配单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位，线程是执行单位。一个作业通常对应多个进程，一个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进程至少包含一个线程。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829372" cy="909257"/>
            <a:chOff x="520446" y="342900"/>
            <a:chExt cx="18293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1641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4262" y="407194"/>
              <a:ext cx="1653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第2章 进程、线程与作业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table-1"/>
          <p:cNvGrpSpPr/>
          <p:nvPr/>
        </p:nvGrpSpPr>
        <p:grpSpPr>
          <a:xfrm>
            <a:off x="533400" y="1524000"/>
            <a:ext cx="6167438" cy="4266248"/>
            <a:chOff x="533400" y="1524000"/>
            <a:chExt cx="6167438" cy="42662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16743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376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知识点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9315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多道程序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51838" y="210835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提高资源利用率和吞吐量；道数要与资源相当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1649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21255"/>
              <a:ext cx="616743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5569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51838" y="2556986"/>
              <a:ext cx="46582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程序关于数据集合的一次运行活动；动态、并发；PCB + 程序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607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0056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51838" y="300561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就绪、运行、等待三态；加上初创、终止为五态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470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319462"/>
              <a:ext cx="616743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454241"/>
              <a:ext cx="9026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 与队列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51838" y="3454241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进程存在的标志；按状态链成就绪队列、等待队列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3328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3903821"/>
              <a:ext cx="3857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51838" y="390382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fork 复制、execl 换程序、exit 终止、wait 等子进程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211955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216718"/>
              <a:ext cx="616743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35244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51838" y="4352449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进程管资源、线程管执行；用户级、核心级、混合三种实现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66058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480107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51838" y="4801076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用户的计算任务集合；进入内存后变为进程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5110162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5114925"/>
              <a:ext cx="616743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1223" y="53630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两级调度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751838" y="5249704"/>
              <a:ext cx="45646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作业调度把后备作业装入内存变成进程；进程调度决定进程何时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占用 CPU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6167438" cy="42662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639252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rd-1"/>
          <p:cNvGrpSpPr/>
          <p:nvPr/>
        </p:nvGrpSpPr>
        <p:grpSpPr>
          <a:xfrm>
            <a:off x="7005638" y="1524000"/>
            <a:ext cx="4652962" cy="2558415"/>
            <a:chOff x="7005638" y="1524000"/>
            <a:chExt cx="4652962" cy="2558415"/>
          </a:xfrm>
        </p:grpSpPr>
        <p:sp>
          <p:nvSpPr>
            <p:cNvPr id="40" name="Rectangle 40"/>
            <p:cNvSpPr/>
            <p:nvPr/>
          </p:nvSpPr>
          <p:spPr>
            <a:xfrm>
              <a:off x="7005638" y="1524000"/>
              <a:ext cx="4652962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015162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253288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309993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259002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417118" y="2110740"/>
              <a:ext cx="3644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例题代码：end_p 变量的声明写法不合法，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“= =”应为“==”（第 32 页）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259002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417118" y="2731770"/>
              <a:ext cx="3577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user 结构：u_sszie 应为 u_ssize（第 25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259002" y="34156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17118" y="3352800"/>
              <a:ext cx="3739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线程实现的小节编号应为 2.3.5.1–2.3.5.3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（第 39 页）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7005638" y="4272915"/>
            <a:ext cx="4652962" cy="1517332"/>
            <a:chOff x="7005638" y="4272915"/>
            <a:chExt cx="4652962" cy="1517332"/>
          </a:xfrm>
        </p:grpSpPr>
        <p:sp>
          <p:nvSpPr>
            <p:cNvPr id="51" name="Rectangle 51"/>
            <p:cNvSpPr/>
            <p:nvPr/>
          </p:nvSpPr>
          <p:spPr>
            <a:xfrm>
              <a:off x="7005638" y="4272915"/>
              <a:ext cx="4652962" cy="1517332"/>
            </a:xfrm>
            <a:prstGeom prst="roundRect">
              <a:avLst>
                <a:gd name="adj" fmla="val 7533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210425" y="4931095"/>
              <a:ext cx="200023" cy="200023"/>
              <a:chOff x="7210425" y="4931095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210425" y="49310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343775" y="49977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512368" y="4650105"/>
              <a:ext cx="37395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复习重点：画进程状态转换图并说出每条边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的原因；读 fork/execl/wait 程序，判断父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子进程各执行哪段代码。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第2章 进程、线程与作业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s_ch2">
  <a:themeElements>
    <a:clrScheme name="os_ch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_ch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_ch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2026-09-23T04:22:55Z</dcterms:created>
  <dcterms:modified xsi:type="dcterms:W3CDTF">2026-09-23T04:22:55Z</dcterms:modified>
  <cp:category/>
  <cp:contentStatus/>
</cp:coreProperties>
</file>