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b_mo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b_mo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6b3b859791bcd6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9ab14607a7e98ce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34d6c1bf19a7d47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数据库系统原理 · 考前复习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模拟试题讲解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简答、分析、设计、计算、应用五类题逐题精讲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简答 9 题：概念辨析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 3 题：码、事务、公理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99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设计：保险公司 E-R 图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04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计算与应用：范式、SQL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自学复习版｜据吉林大学《数据库系统原理》模拟试题课件整理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924585"/>
            <a:chOff x="521970" y="1515428"/>
            <a:chExt cx="6287453" cy="392458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7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简答题 9 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93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char 与 varchar、索引、ACID、LIKE、函数与触发器、DISTINCT、1NF、类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型与域、函数依赖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117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分析题 3 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4973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主码设计、转账故障与日志恢复、用 Armstrong 公理证明合并律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404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汽车保险公司的 E-R 图，转换为关系模式并标出主码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3117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用属性闭包求候选码，判断 3NF 与 BCNF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3307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银行库建表，5 个小问各写关系代数和 SQL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66198"/>
            <a:chOff x="7114222" y="1524000"/>
            <a:chExt cx="4544378" cy="3866198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66198"/>
            </a:xfrm>
            <a:prstGeom prst="roundRect">
              <a:avLst>
                <a:gd name="adj" fmla="val 3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994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用一两句话准确回答 SQL 类型、索引、事务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特性等概念题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由题目文字画出带参与次数的 E-R 图，并转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换成关系模式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301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用属性闭包求全部候选码，判断 3NF 与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BCNF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对同一个查询写出关系代数和 SQL，会写分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组、差和更新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808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Armstrong 公理写出每步有依据的推导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五类题各考什么、怎样答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3726180"/>
            <a:chOff x="533400" y="1524000"/>
            <a:chExt cx="11125200" cy="37261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535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0407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9488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考查内容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8876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答题要领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4174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简答题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4042" y="24174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76562" y="2150745"/>
              <a:ext cx="41205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数据类型、索引、事务特性、LIKE、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DISTINCT、函数与触发器、1NF、类型与域、函数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48575" y="24174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先给定义，再补一句区别或例子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279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327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3051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64042" y="33051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6562" y="3171825"/>
              <a:ext cx="3444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超码与候选码、事务原子性与日志恢复、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Armstrong 公理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48575" y="33051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先下结论再说理由，推导每步写依据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7823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9262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64042" y="39262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76562" y="3926205"/>
              <a:ext cx="4482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E-R 图、映射基数与参与约束、E-R 图转关系模式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48575" y="392620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先列实体和联系、标基数，再按规则转表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700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748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4138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64042" y="44138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76562" y="4413885"/>
              <a:ext cx="3653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属性闭包、候选码、3NF 与 BCNF 的判定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48575" y="44138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先求出全部候选码，再逐条检查依赖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57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49015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64042" y="4901565"/>
              <a:ext cx="59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小问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76562" y="490156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建表、选择投影连接、分组聚集、集合差、更新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48575" y="4901565"/>
              <a:ext cx="3970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关系代数和 SQL 都要写，注意分组和子查询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726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752600" y="1524000"/>
              <a:ext cx="9525" cy="3726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865120" y="1524000"/>
              <a:ext cx="9525" cy="3726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37132" y="1524000"/>
              <a:ext cx="9525" cy="3726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8710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计算过程本身就是得分点：闭包怎样一步步求、为什么是 3NF、每步用了哪条公理，都要写出来。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简答题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九道概念题，每道给出标准答法和需要补充的细节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63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类型、索引、LIKE 与 DISTINCT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5689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事务的 ACID 特性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函数与触发器、类型与域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40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1NF 与函数依赖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3765" cy="909257"/>
            <a:chOff x="520446" y="342900"/>
            <a:chExt cx="70837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37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1）char 定长补空格，varchar 按实际长度存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735002" cy="1937385"/>
            <a:chOff x="533400" y="1524000"/>
            <a:chExt cx="5735002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8715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char(n)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是固定长度的字符类型：存入的串不足 n 个字符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时在尾部补空格，总占 n 个字符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8206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varchar(n)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是可变长度的字符类型：最多 n 个字符，按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实际长度存储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651885"/>
            <a:ext cx="5735002" cy="1795462"/>
            <a:chOff x="533400" y="3651885"/>
            <a:chExt cx="5735002" cy="1795462"/>
          </a:xfrm>
        </p:grpSpPr>
        <p:sp>
          <p:nvSpPr>
            <p:cNvPr id="16" name="Rectangle 16"/>
            <p:cNvSpPr/>
            <p:nvPr/>
          </p:nvSpPr>
          <p:spPr>
            <a:xfrm>
              <a:off x="533400" y="3651885"/>
              <a:ext cx="573500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084" y="3787616"/>
              <a:ext cx="873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存入 'Avi'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0139" y="3787616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char(10)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7342" y="3787616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varchar(10)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4236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实际存储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98685" y="4236244"/>
              <a:ext cx="13919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'Avi' 加 7 个空格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5197" y="4236244"/>
              <a:ext cx="451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'Avi'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4437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549140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6848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占用字符数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93411" y="46848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0326" y="4684871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3（另记长度）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99395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1334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适合的数据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301" y="513349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长度固定：性别代码、邮编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63085" y="513349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长度不定：姓名、地址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651885"/>
              <a:ext cx="573500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89748" y="36518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89095" y="36518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1"/>
          <p:cNvGrpSpPr/>
          <p:nvPr/>
        </p:nvGrpSpPr>
        <p:grpSpPr>
          <a:xfrm>
            <a:off x="6573202" y="1524000"/>
            <a:ext cx="5085398" cy="1966912"/>
            <a:chOff x="6573202" y="1524000"/>
            <a:chExt cx="5085398" cy="1966912"/>
          </a:xfrm>
        </p:grpSpPr>
        <p:sp>
          <p:nvSpPr>
            <p:cNvPr id="36" name="Rectangle 36"/>
            <p:cNvSpPr/>
            <p:nvPr/>
          </p:nvSpPr>
          <p:spPr>
            <a:xfrm>
              <a:off x="6573202" y="1524000"/>
              <a:ext cx="5085398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82728" y="1657350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2085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1106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20928" y="1768792"/>
              <a:ext cx="2296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与 varchar 的比较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826568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84683" y="2129790"/>
              <a:ext cx="4215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char 值比较时，较短的一方先补空格再比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826568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84683" y="2465070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与 varchar 比较时是否补空格取决于具体系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统：A、B 都存入 'Avi'，A = B 也可能为假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14376" y="3082766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教材因此建议一般都用 varchar。</a:t>
              </a:r>
            </a:p>
          </p:txBody>
        </p:sp>
      </p:grpSp>
      <p:grpSp>
        <p:nvGrpSpPr>
          <p:cNvPr id="50" name="c2-code-2"/>
          <p:cNvGrpSpPr/>
          <p:nvPr/>
        </p:nvGrpSpPr>
        <p:grpSpPr>
          <a:xfrm>
            <a:off x="6573202" y="3681412"/>
            <a:ext cx="5085398" cy="1313498"/>
            <a:chOff x="6573202" y="3681412"/>
            <a:chExt cx="5085398" cy="1313498"/>
          </a:xfrm>
        </p:grpSpPr>
        <p:sp>
          <p:nvSpPr>
            <p:cNvPr id="47" name="Rectangle 47"/>
            <p:cNvSpPr/>
            <p:nvPr/>
          </p:nvSpPr>
          <p:spPr>
            <a:xfrm>
              <a:off x="6573202" y="3681412"/>
              <a:ext cx="5085398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01600" y="3833336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0838" y="4096226"/>
              <a:ext cx="286334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gender  char(1),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固定 1 位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name    varchar(20)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最多 20 位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573202" y="5185410"/>
            <a:ext cx="5085398" cy="782955"/>
            <a:chOff x="6573202" y="5185410"/>
            <a:chExt cx="5085398" cy="782955"/>
          </a:xfrm>
        </p:grpSpPr>
        <p:sp>
          <p:nvSpPr>
            <p:cNvPr id="51" name="Rectangle 51"/>
            <p:cNvSpPr/>
            <p:nvPr/>
          </p:nvSpPr>
          <p:spPr>
            <a:xfrm>
              <a:off x="6573202" y="5185410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777990" y="5476875"/>
              <a:ext cx="200026" cy="200025"/>
              <a:chOff x="6777990" y="547687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777990" y="54768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817729" y="55213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852444" y="56324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079933" y="5334000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长度差别大的数据用 char 会浪费空间；长度固定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的数据用 char 省去长度信息，也不会浪费。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2）索引：按查找键直接定位元组的辅助结构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209675"/>
            <a:chOff x="533400" y="1524000"/>
            <a:chExt cx="6059805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索引是建立在关系的某些属性（查找键）上的辅助数据结构，能按查找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键的值直接找到元组所在位置，不必扫描整张表，从而加快查询。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908935"/>
            <a:ext cx="6059805" cy="1072515"/>
            <a:chOff x="533400" y="2908935"/>
            <a:chExt cx="6059805" cy="1072515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6059805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060859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3322320"/>
              <a:ext cx="375113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index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dept_index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instructor (dept_name);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按 dept_name 查找时可以走索引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instructor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dept_name =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'Music'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</p:grpSp>
      <p:grpSp>
        <p:nvGrpSpPr>
          <p:cNvPr id="32" name="c1-table-3"/>
          <p:cNvGrpSpPr/>
          <p:nvPr/>
        </p:nvGrpSpPr>
        <p:grpSpPr>
          <a:xfrm>
            <a:off x="533400" y="4155758"/>
            <a:ext cx="6059805" cy="1217295"/>
            <a:chOff x="533400" y="4155758"/>
            <a:chExt cx="6059805" cy="1217295"/>
          </a:xfrm>
        </p:grpSpPr>
        <p:sp>
          <p:nvSpPr>
            <p:cNvPr id="17" name="Rectangle 17"/>
            <p:cNvSpPr/>
            <p:nvPr/>
          </p:nvSpPr>
          <p:spPr>
            <a:xfrm>
              <a:off x="533400" y="4155758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85608" y="42800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17939" y="42800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组织方式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3756" y="428005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擅长的查询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412" y="4685824"/>
              <a:ext cx="1301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有序索引（B+ 树）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0807" y="468582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按查找键顺序排列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0575" y="468582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等值查询和范围查询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96252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967288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50915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散列索引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0807" y="509158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按散列函数分桶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0575" y="50915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等值查询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155758"/>
              <a:ext cx="605980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46032" y="415575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95800" y="415575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llout-4"/>
          <p:cNvGrpSpPr/>
          <p:nvPr/>
        </p:nvGrpSpPr>
        <p:grpSpPr>
          <a:xfrm>
            <a:off x="533400" y="5548312"/>
            <a:ext cx="6059805" cy="729615"/>
            <a:chOff x="533400" y="5548312"/>
            <a:chExt cx="6059805" cy="729615"/>
          </a:xfrm>
        </p:grpSpPr>
        <p:sp>
          <p:nvSpPr>
            <p:cNvPr id="33" name="Rectangle 33"/>
            <p:cNvSpPr/>
            <p:nvPr/>
          </p:nvSpPr>
          <p:spPr>
            <a:xfrm>
              <a:off x="533400" y="5548312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809416"/>
              <a:ext cx="224134" cy="192560"/>
              <a:chOff x="726129" y="580941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58797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8094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9575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694045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代价：索引占额外存储，每次插入、删除、修改都要同步维护索引，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所以不是越多越好。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7159942" y="1524000"/>
            <a:ext cx="4236720" cy="3476244"/>
            <a:chOff x="7159942" y="1524000"/>
            <a:chExt cx="4236720" cy="3476244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7159942" y="1524000"/>
              <a:ext cx="4236720" cy="3177540"/>
            </a:xfrm>
            <a:prstGeom prst="roundRect">
              <a:avLst>
                <a:gd name="adj" fmla="val 4196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930134" y="4794885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先查目录卡片，再直接到书架上取那一本书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898005" y="5153025"/>
            <a:ext cx="4760595" cy="1209675"/>
            <a:chOff x="6898005" y="5153025"/>
            <a:chExt cx="4760595" cy="1209675"/>
          </a:xfrm>
        </p:grpSpPr>
        <p:sp>
          <p:nvSpPr>
            <p:cNvPr id="43" name="Rectangle 43"/>
            <p:cNvSpPr/>
            <p:nvPr/>
          </p:nvSpPr>
          <p:spPr>
            <a:xfrm>
              <a:off x="6898005" y="5153025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528637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8510" y="53454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19950" y="53797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21652" y="5702618"/>
              <a:ext cx="41456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原课件写作“排序的数据结构”，只对有序索引成立；散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列索引按散列值分桶，并不排序。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92112" cy="909257"/>
            <a:chOff x="520446" y="342900"/>
            <a:chExt cx="98921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92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3）事务的四个特性：原子性、一致性、隔离性、持久性（ACID）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293597" cy="308039"/>
            <a:chOff x="525399" y="1550194"/>
            <a:chExt cx="929359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2935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以转账事务 T 为例：read(A)；A := A − 200；write(A)；read(B)；B := B + 200；write(B)。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67865"/>
            <a:ext cx="11125200" cy="3505200"/>
            <a:chOff x="533400" y="1967865"/>
            <a:chExt cx="11125200" cy="35052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348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8429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25590" y="21069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在转账例子中的要求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23158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由谁保证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080" y="2594610"/>
              <a:ext cx="94535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原子性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Atomicity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0302" y="272796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事务中的操作要么全做，要么全不做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79795" y="2727960"/>
              <a:ext cx="2259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不能只扣了 A 而没加到 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7355" y="272796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恢复系统（日志、回滚）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051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209925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348990"/>
              <a:ext cx="117538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Consistency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0302" y="3348990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单独执行的事务把数据库从一个一致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状态带到另一个一致状态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79795" y="3482340"/>
              <a:ext cx="2440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转账前后 A + B 的总和不变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17355" y="3348990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编写事务的程序员、完整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性约束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9595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236720"/>
              <a:ext cx="1581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隔离性 Isolation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20302" y="4103370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并发执行时，每个事务感觉不到其他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事务在同时执行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79795" y="4103370"/>
              <a:ext cx="28346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别的事务读不到“A 已扣、B 未加”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的中间状态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17355" y="42367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并发控制（封锁等）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7139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718685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4857750"/>
              <a:ext cx="965359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持久性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Durability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20302" y="4857750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事务一旦提交，它对数据库的修改永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久保存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79795" y="4857750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告诉用户转账成功后，系统崩溃也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不能丢失结果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17355" y="49911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恢复系统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67865"/>
              <a:ext cx="11125200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308860" y="1967865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68352" y="1967865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05912" y="1967865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8930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答题写出四个名称即可；每个配一句含义更稳妥。分析题第 2 题考的正是原子性，恢复手段是日志。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01506" cy="909257"/>
            <a:chOff x="520446" y="342900"/>
            <a:chExt cx="63015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015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4）LIKE 模式匹配：查名字中含 g 的学生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072515"/>
            <a:chOff x="533400" y="1524000"/>
            <a:chExt cx="5842635" cy="1072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1624203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ID, name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like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'%g%'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2770822"/>
            <a:ext cx="5842635" cy="2023110"/>
            <a:chOff x="533400" y="2770822"/>
            <a:chExt cx="5842635" cy="2023110"/>
          </a:xfrm>
        </p:grpSpPr>
        <p:sp>
          <p:nvSpPr>
            <p:cNvPr id="11" name="Rectangle 11"/>
            <p:cNvSpPr/>
            <p:nvPr/>
          </p:nvSpPr>
          <p:spPr>
            <a:xfrm>
              <a:off x="533400" y="2770822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2691" y="2895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14346" y="2895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09883" y="2895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3400901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84972" y="3300889"/>
              <a:ext cx="2166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匹配任意长度（含 0 个字符）的子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55770" y="34009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'%g%'：任意位置含 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776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782378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40066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84972" y="40066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匹配恰好一个字符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5770" y="3906679"/>
              <a:ext cx="18036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'___'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 个 _）：恰好 3 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3834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4512469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escape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84972" y="4512469"/>
              <a:ext cx="2348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声明转义符，用来匹配 % 或 _ 本身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55770" y="4512469"/>
              <a:ext cx="1956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like 'ab\%cd%' escape '\'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770822"/>
              <a:ext cx="584263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80198" y="2770822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150995" y="2770822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3"/>
          <p:cNvGrpSpPr/>
          <p:nvPr/>
        </p:nvGrpSpPr>
        <p:grpSpPr>
          <a:xfrm>
            <a:off x="533400" y="4969192"/>
            <a:ext cx="5842635" cy="1209675"/>
            <a:chOff x="533400" y="4969192"/>
            <a:chExt cx="5842635" cy="1209675"/>
          </a:xfrm>
        </p:grpSpPr>
        <p:sp>
          <p:nvSpPr>
            <p:cNvPr id="31" name="Rectangle 31"/>
            <p:cNvSpPr/>
            <p:nvPr/>
          </p:nvSpPr>
          <p:spPr>
            <a:xfrm>
              <a:off x="533400" y="4969192"/>
              <a:ext cx="584263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510254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3905" y="51615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5345" y="51958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5518785"/>
              <a:ext cx="50886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原课件答案把字符串写成中文引号 ‘%g%’，SQL 里必须用英文单引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 '%g%'，否则语句报错。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6680835" y="1533525"/>
            <a:ext cx="4635119" cy="1900714"/>
            <a:chOff x="6680835" y="1533525"/>
            <a:chExt cx="4635119" cy="1900714"/>
          </a:xfrm>
        </p:grpSpPr>
        <p:sp>
          <p:nvSpPr>
            <p:cNvPr id="37" name="Rectangle 37"/>
            <p:cNvSpPr/>
            <p:nvPr/>
          </p:nvSpPr>
          <p:spPr>
            <a:xfrm>
              <a:off x="681418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80835" y="23279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445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0835" y="29146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445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3077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确定表和列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4220" y="1833086"/>
              <a:ext cx="42217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大学数据库的 student(ID, name, dept_name, tot_cred)，输出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和 name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3077" y="23593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写匹配条件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94220" y="2627471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“包含 g”即 g 前后都可以有任意字符，两侧各加一个 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3077" y="294608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排除错误写法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4220" y="3214211"/>
              <a:ext cx="4187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'g%' 只匹配以 g 开头，'%g' 只匹配以 g 结尾，都不符合题意</a:t>
              </a:r>
            </a:p>
          </p:txBody>
        </p:sp>
      </p:grpSp>
      <p:grpSp>
        <p:nvGrpSpPr>
          <p:cNvPr id="65" name="c2-table-2"/>
          <p:cNvGrpSpPr/>
          <p:nvPr/>
        </p:nvGrpSpPr>
        <p:grpSpPr>
          <a:xfrm>
            <a:off x="6680835" y="3602355"/>
            <a:ext cx="4977765" cy="1623060"/>
            <a:chOff x="6680835" y="3602355"/>
            <a:chExt cx="4977765" cy="1623060"/>
          </a:xfrm>
        </p:grpSpPr>
        <p:sp>
          <p:nvSpPr>
            <p:cNvPr id="51" name="Rectangle 51"/>
            <p:cNvSpPr/>
            <p:nvPr/>
          </p:nvSpPr>
          <p:spPr>
            <a:xfrm>
              <a:off x="6680835" y="3602355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71118" y="37276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58452" y="37276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匹配的字符串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80848" y="4133374"/>
              <a:ext cx="707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'Intro%'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73440" y="4133374"/>
              <a:ext cx="936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Intro 开头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680835" y="44100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80835" y="4414838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0848" y="4539139"/>
              <a:ext cx="814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'%Comp%'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73440" y="4539139"/>
              <a:ext cx="1178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任意位置含 Comp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80835" y="48158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0848" y="4944904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'___%'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73440" y="4944904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 _ 后接 %：至少 3 个字符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80835" y="3602355"/>
              <a:ext cx="497776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368665" y="36023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llout-3"/>
          <p:cNvGrpSpPr/>
          <p:nvPr/>
        </p:nvGrpSpPr>
        <p:grpSpPr>
          <a:xfrm>
            <a:off x="6680835" y="5400675"/>
            <a:ext cx="4977765" cy="778192"/>
            <a:chOff x="6680835" y="5400675"/>
            <a:chExt cx="4977765" cy="778192"/>
          </a:xfrm>
        </p:grpSpPr>
        <p:sp>
          <p:nvSpPr>
            <p:cNvPr id="66" name="Rectangle 66"/>
            <p:cNvSpPr/>
            <p:nvPr/>
          </p:nvSpPr>
          <p:spPr>
            <a:xfrm>
              <a:off x="6680835" y="5400675"/>
              <a:ext cx="4977765" cy="778192"/>
            </a:xfrm>
            <a:prstGeom prst="roundRect">
              <a:avLst>
                <a:gd name="adj" fmla="val 1468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885623" y="5690235"/>
              <a:ext cx="200026" cy="200025"/>
              <a:chOff x="6885623" y="5690235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885623" y="56902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25361" y="57346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960077" y="58458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188327" y="5571173"/>
              <a:ext cx="41113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SQL 标准中 like 区分大小写；MySQL 默认的排序规则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不区分，'%g%' 也会匹配大写 G。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2897" cy="909257"/>
            <a:chOff x="520446" y="342900"/>
            <a:chExt cx="8462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2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5）函数要显式调用、有返回值；触发器由事件自动执行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365885"/>
            <a:chOff x="533400" y="1524000"/>
            <a:chExt cx="5626418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相同点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895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都是存储在数据库中的一段过程性代码，由 DBMS 执行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768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都可以包含 SQL 语句，用来封装业务逻辑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080385"/>
            <a:ext cx="5626418" cy="3150870"/>
            <a:chOff x="533400" y="3080385"/>
            <a:chExt cx="5626418" cy="3150870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5183" y="32161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36774" y="32161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7573" y="32161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触发器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3891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怎样执行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53730" y="3778091"/>
              <a:ext cx="17117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SQL 语句或其他过程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中显式调用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92093" y="3664744"/>
              <a:ext cx="214249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指定事件（insert、delete、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update）发生时系统自动执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262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43103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5667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3730" y="45667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有，返回一个值或一张表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92093" y="45667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758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1287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3730" y="51287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可以带参数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92093" y="5015389"/>
              <a:ext cx="2101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不带参数，用 new、old 引用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被修改的行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5511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555932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8040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典型用途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53730" y="58040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封装计算、复用查询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92093" y="5690711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维护完整性、记审计日志、同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步派生数据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080385"/>
              <a:ext cx="5626418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41145" y="3080385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79508" y="3080385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ode-1"/>
          <p:cNvGrpSpPr/>
          <p:nvPr/>
        </p:nvGrpSpPr>
        <p:grpSpPr>
          <a:xfrm>
            <a:off x="6464618" y="1524000"/>
            <a:ext cx="5193982" cy="2327910"/>
            <a:chOff x="6464618" y="1524000"/>
            <a:chExt cx="5193982" cy="2327910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93015" y="1675924"/>
              <a:ext cx="22306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触发器例子（SQLite 写法，已实跑）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92252" y="1937861"/>
              <a:ext cx="282778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trigger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log_balance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after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update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of balance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each row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when new.balance &lt; old.balance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insert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into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account_log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values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(old.account_number,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old.balance, new.balance);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end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4042410"/>
            <a:ext cx="5193982" cy="2188845"/>
            <a:chOff x="6464618" y="4042410"/>
            <a:chExt cx="5193982" cy="2188845"/>
          </a:xfrm>
        </p:grpSpPr>
        <p:sp>
          <p:nvSpPr>
            <p:cNvPr id="45" name="Rectangle 45"/>
            <p:cNvSpPr/>
            <p:nvPr/>
          </p:nvSpPr>
          <p:spPr>
            <a:xfrm>
              <a:off x="6464618" y="4042410"/>
              <a:ext cx="5193982" cy="2188845"/>
            </a:xfrm>
            <a:prstGeom prst="roundRect">
              <a:avLst>
                <a:gd name="adj" fmla="val 6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4175760"/>
              <a:ext cx="47625" cy="19221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12268" y="42519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03428" y="42876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4648" y="4629150"/>
              <a:ext cx="4501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事件（after update of balance）、条件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（when …）、动作（begin … end）三部分，即触发器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的“事件-条件-动作”模型。余额减少时自动记一条日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志，没有任何语句调用它。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3668" cy="909257"/>
            <a:chOff x="520446" y="342900"/>
            <a:chExt cx="89436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36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6）DISTINCT 删去重复行；7）属性都不可再分即满足 1NF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43952"/>
            <a:chOff x="533400" y="1524000"/>
            <a:chExt cx="5410200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65436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197" y="1737836"/>
              <a:ext cx="4818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6）答案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distinct 写在 select 后，删除查询结果中的重复元组。SQL 默认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保留重复行（结果是多重集），这一点和关系代数不同。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2832735"/>
            <a:ext cx="5410200" cy="2287905"/>
            <a:chOff x="533400" y="2832735"/>
            <a:chExt cx="5410200" cy="2287905"/>
          </a:xfrm>
        </p:grpSpPr>
        <p:sp>
          <p:nvSpPr>
            <p:cNvPr id="13" name="Rectangle 13"/>
            <p:cNvSpPr/>
            <p:nvPr/>
          </p:nvSpPr>
          <p:spPr>
            <a:xfrm>
              <a:off x="533400" y="283273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8627" y="2949893"/>
              <a:ext cx="1361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select dept from 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52048" y="2949893"/>
              <a:ext cx="1984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select distinct dept from 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7680" y="333184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56887" y="333184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590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59568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47680" y="371284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67010" y="3712845"/>
              <a:ext cx="3547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71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53308" y="4094798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56887" y="409479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538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35864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47680" y="44757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348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53308" y="4856798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832735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939415" y="283273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ode-3"/>
          <p:cNvGrpSpPr/>
          <p:nvPr/>
        </p:nvGrpSpPr>
        <p:grpSpPr>
          <a:xfrm>
            <a:off x="533400" y="5286375"/>
            <a:ext cx="5410200" cy="858202"/>
            <a:chOff x="533400" y="5286375"/>
            <a:chExt cx="5410200" cy="858202"/>
          </a:xfrm>
        </p:grpSpPr>
        <p:sp>
          <p:nvSpPr>
            <p:cNvPr id="33" name="Rectangle 33"/>
            <p:cNvSpPr/>
            <p:nvPr/>
          </p:nvSpPr>
          <p:spPr>
            <a:xfrm>
              <a:off x="533400" y="5286375"/>
              <a:ext cx="541020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797" y="5438299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797" y="5698331"/>
              <a:ext cx="274802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count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(dept),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count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distinct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dept)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结果：5, 3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1143952"/>
            <a:chOff x="6248400" y="1524000"/>
            <a:chExt cx="5410200" cy="114395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7475" y="1704975"/>
              <a:ext cx="65436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4197" y="1737836"/>
              <a:ext cx="4818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7）答案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0998" y="2045494"/>
              <a:ext cx="467558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至少满足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第一范式（1NF）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。1NF 要求所有属性的域都是原子的，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即每个属性值都不可再分。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6243447" y="2832735"/>
            <a:ext cx="5415153" cy="1026509"/>
            <a:chOff x="6243447" y="2832735"/>
            <a:chExt cx="5415153" cy="1026509"/>
          </a:xfrm>
        </p:grpSpPr>
        <p:sp>
          <p:nvSpPr>
            <p:cNvPr id="43" name="Rectangle 43"/>
            <p:cNvSpPr/>
            <p:nvPr/>
          </p:nvSpPr>
          <p:spPr>
            <a:xfrm>
              <a:off x="6248400" y="283273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5628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72500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姓名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53688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电话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4533" y="333184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72500" y="3331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23992" y="3331845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1301, 1582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832735"/>
              <a:ext cx="5410200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90510" y="283273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38335" y="283273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43447" y="3668554"/>
              <a:ext cx="25244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反例：电话一格存了两个号码，不满足 1NF</a:t>
              </a:r>
            </a:p>
          </p:txBody>
        </p:sp>
      </p:grpSp>
      <p:grpSp>
        <p:nvGrpSpPr>
          <p:cNvPr id="67" name="c2-table-3"/>
          <p:cNvGrpSpPr/>
          <p:nvPr/>
        </p:nvGrpSpPr>
        <p:grpSpPr>
          <a:xfrm>
            <a:off x="6243447" y="3986212"/>
            <a:ext cx="5415153" cy="1407509"/>
            <a:chOff x="6243447" y="3986212"/>
            <a:chExt cx="5415153" cy="1407509"/>
          </a:xfrm>
        </p:grpSpPr>
        <p:sp>
          <p:nvSpPr>
            <p:cNvPr id="55" name="Rectangle 55"/>
            <p:cNvSpPr/>
            <p:nvPr/>
          </p:nvSpPr>
          <p:spPr>
            <a:xfrm>
              <a:off x="6248400" y="39862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43788" y="41033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48888" y="41033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电话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62693" y="448437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34752" y="44843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47444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47491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62693" y="486632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34752" y="486632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1582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3986212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927782" y="39862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43447" y="5203031"/>
              <a:ext cx="302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把电话单独拆成（学号, 电话）一张表，每格一个值</a:t>
              </a:r>
            </a:p>
          </p:txBody>
        </p:sp>
      </p:grpSp>
      <p:grpSp>
        <p:nvGrpSpPr>
          <p:cNvPr id="74" name="c2-callout-4"/>
          <p:cNvGrpSpPr/>
          <p:nvPr/>
        </p:nvGrpSpPr>
        <p:grpSpPr>
          <a:xfrm>
            <a:off x="6248400" y="5520690"/>
            <a:ext cx="5410200" cy="702945"/>
            <a:chOff x="6248400" y="5520690"/>
            <a:chExt cx="5410200" cy="702945"/>
          </a:xfrm>
        </p:grpSpPr>
        <p:sp>
          <p:nvSpPr>
            <p:cNvPr id="68" name="Rectangle 68"/>
            <p:cNvSpPr/>
            <p:nvPr/>
          </p:nvSpPr>
          <p:spPr>
            <a:xfrm>
              <a:off x="6248400" y="552069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53188" y="5772150"/>
              <a:ext cx="200026" cy="200025"/>
              <a:chOff x="6453188" y="5772150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453188" y="57721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92926" y="58166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27642" y="59277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56273" y="5664994"/>
              <a:ext cx="4393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只知道“属性不可再分”时只能判到 1NF；要判 2NF、3NF 还需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要函数依赖。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36021" cy="909257"/>
            <a:chOff x="520446" y="342900"/>
            <a:chExt cx="98360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360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8）自定义类型是强类型、不能带约束；域是弱类型、可以带约束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626418" cy="2851785"/>
            <a:chOff x="533400" y="1524000"/>
            <a:chExt cx="5626418" cy="28517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615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23085" y="165877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用户自定义类型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03521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定义语句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0111" y="2128361"/>
              <a:ext cx="11232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 type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57066" y="2128361"/>
              <a:ext cx="13239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 domain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562641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7236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类型检查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50111" y="2596991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强类型：不同类型的值不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能直接比较或赋值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57066" y="2596991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弱类型：底层类型兼容就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能互相赋值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794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4456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50111" y="3318986"/>
              <a:ext cx="162852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不能定义 not null、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 等约束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7066" y="3318986"/>
              <a:ext cx="162852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可以定义 not null、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 约束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023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07155"/>
              <a:ext cx="5626418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404193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0111" y="40419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不能定义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57066" y="40419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可以定义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626418" cy="2851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41145" y="1524000"/>
              <a:ext cx="9525" cy="2851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48100" y="1524000"/>
              <a:ext cx="9525" cy="2851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561522"/>
            <a:ext cx="5626418" cy="1545908"/>
            <a:chOff x="533400" y="4561522"/>
            <a:chExt cx="5626418" cy="1545908"/>
          </a:xfrm>
        </p:grpSpPr>
        <p:sp>
          <p:nvSpPr>
            <p:cNvPr id="32" name="Rectangle 32"/>
            <p:cNvSpPr/>
            <p:nvPr/>
          </p:nvSpPr>
          <p:spPr>
            <a:xfrm>
              <a:off x="533400" y="4561522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69487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476535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0445" y="480107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8096" y="5138261"/>
              <a:ext cx="486562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Dollars 和 Pounds 都基于 numeric(12,2)。把 Dollars 类型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的值和 Pounds 类型的值比较，编译时就报错；两个同底层类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型的域之间比较则可以通过。</a:t>
              </a:r>
            </a:p>
          </p:txBody>
        </p:sp>
      </p:grpSp>
      <p:grpSp>
        <p:nvGrpSpPr>
          <p:cNvPr id="41" name="c2-code-1"/>
          <p:cNvGrpSpPr/>
          <p:nvPr/>
        </p:nvGrpSpPr>
        <p:grpSpPr>
          <a:xfrm>
            <a:off x="6464618" y="1524000"/>
            <a:ext cx="5193982" cy="3139440"/>
            <a:chOff x="6464618" y="1524000"/>
            <a:chExt cx="5193982" cy="3139440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93015" y="167592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92252" y="1937861"/>
              <a:ext cx="3375406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type Dollars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numeric(12,2) final;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type Pounds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numeric(12,2) final;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domain DDollars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numeric(12,2)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not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domain YearlySalary numeric(8,2)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constraint salary_value_test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check (value &gt;= 29000.00);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instructor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ID      varchar(5),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salary  YearlySalary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-- 属性用域定义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464618" y="4849178"/>
            <a:ext cx="5193982" cy="1258252"/>
            <a:chOff x="6464618" y="4849178"/>
            <a:chExt cx="5193982" cy="1258252"/>
          </a:xfrm>
        </p:grpSpPr>
        <p:sp>
          <p:nvSpPr>
            <p:cNvPr id="42" name="Rectangle 42"/>
            <p:cNvSpPr/>
            <p:nvPr/>
          </p:nvSpPr>
          <p:spPr>
            <a:xfrm>
              <a:off x="6464618" y="4849178"/>
              <a:ext cx="5193982" cy="1258252"/>
            </a:xfrm>
            <a:prstGeom prst="roundRect">
              <a:avLst>
                <a:gd name="adj" fmla="val 90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69405" y="5377815"/>
              <a:ext cx="200026" cy="200026"/>
              <a:chOff x="6669405" y="5377815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9405" y="53778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69418" y="54444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58305" y="54778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71729" y="5247799"/>
              <a:ext cx="424345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以上是 SQL 标准写法，各 DBMS 支持程度不同，例如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PostgreSQL 支持 create domain。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8485" cy="909257"/>
            <a:chOff x="520446" y="342900"/>
            <a:chExt cx="72384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简答题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84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9）AB→C 推不出 A→C 和 B→C：举一个反例即可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274445"/>
            <a:chOff x="533400" y="1524000"/>
            <a:chExt cx="5193982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不能。AB→C 只保证 A、B 的值都相同时 C 相同；A 相同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 B 不同时，C 可以不同。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27685" y="2984182"/>
            <a:ext cx="5199697" cy="2172177"/>
            <a:chOff x="527685" y="2984182"/>
            <a:chExt cx="5199697" cy="2172177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193982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9708" y="31189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97604" y="3118961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3482" y="3118961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09359" y="3118961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0091" y="358854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50788" y="358854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56665" y="358854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62543" y="358854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176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922395"/>
              <a:ext cx="519398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0091" y="405717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50788" y="405717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6665" y="405717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62543" y="405717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3862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10091" y="452580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50788" y="452580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56665" y="452580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62543" y="452580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984182"/>
              <a:ext cx="5193982" cy="1876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05940" y="2984182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11818" y="2984182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16742" y="2984182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4936331"/>
              <a:ext cx="2777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行的 (A, B) 组合互不相同，AB→C 成立</a:t>
              </a:r>
            </a:p>
          </p:txBody>
        </p:sp>
      </p:grpSp>
      <p:grpSp>
        <p:nvGrpSpPr>
          <p:cNvPr id="45" name="c1-callout-3"/>
          <p:cNvGrpSpPr/>
          <p:nvPr/>
        </p:nvGrpSpPr>
        <p:grpSpPr>
          <a:xfrm>
            <a:off x="533400" y="5296852"/>
            <a:ext cx="5193982" cy="1018222"/>
            <a:chOff x="533400" y="5296852"/>
            <a:chExt cx="5193982" cy="1018222"/>
          </a:xfrm>
        </p:grpSpPr>
        <p:sp>
          <p:nvSpPr>
            <p:cNvPr id="39" name="Rectangle 39"/>
            <p:cNvSpPr/>
            <p:nvPr/>
          </p:nvSpPr>
          <p:spPr>
            <a:xfrm>
              <a:off x="533400" y="529685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706428"/>
              <a:ext cx="200026" cy="200026"/>
              <a:chOff x="738188" y="570642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7064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773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8064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444014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函数依赖约束的是关系模式的所有合法实例。一个实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例只能用来否定依赖（找到反例），不能用来证明依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赖成立。</a:t>
              </a:r>
            </a:p>
          </p:txBody>
        </p:sp>
      </p:grpSp>
      <p:grpSp>
        <p:nvGrpSpPr>
          <p:cNvPr id="59" name="c2-steps-1"/>
          <p:cNvGrpSpPr/>
          <p:nvPr/>
        </p:nvGrpSpPr>
        <p:grpSpPr>
          <a:xfrm>
            <a:off x="6032182" y="1533525"/>
            <a:ext cx="4279087" cy="1790128"/>
            <a:chOff x="6032182" y="1533525"/>
            <a:chExt cx="4279087" cy="1790128"/>
          </a:xfrm>
        </p:grpSpPr>
        <p:sp>
          <p:nvSpPr>
            <p:cNvPr id="46" name="Rectangle 46"/>
            <p:cNvSpPr/>
            <p:nvPr/>
          </p:nvSpPr>
          <p:spPr>
            <a:xfrm>
              <a:off x="6165532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032182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5806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032182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5806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044" y="1566386"/>
              <a:ext cx="926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AB→C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186" y="1846898"/>
              <a:ext cx="3866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三行的 (A, B) 值各不相同，找不到违反的两行，成立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044" y="2187416"/>
              <a:ext cx="810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A→C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5186" y="2467927"/>
              <a:ext cx="3519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1、2 行 A 都是 a1，C 分别为 c1、c2，不成立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4044" y="2808446"/>
              <a:ext cx="810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B→C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5186" y="3088957"/>
              <a:ext cx="3519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1、3 行 B 都是 b1，C 分别为 c1、c3，不成立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032182" y="3499485"/>
            <a:ext cx="5626418" cy="756285"/>
            <a:chOff x="6032182" y="3499485"/>
            <a:chExt cx="5626418" cy="756285"/>
          </a:xfrm>
        </p:grpSpPr>
        <p:sp>
          <p:nvSpPr>
            <p:cNvPr id="60" name="Rectangle 60"/>
            <p:cNvSpPr/>
            <p:nvPr/>
          </p:nvSpPr>
          <p:spPr>
            <a:xfrm>
              <a:off x="6032182" y="349948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236970" y="3777615"/>
              <a:ext cx="200026" cy="200025"/>
              <a:chOff x="6236970" y="377761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236970" y="37776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276709" y="38220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311424" y="39331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539294" y="3646646"/>
              <a:ext cx="439674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反方向成立：由 A→C 用增补律得 AB→BC，再用分解律得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AB→C。左部添属性不影响依赖，左部减属性不行。</a:t>
              </a:r>
            </a:p>
          </p:txBody>
        </p:sp>
      </p:grpSp>
      <p:grpSp>
        <p:nvGrpSpPr>
          <p:cNvPr id="72" name="c2-card-3"/>
          <p:cNvGrpSpPr/>
          <p:nvPr/>
        </p:nvGrpSpPr>
        <p:grpSpPr>
          <a:xfrm>
            <a:off x="6032182" y="4441508"/>
            <a:ext cx="5626418" cy="1874520"/>
            <a:chOff x="6032182" y="4441508"/>
            <a:chExt cx="5626418" cy="1874520"/>
          </a:xfrm>
        </p:grpSpPr>
        <p:sp>
          <p:nvSpPr>
            <p:cNvPr id="67" name="Rectangle 67"/>
            <p:cNvSpPr/>
            <p:nvPr/>
          </p:nvSpPr>
          <p:spPr>
            <a:xfrm>
              <a:off x="6032182" y="4441508"/>
              <a:ext cx="5626418" cy="1874520"/>
            </a:xfrm>
            <a:prstGeom prst="roundRect">
              <a:avLst>
                <a:gd name="adj" fmla="val 71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041708" y="4574858"/>
              <a:ext cx="47625" cy="16078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74118" y="46453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64326" y="46810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66879" y="5018246"/>
              <a:ext cx="49557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若再加入第 4 行 (a1, b1, c4)，它和第 1 行的 A、B 都相同而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不同，连 AB→C 也不成立了。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580638" cy="2997517"/>
            <a:chOff x="667512" y="1835468"/>
            <a:chExt cx="358063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先下结论，再用定义或规则说明理由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主码为什么要选候选码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转账故障：不一致状态与日志回滚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99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Armstrong 公理证明合并律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4635" cy="909257"/>
            <a:chOff x="520446" y="342900"/>
            <a:chExt cx="7844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分析题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4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 1：(ID, name) 作主码不合理，它不是候选码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735002" cy="1937385"/>
            <a:chOff x="533400" y="1524000"/>
            <a:chExt cx="5735002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01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不合理。ID 本身就能唯一标识学生，(ID, name) 是超码但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不是最小的，不是候选码，不应选作主码。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主码只要求 (ID, name) 组合不重复，于是允许学号相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同、姓名不同的两行同时存在，学号失去唯一性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27685" y="3651885"/>
            <a:ext cx="5740717" cy="1642587"/>
            <a:chOff x="527685" y="3651885"/>
            <a:chExt cx="5740717" cy="1642587"/>
          </a:xfrm>
        </p:grpSpPr>
        <p:sp>
          <p:nvSpPr>
            <p:cNvPr id="15" name="Rectangle 15"/>
            <p:cNvSpPr/>
            <p:nvPr/>
          </p:nvSpPr>
          <p:spPr>
            <a:xfrm>
              <a:off x="533400" y="3651885"/>
              <a:ext cx="573500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47756" y="3787616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78913" y="3787616"/>
              <a:ext cx="44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9736" y="423624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3714" y="4236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54437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549140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79736" y="468487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23714" y="46848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李四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51885"/>
              <a:ext cx="573500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1845" y="365188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5074444"/>
              <a:ext cx="4124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primary key (ID, name) 时这两行都能插入（SQLite 实测）</a:t>
              </a:r>
            </a:p>
          </p:txBody>
        </p:sp>
      </p:grpSp>
      <p:grpSp>
        <p:nvGrpSpPr>
          <p:cNvPr id="36" name="c2-kv-1"/>
          <p:cNvGrpSpPr/>
          <p:nvPr/>
        </p:nvGrpSpPr>
        <p:grpSpPr>
          <a:xfrm>
            <a:off x="6565583" y="1548765"/>
            <a:ext cx="5093017" cy="1173480"/>
            <a:chOff x="6565583" y="1548765"/>
            <a:chExt cx="5093017" cy="1173480"/>
          </a:xfrm>
        </p:grpSpPr>
        <p:sp>
          <p:nvSpPr>
            <p:cNvPr id="28" name="TextBox 28"/>
            <p:cNvSpPr txBox="1"/>
            <p:nvPr/>
          </p:nvSpPr>
          <p:spPr>
            <a:xfrm>
              <a:off x="6565583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超码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8545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能唯一标识元组的属性集合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73202" y="186880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5583" y="19888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候选码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08545" y="19888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最小的超码：去掉任何一个属性就不再是超码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73202" y="230886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5583" y="2428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主码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08545" y="2428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设计者从候选码中选定的一个</a:t>
              </a:r>
            </a:p>
          </p:txBody>
        </p:sp>
      </p:grpSp>
      <p:grpSp>
        <p:nvGrpSpPr>
          <p:cNvPr id="40" name="c2-code-2"/>
          <p:cNvGrpSpPr/>
          <p:nvPr/>
        </p:nvGrpSpPr>
        <p:grpSpPr>
          <a:xfrm>
            <a:off x="6573202" y="2853690"/>
            <a:ext cx="5085398" cy="1516380"/>
            <a:chOff x="6573202" y="2853690"/>
            <a:chExt cx="5085398" cy="1516380"/>
          </a:xfrm>
        </p:grpSpPr>
        <p:sp>
          <p:nvSpPr>
            <p:cNvPr id="37" name="Rectangle 37"/>
            <p:cNvSpPr/>
            <p:nvPr/>
          </p:nvSpPr>
          <p:spPr>
            <a:xfrm>
              <a:off x="6573202" y="2853690"/>
              <a:ext cx="508539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01600" y="300561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合理的设计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0838" y="3268504"/>
              <a:ext cx="2280158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ID    varchar(5),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name  varchar(20)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not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(ID)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573202" y="4560570"/>
            <a:ext cx="5085398" cy="782955"/>
            <a:chOff x="6573202" y="4560570"/>
            <a:chExt cx="5085398" cy="782955"/>
          </a:xfrm>
        </p:grpSpPr>
        <p:sp>
          <p:nvSpPr>
            <p:cNvPr id="41" name="Rectangle 41"/>
            <p:cNvSpPr/>
            <p:nvPr/>
          </p:nvSpPr>
          <p:spPr>
            <a:xfrm>
              <a:off x="6573202" y="4560570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777990" y="4852035"/>
              <a:ext cx="200026" cy="200025"/>
              <a:chOff x="6777990" y="485203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77990" y="48520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17729" y="48964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52444" y="50076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079933" y="470916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判断方法：从组合里去掉一个属性，看剩下的能否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唯一标识元组；能，原组合就不是候选码。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87001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原课件只说了后果（同一学号可对应多个姓名），根本原因是 (ID, name) 不满足“最小”这一条。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187" cy="909257"/>
            <a:chOff x="520446" y="342900"/>
            <a:chExt cx="7541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分析题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 2：转账只做了一半，数据库处于不一致状态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558415"/>
            <a:chOff x="533400" y="1524000"/>
            <a:chExt cx="5410200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状态：事务只执行了一部分，A 少了 200 元而 B 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增加，数据库处于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不一致状态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，破坏了原子性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解决：系统重启后对这个未提交的事务做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销），把 A 恢复为扣款前的值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35280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手段：恢复系统利用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日志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，日志中记着每次修改前的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旧值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272915"/>
            <a:ext cx="5410200" cy="1602105"/>
            <a:chOff x="533400" y="4272915"/>
            <a:chExt cx="5410200" cy="1602105"/>
          </a:xfrm>
        </p:grpSpPr>
        <p:sp>
          <p:nvSpPr>
            <p:cNvPr id="21" name="Rectangle 21"/>
            <p:cNvSpPr/>
            <p:nvPr/>
          </p:nvSpPr>
          <p:spPr>
            <a:xfrm>
              <a:off x="533400" y="427291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062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482465"/>
              <a:ext cx="201930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0530" y="4518184"/>
              <a:ext cx="19403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为什么不“补上 B 的 200 元”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85965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崩溃后事务在内存中的执行现场已经丢失，恢复系统只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能依据日志判断：没有提交记录的事务一律撤销，由用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户重新发起转账。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925628" y="1524000"/>
            <a:ext cx="4056698" cy="3357087"/>
            <a:chOff x="6925628" y="1524000"/>
            <a:chExt cx="4056698" cy="3357087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16664" t="0" r="16664" b="0"/>
            <a:stretch>
              <a:fillRect/>
            </a:stretch>
          </p:blipFill>
          <p:spPr>
            <a:xfrm>
              <a:off x="6925628" y="1524000"/>
              <a:ext cx="4056698" cy="3042285"/>
            </a:xfrm>
            <a:prstGeom prst="roundRect">
              <a:avLst>
                <a:gd name="adj" fmla="val 4383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213879" y="466105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转账是一个整体：中途断了，已转出的钱退回原账户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248400" y="5046345"/>
            <a:ext cx="5410200" cy="1316355"/>
            <a:chOff x="6248400" y="5046345"/>
            <a:chExt cx="5410200" cy="1316355"/>
          </a:xfrm>
        </p:grpSpPr>
        <p:sp>
          <p:nvSpPr>
            <p:cNvPr id="30" name="Rectangle 30"/>
            <p:cNvSpPr/>
            <p:nvPr/>
          </p:nvSpPr>
          <p:spPr>
            <a:xfrm>
              <a:off x="6248400" y="504634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517969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52558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6258" y="52916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8430" y="5633085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原题前面写“200 元”，后面写“200 美元”，币种前后不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一，这里按同一笔 200 元理解。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94256" cy="909257"/>
            <a:chOff x="520446" y="342900"/>
            <a:chExt cx="53942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分析题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942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日志怎样把 A 扣掉的 200 元加回来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131674" cy="308039"/>
            <a:chOff x="525399" y="1550194"/>
            <a:chExt cx="1013167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1316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设转账前 A = 1000、B = 2000。每次修改数据库之前，先把对应的日志记录写到稳定存储上（先写日志）。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4869180" cy="1313498"/>
            <a:chOff x="533400" y="1967865"/>
            <a:chExt cx="4869180" cy="131349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86918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崩溃时稳定存储上的日志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167563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&lt;T0 start&gt;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&lt;T0, A, 1000, 800&gt;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------ 系统崩溃 ------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（没有 &lt;T0 commit&gt;）</a:t>
              </a:r>
            </a:p>
          </p:txBody>
        </p:sp>
      </p:grpSp>
      <p:grpSp>
        <p:nvGrpSpPr>
          <p:cNvPr id="18" name="c1-kv-2"/>
          <p:cNvGrpSpPr/>
          <p:nvPr/>
        </p:nvGrpSpPr>
        <p:grpSpPr>
          <a:xfrm>
            <a:off x="525780" y="3496628"/>
            <a:ext cx="4876800" cy="1297304"/>
            <a:chOff x="525780" y="3496628"/>
            <a:chExt cx="4876800" cy="1297304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3496628"/>
              <a:ext cx="2065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&lt;T0, A, 1000, 800&gt;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67952" y="3496628"/>
              <a:ext cx="2272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 T0 把数据项 A 从旧值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改为新值 800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09860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218622"/>
              <a:ext cx="1286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&lt;T0 commit&gt;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7952" y="4218622"/>
              <a:ext cx="2434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 T0 已提交，它的修改必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须保留</a:t>
              </a:r>
            </a:p>
          </p:txBody>
        </p:sp>
      </p:grpSp>
      <p:grpSp>
        <p:nvGrpSpPr>
          <p:cNvPr id="22" name="c1-code-3"/>
          <p:cNvGrpSpPr/>
          <p:nvPr/>
        </p:nvGrpSpPr>
        <p:grpSpPr>
          <a:xfrm>
            <a:off x="533400" y="4925378"/>
            <a:ext cx="4869180" cy="1313498"/>
            <a:chOff x="533400" y="4925378"/>
            <a:chExt cx="4869180" cy="1313498"/>
          </a:xfrm>
        </p:grpSpPr>
        <p:sp>
          <p:nvSpPr>
            <p:cNvPr id="19" name="Rectangle 19"/>
            <p:cNvSpPr/>
            <p:nvPr/>
          </p:nvSpPr>
          <p:spPr>
            <a:xfrm>
              <a:off x="533400" y="4925378"/>
              <a:ext cx="486918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507730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对比：转账正常完成时的日志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035" y="5339239"/>
              <a:ext cx="149783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&lt;T0 start&gt;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&lt;T0, A, 1000, 800&gt;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&lt;T0, B, 2000, 2200&gt;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&lt;T0 commit&gt;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707380" y="1977390"/>
            <a:ext cx="5912709" cy="2529173"/>
            <a:chOff x="5707380" y="1977390"/>
            <a:chExt cx="5912709" cy="2529173"/>
          </a:xfrm>
        </p:grpSpPr>
        <p:sp>
          <p:nvSpPr>
            <p:cNvPr id="23" name="Rectangle 23"/>
            <p:cNvSpPr/>
            <p:nvPr/>
          </p:nvSpPr>
          <p:spPr>
            <a:xfrm>
              <a:off x="584073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70738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707380" y="39290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100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8860" y="20116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扫描日志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003" y="2304574"/>
              <a:ext cx="52864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重启后发现 T0 有 &lt;T0 start&gt;，却没有 &lt;T0 commit&gt; 或 &lt;T0 abort&gt;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8860" y="26622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2955131"/>
              <a:ext cx="2542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 没有完成，需要撤销（undo）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18860" y="33127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3606641"/>
              <a:ext cx="3891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从后往前找到 T0 的更新记录，把 A 写回旧值 1000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18860" y="39633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4257199"/>
              <a:ext cx="5500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 &lt;T0 abort&gt;。A = 1000、B = 2000，数据库回到转账前的一致状态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5707380" y="4684395"/>
            <a:ext cx="5951220" cy="1346835"/>
            <a:chOff x="5707380" y="4684395"/>
            <a:chExt cx="5951220" cy="1346835"/>
          </a:xfrm>
        </p:grpSpPr>
        <p:sp>
          <p:nvSpPr>
            <p:cNvPr id="41" name="Rectangle 41"/>
            <p:cNvSpPr/>
            <p:nvPr/>
          </p:nvSpPr>
          <p:spPr>
            <a:xfrm>
              <a:off x="5707380" y="4684395"/>
              <a:ext cx="595122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45602" y="4820126"/>
              <a:ext cx="1266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日志中 T 的记录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6752" y="482012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重启后的处理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47909" y="482012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保证的特性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15203" y="5268754"/>
              <a:ext cx="1760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start，无 commit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57376" y="5268754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 undo：写回旧值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19563" y="52687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原子性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07380" y="557784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707380" y="558260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15203" y="5717381"/>
              <a:ext cx="1760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start，有 commit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57376" y="5717381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重做 redo：写回新值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19563" y="57173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持久性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07380" y="4684395"/>
              <a:ext cx="595122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844790" y="468439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06978" y="468439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44844" cy="909257"/>
            <a:chOff x="520446" y="342900"/>
            <a:chExt cx="81448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分析题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448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 3：Armstrong 公理是自反律、增补律、传递律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6059805" cy="3413760"/>
            <a:chOff x="533400" y="1524000"/>
            <a:chExt cx="6059805" cy="34137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63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108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593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自反律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30692" y="215074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β ⊆ α，则 α→β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027295" y="2021205"/>
              <a:ext cx="155638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12445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94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993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2638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增补律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30692" y="2638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α→β，则 γα→γβ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027295" y="2508885"/>
              <a:ext cx="155638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2445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982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31261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30692" y="312610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α→β 且 β→γ，则 α→γ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7295" y="2996565"/>
              <a:ext cx="155638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24450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4699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47472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0080" y="36137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30692" y="3613785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α→β 且 α→γ，则 α→βγ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24450" y="36137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由公理推出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9576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0080" y="41014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30692" y="4101465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α→βγ，则 α→β 且 α→γ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24450" y="41014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由公理推出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4453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45008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0080" y="45891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伪传递律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30692" y="4589145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α→β 且 γβ→δ，则 αγ→δ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24450" y="45891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由公理推出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6059805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61925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01300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llout-2"/>
          <p:cNvGrpSpPr/>
          <p:nvPr/>
        </p:nvGrpSpPr>
        <p:grpSpPr>
          <a:xfrm>
            <a:off x="533400" y="5128260"/>
            <a:ext cx="6059805" cy="782955"/>
            <a:chOff x="533400" y="5128260"/>
            <a:chExt cx="6059805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512826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419725"/>
              <a:ext cx="200026" cy="200025"/>
              <a:chOff x="738188" y="5419725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4197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4641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5753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276850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公理只有三条，合并、分解、伪传递都能由它们推出。答题引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用规则时写清名称，推导中用到导出规则也可以直接引用。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898005" y="1524000"/>
            <a:ext cx="4760595" cy="2184082"/>
            <a:chOff x="6898005" y="1524000"/>
            <a:chExt cx="4760595" cy="2184082"/>
          </a:xfrm>
        </p:grpSpPr>
        <p:sp>
          <p:nvSpPr>
            <p:cNvPr id="51" name="Rectangle 51"/>
            <p:cNvSpPr/>
            <p:nvPr/>
          </p:nvSpPr>
          <p:spPr>
            <a:xfrm>
              <a:off x="6898005" y="1524000"/>
              <a:ext cx="4760595" cy="2184082"/>
            </a:xfrm>
            <a:prstGeom prst="roundRect">
              <a:avLst>
                <a:gd name="adj" fmla="val 61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1657350"/>
              <a:ext cx="47625" cy="19173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38035" y="2110740"/>
              <a:ext cx="4120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原题写“阿姆斯特朗三定律（分解律、增强律和传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递律）”。Armstrong 公理的三条是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自反律、增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补律（即增强律）、传递律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，分解律是由它们推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出的规则。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39178" y="329993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本题证明合并律只用到增补律和传递律，不受影响。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898005" y="3898582"/>
            <a:ext cx="4760595" cy="2012632"/>
            <a:chOff x="6898005" y="3898582"/>
            <a:chExt cx="4760595" cy="2012632"/>
          </a:xfrm>
        </p:grpSpPr>
        <p:sp>
          <p:nvSpPr>
            <p:cNvPr id="58" name="Rectangle 58"/>
            <p:cNvSpPr/>
            <p:nvPr/>
          </p:nvSpPr>
          <p:spPr>
            <a:xfrm>
              <a:off x="6898005" y="3898582"/>
              <a:ext cx="4760595" cy="2012632"/>
            </a:xfrm>
            <a:prstGeom prst="roundRect">
              <a:avLst>
                <a:gd name="adj" fmla="val 6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07530" y="4031932"/>
              <a:ext cx="47625" cy="1745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45655" y="410813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14210" y="41438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公理的两个性质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51370" y="454818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09485" y="4485322"/>
              <a:ext cx="3806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正确（sound）：推出的依赖在满足 F 的关系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上一定成立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51370" y="516921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09485" y="5106352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完备（complete）：F 逻辑蕴含的每个依赖都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能用公理推出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分析题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用增补律和传递律证明合并律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477893" cy="293370"/>
            <a:chOff x="525780" y="1548765"/>
            <a:chExt cx="447789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α→β、α→γ，求证 α→βγ。每一步都写出依据。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27685" y="1954530"/>
            <a:ext cx="6065520" cy="3109437"/>
            <a:chOff x="527685" y="1954530"/>
            <a:chExt cx="6065520" cy="3109437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856" y="20893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65630" y="208930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推出的依赖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19371" y="20893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818" y="255889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4361" y="2558891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α→β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46539" y="25588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879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92742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4818" y="30275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4361" y="3027521"/>
              <a:ext cx="5401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αγ→βγ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46539" y="30275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① 用增补律，两边添 γ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5661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4818" y="349615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4361" y="3496151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α→γ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46539" y="34961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26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830955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4818" y="39657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64361" y="3965734"/>
              <a:ext cx="14003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αα→αγ，即 α→αγ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46539" y="3965734"/>
              <a:ext cx="28436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③ 用增补律，两边添 α；αα = α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948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4818" y="443436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269682" y="4309110"/>
              <a:ext cx="2162175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64361" y="4434364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α→βγ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46539" y="4434364"/>
              <a:ext cx="1601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④ 和 ② 用传递律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54530"/>
              <a:ext cx="6059805" cy="28136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255395" y="1954530"/>
              <a:ext cx="9525" cy="28136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437572" y="1954530"/>
              <a:ext cx="9525" cy="28136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685" y="484393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与原课件的手写解答一致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5205412"/>
            <a:ext cx="6059805" cy="756285"/>
            <a:chOff x="533400" y="5205412"/>
            <a:chExt cx="6059805" cy="756285"/>
          </a:xfrm>
        </p:grpSpPr>
        <p:sp>
          <p:nvSpPr>
            <p:cNvPr id="40" name="Rectangle 40"/>
            <p:cNvSpPr/>
            <p:nvPr/>
          </p:nvSpPr>
          <p:spPr>
            <a:xfrm>
              <a:off x="533400" y="520541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479851"/>
              <a:ext cx="224134" cy="192560"/>
              <a:chOff x="726129" y="5479851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5502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4798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56280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5352574"/>
              <a:ext cx="50189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易错：第 ④ 步常被漏掉。要把 α→γ 和 αγ→βγ 接起来，必须先得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 α→αγ，所以对 α→γ 两边添的是 α。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898005" y="1954530"/>
            <a:ext cx="4760595" cy="1943100"/>
            <a:chOff x="6898005" y="1954530"/>
            <a:chExt cx="4760595" cy="1943100"/>
          </a:xfrm>
        </p:grpSpPr>
        <p:sp>
          <p:nvSpPr>
            <p:cNvPr id="47" name="Rectangle 47"/>
            <p:cNvSpPr/>
            <p:nvPr/>
          </p:nvSpPr>
          <p:spPr>
            <a:xfrm>
              <a:off x="6898005" y="1954530"/>
              <a:ext cx="4760595" cy="1943100"/>
            </a:xfrm>
            <a:prstGeom prst="roundRect">
              <a:avLst>
                <a:gd name="adj" fmla="val 6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208788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39940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21296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补充练习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25194" y="219789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用公理证明分解律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2701" y="2550319"/>
              <a:ext cx="20121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α→βγ，求证 α→β。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39940" y="285750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98285" y="28978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29881" y="2870359"/>
              <a:ext cx="2365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βγ→β：因为 β ⊆ βγ，自反律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39940" y="317754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98285" y="32178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29881" y="3190399"/>
              <a:ext cx="26811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α→β：由 α→βγ 和 βγ→β，传递律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3844" y="3506152"/>
              <a:ext cx="97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同理得 α→γ。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898005" y="4083368"/>
            <a:ext cx="4760595" cy="1878330"/>
            <a:chOff x="6898005" y="4083368"/>
            <a:chExt cx="4760595" cy="1878330"/>
          </a:xfrm>
        </p:grpSpPr>
        <p:sp>
          <p:nvSpPr>
            <p:cNvPr id="61" name="Rectangle 61"/>
            <p:cNvSpPr/>
            <p:nvPr/>
          </p:nvSpPr>
          <p:spPr>
            <a:xfrm>
              <a:off x="6898005" y="4083368"/>
              <a:ext cx="4760595" cy="1878330"/>
            </a:xfrm>
            <a:prstGeom prst="roundRect">
              <a:avLst>
                <a:gd name="adj" fmla="val 70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07530" y="4216718"/>
              <a:ext cx="47625" cy="16116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39940" y="428720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21296" y="43229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补充练习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25194" y="432673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用公理证明伪传递律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32701" y="4678204"/>
              <a:ext cx="2623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α→β、γβ→δ，求证 αγ→δ。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139940" y="498633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98285" y="50257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29881" y="4998244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αγ→γβ：对 α→β 两边添 γ，增补律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139940" y="530637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98285" y="534576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29881" y="5318284"/>
              <a:ext cx="24708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αγ→δ：由 1 和 γβ→δ，传递律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219319" cy="3351847"/>
            <a:chOff x="667512" y="1835468"/>
            <a:chExt cx="521931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09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汽车保险公司：从题目文字到 E-R 图，再到关系模式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列出实体、属性和联系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标出每个联系的参与次数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转换为关系模式并标主码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对照原课件答案的四处更正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设计题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设计题：五个实体，四个联系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5091113" cy="3517107"/>
            <a:chOff x="527685" y="1524000"/>
            <a:chExt cx="5091113" cy="351710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627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3565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98342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7809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其他属性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99782" y="2085022"/>
              <a:ext cx="755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80004" y="20850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customer_id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00156" y="2085022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name, address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508539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99782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80004" y="25155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license_no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00156" y="2515552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model（类型）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99782" y="2946082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accident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0004" y="2946082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report_id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00156" y="2946082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date, place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3945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44215"/>
              <a:ext cx="508539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375660"/>
              <a:ext cx="316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保险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99782" y="348234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0004" y="348234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00156" y="34823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8334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4126230"/>
              <a:ext cx="316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保险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赔付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99782" y="4232910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premium_payment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80004" y="4232910"/>
              <a:ext cx="932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payment_no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00156" y="4019550"/>
              <a:ext cx="89611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due_date,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amount,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received_on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085398" cy="3221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89672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969895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190048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48210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英文名沿用原课件答案</a:t>
              </a:r>
            </a:p>
          </p:txBody>
        </p:sp>
      </p:grpSp>
      <p:grpSp>
        <p:nvGrpSpPr>
          <p:cNvPr id="50" name="c1-callout-2"/>
          <p:cNvGrpSpPr/>
          <p:nvPr/>
        </p:nvGrpSpPr>
        <p:grpSpPr>
          <a:xfrm>
            <a:off x="533400" y="5181600"/>
            <a:ext cx="5085398" cy="1018222"/>
            <a:chOff x="533400" y="5181600"/>
            <a:chExt cx="5085398" cy="1018222"/>
          </a:xfrm>
        </p:grpSpPr>
        <p:sp>
          <p:nvSpPr>
            <p:cNvPr id="44" name="Rectangle 44"/>
            <p:cNvSpPr/>
            <p:nvPr/>
          </p:nvSpPr>
          <p:spPr>
            <a:xfrm>
              <a:off x="533400" y="5181600"/>
              <a:ext cx="508539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591175"/>
              <a:ext cx="200026" cy="200026"/>
              <a:chOff x="738188" y="559117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5911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56911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5328761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汽车的“所有顾客 ID”、保险单的“保险赔付 ID”描述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的是联系，不作为实体自身的属性，转换关系模式时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再处理。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5923598" y="1524000"/>
            <a:ext cx="5735002" cy="2577465"/>
            <a:chOff x="5923598" y="1524000"/>
            <a:chExt cx="5735002" cy="2577465"/>
          </a:xfrm>
        </p:grpSpPr>
        <p:sp>
          <p:nvSpPr>
            <p:cNvPr id="51" name="Rectangle 51"/>
            <p:cNvSpPr/>
            <p:nvPr/>
          </p:nvSpPr>
          <p:spPr>
            <a:xfrm>
              <a:off x="5923598" y="1524000"/>
              <a:ext cx="573500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8651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85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0724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题目原文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747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28944" y="2085022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owns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91006" y="2085022"/>
              <a:ext cx="747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顾客—汽车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52116" y="2085022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每位顾客有 1 辆或多辆车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31436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923598" y="237934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923598" y="2384108"/>
              <a:ext cx="573500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28944" y="2622232"/>
              <a:ext cx="1046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participated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91006" y="2622232"/>
              <a:ext cx="747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汽车—事故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52116" y="2515552"/>
              <a:ext cx="1863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每车 0 到多个事故；每个事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 1 到多辆车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31436" y="26222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923598" y="302323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28944" y="3266122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covers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91006" y="3266122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汽车—保险单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52116" y="3159442"/>
              <a:ext cx="1863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每单覆盖 1 到多辆车；每车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到多个保单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731436" y="32661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923598" y="366617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923598" y="3670935"/>
              <a:ext cx="573500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28944" y="3802380"/>
              <a:ext cx="69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91006" y="380238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保险单—赔付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52116" y="380238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每单关联 1 到多个赔付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731436" y="38023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923598" y="1524000"/>
              <a:ext cx="5735002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18089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44200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62132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1" name="c2-card-2"/>
          <p:cNvGrpSpPr/>
          <p:nvPr/>
        </p:nvGrpSpPr>
        <p:grpSpPr>
          <a:xfrm>
            <a:off x="5923598" y="4287202"/>
            <a:ext cx="5735002" cy="1913572"/>
            <a:chOff x="5923598" y="4287202"/>
            <a:chExt cx="5735002" cy="1913572"/>
          </a:xfrm>
        </p:grpSpPr>
        <p:sp>
          <p:nvSpPr>
            <p:cNvPr id="82" name="Rectangle 82"/>
            <p:cNvSpPr/>
            <p:nvPr/>
          </p:nvSpPr>
          <p:spPr>
            <a:xfrm>
              <a:off x="5923598" y="4287202"/>
              <a:ext cx="5735002" cy="1913572"/>
            </a:xfrm>
            <a:prstGeom prst="roundRect">
              <a:avLst>
                <a:gd name="adj" fmla="val 69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5933122" y="4420552"/>
              <a:ext cx="47625" cy="164687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165532" y="4491038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218288" y="45267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题目没说的，按常理假设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173152" y="49234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29744" y="486394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每辆车恰好属于一位顾客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173152" y="524351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29744" y="518398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每笔赔付恰好属于一张保险单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159436" y="54997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答题时把假设写出来。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0900" cy="909257"/>
            <a:chOff x="520446" y="342900"/>
            <a:chExt cx="729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设计题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E-R 图：双线表示全部参与，线上标出参与次数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3" name="er"/>
          <p:cNvGrpSpPr/>
          <p:nvPr/>
        </p:nvGrpSpPr>
        <p:grpSpPr>
          <a:xfrm>
            <a:off x="533400" y="1524000"/>
            <a:ext cx="11125200" cy="3257550"/>
            <a:chOff x="533400" y="1524000"/>
            <a:chExt cx="11125200" cy="32575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257550"/>
            </a:xfrm>
            <a:prstGeom prst="roundRect">
              <a:avLst>
                <a:gd name="adj" fmla="val 409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533650" y="2024062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533650" y="2071688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76725" y="2024062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276725" y="2071688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591300" y="2024062"/>
              <a:ext cx="638175" cy="9525"/>
            </a:xfrm>
            <a:custGeom>
              <a:avLst/>
              <a:gdLst/>
              <a:ahLst/>
              <a:cxnLst/>
              <a:rect l="l" t="t" r="r" b="b"/>
              <a:pathLst>
                <a:path w="638175" h="9525">
                  <a:moveTo>
                    <a:pt x="0" y="0"/>
                  </a:moveTo>
                  <a:lnTo>
                    <a:pt x="6381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591300" y="2071688"/>
              <a:ext cx="638175" cy="9525"/>
            </a:xfrm>
            <a:custGeom>
              <a:avLst/>
              <a:gdLst/>
              <a:ahLst/>
              <a:cxnLst/>
              <a:rect l="l" t="t" r="r" b="b"/>
              <a:pathLst>
                <a:path w="638175" h="9525">
                  <a:moveTo>
                    <a:pt x="0" y="0"/>
                  </a:moveTo>
                  <a:lnTo>
                    <a:pt x="6381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8410575" y="2024062"/>
              <a:ext cx="638175" cy="9525"/>
            </a:xfrm>
            <a:custGeom>
              <a:avLst/>
              <a:gdLst/>
              <a:ahLst/>
              <a:cxnLst/>
              <a:rect l="l" t="t" r="r" b="b"/>
              <a:pathLst>
                <a:path w="638175" h="9525">
                  <a:moveTo>
                    <a:pt x="0" y="0"/>
                  </a:moveTo>
                  <a:lnTo>
                    <a:pt x="6381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410575" y="2071688"/>
              <a:ext cx="638175" cy="9525"/>
            </a:xfrm>
            <a:custGeom>
              <a:avLst/>
              <a:gdLst/>
              <a:ahLst/>
              <a:cxnLst/>
              <a:rect l="l" t="t" r="r" b="b"/>
              <a:pathLst>
                <a:path w="638175" h="9525">
                  <a:moveTo>
                    <a:pt x="0" y="0"/>
                  </a:moveTo>
                  <a:lnTo>
                    <a:pt x="6381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60331" y="18392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84356" y="18392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1..1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08456" y="18392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75356" y="18392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0" y="243840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691188" y="33242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738812" y="33242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23966" y="25346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23966" y="34394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9901238" y="2333625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948862" y="2333625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901238" y="3324225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948862" y="3324225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34016" y="24584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34016" y="33347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1..1</a:t>
              </a:r>
            </a:p>
          </p:txBody>
        </p:sp>
        <p:sp>
          <p:nvSpPr>
            <p:cNvPr id="31" name="Polygon 31"/>
            <p:cNvSpPr/>
            <p:nvPr/>
          </p:nvSpPr>
          <p:spPr>
            <a:xfrm>
              <a:off x="3095625" y="1752600"/>
              <a:ext cx="1181100" cy="590550"/>
            </a:xfrm>
            <a:custGeom>
              <a:avLst/>
              <a:gdLst/>
              <a:ahLst/>
              <a:cxnLst/>
              <a:rect l="l" t="t" r="r" b="b"/>
              <a:pathLst>
                <a:path w="1181100" h="590550">
                  <a:moveTo>
                    <a:pt x="0" y="295275"/>
                  </a:moveTo>
                  <a:lnTo>
                    <a:pt x="590550" y="0"/>
                  </a:lnTo>
                  <a:lnTo>
                    <a:pt x="1181100" y="295275"/>
                  </a:lnTo>
                  <a:lnTo>
                    <a:pt x="590550" y="590550"/>
                  </a:lnTo>
                  <a:close/>
                </a:path>
              </a:pathLst>
            </a:cu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90484" y="1974056"/>
              <a:ext cx="391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owns</a:t>
              </a:r>
            </a:p>
          </p:txBody>
        </p:sp>
        <p:sp>
          <p:nvSpPr>
            <p:cNvPr id="33" name="Polygon 33"/>
            <p:cNvSpPr/>
            <p:nvPr/>
          </p:nvSpPr>
          <p:spPr>
            <a:xfrm>
              <a:off x="7229475" y="1752600"/>
              <a:ext cx="1181100" cy="590550"/>
            </a:xfrm>
            <a:custGeom>
              <a:avLst/>
              <a:gdLst/>
              <a:ahLst/>
              <a:cxnLst/>
              <a:rect l="l" t="t" r="r" b="b"/>
              <a:pathLst>
                <a:path w="1181100" h="590550">
                  <a:moveTo>
                    <a:pt x="0" y="295275"/>
                  </a:moveTo>
                  <a:lnTo>
                    <a:pt x="590550" y="0"/>
                  </a:lnTo>
                  <a:lnTo>
                    <a:pt x="1181100" y="295275"/>
                  </a:lnTo>
                  <a:lnTo>
                    <a:pt x="590550" y="590550"/>
                  </a:lnTo>
                  <a:close/>
                </a:path>
              </a:pathLst>
            </a:cu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3093" y="197405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covers</a:t>
              </a:r>
            </a:p>
          </p:txBody>
        </p:sp>
        <p:sp>
          <p:nvSpPr>
            <p:cNvPr id="35" name="Polygon 35"/>
            <p:cNvSpPr/>
            <p:nvPr/>
          </p:nvSpPr>
          <p:spPr>
            <a:xfrm>
              <a:off x="5000625" y="2733675"/>
              <a:ext cx="1428750" cy="590550"/>
            </a:xfrm>
            <a:custGeom>
              <a:avLst/>
              <a:gdLst/>
              <a:ahLst/>
              <a:cxnLst/>
              <a:rect l="l" t="t" r="r" b="b"/>
              <a:pathLst>
                <a:path w="1428750" h="590550">
                  <a:moveTo>
                    <a:pt x="0" y="295275"/>
                  </a:moveTo>
                  <a:lnTo>
                    <a:pt x="714375" y="0"/>
                  </a:lnTo>
                  <a:lnTo>
                    <a:pt x="1428750" y="295275"/>
                  </a:lnTo>
                  <a:lnTo>
                    <a:pt x="714375" y="590550"/>
                  </a:lnTo>
                  <a:close/>
                </a:path>
              </a:pathLst>
            </a:cu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26430" y="2955131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participated</a:t>
              </a:r>
            </a:p>
          </p:txBody>
        </p:sp>
        <p:sp>
          <p:nvSpPr>
            <p:cNvPr id="37" name="Polygon 37"/>
            <p:cNvSpPr/>
            <p:nvPr/>
          </p:nvSpPr>
          <p:spPr>
            <a:xfrm>
              <a:off x="9334500" y="2733675"/>
              <a:ext cx="1181100" cy="590550"/>
            </a:xfrm>
            <a:custGeom>
              <a:avLst/>
              <a:gdLst/>
              <a:ahLst/>
              <a:cxnLst/>
              <a:rect l="l" t="t" r="r" b="b"/>
              <a:pathLst>
                <a:path w="1181100" h="590550">
                  <a:moveTo>
                    <a:pt x="0" y="295275"/>
                  </a:moveTo>
                  <a:lnTo>
                    <a:pt x="590550" y="0"/>
                  </a:lnTo>
                  <a:lnTo>
                    <a:pt x="1181100" y="295275"/>
                  </a:lnTo>
                  <a:lnTo>
                    <a:pt x="590550" y="590550"/>
                  </a:lnTo>
                  <a:close/>
                </a:path>
              </a:pathLst>
            </a:cu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98751" y="2955131"/>
              <a:ext cx="65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payment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1552575"/>
              <a:ext cx="1809750" cy="100965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" y="1552575"/>
              <a:ext cx="1809750" cy="304800"/>
            </a:xfrm>
            <a:prstGeom prst="roundRect">
              <a:avLst>
                <a:gd name="adj" fmla="val 12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32550" y="1632585"/>
              <a:ext cx="792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customer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485" y="19073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customer_id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38200" y="2057400"/>
              <a:ext cx="853440" cy="9525"/>
            </a:xfrm>
            <a:custGeom>
              <a:avLst/>
              <a:gdLst/>
              <a:ahLst/>
              <a:cxnLst/>
              <a:rect l="l" t="t" r="r" b="b"/>
              <a:pathLst>
                <a:path w="853440" h="9525">
                  <a:moveTo>
                    <a:pt x="0" y="0"/>
                  </a:moveTo>
                  <a:lnTo>
                    <a:pt x="853440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2485" y="211693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485" y="232648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address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838700" y="1657350"/>
              <a:ext cx="1752600" cy="8001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4838700" y="1657350"/>
              <a:ext cx="1752600" cy="304800"/>
            </a:xfrm>
            <a:prstGeom prst="roundRect">
              <a:avLst>
                <a:gd name="adj" fmla="val 12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68967" y="17373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47285" y="20121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license_no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4953000" y="2162175"/>
              <a:ext cx="711518" cy="9525"/>
            </a:xfrm>
            <a:custGeom>
              <a:avLst/>
              <a:gdLst/>
              <a:ahLst/>
              <a:cxnLst/>
              <a:rect l="l" t="t" r="r" b="b"/>
              <a:pathLst>
                <a:path w="711518" h="9525">
                  <a:moveTo>
                    <a:pt x="0" y="0"/>
                  </a:moveTo>
                  <a:lnTo>
                    <a:pt x="711518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947285" y="2221706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model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48750" y="1762125"/>
              <a:ext cx="1752600" cy="5905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048750" y="1762125"/>
              <a:ext cx="1752600" cy="304800"/>
            </a:xfrm>
            <a:prstGeom prst="roundRect">
              <a:avLst>
                <a:gd name="adj" fmla="val 12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81484" y="1842135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policy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57335" y="21169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163050" y="2266950"/>
              <a:ext cx="597218" cy="9525"/>
            </a:xfrm>
            <a:custGeom>
              <a:avLst/>
              <a:gdLst/>
              <a:ahLst/>
              <a:cxnLst/>
              <a:rect l="l" t="t" r="r" b="b"/>
              <a:pathLst>
                <a:path w="597218" h="9525">
                  <a:moveTo>
                    <a:pt x="0" y="0"/>
                  </a:moveTo>
                  <a:lnTo>
                    <a:pt x="597218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4857750" y="3657600"/>
              <a:ext cx="1714500" cy="100965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857750" y="3657600"/>
              <a:ext cx="1714500" cy="304800"/>
            </a:xfrm>
            <a:prstGeom prst="roundRect">
              <a:avLst>
                <a:gd name="adj" fmla="val 12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56940" y="3737610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accident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66335" y="40124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report_id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4972050" y="4162425"/>
              <a:ext cx="668655" cy="9525"/>
            </a:xfrm>
            <a:custGeom>
              <a:avLst/>
              <a:gdLst/>
              <a:ahLst/>
              <a:cxnLst/>
              <a:rect l="l" t="t" r="r" b="b"/>
              <a:pathLst>
                <a:path w="668655" h="9525">
                  <a:moveTo>
                    <a:pt x="0" y="0"/>
                  </a:moveTo>
                  <a:lnTo>
                    <a:pt x="668655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66335" y="42219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66335" y="44315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place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77300" y="3505200"/>
              <a:ext cx="2095500" cy="12192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77300" y="3505200"/>
              <a:ext cx="2095500" cy="304800"/>
            </a:xfrm>
            <a:prstGeom prst="roundRect">
              <a:avLst>
                <a:gd name="adj" fmla="val 12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89583" y="3585210"/>
              <a:ext cx="1470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premium_payment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85885" y="386000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payment_no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991600" y="4010025"/>
              <a:ext cx="810577" cy="9525"/>
            </a:xfrm>
            <a:custGeom>
              <a:avLst/>
              <a:gdLst/>
              <a:ahLst/>
              <a:cxnLst/>
              <a:rect l="l" t="t" r="r" b="b"/>
              <a:pathLst>
                <a:path w="810577" h="9525">
                  <a:moveTo>
                    <a:pt x="0" y="0"/>
                  </a:moveTo>
                  <a:lnTo>
                    <a:pt x="810577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85885" y="40695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due_date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85885" y="427910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amount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85885" y="4488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received_on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5785" y="30408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图例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571500" y="3405188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571500" y="3452812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18616" y="3363278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双线：全部参与（下限 1）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571500" y="37338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118616" y="3668078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单线：部分参与（下限 0）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571500" y="40767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18616" y="40109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属性下划线：实体的码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66166" y="431577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l..h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18616" y="43157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每个实体参与联系的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18616" y="4515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最少、最多次数</a:t>
              </a:r>
            </a:p>
          </p:txBody>
        </p:sp>
      </p:grpSp>
      <p:grpSp>
        <p:nvGrpSpPr>
          <p:cNvPr id="89" name="n-read"/>
          <p:cNvGrpSpPr/>
          <p:nvPr/>
        </p:nvGrpSpPr>
        <p:grpSpPr>
          <a:xfrm>
            <a:off x="533400" y="4895850"/>
            <a:ext cx="5448300" cy="1466850"/>
            <a:chOff x="533400" y="4895850"/>
            <a:chExt cx="5448300" cy="1466850"/>
          </a:xfrm>
        </p:grpSpPr>
        <p:sp>
          <p:nvSpPr>
            <p:cNvPr id="84" name="Rectangle 84"/>
            <p:cNvSpPr/>
            <p:nvPr/>
          </p:nvSpPr>
          <p:spPr>
            <a:xfrm>
              <a:off x="533400" y="4895850"/>
              <a:ext cx="54483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42925" y="502920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62000" y="5029200"/>
              <a:ext cx="55149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80783" y="50887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56285" y="5384006"/>
              <a:ext cx="3837686" cy="648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owns：每位顾客至少 1 辆车（1..*），每辆车恰好 1 个车主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（1..1），所以是一对多。participated、covers 两端上限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*，是多对多；payment 是一对多。</a:t>
              </a:r>
            </a:p>
          </p:txBody>
        </p:sp>
      </p:grpSp>
      <p:grpSp>
        <p:nvGrpSpPr>
          <p:cNvPr id="95" name="n-fix"/>
          <p:cNvGrpSpPr/>
          <p:nvPr/>
        </p:nvGrpSpPr>
        <p:grpSpPr>
          <a:xfrm>
            <a:off x="6210300" y="4895850"/>
            <a:ext cx="5448300" cy="1466850"/>
            <a:chOff x="6210300" y="4895850"/>
            <a:chExt cx="5448300" cy="1466850"/>
          </a:xfrm>
        </p:grpSpPr>
        <p:sp>
          <p:nvSpPr>
            <p:cNvPr id="90" name="Rectangle 90"/>
            <p:cNvSpPr/>
            <p:nvPr/>
          </p:nvSpPr>
          <p:spPr>
            <a:xfrm>
              <a:off x="6210300" y="4895850"/>
              <a:ext cx="54483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6219825" y="502920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438900" y="5029200"/>
              <a:ext cx="55149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557683" y="50887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433185" y="5384006"/>
              <a:ext cx="3702558" cy="648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原课件图中 car 与 participated 之间画成双线（每辆车都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必须出过事故），与“每辆车可以关联 0 个事故”矛盾，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应为单线；accident 一侧才是全部参与。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设计题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转换规则：实体各成一表，一对多加外码，多对多单独建表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137279" cy="2108358"/>
            <a:chOff x="533400" y="1533525"/>
            <a:chExt cx="4137279" cy="210835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强实体集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每个实体集转成一个关系模式，实体的码就是主码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52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一对多联系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9826"/>
              <a:ext cx="34536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不单独建表，在“多”的一侧加入“一”侧的主码作外码：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owns 并入 car，payment 并入 premium_payment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9460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多对多联系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214211"/>
              <a:ext cx="37238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单独建表，两端实体的主码合起来作主码：participated、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covers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810000"/>
            <a:ext cx="4328160" cy="1760220"/>
            <a:chOff x="533400" y="3810000"/>
            <a:chExt cx="4328160" cy="1760220"/>
          </a:xfrm>
        </p:grpSpPr>
        <p:sp>
          <p:nvSpPr>
            <p:cNvPr id="21" name="Rectangle 21"/>
            <p:cNvSpPr/>
            <p:nvPr/>
          </p:nvSpPr>
          <p:spPr>
            <a:xfrm>
              <a:off x="533400" y="3810000"/>
              <a:ext cx="432816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943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4002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9346" y="4036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14247" y="4042410"/>
              <a:ext cx="1982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owns 为什么不单独建表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4376738"/>
              <a:ext cx="372560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每辆车只有一个车主（car 一侧 1..1）。若单独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 owns(license_no, customer_id)，它的主码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license_no，和 car 同码，可以直接并进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5166360" y="1524000"/>
            <a:ext cx="6492240" cy="4046220"/>
            <a:chOff x="5166360" y="1524000"/>
            <a:chExt cx="6492240" cy="4046220"/>
          </a:xfrm>
        </p:grpSpPr>
        <p:sp>
          <p:nvSpPr>
            <p:cNvPr id="28" name="Rectangle 28"/>
            <p:cNvSpPr/>
            <p:nvPr/>
          </p:nvSpPr>
          <p:spPr>
            <a:xfrm>
              <a:off x="5166360" y="1524000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692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294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877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66372" y="2054066"/>
              <a:ext cx="3122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customer(customer_id, name, address)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4203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29862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166360" y="2330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166360" y="233553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75885" y="2345055"/>
              <a:ext cx="335661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66372" y="2459831"/>
              <a:ext cx="2884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car(license_no, model, customer_id)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42032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license_no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29862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customer_id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2736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6372" y="2865596"/>
              <a:ext cx="25998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accident(report_id, date, place)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42032" y="286559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report_id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29862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3142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66360" y="3147060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6372" y="3371374"/>
              <a:ext cx="2821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participated(license_no, report_id)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42032" y="3271361"/>
              <a:ext cx="879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(license_no,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report_id)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29862" y="3271361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两个属性各参照一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37480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6372" y="3877151"/>
              <a:ext cx="129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policy(policy_id)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42032" y="387715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29862" y="38771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41538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66360" y="4158615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66372" y="4382929"/>
              <a:ext cx="22990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covers(license_no, policy_id)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42032" y="4282916"/>
              <a:ext cx="879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(license_no,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29862" y="4282916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两个属性各参照一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166360" y="47596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175885" y="4773930"/>
              <a:ext cx="3356610" cy="786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66372" y="4888706"/>
              <a:ext cx="2311451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premium_payment(payment_no,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policy_id, due_date, amount,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received_on)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42032" y="508873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payment_no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29862" y="50887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166360" y="1524000"/>
              <a:ext cx="6492240" cy="40462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537258" y="1524000"/>
              <a:ext cx="9525" cy="4046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225088" y="1524000"/>
              <a:ext cx="9525" cy="4046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8" name="Rectangle 6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3610"/>
              <a:ext cx="9545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下限为 1 的参与约束（每位顾客至少 1 辆车、每张保单至少覆盖 1 辆车）外码表达不了，要靠触发器或应用程序检查。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5154" cy="909257"/>
            <a:chOff x="520446" y="342900"/>
            <a:chExt cx="74051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设计题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51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对照原课件答案：关系模式与 E-R 图共四处更正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708458" cy="3604260"/>
            <a:chOff x="533400" y="1524000"/>
            <a:chExt cx="6708458" cy="36042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628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426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107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更正为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94172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covers(license_no,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payment_no, policy_id)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22460" y="2108359"/>
              <a:ext cx="20612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covers 连接汽车和保险单，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与赔付无关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37048" y="2108359"/>
              <a:ext cx="15410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covers(license_no,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70845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139552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policy(policy_id,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payment_no)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22460" y="2783681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一张保单有多笔赔付，主码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policy_id 时存不下多个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payment_no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37048" y="2783681"/>
              <a:ext cx="15572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policy(policy_id)，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policy_id 作外码放进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premium_payment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799046"/>
              <a:ext cx="17625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premium_payment(…,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received_no)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22460" y="3685699"/>
              <a:ext cx="193116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E-R 图中的属性是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received_on（实际赔付日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7048" y="3912394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received_on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4817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452938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587716"/>
              <a:ext cx="191815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E-R 图中 car 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participated 之间为双线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22460" y="458771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双线表示每辆车都出过事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故，与题意矛盾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37048" y="4587716"/>
              <a:ext cx="1597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 accident 一侧全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部参与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708458" cy="36042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09875" y="1524000"/>
              <a:ext cx="9525" cy="36042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224462" y="1524000"/>
              <a:ext cx="9525" cy="36042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5318760"/>
            <a:ext cx="6708458" cy="782955"/>
            <a:chOff x="533400" y="5318760"/>
            <a:chExt cx="6708458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318760"/>
              <a:ext cx="670845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610225"/>
              <a:ext cx="200026" cy="200025"/>
              <a:chOff x="738188" y="561022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6102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6546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7658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467350"/>
              <a:ext cx="5730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自查方法：逐个检查主码能否唯一标识一行、每个多值联系是否单独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成表、联系表里有没有与该联系无关的属性。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7546658" y="1524000"/>
            <a:ext cx="4111942" cy="1602105"/>
            <a:chOff x="7546658" y="1524000"/>
            <a:chExt cx="4111942" cy="1602105"/>
          </a:xfrm>
        </p:grpSpPr>
        <p:sp>
          <p:nvSpPr>
            <p:cNvPr id="39" name="Rectangle 39"/>
            <p:cNvSpPr/>
            <p:nvPr/>
          </p:nvSpPr>
          <p:spPr>
            <a:xfrm>
              <a:off x="7546658" y="1524000"/>
              <a:ext cx="411194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56182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9430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8546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6688" y="2110740"/>
              <a:ext cx="3491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以上四处均按题目文字更正。原课件第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页只标出 customer、car 的主码，其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余主码见上一页的表。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7546658" y="3316605"/>
            <a:ext cx="4111942" cy="2785110"/>
            <a:chOff x="7546658" y="3316605"/>
            <a:chExt cx="4111942" cy="2785110"/>
          </a:xfrm>
        </p:grpSpPr>
        <p:sp>
          <p:nvSpPr>
            <p:cNvPr id="45" name="Rectangle 45"/>
            <p:cNvSpPr/>
            <p:nvPr/>
          </p:nvSpPr>
          <p:spPr>
            <a:xfrm>
              <a:off x="7546658" y="3316605"/>
              <a:ext cx="4111942" cy="2785110"/>
            </a:xfrm>
            <a:prstGeom prst="roundRect">
              <a:avLst>
                <a:gd name="adj" fmla="val 47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56182" y="3449955"/>
              <a:ext cx="47625" cy="25184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94308" y="35261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72666" y="35618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另一种建模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86688" y="3903345"/>
              <a:ext cx="35013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原图把 payment 画成双菱形，即把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premium_payment 看作依赖 policy 的弱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实体集。那样它的主码是 (policy_id,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payment_no)，payment_no 只是分辨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87830" y="5378291"/>
              <a:ext cx="3451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题目给了赔付自己的 ID，按强实体处理更直接；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两种都说得通，答题时写明所取的假设。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28793" cy="3351847"/>
            <a:chOff x="667512" y="1835468"/>
            <a:chExt cx="512879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1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= (A, B, C, D, E)，F = {BC→AD，AD→EB，E→C}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用属性闭包求出全部候选码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40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按定义判断 3NF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58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按定义判断 BCNF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760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延伸：分解成 BCNF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第一步：用属性闭包求出全部候选码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370058" cy="597598"/>
            <a:chOff x="525399" y="1550194"/>
            <a:chExt cx="10370058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370058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= (A, B, C, D, E)，F = {BC→AD，AD→EB，E→C}。属性组 X 的闭包 X⁺ 等于全体属性时，X 是超码；最小的超码是候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选码。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2266950"/>
            <a:ext cx="4948321" cy="2112931"/>
            <a:chOff x="533400" y="2266950"/>
            <a:chExt cx="4948321" cy="2112931"/>
          </a:xfrm>
        </p:grpSpPr>
        <p:sp>
          <p:nvSpPr>
            <p:cNvPr id="9" name="Rectangle 9"/>
            <p:cNvSpPr/>
            <p:nvPr/>
          </p:nvSpPr>
          <p:spPr>
            <a:xfrm>
              <a:off x="666750" y="240982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2669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75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91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680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41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3012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单个属性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95086"/>
              <a:ext cx="4063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A⁺、B⁺、C⁺、D⁺ 都只有自身，E⁺ = CE，都不是超码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9517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两个属性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245644"/>
              <a:ext cx="4535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逐一求 10 个组合的闭包（右表），BC⁺、AD⁺、BE⁺ 为全集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6023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三个及以上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896201"/>
              <a:ext cx="4158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不含 BC、AD、BE 的三属性组只有 ACE、CDE，闭包仍是自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身；四属性组都含其中之一，不再是最小的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558665"/>
            <a:ext cx="4977765" cy="1544955"/>
            <a:chOff x="533400" y="4558665"/>
            <a:chExt cx="4977765" cy="1544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558665"/>
              <a:ext cx="4977765" cy="1544955"/>
            </a:xfrm>
            <a:prstGeom prst="roundRect">
              <a:avLst>
                <a:gd name="adj" fmla="val 739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231132"/>
              <a:ext cx="200023" cy="200023"/>
              <a:chOff x="738188" y="5231132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2311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2978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088255"/>
              <a:ext cx="4034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候选码为 BC、AD、BE；主属性是 A、B、C、D、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全部五个。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810250" y="2257425"/>
            <a:ext cx="5848350" cy="3891439"/>
            <a:chOff x="5810250" y="2257425"/>
            <a:chExt cx="5848350" cy="3891439"/>
          </a:xfrm>
        </p:grpSpPr>
        <p:sp>
          <p:nvSpPr>
            <p:cNvPr id="29" name="Rectangle 29"/>
            <p:cNvSpPr/>
            <p:nvPr/>
          </p:nvSpPr>
          <p:spPr>
            <a:xfrm>
              <a:off x="5815965" y="2257425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7743" y="23931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2864" y="23931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闭包的求法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95927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23788" y="284178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8191" y="2841784"/>
              <a:ext cx="31692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 → ABCD（BC→AD）→ ABCDE（AD→EB）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97705" y="284178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全集 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1508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315468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3788" y="329041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8191" y="3290411"/>
              <a:ext cx="2968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 → ABDE（AD→EB）→ ABCDE（E→C）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7705" y="329041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全集 ✓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35994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3788" y="373903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58191" y="3739039"/>
              <a:ext cx="28688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 → BCE（E→C）→ ABCDE（BC→AD）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97705" y="373903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全集 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40481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405288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23788" y="418861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58191" y="4188619"/>
              <a:ext cx="2574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AE → ACE（E→C），无依赖可再用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97705" y="418861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 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4967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23788" y="463724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58191" y="4637246"/>
              <a:ext cx="2574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 → CDE（E→C），无依赖可再用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97705" y="463724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 ✗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49453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15965" y="4950142"/>
              <a:ext cx="584263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23788" y="5085874"/>
              <a:ext cx="439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AC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 CD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58191" y="531256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没有左部被包含的依赖，或只加入已有属性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97705" y="531256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 ✗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2257425"/>
              <a:ext cx="5842635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45605" y="2257425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85120" y="2257425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10250" y="5928836"/>
              <a:ext cx="2670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 Python 穷举全部 31 个属性组复核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72234" cy="909257"/>
            <a:chOff x="520446" y="342900"/>
            <a:chExt cx="96722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722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全是主属性所以属于 3NF；E→C 左部不是超码所以不属于 BCNF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09675"/>
            <a:chOff x="533400" y="1524000"/>
            <a:chExt cx="5626418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4100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222" y="175069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3NF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171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F⁺ 中每个 α→β 至少满足一条：① 平凡；② α 是超码；③ β − α 的每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个属性都包含在某个候选码中。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08935"/>
            <a:ext cx="5626418" cy="952500"/>
            <a:chOff x="533400" y="2908935"/>
            <a:chExt cx="5626418" cy="952500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5626418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42285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101340"/>
              <a:ext cx="51720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149" y="313563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BCNF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457575"/>
              <a:ext cx="3444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F⁺ 中每个 α→β 要么平凡，要么 α 是超码。</a:t>
              </a:r>
            </a:p>
          </p:txBody>
        </p:sp>
      </p:grpSp>
      <p:grpSp>
        <p:nvGrpSpPr>
          <p:cNvPr id="38" name="c1-table-3"/>
          <p:cNvGrpSpPr/>
          <p:nvPr/>
        </p:nvGrpSpPr>
        <p:grpSpPr>
          <a:xfrm>
            <a:off x="533400" y="4035742"/>
            <a:ext cx="5626418" cy="1623060"/>
            <a:chOff x="533400" y="4035742"/>
            <a:chExt cx="5626418" cy="1623060"/>
          </a:xfrm>
        </p:grpSpPr>
        <p:sp>
          <p:nvSpPr>
            <p:cNvPr id="19" name="Rectangle 19"/>
            <p:cNvSpPr/>
            <p:nvPr/>
          </p:nvSpPr>
          <p:spPr>
            <a:xfrm>
              <a:off x="533400" y="4035742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7951" y="41600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9957" y="41600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左部是超码吗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1827" y="41600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右部都是主属性吗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8723" y="4565809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BC→AD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63053" y="4565809"/>
              <a:ext cx="1289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是（BC 是候选码）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9538" y="45658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425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847272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8723" y="497157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AD→EB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63053" y="4971574"/>
              <a:ext cx="1289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是（AD 是候选码）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9538" y="49715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2482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0724" y="537733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E→C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09276" y="5377339"/>
              <a:ext cx="997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（E⁺ = CE）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9538" y="53773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035742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930718" y="403574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76700" y="403574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steps-1"/>
          <p:cNvGrpSpPr/>
          <p:nvPr/>
        </p:nvGrpSpPr>
        <p:grpSpPr>
          <a:xfrm>
            <a:off x="6464618" y="1533525"/>
            <a:ext cx="4316074" cy="1106329"/>
            <a:chOff x="6464618" y="1533525"/>
            <a:chExt cx="4316074" cy="1106329"/>
          </a:xfrm>
        </p:grpSpPr>
        <p:sp>
          <p:nvSpPr>
            <p:cNvPr id="39" name="Rectangle 39"/>
            <p:cNvSpPr/>
            <p:nvPr/>
          </p:nvSpPr>
          <p:spPr>
            <a:xfrm>
              <a:off x="6597968" y="1676400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4618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6860" y="1564957"/>
              <a:ext cx="58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 3NF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8002" y="1833086"/>
              <a:ext cx="390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五个属性都是主属性，每个依赖都满足条件 ③，R 属于 3NF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6860" y="2152650"/>
              <a:ext cx="699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 BCNF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8002" y="2419826"/>
              <a:ext cx="2800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E→C 非平凡，E 不是超码，R 不属于 BCNF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2808922"/>
            <a:ext cx="5193982" cy="2849880"/>
            <a:chOff x="6464618" y="2808922"/>
            <a:chExt cx="5193982" cy="2849880"/>
          </a:xfrm>
        </p:grpSpPr>
        <p:sp>
          <p:nvSpPr>
            <p:cNvPr id="49" name="Rectangle 49"/>
            <p:cNvSpPr/>
            <p:nvPr/>
          </p:nvSpPr>
          <p:spPr>
            <a:xfrm>
              <a:off x="6464618" y="2808922"/>
              <a:ext cx="5193982" cy="2849880"/>
            </a:xfrm>
            <a:prstGeom prst="roundRect">
              <a:avLst>
                <a:gd name="adj" fmla="val 46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2942272"/>
              <a:ext cx="47625" cy="2583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5122" y="30013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6562" y="30356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延伸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78814" y="3041332"/>
              <a:ext cx="1062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分解成 BCNF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03695" y="3430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59714" y="3374708"/>
              <a:ext cx="3927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E→C 分解：R1 = (E, C)，R2 = (A, B, D, E)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03695" y="37338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59714" y="3677602"/>
              <a:ext cx="42399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的码是 E；R2 的候选码是 AD、BE，两者都属于 BCNF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（脚本复核）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03695" y="42938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59714" y="4237672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公共属性 E 是 R1 的码（E→C），所以这个分解是无损连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89408" y="4793456"/>
              <a:ext cx="44848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代价：B、C 被拆到两个关系里，BC→AD 无法在单个关系上检查，这个分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解不保持依赖。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3610"/>
              <a:ext cx="921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易错：判 BCNF 只看左部是不是超码，E→C 的右部 C 是主属性也没用；看右部是否主属性是 3NF 才有的放宽条件。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488381" cy="2997517"/>
            <a:chOff x="667512" y="1835468"/>
            <a:chExt cx="548838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478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银行数据库：建表，再用关系代数和 SQL 各写一遍查询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建表：主码、外码与合法的属性名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连接查询与分组聚集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集合差与带子查询的更新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应用题：银行数据库的六张表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28066" y="1524000"/>
            <a:ext cx="6281356" cy="3920109"/>
            <a:chOff x="528066" y="1524000"/>
            <a:chExt cx="6281356" cy="39201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2860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10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899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882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branch 分行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4538" y="2054066"/>
              <a:ext cx="2582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branch_name, branch_city, assets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00612" y="2054066"/>
              <a:ext cx="953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branch_name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559844"/>
              <a:ext cx="1088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 客户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14538" y="2459831"/>
              <a:ext cx="24864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customer_name, customer_street,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customer_city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00612" y="2559844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customer_name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065621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loan 贷款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14538" y="3065621"/>
              <a:ext cx="264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loan_number, branch_name, amount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00612" y="30656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loan_number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423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47085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471386"/>
              <a:ext cx="102773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borrower 客户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贷款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14538" y="3571399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customer_name, loan_number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00612" y="3471386"/>
              <a:ext cx="12418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(customer_name,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loan_number)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481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177189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 存款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4538" y="4077176"/>
              <a:ext cx="22232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account_number, branch_name,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balance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00612" y="4177189"/>
              <a:ext cx="1202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account_number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5539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558665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682966"/>
              <a:ext cx="1042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depositor 客户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14538" y="4782979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customer_name, account_number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00612" y="4682966"/>
              <a:ext cx="12418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(customer_name,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account_number)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276022" cy="36404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909762" y="1524000"/>
              <a:ext cx="9525" cy="36404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795838" y="1524000"/>
              <a:ext cx="9525" cy="36404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066" y="523875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原课件标主码的下划线没有显示出来，这里按题意补全</a:t>
              </a:r>
            </a:p>
          </p:txBody>
        </p:sp>
      </p:grpSp>
      <p:grpSp>
        <p:nvGrpSpPr>
          <p:cNvPr id="48" name="c1-callout-2"/>
          <p:cNvGrpSpPr/>
          <p:nvPr/>
        </p:nvGrpSpPr>
        <p:grpSpPr>
          <a:xfrm>
            <a:off x="533400" y="5577840"/>
            <a:ext cx="6276022" cy="729615"/>
            <a:chOff x="533400" y="5577840"/>
            <a:chExt cx="6276022" cy="729615"/>
          </a:xfrm>
        </p:grpSpPr>
        <p:sp>
          <p:nvSpPr>
            <p:cNvPr id="42" name="Rectangle 42"/>
            <p:cNvSpPr/>
            <p:nvPr/>
          </p:nvSpPr>
          <p:spPr>
            <a:xfrm>
              <a:off x="533400" y="557784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842635"/>
              <a:ext cx="200026" cy="200026"/>
              <a:chOff x="738188" y="5842635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8426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909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9426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5724525"/>
              <a:ext cx="46085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属性名里的连字符全部改成下划线：SQL 标识符不能含“-”，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branch-name 会被解析成 branch 减 name。</a:t>
              </a:r>
            </a:p>
          </p:txBody>
        </p:sp>
      </p:grpSp>
      <p:grpSp>
        <p:nvGrpSpPr>
          <p:cNvPr id="50" name="c2-text-1"/>
          <p:cNvGrpSpPr/>
          <p:nvPr/>
        </p:nvGrpSpPr>
        <p:grpSpPr>
          <a:xfrm>
            <a:off x="7570927" y="1542574"/>
            <a:ext cx="3630016" cy="220028"/>
            <a:chOff x="7570927" y="1542574"/>
            <a:chExt cx="3630016" cy="220028"/>
          </a:xfrm>
        </p:grpSpPr>
        <p:sp>
          <p:nvSpPr>
            <p:cNvPr id="49" name="TextBox 49"/>
            <p:cNvSpPr txBox="1"/>
            <p:nvPr/>
          </p:nvSpPr>
          <p:spPr>
            <a:xfrm>
              <a:off x="7570927" y="154257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箭头从含外码的表指向被参照的表；深色两张是联系表</a:t>
              </a:r>
            </a:p>
          </p:txBody>
        </p:sp>
      </p:grpSp>
      <p:grpSp>
        <p:nvGrpSpPr>
          <p:cNvPr id="75" name="c2-graph-2"/>
          <p:cNvGrpSpPr/>
          <p:nvPr/>
        </p:nvGrpSpPr>
        <p:grpSpPr>
          <a:xfrm>
            <a:off x="7593330" y="2166938"/>
            <a:ext cx="3585210" cy="4011930"/>
            <a:chOff x="7593330" y="2166938"/>
            <a:chExt cx="3585210" cy="4011930"/>
          </a:xfrm>
        </p:grpSpPr>
        <p:sp>
          <p:nvSpPr>
            <p:cNvPr id="51" name="Freeform 51"/>
            <p:cNvSpPr/>
            <p:nvPr/>
          </p:nvSpPr>
          <p:spPr>
            <a:xfrm>
              <a:off x="8290560" y="2580322"/>
              <a:ext cx="851535" cy="838200"/>
            </a:xfrm>
            <a:custGeom>
              <a:avLst/>
              <a:gdLst/>
              <a:ahLst/>
              <a:cxnLst/>
              <a:rect l="l" t="t" r="r" b="b"/>
              <a:pathLst>
                <a:path w="851535" h="838200">
                  <a:moveTo>
                    <a:pt x="0" y="838200"/>
                  </a:moveTo>
                  <a:lnTo>
                    <a:pt x="8515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108758" y="251364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0"/>
                  </a:moveTo>
                  <a:lnTo>
                    <a:pt x="66675" y="10096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630728" y="2580322"/>
              <a:ext cx="851535" cy="838200"/>
            </a:xfrm>
            <a:custGeom>
              <a:avLst/>
              <a:gdLst/>
              <a:ahLst/>
              <a:cxnLst/>
              <a:rect l="l" t="t" r="r" b="b"/>
              <a:pathLst>
                <a:path w="851535" h="838200">
                  <a:moveTo>
                    <a:pt x="851535" y="8382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562148" y="2513648"/>
              <a:ext cx="101918" cy="100965"/>
            </a:xfrm>
            <a:custGeom>
              <a:avLst/>
              <a:gdLst/>
              <a:ahLst/>
              <a:cxnLst/>
              <a:rect l="l" t="t" r="r" b="b"/>
              <a:pathLst>
                <a:path w="101918" h="100965">
                  <a:moveTo>
                    <a:pt x="0" y="0"/>
                  </a:moveTo>
                  <a:lnTo>
                    <a:pt x="101918" y="32385"/>
                  </a:lnTo>
                  <a:lnTo>
                    <a:pt x="35243" y="1009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113395" y="3765232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065770" y="45748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0658475" y="3765232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10610850" y="45748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303895" y="5016818"/>
              <a:ext cx="822008" cy="750570"/>
            </a:xfrm>
            <a:custGeom>
              <a:avLst/>
              <a:gdLst/>
              <a:ahLst/>
              <a:cxnLst/>
              <a:rect l="l" t="t" r="r" b="b"/>
              <a:pathLst>
                <a:path w="822008" h="750570">
                  <a:moveTo>
                    <a:pt x="0" y="0"/>
                  </a:moveTo>
                  <a:lnTo>
                    <a:pt x="822008" y="7505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094470" y="5732145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100012"/>
                  </a:moveTo>
                  <a:lnTo>
                    <a:pt x="0" y="70485"/>
                  </a:lnTo>
                  <a:lnTo>
                    <a:pt x="6381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9646920" y="5016818"/>
              <a:ext cx="822007" cy="750570"/>
            </a:xfrm>
            <a:custGeom>
              <a:avLst/>
              <a:gdLst/>
              <a:ahLst/>
              <a:cxnLst/>
              <a:rect l="l" t="t" r="r" b="b"/>
              <a:pathLst>
                <a:path w="822007" h="750570">
                  <a:moveTo>
                    <a:pt x="822007" y="0"/>
                  </a:moveTo>
                  <a:lnTo>
                    <a:pt x="0" y="7505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576435" y="5732145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0" y="100012"/>
                  </a:moveTo>
                  <a:lnTo>
                    <a:pt x="38100" y="0"/>
                  </a:lnTo>
                  <a:lnTo>
                    <a:pt x="101918" y="704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865870" y="2166938"/>
              <a:ext cx="104013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593330" y="3418522"/>
              <a:ext cx="1040130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138410" y="3418522"/>
              <a:ext cx="1040130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593330" y="4670108"/>
              <a:ext cx="104013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138410" y="4670108"/>
              <a:ext cx="104013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865870" y="5832158"/>
              <a:ext cx="104013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016100" y="2270284"/>
              <a:ext cx="739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43560" y="3521869"/>
              <a:ext cx="739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borrower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280724" y="3521869"/>
              <a:ext cx="755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depositor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53325" y="4773454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348007" y="4773454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19003" y="5935504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branch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92541" cy="909257"/>
            <a:chOff x="520446" y="342900"/>
            <a:chExt cx="60925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925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（1）建表：先改正原课件的 branch 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1719262"/>
            <a:chOff x="533400" y="1524000"/>
            <a:chExt cx="5410200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原课件写法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9835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07005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2827782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branch-name char(15)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branch-city char(30),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assets numeric(16,2),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(branch-name)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33762"/>
            <a:ext cx="5410200" cy="2000250"/>
            <a:chOff x="533400" y="3433762"/>
            <a:chExt cx="54102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533400" y="3433762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567112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6433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6790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08336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020502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主码声明了两次：列级 primary key 和表级 primary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key(…) 只能留一个，重复声明会报错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70439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64153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属性名含连字符，改用下划线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503967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976812"/>
              <a:ext cx="4841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原课件只给了 branch 一张表，题目要求建全部六张表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2936558"/>
            <a:chOff x="6248400" y="1524000"/>
            <a:chExt cx="5410200" cy="2936558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更正后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035" y="1937861"/>
              <a:ext cx="2280158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branch_name  char(15),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branch_city  char(30),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assets       numeric(16,2),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(branch_name)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customer_name    char(20),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customer_street  char(30),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customer_city    char(30),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(customer_name)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651058"/>
            <a:ext cx="5410200" cy="782955"/>
            <a:chOff x="6248400" y="4651058"/>
            <a:chExt cx="5410200" cy="782955"/>
          </a:xfrm>
        </p:grpSpPr>
        <p:sp>
          <p:nvSpPr>
            <p:cNvPr id="28" name="Rectangle 28"/>
            <p:cNvSpPr/>
            <p:nvPr/>
          </p:nvSpPr>
          <p:spPr>
            <a:xfrm>
              <a:off x="6248400" y="465105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4942523"/>
              <a:ext cx="200026" cy="200025"/>
              <a:chOff x="6453188" y="4942523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49425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92926" y="49869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27642" y="50980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130" y="479964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单属性主码写在列后（列级）或单独一行（表级）都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可以；复合主码只能用表级写法。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6178" cy="909257"/>
            <a:chOff x="520446" y="342900"/>
            <a:chExt cx="88061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61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（1）建表：两张明细表加两张联系表，外码写明参照关系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950970"/>
            <a:chOff x="533400" y="1524000"/>
            <a:chExt cx="5410200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37540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loan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loan_number  char(10),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branch_name  char(15),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amount       numeric(12,2),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(loan_number),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foreign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(branch_name)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references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branch(branch_name)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borrower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customer_name  char(20),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loan_number    char(10),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(customer_name, loan_number),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foreign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(customer_name)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references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customer(customer_name),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foreign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(loan_number)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references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loan(loan_number)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248400" y="1524000"/>
            <a:ext cx="5410200" cy="3950970"/>
            <a:chOff x="6248400" y="1524000"/>
            <a:chExt cx="5410200" cy="3950970"/>
          </a:xfrm>
        </p:grpSpPr>
        <p:sp>
          <p:nvSpPr>
            <p:cNvPr id="11" name="Rectangle 11"/>
            <p:cNvSpPr/>
            <p:nvPr/>
          </p:nvSpPr>
          <p:spPr>
            <a:xfrm>
              <a:off x="6248400" y="1524000"/>
              <a:ext cx="5410200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797" y="167592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035" y="1937861"/>
              <a:ext cx="3610102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account_number  char(10),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branch_name     char(15),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balance         numeric(12,2),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(account_number),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foreign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(branch_name)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references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branch(branch_name)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table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depositor 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customer_name   char(20),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account_number  char(10),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primary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(customer_name, account_number),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foreign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(customer_name)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references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customer(customer_name),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foreign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key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(account_number)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references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account(account_number)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5" name="Rectangle 1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991225"/>
              <a:ext cx="9679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建表顺序要先建被参照的表（branch、customer），再建含外码的表。六条语句已在 SQLite 中实际执行。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样例数据：后面四问的结果都在这组数据上实跑得到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27685" y="1524000"/>
            <a:ext cx="4001453" cy="3306604"/>
            <a:chOff x="527685" y="1524000"/>
            <a:chExt cx="4001453" cy="33066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99573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2165" y="1655445"/>
              <a:ext cx="135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account_number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9435" y="1655445"/>
              <a:ext cx="107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branch_name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37663" y="1655445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balance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5738" y="2085022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A-101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9053" y="2085022"/>
              <a:ext cx="793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Downtown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56202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39957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399573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05738" y="2515552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A-102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43048" y="2515552"/>
              <a:ext cx="865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Perryridge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45051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39957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05738" y="2946082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31926" y="2946082"/>
              <a:ext cx="687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Brighton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45051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39957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399573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05738" y="3375660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A-217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31926" y="3375660"/>
              <a:ext cx="687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Brighton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45051" y="33756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9982"/>
              <a:ext cx="39957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05738" y="3806190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A-222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39730" y="3806190"/>
              <a:ext cx="671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Redwood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45051" y="380619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00512"/>
              <a:ext cx="39957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05275"/>
              <a:ext cx="399573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05738" y="4235768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A-305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79053" y="4235768"/>
              <a:ext cx="793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Downtown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56202" y="423576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3995738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17836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56330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685" y="4610576"/>
              <a:ext cx="2567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account：平均余额 15750 / 6 = 2625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4828222" y="1524000"/>
            <a:ext cx="3265171" cy="3306604"/>
            <a:chOff x="4828222" y="1524000"/>
            <a:chExt cx="3265171" cy="3306604"/>
          </a:xfrm>
        </p:grpSpPr>
        <p:sp>
          <p:nvSpPr>
            <p:cNvPr id="42" name="Rectangle 42"/>
            <p:cNvSpPr/>
            <p:nvPr/>
          </p:nvSpPr>
          <p:spPr>
            <a:xfrm>
              <a:off x="4833938" y="1524000"/>
              <a:ext cx="325945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988574" y="1655445"/>
              <a:ext cx="1292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customer_name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88618" y="1655445"/>
              <a:ext cx="135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account_number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93025" y="208502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Hayes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23926" y="2085022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A-102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833938" y="237934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833938" y="2384108"/>
              <a:ext cx="325945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99733" y="2515552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Johnson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23926" y="2515552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A-101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833938" y="280987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99733" y="2946082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Johnson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23926" y="2946082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A-201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833938" y="323945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833938" y="3244215"/>
              <a:ext cx="325945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393025" y="3375660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Jones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23926" y="337566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A-217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833938" y="366998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46379" y="380619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Turner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23926" y="380619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A-305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833938" y="410051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833938" y="4105275"/>
              <a:ext cx="325945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397313" y="4235768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Smith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23926" y="4235768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A-222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833938" y="1524000"/>
              <a:ext cx="325945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3128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828222" y="461057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depositor</a:t>
              </a:r>
            </a:p>
          </p:txBody>
        </p:sp>
      </p:grpSp>
      <p:grpSp>
        <p:nvGrpSpPr>
          <p:cNvPr id="91" name="c3-table-1"/>
          <p:cNvGrpSpPr/>
          <p:nvPr/>
        </p:nvGrpSpPr>
        <p:grpSpPr>
          <a:xfrm>
            <a:off x="8393430" y="1524000"/>
            <a:ext cx="3265170" cy="2877027"/>
            <a:chOff x="8393430" y="1524000"/>
            <a:chExt cx="3265170" cy="2877027"/>
          </a:xfrm>
        </p:grpSpPr>
        <p:sp>
          <p:nvSpPr>
            <p:cNvPr id="69" name="Rectangle 69"/>
            <p:cNvSpPr/>
            <p:nvPr/>
          </p:nvSpPr>
          <p:spPr>
            <a:xfrm>
              <a:off x="8399145" y="1524000"/>
              <a:ext cx="325945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629029" y="1655445"/>
              <a:ext cx="1292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customer_name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391165" y="165544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loan_number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16325" y="2085022"/>
              <a:ext cx="518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Adams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712272" y="2085022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L-16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399145" y="237934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399145" y="2384108"/>
              <a:ext cx="325945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33480" y="251555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Hayes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12272" y="2515552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L-15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399145" y="280987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33480" y="294608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Jones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712272" y="2946082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L-17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399145" y="323945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399145" y="3244215"/>
              <a:ext cx="325945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037768" y="337566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Smith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712272" y="337566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L-11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399145" y="366998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016325" y="3806190"/>
              <a:ext cx="518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Adams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712272" y="380619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L-14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399145" y="1524000"/>
              <a:ext cx="325945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147935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93430" y="4180999"/>
              <a:ext cx="21052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borrower：Adams 有两笔贷款</a:t>
              </a:r>
            </a:p>
          </p:txBody>
        </p:sp>
      </p:grpSp>
      <p:grpSp>
        <p:nvGrpSpPr>
          <p:cNvPr id="98" name="c3-callout-2"/>
          <p:cNvGrpSpPr/>
          <p:nvPr/>
        </p:nvGrpSpPr>
        <p:grpSpPr>
          <a:xfrm>
            <a:off x="8399145" y="4541520"/>
            <a:ext cx="3259455" cy="1018222"/>
            <a:chOff x="8399145" y="4541520"/>
            <a:chExt cx="3259455" cy="1018222"/>
          </a:xfrm>
        </p:grpSpPr>
        <p:sp>
          <p:nvSpPr>
            <p:cNvPr id="92" name="Rectangle 92"/>
            <p:cNvSpPr/>
            <p:nvPr/>
          </p:nvSpPr>
          <p:spPr>
            <a:xfrm>
              <a:off x="8399145" y="4541520"/>
              <a:ext cx="325945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8603933" y="4951095"/>
              <a:ext cx="200026" cy="200025"/>
              <a:chOff x="8603933" y="4951095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8603933" y="49510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643671" y="49955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678387" y="51066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8906256" y="4688681"/>
              <a:ext cx="231381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对照两张联系表：Hayes、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Jones、Smith 既有存款又有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贷款，Adams 只有贷款。</a:t>
              </a:r>
            </a:p>
          </p:txBody>
        </p:sp>
      </p:grpSp>
      <p:grpSp>
        <p:nvGrpSpPr>
          <p:cNvPr id="10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9" name="Rectangle 9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1040511" y="6004084"/>
              <a:ext cx="9101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数据取自教材银行例子并改动了余额，让第（3）问有一个支行（Downtown，平均 6500）被 having 筛掉。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6" name="TextBox 106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8383" cy="909257"/>
            <a:chOff x="520446" y="342900"/>
            <a:chExt cx="9048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8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（2）Brighton 分行有存款的客户：先连接，再选择、投影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7"/>
              <p:cNvSpPr txBox="1">
                <a:spLocks noGrp="1"/>
              </p:cNvSpPr>
              <p:nvPr/>
            </p:nvSpPr>
            <p:spPr>
              <a:xfrm>
                <a:off x="533400" y="1524000"/>
                <a:ext cx="6276022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customer_name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account_number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balance</m:t>
                              </m:r>
                            </m:sub>
                          </m:sSub>
                        </m:e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nor m:val="on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branch_name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m:rPr>
                                      <m:nor m:val="on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'Brighton'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depositor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⋈</m:t>
                                  </m:r>
                                  <m:r>
                                    <m:rPr>
                                      <m:nor m:val="on"/>
                                    </m:r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account</m:t>
                                  </m:r>
                                </m:e>
                              </m:d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1" name="c1-code-2"/>
          <p:cNvGrpSpPr/>
          <p:nvPr/>
        </p:nvGrpSpPr>
        <p:grpSpPr>
          <a:xfrm>
            <a:off x="533400" y="2328862"/>
            <a:ext cx="6276022" cy="1313498"/>
            <a:chOff x="533400" y="2328862"/>
            <a:chExt cx="6276022" cy="1313498"/>
          </a:xfrm>
        </p:grpSpPr>
        <p:sp>
          <p:nvSpPr>
            <p:cNvPr id="8" name="Rectangle 8"/>
            <p:cNvSpPr/>
            <p:nvPr/>
          </p:nvSpPr>
          <p:spPr>
            <a:xfrm>
              <a:off x="533400" y="2328862"/>
              <a:ext cx="627602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797" y="2480786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035" y="2742724"/>
              <a:ext cx="431419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customer_name, depositor.account_number, balance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depositor, account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depositor.account_number = account.account_number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and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branch_name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'Brighton'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</p:grpSp>
      <p:grpSp>
        <p:nvGrpSpPr>
          <p:cNvPr id="18" name="c1-card-3"/>
          <p:cNvGrpSpPr/>
          <p:nvPr/>
        </p:nvGrpSpPr>
        <p:grpSpPr>
          <a:xfrm>
            <a:off x="533400" y="3827145"/>
            <a:ext cx="6276022" cy="2376488"/>
            <a:chOff x="533400" y="3827145"/>
            <a:chExt cx="6276022" cy="2376488"/>
          </a:xfrm>
        </p:grpSpPr>
        <p:sp>
          <p:nvSpPr>
            <p:cNvPr id="12" name="Rectangle 12"/>
            <p:cNvSpPr/>
            <p:nvPr/>
          </p:nvSpPr>
          <p:spPr>
            <a:xfrm>
              <a:off x="533400" y="3827145"/>
              <a:ext cx="6276022" cy="2376488"/>
            </a:xfrm>
            <a:prstGeom prst="roundRect">
              <a:avLst>
                <a:gd name="adj" fmla="val 56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960495"/>
              <a:ext cx="47625" cy="21097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5335" y="4030980"/>
              <a:ext cx="30546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8733" y="406669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原课件写法（笛卡儿积加选择，与上式等价）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8"/>
                <p:cNvSpPr txBox="1">
                  <a:spLocks noGrp="1"/>
                </p:cNvSpPr>
                <p:nvPr/>
              </p:nvSpPr>
              <p:spPr>
                <a:xfrm>
                  <a:off x="775335" y="4380548"/>
                  <a:ext cx="583025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customer_name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nor m:val="on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depositor.account_number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nor m:val="on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balance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depositor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account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68096" y="4801076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θ 为 depositor.account_number =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account.account_number ∧ branch_name = 'Brighton'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7114222" y="1533525"/>
            <a:ext cx="4379976" cy="2011109"/>
            <a:chOff x="7114222" y="1533525"/>
            <a:chExt cx="4379976" cy="2011109"/>
          </a:xfrm>
        </p:grpSpPr>
        <p:sp>
          <p:nvSpPr>
            <p:cNvPr id="19" name="Rectangle 19"/>
            <p:cNvSpPr/>
            <p:nvPr/>
          </p:nvSpPr>
          <p:spPr>
            <a:xfrm>
              <a:off x="7247572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14222" y="23755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07846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14222" y="29965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07846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6084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7226" y="1846898"/>
              <a:ext cx="3966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depositor 与 account 按 account_number 相等连接，得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到“谁在哪个分行存了多少”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6084" y="240839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27226" y="2688907"/>
              <a:ext cx="2967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只留 branch_name = 'Brighton' 的元组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6084" y="30294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7226" y="330993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取客户名、账号、余额三列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7108508" y="3720465"/>
            <a:ext cx="4550092" cy="1586389"/>
            <a:chOff x="7108508" y="3720465"/>
            <a:chExt cx="4550092" cy="1586389"/>
          </a:xfrm>
        </p:grpSpPr>
        <p:sp>
          <p:nvSpPr>
            <p:cNvPr id="33" name="Rectangle 33"/>
            <p:cNvSpPr/>
            <p:nvPr/>
          </p:nvSpPr>
          <p:spPr>
            <a:xfrm>
              <a:off x="7114222" y="3720465"/>
              <a:ext cx="454437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21246" y="3851910"/>
              <a:ext cx="1292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customer_name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26065" y="3851910"/>
              <a:ext cx="135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account_number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09976" y="3851910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balance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32405" y="4282440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Johnson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1373" y="428244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A-201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74514" y="428244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14222" y="457581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14222" y="4580572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25697" y="4712018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Jones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61373" y="4712018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A-217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74514" y="471201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14222" y="3720465"/>
              <a:ext cx="4544378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816340" y="372046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579418" y="372046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8508" y="50868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样例数据上的结果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7114222" y="5448300"/>
            <a:ext cx="4544378" cy="756285"/>
            <a:chOff x="7114222" y="5448300"/>
            <a:chExt cx="4544378" cy="756285"/>
          </a:xfrm>
        </p:grpSpPr>
        <p:sp>
          <p:nvSpPr>
            <p:cNvPr id="50" name="Rectangle 50"/>
            <p:cNvSpPr/>
            <p:nvPr/>
          </p:nvSpPr>
          <p:spPr>
            <a:xfrm>
              <a:off x="7114222" y="5448300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06952" y="5722738"/>
              <a:ext cx="224134" cy="192560"/>
              <a:chOff x="7306952" y="5722738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419023" y="57931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306952" y="57227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419023" y="5870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21334" y="5595461"/>
              <a:ext cx="368439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account_number 两张表都有，SQL 里必须写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 depositor.account_number 加以限定。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99019" cy="909257"/>
            <a:chOff x="520446" y="342900"/>
            <a:chExt cx="80990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990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（3）平均余额小于 5000 的支行：分组聚集后再筛选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7"/>
              <p:cNvSpPr txBox="1">
                <a:spLocks noGrp="1"/>
              </p:cNvSpPr>
              <p:nvPr/>
            </p:nvSpPr>
            <p:spPr>
              <a:xfrm>
                <a:off x="533400" y="1524000"/>
                <a:ext cx="627602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nor m:val="on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branch_name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avg_bal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/>
                            <m:sub>
                              <m:r>
                                <m:rPr>
                                  <m:nor m:val="on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branch_name</m:t>
                              </m:r>
                            </m:sub>
                          </m:sSub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avg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balance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nor m:val="on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account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8"/>
              <p:cNvSpPr txBox="1">
                <a:spLocks noGrp="1"/>
              </p:cNvSpPr>
              <p:nvPr/>
            </p:nvSpPr>
            <p:spPr>
              <a:xfrm>
                <a:off x="533400" y="2099310"/>
                <a:ext cx="627602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result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avg_bal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5000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2" name="c1-code-3"/>
          <p:cNvGrpSpPr/>
          <p:nvPr/>
        </p:nvGrpSpPr>
        <p:grpSpPr>
          <a:xfrm>
            <a:off x="533400" y="2731770"/>
            <a:ext cx="6276022" cy="1261110"/>
            <a:chOff x="533400" y="2731770"/>
            <a:chExt cx="6276022" cy="1261110"/>
          </a:xfrm>
        </p:grpSpPr>
        <p:sp>
          <p:nvSpPr>
            <p:cNvPr id="9" name="Rectangle 9"/>
            <p:cNvSpPr/>
            <p:nvPr/>
          </p:nvSpPr>
          <p:spPr>
            <a:xfrm>
              <a:off x="533400" y="2731770"/>
              <a:ext cx="6276022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88369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3145155"/>
              <a:ext cx="3164396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branch_name,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avg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(balance)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avg_bal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group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branch_name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having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avg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(balance) &lt; 5000;</a:t>
              </a:r>
            </a:p>
          </p:txBody>
        </p:sp>
      </p:grpSp>
      <p:grpSp>
        <p:nvGrpSpPr>
          <p:cNvPr id="16" name="c1-code-4"/>
          <p:cNvGrpSpPr/>
          <p:nvPr/>
        </p:nvGrpSpPr>
        <p:grpSpPr>
          <a:xfrm>
            <a:off x="533400" y="4168140"/>
            <a:ext cx="6276022" cy="1261110"/>
            <a:chOff x="533400" y="4168140"/>
            <a:chExt cx="6276022" cy="1261110"/>
          </a:xfrm>
        </p:grpSpPr>
        <p:sp>
          <p:nvSpPr>
            <p:cNvPr id="13" name="Rectangle 13"/>
            <p:cNvSpPr/>
            <p:nvPr/>
          </p:nvSpPr>
          <p:spPr>
            <a:xfrm>
              <a:off x="533400" y="4168140"/>
              <a:ext cx="6276022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320064"/>
              <a:ext cx="30768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等价写法：from 子查询里先分组，外层再用 where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4581525"/>
              <a:ext cx="360445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branch_name, avg_bal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branch_name,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avg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(balance)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avg_bal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group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branch_name)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avg_bal &lt; 5000;</a:t>
              </a:r>
            </a:p>
          </p:txBody>
        </p:sp>
      </p:grpSp>
      <p:grpSp>
        <p:nvGrpSpPr>
          <p:cNvPr id="23" name="c1-callout-5"/>
          <p:cNvGrpSpPr/>
          <p:nvPr/>
        </p:nvGrpSpPr>
        <p:grpSpPr>
          <a:xfrm>
            <a:off x="533400" y="5604510"/>
            <a:ext cx="6276022" cy="729615"/>
            <a:chOff x="533400" y="5604510"/>
            <a:chExt cx="6276022" cy="729615"/>
          </a:xfrm>
        </p:grpSpPr>
        <p:sp>
          <p:nvSpPr>
            <p:cNvPr id="17" name="Rectangle 17"/>
            <p:cNvSpPr/>
            <p:nvPr/>
          </p:nvSpPr>
          <p:spPr>
            <a:xfrm>
              <a:off x="533400" y="560451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5865613"/>
              <a:ext cx="224134" cy="192560"/>
              <a:chOff x="726129" y="5865613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59359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58656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60137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750242"/>
              <a:ext cx="52172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易错：where 在分组之前逐行过滤，不能写聚集函数；针对“组”的条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件要放在 having 里。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7114222" y="1533525"/>
            <a:ext cx="3998169" cy="1693069"/>
            <a:chOff x="7114222" y="1533525"/>
            <a:chExt cx="3998169" cy="1693069"/>
          </a:xfrm>
        </p:grpSpPr>
        <p:sp>
          <p:nvSpPr>
            <p:cNvPr id="24" name="Rectangle 24"/>
            <p:cNvSpPr/>
            <p:nvPr/>
          </p:nvSpPr>
          <p:spPr>
            <a:xfrm>
              <a:off x="7247572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114222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0784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114222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07846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6464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27608" y="183308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 按 branch_name 分成四组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6464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27608" y="2419826"/>
              <a:ext cx="3584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每组求 avg(balance)，用 ρ 把结果列命名为 avg_bal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26464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筛组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7608" y="300656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只留 avg_bal &lt; 5000 的组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7108888" y="3395662"/>
            <a:ext cx="4549712" cy="2308480"/>
            <a:chOff x="7108888" y="3395662"/>
            <a:chExt cx="4549712" cy="2308480"/>
          </a:xfrm>
        </p:grpSpPr>
        <p:sp>
          <p:nvSpPr>
            <p:cNvPr id="38" name="Rectangle 38"/>
            <p:cNvSpPr/>
            <p:nvPr/>
          </p:nvSpPr>
          <p:spPr>
            <a:xfrm>
              <a:off x="7114222" y="3395662"/>
              <a:ext cx="454437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45324" y="3519964"/>
              <a:ext cx="100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branch_name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0059" y="3519964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avg_bal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95368" y="3519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09228" y="3925729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Brighton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83942" y="392572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70755" y="392572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14222" y="420243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14222" y="4207192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57413" y="4331494"/>
              <a:ext cx="776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Downtown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01016" y="4331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70755" y="43314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14222" y="46081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22128" y="4737259"/>
              <a:ext cx="847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Perryridge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83942" y="473725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70755" y="47372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50139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14222" y="5018722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16876" y="5143024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Redwood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83942" y="514302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70755" y="51430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14222" y="3395662"/>
              <a:ext cx="4544378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972550" y="339566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39400" y="339566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08888" y="5498783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样例数据上的分组结果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（4）有贷款但没有存款账户的客户：集合差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0"/>
              <p:cNvSpPr txBox="1">
                <a:spLocks noGrp="1"/>
              </p:cNvSpPr>
              <p:nvPr/>
            </p:nvSpPr>
            <p:spPr>
              <a:xfrm>
                <a:off x="533400" y="1524000"/>
                <a:ext cx="605980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customer_name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borrower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customer_name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depositor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code-2"/>
          <p:cNvGrpSpPr/>
          <p:nvPr/>
        </p:nvGrpSpPr>
        <p:grpSpPr>
          <a:xfrm>
            <a:off x="533400" y="2133600"/>
            <a:ext cx="6059805" cy="1313498"/>
            <a:chOff x="533400" y="2133600"/>
            <a:chExt cx="6059805" cy="1313498"/>
          </a:xfrm>
        </p:grpSpPr>
        <p:sp>
          <p:nvSpPr>
            <p:cNvPr id="8" name="Rectangle 8"/>
            <p:cNvSpPr/>
            <p:nvPr/>
          </p:nvSpPr>
          <p:spPr>
            <a:xfrm>
              <a:off x="533400" y="2133600"/>
              <a:ext cx="605980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797" y="2285524"/>
              <a:ext cx="1626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原课件写法：not in 子查询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035" y="2547461"/>
              <a:ext cx="345363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distinct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customer_name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borrower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customer_name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not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customer_name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depositor);</a:t>
              </a:r>
            </a:p>
          </p:txBody>
        </p:sp>
      </p:grpSp>
      <p:grpSp>
        <p:nvGrpSpPr>
          <p:cNvPr id="15" name="c1-code-3"/>
          <p:cNvGrpSpPr/>
          <p:nvPr/>
        </p:nvGrpSpPr>
        <p:grpSpPr>
          <a:xfrm>
            <a:off x="533400" y="3637598"/>
            <a:ext cx="6059805" cy="1110615"/>
            <a:chOff x="533400" y="3637598"/>
            <a:chExt cx="6059805" cy="1110615"/>
          </a:xfrm>
        </p:grpSpPr>
        <p:sp>
          <p:nvSpPr>
            <p:cNvPr id="12" name="Rectangle 12"/>
            <p:cNvSpPr/>
            <p:nvPr/>
          </p:nvSpPr>
          <p:spPr>
            <a:xfrm>
              <a:off x="533400" y="3637598"/>
              <a:ext cx="605980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3789521"/>
              <a:ext cx="2091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等价写法：except 直接对应差运算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4051459"/>
              <a:ext cx="282778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customer_name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borrower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except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customer_name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depositor;</a:t>
              </a:r>
            </a:p>
          </p:txBody>
        </p:sp>
      </p:grpSp>
      <p:grpSp>
        <p:nvGrpSpPr>
          <p:cNvPr id="22" name="c1-callout-4"/>
          <p:cNvGrpSpPr/>
          <p:nvPr/>
        </p:nvGrpSpPr>
        <p:grpSpPr>
          <a:xfrm>
            <a:off x="533400" y="4938712"/>
            <a:ext cx="6059805" cy="1272540"/>
            <a:chOff x="533400" y="4938712"/>
            <a:chExt cx="6059805" cy="1272540"/>
          </a:xfrm>
        </p:grpSpPr>
        <p:sp>
          <p:nvSpPr>
            <p:cNvPr id="16" name="Rectangle 16"/>
            <p:cNvSpPr/>
            <p:nvPr/>
          </p:nvSpPr>
          <p:spPr>
            <a:xfrm>
              <a:off x="533400" y="4938712"/>
              <a:ext cx="6059805" cy="1272540"/>
            </a:xfrm>
            <a:prstGeom prst="roundRect">
              <a:avLst>
                <a:gd name="adj" fmla="val 898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474970"/>
              <a:ext cx="200026" cy="200025"/>
              <a:chOff x="738188" y="5474970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4749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55194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56305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533209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差运算要求两个关系相容：属性个数相同、对应的域相同，所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以两边都先投影到 customer_name。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892290" y="1524000"/>
            <a:ext cx="4766310" cy="2317909"/>
            <a:chOff x="6892290" y="1524000"/>
            <a:chExt cx="4766310" cy="2317909"/>
          </a:xfrm>
        </p:grpSpPr>
        <p:sp>
          <p:nvSpPr>
            <p:cNvPr id="23" name="Rectangle 23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755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567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05828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有贷款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19376" y="2108359"/>
              <a:ext cx="2400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Adams, Hayes, Jones, Smith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98005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98005" y="2421255"/>
              <a:ext cx="476059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5828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有存款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19376" y="2556986"/>
              <a:ext cx="24757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Hayes, Johnson, Jones, Smith,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Turner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98005" y="3092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05828" y="323230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9376" y="3232309"/>
              <a:ext cx="552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Adams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60679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2290" y="3621881"/>
              <a:ext cx="2814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样例数据上的结果（两种 SQL 结果相同）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898005" y="3988118"/>
            <a:ext cx="4760595" cy="2223135"/>
            <a:chOff x="6898005" y="3988118"/>
            <a:chExt cx="4760595" cy="2223135"/>
          </a:xfrm>
        </p:grpSpPr>
        <p:sp>
          <p:nvSpPr>
            <p:cNvPr id="39" name="Rectangle 39"/>
            <p:cNvSpPr/>
            <p:nvPr/>
          </p:nvSpPr>
          <p:spPr>
            <a:xfrm>
              <a:off x="6898005" y="3988118"/>
              <a:ext cx="4760595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07530" y="4121468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45655" y="419766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27011" y="4233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两个细节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51370" y="463772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9485" y="4574858"/>
              <a:ext cx="3777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Adams 有两笔贷款，不写 distinct 会输出两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次；except 自动去重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51370" y="525875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09485" y="5195888"/>
              <a:ext cx="3901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 in 的子查询结果含 null 时条件永不为真，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一行也查不出。这里 customer_name 是主码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的一部分，不会为 null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5463" cy="909257"/>
            <a:chOff x="520446" y="342900"/>
            <a:chExt cx="96154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54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（5）关系代数写更新：先求平均值，再分两部分重建 account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846600" cy="278702"/>
            <a:chOff x="526161" y="1547336"/>
            <a:chExt cx="1084660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8466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关系代数的选择条件只能比较属性和常量，不能直接写聚集函数，所以先用聚集运算 G 算出平均值，再与 account 做笛卡儿积。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9"/>
              <p:cNvSpPr txBox="1">
                <a:spLocks noGrp="1"/>
              </p:cNvSpPr>
              <p:nvPr/>
            </p:nvSpPr>
            <p:spPr>
              <a:xfrm>
                <a:off x="533400" y="1941195"/>
                <a:ext cx="11125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ab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avg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balance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account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30"/>
              <p:cNvSpPr txBox="1">
                <a:spLocks noGrp="1"/>
              </p:cNvSpPr>
              <p:nvPr/>
            </p:nvSpPr>
            <p:spPr>
              <a:xfrm>
                <a:off x="533400" y="2573655"/>
                <a:ext cx="11125200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account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←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account_number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branch_name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balance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1.03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nor m:val="on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balance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&gt;</m:t>
                                  </m:r>
                                  <m:r>
                                    <m:rPr>
                                      <m:nor m:val="on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ab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account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×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∪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account_number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branch_name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balance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nor m:val="on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balance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≤</m:t>
                                  </m:r>
                                  <m:r>
                                    <m:rPr>
                                      <m:nor m:val="on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ab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 m:val="on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account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×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34" name="c1-steps-3"/>
          <p:cNvGrpSpPr/>
          <p:nvPr/>
        </p:nvGrpSpPr>
        <p:grpSpPr>
          <a:xfrm>
            <a:off x="533400" y="3343275"/>
            <a:ext cx="11125200" cy="1565910"/>
            <a:chOff x="533400" y="3343275"/>
            <a:chExt cx="11125200" cy="1565910"/>
          </a:xfrm>
        </p:grpSpPr>
        <p:sp>
          <p:nvSpPr>
            <p:cNvPr id="11" name="Rectangle 11"/>
            <p:cNvSpPr/>
            <p:nvPr/>
          </p:nvSpPr>
          <p:spPr>
            <a:xfrm>
              <a:off x="533400" y="3343275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66750" y="34766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6883" y="3547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9892" y="38795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求平均值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4166711"/>
              <a:ext cx="2194814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对整个 account 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avg(balance)，得到只有一行一列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的关系 t（ab = 2625）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3176588" y="404050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86138" y="3343275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519488" y="34766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09621" y="3547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12629" y="38795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高于平均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3772" y="4166711"/>
              <a:ext cx="19458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account × t 后选出 balance &gt;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的元组，余额乘 1.03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29325" y="404050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38875" y="3343275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372225" y="34766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2358" y="3547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65367" y="38795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不高于平均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6510" y="4166711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balance ≤ ab 的元组原样保留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882062" y="404050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91612" y="3343275"/>
              <a:ext cx="2566988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224962" y="34766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15096" y="3547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18104" y="38795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19248" y="4166711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两部分做并，赋值回 account</a:t>
              </a:r>
            </a:p>
          </p:txBody>
        </p:sp>
      </p:grpSp>
      <p:grpSp>
        <p:nvGrpSpPr>
          <p:cNvPr id="40" name="c1-card-4"/>
          <p:cNvGrpSpPr/>
          <p:nvPr/>
        </p:nvGrpSpPr>
        <p:grpSpPr>
          <a:xfrm>
            <a:off x="533400" y="5084445"/>
            <a:ext cx="11125200" cy="1278255"/>
            <a:chOff x="533400" y="5084445"/>
            <a:chExt cx="11125200" cy="1278255"/>
          </a:xfrm>
        </p:grpSpPr>
        <p:sp>
          <p:nvSpPr>
            <p:cNvPr id="35" name="Rectangle 35"/>
            <p:cNvSpPr/>
            <p:nvPr/>
          </p:nvSpPr>
          <p:spPr>
            <a:xfrm>
              <a:off x="533400" y="5084445"/>
              <a:ext cx="11125200" cy="1278255"/>
            </a:xfrm>
            <a:prstGeom prst="roundRect">
              <a:avLst>
                <a:gd name="adj" fmla="val 104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5217795"/>
              <a:ext cx="47625" cy="10115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3905" y="52768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5345" y="53111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047" y="5633085"/>
              <a:ext cx="99921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σ balance &gt; avg(balance)(account)，把聚集函数直接写进了选择条件，这在关系代数里不合法，按上式先求出平均值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51876" cy="909257"/>
            <a:chOff x="520446" y="342900"/>
            <a:chExt cx="82518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 · 应用题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518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（5）SQL 写更新：子查询先算出平均值，再逐行更新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1313498"/>
            <a:chOff x="533400" y="1524000"/>
            <a:chExt cx="5951220" cy="13134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82778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update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 = balance * 1.03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 &gt;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avg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(balance)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account);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027998"/>
            <a:ext cx="5951220" cy="3138488"/>
            <a:chOff x="533400" y="3027998"/>
            <a:chExt cx="5951220" cy="3138488"/>
          </a:xfrm>
        </p:grpSpPr>
        <p:sp>
          <p:nvSpPr>
            <p:cNvPr id="11" name="Rectangle 11"/>
            <p:cNvSpPr/>
            <p:nvPr/>
          </p:nvSpPr>
          <p:spPr>
            <a:xfrm>
              <a:off x="533400" y="3027998"/>
              <a:ext cx="5951220" cy="3138488"/>
            </a:xfrm>
            <a:prstGeom prst="roundRect">
              <a:avLst>
                <a:gd name="adj" fmla="val 42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161348"/>
              <a:ext cx="47625" cy="28717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237548"/>
              <a:ext cx="115157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9027" y="3273266"/>
              <a:ext cx="1034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MySQL 的限制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614738"/>
              <a:ext cx="5225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 不允许 update 的子查询直接读同一张表，要多套一层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派生表：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81050" y="4211002"/>
              <a:ext cx="5494020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9447" y="4362926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685" y="4624864"/>
              <a:ext cx="376656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 &gt;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avg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(balance)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t);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783705" y="1524000"/>
            <a:ext cx="4874895" cy="3437097"/>
            <a:chOff x="6783705" y="1524000"/>
            <a:chExt cx="4874895" cy="3437097"/>
          </a:xfrm>
        </p:grpSpPr>
        <p:sp>
          <p:nvSpPr>
            <p:cNvPr id="20" name="Rectangle 20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66505" y="1659731"/>
              <a:ext cx="1442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account_number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8959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2595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18316" y="2108359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A-101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237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39779" y="210835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5150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18316" y="2556986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A-102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17148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53506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18316" y="3005614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17148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3506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8942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8942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8316" y="3454241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A-217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7148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53506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9420" y="37633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18316" y="3903821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A-222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17148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53506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89420" y="421195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89420" y="4216718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18316" y="4352449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A-305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22376" y="43524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39779" y="435244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8240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1524000"/>
              <a:ext cx="486918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8112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31748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3705" y="4741069"/>
              <a:ext cx="4308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 2625，只有两个账户高于平均；关系代数写法得到同样结果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789420" y="5107305"/>
            <a:ext cx="4869180" cy="1059180"/>
            <a:chOff x="6789420" y="5107305"/>
            <a:chExt cx="4869180" cy="1059180"/>
          </a:xfrm>
        </p:grpSpPr>
        <p:sp>
          <p:nvSpPr>
            <p:cNvPr id="55" name="Rectangle 55"/>
            <p:cNvSpPr/>
            <p:nvPr/>
          </p:nvSpPr>
          <p:spPr>
            <a:xfrm>
              <a:off x="6789420" y="5107305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994208" y="5536883"/>
              <a:ext cx="200026" cy="200025"/>
              <a:chOff x="6994208" y="5536883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994208" y="55368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033946" y="55813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068662" y="56924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296150" y="5255895"/>
              <a:ext cx="38633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执行顺序：SQL 先算出子查询的平均值</a:t>
              </a:r>
            </a:p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（2625），再逐行检查、更新，平均值不会随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已更新的行变化。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5751" cy="909257"/>
            <a:chOff x="520446" y="342900"/>
            <a:chExt cx="105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37385"/>
            <a:chOff x="533400" y="1524000"/>
            <a:chExt cx="3505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6940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char(5) 的列存入 'ab'，实际存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834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'ab' 后补 3 个空格，共 5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3505200" cy="2508885"/>
            <a:chOff x="533400" y="3651885"/>
            <a:chExt cx="3505200" cy="25088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既有存款又有贷款的客户，关系代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数怎么写？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27584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两表都投影到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customer_name 后求交（∩），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样例数据中为 Hayes、Jones、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Smith。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23135"/>
            <a:chOff x="4343400" y="1524000"/>
            <a:chExt cx="3505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6845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学生表中 (ID, dept_name) 是超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码吗？是候选码吗？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710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是超码（含 ID）；不是候选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码，去掉 dept_name 后仍是超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37635"/>
            <a:ext cx="3505200" cy="2223135"/>
            <a:chOff x="4343400" y="393763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524375"/>
              <a:ext cx="27370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where avg(balance) &lt;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 是错的？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920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where 在分组前对单行求值，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不能用聚集函数；组条件写在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having。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37385"/>
            <a:chOff x="8153400" y="1524000"/>
            <a:chExt cx="3505200" cy="19373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7865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R(A, B, C)，F = {A→B, B→C}。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候选码是什么？属于 3NF 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834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候选码 A。B→C 中 B 不是超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码、C 不是主属性，不属于 3NF。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51885"/>
            <a:ext cx="3505200" cy="2508885"/>
            <a:chOff x="8153400" y="3651885"/>
            <a:chExt cx="3505200" cy="25088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238625"/>
              <a:ext cx="29622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崩溃时日志中 T1 有 commit 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录、T2 没有，重启后各怎样处理？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859655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重做（redo），T2 撤销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（undo）。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模拟试题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951220" cy="3594735"/>
            <a:chOff x="533400" y="1524000"/>
            <a:chExt cx="5951220" cy="3594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89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8612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抓住的要点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简答题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9973" y="210835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先给定义，再补一句区别或例子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主码设计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9973" y="255698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主码要从候选码（最小超码）中选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事务故障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69973" y="30056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未提交的事务按日志中的旧值撤销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E-R 转换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69973" y="3454241"/>
              <a:ext cx="3131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一对多在“多”侧加外码，多对多单独建表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0171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范式判定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69973" y="3903821"/>
              <a:ext cx="39875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先求全部候选码；BCNF 只看左部，3NF 再看右部是否主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4386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443412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57914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关系代数与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69973" y="4692491"/>
              <a:ext cx="3987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聚集用 G 或 group by 加 having，差用 − 或 except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951220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5738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1"/>
          <p:cNvGrpSpPr/>
          <p:nvPr/>
        </p:nvGrpSpPr>
        <p:grpSpPr>
          <a:xfrm>
            <a:off x="6789420" y="1524000"/>
            <a:ext cx="4869180" cy="3594735"/>
            <a:chOff x="6789420" y="1524000"/>
            <a:chExt cx="4869180" cy="3594735"/>
          </a:xfrm>
        </p:grpSpPr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3594735"/>
            </a:xfrm>
            <a:prstGeom prst="roundRect">
              <a:avLst>
                <a:gd name="adj" fmla="val 37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98945" y="1657350"/>
              <a:ext cx="47625" cy="33280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3707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9377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4278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0900" y="2110740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索引“排序的数据结构”只对有序索引成立；LIKE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答案的中文引号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4278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0900" y="2731770"/>
              <a:ext cx="3910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Armstrong 公理是自反、增补、传递律；转账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题币种不一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42785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0900" y="335280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设计题：covers、policy、received_no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E-R 图参与约束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42785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0900" y="3973830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应用题：主码重复声明、属性名连字符、（5）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关系代数写法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7373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考前把计算题和应用题各亲手做一遍：闭包逐步写出，SQL 在任一 DBMS 上跑通。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数据库系统原理 · 模拟试题讲解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b_mock">
  <a:themeElements>
    <a:clrScheme name="db_mo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b_moc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b_mo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2026-09-23T07:17:42Z</dcterms:created>
  <dcterms:modified xsi:type="dcterms:W3CDTF">2026-09-23T07:17:42Z</dcterms:modified>
  <cp:category/>
  <cp:contentStatus/>
</cp:coreProperties>
</file>