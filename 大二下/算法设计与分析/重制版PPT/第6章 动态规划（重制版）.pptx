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lgo_ch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lgo_ch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38b11fb73039d38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9eded2bbed43366.png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a506f3aaea29fa8.png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601462" cy="3437763"/>
            <a:chOff x="666750" y="1619250"/>
            <a:chExt cx="5601462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986915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2035" y="1718310"/>
              <a:ext cx="17544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算法设计与分析 · 第6章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动态规划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把问题拆成相互重叠的子问题，每个子问题只算一次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最优性原理与递推关系式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21309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多段图、货郎担、0/1背包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可靠性设计与序偶对法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最优二分检索树与矩阵链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491495" cy="205359"/>
            <a:chOff x="680466" y="6192202"/>
            <a:chExt cx="4491495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4914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自学复习版｜据吉林大学《算法设计与分析》第6章课件整理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c1-agenda-1"/>
          <p:cNvGrpSpPr/>
          <p:nvPr/>
        </p:nvGrpSpPr>
        <p:grpSpPr>
          <a:xfrm>
            <a:off x="523113" y="1520666"/>
            <a:ext cx="6070093" cy="4735831"/>
            <a:chOff x="523113" y="1520666"/>
            <a:chExt cx="6070093" cy="4735831"/>
          </a:xfrm>
        </p:grpSpPr>
        <p:sp>
          <p:nvSpPr>
            <p:cNvPr id="7" name="TextBox 7"/>
            <p:cNvSpPr txBox="1"/>
            <p:nvPr/>
          </p:nvSpPr>
          <p:spPr>
            <a:xfrm>
              <a:off x="523113" y="1520666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1558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3462" y="1839754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最优性原理、递推关系式、自底向上实现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39178" y="2119312"/>
              <a:ext cx="555402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3113" y="221980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1558" y="22479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多段图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3462" y="2538889"/>
              <a:ext cx="28385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向前处理与向后处理，COST 表与决策表 D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39178" y="2819400"/>
              <a:ext cx="555402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3113" y="2919889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1558" y="294798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货郎担问题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3462" y="3238976"/>
              <a:ext cx="2677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按子集规模递推 g(i,S)，时间 Θ(n²2ⁿ)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39178" y="3518535"/>
              <a:ext cx="555402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3113" y="3619024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1558" y="3647122"/>
              <a:ext cx="1236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0/1 背包问题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3462" y="3938111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二维表、一维变型、序偶对法及其改进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39178" y="4217670"/>
              <a:ext cx="555402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3113" y="431911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1558" y="434721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可靠性设计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3462" y="4638199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在成本约束下配置冗余设备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39178" y="4917758"/>
              <a:ext cx="555402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3113" y="5018246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1558" y="50463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最优二分检索树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33462" y="5337334"/>
              <a:ext cx="27790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预期成本，W、C、R 三张表，Knuth 优化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39178" y="5616892"/>
              <a:ext cx="555402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3113" y="571738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1558" y="574548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矩阵链乘积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3462" y="6036469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求乘法次数最少的加括号方式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6898005" y="1524000"/>
            <a:ext cx="4760595" cy="4688205"/>
            <a:chOff x="6898005" y="1524000"/>
            <a:chExt cx="4760595" cy="4688205"/>
          </a:xfrm>
        </p:grpSpPr>
        <p:sp>
          <p:nvSpPr>
            <p:cNvPr id="35" name="Rectangle 35"/>
            <p:cNvSpPr/>
            <p:nvPr/>
          </p:nvSpPr>
          <p:spPr>
            <a:xfrm>
              <a:off x="6898005" y="1524000"/>
              <a:ext cx="4760595" cy="4688205"/>
            </a:xfrm>
            <a:prstGeom prst="roundRect">
              <a:avLst>
                <a:gd name="adj" fmla="val 28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907530" y="1657350"/>
              <a:ext cx="47625" cy="442150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128510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211949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137082" y="212883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293102" y="207264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说出最优性原理，并为具体问题写出证明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137082" y="243173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293102" y="2375535"/>
              <a:ext cx="39484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为多段图、货郎担、0/1 背包写出状态定义、递推式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和边界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137082" y="299180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293102" y="2935605"/>
              <a:ext cx="36570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手工填出背包表、OBST 的 C/W/R 表、矩阵链的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m/s 表，并回溯出最优解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137082" y="355092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293102" y="3494722"/>
              <a:ext cx="36938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用序偶和支配规则求解 0/1 背包与可靠性设计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137082" y="385381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293102" y="379761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分析各算法的时间、空间复杂度，解释伪多项式时间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57622" cy="2997517"/>
            <a:chOff x="667512" y="1835468"/>
            <a:chExt cx="535762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动态规划的一般方法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适用什么问题，怎样写递推式，为什么要自底向上计算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多阶段决策问题与最优性原理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向前处理法与向后处理法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重叠子问题、备忘录与标记函数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动态规划的一般方法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动态规划求解多阶段决策的最优化问题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5735002" cy="3669030"/>
            <a:chOff x="533400" y="1524000"/>
            <a:chExt cx="5735002" cy="36690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735002" cy="3669030"/>
            </a:xfrm>
            <a:prstGeom prst="roundRect">
              <a:avLst>
                <a:gd name="adj" fmla="val 36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40233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适用问题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5922" y="176879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多阶段决策最优化问题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19265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12979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问题可以分成若干个阶段，每个阶段都要作出一个决策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5279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465070"/>
              <a:ext cx="40134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阶段的决策只依赖于第 i 阶段的当前状态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286321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280035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各阶段的决策都确定后，得到一个决策序列，由它算出一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个解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348424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342138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问题描述中一定存在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目标函数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，要求的是最优解和最优决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策序列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4573" y="4039076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这类问题也称多阶段决策优化问题或组合优化问题。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6573202" y="1524000"/>
            <a:ext cx="5085398" cy="1602105"/>
            <a:chOff x="6573202" y="1524000"/>
            <a:chExt cx="5085398" cy="1602105"/>
          </a:xfrm>
        </p:grpSpPr>
        <p:sp>
          <p:nvSpPr>
            <p:cNvPr id="22" name="Rectangle 22"/>
            <p:cNvSpPr/>
            <p:nvPr/>
          </p:nvSpPr>
          <p:spPr>
            <a:xfrm>
              <a:off x="6573202" y="1524000"/>
              <a:ext cx="5085398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582728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820852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11061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由来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13233" y="2110740"/>
              <a:ext cx="44062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世纪 50 年代，贝尔曼（R. Bellman）等人根据多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阶段决策问题的特性提出最优性原理，由此形成动态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规划这一算法设计方法。</a:t>
              </a:r>
            </a:p>
          </p:txBody>
        </p:sp>
      </p:grpSp>
      <p:grpSp>
        <p:nvGrpSpPr>
          <p:cNvPr id="41" name="c2-steps-2"/>
          <p:cNvGrpSpPr/>
          <p:nvPr/>
        </p:nvGrpSpPr>
        <p:grpSpPr>
          <a:xfrm>
            <a:off x="6573202" y="3326130"/>
            <a:ext cx="4733418" cy="1878615"/>
            <a:chOff x="6573202" y="3326130"/>
            <a:chExt cx="4733418" cy="1878615"/>
          </a:xfrm>
        </p:grpSpPr>
        <p:sp>
          <p:nvSpPr>
            <p:cNvPr id="28" name="Rectangle 28"/>
            <p:cNvSpPr/>
            <p:nvPr/>
          </p:nvSpPr>
          <p:spPr>
            <a:xfrm>
              <a:off x="6706552" y="3469005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6573202" y="332613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66826" y="33999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573202" y="397668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66826" y="40505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573202" y="462724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66826" y="47010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84683" y="336042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证明最优性原理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85826" y="3654266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说明原问题的最优决策序列包含子问题的最优决策序列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84683" y="401097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设计递推关系式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85826" y="4304824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用函数值表示最优解，写出原问题与子问题之间的关系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84683" y="466153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迭代实现程序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85826" y="4955381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从最小的子问题算起，自底向上填表，最后回溯出最优解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2" name="Rectangle 4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130" y="5991225"/>
              <a:ext cx="91020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判断能否用动态规划，先找阶段和状态：每一步做什么选择，选完之后剩下的是一个什么样的子问题。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动态规划的一般方法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最优性原理：最优决策序列的剩余部分也必须最优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951220" cy="1747838"/>
            <a:chOff x="533400" y="1524000"/>
            <a:chExt cx="5951220" cy="17478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747838"/>
            </a:xfrm>
            <a:prstGeom prst="roundRect">
              <a:avLst>
                <a:gd name="adj" fmla="val 76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8113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3343" y="175069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最优性原理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47647" y="1756410"/>
              <a:ext cx="21336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Principle of Optimality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53286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过程的最优决策序列具有如下性质：无论过程的初始状态和初始决策是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什么，其余的决策都必须相对于初始决策所产生的状态构成一个最优决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策序列。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8190" y="2903696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问题满足最优性原理时，称它具有最优子结构性质。</a:t>
              </a:r>
            </a:p>
          </p:txBody>
        </p:sp>
      </p:grpSp>
      <p:grpSp>
        <p:nvGrpSpPr>
          <p:cNvPr id="41" name="c1-flow-2"/>
          <p:cNvGrpSpPr/>
          <p:nvPr/>
        </p:nvGrpSpPr>
        <p:grpSpPr>
          <a:xfrm>
            <a:off x="666750" y="3656648"/>
            <a:ext cx="5684520" cy="405765"/>
            <a:chOff x="666750" y="3656648"/>
            <a:chExt cx="5684520" cy="405765"/>
          </a:xfrm>
        </p:grpSpPr>
        <p:sp>
          <p:nvSpPr>
            <p:cNvPr id="15" name="Freeform 15"/>
            <p:cNvSpPr/>
            <p:nvPr/>
          </p:nvSpPr>
          <p:spPr>
            <a:xfrm>
              <a:off x="1590675" y="386238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752600" y="38100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780348" y="386238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942272" y="38100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970972" y="386238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132898" y="38100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5160645" y="386238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322570" y="38100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66750" y="3663315"/>
              <a:ext cx="923925" cy="399098"/>
            </a:xfrm>
            <a:prstGeom prst="roundRect">
              <a:avLst>
                <a:gd name="adj" fmla="val 4988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1857375" y="3663315"/>
              <a:ext cx="923925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047048" y="3663315"/>
              <a:ext cx="923925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237672" y="3663315"/>
              <a:ext cx="923925" cy="399098"/>
            </a:xfrm>
            <a:prstGeom prst="roundRect">
              <a:avLst>
                <a:gd name="adj" fmla="val 23866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7345" y="3663315"/>
              <a:ext cx="923925" cy="399098"/>
            </a:xfrm>
            <a:prstGeom prst="roundRect">
              <a:avLst>
                <a:gd name="adj" fmla="val 4988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30997" y="378380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225050" y="3783806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15675" y="3783806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52457" y="37838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794056" y="3783806"/>
              <a:ext cx="1905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Sn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607820" y="3656648"/>
              <a:ext cx="232410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646512" y="3680936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797492" y="3656648"/>
              <a:ext cx="232410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836184" y="3680936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x2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988118" y="3656648"/>
              <a:ext cx="232410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026809" y="3680936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x3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178742" y="3656648"/>
              <a:ext cx="232410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16482" y="3680936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xn</a:t>
              </a:r>
            </a:p>
          </p:txBody>
        </p:sp>
      </p:grpSp>
      <p:grpSp>
        <p:nvGrpSpPr>
          <p:cNvPr id="52" name="c1-card-3"/>
          <p:cNvGrpSpPr/>
          <p:nvPr/>
        </p:nvGrpSpPr>
        <p:grpSpPr>
          <a:xfrm>
            <a:off x="533400" y="4453890"/>
            <a:ext cx="5951220" cy="1768792"/>
            <a:chOff x="533400" y="4453890"/>
            <a:chExt cx="5951220" cy="1768792"/>
          </a:xfrm>
        </p:grpSpPr>
        <p:sp>
          <p:nvSpPr>
            <p:cNvPr id="42" name="Rectangle 42"/>
            <p:cNvSpPr/>
            <p:nvPr/>
          </p:nvSpPr>
          <p:spPr>
            <a:xfrm>
              <a:off x="533400" y="4453890"/>
              <a:ext cx="5951220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542925" y="4587240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63905" y="464629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55345" y="468058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思考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63905" y="4991100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19583" y="502948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44702" y="5002530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任意子问题的最优决策序列都是原问题的部分最优决策序列吗？不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是，只有最优决策序列经过的状态才满足。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63905" y="5550217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19583" y="55886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44702" y="5562600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逆否命题：若其余决策相对初始决策产生的状态不是最优的，则整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个决策序列不是最优的。反证法用的正是这个形式。</a:t>
              </a:r>
            </a:p>
          </p:txBody>
        </p:sp>
      </p:grpSp>
      <p:grpSp>
        <p:nvGrpSpPr>
          <p:cNvPr id="70" name="c2-steps-1"/>
          <p:cNvGrpSpPr/>
          <p:nvPr/>
        </p:nvGrpSpPr>
        <p:grpSpPr>
          <a:xfrm>
            <a:off x="6789420" y="1533525"/>
            <a:ext cx="4684903" cy="2487453"/>
            <a:chOff x="6789420" y="1533525"/>
            <a:chExt cx="4684903" cy="2487453"/>
          </a:xfrm>
        </p:grpSpPr>
        <p:sp>
          <p:nvSpPr>
            <p:cNvPr id="53" name="Rectangle 53"/>
            <p:cNvSpPr/>
            <p:nvPr/>
          </p:nvSpPr>
          <p:spPr>
            <a:xfrm>
              <a:off x="6922770" y="1676400"/>
              <a:ext cx="19050" cy="17611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678942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8304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789420" y="21202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88304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789420" y="27070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883044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789420" y="329469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883044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201662" y="1564957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确定决策序列的形式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202805" y="1833086"/>
              <a:ext cx="18734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例如 x1 x2 … xn 各取什么值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201662" y="215265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确定初始状态和初始决策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202805" y="2419826"/>
              <a:ext cx="12779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例如第一步选了 x1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201662" y="273939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确定初始决策产生的状态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202805" y="3006566"/>
              <a:ext cx="1775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选完 x1 之后剩下的子问题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201662" y="332613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反证其余决策最优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202805" y="3593306"/>
              <a:ext cx="427151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x2 … xn 对这个子问题不是最优，换成更优的序列，整体会更好，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与假设矛盾</a:t>
              </a:r>
            </a:p>
          </p:txBody>
        </p:sp>
      </p:grpSp>
      <p:grpSp>
        <p:nvGrpSpPr>
          <p:cNvPr id="76" name="c2-callout-2"/>
          <p:cNvGrpSpPr/>
          <p:nvPr/>
        </p:nvGrpSpPr>
        <p:grpSpPr>
          <a:xfrm>
            <a:off x="6789420" y="4190048"/>
            <a:ext cx="4869180" cy="729615"/>
            <a:chOff x="6789420" y="4190048"/>
            <a:chExt cx="4869180" cy="729615"/>
          </a:xfrm>
        </p:grpSpPr>
        <p:sp>
          <p:nvSpPr>
            <p:cNvPr id="71" name="Rectangle 71"/>
            <p:cNvSpPr/>
            <p:nvPr/>
          </p:nvSpPr>
          <p:spPr>
            <a:xfrm>
              <a:off x="6789420" y="4190048"/>
              <a:ext cx="4869180" cy="729615"/>
            </a:xfrm>
            <a:prstGeom prst="roundRect">
              <a:avLst>
                <a:gd name="adj" fmla="val 15666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6994208" y="4454845"/>
              <a:ext cx="200023" cy="200023"/>
              <a:chOff x="6994208" y="4454845"/>
              <a:chExt cx="200023" cy="200023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6994208" y="445484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127558" y="45215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7296912" y="4335780"/>
              <a:ext cx="39570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推论：原问题的部分最优决策序列，一定是相应子问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题的最优决策序列。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02529" cy="909257"/>
            <a:chOff x="520446" y="342900"/>
            <a:chExt cx="77025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动态规划的一般方法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025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0/1 背包为例：形式化描述，再证明最优性原理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085398" cy="2326005"/>
            <a:chOff x="533400" y="1524000"/>
            <a:chExt cx="5085398" cy="23260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085398" cy="2326005"/>
            </a:xfrm>
            <a:prstGeom prst="roundRect">
              <a:avLst>
                <a:gd name="adj" fmla="val 57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5930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问题描述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434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个物品、容量为 M 的背包，物品要么整件装入，要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么不装。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3"/>
                <p:cNvSpPr txBox="1">
                  <a:spLocks noGrp="1"/>
                </p:cNvSpPr>
                <p:nvPr/>
              </p:nvSpPr>
              <p:spPr>
                <a:xfrm>
                  <a:off x="781050" y="2707005"/>
                  <a:ext cx="4628198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max</m:t>
                            </m:r>
                          </m:fName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sSub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func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+⋯+</m:t>
                        </m:r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4"/>
                <p:cNvSpPr txBox="1">
                  <a:spLocks noGrp="1"/>
                </p:cNvSpPr>
                <p:nvPr/>
              </p:nvSpPr>
              <p:spPr>
                <a:xfrm>
                  <a:off x="781050" y="3240405"/>
                  <a:ext cx="4628198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nor m:val="on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s.t.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+⋯+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∈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3" name="c1-kv-2"/>
          <p:cNvGrpSpPr/>
          <p:nvPr/>
        </p:nvGrpSpPr>
        <p:grpSpPr>
          <a:xfrm>
            <a:off x="525780" y="4065270"/>
            <a:ext cx="5093018" cy="1455420"/>
            <a:chOff x="525780" y="4065270"/>
            <a:chExt cx="5093018" cy="1455420"/>
          </a:xfrm>
        </p:grpSpPr>
        <p:sp>
          <p:nvSpPr>
            <p:cNvPr id="15" name="TextBox 15"/>
            <p:cNvSpPr txBox="1"/>
            <p:nvPr/>
          </p:nvSpPr>
          <p:spPr>
            <a:xfrm>
              <a:off x="525780" y="4065270"/>
              <a:ext cx="13719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KNAP(l, j, X)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54542" y="4065270"/>
              <a:ext cx="33775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考虑物品 l 到 j、容量为 X 的子问题，函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数值是最大效益和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4667250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5780" y="47872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参数含义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54542" y="4787265"/>
              <a:ext cx="29226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和 j 是问题边界，X 是约束条件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5107305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5780" y="522732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原问题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54542" y="5227320"/>
              <a:ext cx="14637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KNAP(1, n, M)</a:t>
              </a:r>
            </a:p>
          </p:txBody>
        </p:sp>
      </p:grpSp>
      <p:grpSp>
        <p:nvGrpSpPr>
          <p:cNvPr id="41" name="c2-steps-1"/>
          <p:cNvGrpSpPr/>
          <p:nvPr/>
        </p:nvGrpSpPr>
        <p:grpSpPr>
          <a:xfrm>
            <a:off x="5923598" y="1533525"/>
            <a:ext cx="5408040" cy="2998756"/>
            <a:chOff x="5923598" y="1533525"/>
            <a:chExt cx="5408040" cy="2998756"/>
          </a:xfrm>
        </p:grpSpPr>
        <p:sp>
          <p:nvSpPr>
            <p:cNvPr id="24" name="Rectangle 24"/>
            <p:cNvSpPr/>
            <p:nvPr/>
          </p:nvSpPr>
          <p:spPr>
            <a:xfrm>
              <a:off x="6056948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5923598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1722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923598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17221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923598" y="30699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17221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5923598" y="37204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017221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35078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36220" y="1861661"/>
              <a:ext cx="3437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x₁, x₂, …, xₙ 是 KNAP(1,n,M) 的最优序列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35078" y="2218372"/>
              <a:ext cx="10763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情形 x₁ = 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36220" y="2512219"/>
              <a:ext cx="49954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x₂, …, xₙ 必须是 KNAP(2,n,M) 的最优序列，否则 x₁, …, xₙ 也不是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原问题的最优序列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35078" y="3104198"/>
              <a:ext cx="10763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情形 x₁ = 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36220" y="3397091"/>
              <a:ext cx="37696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x₂, …, xₙ 必须是 KNAP(2,n,M−w₁) 的最优序列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35078" y="375475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36220" y="4048601"/>
              <a:ext cx="48166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若另有 0/1 序列 z₂, …, zₙ 满足 Σwᵢzᵢ ≤ M−w₁ 且 Σpᵢzᵢ &gt; Σpᵢxᵢ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（2≤i≤n），则 x₁, z₂, …, zₙ 是原问题效益更大的可行解，矛盾</a:t>
              </a:r>
            </a:p>
          </p:txBody>
        </p:sp>
      </p:grpSp>
      <p:grpSp>
        <p:nvGrpSpPr>
          <p:cNvPr id="47" name="c2-callout-2"/>
          <p:cNvGrpSpPr/>
          <p:nvPr/>
        </p:nvGrpSpPr>
        <p:grpSpPr>
          <a:xfrm>
            <a:off x="5923598" y="4711065"/>
            <a:ext cx="5735002" cy="782955"/>
            <a:chOff x="5923598" y="4711065"/>
            <a:chExt cx="5735002" cy="782955"/>
          </a:xfrm>
        </p:grpSpPr>
        <p:sp>
          <p:nvSpPr>
            <p:cNvPr id="42" name="Rectangle 42"/>
            <p:cNvSpPr/>
            <p:nvPr/>
          </p:nvSpPr>
          <p:spPr>
            <a:xfrm>
              <a:off x="5923598" y="4711065"/>
              <a:ext cx="5735002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128385" y="5002530"/>
              <a:ext cx="200026" cy="200026"/>
              <a:chOff x="6128385" y="5002530"/>
              <a:chExt cx="200026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128385" y="500253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195060" y="508031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430328" y="4859655"/>
              <a:ext cx="47682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两种情形下剩余决策都是子问题的最优序列，0/1 背包满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足最优性原理。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8" name="Rectangle 4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130" y="5991225"/>
              <a:ext cx="8092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证明套路：若剩余决策不是子问题的最优解，就能换出效益更大的解，与最优性假设矛盾。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动态规划的一般方法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两种递推方向：向前处理法与向后处理法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2816542"/>
            <a:chOff x="533400" y="1524000"/>
            <a:chExt cx="5410200" cy="28165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816542"/>
            </a:xfrm>
            <a:prstGeom prst="roundRect">
              <a:avLst>
                <a:gd name="adj" fmla="val 47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54984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8457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向前处理法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08797" y="176879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从最后阶段往前推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58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 xᵢ₊₁, …, xₙ 的最优决策序列，列出求 xᵢ 的关系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750820"/>
              <a:ext cx="45553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gⱼ(X) = KNAP(j+1, n, X)，原问题为 g₀(M)：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7"/>
                <p:cNvSpPr txBox="1">
                  <a:spLocks noGrp="1"/>
                </p:cNvSpPr>
                <p:nvPr/>
              </p:nvSpPr>
              <p:spPr>
                <a:xfrm>
                  <a:off x="781050" y="3061335"/>
                  <a:ext cx="49530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g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g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w</m:t>
                                        </m:r>
                                      </m:e>
                                      <m:sub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73430" y="3600450"/>
              <a:ext cx="41457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边界：X&lt;0 时 gₙ(X) = −∞，X≥0 时 gₙ(X) = 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4573" y="3932396"/>
              <a:ext cx="36056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右端点始终是 n，不起作用，所以函数里省去。</a:t>
              </a:r>
            </a:p>
          </p:txBody>
        </p:sp>
      </p:grpSp>
      <p:grpSp>
        <p:nvGrpSpPr>
          <p:cNvPr id="36" name="c1-flow-2"/>
          <p:cNvGrpSpPr/>
          <p:nvPr/>
        </p:nvGrpSpPr>
        <p:grpSpPr>
          <a:xfrm>
            <a:off x="666750" y="4750118"/>
            <a:ext cx="5143500" cy="438150"/>
            <a:chOff x="666750" y="4750118"/>
            <a:chExt cx="5143500" cy="438150"/>
          </a:xfrm>
        </p:grpSpPr>
        <p:sp>
          <p:nvSpPr>
            <p:cNvPr id="18" name="Freeform 18"/>
            <p:cNvSpPr/>
            <p:nvPr/>
          </p:nvSpPr>
          <p:spPr>
            <a:xfrm>
              <a:off x="1482090" y="496919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644015" y="49168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2564130" y="496919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726055" y="49168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3646170" y="496919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3808095" y="49168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4728210" y="496919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4890135" y="49168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66750" y="4750118"/>
              <a:ext cx="815340" cy="4381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748790" y="4750118"/>
              <a:ext cx="81534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830830" y="4750118"/>
              <a:ext cx="815340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912870" y="4750118"/>
              <a:ext cx="81534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94910" y="4750118"/>
              <a:ext cx="815340" cy="4381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68432" y="488013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gₙ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60438" y="488013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gₙ₋₁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84637" y="488013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19291" y="488013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121679" y="4880134"/>
              <a:ext cx="5618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g₀(M)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6248400" y="1524000"/>
            <a:ext cx="5410200" cy="2816542"/>
            <a:chOff x="6248400" y="1524000"/>
            <a:chExt cx="5410200" cy="2816542"/>
          </a:xfrm>
        </p:grpSpPr>
        <p:sp>
          <p:nvSpPr>
            <p:cNvPr id="37" name="Rectangle 37"/>
            <p:cNvSpPr/>
            <p:nvPr/>
          </p:nvSpPr>
          <p:spPr>
            <a:xfrm>
              <a:off x="6248400" y="1524000"/>
              <a:ext cx="5410200" cy="2816542"/>
            </a:xfrm>
            <a:prstGeom prst="roundRect">
              <a:avLst>
                <a:gd name="adj" fmla="val 47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57925" y="1657350"/>
              <a:ext cx="47625" cy="254984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96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73456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向后处理法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23798" y="176879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从初始阶段往后推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88430" y="2129790"/>
              <a:ext cx="4558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 x₁, …, xᵢ₋₁ 的最优决策序列，列出求 xᵢ 的关系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88430" y="2750820"/>
              <a:ext cx="43349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fᵢ(X) = KNAP(1, i, X)，原问题为 fₙ(M)：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formula8"/>
                <p:cNvSpPr txBox="1">
                  <a:spLocks noGrp="1"/>
                </p:cNvSpPr>
                <p:nvPr/>
              </p:nvSpPr>
              <p:spPr>
                <a:xfrm>
                  <a:off x="6496050" y="3061335"/>
                  <a:ext cx="49530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w</m:t>
                                        </m:r>
                                      </m:e>
                                      <m:sub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5" name="TextBox 45"/>
            <p:cNvSpPr txBox="1"/>
            <p:nvPr/>
          </p:nvSpPr>
          <p:spPr>
            <a:xfrm>
              <a:off x="6488430" y="3600450"/>
              <a:ext cx="41457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边界：X&lt;0 时 f₀(X) = −∞，X≥0 时 f₀(X) = 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89573" y="3932396"/>
              <a:ext cx="2227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左端点始终是 1，同样省去。</a:t>
              </a:r>
            </a:p>
          </p:txBody>
        </p:sp>
      </p:grpSp>
      <p:grpSp>
        <p:nvGrpSpPr>
          <p:cNvPr id="66" name="c2-flow-2"/>
          <p:cNvGrpSpPr/>
          <p:nvPr/>
        </p:nvGrpSpPr>
        <p:grpSpPr>
          <a:xfrm>
            <a:off x="6381750" y="4750118"/>
            <a:ext cx="5143500" cy="438150"/>
            <a:chOff x="6381750" y="4750118"/>
            <a:chExt cx="5143500" cy="438150"/>
          </a:xfrm>
        </p:grpSpPr>
        <p:sp>
          <p:nvSpPr>
            <p:cNvPr id="48" name="Freeform 48"/>
            <p:cNvSpPr/>
            <p:nvPr/>
          </p:nvSpPr>
          <p:spPr>
            <a:xfrm>
              <a:off x="7197090" y="496919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7359015" y="49168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8279130" y="496919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8441055" y="49168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9361170" y="496919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9523095" y="49168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10443210" y="496919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10605135" y="49168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381750" y="4750118"/>
              <a:ext cx="815340" cy="4381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463790" y="4750118"/>
              <a:ext cx="81534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8545830" y="4750118"/>
              <a:ext cx="815340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9627870" y="4750118"/>
              <a:ext cx="81534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709910" y="4750118"/>
              <a:ext cx="815340" cy="4381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683432" y="488013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f₀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770211" y="488013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f₁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899637" y="488013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839518" y="488013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fₙ₋₁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836679" y="4880134"/>
              <a:ext cx="5618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fₙ(M)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67" name="Rectangle 67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130" y="5728335"/>
              <a:ext cx="97688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两个式子都来自同一个分类：第 i 件不装，容量不变；第 i 件装入，容量减 wᵢ、效益加 pᵢ。−∞ 表示超重的方案不可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动态规划的一般方法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直接递归会反复求解同一个子问题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752850" cy="308039"/>
            <a:chOff x="525399" y="1550194"/>
            <a:chExt cx="775285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75285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例：n=4，p=(1,2,5,6)，w=(1,1,1,1)，M=4。结点 i,X 表示递归调用 f(i,X)。</a:t>
              </a:r>
            </a:p>
          </p:txBody>
        </p:sp>
      </p:grpSp>
      <p:grpSp>
        <p:nvGrpSpPr>
          <p:cNvPr id="71" name="c1-tree-1"/>
          <p:cNvGrpSpPr/>
          <p:nvPr/>
        </p:nvGrpSpPr>
        <p:grpSpPr>
          <a:xfrm>
            <a:off x="661035" y="2005965"/>
            <a:ext cx="10870883" cy="1828800"/>
            <a:chOff x="661035" y="2005965"/>
            <a:chExt cx="10870883" cy="1828800"/>
          </a:xfrm>
        </p:grpSpPr>
        <p:sp>
          <p:nvSpPr>
            <p:cNvPr id="9" name="Freeform 9"/>
            <p:cNvSpPr/>
            <p:nvPr/>
          </p:nvSpPr>
          <p:spPr>
            <a:xfrm>
              <a:off x="881062" y="3301365"/>
              <a:ext cx="347662" cy="381000"/>
            </a:xfrm>
            <a:custGeom>
              <a:avLst/>
              <a:gdLst/>
              <a:ahLst/>
              <a:cxnLst/>
              <a:rect l="l" t="t" r="r" b="b"/>
              <a:pathLst>
                <a:path w="347662" h="381000">
                  <a:moveTo>
                    <a:pt x="347662" y="0"/>
                  </a:moveTo>
                  <a:lnTo>
                    <a:pt x="0" y="381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228725" y="3301365"/>
              <a:ext cx="347662" cy="381000"/>
            </a:xfrm>
            <a:custGeom>
              <a:avLst/>
              <a:gdLst/>
              <a:ahLst/>
              <a:cxnLst/>
              <a:rect l="l" t="t" r="r" b="b"/>
              <a:pathLst>
                <a:path w="347662" h="381000">
                  <a:moveTo>
                    <a:pt x="0" y="0"/>
                  </a:moveTo>
                  <a:lnTo>
                    <a:pt x="347662" y="381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271712" y="3301365"/>
              <a:ext cx="347662" cy="381000"/>
            </a:xfrm>
            <a:custGeom>
              <a:avLst/>
              <a:gdLst/>
              <a:ahLst/>
              <a:cxnLst/>
              <a:rect l="l" t="t" r="r" b="b"/>
              <a:pathLst>
                <a:path w="347662" h="381000">
                  <a:moveTo>
                    <a:pt x="347662" y="0"/>
                  </a:moveTo>
                  <a:lnTo>
                    <a:pt x="0" y="381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619375" y="3301365"/>
              <a:ext cx="347662" cy="381000"/>
            </a:xfrm>
            <a:custGeom>
              <a:avLst/>
              <a:gdLst/>
              <a:ahLst/>
              <a:cxnLst/>
              <a:rect l="l" t="t" r="r" b="b"/>
              <a:pathLst>
                <a:path w="347662" h="381000">
                  <a:moveTo>
                    <a:pt x="0" y="0"/>
                  </a:moveTo>
                  <a:lnTo>
                    <a:pt x="347662" y="381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228725" y="2920365"/>
              <a:ext cx="695325" cy="381000"/>
            </a:xfrm>
            <a:custGeom>
              <a:avLst/>
              <a:gdLst/>
              <a:ahLst/>
              <a:cxnLst/>
              <a:rect l="l" t="t" r="r" b="b"/>
              <a:pathLst>
                <a:path w="695325" h="381000">
                  <a:moveTo>
                    <a:pt x="695325" y="0"/>
                  </a:moveTo>
                  <a:lnTo>
                    <a:pt x="0" y="381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924050" y="2920365"/>
              <a:ext cx="695325" cy="381000"/>
            </a:xfrm>
            <a:custGeom>
              <a:avLst/>
              <a:gdLst/>
              <a:ahLst/>
              <a:cxnLst/>
              <a:rect l="l" t="t" r="r" b="b"/>
              <a:pathLst>
                <a:path w="695325" h="381000">
                  <a:moveTo>
                    <a:pt x="0" y="0"/>
                  </a:moveTo>
                  <a:lnTo>
                    <a:pt x="695325" y="381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053012" y="3301365"/>
              <a:ext cx="347662" cy="381000"/>
            </a:xfrm>
            <a:custGeom>
              <a:avLst/>
              <a:gdLst/>
              <a:ahLst/>
              <a:cxnLst/>
              <a:rect l="l" t="t" r="r" b="b"/>
              <a:pathLst>
                <a:path w="347662" h="381000">
                  <a:moveTo>
                    <a:pt x="347662" y="0"/>
                  </a:moveTo>
                  <a:lnTo>
                    <a:pt x="0" y="381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400675" y="3301365"/>
              <a:ext cx="347662" cy="381000"/>
            </a:xfrm>
            <a:custGeom>
              <a:avLst/>
              <a:gdLst/>
              <a:ahLst/>
              <a:cxnLst/>
              <a:rect l="l" t="t" r="r" b="b"/>
              <a:pathLst>
                <a:path w="347662" h="381000">
                  <a:moveTo>
                    <a:pt x="0" y="0"/>
                  </a:moveTo>
                  <a:lnTo>
                    <a:pt x="347662" y="381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010025" y="2920365"/>
              <a:ext cx="695325" cy="381000"/>
            </a:xfrm>
            <a:custGeom>
              <a:avLst/>
              <a:gdLst/>
              <a:ahLst/>
              <a:cxnLst/>
              <a:rect l="l" t="t" r="r" b="b"/>
              <a:pathLst>
                <a:path w="695325" h="381000">
                  <a:moveTo>
                    <a:pt x="695325" y="0"/>
                  </a:moveTo>
                  <a:lnTo>
                    <a:pt x="0" y="381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705350" y="2920365"/>
              <a:ext cx="695325" cy="381000"/>
            </a:xfrm>
            <a:custGeom>
              <a:avLst/>
              <a:gdLst/>
              <a:ahLst/>
              <a:cxnLst/>
              <a:rect l="l" t="t" r="r" b="b"/>
              <a:pathLst>
                <a:path w="695325" h="381000">
                  <a:moveTo>
                    <a:pt x="0" y="0"/>
                  </a:moveTo>
                  <a:lnTo>
                    <a:pt x="695325" y="381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924050" y="2539365"/>
              <a:ext cx="1390650" cy="381000"/>
            </a:xfrm>
            <a:custGeom>
              <a:avLst/>
              <a:gdLst/>
              <a:ahLst/>
              <a:cxnLst/>
              <a:rect l="l" t="t" r="r" b="b"/>
              <a:pathLst>
                <a:path w="1390650" h="381000">
                  <a:moveTo>
                    <a:pt x="1390650" y="0"/>
                  </a:moveTo>
                  <a:lnTo>
                    <a:pt x="0" y="381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314700" y="2539365"/>
              <a:ext cx="1390650" cy="381000"/>
            </a:xfrm>
            <a:custGeom>
              <a:avLst/>
              <a:gdLst/>
              <a:ahLst/>
              <a:cxnLst/>
              <a:rect l="l" t="t" r="r" b="b"/>
              <a:pathLst>
                <a:path w="1390650" h="381000">
                  <a:moveTo>
                    <a:pt x="0" y="0"/>
                  </a:moveTo>
                  <a:lnTo>
                    <a:pt x="1390650" y="381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0615612" y="3301365"/>
              <a:ext cx="347662" cy="381000"/>
            </a:xfrm>
            <a:custGeom>
              <a:avLst/>
              <a:gdLst/>
              <a:ahLst/>
              <a:cxnLst/>
              <a:rect l="l" t="t" r="r" b="b"/>
              <a:pathLst>
                <a:path w="347662" h="381000">
                  <a:moveTo>
                    <a:pt x="347662" y="0"/>
                  </a:moveTo>
                  <a:lnTo>
                    <a:pt x="0" y="381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0963275" y="3301365"/>
              <a:ext cx="347662" cy="381000"/>
            </a:xfrm>
            <a:custGeom>
              <a:avLst/>
              <a:gdLst/>
              <a:ahLst/>
              <a:cxnLst/>
              <a:rect l="l" t="t" r="r" b="b"/>
              <a:pathLst>
                <a:path w="347662" h="381000">
                  <a:moveTo>
                    <a:pt x="0" y="0"/>
                  </a:moveTo>
                  <a:lnTo>
                    <a:pt x="347662" y="381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9572625" y="2920365"/>
              <a:ext cx="695325" cy="381000"/>
            </a:xfrm>
            <a:custGeom>
              <a:avLst/>
              <a:gdLst/>
              <a:ahLst/>
              <a:cxnLst/>
              <a:rect l="l" t="t" r="r" b="b"/>
              <a:pathLst>
                <a:path w="695325" h="381000">
                  <a:moveTo>
                    <a:pt x="695325" y="0"/>
                  </a:moveTo>
                  <a:lnTo>
                    <a:pt x="0" y="381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0267950" y="2920365"/>
              <a:ext cx="695325" cy="381000"/>
            </a:xfrm>
            <a:custGeom>
              <a:avLst/>
              <a:gdLst/>
              <a:ahLst/>
              <a:cxnLst/>
              <a:rect l="l" t="t" r="r" b="b"/>
              <a:pathLst>
                <a:path w="695325" h="381000">
                  <a:moveTo>
                    <a:pt x="0" y="0"/>
                  </a:moveTo>
                  <a:lnTo>
                    <a:pt x="695325" y="381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486650" y="2539365"/>
              <a:ext cx="1390650" cy="381000"/>
            </a:xfrm>
            <a:custGeom>
              <a:avLst/>
              <a:gdLst/>
              <a:ahLst/>
              <a:cxnLst/>
              <a:rect l="l" t="t" r="r" b="b"/>
              <a:pathLst>
                <a:path w="1390650" h="381000">
                  <a:moveTo>
                    <a:pt x="1390650" y="0"/>
                  </a:moveTo>
                  <a:lnTo>
                    <a:pt x="0" y="381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8877300" y="2539365"/>
              <a:ext cx="1390650" cy="381000"/>
            </a:xfrm>
            <a:custGeom>
              <a:avLst/>
              <a:gdLst/>
              <a:ahLst/>
              <a:cxnLst/>
              <a:rect l="l" t="t" r="r" b="b"/>
              <a:pathLst>
                <a:path w="1390650" h="381000">
                  <a:moveTo>
                    <a:pt x="0" y="0"/>
                  </a:moveTo>
                  <a:lnTo>
                    <a:pt x="1390650" y="381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314700" y="2158365"/>
              <a:ext cx="2781300" cy="381000"/>
            </a:xfrm>
            <a:custGeom>
              <a:avLst/>
              <a:gdLst/>
              <a:ahLst/>
              <a:cxnLst/>
              <a:rect l="l" t="t" r="r" b="b"/>
              <a:pathLst>
                <a:path w="2781300" h="381000">
                  <a:moveTo>
                    <a:pt x="2781300" y="0"/>
                  </a:moveTo>
                  <a:lnTo>
                    <a:pt x="0" y="381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096000" y="2158365"/>
              <a:ext cx="2781300" cy="381000"/>
            </a:xfrm>
            <a:custGeom>
              <a:avLst/>
              <a:gdLst/>
              <a:ahLst/>
              <a:cxnLst/>
              <a:rect l="l" t="t" r="r" b="b"/>
              <a:pathLst>
                <a:path w="2781300" h="381000">
                  <a:moveTo>
                    <a:pt x="0" y="0"/>
                  </a:moveTo>
                  <a:lnTo>
                    <a:pt x="2781300" y="381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61035" y="3529965"/>
              <a:ext cx="441008" cy="304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356360" y="3529965"/>
              <a:ext cx="441008" cy="304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008698" y="3148965"/>
              <a:ext cx="441008" cy="304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051685" y="3529965"/>
              <a:ext cx="441008" cy="304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747010" y="3529965"/>
              <a:ext cx="441008" cy="304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399348" y="3148965"/>
              <a:ext cx="441008" cy="304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704022" y="2767965"/>
              <a:ext cx="441008" cy="304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3789998" y="3148965"/>
              <a:ext cx="441008" cy="304800"/>
            </a:xfrm>
            <a:prstGeom prst="roundRect">
              <a:avLst>
                <a:gd name="adj" fmla="val 2500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4832985" y="3529965"/>
              <a:ext cx="441008" cy="304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528310" y="3529965"/>
              <a:ext cx="441008" cy="304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180648" y="3148965"/>
              <a:ext cx="441008" cy="304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4485322" y="2767965"/>
              <a:ext cx="441008" cy="304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3094672" y="2386965"/>
              <a:ext cx="441008" cy="304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266622" y="2767965"/>
              <a:ext cx="441008" cy="304800"/>
            </a:xfrm>
            <a:prstGeom prst="roundRect">
              <a:avLst>
                <a:gd name="adj" fmla="val 2500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352598" y="3148965"/>
              <a:ext cx="441008" cy="304800"/>
            </a:xfrm>
            <a:prstGeom prst="roundRect">
              <a:avLst>
                <a:gd name="adj" fmla="val 2500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395585" y="3529965"/>
              <a:ext cx="441008" cy="304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1090910" y="3529965"/>
              <a:ext cx="441008" cy="304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743248" y="3148965"/>
              <a:ext cx="441008" cy="304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047922" y="2767965"/>
              <a:ext cx="441008" cy="304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657272" y="2386965"/>
              <a:ext cx="441008" cy="304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5875972" y="2005965"/>
              <a:ext cx="441008" cy="304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53283" y="3616643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448608" y="3616643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00946" y="3235643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143933" y="3616643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839258" y="3616643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491596" y="3235643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796271" y="2854643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882246" y="3235643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925233" y="3616643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620558" y="3616643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272896" y="3235643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577571" y="2854643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186921" y="2473643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3,4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58871" y="2854643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444846" y="3235643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487833" y="3616643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183158" y="3616643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835496" y="3235643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1,1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140171" y="2854643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2,2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749521" y="2473643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3,3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968221" y="2092642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4,4</a:t>
              </a:r>
            </a:p>
          </p:txBody>
        </p:sp>
      </p:grpSp>
      <p:grpSp>
        <p:nvGrpSpPr>
          <p:cNvPr id="88" name="c1-compare-2"/>
          <p:cNvGrpSpPr/>
          <p:nvPr/>
        </p:nvGrpSpPr>
        <p:grpSpPr>
          <a:xfrm>
            <a:off x="533400" y="4063365"/>
            <a:ext cx="11125200" cy="1367790"/>
            <a:chOff x="533400" y="4063365"/>
            <a:chExt cx="11125200" cy="1367790"/>
          </a:xfrm>
        </p:grpSpPr>
        <p:sp>
          <p:nvSpPr>
            <p:cNvPr id="72" name="Rectangle 72"/>
            <p:cNvSpPr/>
            <p:nvPr/>
          </p:nvSpPr>
          <p:spPr>
            <a:xfrm>
              <a:off x="533400" y="4063365"/>
              <a:ext cx="5391150" cy="1367790"/>
            </a:xfrm>
            <a:prstGeom prst="roundRect">
              <a:avLst>
                <a:gd name="adj" fmla="val 97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542925" y="4196715"/>
              <a:ext cx="47625" cy="110109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73430" y="429768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自顶向下递归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786765" y="471487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44880" y="465201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橙色结点在别处已算过，图中省略其子树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786765" y="505015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44880" y="4987290"/>
              <a:ext cx="43365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完整展开共调用 31 次，不同的子问题只有 15 个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267450" y="4063365"/>
              <a:ext cx="5391150" cy="1367790"/>
            </a:xfrm>
            <a:prstGeom prst="roundRect">
              <a:avLst>
                <a:gd name="adj" fmla="val 97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6276975" y="4196715"/>
              <a:ext cx="47625" cy="11010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507480" y="429768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自底向上迭代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6520815" y="471487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678930" y="4652010"/>
              <a:ext cx="43340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i=0, 1, …, n 逐行计算，每个 (i,X) 只算一次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6520815" y="505015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678930" y="4987290"/>
              <a:ext cx="30660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表格 (n+1)×(M+1)，时间 Θ(nM)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5934075" y="458533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004415" y="468153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9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89" name="Rectangle 8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3" name="Group 93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4" name="TextBox 94"/>
            <p:cNvSpPr txBox="1"/>
            <p:nvPr/>
          </p:nvSpPr>
          <p:spPr>
            <a:xfrm>
              <a:off x="1040130" y="5991225"/>
              <a:ext cx="91323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更正：原课件把本例的重量写作 (w₁,w₂,w₃)=(1,1,1,1)，下标少了一个，应为 (w₁,w₂,w₃,w₄)。</a:t>
              </a:r>
            </a:p>
          </p:txBody>
        </p:sp>
      </p:grpSp>
      <p:grpSp>
        <p:nvGrpSpPr>
          <p:cNvPr id="9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6" name="TextBox 96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动态规划的一般方法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动态规划的设计步骤：函数、递推式、自底向上、回溯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852693" cy="2682717"/>
            <a:chOff x="533400" y="1533525"/>
            <a:chExt cx="5852693" cy="2682717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16312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164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060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798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69665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7704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1564957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证明最优性原理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1833086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说明原问题的最优决策序列中包含子问题的最优决策序列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14788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设计函数与递推关系式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416016"/>
              <a:ext cx="54165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函数值表示问题的最优解；参数集表示问题边界和约束条件，用来刻画问题规模；再由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最优性原理写出原问题与子问题的关系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93846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自底向上计算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3205639"/>
              <a:ext cx="531698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从最小的子问题开始迭代，算完所有规模为 1 的子问题再算规模为 2 的，直到原问题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规模；每个子问题只计算一次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72808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保存并回溯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996214"/>
              <a:ext cx="5439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计算中保存所有子问题的最优解和最优决策，最后由最优决策构造出最优决策序列</a:t>
              </a:r>
            </a:p>
          </p:txBody>
        </p:sp>
      </p:grpSp>
      <p:grpSp>
        <p:nvGrpSpPr>
          <p:cNvPr id="33" name="c1-card-2"/>
          <p:cNvGrpSpPr/>
          <p:nvPr/>
        </p:nvGrpSpPr>
        <p:grpSpPr>
          <a:xfrm>
            <a:off x="533400" y="4379595"/>
            <a:ext cx="6059805" cy="1743075"/>
            <a:chOff x="533400" y="4379595"/>
            <a:chExt cx="6059805" cy="1743075"/>
          </a:xfrm>
        </p:grpSpPr>
        <p:sp>
          <p:nvSpPr>
            <p:cNvPr id="25" name="Rectangle 25"/>
            <p:cNvSpPr/>
            <p:nvPr/>
          </p:nvSpPr>
          <p:spPr>
            <a:xfrm>
              <a:off x="533400" y="4379595"/>
              <a:ext cx="6059805" cy="1743075"/>
            </a:xfrm>
            <a:prstGeom prst="roundRect">
              <a:avLst>
                <a:gd name="adj" fmla="val 76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512945"/>
              <a:ext cx="47625" cy="147637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58190" y="4566285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4408" y="459914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动手前先过两道判别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66762" y="496728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2782" y="4911090"/>
              <a:ext cx="5157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最优子结构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用剪贴法验证：把最优解里对应某个子问题的那一段换成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更优的解，若能拼出更好的整体解，就与最优矛盾。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66762" y="552450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2782" y="5468302"/>
              <a:ext cx="526865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无后效性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：状态定下后，后续决策只看状态，与怎样走到它无关。不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满足时把影响未来的信息补进状态，如 g(i,S) 记下还没走过的结点。</a:t>
              </a:r>
            </a:p>
          </p:txBody>
        </p:sp>
      </p:grpSp>
      <p:grpSp>
        <p:nvGrpSpPr>
          <p:cNvPr id="42" name="c2-kv-1"/>
          <p:cNvGrpSpPr/>
          <p:nvPr/>
        </p:nvGrpSpPr>
        <p:grpSpPr>
          <a:xfrm>
            <a:off x="6891147" y="1545907"/>
            <a:ext cx="4767453" cy="1556576"/>
            <a:chOff x="6891147" y="1545907"/>
            <a:chExt cx="4767453" cy="1556576"/>
          </a:xfrm>
        </p:grpSpPr>
        <p:sp>
          <p:nvSpPr>
            <p:cNvPr id="34" name="TextBox 34"/>
            <p:cNvSpPr txBox="1"/>
            <p:nvPr/>
          </p:nvSpPr>
          <p:spPr>
            <a:xfrm>
              <a:off x="6891147" y="154590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备忘录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53172" y="1545907"/>
              <a:ext cx="34427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保存每个子问题最优解的存储空间，通常是表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格；重用子问题时直接查表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898005" y="208597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91147" y="219265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标记函数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53172" y="2192655"/>
              <a:ext cx="36141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保存每个子问题的最优决策，用来回溯出最优决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策序列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898005" y="273272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91147" y="28384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问题规模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53172" y="283845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由函数参数刻画，决定填表的先后顺序</a:t>
              </a:r>
            </a:p>
          </p:txBody>
        </p:sp>
      </p:grpSp>
      <p:grpSp>
        <p:nvGrpSpPr>
          <p:cNvPr id="59" name="c2-compare-2"/>
          <p:cNvGrpSpPr/>
          <p:nvPr/>
        </p:nvGrpSpPr>
        <p:grpSpPr>
          <a:xfrm>
            <a:off x="6898005" y="3219450"/>
            <a:ext cx="4760595" cy="1738312"/>
            <a:chOff x="6898005" y="3219450"/>
            <a:chExt cx="4760595" cy="1738312"/>
          </a:xfrm>
        </p:grpSpPr>
        <p:sp>
          <p:nvSpPr>
            <p:cNvPr id="43" name="Rectangle 43"/>
            <p:cNvSpPr/>
            <p:nvPr/>
          </p:nvSpPr>
          <p:spPr>
            <a:xfrm>
              <a:off x="6898005" y="3219450"/>
              <a:ext cx="2208848" cy="1738312"/>
            </a:xfrm>
            <a:prstGeom prst="roundRect">
              <a:avLst>
                <a:gd name="adj" fmla="val 76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907530" y="3352800"/>
              <a:ext cx="47625" cy="14716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115937" y="342804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自顶向下（记忆化）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131367" y="3801427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287387" y="3745230"/>
              <a:ext cx="1556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保留递归，进函数先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查表，算完存表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131367" y="435864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287387" y="4302442"/>
              <a:ext cx="1385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只算用得到的子问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题，递归开销大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449752" y="3219450"/>
              <a:ext cx="2208848" cy="1738312"/>
            </a:xfrm>
            <a:prstGeom prst="roundRect">
              <a:avLst>
                <a:gd name="adj" fmla="val 76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9459278" y="3352800"/>
              <a:ext cx="47625" cy="14716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667684" y="342804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自底向上（填表）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9683115" y="3801427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839134" y="3745230"/>
              <a:ext cx="1385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按规模从小到大循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环，没有递归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9683115" y="435864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839134" y="4302442"/>
              <a:ext cx="1556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全部子问题都算，可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用滚动数组省空间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9116378" y="392620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186718" y="402240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5" name="c2-callout-3"/>
          <p:cNvGrpSpPr/>
          <p:nvPr/>
        </p:nvGrpSpPr>
        <p:grpSpPr>
          <a:xfrm>
            <a:off x="6898005" y="5127308"/>
            <a:ext cx="4760595" cy="995362"/>
            <a:chOff x="6898005" y="5127308"/>
            <a:chExt cx="4760595" cy="995362"/>
          </a:xfrm>
        </p:grpSpPr>
        <p:sp>
          <p:nvSpPr>
            <p:cNvPr id="60" name="Rectangle 60"/>
            <p:cNvSpPr/>
            <p:nvPr/>
          </p:nvSpPr>
          <p:spPr>
            <a:xfrm>
              <a:off x="6898005" y="5127308"/>
              <a:ext cx="4760595" cy="995362"/>
            </a:xfrm>
            <a:prstGeom prst="roundRect">
              <a:avLst>
                <a:gd name="adj" fmla="val 11483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102793" y="5525455"/>
              <a:ext cx="200023" cy="200023"/>
              <a:chOff x="7102793" y="5525455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102793" y="552545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236143" y="55921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7405497" y="5282565"/>
              <a:ext cx="384562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填表顺序要保证算一格时它依赖的子问题已在表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里：背包按 i 逐行、OBST 按 j−i 递增、矩阵链按链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长递增。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动态规划的一般方法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动态规划的两个特征，以及它的优缺点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c1-image-1"/>
          <p:cNvGrpSpPr/>
          <p:nvPr/>
        </p:nvGrpSpPr>
        <p:grpSpPr>
          <a:xfrm>
            <a:off x="533400" y="1524000"/>
            <a:ext cx="5193982" cy="3172302"/>
            <a:chOff x="533400" y="1524000"/>
            <a:chExt cx="5193982" cy="3172302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0" t="13323" r="0" b="13323"/>
            <a:stretch>
              <a:fillRect/>
            </a:stretch>
          </p:blipFill>
          <p:spPr>
            <a:xfrm>
              <a:off x="533400" y="1524000"/>
              <a:ext cx="5193982" cy="2857500"/>
            </a:xfrm>
            <a:prstGeom prst="roundRect">
              <a:avLst>
                <a:gd name="adj" fmla="val 4666"/>
              </a:avLst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691843" y="4476274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算过的子问题记进表格，再遇到时直接查表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4861560"/>
            <a:ext cx="5193982" cy="1365885"/>
            <a:chOff x="533400" y="4861560"/>
            <a:chExt cx="5193982" cy="1365885"/>
          </a:xfrm>
        </p:grpSpPr>
        <p:sp>
          <p:nvSpPr>
            <p:cNvPr id="10" name="Rectangle 10"/>
            <p:cNvSpPr/>
            <p:nvPr/>
          </p:nvSpPr>
          <p:spPr>
            <a:xfrm>
              <a:off x="533400" y="4861560"/>
              <a:ext cx="5193982" cy="1365885"/>
            </a:xfrm>
            <a:prstGeom prst="roundRect">
              <a:avLst>
                <a:gd name="adj" fmla="val 97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42950" y="507111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5259" y="510682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两个特征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48665" y="551116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6780" y="544830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最优子结构性质：问题满足最优性原理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48665" y="584644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6780" y="578358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重叠子问题性质：同一个子问题在求解中被多次用到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032182" y="1524000"/>
            <a:ext cx="5626418" cy="1365885"/>
            <a:chOff x="6032182" y="1524000"/>
            <a:chExt cx="5626418" cy="1365885"/>
          </a:xfrm>
        </p:grpSpPr>
        <p:sp>
          <p:nvSpPr>
            <p:cNvPr id="18" name="Rectangle 18"/>
            <p:cNvSpPr/>
            <p:nvPr/>
          </p:nvSpPr>
          <p:spPr>
            <a:xfrm>
              <a:off x="6032182" y="1524000"/>
              <a:ext cx="5626418" cy="1365885"/>
            </a:xfrm>
            <a:prstGeom prst="roundRect">
              <a:avLst>
                <a:gd name="adj" fmla="val 97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41708" y="1657350"/>
              <a:ext cx="47625" cy="10991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79832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0041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285548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43662" y="211074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设计思想优于蛮力法：不必枚举全部决策序列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285548" y="250888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43662" y="244602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实现方法优于递归法：重叠的子问题只算一次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032182" y="3080385"/>
            <a:ext cx="5626418" cy="1662112"/>
            <a:chOff x="6032182" y="3080385"/>
            <a:chExt cx="5626418" cy="1662112"/>
          </a:xfrm>
        </p:grpSpPr>
        <p:sp>
          <p:nvSpPr>
            <p:cNvPr id="27" name="Rectangle 27"/>
            <p:cNvSpPr/>
            <p:nvPr/>
          </p:nvSpPr>
          <p:spPr>
            <a:xfrm>
              <a:off x="6032182" y="3080385"/>
              <a:ext cx="5626418" cy="1662112"/>
            </a:xfrm>
            <a:prstGeom prst="roundRect">
              <a:avLst>
                <a:gd name="adj" fmla="val 80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41708" y="3213735"/>
              <a:ext cx="47625" cy="139541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79832" y="32899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70041" y="33256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285548" y="372999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43662" y="366712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子问题重叠程度低时，时间复杂度的改进不明显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285548" y="406527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43662" y="400240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过大的空间需求是动态规划算法效率低下的主要因素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73356" y="4334351"/>
              <a:ext cx="50015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例如 0/1 背包的序偶对法最坏要保存 O(2ⁿ) 个序偶（6.4 节）。</a:t>
              </a:r>
            </a:p>
          </p:txBody>
        </p:sp>
      </p:grpSp>
      <p:grpSp>
        <p:nvGrpSpPr>
          <p:cNvPr id="43" name="c2-callout-3"/>
          <p:cNvGrpSpPr/>
          <p:nvPr/>
        </p:nvGrpSpPr>
        <p:grpSpPr>
          <a:xfrm>
            <a:off x="6032182" y="4932998"/>
            <a:ext cx="5626418" cy="1294448"/>
            <a:chOff x="6032182" y="4932998"/>
            <a:chExt cx="5626418" cy="1294448"/>
          </a:xfrm>
        </p:grpSpPr>
        <p:sp>
          <p:nvSpPr>
            <p:cNvPr id="37" name="Rectangle 37"/>
            <p:cNvSpPr/>
            <p:nvPr/>
          </p:nvSpPr>
          <p:spPr>
            <a:xfrm>
              <a:off x="6032182" y="4932998"/>
              <a:ext cx="5626418" cy="1294448"/>
            </a:xfrm>
            <a:prstGeom prst="roundRect">
              <a:avLst>
                <a:gd name="adj" fmla="val 883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236970" y="5480685"/>
              <a:ext cx="200026" cy="200025"/>
              <a:chOff x="6236970" y="5480685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236970" y="54806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276709" y="55251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311424" y="56362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538912" y="5337810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最优子结构保证递推式正确；重叠子问题决定用表格保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存结果是否划算。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579745" cy="3351847"/>
            <a:chOff x="667512" y="1835468"/>
            <a:chExt cx="5579745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多段图问题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分段有向图上的最小成本路径，演示完整的动态规划过程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问题描述与最优性原理证明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6446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向前处理：COST 递推式与 FGRAPH 算法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324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向后处理：BCOST 递推式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应用：资源分配问题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63833" cy="909257"/>
            <a:chOff x="520446" y="342900"/>
            <a:chExt cx="80638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多段图问题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638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多段图问题：分段有向图上求 s 到 t 的最小成本路径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3678555" cy="3228975"/>
            <a:chOff x="533400" y="1524000"/>
            <a:chExt cx="3678555" cy="32289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678555" cy="3228975"/>
            </a:xfrm>
            <a:prstGeom prst="roundRect">
              <a:avLst>
                <a:gd name="adj" fmla="val 4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96227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问题描述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2929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有向图 G=(V,E) 的结点被划分成 k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≥2 个不相交的集合 V₁,…,Vₖ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31770"/>
              <a:ext cx="27732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 只有源点 s，Vₖ 只有汇点 t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2991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67050"/>
              <a:ext cx="2815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每条边 &lt;u,v&gt; 都满足：u∈Vᵢ 时 v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∈Vᵢ₊₁，边上附有成本 c(u,v)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75094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688080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一条路径的成本是路径上各边成本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之和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6765" y="437197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4880" y="4309110"/>
              <a:ext cx="29028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目标：求 s 到 t 的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最小成本路径</a:t>
              </a:r>
            </a:p>
          </p:txBody>
        </p:sp>
      </p:grpSp>
      <p:grpSp>
        <p:nvGrpSpPr>
          <p:cNvPr id="28" name="c1-callout-2"/>
          <p:cNvGrpSpPr/>
          <p:nvPr/>
        </p:nvGrpSpPr>
        <p:grpSpPr>
          <a:xfrm>
            <a:off x="533400" y="4943475"/>
            <a:ext cx="3678555" cy="866775"/>
            <a:chOff x="533400" y="4943475"/>
            <a:chExt cx="3678555" cy="866775"/>
          </a:xfrm>
        </p:grpSpPr>
        <p:sp>
          <p:nvSpPr>
            <p:cNvPr id="22" name="Rectangle 22"/>
            <p:cNvSpPr/>
            <p:nvPr/>
          </p:nvSpPr>
          <p:spPr>
            <a:xfrm>
              <a:off x="533400" y="4943475"/>
              <a:ext cx="3678555" cy="866775"/>
            </a:xfrm>
            <a:prstGeom prst="roundRect">
              <a:avLst>
                <a:gd name="adj" fmla="val 1318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5276850"/>
              <a:ext cx="200026" cy="200026"/>
              <a:chOff x="738188" y="5276850"/>
              <a:chExt cx="200026" cy="20002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52768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38200" y="53435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27088" y="537686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130" y="5133975"/>
              <a:ext cx="27108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右图是一个 5 段图，本节的计算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都用它。</a:t>
              </a:r>
            </a:p>
          </p:txBody>
        </p:sp>
      </p:grpSp>
      <p:grpSp>
        <p:nvGrpSpPr>
          <p:cNvPr id="123" name="c2-graph-1"/>
          <p:cNvGrpSpPr/>
          <p:nvPr/>
        </p:nvGrpSpPr>
        <p:grpSpPr>
          <a:xfrm>
            <a:off x="4586879" y="1616869"/>
            <a:ext cx="7033029" cy="4010882"/>
            <a:chOff x="4586879" y="1616869"/>
            <a:chExt cx="7033029" cy="4010882"/>
          </a:xfrm>
        </p:grpSpPr>
        <p:sp>
          <p:nvSpPr>
            <p:cNvPr id="29" name="Freeform 29"/>
            <p:cNvSpPr/>
            <p:nvPr/>
          </p:nvSpPr>
          <p:spPr>
            <a:xfrm>
              <a:off x="4986338" y="2437448"/>
              <a:ext cx="1280160" cy="1327785"/>
            </a:xfrm>
            <a:custGeom>
              <a:avLst/>
              <a:gdLst/>
              <a:ahLst/>
              <a:cxnLst/>
              <a:rect l="l" t="t" r="r" b="b"/>
              <a:pathLst>
                <a:path w="1280160" h="1327785">
                  <a:moveTo>
                    <a:pt x="0" y="1327785"/>
                  </a:moveTo>
                  <a:lnTo>
                    <a:pt x="128016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6232208" y="2368868"/>
              <a:ext cx="100965" cy="101917"/>
            </a:xfrm>
            <a:custGeom>
              <a:avLst/>
              <a:gdLst/>
              <a:ahLst/>
              <a:cxnLst/>
              <a:rect l="l" t="t" r="r" b="b"/>
              <a:pathLst>
                <a:path w="100965" h="101917">
                  <a:moveTo>
                    <a:pt x="100965" y="0"/>
                  </a:moveTo>
                  <a:lnTo>
                    <a:pt x="68580" y="101917"/>
                  </a:lnTo>
                  <a:lnTo>
                    <a:pt x="0" y="3619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5027295" y="3409950"/>
              <a:ext cx="1175385" cy="417195"/>
            </a:xfrm>
            <a:custGeom>
              <a:avLst/>
              <a:gdLst/>
              <a:ahLst/>
              <a:cxnLst/>
              <a:rect l="l" t="t" r="r" b="b"/>
              <a:pathLst>
                <a:path w="1175385" h="417195">
                  <a:moveTo>
                    <a:pt x="0" y="417195"/>
                  </a:moveTo>
                  <a:lnTo>
                    <a:pt x="117538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187440" y="3365182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13335"/>
                  </a:moveTo>
                  <a:lnTo>
                    <a:pt x="31432" y="89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5028248" y="3931920"/>
              <a:ext cx="1172528" cy="383858"/>
            </a:xfrm>
            <a:custGeom>
              <a:avLst/>
              <a:gdLst/>
              <a:ahLst/>
              <a:cxnLst/>
              <a:rect l="l" t="t" r="r" b="b"/>
              <a:pathLst>
                <a:path w="1172528" h="383858">
                  <a:moveTo>
                    <a:pt x="0" y="0"/>
                  </a:moveTo>
                  <a:lnTo>
                    <a:pt x="1172528" y="3838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6186488" y="4270058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75247"/>
                  </a:moveTo>
                  <a:lnTo>
                    <a:pt x="0" y="91440"/>
                  </a:lnTo>
                  <a:lnTo>
                    <a:pt x="2952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4988242" y="3996690"/>
              <a:ext cx="1276350" cy="1287780"/>
            </a:xfrm>
            <a:custGeom>
              <a:avLst/>
              <a:gdLst/>
              <a:ahLst/>
              <a:cxnLst/>
              <a:rect l="l" t="t" r="r" b="b"/>
              <a:pathLst>
                <a:path w="1276350" h="1287780">
                  <a:moveTo>
                    <a:pt x="0" y="0"/>
                  </a:moveTo>
                  <a:lnTo>
                    <a:pt x="1276350" y="12877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6230302" y="5251132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965" y="100965"/>
                  </a:moveTo>
                  <a:lnTo>
                    <a:pt x="0" y="66675"/>
                  </a:lnTo>
                  <a:lnTo>
                    <a:pt x="6762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6603682" y="2286000"/>
              <a:ext cx="1232535" cy="257175"/>
            </a:xfrm>
            <a:custGeom>
              <a:avLst/>
              <a:gdLst/>
              <a:ahLst/>
              <a:cxnLst/>
              <a:rect l="l" t="t" r="r" b="b"/>
              <a:pathLst>
                <a:path w="1232535" h="257175">
                  <a:moveTo>
                    <a:pt x="0" y="0"/>
                  </a:moveTo>
                  <a:lnTo>
                    <a:pt x="1232535" y="2571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826692" y="2496502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65722"/>
                  </a:moveTo>
                  <a:lnTo>
                    <a:pt x="0" y="93345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6559868" y="2366962"/>
              <a:ext cx="1344930" cy="1333500"/>
            </a:xfrm>
            <a:custGeom>
              <a:avLst/>
              <a:gdLst/>
              <a:ahLst/>
              <a:cxnLst/>
              <a:rect l="l" t="t" r="r" b="b"/>
              <a:pathLst>
                <a:path w="1344930" h="1333500">
                  <a:moveTo>
                    <a:pt x="0" y="0"/>
                  </a:moveTo>
                  <a:lnTo>
                    <a:pt x="1344930" y="13335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871460" y="3666172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965" y="100965"/>
                  </a:moveTo>
                  <a:lnTo>
                    <a:pt x="0" y="67628"/>
                  </a:lnTo>
                  <a:lnTo>
                    <a:pt x="6762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6524625" y="2393632"/>
              <a:ext cx="1437322" cy="2549842"/>
            </a:xfrm>
            <a:custGeom>
              <a:avLst/>
              <a:gdLst/>
              <a:ahLst/>
              <a:cxnLst/>
              <a:rect l="l" t="t" r="r" b="b"/>
              <a:pathLst>
                <a:path w="1437322" h="2549842">
                  <a:moveTo>
                    <a:pt x="0" y="0"/>
                  </a:moveTo>
                  <a:lnTo>
                    <a:pt x="1437322" y="25498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7920038" y="4919662"/>
              <a:ext cx="88582" cy="106680"/>
            </a:xfrm>
            <a:custGeom>
              <a:avLst/>
              <a:gdLst/>
              <a:ahLst/>
              <a:cxnLst/>
              <a:rect l="l" t="t" r="r" b="b"/>
              <a:pathLst>
                <a:path w="88582" h="106680">
                  <a:moveTo>
                    <a:pt x="88582" y="106680"/>
                  </a:moveTo>
                  <a:lnTo>
                    <a:pt x="0" y="46672"/>
                  </a:lnTo>
                  <a:lnTo>
                    <a:pt x="8286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6593205" y="2699385"/>
              <a:ext cx="1259205" cy="559118"/>
            </a:xfrm>
            <a:custGeom>
              <a:avLst/>
              <a:gdLst/>
              <a:ahLst/>
              <a:cxnLst/>
              <a:rect l="l" t="t" r="r" b="b"/>
              <a:pathLst>
                <a:path w="1259205" h="559118">
                  <a:moveTo>
                    <a:pt x="0" y="559118"/>
                  </a:moveTo>
                  <a:lnTo>
                    <a:pt x="12592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833360" y="2656522"/>
              <a:ext cx="106680" cy="86678"/>
            </a:xfrm>
            <a:custGeom>
              <a:avLst/>
              <a:gdLst/>
              <a:ahLst/>
              <a:cxnLst/>
              <a:rect l="l" t="t" r="r" b="b"/>
              <a:pathLst>
                <a:path w="106680" h="86678">
                  <a:moveTo>
                    <a:pt x="106680" y="4762"/>
                  </a:moveTo>
                  <a:lnTo>
                    <a:pt x="39053" y="86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6598920" y="3376612"/>
              <a:ext cx="1245870" cy="421958"/>
            </a:xfrm>
            <a:custGeom>
              <a:avLst/>
              <a:gdLst/>
              <a:ahLst/>
              <a:cxnLst/>
              <a:rect l="l" t="t" r="r" b="b"/>
              <a:pathLst>
                <a:path w="1245870" h="421958">
                  <a:moveTo>
                    <a:pt x="0" y="0"/>
                  </a:moveTo>
                  <a:lnTo>
                    <a:pt x="1245870" y="4219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7828598" y="3753802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75247"/>
                  </a:moveTo>
                  <a:lnTo>
                    <a:pt x="0" y="90488"/>
                  </a:lnTo>
                  <a:lnTo>
                    <a:pt x="3143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6592252" y="4464368"/>
              <a:ext cx="1263015" cy="593408"/>
            </a:xfrm>
            <a:custGeom>
              <a:avLst/>
              <a:gdLst/>
              <a:ahLst/>
              <a:cxnLst/>
              <a:rect l="l" t="t" r="r" b="b"/>
              <a:pathLst>
                <a:path w="1263015" h="593408">
                  <a:moveTo>
                    <a:pt x="0" y="0"/>
                  </a:moveTo>
                  <a:lnTo>
                    <a:pt x="1263015" y="5934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7835265" y="5014912"/>
              <a:ext cx="105728" cy="85725"/>
            </a:xfrm>
            <a:custGeom>
              <a:avLst/>
              <a:gdLst/>
              <a:ahLst/>
              <a:cxnLst/>
              <a:rect l="l" t="t" r="r" b="b"/>
              <a:pathLst>
                <a:path w="105728" h="85725">
                  <a:moveTo>
                    <a:pt x="105728" y="83820"/>
                  </a:moveTo>
                  <a:lnTo>
                    <a:pt x="0" y="85725"/>
                  </a:lnTo>
                  <a:lnTo>
                    <a:pt x="4000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6561772" y="4060508"/>
              <a:ext cx="1341120" cy="1294448"/>
            </a:xfrm>
            <a:custGeom>
              <a:avLst/>
              <a:gdLst/>
              <a:ahLst/>
              <a:cxnLst/>
              <a:rect l="l" t="t" r="r" b="b"/>
              <a:pathLst>
                <a:path w="1341120" h="1294448">
                  <a:moveTo>
                    <a:pt x="0" y="1294448"/>
                  </a:moveTo>
                  <a:lnTo>
                    <a:pt x="13411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7869555" y="3993832"/>
              <a:ext cx="101917" cy="100965"/>
            </a:xfrm>
            <a:custGeom>
              <a:avLst/>
              <a:gdLst/>
              <a:ahLst/>
              <a:cxnLst/>
              <a:rect l="l" t="t" r="r" b="b"/>
              <a:pathLst>
                <a:path w="101917" h="100965">
                  <a:moveTo>
                    <a:pt x="101917" y="0"/>
                  </a:moveTo>
                  <a:lnTo>
                    <a:pt x="66675" y="100965"/>
                  </a:lnTo>
                  <a:lnTo>
                    <a:pt x="0" y="3238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6604635" y="5213985"/>
              <a:ext cx="1230630" cy="223838"/>
            </a:xfrm>
            <a:custGeom>
              <a:avLst/>
              <a:gdLst/>
              <a:ahLst/>
              <a:cxnLst/>
              <a:rect l="l" t="t" r="r" b="b"/>
              <a:pathLst>
                <a:path w="1230630" h="223838">
                  <a:moveTo>
                    <a:pt x="0" y="223838"/>
                  </a:moveTo>
                  <a:lnTo>
                    <a:pt x="123063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7826692" y="5166360"/>
              <a:ext cx="101917" cy="94297"/>
            </a:xfrm>
            <a:custGeom>
              <a:avLst/>
              <a:gdLst/>
              <a:ahLst/>
              <a:cxnLst/>
              <a:rect l="l" t="t" r="r" b="b"/>
              <a:pathLst>
                <a:path w="101917" h="94297">
                  <a:moveTo>
                    <a:pt x="101917" y="30480"/>
                  </a:moveTo>
                  <a:lnTo>
                    <a:pt x="17145" y="942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8249602" y="2595562"/>
              <a:ext cx="1223962" cy="9525"/>
            </a:xfrm>
            <a:custGeom>
              <a:avLst/>
              <a:gdLst/>
              <a:ahLst/>
              <a:cxnLst/>
              <a:rect l="l" t="t" r="r" b="b"/>
              <a:pathLst>
                <a:path w="1223962" h="9525">
                  <a:moveTo>
                    <a:pt x="0" y="0"/>
                  </a:moveTo>
                  <a:lnTo>
                    <a:pt x="122396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9473565" y="25479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8215312" y="2695575"/>
              <a:ext cx="1288732" cy="1008697"/>
            </a:xfrm>
            <a:custGeom>
              <a:avLst/>
              <a:gdLst/>
              <a:ahLst/>
              <a:cxnLst/>
              <a:rect l="l" t="t" r="r" b="b"/>
              <a:pathLst>
                <a:path w="1288732" h="1008697">
                  <a:moveTo>
                    <a:pt x="0" y="0"/>
                  </a:moveTo>
                  <a:lnTo>
                    <a:pt x="1288732" y="10086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9474518" y="3666172"/>
              <a:ext cx="103822" cy="96203"/>
            </a:xfrm>
            <a:custGeom>
              <a:avLst/>
              <a:gdLst/>
              <a:ahLst/>
              <a:cxnLst/>
              <a:rect l="l" t="t" r="r" b="b"/>
              <a:pathLst>
                <a:path w="103822" h="96203">
                  <a:moveTo>
                    <a:pt x="103822" y="96203"/>
                  </a:moveTo>
                  <a:lnTo>
                    <a:pt x="0" y="75248"/>
                  </a:lnTo>
                  <a:lnTo>
                    <a:pt x="5810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8215312" y="2753678"/>
              <a:ext cx="1312545" cy="1027747"/>
            </a:xfrm>
            <a:custGeom>
              <a:avLst/>
              <a:gdLst/>
              <a:ahLst/>
              <a:cxnLst/>
              <a:rect l="l" t="t" r="r" b="b"/>
              <a:pathLst>
                <a:path w="1312545" h="1027747">
                  <a:moveTo>
                    <a:pt x="0" y="1027747"/>
                  </a:moveTo>
                  <a:lnTo>
                    <a:pt x="13125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9498330" y="2695575"/>
              <a:ext cx="104775" cy="96203"/>
            </a:xfrm>
            <a:custGeom>
              <a:avLst/>
              <a:gdLst/>
              <a:ahLst/>
              <a:cxnLst/>
              <a:rect l="l" t="t" r="r" b="b"/>
              <a:pathLst>
                <a:path w="104775" h="96203">
                  <a:moveTo>
                    <a:pt x="104775" y="0"/>
                  </a:moveTo>
                  <a:lnTo>
                    <a:pt x="59055" y="96203"/>
                  </a:lnTo>
                  <a:lnTo>
                    <a:pt x="0" y="2095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8249602" y="3881438"/>
              <a:ext cx="1192530" cy="9525"/>
            </a:xfrm>
            <a:custGeom>
              <a:avLst/>
              <a:gdLst/>
              <a:ahLst/>
              <a:cxnLst/>
              <a:rect l="l" t="t" r="r" b="b"/>
              <a:pathLst>
                <a:path w="1192530" h="9525">
                  <a:moveTo>
                    <a:pt x="0" y="0"/>
                  </a:moveTo>
                  <a:lnTo>
                    <a:pt x="119253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9442132" y="38338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8215312" y="4058602"/>
              <a:ext cx="1288732" cy="1008697"/>
            </a:xfrm>
            <a:custGeom>
              <a:avLst/>
              <a:gdLst/>
              <a:ahLst/>
              <a:cxnLst/>
              <a:rect l="l" t="t" r="r" b="b"/>
              <a:pathLst>
                <a:path w="1288732" h="1008697">
                  <a:moveTo>
                    <a:pt x="0" y="1008697"/>
                  </a:moveTo>
                  <a:lnTo>
                    <a:pt x="128873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9474518" y="4000500"/>
              <a:ext cx="103822" cy="96203"/>
            </a:xfrm>
            <a:custGeom>
              <a:avLst/>
              <a:gdLst/>
              <a:ahLst/>
              <a:cxnLst/>
              <a:rect l="l" t="t" r="r" b="b"/>
              <a:pathLst>
                <a:path w="103822" h="96203">
                  <a:moveTo>
                    <a:pt x="103822" y="0"/>
                  </a:moveTo>
                  <a:lnTo>
                    <a:pt x="58102" y="96203"/>
                  </a:lnTo>
                  <a:lnTo>
                    <a:pt x="0" y="2095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8249602" y="5167312"/>
              <a:ext cx="1192530" cy="9525"/>
            </a:xfrm>
            <a:custGeom>
              <a:avLst/>
              <a:gdLst/>
              <a:ahLst/>
              <a:cxnLst/>
              <a:rect l="l" t="t" r="r" b="b"/>
              <a:pathLst>
                <a:path w="1192530" h="9525">
                  <a:moveTo>
                    <a:pt x="0" y="0"/>
                  </a:moveTo>
                  <a:lnTo>
                    <a:pt x="119253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9442132" y="51196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9855518" y="2698432"/>
              <a:ext cx="1223010" cy="1000125"/>
            </a:xfrm>
            <a:custGeom>
              <a:avLst/>
              <a:gdLst/>
              <a:ahLst/>
              <a:cxnLst/>
              <a:rect l="l" t="t" r="r" b="b"/>
              <a:pathLst>
                <a:path w="1223010" h="1000125">
                  <a:moveTo>
                    <a:pt x="0" y="0"/>
                  </a:moveTo>
                  <a:lnTo>
                    <a:pt x="1223010" y="10001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11048048" y="3662362"/>
              <a:ext cx="103822" cy="97155"/>
            </a:xfrm>
            <a:custGeom>
              <a:avLst/>
              <a:gdLst/>
              <a:ahLst/>
              <a:cxnLst/>
              <a:rect l="l" t="t" r="r" b="b"/>
              <a:pathLst>
                <a:path w="103822" h="97155">
                  <a:moveTo>
                    <a:pt x="103822" y="97155"/>
                  </a:moveTo>
                  <a:lnTo>
                    <a:pt x="0" y="73342"/>
                  </a:lnTo>
                  <a:lnTo>
                    <a:pt x="6096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9923145" y="3881438"/>
              <a:ext cx="1090612" cy="9525"/>
            </a:xfrm>
            <a:custGeom>
              <a:avLst/>
              <a:gdLst/>
              <a:ahLst/>
              <a:cxnLst/>
              <a:rect l="l" t="t" r="r" b="b"/>
              <a:pathLst>
                <a:path w="1090612" h="9525">
                  <a:moveTo>
                    <a:pt x="0" y="0"/>
                  </a:moveTo>
                  <a:lnTo>
                    <a:pt x="109061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11013758" y="38338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9" name="Freeform 69"/>
            <p:cNvSpPr/>
            <p:nvPr/>
          </p:nvSpPr>
          <p:spPr>
            <a:xfrm>
              <a:off x="9879330" y="4064318"/>
              <a:ext cx="1199197" cy="981075"/>
            </a:xfrm>
            <a:custGeom>
              <a:avLst/>
              <a:gdLst/>
              <a:ahLst/>
              <a:cxnLst/>
              <a:rect l="l" t="t" r="r" b="b"/>
              <a:pathLst>
                <a:path w="1199197" h="981075">
                  <a:moveTo>
                    <a:pt x="0" y="981075"/>
                  </a:moveTo>
                  <a:lnTo>
                    <a:pt x="119919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11048048" y="4003358"/>
              <a:ext cx="103822" cy="97155"/>
            </a:xfrm>
            <a:custGeom>
              <a:avLst/>
              <a:gdLst/>
              <a:ahLst/>
              <a:cxnLst/>
              <a:rect l="l" t="t" r="r" b="b"/>
              <a:pathLst>
                <a:path w="103822" h="97155">
                  <a:moveTo>
                    <a:pt x="103822" y="0"/>
                  </a:moveTo>
                  <a:lnTo>
                    <a:pt x="60960" y="97155"/>
                  </a:lnTo>
                  <a:lnTo>
                    <a:pt x="0" y="2381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4721542" y="3729038"/>
              <a:ext cx="304800" cy="3048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6293168" y="210026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6293168" y="317182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6293168" y="424338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6293168" y="531495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7935278" y="244316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7" name="Ellipse 77"/>
            <p:cNvSpPr/>
            <p:nvPr/>
          </p:nvSpPr>
          <p:spPr>
            <a:xfrm>
              <a:off x="7935278" y="372903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8" name="Ellipse 78"/>
            <p:cNvSpPr/>
            <p:nvPr/>
          </p:nvSpPr>
          <p:spPr>
            <a:xfrm>
              <a:off x="7935278" y="501491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9" name="Ellipse 79"/>
            <p:cNvSpPr/>
            <p:nvPr/>
          </p:nvSpPr>
          <p:spPr>
            <a:xfrm>
              <a:off x="9578340" y="244316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0" name="Ellipse 80"/>
            <p:cNvSpPr/>
            <p:nvPr/>
          </p:nvSpPr>
          <p:spPr>
            <a:xfrm>
              <a:off x="9547860" y="3698558"/>
              <a:ext cx="365760" cy="3657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1" name="Ellipse 81"/>
            <p:cNvSpPr/>
            <p:nvPr/>
          </p:nvSpPr>
          <p:spPr>
            <a:xfrm>
              <a:off x="9547860" y="4984432"/>
              <a:ext cx="365760" cy="3657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2" name="Ellipse 82"/>
            <p:cNvSpPr/>
            <p:nvPr/>
          </p:nvSpPr>
          <p:spPr>
            <a:xfrm>
              <a:off x="11118532" y="3698558"/>
              <a:ext cx="365760" cy="36576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4821201" y="38071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4586879" y="382095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392826" y="21783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392826" y="324993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392826" y="432149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392826" y="53930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034936" y="25212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034936" y="38071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034936" y="509301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677998" y="25212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631352" y="380714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9631352" y="509301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202025" y="380714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537442" y="382095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4776227" y="161686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6347852" y="161686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7989962" y="161686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633024" y="161686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203697" y="161686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V₅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5709100" y="30941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5659570" y="36561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5581465" y="419147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5530983" y="47020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201668" y="247697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7301680" y="325802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7201668" y="38533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7523613" y="290179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6859720" y="35447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7292161" y="492490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7163574" y="442769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7244530" y="53706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8865685" y="263985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8544693" y="308657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8694235" y="34723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8865685" y="39257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8944743" y="456485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8865685" y="521160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10394448" y="32751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10472553" y="39257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10551610" y="456104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12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4" name="TextBox 12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47509" cy="909257"/>
            <a:chOff x="520446" y="342900"/>
            <a:chExt cx="73475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多段图问题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475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最优性原理成立，按向前处理写出 COST 递推式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061509" cy="2632139"/>
            <a:chOff x="533400" y="1533525"/>
            <a:chExt cx="5061509" cy="263213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862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75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3956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156638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假设最短路径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1846898"/>
              <a:ext cx="35500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s, v₂, v₃, …, vₖ₋₁, t 是一条 s 到 t 的最短路径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18741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初始决策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2467927"/>
              <a:ext cx="38811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s 出发已决定走到 v₂，v₂ 就是初始决策产生的状态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80844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子问题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088957"/>
              <a:ext cx="46485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v₂ 为初始状态，求 v₂ 到 t 的最短路径，它应是 v₂, v₃, …, 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42947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709988"/>
              <a:ext cx="44851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v₂, q₃, …, qₖ₋₁, t 更短，则 s, v₂, q₃, …, t 比原路径更短，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与假设矛盾</a:t>
              </a:r>
            </a:p>
          </p:txBody>
        </p:sp>
      </p:grpSp>
      <p:grpSp>
        <p:nvGrpSpPr>
          <p:cNvPr id="30" name="c1-callout-2"/>
          <p:cNvGrpSpPr/>
          <p:nvPr/>
        </p:nvGrpSpPr>
        <p:grpSpPr>
          <a:xfrm>
            <a:off x="533400" y="4341495"/>
            <a:ext cx="5085398" cy="1232535"/>
            <a:chOff x="533400" y="4341495"/>
            <a:chExt cx="5085398" cy="1232535"/>
          </a:xfrm>
        </p:grpSpPr>
        <p:sp>
          <p:nvSpPr>
            <p:cNvPr id="25" name="Rectangle 25"/>
            <p:cNvSpPr/>
            <p:nvPr/>
          </p:nvSpPr>
          <p:spPr>
            <a:xfrm>
              <a:off x="533400" y="4341495"/>
              <a:ext cx="5085398" cy="1232535"/>
            </a:xfrm>
            <a:prstGeom prst="roundRect">
              <a:avLst>
                <a:gd name="adj" fmla="val 9274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4857750"/>
              <a:ext cx="200026" cy="200026"/>
              <a:chOff x="738188" y="4857750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48577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04863" y="493553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511" y="4858226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因此多段图问题满足最优性原理。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5923598" y="1524000"/>
            <a:ext cx="5735002" cy="2478405"/>
            <a:chOff x="5923598" y="1524000"/>
            <a:chExt cx="5735002" cy="2478405"/>
          </a:xfrm>
        </p:grpSpPr>
        <p:sp>
          <p:nvSpPr>
            <p:cNvPr id="31" name="Rectangle 31"/>
            <p:cNvSpPr/>
            <p:nvPr/>
          </p:nvSpPr>
          <p:spPr>
            <a:xfrm>
              <a:off x="5923598" y="1524000"/>
              <a:ext cx="5735002" cy="2478405"/>
            </a:xfrm>
            <a:prstGeom prst="roundRect">
              <a:avLst>
                <a:gd name="adj" fmla="val 53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933122" y="1657350"/>
              <a:ext cx="47625" cy="221170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165532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47841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向前处理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58294" y="2100739"/>
              <a:ext cx="491972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P(i,j)：从 Vᵢ 中结点 j 到汇点 t 的最小成本路径，COST(i,j)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是它的成本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formula13"/>
                <p:cNvSpPr txBox="1">
                  <a:spLocks noGrp="1"/>
                </p:cNvSpPr>
                <p:nvPr/>
              </p:nvSpPr>
              <p:spPr>
                <a:xfrm>
                  <a:off x="6165532" y="2668905"/>
                  <a:ext cx="5289232" cy="5200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COST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∈</m:t>
                                </m:r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d>
                                  <m:dPr>
                                    <m:begChr m:val="⟨"/>
                                    <m:sepChr m:val=""/>
                                    <m:endChr m:val="⟩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∈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COST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7" name="TextBox 37"/>
            <p:cNvSpPr txBox="1"/>
            <p:nvPr/>
          </p:nvSpPr>
          <p:spPr>
            <a:xfrm>
              <a:off x="6158294" y="3304699"/>
              <a:ext cx="481152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边界（i=k−1）：若 &lt;j,t&gt;∈E，COST(k−1,j) = c(j,t)；否则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COST(k−1,j) = ∞</a:t>
              </a:r>
            </a:p>
          </p:txBody>
        </p:sp>
      </p:grpSp>
      <p:grpSp>
        <p:nvGrpSpPr>
          <p:cNvPr id="65" name="c2-graph-2"/>
          <p:cNvGrpSpPr/>
          <p:nvPr/>
        </p:nvGrpSpPr>
        <p:grpSpPr>
          <a:xfrm>
            <a:off x="6230302" y="4251008"/>
            <a:ext cx="5007293" cy="1260157"/>
            <a:chOff x="6230302" y="4251008"/>
            <a:chExt cx="5007293" cy="1260157"/>
          </a:xfrm>
        </p:grpSpPr>
        <p:sp>
          <p:nvSpPr>
            <p:cNvPr id="39" name="Freeform 39"/>
            <p:cNvSpPr/>
            <p:nvPr/>
          </p:nvSpPr>
          <p:spPr>
            <a:xfrm>
              <a:off x="6540818" y="4467225"/>
              <a:ext cx="1705927" cy="379095"/>
            </a:xfrm>
            <a:custGeom>
              <a:avLst/>
              <a:gdLst/>
              <a:ahLst/>
              <a:cxnLst/>
              <a:rect l="l" t="t" r="r" b="b"/>
              <a:pathLst>
                <a:path w="1705927" h="379095">
                  <a:moveTo>
                    <a:pt x="0" y="379095"/>
                  </a:moveTo>
                  <a:lnTo>
                    <a:pt x="170592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237220" y="4420552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25717"/>
                  </a:moveTo>
                  <a:lnTo>
                    <a:pt x="20003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6540818" y="4915852"/>
              <a:ext cx="1705927" cy="379095"/>
            </a:xfrm>
            <a:custGeom>
              <a:avLst/>
              <a:gdLst/>
              <a:ahLst/>
              <a:cxnLst/>
              <a:rect l="l" t="t" r="r" b="b"/>
              <a:pathLst>
                <a:path w="1705927" h="379095">
                  <a:moveTo>
                    <a:pt x="0" y="0"/>
                  </a:moveTo>
                  <a:lnTo>
                    <a:pt x="1705927" y="3790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237220" y="5248275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67628"/>
                  </a:moveTo>
                  <a:lnTo>
                    <a:pt x="0" y="93345"/>
                  </a:lnTo>
                  <a:lnTo>
                    <a:pt x="2000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8669655" y="4440555"/>
              <a:ext cx="2162175" cy="394335"/>
            </a:xfrm>
            <a:custGeom>
              <a:avLst/>
              <a:gdLst/>
              <a:ahLst/>
              <a:cxnLst/>
              <a:rect l="l" t="t" r="r" b="b"/>
              <a:pathLst>
                <a:path w="2162175" h="394335">
                  <a:moveTo>
                    <a:pt x="0" y="0"/>
                  </a:moveTo>
                  <a:lnTo>
                    <a:pt x="2162175" y="394335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44" name="Freeform 44"/>
            <p:cNvSpPr/>
            <p:nvPr/>
          </p:nvSpPr>
          <p:spPr>
            <a:xfrm>
              <a:off x="10823258" y="4788218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63817"/>
                  </a:moveTo>
                  <a:lnTo>
                    <a:pt x="0" y="93345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8669655" y="4927282"/>
              <a:ext cx="2162175" cy="394335"/>
            </a:xfrm>
            <a:custGeom>
              <a:avLst/>
              <a:gdLst/>
              <a:ahLst/>
              <a:cxnLst/>
              <a:rect l="l" t="t" r="r" b="b"/>
              <a:pathLst>
                <a:path w="2162175" h="394335">
                  <a:moveTo>
                    <a:pt x="0" y="394335"/>
                  </a:moveTo>
                  <a:lnTo>
                    <a:pt x="21621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46" name="Freeform 46"/>
            <p:cNvSpPr/>
            <p:nvPr/>
          </p:nvSpPr>
          <p:spPr>
            <a:xfrm>
              <a:off x="10823258" y="4880610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29528"/>
                  </a:moveTo>
                  <a:lnTo>
                    <a:pt x="17145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6230302" y="472916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8345805" y="4251008"/>
              <a:ext cx="318135" cy="3181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8345805" y="5193030"/>
              <a:ext cx="318135" cy="3181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10932795" y="4729162"/>
              <a:ext cx="304800" cy="3048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53241" y="4811554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72327" y="5070158"/>
              <a:ext cx="220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∈Vᵢ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31874" y="4340066"/>
              <a:ext cx="145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455621" y="48391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⋮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431874" y="5282089"/>
              <a:ext cx="145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lₚ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035944" y="48115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210425" y="4560570"/>
              <a:ext cx="45910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232275" y="459200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c(j,l₁)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210425" y="5030152"/>
              <a:ext cx="45910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232275" y="5062538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c(j,lₚ)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400222" y="4560570"/>
              <a:ext cx="79629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397556" y="4592002"/>
              <a:ext cx="8016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COST(i+1,l₁)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9400222" y="5030152"/>
              <a:ext cx="79629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397556" y="5062538"/>
              <a:ext cx="8016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COST(i+1,lₚ)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6" name="Rectangle 66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0511" y="6004084"/>
              <a:ext cx="89682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计算顺序：Vₖ₋₁ 中结点的 COST 就是它到 t 的边长，再依次算 Vₖ₋₂, …, V₁；COST(1,s) 即最小成本。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25766" cy="909257"/>
            <a:chOff x="520446" y="342900"/>
            <a:chExt cx="77257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多段图问题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257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向前处理：从 V₄ 往回逐段计算，COST(1,1)=16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9" name="c1-graph-1"/>
          <p:cNvGrpSpPr/>
          <p:nvPr/>
        </p:nvGrpSpPr>
        <p:grpSpPr>
          <a:xfrm>
            <a:off x="619125" y="1550670"/>
            <a:ext cx="4609147" cy="2518410"/>
            <a:chOff x="619125" y="1550670"/>
            <a:chExt cx="4609147" cy="2518410"/>
          </a:xfrm>
        </p:grpSpPr>
        <p:sp>
          <p:nvSpPr>
            <p:cNvPr id="7" name="Freeform 7"/>
            <p:cNvSpPr/>
            <p:nvPr/>
          </p:nvSpPr>
          <p:spPr>
            <a:xfrm>
              <a:off x="889635" y="2142172"/>
              <a:ext cx="741998" cy="701040"/>
            </a:xfrm>
            <a:custGeom>
              <a:avLst/>
              <a:gdLst/>
              <a:ahLst/>
              <a:cxnLst/>
              <a:rect l="l" t="t" r="r" b="b"/>
              <a:pathLst>
                <a:path w="741998" h="701040">
                  <a:moveTo>
                    <a:pt x="0" y="701040"/>
                  </a:moveTo>
                  <a:lnTo>
                    <a:pt x="741998" y="0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599248" y="2077402"/>
              <a:ext cx="101917" cy="100012"/>
            </a:xfrm>
            <a:custGeom>
              <a:avLst/>
              <a:gdLst/>
              <a:ahLst/>
              <a:cxnLst/>
              <a:rect l="l" t="t" r="r" b="b"/>
              <a:pathLst>
                <a:path w="101917" h="100012">
                  <a:moveTo>
                    <a:pt x="101917" y="0"/>
                  </a:moveTo>
                  <a:lnTo>
                    <a:pt x="64770" y="100012"/>
                  </a:lnTo>
                  <a:lnTo>
                    <a:pt x="0" y="3048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925830" y="2695575"/>
              <a:ext cx="648653" cy="208597"/>
            </a:xfrm>
            <a:custGeom>
              <a:avLst/>
              <a:gdLst/>
              <a:ahLst/>
              <a:cxnLst/>
              <a:rect l="l" t="t" r="r" b="b"/>
              <a:pathLst>
                <a:path w="648653" h="208597">
                  <a:moveTo>
                    <a:pt x="0" y="208597"/>
                  </a:moveTo>
                  <a:lnTo>
                    <a:pt x="64865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559242" y="2649855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16192"/>
                  </a:moveTo>
                  <a:lnTo>
                    <a:pt x="29528" y="90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926782" y="3000375"/>
              <a:ext cx="645795" cy="192405"/>
            </a:xfrm>
            <a:custGeom>
              <a:avLst/>
              <a:gdLst/>
              <a:ahLst/>
              <a:cxnLst/>
              <a:rect l="l" t="t" r="r" b="b"/>
              <a:pathLst>
                <a:path w="645795" h="192405">
                  <a:moveTo>
                    <a:pt x="0" y="0"/>
                  </a:moveTo>
                  <a:lnTo>
                    <a:pt x="645795" y="1924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559242" y="3147060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73343"/>
                  </a:moveTo>
                  <a:lnTo>
                    <a:pt x="0" y="91440"/>
                  </a:lnTo>
                  <a:lnTo>
                    <a:pt x="2667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890588" y="3064192"/>
              <a:ext cx="739140" cy="678180"/>
            </a:xfrm>
            <a:custGeom>
              <a:avLst/>
              <a:gdLst/>
              <a:ahLst/>
              <a:cxnLst/>
              <a:rect l="l" t="t" r="r" b="b"/>
              <a:pathLst>
                <a:path w="739140" h="678180">
                  <a:moveTo>
                    <a:pt x="0" y="0"/>
                  </a:moveTo>
                  <a:lnTo>
                    <a:pt x="739140" y="6781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597342" y="3707130"/>
              <a:ext cx="101918" cy="100012"/>
            </a:xfrm>
            <a:custGeom>
              <a:avLst/>
              <a:gdLst/>
              <a:ahLst/>
              <a:cxnLst/>
              <a:rect l="l" t="t" r="r" b="b"/>
              <a:pathLst>
                <a:path w="101918" h="100012">
                  <a:moveTo>
                    <a:pt x="101918" y="100012"/>
                  </a:moveTo>
                  <a:lnTo>
                    <a:pt x="0" y="70485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978342" y="1996440"/>
              <a:ext cx="682942" cy="129540"/>
            </a:xfrm>
            <a:custGeom>
              <a:avLst/>
              <a:gdLst/>
              <a:ahLst/>
              <a:cxnLst/>
              <a:rect l="l" t="t" r="r" b="b"/>
              <a:pathLst>
                <a:path w="682942" h="129540">
                  <a:moveTo>
                    <a:pt x="0" y="0"/>
                  </a:moveTo>
                  <a:lnTo>
                    <a:pt x="682942" y="1295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652712" y="2079308"/>
              <a:ext cx="101917" cy="93345"/>
            </a:xfrm>
            <a:custGeom>
              <a:avLst/>
              <a:gdLst/>
              <a:ahLst/>
              <a:cxnLst/>
              <a:rect l="l" t="t" r="r" b="b"/>
              <a:pathLst>
                <a:path w="101917" h="93345">
                  <a:moveTo>
                    <a:pt x="101917" y="64770"/>
                  </a:moveTo>
                  <a:lnTo>
                    <a:pt x="0" y="93345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939290" y="2074545"/>
              <a:ext cx="783907" cy="707708"/>
            </a:xfrm>
            <a:custGeom>
              <a:avLst/>
              <a:gdLst/>
              <a:ahLst/>
              <a:cxnLst/>
              <a:rect l="l" t="t" r="r" b="b"/>
              <a:pathLst>
                <a:path w="783907" h="707708">
                  <a:moveTo>
                    <a:pt x="0" y="0"/>
                  </a:moveTo>
                  <a:lnTo>
                    <a:pt x="783907" y="707708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690812" y="2746058"/>
              <a:ext cx="102870" cy="100012"/>
            </a:xfrm>
            <a:custGeom>
              <a:avLst/>
              <a:gdLst/>
              <a:ahLst/>
              <a:cxnLst/>
              <a:rect l="l" t="t" r="r" b="b"/>
              <a:pathLst>
                <a:path w="102870" h="100012">
                  <a:moveTo>
                    <a:pt x="102870" y="100012"/>
                  </a:moveTo>
                  <a:lnTo>
                    <a:pt x="0" y="71438"/>
                  </a:lnTo>
                  <a:lnTo>
                    <a:pt x="63817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904048" y="2104072"/>
              <a:ext cx="874395" cy="1411605"/>
            </a:xfrm>
            <a:custGeom>
              <a:avLst/>
              <a:gdLst/>
              <a:ahLst/>
              <a:cxnLst/>
              <a:rect l="l" t="t" r="r" b="b"/>
              <a:pathLst>
                <a:path w="874395" h="1411605">
                  <a:moveTo>
                    <a:pt x="0" y="0"/>
                  </a:moveTo>
                  <a:lnTo>
                    <a:pt x="874395" y="14116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738438" y="3490912"/>
              <a:ext cx="90488" cy="105728"/>
            </a:xfrm>
            <a:custGeom>
              <a:avLst/>
              <a:gdLst/>
              <a:ahLst/>
              <a:cxnLst/>
              <a:rect l="l" t="t" r="r" b="b"/>
              <a:pathLst>
                <a:path w="90488" h="105728">
                  <a:moveTo>
                    <a:pt x="90488" y="105728"/>
                  </a:moveTo>
                  <a:lnTo>
                    <a:pt x="0" y="49530"/>
                  </a:lnTo>
                  <a:lnTo>
                    <a:pt x="8096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968818" y="2270760"/>
              <a:ext cx="706755" cy="284798"/>
            </a:xfrm>
            <a:custGeom>
              <a:avLst/>
              <a:gdLst/>
              <a:ahLst/>
              <a:cxnLst/>
              <a:rect l="l" t="t" r="r" b="b"/>
              <a:pathLst>
                <a:path w="706755" h="284798">
                  <a:moveTo>
                    <a:pt x="0" y="284798"/>
                  </a:moveTo>
                  <a:lnTo>
                    <a:pt x="70675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657475" y="2225992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106680" y="8573"/>
                  </a:moveTo>
                  <a:lnTo>
                    <a:pt x="36195" y="885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973580" y="2664142"/>
              <a:ext cx="694373" cy="214312"/>
            </a:xfrm>
            <a:custGeom>
              <a:avLst/>
              <a:gdLst/>
              <a:ahLst/>
              <a:cxnLst/>
              <a:rect l="l" t="t" r="r" b="b"/>
              <a:pathLst>
                <a:path w="694373" h="214312">
                  <a:moveTo>
                    <a:pt x="0" y="0"/>
                  </a:moveTo>
                  <a:lnTo>
                    <a:pt x="694373" y="2143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2653665" y="2832735"/>
              <a:ext cx="105727" cy="91440"/>
            </a:xfrm>
            <a:custGeom>
              <a:avLst/>
              <a:gdLst/>
              <a:ahLst/>
              <a:cxnLst/>
              <a:rect l="l" t="t" r="r" b="b"/>
              <a:pathLst>
                <a:path w="105727" h="91440">
                  <a:moveTo>
                    <a:pt x="105727" y="73343"/>
                  </a:moveTo>
                  <a:lnTo>
                    <a:pt x="0" y="9144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1967865" y="3329940"/>
              <a:ext cx="709613" cy="302895"/>
            </a:xfrm>
            <a:custGeom>
              <a:avLst/>
              <a:gdLst/>
              <a:ahLst/>
              <a:cxnLst/>
              <a:rect l="l" t="t" r="r" b="b"/>
              <a:pathLst>
                <a:path w="709613" h="302895">
                  <a:moveTo>
                    <a:pt x="0" y="0"/>
                  </a:moveTo>
                  <a:lnTo>
                    <a:pt x="709613" y="3028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2658428" y="3589020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106680" y="81915"/>
                  </a:moveTo>
                  <a:lnTo>
                    <a:pt x="0" y="8763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1940242" y="3124200"/>
              <a:ext cx="780098" cy="684847"/>
            </a:xfrm>
            <a:custGeom>
              <a:avLst/>
              <a:gdLst/>
              <a:ahLst/>
              <a:cxnLst/>
              <a:rect l="l" t="t" r="r" b="b"/>
              <a:pathLst>
                <a:path w="780098" h="684847">
                  <a:moveTo>
                    <a:pt x="0" y="684847"/>
                  </a:moveTo>
                  <a:lnTo>
                    <a:pt x="78009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2688908" y="3061335"/>
              <a:ext cx="102870" cy="98108"/>
            </a:xfrm>
            <a:custGeom>
              <a:avLst/>
              <a:gdLst/>
              <a:ahLst/>
              <a:cxnLst/>
              <a:rect l="l" t="t" r="r" b="b"/>
              <a:pathLst>
                <a:path w="102870" h="98108">
                  <a:moveTo>
                    <a:pt x="102870" y="0"/>
                  </a:moveTo>
                  <a:lnTo>
                    <a:pt x="62865" y="98108"/>
                  </a:lnTo>
                  <a:lnTo>
                    <a:pt x="0" y="2667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1978342" y="3776662"/>
              <a:ext cx="681990" cy="113347"/>
            </a:xfrm>
            <a:custGeom>
              <a:avLst/>
              <a:gdLst/>
              <a:ahLst/>
              <a:cxnLst/>
              <a:rect l="l" t="t" r="r" b="b"/>
              <a:pathLst>
                <a:path w="681990" h="113347">
                  <a:moveTo>
                    <a:pt x="0" y="113347"/>
                  </a:moveTo>
                  <a:lnTo>
                    <a:pt x="6819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2652712" y="3729038"/>
              <a:ext cx="101917" cy="94297"/>
            </a:xfrm>
            <a:custGeom>
              <a:avLst/>
              <a:gdLst/>
              <a:ahLst/>
              <a:cxnLst/>
              <a:rect l="l" t="t" r="r" b="b"/>
              <a:pathLst>
                <a:path w="101917" h="94297">
                  <a:moveTo>
                    <a:pt x="101917" y="31433"/>
                  </a:moveTo>
                  <a:lnTo>
                    <a:pt x="15240" y="942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3075622" y="2173605"/>
              <a:ext cx="676275" cy="9525"/>
            </a:xfrm>
            <a:custGeom>
              <a:avLst/>
              <a:gdLst/>
              <a:ahLst/>
              <a:cxnLst/>
              <a:rect l="l" t="t" r="r" b="b"/>
              <a:pathLst>
                <a:path w="676275" h="9525">
                  <a:moveTo>
                    <a:pt x="0" y="0"/>
                  </a:moveTo>
                  <a:lnTo>
                    <a:pt x="6762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3751898" y="21259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3046095" y="2267902"/>
              <a:ext cx="737235" cy="525780"/>
            </a:xfrm>
            <a:custGeom>
              <a:avLst/>
              <a:gdLst/>
              <a:ahLst/>
              <a:cxnLst/>
              <a:rect l="l" t="t" r="r" b="b"/>
              <a:pathLst>
                <a:path w="737235" h="525780">
                  <a:moveTo>
                    <a:pt x="0" y="0"/>
                  </a:moveTo>
                  <a:lnTo>
                    <a:pt x="737235" y="5257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3755708" y="2754630"/>
              <a:ext cx="104775" cy="94298"/>
            </a:xfrm>
            <a:custGeom>
              <a:avLst/>
              <a:gdLst/>
              <a:ahLst/>
              <a:cxnLst/>
              <a:rect l="l" t="t" r="r" b="b"/>
              <a:pathLst>
                <a:path w="104775" h="94298">
                  <a:moveTo>
                    <a:pt x="104775" y="94298"/>
                  </a:moveTo>
                  <a:lnTo>
                    <a:pt x="0" y="77153"/>
                  </a:lnTo>
                  <a:lnTo>
                    <a:pt x="5524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3046095" y="2323148"/>
              <a:ext cx="753427" cy="537210"/>
            </a:xfrm>
            <a:custGeom>
              <a:avLst/>
              <a:gdLst/>
              <a:ahLst/>
              <a:cxnLst/>
              <a:rect l="l" t="t" r="r" b="b"/>
              <a:pathLst>
                <a:path w="753427" h="537210">
                  <a:moveTo>
                    <a:pt x="0" y="537210"/>
                  </a:moveTo>
                  <a:lnTo>
                    <a:pt x="75342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3771900" y="2267902"/>
              <a:ext cx="104775" cy="94298"/>
            </a:xfrm>
            <a:custGeom>
              <a:avLst/>
              <a:gdLst/>
              <a:ahLst/>
              <a:cxnLst/>
              <a:rect l="l" t="t" r="r" b="b"/>
              <a:pathLst>
                <a:path w="104775" h="94298">
                  <a:moveTo>
                    <a:pt x="104775" y="0"/>
                  </a:moveTo>
                  <a:lnTo>
                    <a:pt x="55245" y="94298"/>
                  </a:lnTo>
                  <a:lnTo>
                    <a:pt x="0" y="1619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3075622" y="2953702"/>
              <a:ext cx="656273" cy="9525"/>
            </a:xfrm>
            <a:custGeom>
              <a:avLst/>
              <a:gdLst/>
              <a:ahLst/>
              <a:cxnLst/>
              <a:rect l="l" t="t" r="r" b="b"/>
              <a:pathLst>
                <a:path w="656273" h="9525">
                  <a:moveTo>
                    <a:pt x="0" y="0"/>
                  </a:moveTo>
                  <a:lnTo>
                    <a:pt x="656273" y="0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3731895" y="290607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3046095" y="3114675"/>
              <a:ext cx="737235" cy="525780"/>
            </a:xfrm>
            <a:custGeom>
              <a:avLst/>
              <a:gdLst/>
              <a:ahLst/>
              <a:cxnLst/>
              <a:rect l="l" t="t" r="r" b="b"/>
              <a:pathLst>
                <a:path w="737235" h="525780">
                  <a:moveTo>
                    <a:pt x="0" y="525780"/>
                  </a:moveTo>
                  <a:lnTo>
                    <a:pt x="7372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3755708" y="3059430"/>
              <a:ext cx="104775" cy="94298"/>
            </a:xfrm>
            <a:custGeom>
              <a:avLst/>
              <a:gdLst/>
              <a:ahLst/>
              <a:cxnLst/>
              <a:rect l="l" t="t" r="r" b="b"/>
              <a:pathLst>
                <a:path w="104775" h="94298">
                  <a:moveTo>
                    <a:pt x="104775" y="0"/>
                  </a:moveTo>
                  <a:lnTo>
                    <a:pt x="55245" y="94298"/>
                  </a:lnTo>
                  <a:lnTo>
                    <a:pt x="0" y="1714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3075622" y="3734752"/>
              <a:ext cx="656273" cy="9525"/>
            </a:xfrm>
            <a:custGeom>
              <a:avLst/>
              <a:gdLst/>
              <a:ahLst/>
              <a:cxnLst/>
              <a:rect l="l" t="t" r="r" b="b"/>
              <a:pathLst>
                <a:path w="656273" h="9525">
                  <a:moveTo>
                    <a:pt x="0" y="0"/>
                  </a:moveTo>
                  <a:lnTo>
                    <a:pt x="65627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3731895" y="36871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4138612" y="2270760"/>
              <a:ext cx="695325" cy="518160"/>
            </a:xfrm>
            <a:custGeom>
              <a:avLst/>
              <a:gdLst/>
              <a:ahLst/>
              <a:cxnLst/>
              <a:rect l="l" t="t" r="r" b="b"/>
              <a:pathLst>
                <a:path w="695325" h="518160">
                  <a:moveTo>
                    <a:pt x="0" y="0"/>
                  </a:moveTo>
                  <a:lnTo>
                    <a:pt x="695325" y="5181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4805362" y="2750820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104775" y="95250"/>
                  </a:moveTo>
                  <a:lnTo>
                    <a:pt x="0" y="7620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4191000" y="2953702"/>
              <a:ext cx="588645" cy="9525"/>
            </a:xfrm>
            <a:custGeom>
              <a:avLst/>
              <a:gdLst/>
              <a:ahLst/>
              <a:cxnLst/>
              <a:rect l="l" t="t" r="r" b="b"/>
              <a:pathLst>
                <a:path w="588645" h="9525">
                  <a:moveTo>
                    <a:pt x="0" y="0"/>
                  </a:moveTo>
                  <a:lnTo>
                    <a:pt x="588645" y="0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4779645" y="290607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4154805" y="3119438"/>
              <a:ext cx="679133" cy="506730"/>
            </a:xfrm>
            <a:custGeom>
              <a:avLst/>
              <a:gdLst/>
              <a:ahLst/>
              <a:cxnLst/>
              <a:rect l="l" t="t" r="r" b="b"/>
              <a:pathLst>
                <a:path w="679133" h="506730">
                  <a:moveTo>
                    <a:pt x="0" y="506730"/>
                  </a:moveTo>
                  <a:lnTo>
                    <a:pt x="67913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4805362" y="3062288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104775" y="0"/>
                  </a:moveTo>
                  <a:lnTo>
                    <a:pt x="57150" y="952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619125" y="2801302"/>
              <a:ext cx="304800" cy="3048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1666875" y="181356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1666875" y="246411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1666875" y="311372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1666875" y="376428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2761298" y="202120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2761298" y="280130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2761298" y="358235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3856672" y="202120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3836670" y="2781300"/>
              <a:ext cx="344805" cy="3448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3836670" y="3562350"/>
              <a:ext cx="344805" cy="3448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4883467" y="2781300"/>
              <a:ext cx="344805" cy="344805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25376" y="288893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773126" y="190023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773126" y="25507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773126" y="32004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773126" y="38509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867548" y="210883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867548" y="288893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867548" y="36690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962923" y="210883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922108" y="288893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922108" y="36690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968906" y="288893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79940" y="155067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727690" y="155067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2822113" y="155067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3917488" y="155067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4964285" y="155067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V₅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339725" y="248554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296863" y="2834164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434975" y="3221831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77800" y="346090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2353185" y="1918811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2577023" y="247792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2343660" y="302656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2391285" y="219979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2076960" y="2766536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2078423" y="3223736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931738" y="3530441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2348423" y="3871436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3424748" y="221503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3134235" y="244363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3715260" y="244363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3424748" y="2995136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3496185" y="3379946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3424748" y="3775234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4424873" y="2596991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4496310" y="2995136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4567748" y="337708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106" name="c1-callout-2"/>
          <p:cNvGrpSpPr/>
          <p:nvPr/>
        </p:nvGrpSpPr>
        <p:grpSpPr>
          <a:xfrm>
            <a:off x="533400" y="4299585"/>
            <a:ext cx="4760595" cy="729615"/>
            <a:chOff x="533400" y="4299585"/>
            <a:chExt cx="4760595" cy="729615"/>
          </a:xfrm>
        </p:grpSpPr>
        <p:sp>
          <p:nvSpPr>
            <p:cNvPr id="100" name="Rectangle 100"/>
            <p:cNvSpPr/>
            <p:nvPr/>
          </p:nvSpPr>
          <p:spPr>
            <a:xfrm>
              <a:off x="533400" y="4299585"/>
              <a:ext cx="4760595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04" name="Group 104"/>
            <p:cNvGrpSpPr/>
            <p:nvPr/>
          </p:nvGrpSpPr>
          <p:grpSpPr>
            <a:xfrm>
              <a:off x="738188" y="4564380"/>
              <a:ext cx="200026" cy="200026"/>
              <a:chOff x="738188" y="4564380"/>
              <a:chExt cx="200026" cy="200026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738188" y="45643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838200" y="46310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827088" y="46643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05" name="TextBox 105"/>
            <p:cNvSpPr txBox="1"/>
            <p:nvPr/>
          </p:nvSpPr>
          <p:spPr>
            <a:xfrm>
              <a:off x="1040892" y="4445318"/>
              <a:ext cx="374275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结点编号后可省去段号：COST(j) = min{c(j,l) +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COST(l)}。橙色边是按 D 回溯得到的最优路径。</a:t>
              </a:r>
            </a:p>
          </p:txBody>
        </p:sp>
      </p:grpSp>
      <p:grpSp>
        <p:nvGrpSpPr>
          <p:cNvPr id="173" name="c2-table-1"/>
          <p:cNvGrpSpPr/>
          <p:nvPr/>
        </p:nvGrpSpPr>
        <p:grpSpPr>
          <a:xfrm>
            <a:off x="5593461" y="1524000"/>
            <a:ext cx="6065139" cy="4737354"/>
            <a:chOff x="5593461" y="1524000"/>
            <a:chExt cx="6065139" cy="4737354"/>
          </a:xfrm>
        </p:grpSpPr>
        <p:sp>
          <p:nvSpPr>
            <p:cNvPr id="107" name="Rectangle 107"/>
            <p:cNvSpPr/>
            <p:nvPr/>
          </p:nvSpPr>
          <p:spPr>
            <a:xfrm>
              <a:off x="5598795" y="1524000"/>
              <a:ext cx="6059805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5791060" y="164830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6304449" y="1648301"/>
              <a:ext cx="4079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 j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7615892" y="1648301"/>
              <a:ext cx="17227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候选 l：c(j,l)+COST(l)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0270103" y="1648301"/>
              <a:ext cx="412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COST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1212550" y="16483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5774447" y="215407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6285802" y="2054066"/>
              <a:ext cx="44526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9, 10,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6971348" y="2154079"/>
              <a:ext cx="15945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只有到 t 的边：4, 2, 5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0218285" y="2154079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4, 2, 5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1175624" y="215407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5598795" y="25307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9" name="Rectangle 119"/>
            <p:cNvSpPr/>
            <p:nvPr/>
          </p:nvSpPr>
          <p:spPr>
            <a:xfrm>
              <a:off x="5598795" y="2535555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5774447" y="265985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6461255" y="26598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6971348" y="2659856"/>
              <a:ext cx="15794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9: 6+4=10；10: 5+2=7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0429370" y="26598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1175624" y="26598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25" name="Rectangle 125"/>
            <p:cNvSpPr/>
            <p:nvPr/>
          </p:nvSpPr>
          <p:spPr>
            <a:xfrm>
              <a:off x="5598795" y="29365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6461255" y="30656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6971348" y="3065621"/>
              <a:ext cx="14965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9: 4+4=8；10: 3+2=5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10429370" y="30656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11175624" y="306562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30" name="Rectangle 130"/>
            <p:cNvSpPr/>
            <p:nvPr/>
          </p:nvSpPr>
          <p:spPr>
            <a:xfrm>
              <a:off x="5598795" y="334232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1" name="Rectangle 131"/>
            <p:cNvSpPr/>
            <p:nvPr/>
          </p:nvSpPr>
          <p:spPr>
            <a:xfrm>
              <a:off x="5598795" y="3347085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6461255" y="34713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6971348" y="3471386"/>
              <a:ext cx="16624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10: 5+2=7；11: 6+5=11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10429370" y="34713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11175624" y="347138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36" name="Rectangle 136"/>
            <p:cNvSpPr/>
            <p:nvPr/>
          </p:nvSpPr>
          <p:spPr>
            <a:xfrm>
              <a:off x="5598795" y="37480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7" name="TextBox 137"/>
            <p:cNvSpPr txBox="1"/>
            <p:nvPr/>
          </p:nvSpPr>
          <p:spPr>
            <a:xfrm>
              <a:off x="5774447" y="387715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6461255" y="3877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6971348" y="3877151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6: 4+7=11；7: 2+5=7；8: 1+7=8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10429370" y="3877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11217087" y="3877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42" name="Rectangle 142"/>
            <p:cNvSpPr/>
            <p:nvPr/>
          </p:nvSpPr>
          <p:spPr>
            <a:xfrm>
              <a:off x="5598795" y="415385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3" name="Rectangle 143"/>
            <p:cNvSpPr/>
            <p:nvPr/>
          </p:nvSpPr>
          <p:spPr>
            <a:xfrm>
              <a:off x="5598795" y="4158615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4" name="TextBox 144"/>
            <p:cNvSpPr txBox="1"/>
            <p:nvPr/>
          </p:nvSpPr>
          <p:spPr>
            <a:xfrm>
              <a:off x="6461255" y="42829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6971348" y="4282916"/>
              <a:ext cx="14965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6: 2+7=9；7: 7+5=12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10429370" y="42829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11217087" y="42829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48" name="Rectangle 148"/>
            <p:cNvSpPr/>
            <p:nvPr/>
          </p:nvSpPr>
          <p:spPr>
            <a:xfrm>
              <a:off x="5598795" y="455961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9" name="TextBox 149"/>
            <p:cNvSpPr txBox="1"/>
            <p:nvPr/>
          </p:nvSpPr>
          <p:spPr>
            <a:xfrm>
              <a:off x="6461255" y="46886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6971348" y="4688681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8: 11+7=18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10387907" y="468868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11217087" y="46886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53" name="Rectangle 153"/>
            <p:cNvSpPr/>
            <p:nvPr/>
          </p:nvSpPr>
          <p:spPr>
            <a:xfrm>
              <a:off x="5598795" y="496538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4" name="Rectangle 154"/>
            <p:cNvSpPr/>
            <p:nvPr/>
          </p:nvSpPr>
          <p:spPr>
            <a:xfrm>
              <a:off x="5598795" y="4970145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5" name="TextBox 155"/>
            <p:cNvSpPr txBox="1"/>
            <p:nvPr/>
          </p:nvSpPr>
          <p:spPr>
            <a:xfrm>
              <a:off x="6461255" y="509444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6971348" y="5094446"/>
              <a:ext cx="16624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7: 11+5=16；8: 8+7=15</a:t>
              </a:r>
            </a:p>
          </p:txBody>
        </p:sp>
        <p:sp>
          <p:nvSpPr>
            <p:cNvPr id="157" name="TextBox 157"/>
            <p:cNvSpPr txBox="1"/>
            <p:nvPr/>
          </p:nvSpPr>
          <p:spPr>
            <a:xfrm>
              <a:off x="10387907" y="509444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11217087" y="509444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59" name="Rectangle 159"/>
            <p:cNvSpPr/>
            <p:nvPr/>
          </p:nvSpPr>
          <p:spPr>
            <a:xfrm>
              <a:off x="5598795" y="537114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0" name="TextBox 160"/>
            <p:cNvSpPr txBox="1"/>
            <p:nvPr/>
          </p:nvSpPr>
          <p:spPr>
            <a:xfrm>
              <a:off x="5774447" y="560022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6461255" y="560022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6971348" y="5500211"/>
              <a:ext cx="26784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2: 9+7=16；3: 7+9=16；4: 3+18=21；5: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2+15=17</a:t>
              </a:r>
            </a:p>
          </p:txBody>
        </p:sp>
        <p:sp>
          <p:nvSpPr>
            <p:cNvPr id="163" name="Rectangle 163"/>
            <p:cNvSpPr/>
            <p:nvPr/>
          </p:nvSpPr>
          <p:spPr>
            <a:xfrm>
              <a:off x="10092690" y="5385435"/>
              <a:ext cx="768668" cy="5867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4" name="TextBox 164"/>
            <p:cNvSpPr txBox="1"/>
            <p:nvPr/>
          </p:nvSpPr>
          <p:spPr>
            <a:xfrm>
              <a:off x="10387907" y="560022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65" name="Rectangle 165"/>
            <p:cNvSpPr/>
            <p:nvPr/>
          </p:nvSpPr>
          <p:spPr>
            <a:xfrm>
              <a:off x="10880408" y="5385435"/>
              <a:ext cx="768668" cy="5867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6" name="TextBox 166"/>
            <p:cNvSpPr txBox="1"/>
            <p:nvPr/>
          </p:nvSpPr>
          <p:spPr>
            <a:xfrm>
              <a:off x="11217087" y="560022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7" name="Rectangle 167"/>
            <p:cNvSpPr/>
            <p:nvPr/>
          </p:nvSpPr>
          <p:spPr>
            <a:xfrm>
              <a:off x="5598795" y="1524000"/>
              <a:ext cx="6059805" cy="44577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68" name="Rectangle 168"/>
            <p:cNvSpPr/>
            <p:nvPr/>
          </p:nvSpPr>
          <p:spPr>
            <a:xfrm>
              <a:off x="6139815" y="1524000"/>
              <a:ext cx="9525" cy="44577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9" name="Rectangle 169"/>
            <p:cNvSpPr/>
            <p:nvPr/>
          </p:nvSpPr>
          <p:spPr>
            <a:xfrm>
              <a:off x="6866572" y="1524000"/>
              <a:ext cx="9525" cy="44577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0" name="Rectangle 170"/>
            <p:cNvSpPr/>
            <p:nvPr/>
          </p:nvSpPr>
          <p:spPr>
            <a:xfrm>
              <a:off x="10078402" y="1524000"/>
              <a:ext cx="9525" cy="44577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1" name="Rectangle 171"/>
            <p:cNvSpPr/>
            <p:nvPr/>
          </p:nvSpPr>
          <p:spPr>
            <a:xfrm>
              <a:off x="10866120" y="1524000"/>
              <a:ext cx="9525" cy="44577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2" name="TextBox 172"/>
            <p:cNvSpPr txBox="1"/>
            <p:nvPr/>
          </p:nvSpPr>
          <p:spPr>
            <a:xfrm>
              <a:off x="5593461" y="6055995"/>
              <a:ext cx="52759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COST(1,1) 有两个候选并列最小（经 2 和经 3），D(1) 取了 2，最优路径不唯一。</a:t>
              </a:r>
            </a:p>
          </p:txBody>
        </p:sp>
      </p:grpSp>
      <p:grpSp>
        <p:nvGrpSpPr>
          <p:cNvPr id="1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4" name="TextBox 17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175" name="TextBox 1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40836" cy="909257"/>
            <a:chOff x="520446" y="342900"/>
            <a:chExt cx="864083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多段图问题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4083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算法6.1 FGRAPH：倒序算 COST，再沿 D 正向取出路径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085398" cy="3344228"/>
            <a:chOff x="533400" y="1524000"/>
            <a:chExt cx="5085398" cy="33442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085398" cy="3344228"/>
            </a:xfrm>
            <a:prstGeom prst="roundRect">
              <a:avLst>
                <a:gd name="adj" fmla="val 284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8631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算法6.1 多段图的向前处理算法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2504313" cy="28590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FGRAPH(E, k, n, P)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real COST(n)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integer D(n-1), P(k), r, j, k, 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COST(n) ← 0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j ← n-1 to 1 by -1 do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找 r：&lt;j,r&gt;∈E 且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  c(j,r)+COST(r) 最小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COST(j) ← c(j,r) + COST(r)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D(j) ← r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P(1) ← 1; P(k) ← 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j ← 2 to k-1 do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P(j) ← D(P(j-1))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FGRAPH</a:t>
              </a:r>
            </a:p>
          </p:txBody>
        </p:sp>
      </p:grpSp>
      <p:grpSp>
        <p:nvGrpSpPr>
          <p:cNvPr id="16" name="c1-card-2"/>
          <p:cNvGrpSpPr/>
          <p:nvPr/>
        </p:nvGrpSpPr>
        <p:grpSpPr>
          <a:xfrm>
            <a:off x="533400" y="5048250"/>
            <a:ext cx="5085398" cy="1250632"/>
            <a:chOff x="533400" y="5048250"/>
            <a:chExt cx="5085398" cy="1250632"/>
          </a:xfrm>
        </p:grpSpPr>
        <p:sp>
          <p:nvSpPr>
            <p:cNvPr id="11" name="Rectangle 11"/>
            <p:cNvSpPr/>
            <p:nvPr/>
          </p:nvSpPr>
          <p:spPr>
            <a:xfrm>
              <a:off x="533400" y="5048250"/>
              <a:ext cx="5085398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5181600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9620" y="524637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1060" y="528066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381" y="5607844"/>
              <a:ext cx="420738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 COST 数组第 9、11 格写成 5 和 4，与同页的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COST(9)=4、COST(11)=5 不符，已改正。</a:t>
              </a:r>
            </a:p>
          </p:txBody>
        </p:sp>
      </p:grpSp>
      <p:grpSp>
        <p:nvGrpSpPr>
          <p:cNvPr id="104" name="c2-cells-1"/>
          <p:cNvGrpSpPr/>
          <p:nvPr/>
        </p:nvGrpSpPr>
        <p:grpSpPr>
          <a:xfrm>
            <a:off x="5918264" y="1524000"/>
            <a:ext cx="5504116" cy="2081689"/>
            <a:chOff x="5918264" y="1524000"/>
            <a:chExt cx="5504116" cy="2081689"/>
          </a:xfrm>
        </p:grpSpPr>
        <p:sp>
          <p:nvSpPr>
            <p:cNvPr id="17" name="TextBox 17"/>
            <p:cNvSpPr txBox="1"/>
            <p:nvPr/>
          </p:nvSpPr>
          <p:spPr>
            <a:xfrm>
              <a:off x="5918264" y="1655445"/>
              <a:ext cx="387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COST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393180" y="1524000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15766" y="165544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812280" y="1524000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75681" y="16554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231380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394781" y="16554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50480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773066" y="165544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069580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192166" y="165544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488680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652081" y="16554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907780" y="1524000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71181" y="16554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326880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90281" y="16554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745980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909381" y="16554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0165080" y="1524000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328481" y="16554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0584180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747581" y="16554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1003280" y="1524000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1166681" y="16554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67611" y="19721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86711" y="19721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05811" y="19721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24911" y="19721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44011" y="19721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663111" y="19721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082211" y="19721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501311" y="19721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920411" y="19721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309154" y="197215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728254" y="197215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147354" y="197215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918264" y="239172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393180" y="2260282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56581" y="23917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812280" y="2260282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975681" y="23917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231380" y="2260282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394781" y="23917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650480" y="2260282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813881" y="23917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069580" y="2260282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232981" y="23917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488680" y="2260282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611266" y="23917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907780" y="2260282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030366" y="23917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9326880" y="2260282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449466" y="23917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9745980" y="2260282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868566" y="23917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10165080" y="2260282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0287666" y="23917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10584180" y="2260282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0706766" y="23917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567611" y="27074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986711" y="27074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405811" y="27074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824911" y="27074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244011" y="27074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663111" y="27074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082211" y="27074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501311" y="27074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920411" y="27074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309154" y="270748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728254" y="270748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5918264" y="312801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393180" y="2996565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556581" y="31280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6812280" y="2996565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975681" y="31280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7231380" y="2996565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7394781" y="31280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7650480" y="2996565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7773066" y="31280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8069580" y="2996565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8192166" y="31280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6567611" y="34437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986711" y="34437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7405811" y="34437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7824911" y="34437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8244011" y="34437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112" name="c2-card-2"/>
          <p:cNvGrpSpPr/>
          <p:nvPr/>
        </p:nvGrpSpPr>
        <p:grpSpPr>
          <a:xfrm>
            <a:off x="5923598" y="3750945"/>
            <a:ext cx="5735002" cy="2547938"/>
            <a:chOff x="5923598" y="3750945"/>
            <a:chExt cx="5735002" cy="2547938"/>
          </a:xfrm>
        </p:grpSpPr>
        <p:sp>
          <p:nvSpPr>
            <p:cNvPr id="105" name="Rectangle 105"/>
            <p:cNvSpPr/>
            <p:nvPr/>
          </p:nvSpPr>
          <p:spPr>
            <a:xfrm>
              <a:off x="5923598" y="3750945"/>
              <a:ext cx="5735002" cy="2547938"/>
            </a:xfrm>
            <a:prstGeom prst="roundRect">
              <a:avLst>
                <a:gd name="adj" fmla="val 52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5933122" y="3884295"/>
              <a:ext cx="47625" cy="228123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6159818" y="394906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6239256" y="398335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回溯与编号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6152579" y="4310539"/>
              <a:ext cx="483857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P(2)=D(1)=2，P(3)=D(2)=7，P(4)=D(7)=10，路径 1→2→7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→10→12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6153722" y="4895850"/>
              <a:ext cx="48356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按段连续编号后，编号大的结点在后面的段，倒序计算时 COST(r) 已算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好，下标 i 可以省去。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6152579" y="5399246"/>
              <a:ext cx="494677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 Θ(n+e)：每条边在找 r 时考察一次；空间 Θ(n+e)：邻接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表，另需 COST、D、P。</a:t>
              </a:r>
            </a:p>
          </p:txBody>
        </p:sp>
      </p:grpSp>
      <p:grpSp>
        <p:nvGrpSpPr>
          <p:cNvPr id="11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3" name="TextBox 113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13952" cy="909257"/>
            <a:chOff x="520446" y="342900"/>
            <a:chExt cx="75139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多段图问题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139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向后处理：BCOST 记录从 s 到各结点的最小成本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4869180" cy="3074670"/>
            <a:chOff x="533400" y="1524000"/>
            <a:chExt cx="4869180" cy="30746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3074670"/>
            </a:xfrm>
            <a:prstGeom prst="roundRect">
              <a:avLst>
                <a:gd name="adj" fmla="val 43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80797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向后处理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034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BP(i,j)：从源点 s 到 Vᵢ 中结点 j 的最小成本路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径，BCOST(i,j) 是它的成本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5"/>
                <p:cNvSpPr txBox="1">
                  <a:spLocks noGrp="1"/>
                </p:cNvSpPr>
                <p:nvPr/>
              </p:nvSpPr>
              <p:spPr>
                <a:xfrm>
                  <a:off x="781050" y="2707005"/>
                  <a:ext cx="4411980" cy="42100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BCOST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∈</m:t>
                                </m:r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d>
                                  <m:dPr>
                                    <m:begChr m:val="⟨"/>
                                    <m:sepChr m:val=""/>
                                    <m:endChr m:val="⟩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∈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BCOST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73430" y="3248025"/>
              <a:ext cx="3558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边界（i=2）：若 &lt;s,j&gt;∈E，BCOST(2,j)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c(s,j)；否则 BCOST(2,j) = ∞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3869055"/>
              <a:ext cx="3663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按编号简化为 BCOST(j) = min{BCOST(l) +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c(l,j)}，原问题是 BCOST(t)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4789170"/>
            <a:ext cx="4869180" cy="1358265"/>
            <a:chOff x="533400" y="4789170"/>
            <a:chExt cx="4869180" cy="1358265"/>
          </a:xfrm>
        </p:grpSpPr>
        <p:sp>
          <p:nvSpPr>
            <p:cNvPr id="16" name="Rectangle 16"/>
            <p:cNvSpPr/>
            <p:nvPr/>
          </p:nvSpPr>
          <p:spPr>
            <a:xfrm>
              <a:off x="533400" y="4789170"/>
              <a:ext cx="4869180" cy="1358265"/>
            </a:xfrm>
            <a:prstGeom prst="roundRect">
              <a:avLst>
                <a:gd name="adj" fmla="val 98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922520"/>
              <a:ext cx="47625" cy="10915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499872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1258" y="50344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3430" y="5375910"/>
              <a:ext cx="3482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原课件此处的边界写作 COST(2,j)，应为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BCOST(2,j)。</a:t>
              </a:r>
            </a:p>
          </p:txBody>
        </p:sp>
      </p:grpSp>
      <p:grpSp>
        <p:nvGrpSpPr>
          <p:cNvPr id="114" name="c2-graph-1"/>
          <p:cNvGrpSpPr/>
          <p:nvPr/>
        </p:nvGrpSpPr>
        <p:grpSpPr>
          <a:xfrm>
            <a:off x="5852160" y="1553051"/>
            <a:ext cx="5686425" cy="2664619"/>
            <a:chOff x="5852160" y="1553051"/>
            <a:chExt cx="5686425" cy="2664619"/>
          </a:xfrm>
        </p:grpSpPr>
        <p:sp>
          <p:nvSpPr>
            <p:cNvPr id="22" name="Freeform 22"/>
            <p:cNvSpPr/>
            <p:nvPr/>
          </p:nvSpPr>
          <p:spPr>
            <a:xfrm>
              <a:off x="6131242" y="2154555"/>
              <a:ext cx="982027" cy="787717"/>
            </a:xfrm>
            <a:custGeom>
              <a:avLst/>
              <a:gdLst/>
              <a:ahLst/>
              <a:cxnLst/>
              <a:rect l="l" t="t" r="r" b="b"/>
              <a:pathLst>
                <a:path w="982027" h="787717">
                  <a:moveTo>
                    <a:pt x="0" y="787717"/>
                  </a:moveTo>
                  <a:lnTo>
                    <a:pt x="98202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7083742" y="2094548"/>
              <a:ext cx="103822" cy="97155"/>
            </a:xfrm>
            <a:custGeom>
              <a:avLst/>
              <a:gdLst/>
              <a:ahLst/>
              <a:cxnLst/>
              <a:rect l="l" t="t" r="r" b="b"/>
              <a:pathLst>
                <a:path w="103822" h="97155">
                  <a:moveTo>
                    <a:pt x="103822" y="0"/>
                  </a:moveTo>
                  <a:lnTo>
                    <a:pt x="60007" y="97155"/>
                  </a:lnTo>
                  <a:lnTo>
                    <a:pt x="0" y="2286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6160770" y="2751772"/>
              <a:ext cx="905828" cy="248603"/>
            </a:xfrm>
            <a:custGeom>
              <a:avLst/>
              <a:gdLst/>
              <a:ahLst/>
              <a:cxnLst/>
              <a:rect l="l" t="t" r="r" b="b"/>
              <a:pathLst>
                <a:path w="905828" h="248603">
                  <a:moveTo>
                    <a:pt x="0" y="248603"/>
                  </a:moveTo>
                  <a:lnTo>
                    <a:pt x="905828" y="0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053262" y="2706052"/>
              <a:ext cx="104775" cy="92392"/>
            </a:xfrm>
            <a:custGeom>
              <a:avLst/>
              <a:gdLst/>
              <a:ahLst/>
              <a:cxnLst/>
              <a:rect l="l" t="t" r="r" b="b"/>
              <a:pathLst>
                <a:path w="104775" h="92392">
                  <a:moveTo>
                    <a:pt x="104775" y="20955"/>
                  </a:moveTo>
                  <a:lnTo>
                    <a:pt x="25718" y="92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6161722" y="3083242"/>
              <a:ext cx="902970" cy="228600"/>
            </a:xfrm>
            <a:custGeom>
              <a:avLst/>
              <a:gdLst/>
              <a:ahLst/>
              <a:cxnLst/>
              <a:rect l="l" t="t" r="r" b="b"/>
              <a:pathLst>
                <a:path w="902970" h="228600">
                  <a:moveTo>
                    <a:pt x="0" y="0"/>
                  </a:moveTo>
                  <a:lnTo>
                    <a:pt x="902970" y="2286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7053262" y="3265170"/>
              <a:ext cx="103822" cy="92392"/>
            </a:xfrm>
            <a:custGeom>
              <a:avLst/>
              <a:gdLst/>
              <a:ahLst/>
              <a:cxnLst/>
              <a:rect l="l" t="t" r="r" b="b"/>
              <a:pathLst>
                <a:path w="103822" h="92392">
                  <a:moveTo>
                    <a:pt x="103822" y="69533"/>
                  </a:moveTo>
                  <a:lnTo>
                    <a:pt x="0" y="92392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6132195" y="3143250"/>
              <a:ext cx="979170" cy="763905"/>
            </a:xfrm>
            <a:custGeom>
              <a:avLst/>
              <a:gdLst/>
              <a:ahLst/>
              <a:cxnLst/>
              <a:rect l="l" t="t" r="r" b="b"/>
              <a:pathLst>
                <a:path w="979170" h="763905">
                  <a:moveTo>
                    <a:pt x="0" y="0"/>
                  </a:moveTo>
                  <a:lnTo>
                    <a:pt x="979170" y="7639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081838" y="3869055"/>
              <a:ext cx="104775" cy="96203"/>
            </a:xfrm>
            <a:custGeom>
              <a:avLst/>
              <a:gdLst/>
              <a:ahLst/>
              <a:cxnLst/>
              <a:rect l="l" t="t" r="r" b="b"/>
              <a:pathLst>
                <a:path w="104775" h="96203">
                  <a:moveTo>
                    <a:pt x="104775" y="96203"/>
                  </a:moveTo>
                  <a:lnTo>
                    <a:pt x="0" y="75248"/>
                  </a:lnTo>
                  <a:lnTo>
                    <a:pt x="5905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7474268" y="2019300"/>
              <a:ext cx="954405" cy="154305"/>
            </a:xfrm>
            <a:custGeom>
              <a:avLst/>
              <a:gdLst/>
              <a:ahLst/>
              <a:cxnLst/>
              <a:rect l="l" t="t" r="r" b="b"/>
              <a:pathLst>
                <a:path w="954405" h="154305">
                  <a:moveTo>
                    <a:pt x="0" y="0"/>
                  </a:moveTo>
                  <a:lnTo>
                    <a:pt x="954405" y="1543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421052" y="2126932"/>
              <a:ext cx="101917" cy="93345"/>
            </a:xfrm>
            <a:custGeom>
              <a:avLst/>
              <a:gdLst/>
              <a:ahLst/>
              <a:cxnLst/>
              <a:rect l="l" t="t" r="r" b="b"/>
              <a:pathLst>
                <a:path w="101917" h="93345">
                  <a:moveTo>
                    <a:pt x="101917" y="61912"/>
                  </a:moveTo>
                  <a:lnTo>
                    <a:pt x="0" y="93345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7442835" y="2091690"/>
              <a:ext cx="1036320" cy="795338"/>
            </a:xfrm>
            <a:custGeom>
              <a:avLst/>
              <a:gdLst/>
              <a:ahLst/>
              <a:cxnLst/>
              <a:rect l="l" t="t" r="r" b="b"/>
              <a:pathLst>
                <a:path w="1036320" h="795338">
                  <a:moveTo>
                    <a:pt x="0" y="0"/>
                  </a:moveTo>
                  <a:lnTo>
                    <a:pt x="1036320" y="7953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449628" y="2848928"/>
              <a:ext cx="104775" cy="96202"/>
            </a:xfrm>
            <a:custGeom>
              <a:avLst/>
              <a:gdLst/>
              <a:ahLst/>
              <a:cxnLst/>
              <a:rect l="l" t="t" r="r" b="b"/>
              <a:pathLst>
                <a:path w="104775" h="96202">
                  <a:moveTo>
                    <a:pt x="104775" y="96202"/>
                  </a:moveTo>
                  <a:lnTo>
                    <a:pt x="0" y="75247"/>
                  </a:lnTo>
                  <a:lnTo>
                    <a:pt x="5810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7409498" y="2124075"/>
              <a:ext cx="1122045" cy="1540192"/>
            </a:xfrm>
            <a:custGeom>
              <a:avLst/>
              <a:gdLst/>
              <a:ahLst/>
              <a:cxnLst/>
              <a:rect l="l" t="t" r="r" b="b"/>
              <a:pathLst>
                <a:path w="1122045" h="1540192">
                  <a:moveTo>
                    <a:pt x="0" y="0"/>
                  </a:moveTo>
                  <a:lnTo>
                    <a:pt x="1122045" y="154019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493442" y="3635692"/>
              <a:ext cx="94297" cy="105728"/>
            </a:xfrm>
            <a:custGeom>
              <a:avLst/>
              <a:gdLst/>
              <a:ahLst/>
              <a:cxnLst/>
              <a:rect l="l" t="t" r="r" b="b"/>
              <a:pathLst>
                <a:path w="94297" h="105728">
                  <a:moveTo>
                    <a:pt x="94297" y="105728"/>
                  </a:moveTo>
                  <a:lnTo>
                    <a:pt x="0" y="56198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7467600" y="2298382"/>
              <a:ext cx="972503" cy="333375"/>
            </a:xfrm>
            <a:custGeom>
              <a:avLst/>
              <a:gdLst/>
              <a:ahLst/>
              <a:cxnLst/>
              <a:rect l="l" t="t" r="r" b="b"/>
              <a:pathLst>
                <a:path w="972503" h="333375">
                  <a:moveTo>
                    <a:pt x="0" y="333375"/>
                  </a:moveTo>
                  <a:lnTo>
                    <a:pt x="972503" y="0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423910" y="2252662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14288"/>
                  </a:moveTo>
                  <a:lnTo>
                    <a:pt x="31433" y="90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7470458" y="2725102"/>
              <a:ext cx="963930" cy="252412"/>
            </a:xfrm>
            <a:custGeom>
              <a:avLst/>
              <a:gdLst/>
              <a:ahLst/>
              <a:cxnLst/>
              <a:rect l="l" t="t" r="r" b="b"/>
              <a:pathLst>
                <a:path w="963930" h="252412">
                  <a:moveTo>
                    <a:pt x="0" y="0"/>
                  </a:moveTo>
                  <a:lnTo>
                    <a:pt x="963930" y="2524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422005" y="2931795"/>
              <a:ext cx="104775" cy="92392"/>
            </a:xfrm>
            <a:custGeom>
              <a:avLst/>
              <a:gdLst/>
              <a:ahLst/>
              <a:cxnLst/>
              <a:rect l="l" t="t" r="r" b="b"/>
              <a:pathLst>
                <a:path w="104775" h="92392">
                  <a:moveTo>
                    <a:pt x="104775" y="70485"/>
                  </a:moveTo>
                  <a:lnTo>
                    <a:pt x="0" y="92392"/>
                  </a:lnTo>
                  <a:lnTo>
                    <a:pt x="2476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7466648" y="3429952"/>
              <a:ext cx="974408" cy="354330"/>
            </a:xfrm>
            <a:custGeom>
              <a:avLst/>
              <a:gdLst/>
              <a:ahLst/>
              <a:cxnLst/>
              <a:rect l="l" t="t" r="r" b="b"/>
              <a:pathLst>
                <a:path w="974408" h="354330">
                  <a:moveTo>
                    <a:pt x="0" y="0"/>
                  </a:moveTo>
                  <a:lnTo>
                    <a:pt x="974408" y="3543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424862" y="3739515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77152"/>
                  </a:moveTo>
                  <a:lnTo>
                    <a:pt x="0" y="89535"/>
                  </a:lnTo>
                  <a:lnTo>
                    <a:pt x="3238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7443788" y="3197542"/>
              <a:ext cx="1033462" cy="770573"/>
            </a:xfrm>
            <a:custGeom>
              <a:avLst/>
              <a:gdLst/>
              <a:ahLst/>
              <a:cxnLst/>
              <a:rect l="l" t="t" r="r" b="b"/>
              <a:pathLst>
                <a:path w="1033462" h="770573">
                  <a:moveTo>
                    <a:pt x="0" y="770573"/>
                  </a:moveTo>
                  <a:lnTo>
                    <a:pt x="103346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8448675" y="3140392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104775" y="0"/>
                  </a:moveTo>
                  <a:lnTo>
                    <a:pt x="57150" y="9525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7474268" y="3908108"/>
              <a:ext cx="954405" cy="134302"/>
            </a:xfrm>
            <a:custGeom>
              <a:avLst/>
              <a:gdLst/>
              <a:ahLst/>
              <a:cxnLst/>
              <a:rect l="l" t="t" r="r" b="b"/>
              <a:pathLst>
                <a:path w="954405" h="134302">
                  <a:moveTo>
                    <a:pt x="0" y="134302"/>
                  </a:moveTo>
                  <a:lnTo>
                    <a:pt x="9544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422005" y="3860482"/>
              <a:ext cx="100965" cy="94297"/>
            </a:xfrm>
            <a:custGeom>
              <a:avLst/>
              <a:gdLst/>
              <a:ahLst/>
              <a:cxnLst/>
              <a:rect l="l" t="t" r="r" b="b"/>
              <a:pathLst>
                <a:path w="100965" h="94297">
                  <a:moveTo>
                    <a:pt x="100965" y="34290"/>
                  </a:moveTo>
                  <a:lnTo>
                    <a:pt x="13335" y="942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8844915" y="2214562"/>
              <a:ext cx="949642" cy="9525"/>
            </a:xfrm>
            <a:custGeom>
              <a:avLst/>
              <a:gdLst/>
              <a:ahLst/>
              <a:cxnLst/>
              <a:rect l="l" t="t" r="r" b="b"/>
              <a:pathLst>
                <a:path w="949642" h="9525">
                  <a:moveTo>
                    <a:pt x="0" y="0"/>
                  </a:moveTo>
                  <a:lnTo>
                    <a:pt x="94964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9794558" y="21669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8821102" y="2298382"/>
              <a:ext cx="989647" cy="599122"/>
            </a:xfrm>
            <a:custGeom>
              <a:avLst/>
              <a:gdLst/>
              <a:ahLst/>
              <a:cxnLst/>
              <a:rect l="l" t="t" r="r" b="b"/>
              <a:pathLst>
                <a:path w="989647" h="599122">
                  <a:moveTo>
                    <a:pt x="0" y="0"/>
                  </a:moveTo>
                  <a:lnTo>
                    <a:pt x="989647" y="599122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9785985" y="2856548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105727" y="89535"/>
                  </a:moveTo>
                  <a:lnTo>
                    <a:pt x="0" y="80962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8821102" y="2347912"/>
              <a:ext cx="1010603" cy="611505"/>
            </a:xfrm>
            <a:custGeom>
              <a:avLst/>
              <a:gdLst/>
              <a:ahLst/>
              <a:cxnLst/>
              <a:rect l="l" t="t" r="r" b="b"/>
              <a:pathLst>
                <a:path w="1010603" h="611505">
                  <a:moveTo>
                    <a:pt x="0" y="611505"/>
                  </a:moveTo>
                  <a:lnTo>
                    <a:pt x="101060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9806940" y="2298382"/>
              <a:ext cx="106680" cy="90488"/>
            </a:xfrm>
            <a:custGeom>
              <a:avLst/>
              <a:gdLst/>
              <a:ahLst/>
              <a:cxnLst/>
              <a:rect l="l" t="t" r="r" b="b"/>
              <a:pathLst>
                <a:path w="106680" h="90488">
                  <a:moveTo>
                    <a:pt x="106680" y="0"/>
                  </a:moveTo>
                  <a:lnTo>
                    <a:pt x="49530" y="90488"/>
                  </a:lnTo>
                  <a:lnTo>
                    <a:pt x="0" y="857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8844915" y="3043238"/>
              <a:ext cx="924878" cy="9525"/>
            </a:xfrm>
            <a:custGeom>
              <a:avLst/>
              <a:gdLst/>
              <a:ahLst/>
              <a:cxnLst/>
              <a:rect l="l" t="t" r="r" b="b"/>
              <a:pathLst>
                <a:path w="924878" h="9525">
                  <a:moveTo>
                    <a:pt x="0" y="0"/>
                  </a:moveTo>
                  <a:lnTo>
                    <a:pt x="92487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9769792" y="29956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8821102" y="3188970"/>
              <a:ext cx="989647" cy="599122"/>
            </a:xfrm>
            <a:custGeom>
              <a:avLst/>
              <a:gdLst/>
              <a:ahLst/>
              <a:cxnLst/>
              <a:rect l="l" t="t" r="r" b="b"/>
              <a:pathLst>
                <a:path w="989647" h="599122">
                  <a:moveTo>
                    <a:pt x="0" y="599122"/>
                  </a:moveTo>
                  <a:lnTo>
                    <a:pt x="98964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9785985" y="3140392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105727" y="0"/>
                  </a:moveTo>
                  <a:lnTo>
                    <a:pt x="49530" y="89535"/>
                  </a:lnTo>
                  <a:lnTo>
                    <a:pt x="0" y="857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8844915" y="3871912"/>
              <a:ext cx="924878" cy="9525"/>
            </a:xfrm>
            <a:custGeom>
              <a:avLst/>
              <a:gdLst/>
              <a:ahLst/>
              <a:cxnLst/>
              <a:rect l="l" t="t" r="r" b="b"/>
              <a:pathLst>
                <a:path w="924878" h="9525">
                  <a:moveTo>
                    <a:pt x="0" y="0"/>
                  </a:moveTo>
                  <a:lnTo>
                    <a:pt x="92487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9769792" y="38242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10188892" y="2301240"/>
              <a:ext cx="933450" cy="591502"/>
            </a:xfrm>
            <a:custGeom>
              <a:avLst/>
              <a:gdLst/>
              <a:ahLst/>
              <a:cxnLst/>
              <a:rect l="l" t="t" r="r" b="b"/>
              <a:pathLst>
                <a:path w="933450" h="591502">
                  <a:moveTo>
                    <a:pt x="0" y="0"/>
                  </a:moveTo>
                  <a:lnTo>
                    <a:pt x="933450" y="59150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11097578" y="2851785"/>
              <a:ext cx="105728" cy="91440"/>
            </a:xfrm>
            <a:custGeom>
              <a:avLst/>
              <a:gdLst/>
              <a:ahLst/>
              <a:cxnLst/>
              <a:rect l="l" t="t" r="r" b="b"/>
              <a:pathLst>
                <a:path w="105728" h="91440">
                  <a:moveTo>
                    <a:pt x="105728" y="91440"/>
                  </a:moveTo>
                  <a:lnTo>
                    <a:pt x="0" y="80962"/>
                  </a:lnTo>
                  <a:lnTo>
                    <a:pt x="5048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10238422" y="3043238"/>
              <a:ext cx="840105" cy="9525"/>
            </a:xfrm>
            <a:custGeom>
              <a:avLst/>
              <a:gdLst/>
              <a:ahLst/>
              <a:cxnLst/>
              <a:rect l="l" t="t" r="r" b="b"/>
              <a:pathLst>
                <a:path w="840105" h="9525">
                  <a:moveTo>
                    <a:pt x="0" y="0"/>
                  </a:moveTo>
                  <a:lnTo>
                    <a:pt x="840105" y="0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11078528" y="29956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10209848" y="3193732"/>
              <a:ext cx="912495" cy="578167"/>
            </a:xfrm>
            <a:custGeom>
              <a:avLst/>
              <a:gdLst/>
              <a:ahLst/>
              <a:cxnLst/>
              <a:rect l="l" t="t" r="r" b="b"/>
              <a:pathLst>
                <a:path w="912495" h="578167">
                  <a:moveTo>
                    <a:pt x="0" y="578167"/>
                  </a:moveTo>
                  <a:lnTo>
                    <a:pt x="91249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11097578" y="3143250"/>
              <a:ext cx="105728" cy="91440"/>
            </a:xfrm>
            <a:custGeom>
              <a:avLst/>
              <a:gdLst/>
              <a:ahLst/>
              <a:cxnLst/>
              <a:rect l="l" t="t" r="r" b="b"/>
              <a:pathLst>
                <a:path w="105728" h="91440">
                  <a:moveTo>
                    <a:pt x="105728" y="0"/>
                  </a:moveTo>
                  <a:lnTo>
                    <a:pt x="50483" y="91440"/>
                  </a:lnTo>
                  <a:lnTo>
                    <a:pt x="0" y="1047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5852160" y="2890838"/>
              <a:ext cx="304800" cy="3048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7161848" y="184118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7161848" y="253174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7161848" y="322230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7161848" y="391287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8530590" y="206216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8530590" y="289083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8530590" y="371951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9899332" y="206216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9874568" y="2866072"/>
              <a:ext cx="354330" cy="3543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9874568" y="3694748"/>
              <a:ext cx="354330" cy="3543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11184255" y="2866072"/>
              <a:ext cx="354330" cy="35433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5955309" y="29732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264996" y="19235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264996" y="26141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264996" y="33046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264996" y="39952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633739" y="21445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633739" y="29732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633739" y="38019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002481" y="21445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958945" y="297322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958945" y="380190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268633" y="297322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5906844" y="155305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V₁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216532" y="155305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585274" y="155305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954017" y="155305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263704" y="155305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V₅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542028" y="236886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649661" y="291846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786821" y="331374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6548696" y="359283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7976493" y="194024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304153" y="257556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7934583" y="30403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8060313" y="22364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7655501" y="284702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7691954" y="334899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7495739" y="36423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976493" y="402050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9328091" y="225837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923278" y="246792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9731951" y="246792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9328091" y="308705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9387146" y="350424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9328091" y="391572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0601583" y="267557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0666353" y="308705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0732076" y="350424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124" name="c2-card-2"/>
          <p:cNvGrpSpPr/>
          <p:nvPr/>
        </p:nvGrpSpPr>
        <p:grpSpPr>
          <a:xfrm>
            <a:off x="5707380" y="4476750"/>
            <a:ext cx="5951220" cy="1670685"/>
            <a:chOff x="5707380" y="4476750"/>
            <a:chExt cx="5951220" cy="1670685"/>
          </a:xfrm>
        </p:grpSpPr>
        <p:sp>
          <p:nvSpPr>
            <p:cNvPr id="115" name="Rectangle 115"/>
            <p:cNvSpPr/>
            <p:nvPr/>
          </p:nvSpPr>
          <p:spPr>
            <a:xfrm>
              <a:off x="5707380" y="4476750"/>
              <a:ext cx="5951220" cy="1670685"/>
            </a:xfrm>
            <a:prstGeom prst="roundRect">
              <a:avLst>
                <a:gd name="adj" fmla="val 7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5716905" y="4610100"/>
              <a:ext cx="47625" cy="140398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17" name="Rectangle 117"/>
            <p:cNvSpPr/>
            <p:nvPr/>
          </p:nvSpPr>
          <p:spPr>
            <a:xfrm>
              <a:off x="5955030" y="46863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6045238" y="47220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思考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6556058" y="472154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向后处理算法怎样实现</a:t>
              </a:r>
            </a:p>
          </p:txBody>
        </p:sp>
        <p:sp>
          <p:nvSpPr>
            <p:cNvPr id="120" name="Ellipse 120"/>
            <p:cNvSpPr/>
            <p:nvPr/>
          </p:nvSpPr>
          <p:spPr>
            <a:xfrm>
              <a:off x="5960745" y="51454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6118860" y="5082540"/>
              <a:ext cx="4692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按编号从小到大计算 BCOST(j)，要找的是 j 的所有入边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&lt;l,j&gt;</a:t>
              </a:r>
            </a:p>
          </p:txBody>
        </p:sp>
        <p:sp>
          <p:nvSpPr>
            <p:cNvPr id="122" name="Ellipse 122"/>
            <p:cNvSpPr/>
            <p:nvPr/>
          </p:nvSpPr>
          <p:spPr>
            <a:xfrm>
              <a:off x="5960745" y="57664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6118860" y="5703570"/>
              <a:ext cx="45925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所以用逆邻接表（入边表）存图，时间仍为 Θ(n+e)</a:t>
              </a:r>
            </a:p>
          </p:txBody>
        </p:sp>
      </p:grpSp>
      <p:grpSp>
        <p:nvGrpSpPr>
          <p:cNvPr id="12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5" name="TextBox 12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09241" cy="909257"/>
            <a:chOff x="520446" y="342900"/>
            <a:chExt cx="92092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多段图问题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092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向后处理的计算过程：BCOST(12)=16，再从 t 往回找路径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7" name="c1-table-1"/>
          <p:cNvGrpSpPr/>
          <p:nvPr/>
        </p:nvGrpSpPr>
        <p:grpSpPr>
          <a:xfrm>
            <a:off x="533400" y="1524000"/>
            <a:ext cx="11125200" cy="3871912"/>
            <a:chOff x="533400" y="1524000"/>
            <a:chExt cx="11125200" cy="38719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1350" y="165544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72211" y="1655445"/>
              <a:ext cx="4370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 j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78307" y="1655445"/>
              <a:ext cx="19457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候选 l：BCOST(l)+c(l,j)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40226" y="1655445"/>
              <a:ext cx="5408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BCOST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713583" y="165544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3549" y="208502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00975" y="2085022"/>
              <a:ext cx="779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2, 3, 4, 5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63787" y="2085022"/>
              <a:ext cx="20961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只有来自 s 的边：9, 7, 3, 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20912" y="2085022"/>
              <a:ext cx="779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9, 7, 3, 2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718444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37934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384108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3549" y="251555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40217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63787" y="2515552"/>
              <a:ext cx="16034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2: 9+4=13；3: 7+2=9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16015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71844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8098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040217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863787" y="2946082"/>
              <a:ext cx="27019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2: 9+2=11；3: 7+7=14；5: 2+11=13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115730" y="294608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718444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2394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324421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040217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863787" y="3375660"/>
              <a:ext cx="27019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2: 9+1=10；4: 3+11=14；5: 2+8=10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115730" y="33756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326700" y="3375660"/>
              <a:ext cx="88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2（5 也可）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6699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3549" y="380619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040217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863787" y="3806190"/>
              <a:ext cx="17810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6: 9+6=15；7: 11+4=15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15730" y="380619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326700" y="3806190"/>
              <a:ext cx="88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6（7 也可）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1005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410527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995792" y="423576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863787" y="4235768"/>
              <a:ext cx="27907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6: 9+5=14；7: 11+3=14；8: 10+5=15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115730" y="423576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326700" y="4235768"/>
              <a:ext cx="88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6（7 也可）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45300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995792" y="466629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863787" y="4666298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8: 10+6=16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115730" y="466629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718444" y="466629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496062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33400" y="4965382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73549" y="509682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V₅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995792" y="509682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863787" y="5096828"/>
              <a:ext cx="30572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9: 15+4=19；10: 14+2=16；11: 16+5=21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553450" y="4974908"/>
              <a:ext cx="1316355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115730" y="509682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887902" y="4974908"/>
              <a:ext cx="1761172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674020" y="509682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33400" y="1524000"/>
              <a:ext cx="11125200" cy="38709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1418272" y="1524000"/>
              <a:ext cx="9525" cy="38709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2753678" y="1524000"/>
              <a:ext cx="9525" cy="38709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8539162" y="1524000"/>
              <a:ext cx="9525" cy="38709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9873615" y="1524000"/>
              <a:ext cx="9525" cy="38709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3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68" name="Rectangle 68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5884547"/>
              <a:ext cx="200023" cy="200023"/>
              <a:chOff x="738188" y="5884547"/>
              <a:chExt cx="200023" cy="200023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8188" y="58845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71538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0511" y="5753576"/>
              <a:ext cx="978890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回溯：D(12)=10，D(10)=6，D(6)=3，D(3)=1，路径 1→3→6→10→12，成本 16。并列时改取另一个 l，会得到向前处理找到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 1→2→7→10→12，成本同为 16。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90709" cy="909257"/>
            <a:chOff x="520446" y="342900"/>
            <a:chExt cx="66907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多段图问题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907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多段图的应用：把 n 个资源分配给 r 个项目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card-1"/>
          <p:cNvGrpSpPr/>
          <p:nvPr/>
        </p:nvGrpSpPr>
        <p:grpSpPr>
          <a:xfrm>
            <a:off x="533400" y="1524000"/>
            <a:ext cx="4544378" cy="3419475"/>
            <a:chOff x="533400" y="1524000"/>
            <a:chExt cx="4544378" cy="34194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3419475"/>
            </a:xfrm>
            <a:prstGeom prst="roundRect">
              <a:avLst>
                <a:gd name="adj" fmla="val 39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15277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建模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6762" y="211074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2782" y="2054542"/>
              <a:ext cx="37170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N(i,j)：把 j 个资源分给项目 i 获得的利润，要求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总利润最大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66890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612708"/>
              <a:ext cx="3840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 V(i,j)：前 i−1 个项目一共分到了 j 个资源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296894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2912745"/>
              <a:ext cx="37427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 &lt;V(i,j), V(i+1,l)&gt;（j≤l）：项目 i 分到 l−j 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资源，边的值为 N(i, l−j)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6762" y="352615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2782" y="3469958"/>
              <a:ext cx="38027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s=V(1,0) 到 V(i+1,l) 的路径：前 i 个项目共分到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个资源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6762" y="408336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2782" y="4027170"/>
              <a:ext cx="32712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最后一段的边 &lt;V(r,j), V(r+1,n)&gt; 的值为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max{N(r,p) | 0≤p≤n−j}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2475" y="4581049"/>
              <a:ext cx="26277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共 r+1 段，s=V(1,0)，t=V(r+1,n)。</a:t>
              </a:r>
            </a:p>
          </p:txBody>
        </p:sp>
      </p:grpSp>
      <p:grpSp>
        <p:nvGrpSpPr>
          <p:cNvPr id="29" name="c1-callout-2"/>
          <p:cNvGrpSpPr/>
          <p:nvPr/>
        </p:nvGrpSpPr>
        <p:grpSpPr>
          <a:xfrm>
            <a:off x="533400" y="5113020"/>
            <a:ext cx="4544378" cy="1149668"/>
            <a:chOff x="533400" y="5113020"/>
            <a:chExt cx="4544378" cy="1149668"/>
          </a:xfrm>
        </p:grpSpPr>
        <p:sp>
          <p:nvSpPr>
            <p:cNvPr id="23" name="Rectangle 23"/>
            <p:cNvSpPr/>
            <p:nvPr/>
          </p:nvSpPr>
          <p:spPr>
            <a:xfrm>
              <a:off x="533400" y="5113020"/>
              <a:ext cx="4544378" cy="1149668"/>
            </a:xfrm>
            <a:prstGeom prst="roundRect">
              <a:avLst>
                <a:gd name="adj" fmla="val 994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26129" y="5584626"/>
              <a:ext cx="224134" cy="192560"/>
              <a:chOff x="726129" y="5584626"/>
              <a:chExt cx="224134" cy="19256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38200" y="565499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26129" y="558462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38200" y="573278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892" y="5469255"/>
              <a:ext cx="363988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这里求的是利润最大的路径：把递推式中的 min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换成 max，或者把边值取负后求最小成本路径。</a:t>
              </a:r>
            </a:p>
          </p:txBody>
        </p:sp>
      </p:grpSp>
      <p:grpSp>
        <p:nvGrpSpPr>
          <p:cNvPr id="115" name="c2-graph-1"/>
          <p:cNvGrpSpPr/>
          <p:nvPr/>
        </p:nvGrpSpPr>
        <p:grpSpPr>
          <a:xfrm>
            <a:off x="5447348" y="1642586"/>
            <a:ext cx="6147434" cy="2518886"/>
            <a:chOff x="5447348" y="1642586"/>
            <a:chExt cx="6147434" cy="2518886"/>
          </a:xfrm>
        </p:grpSpPr>
        <p:sp>
          <p:nvSpPr>
            <p:cNvPr id="30" name="Freeform 30"/>
            <p:cNvSpPr/>
            <p:nvPr/>
          </p:nvSpPr>
          <p:spPr>
            <a:xfrm>
              <a:off x="5945505" y="1945005"/>
              <a:ext cx="1304925" cy="842010"/>
            </a:xfrm>
            <a:custGeom>
              <a:avLst/>
              <a:gdLst/>
              <a:ahLst/>
              <a:cxnLst/>
              <a:rect l="l" t="t" r="r" b="b"/>
              <a:pathLst>
                <a:path w="1304925" h="842010">
                  <a:moveTo>
                    <a:pt x="0" y="842010"/>
                  </a:moveTo>
                  <a:lnTo>
                    <a:pt x="13049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224712" y="1892618"/>
              <a:ext cx="105728" cy="92393"/>
            </a:xfrm>
            <a:custGeom>
              <a:avLst/>
              <a:gdLst/>
              <a:ahLst/>
              <a:cxnLst/>
              <a:rect l="l" t="t" r="r" b="b"/>
              <a:pathLst>
                <a:path w="105728" h="92393">
                  <a:moveTo>
                    <a:pt x="105728" y="0"/>
                  </a:moveTo>
                  <a:lnTo>
                    <a:pt x="51435" y="92393"/>
                  </a:lnTo>
                  <a:lnTo>
                    <a:pt x="0" y="1238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6071235" y="2469832"/>
              <a:ext cx="1042035" cy="336233"/>
            </a:xfrm>
            <a:custGeom>
              <a:avLst/>
              <a:gdLst/>
              <a:ahLst/>
              <a:cxnLst/>
              <a:rect l="l" t="t" r="r" b="b"/>
              <a:pathLst>
                <a:path w="1042035" h="336233">
                  <a:moveTo>
                    <a:pt x="0" y="336233"/>
                  </a:moveTo>
                  <a:lnTo>
                    <a:pt x="10420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098982" y="2425065"/>
              <a:ext cx="104775" cy="90488"/>
            </a:xfrm>
            <a:custGeom>
              <a:avLst/>
              <a:gdLst/>
              <a:ahLst/>
              <a:cxnLst/>
              <a:rect l="l" t="t" r="r" b="b"/>
              <a:pathLst>
                <a:path w="104775" h="90488">
                  <a:moveTo>
                    <a:pt x="104775" y="15240"/>
                  </a:moveTo>
                  <a:lnTo>
                    <a:pt x="29528" y="90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6071235" y="2907030"/>
              <a:ext cx="1037272" cy="9525"/>
            </a:xfrm>
            <a:custGeom>
              <a:avLst/>
              <a:gdLst/>
              <a:ahLst/>
              <a:cxnLst/>
              <a:rect l="l" t="t" r="r" b="b"/>
              <a:pathLst>
                <a:path w="1037272" h="9525">
                  <a:moveTo>
                    <a:pt x="0" y="0"/>
                  </a:moveTo>
                  <a:lnTo>
                    <a:pt x="103727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108508" y="28594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6071235" y="3007995"/>
              <a:ext cx="1042035" cy="336233"/>
            </a:xfrm>
            <a:custGeom>
              <a:avLst/>
              <a:gdLst/>
              <a:ahLst/>
              <a:cxnLst/>
              <a:rect l="l" t="t" r="r" b="b"/>
              <a:pathLst>
                <a:path w="1042035" h="336233">
                  <a:moveTo>
                    <a:pt x="0" y="0"/>
                  </a:moveTo>
                  <a:lnTo>
                    <a:pt x="1042035" y="33623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098982" y="3298508"/>
              <a:ext cx="104775" cy="90488"/>
            </a:xfrm>
            <a:custGeom>
              <a:avLst/>
              <a:gdLst/>
              <a:ahLst/>
              <a:cxnLst/>
              <a:rect l="l" t="t" r="r" b="b"/>
              <a:pathLst>
                <a:path w="104775" h="90488">
                  <a:moveTo>
                    <a:pt x="104775" y="75247"/>
                  </a:moveTo>
                  <a:lnTo>
                    <a:pt x="0" y="90488"/>
                  </a:lnTo>
                  <a:lnTo>
                    <a:pt x="2952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5945505" y="3027045"/>
              <a:ext cx="1304925" cy="842010"/>
            </a:xfrm>
            <a:custGeom>
              <a:avLst/>
              <a:gdLst/>
              <a:ahLst/>
              <a:cxnLst/>
              <a:rect l="l" t="t" r="r" b="b"/>
              <a:pathLst>
                <a:path w="1304925" h="842010">
                  <a:moveTo>
                    <a:pt x="0" y="0"/>
                  </a:moveTo>
                  <a:lnTo>
                    <a:pt x="1304925" y="8420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224712" y="3829050"/>
              <a:ext cx="105728" cy="92392"/>
            </a:xfrm>
            <a:custGeom>
              <a:avLst/>
              <a:gdLst/>
              <a:ahLst/>
              <a:cxnLst/>
              <a:rect l="l" t="t" r="r" b="b"/>
              <a:pathLst>
                <a:path w="105728" h="92392">
                  <a:moveTo>
                    <a:pt x="105728" y="92392"/>
                  </a:moveTo>
                  <a:lnTo>
                    <a:pt x="0" y="80010"/>
                  </a:lnTo>
                  <a:lnTo>
                    <a:pt x="5143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7828598" y="1772602"/>
              <a:ext cx="1288733" cy="9525"/>
            </a:xfrm>
            <a:custGeom>
              <a:avLst/>
              <a:gdLst/>
              <a:ahLst/>
              <a:cxnLst/>
              <a:rect l="l" t="t" r="r" b="b"/>
              <a:pathLst>
                <a:path w="1288733" h="9525">
                  <a:moveTo>
                    <a:pt x="0" y="0"/>
                  </a:moveTo>
                  <a:lnTo>
                    <a:pt x="128873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117330" y="172497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7828598" y="1861185"/>
              <a:ext cx="1292543" cy="364807"/>
            </a:xfrm>
            <a:custGeom>
              <a:avLst/>
              <a:gdLst/>
              <a:ahLst/>
              <a:cxnLst/>
              <a:rect l="l" t="t" r="r" b="b"/>
              <a:pathLst>
                <a:path w="1292543" h="364807">
                  <a:moveTo>
                    <a:pt x="0" y="0"/>
                  </a:moveTo>
                  <a:lnTo>
                    <a:pt x="1292543" y="3648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107805" y="2180272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71438"/>
                  </a:moveTo>
                  <a:lnTo>
                    <a:pt x="0" y="91440"/>
                  </a:lnTo>
                  <a:lnTo>
                    <a:pt x="2571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7729538" y="1892618"/>
              <a:ext cx="1500188" cy="847725"/>
            </a:xfrm>
            <a:custGeom>
              <a:avLst/>
              <a:gdLst/>
              <a:ahLst/>
              <a:cxnLst/>
              <a:rect l="l" t="t" r="r" b="b"/>
              <a:pathLst>
                <a:path w="1500188" h="847725">
                  <a:moveTo>
                    <a:pt x="0" y="0"/>
                  </a:moveTo>
                  <a:lnTo>
                    <a:pt x="1500188" y="8477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9205912" y="2698432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106680" y="88583"/>
                  </a:moveTo>
                  <a:lnTo>
                    <a:pt x="0" y="82867"/>
                  </a:lnTo>
                  <a:lnTo>
                    <a:pt x="4667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7658100" y="1892618"/>
              <a:ext cx="1652588" cy="1400175"/>
            </a:xfrm>
            <a:custGeom>
              <a:avLst/>
              <a:gdLst/>
              <a:ahLst/>
              <a:cxnLst/>
              <a:rect l="l" t="t" r="r" b="b"/>
              <a:pathLst>
                <a:path w="1652588" h="1400175">
                  <a:moveTo>
                    <a:pt x="0" y="0"/>
                  </a:moveTo>
                  <a:lnTo>
                    <a:pt x="1652588" y="14001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9279255" y="3256598"/>
              <a:ext cx="103822" cy="97155"/>
            </a:xfrm>
            <a:custGeom>
              <a:avLst/>
              <a:gdLst/>
              <a:ahLst/>
              <a:cxnLst/>
              <a:rect l="l" t="t" r="r" b="b"/>
              <a:pathLst>
                <a:path w="103822" h="97155">
                  <a:moveTo>
                    <a:pt x="103822" y="97155"/>
                  </a:moveTo>
                  <a:lnTo>
                    <a:pt x="0" y="72390"/>
                  </a:lnTo>
                  <a:lnTo>
                    <a:pt x="6191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7622858" y="1892618"/>
              <a:ext cx="1732598" cy="1957388"/>
            </a:xfrm>
            <a:custGeom>
              <a:avLst/>
              <a:gdLst/>
              <a:ahLst/>
              <a:cxnLst/>
              <a:rect l="l" t="t" r="r" b="b"/>
              <a:pathLst>
                <a:path w="1732598" h="1957388">
                  <a:moveTo>
                    <a:pt x="0" y="0"/>
                  </a:moveTo>
                  <a:lnTo>
                    <a:pt x="1732598" y="19573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9320212" y="3818572"/>
              <a:ext cx="98107" cy="102870"/>
            </a:xfrm>
            <a:custGeom>
              <a:avLst/>
              <a:gdLst/>
              <a:ahLst/>
              <a:cxnLst/>
              <a:rect l="l" t="t" r="r" b="b"/>
              <a:pathLst>
                <a:path w="98107" h="102870">
                  <a:moveTo>
                    <a:pt x="98107" y="102870"/>
                  </a:moveTo>
                  <a:lnTo>
                    <a:pt x="0" y="62865"/>
                  </a:lnTo>
                  <a:lnTo>
                    <a:pt x="7048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7828598" y="2340292"/>
              <a:ext cx="1288733" cy="9525"/>
            </a:xfrm>
            <a:custGeom>
              <a:avLst/>
              <a:gdLst/>
              <a:ahLst/>
              <a:cxnLst/>
              <a:rect l="l" t="t" r="r" b="b"/>
              <a:pathLst>
                <a:path w="1288733" h="9525">
                  <a:moveTo>
                    <a:pt x="0" y="0"/>
                  </a:moveTo>
                  <a:lnTo>
                    <a:pt x="128873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9117330" y="22926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7828598" y="2427922"/>
              <a:ext cx="1292543" cy="364807"/>
            </a:xfrm>
            <a:custGeom>
              <a:avLst/>
              <a:gdLst/>
              <a:ahLst/>
              <a:cxnLst/>
              <a:rect l="l" t="t" r="r" b="b"/>
              <a:pathLst>
                <a:path w="1292543" h="364807">
                  <a:moveTo>
                    <a:pt x="0" y="0"/>
                  </a:moveTo>
                  <a:lnTo>
                    <a:pt x="1292543" y="3648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9107805" y="2747010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71438"/>
                  </a:moveTo>
                  <a:lnTo>
                    <a:pt x="0" y="91440"/>
                  </a:lnTo>
                  <a:lnTo>
                    <a:pt x="2571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7729538" y="2460308"/>
              <a:ext cx="1500188" cy="846772"/>
            </a:xfrm>
            <a:custGeom>
              <a:avLst/>
              <a:gdLst/>
              <a:ahLst/>
              <a:cxnLst/>
              <a:rect l="l" t="t" r="r" b="b"/>
              <a:pathLst>
                <a:path w="1500188" h="846772">
                  <a:moveTo>
                    <a:pt x="0" y="0"/>
                  </a:moveTo>
                  <a:lnTo>
                    <a:pt x="1500188" y="84677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9205912" y="3266122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106680" y="87630"/>
                  </a:moveTo>
                  <a:lnTo>
                    <a:pt x="0" y="82868"/>
                  </a:lnTo>
                  <a:lnTo>
                    <a:pt x="4667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7658100" y="2460308"/>
              <a:ext cx="1652588" cy="1399222"/>
            </a:xfrm>
            <a:custGeom>
              <a:avLst/>
              <a:gdLst/>
              <a:ahLst/>
              <a:cxnLst/>
              <a:rect l="l" t="t" r="r" b="b"/>
              <a:pathLst>
                <a:path w="1652588" h="1399222">
                  <a:moveTo>
                    <a:pt x="0" y="0"/>
                  </a:moveTo>
                  <a:lnTo>
                    <a:pt x="1652588" y="139922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9279255" y="3823335"/>
              <a:ext cx="103822" cy="98108"/>
            </a:xfrm>
            <a:custGeom>
              <a:avLst/>
              <a:gdLst/>
              <a:ahLst/>
              <a:cxnLst/>
              <a:rect l="l" t="t" r="r" b="b"/>
              <a:pathLst>
                <a:path w="103822" h="98108">
                  <a:moveTo>
                    <a:pt x="103822" y="98108"/>
                  </a:moveTo>
                  <a:lnTo>
                    <a:pt x="0" y="72390"/>
                  </a:lnTo>
                  <a:lnTo>
                    <a:pt x="6191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7828598" y="2907030"/>
              <a:ext cx="1288733" cy="9525"/>
            </a:xfrm>
            <a:custGeom>
              <a:avLst/>
              <a:gdLst/>
              <a:ahLst/>
              <a:cxnLst/>
              <a:rect l="l" t="t" r="r" b="b"/>
              <a:pathLst>
                <a:path w="1288733" h="9525">
                  <a:moveTo>
                    <a:pt x="0" y="0"/>
                  </a:moveTo>
                  <a:lnTo>
                    <a:pt x="128873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9117330" y="28594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7828598" y="2995612"/>
              <a:ext cx="1292543" cy="364808"/>
            </a:xfrm>
            <a:custGeom>
              <a:avLst/>
              <a:gdLst/>
              <a:ahLst/>
              <a:cxnLst/>
              <a:rect l="l" t="t" r="r" b="b"/>
              <a:pathLst>
                <a:path w="1292543" h="364808">
                  <a:moveTo>
                    <a:pt x="0" y="0"/>
                  </a:moveTo>
                  <a:lnTo>
                    <a:pt x="1292543" y="3648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9107805" y="3313748"/>
              <a:ext cx="104775" cy="92393"/>
            </a:xfrm>
            <a:custGeom>
              <a:avLst/>
              <a:gdLst/>
              <a:ahLst/>
              <a:cxnLst/>
              <a:rect l="l" t="t" r="r" b="b"/>
              <a:pathLst>
                <a:path w="104775" h="92393">
                  <a:moveTo>
                    <a:pt x="104775" y="72390"/>
                  </a:moveTo>
                  <a:lnTo>
                    <a:pt x="0" y="92393"/>
                  </a:lnTo>
                  <a:lnTo>
                    <a:pt x="2571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7729538" y="3027045"/>
              <a:ext cx="1500188" cy="846772"/>
            </a:xfrm>
            <a:custGeom>
              <a:avLst/>
              <a:gdLst/>
              <a:ahLst/>
              <a:cxnLst/>
              <a:rect l="l" t="t" r="r" b="b"/>
              <a:pathLst>
                <a:path w="1500188" h="846772">
                  <a:moveTo>
                    <a:pt x="0" y="0"/>
                  </a:moveTo>
                  <a:lnTo>
                    <a:pt x="1500188" y="84677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9205912" y="3832860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106680" y="88583"/>
                  </a:moveTo>
                  <a:lnTo>
                    <a:pt x="0" y="82868"/>
                  </a:lnTo>
                  <a:lnTo>
                    <a:pt x="4667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4" name="Freeform 64"/>
            <p:cNvSpPr/>
            <p:nvPr/>
          </p:nvSpPr>
          <p:spPr>
            <a:xfrm>
              <a:off x="7828598" y="3473768"/>
              <a:ext cx="1288733" cy="9525"/>
            </a:xfrm>
            <a:custGeom>
              <a:avLst/>
              <a:gdLst/>
              <a:ahLst/>
              <a:cxnLst/>
              <a:rect l="l" t="t" r="r" b="b"/>
              <a:pathLst>
                <a:path w="1288733" h="9525">
                  <a:moveTo>
                    <a:pt x="0" y="0"/>
                  </a:moveTo>
                  <a:lnTo>
                    <a:pt x="128873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9117330" y="34261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7828598" y="3562350"/>
              <a:ext cx="1292543" cy="364808"/>
            </a:xfrm>
            <a:custGeom>
              <a:avLst/>
              <a:gdLst/>
              <a:ahLst/>
              <a:cxnLst/>
              <a:rect l="l" t="t" r="r" b="b"/>
              <a:pathLst>
                <a:path w="1292543" h="364808">
                  <a:moveTo>
                    <a:pt x="0" y="0"/>
                  </a:moveTo>
                  <a:lnTo>
                    <a:pt x="1292543" y="3648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9107805" y="3881438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71438"/>
                  </a:moveTo>
                  <a:lnTo>
                    <a:pt x="0" y="91440"/>
                  </a:lnTo>
                  <a:lnTo>
                    <a:pt x="2571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7828598" y="4041458"/>
              <a:ext cx="1288733" cy="9525"/>
            </a:xfrm>
            <a:custGeom>
              <a:avLst/>
              <a:gdLst/>
              <a:ahLst/>
              <a:cxnLst/>
              <a:rect l="l" t="t" r="r" b="b"/>
              <a:pathLst>
                <a:path w="1288733" h="9525">
                  <a:moveTo>
                    <a:pt x="0" y="0"/>
                  </a:moveTo>
                  <a:lnTo>
                    <a:pt x="128873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9117330" y="39938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0" name="Freeform 70"/>
            <p:cNvSpPr/>
            <p:nvPr/>
          </p:nvSpPr>
          <p:spPr>
            <a:xfrm>
              <a:off x="9710738" y="1892618"/>
              <a:ext cx="1304925" cy="842962"/>
            </a:xfrm>
            <a:custGeom>
              <a:avLst/>
              <a:gdLst/>
              <a:ahLst/>
              <a:cxnLst/>
              <a:rect l="l" t="t" r="r" b="b"/>
              <a:pathLst>
                <a:path w="1304925" h="842962">
                  <a:moveTo>
                    <a:pt x="0" y="0"/>
                  </a:moveTo>
                  <a:lnTo>
                    <a:pt x="1304925" y="8429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10989945" y="2695575"/>
              <a:ext cx="105728" cy="91440"/>
            </a:xfrm>
            <a:custGeom>
              <a:avLst/>
              <a:gdLst/>
              <a:ahLst/>
              <a:cxnLst/>
              <a:rect l="l" t="t" r="r" b="b"/>
              <a:pathLst>
                <a:path w="105728" h="91440">
                  <a:moveTo>
                    <a:pt x="105728" y="91440"/>
                  </a:moveTo>
                  <a:lnTo>
                    <a:pt x="0" y="80010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2" name="Freeform 72"/>
            <p:cNvSpPr/>
            <p:nvPr/>
          </p:nvSpPr>
          <p:spPr>
            <a:xfrm>
              <a:off x="9837420" y="2440305"/>
              <a:ext cx="1042035" cy="336233"/>
            </a:xfrm>
            <a:custGeom>
              <a:avLst/>
              <a:gdLst/>
              <a:ahLst/>
              <a:cxnLst/>
              <a:rect l="l" t="t" r="r" b="b"/>
              <a:pathLst>
                <a:path w="1042035" h="336233">
                  <a:moveTo>
                    <a:pt x="0" y="0"/>
                  </a:moveTo>
                  <a:lnTo>
                    <a:pt x="1042035" y="33623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10864215" y="2731770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74295"/>
                  </a:moveTo>
                  <a:lnTo>
                    <a:pt x="0" y="90488"/>
                  </a:lnTo>
                  <a:lnTo>
                    <a:pt x="2952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4" name="Freeform 74"/>
            <p:cNvSpPr/>
            <p:nvPr/>
          </p:nvSpPr>
          <p:spPr>
            <a:xfrm>
              <a:off x="9837420" y="2907030"/>
              <a:ext cx="1037273" cy="9525"/>
            </a:xfrm>
            <a:custGeom>
              <a:avLst/>
              <a:gdLst/>
              <a:ahLst/>
              <a:cxnLst/>
              <a:rect l="l" t="t" r="r" b="b"/>
              <a:pathLst>
                <a:path w="1037273" h="9525">
                  <a:moveTo>
                    <a:pt x="0" y="0"/>
                  </a:moveTo>
                  <a:lnTo>
                    <a:pt x="103727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10874692" y="28594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6" name="Freeform 76"/>
            <p:cNvSpPr/>
            <p:nvPr/>
          </p:nvSpPr>
          <p:spPr>
            <a:xfrm>
              <a:off x="9837420" y="3037522"/>
              <a:ext cx="1042035" cy="336233"/>
            </a:xfrm>
            <a:custGeom>
              <a:avLst/>
              <a:gdLst/>
              <a:ahLst/>
              <a:cxnLst/>
              <a:rect l="l" t="t" r="r" b="b"/>
              <a:pathLst>
                <a:path w="1042035" h="336233">
                  <a:moveTo>
                    <a:pt x="0" y="336233"/>
                  </a:moveTo>
                  <a:lnTo>
                    <a:pt x="10420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10864215" y="2991802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16192"/>
                  </a:moveTo>
                  <a:lnTo>
                    <a:pt x="29528" y="90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8" name="Freeform 78"/>
            <p:cNvSpPr/>
            <p:nvPr/>
          </p:nvSpPr>
          <p:spPr>
            <a:xfrm>
              <a:off x="9710738" y="3078480"/>
              <a:ext cx="1304925" cy="842962"/>
            </a:xfrm>
            <a:custGeom>
              <a:avLst/>
              <a:gdLst/>
              <a:ahLst/>
              <a:cxnLst/>
              <a:rect l="l" t="t" r="r" b="b"/>
              <a:pathLst>
                <a:path w="1304925" h="842962">
                  <a:moveTo>
                    <a:pt x="0" y="842962"/>
                  </a:moveTo>
                  <a:lnTo>
                    <a:pt x="13049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10989945" y="3027045"/>
              <a:ext cx="105728" cy="91440"/>
            </a:xfrm>
            <a:custGeom>
              <a:avLst/>
              <a:gdLst/>
              <a:ahLst/>
              <a:cxnLst/>
              <a:rect l="l" t="t" r="r" b="b"/>
              <a:pathLst>
                <a:path w="105728" h="91440">
                  <a:moveTo>
                    <a:pt x="105728" y="0"/>
                  </a:moveTo>
                  <a:lnTo>
                    <a:pt x="52388" y="91440"/>
                  </a:lnTo>
                  <a:lnTo>
                    <a:pt x="0" y="1143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5447348" y="2787015"/>
              <a:ext cx="624840" cy="240030"/>
            </a:xfrm>
            <a:prstGeom prst="roundRect">
              <a:avLst>
                <a:gd name="adj" fmla="val 39683"/>
              </a:avLst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7203758" y="1652588"/>
              <a:ext cx="624840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9212580" y="1652588"/>
              <a:ext cx="624840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7203758" y="2220278"/>
              <a:ext cx="624840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9212580" y="2220278"/>
              <a:ext cx="624840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7203758" y="2787015"/>
              <a:ext cx="624840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9212580" y="2787015"/>
              <a:ext cx="624840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7203758" y="3353752"/>
              <a:ext cx="624840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9212580" y="3353752"/>
              <a:ext cx="624840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7203758" y="3921442"/>
              <a:ext cx="624840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90" name="Rectangle 90"/>
            <p:cNvSpPr/>
            <p:nvPr/>
          </p:nvSpPr>
          <p:spPr>
            <a:xfrm>
              <a:off x="9212580" y="3921442"/>
              <a:ext cx="624840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10969942" y="2787015"/>
              <a:ext cx="624840" cy="240030"/>
            </a:xfrm>
            <a:prstGeom prst="roundRect">
              <a:avLst>
                <a:gd name="adj" fmla="val 39683"/>
              </a:avLst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5533217" y="2850832"/>
              <a:ext cx="4531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V(1,0)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5724648" y="2640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289627" y="1717358"/>
              <a:ext cx="4531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V(2,0)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298450" y="1717358"/>
              <a:ext cx="4531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V(3,0)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289627" y="2284095"/>
              <a:ext cx="4531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V(2,1)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298450" y="2284095"/>
              <a:ext cx="4531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V(3,1)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289627" y="2850832"/>
              <a:ext cx="4531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V(2,2)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9298450" y="2850832"/>
              <a:ext cx="4531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V(3,2)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289627" y="3418523"/>
              <a:ext cx="4531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V(2,3)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9298450" y="3418523"/>
              <a:ext cx="4531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V(3,3)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7289627" y="3985260"/>
              <a:ext cx="4531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V(2,4)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9298450" y="3985260"/>
              <a:ext cx="4531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V(3,4)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1055812" y="2850832"/>
              <a:ext cx="4531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V(4,4)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1247243" y="2640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6252164" y="2165509"/>
              <a:ext cx="3944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N(1,0)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6540772" y="2682716"/>
              <a:ext cx="3944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N(1,1)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6528389" y="2917984"/>
              <a:ext cx="3944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N(1,2)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6804614" y="3097054"/>
              <a:ext cx="3944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N(1,3)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6252164" y="3528536"/>
              <a:ext cx="3944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N(1,4)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8323852" y="1642586"/>
              <a:ext cx="3944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N(2,0)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8404814" y="1880711"/>
              <a:ext cx="3944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N(2,1)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0315343" y="2087404"/>
              <a:ext cx="8043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max N(3,0..4)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0394587" y="3528536"/>
              <a:ext cx="3944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N(3,0)</a:t>
              </a:r>
            </a:p>
          </p:txBody>
        </p:sp>
      </p:grpSp>
      <p:grpSp>
        <p:nvGrpSpPr>
          <p:cNvPr id="130" name="c2-kv-2"/>
          <p:cNvGrpSpPr/>
          <p:nvPr/>
        </p:nvGrpSpPr>
        <p:grpSpPr>
          <a:xfrm>
            <a:off x="5375720" y="4482465"/>
            <a:ext cx="6282880" cy="1833753"/>
            <a:chOff x="5375720" y="4482465"/>
            <a:chExt cx="6282880" cy="1833753"/>
          </a:xfrm>
        </p:grpSpPr>
        <p:sp>
          <p:nvSpPr>
            <p:cNvPr id="116" name="TextBox 116"/>
            <p:cNvSpPr txBox="1"/>
            <p:nvPr/>
          </p:nvSpPr>
          <p:spPr>
            <a:xfrm>
              <a:off x="5375720" y="4482465"/>
              <a:ext cx="6710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N(1, j)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6337744" y="4482465"/>
              <a:ext cx="25307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 2, 8, 9, 12　（j = 0 到 4）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5382578" y="476821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5375720" y="4874895"/>
              <a:ext cx="6710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N(2, j)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6337744" y="4874895"/>
              <a:ext cx="1231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0, 5, 6, 7, 10</a:t>
              </a:r>
            </a:p>
          </p:txBody>
        </p:sp>
        <p:sp>
          <p:nvSpPr>
            <p:cNvPr id="121" name="Rectangle 121"/>
            <p:cNvSpPr/>
            <p:nvPr/>
          </p:nvSpPr>
          <p:spPr>
            <a:xfrm>
              <a:off x="5382578" y="516064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5375720" y="5267325"/>
              <a:ext cx="6710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N(3, j)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6337744" y="5267325"/>
              <a:ext cx="1431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0, 4, 11, 12, 13</a:t>
              </a:r>
            </a:p>
          </p:txBody>
        </p:sp>
        <p:sp>
          <p:nvSpPr>
            <p:cNvPr id="124" name="Rectangle 124"/>
            <p:cNvSpPr/>
            <p:nvPr/>
          </p:nvSpPr>
          <p:spPr>
            <a:xfrm>
              <a:off x="5382578" y="555307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5375720" y="565975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最长路径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6337744" y="5659755"/>
              <a:ext cx="2306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V(1,0)→V(2,2)→V(3,2)→t</a:t>
              </a:r>
            </a:p>
          </p:txBody>
        </p:sp>
        <p:sp>
          <p:nvSpPr>
            <p:cNvPr id="127" name="Rectangle 127"/>
            <p:cNvSpPr/>
            <p:nvPr/>
          </p:nvSpPr>
          <p:spPr>
            <a:xfrm>
              <a:off x="5382578" y="594550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8" name="TextBox 128"/>
            <p:cNvSpPr txBox="1"/>
            <p:nvPr/>
          </p:nvSpPr>
          <p:spPr>
            <a:xfrm>
              <a:off x="5375720" y="605218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6337744" y="6052185"/>
              <a:ext cx="38483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0, 2)，利润 8+0+11=19；边际贪心只得 18</a:t>
              </a:r>
            </a:p>
          </p:txBody>
        </p:sp>
      </p:grpSp>
      <p:grpSp>
        <p:nvGrpSpPr>
          <p:cNvPr id="1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31" name="TextBox 13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57622" cy="2997517"/>
            <a:chOff x="667512" y="1835468"/>
            <a:chExt cx="535762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货郎担问题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状态里记下还没走过的结点集合，按集合大小组织递推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问题描述与最优性原理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3816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递推式 g(i,S) 与计算过程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866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时间复杂度 Θ(n²2ⁿ)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货郎担问题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货郎担问题：每个结点恰好经过一次，求最短的周游路线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4869180" cy="2475548"/>
            <a:chOff x="533400" y="1524000"/>
            <a:chExt cx="4869180" cy="24755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2475548"/>
            </a:xfrm>
            <a:prstGeom prst="roundRect">
              <a:avLst>
                <a:gd name="adj" fmla="val 53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0884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059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问题描述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16229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售货员从商店出发，到每个村庄售货一次，最后回到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商店，各村庄之间的路程已知，求总路程最短的路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7240" y="300323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3831" y="2943701"/>
              <a:ext cx="35256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G(V,E) 是边成本为 cᵢⱼ 的有向图，n=|V|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7240" y="332136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3831" y="3260884"/>
              <a:ext cx="36876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周游路线：包含 V 中每个结点的一个有向环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7240" y="363950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3831" y="3579019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周游路线的成本：路线上所有边的成本之和</a:t>
              </a:r>
            </a:p>
          </p:txBody>
        </p:sp>
      </p:grpSp>
      <p:grpSp>
        <p:nvGrpSpPr>
          <p:cNvPr id="26" name="c1-bullets-2"/>
          <p:cNvGrpSpPr/>
          <p:nvPr/>
        </p:nvGrpSpPr>
        <p:grpSpPr>
          <a:xfrm>
            <a:off x="526161" y="4203859"/>
            <a:ext cx="2446401" cy="1141952"/>
            <a:chOff x="526161" y="4203859"/>
            <a:chExt cx="2446401" cy="1141952"/>
          </a:xfrm>
        </p:grpSpPr>
        <p:sp>
          <p:nvSpPr>
            <p:cNvPr id="19" name="TextBox 19"/>
            <p:cNvSpPr txBox="1"/>
            <p:nvPr/>
          </p:nvSpPr>
          <p:spPr>
            <a:xfrm>
              <a:off x="526161" y="420385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类似问题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42925" y="458343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8754" y="453580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邮车收集邮件的邮路问题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42925" y="487108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8754" y="48234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机械手臂在装配线上的移动问题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42925" y="515874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8754" y="511111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产品的生产安排问题</a:t>
              </a:r>
            </a:p>
          </p:txBody>
        </p:sp>
      </p:grpSp>
      <p:grpSp>
        <p:nvGrpSpPr>
          <p:cNvPr id="71" name="c2-graph-1"/>
          <p:cNvGrpSpPr/>
          <p:nvPr/>
        </p:nvGrpSpPr>
        <p:grpSpPr>
          <a:xfrm>
            <a:off x="6728024" y="1590675"/>
            <a:ext cx="3909932" cy="2169795"/>
            <a:chOff x="6728024" y="1590675"/>
            <a:chExt cx="3909932" cy="2169795"/>
          </a:xfrm>
        </p:grpSpPr>
        <p:sp>
          <p:nvSpPr>
            <p:cNvPr id="27" name="Freeform 27"/>
            <p:cNvSpPr/>
            <p:nvPr/>
          </p:nvSpPr>
          <p:spPr>
            <a:xfrm>
              <a:off x="7173278" y="1989772"/>
              <a:ext cx="2927033" cy="269557"/>
            </a:xfrm>
            <a:custGeom>
              <a:avLst/>
              <a:gdLst/>
              <a:ahLst/>
              <a:cxnLst/>
              <a:rect l="l" t="t" r="r" b="b"/>
              <a:pathLst>
                <a:path w="2927033" h="269557">
                  <a:moveTo>
                    <a:pt x="0" y="0"/>
                  </a:moveTo>
                  <a:cubicBezTo>
                    <a:pt x="1006475" y="261620"/>
                    <a:pt x="1982153" y="269557"/>
                    <a:pt x="2927033" y="23812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0088880" y="1967865"/>
              <a:ext cx="103822" cy="92393"/>
            </a:xfrm>
            <a:custGeom>
              <a:avLst/>
              <a:gdLst/>
              <a:ahLst/>
              <a:cxnLst/>
              <a:rect l="l" t="t" r="r" b="b"/>
              <a:pathLst>
                <a:path w="103822" h="92393">
                  <a:moveTo>
                    <a:pt x="103822" y="21908"/>
                  </a:moveTo>
                  <a:lnTo>
                    <a:pt x="23812" y="92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7145655" y="2046922"/>
              <a:ext cx="2948940" cy="1254443"/>
            </a:xfrm>
            <a:custGeom>
              <a:avLst/>
              <a:gdLst/>
              <a:ahLst/>
              <a:cxnLst/>
              <a:rect l="l" t="t" r="r" b="b"/>
              <a:pathLst>
                <a:path w="2948940" h="1254443">
                  <a:moveTo>
                    <a:pt x="0" y="0"/>
                  </a:moveTo>
                  <a:cubicBezTo>
                    <a:pt x="904875" y="686435"/>
                    <a:pt x="1887855" y="1104582"/>
                    <a:pt x="2948940" y="1254443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0087928" y="3253740"/>
              <a:ext cx="100965" cy="94297"/>
            </a:xfrm>
            <a:custGeom>
              <a:avLst/>
              <a:gdLst/>
              <a:ahLst/>
              <a:cxnLst/>
              <a:rect l="l" t="t" r="r" b="b"/>
              <a:pathLst>
                <a:path w="100965" h="94297">
                  <a:moveTo>
                    <a:pt x="100965" y="60960"/>
                  </a:moveTo>
                  <a:lnTo>
                    <a:pt x="0" y="94297"/>
                  </a:lnTo>
                  <a:lnTo>
                    <a:pt x="1333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6874828" y="2105978"/>
              <a:ext cx="101282" cy="982028"/>
            </a:xfrm>
            <a:custGeom>
              <a:avLst/>
              <a:gdLst/>
              <a:ahLst/>
              <a:cxnLst/>
              <a:rect l="l" t="t" r="r" b="b"/>
              <a:pathLst>
                <a:path w="101282" h="982028">
                  <a:moveTo>
                    <a:pt x="101282" y="0"/>
                  </a:moveTo>
                  <a:cubicBezTo>
                    <a:pt x="7938" y="358140"/>
                    <a:pt x="0" y="685482"/>
                    <a:pt x="77470" y="982028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905625" y="3076575"/>
              <a:ext cx="92393" cy="103822"/>
            </a:xfrm>
            <a:custGeom>
              <a:avLst/>
              <a:gdLst/>
              <a:ahLst/>
              <a:cxnLst/>
              <a:rect l="l" t="t" r="r" b="b"/>
              <a:pathLst>
                <a:path w="92393" h="103822">
                  <a:moveTo>
                    <a:pt x="70485" y="103822"/>
                  </a:moveTo>
                  <a:lnTo>
                    <a:pt x="0" y="23812"/>
                  </a:lnTo>
                  <a:lnTo>
                    <a:pt x="9239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7265670" y="1639252"/>
              <a:ext cx="2927032" cy="269558"/>
            </a:xfrm>
            <a:custGeom>
              <a:avLst/>
              <a:gdLst/>
              <a:ahLst/>
              <a:cxnLst/>
              <a:rect l="l" t="t" r="r" b="b"/>
              <a:pathLst>
                <a:path w="2927032" h="269558">
                  <a:moveTo>
                    <a:pt x="2927032" y="269558"/>
                  </a:moveTo>
                  <a:cubicBezTo>
                    <a:pt x="1920558" y="7938"/>
                    <a:pt x="944880" y="0"/>
                    <a:pt x="0" y="24574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173278" y="1838325"/>
              <a:ext cx="103822" cy="92392"/>
            </a:xfrm>
            <a:custGeom>
              <a:avLst/>
              <a:gdLst/>
              <a:ahLst/>
              <a:cxnLst/>
              <a:rect l="l" t="t" r="r" b="b"/>
              <a:pathLst>
                <a:path w="103822" h="92392">
                  <a:moveTo>
                    <a:pt x="0" y="70485"/>
                  </a:moveTo>
                  <a:lnTo>
                    <a:pt x="80010" y="0"/>
                  </a:lnTo>
                  <a:lnTo>
                    <a:pt x="103822" y="9239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10207307" y="2105978"/>
              <a:ext cx="101600" cy="982028"/>
            </a:xfrm>
            <a:custGeom>
              <a:avLst/>
              <a:gdLst/>
              <a:ahLst/>
              <a:cxnLst/>
              <a:rect l="l" t="t" r="r" b="b"/>
              <a:pathLst>
                <a:path w="101600" h="982028">
                  <a:moveTo>
                    <a:pt x="101600" y="0"/>
                  </a:moveTo>
                  <a:cubicBezTo>
                    <a:pt x="8255" y="358140"/>
                    <a:pt x="0" y="685482"/>
                    <a:pt x="76835" y="982028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0238422" y="3076575"/>
              <a:ext cx="92392" cy="103822"/>
            </a:xfrm>
            <a:custGeom>
              <a:avLst/>
              <a:gdLst/>
              <a:ahLst/>
              <a:cxnLst/>
              <a:rect l="l" t="t" r="r" b="b"/>
              <a:pathLst>
                <a:path w="92392" h="103822">
                  <a:moveTo>
                    <a:pt x="70485" y="103822"/>
                  </a:moveTo>
                  <a:lnTo>
                    <a:pt x="0" y="23812"/>
                  </a:lnTo>
                  <a:lnTo>
                    <a:pt x="9239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7221855" y="1971675"/>
              <a:ext cx="2967038" cy="1209675"/>
            </a:xfrm>
            <a:custGeom>
              <a:avLst/>
              <a:gdLst/>
              <a:ahLst/>
              <a:cxnLst/>
              <a:rect l="l" t="t" r="r" b="b"/>
              <a:pathLst>
                <a:path w="2967038" h="1209675">
                  <a:moveTo>
                    <a:pt x="2967038" y="0"/>
                  </a:moveTo>
                  <a:cubicBezTo>
                    <a:pt x="1843088" y="158750"/>
                    <a:pt x="854075" y="561975"/>
                    <a:pt x="0" y="120967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145655" y="3143250"/>
              <a:ext cx="104775" cy="96203"/>
            </a:xfrm>
            <a:custGeom>
              <a:avLst/>
              <a:gdLst/>
              <a:ahLst/>
              <a:cxnLst/>
              <a:rect l="l" t="t" r="r" b="b"/>
              <a:pathLst>
                <a:path w="104775" h="96203">
                  <a:moveTo>
                    <a:pt x="0" y="96203"/>
                  </a:moveTo>
                  <a:lnTo>
                    <a:pt x="46672" y="0"/>
                  </a:lnTo>
                  <a:lnTo>
                    <a:pt x="104775" y="7620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7271385" y="1985010"/>
              <a:ext cx="2948940" cy="1254443"/>
            </a:xfrm>
            <a:custGeom>
              <a:avLst/>
              <a:gdLst/>
              <a:ahLst/>
              <a:cxnLst/>
              <a:rect l="l" t="t" r="r" b="b"/>
              <a:pathLst>
                <a:path w="2948940" h="1254443">
                  <a:moveTo>
                    <a:pt x="2948940" y="1254443"/>
                  </a:moveTo>
                  <a:cubicBezTo>
                    <a:pt x="2044065" y="568008"/>
                    <a:pt x="1061085" y="149860"/>
                    <a:pt x="0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177088" y="1938338"/>
              <a:ext cx="100965" cy="94298"/>
            </a:xfrm>
            <a:custGeom>
              <a:avLst/>
              <a:gdLst/>
              <a:ahLst/>
              <a:cxnLst/>
              <a:rect l="l" t="t" r="r" b="b"/>
              <a:pathLst>
                <a:path w="100965" h="94298">
                  <a:moveTo>
                    <a:pt x="0" y="33338"/>
                  </a:moveTo>
                  <a:lnTo>
                    <a:pt x="100965" y="0"/>
                  </a:lnTo>
                  <a:lnTo>
                    <a:pt x="87630" y="9429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10389870" y="2198370"/>
              <a:ext cx="101283" cy="982027"/>
            </a:xfrm>
            <a:custGeom>
              <a:avLst/>
              <a:gdLst/>
              <a:ahLst/>
              <a:cxnLst/>
              <a:rect l="l" t="t" r="r" b="b"/>
              <a:pathLst>
                <a:path w="101283" h="982027">
                  <a:moveTo>
                    <a:pt x="0" y="982027"/>
                  </a:moveTo>
                  <a:cubicBezTo>
                    <a:pt x="93345" y="623888"/>
                    <a:pt x="101283" y="296545"/>
                    <a:pt x="23812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0367962" y="2105978"/>
              <a:ext cx="92393" cy="103823"/>
            </a:xfrm>
            <a:custGeom>
              <a:avLst/>
              <a:gdLst/>
              <a:ahLst/>
              <a:cxnLst/>
              <a:rect l="l" t="t" r="r" b="b"/>
              <a:pathLst>
                <a:path w="92393" h="103823">
                  <a:moveTo>
                    <a:pt x="21907" y="0"/>
                  </a:moveTo>
                  <a:lnTo>
                    <a:pt x="92393" y="80010"/>
                  </a:lnTo>
                  <a:lnTo>
                    <a:pt x="0" y="10382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7265670" y="3027045"/>
              <a:ext cx="2927032" cy="269558"/>
            </a:xfrm>
            <a:custGeom>
              <a:avLst/>
              <a:gdLst/>
              <a:ahLst/>
              <a:cxnLst/>
              <a:rect l="l" t="t" r="r" b="b"/>
              <a:pathLst>
                <a:path w="2927032" h="269558">
                  <a:moveTo>
                    <a:pt x="2927032" y="269558"/>
                  </a:moveTo>
                  <a:cubicBezTo>
                    <a:pt x="1920558" y="7937"/>
                    <a:pt x="944880" y="0"/>
                    <a:pt x="0" y="24574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173278" y="3226118"/>
              <a:ext cx="103822" cy="92392"/>
            </a:xfrm>
            <a:custGeom>
              <a:avLst/>
              <a:gdLst/>
              <a:ahLst/>
              <a:cxnLst/>
              <a:rect l="l" t="t" r="r" b="b"/>
              <a:pathLst>
                <a:path w="103822" h="92392">
                  <a:moveTo>
                    <a:pt x="0" y="70485"/>
                  </a:moveTo>
                  <a:lnTo>
                    <a:pt x="80010" y="0"/>
                  </a:lnTo>
                  <a:lnTo>
                    <a:pt x="103822" y="9239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7057072" y="2198370"/>
              <a:ext cx="101600" cy="982027"/>
            </a:xfrm>
            <a:custGeom>
              <a:avLst/>
              <a:gdLst/>
              <a:ahLst/>
              <a:cxnLst/>
              <a:rect l="l" t="t" r="r" b="b"/>
              <a:pathLst>
                <a:path w="101600" h="982027">
                  <a:moveTo>
                    <a:pt x="0" y="982027"/>
                  </a:moveTo>
                  <a:cubicBezTo>
                    <a:pt x="93345" y="623888"/>
                    <a:pt x="101600" y="296545"/>
                    <a:pt x="24765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7035165" y="2105978"/>
              <a:ext cx="92392" cy="103823"/>
            </a:xfrm>
            <a:custGeom>
              <a:avLst/>
              <a:gdLst/>
              <a:ahLst/>
              <a:cxnLst/>
              <a:rect l="l" t="t" r="r" b="b"/>
              <a:pathLst>
                <a:path w="92392" h="103823">
                  <a:moveTo>
                    <a:pt x="21907" y="0"/>
                  </a:moveTo>
                  <a:lnTo>
                    <a:pt x="92392" y="80010"/>
                  </a:lnTo>
                  <a:lnTo>
                    <a:pt x="0" y="10382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7177088" y="2105025"/>
              <a:ext cx="2967038" cy="1209675"/>
            </a:xfrm>
            <a:custGeom>
              <a:avLst/>
              <a:gdLst/>
              <a:ahLst/>
              <a:cxnLst/>
              <a:rect l="l" t="t" r="r" b="b"/>
              <a:pathLst>
                <a:path w="2967038" h="1209675">
                  <a:moveTo>
                    <a:pt x="0" y="1209675"/>
                  </a:moveTo>
                  <a:cubicBezTo>
                    <a:pt x="1123950" y="1050925"/>
                    <a:pt x="2112963" y="647700"/>
                    <a:pt x="2967038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0115550" y="2046922"/>
              <a:ext cx="104775" cy="96202"/>
            </a:xfrm>
            <a:custGeom>
              <a:avLst/>
              <a:gdLst/>
              <a:ahLst/>
              <a:cxnLst/>
              <a:rect l="l" t="t" r="r" b="b"/>
              <a:pathLst>
                <a:path w="104775" h="96202">
                  <a:moveTo>
                    <a:pt x="104775" y="0"/>
                  </a:moveTo>
                  <a:lnTo>
                    <a:pt x="58102" y="96202"/>
                  </a:lnTo>
                  <a:lnTo>
                    <a:pt x="0" y="2000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7173278" y="3377565"/>
              <a:ext cx="2927033" cy="269558"/>
            </a:xfrm>
            <a:custGeom>
              <a:avLst/>
              <a:gdLst/>
              <a:ahLst/>
              <a:cxnLst/>
              <a:rect l="l" t="t" r="r" b="b"/>
              <a:pathLst>
                <a:path w="2927033" h="269558">
                  <a:moveTo>
                    <a:pt x="0" y="0"/>
                  </a:moveTo>
                  <a:cubicBezTo>
                    <a:pt x="1006475" y="261620"/>
                    <a:pt x="1982153" y="269558"/>
                    <a:pt x="2927033" y="23812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0088880" y="3355658"/>
              <a:ext cx="103822" cy="92392"/>
            </a:xfrm>
            <a:custGeom>
              <a:avLst/>
              <a:gdLst/>
              <a:ahLst/>
              <a:cxnLst/>
              <a:rect l="l" t="t" r="r" b="b"/>
              <a:pathLst>
                <a:path w="103822" h="92392">
                  <a:moveTo>
                    <a:pt x="103822" y="21908"/>
                  </a:moveTo>
                  <a:lnTo>
                    <a:pt x="23812" y="92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6864668" y="1797368"/>
              <a:ext cx="304800" cy="3048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10196512" y="179736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10196512" y="318516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6864668" y="318516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967816" y="18797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299661" y="18797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299661" y="32675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967816" y="32675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608259" y="1997393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930079" y="236505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728024" y="25888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643243" y="15906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131048" y="25888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930079" y="28098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328091" y="279654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488494" y="25888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608259" y="317754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155438" y="25888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328091" y="23783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643243" y="358425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  <p:grpSp>
        <p:nvGrpSpPr>
          <p:cNvPr id="109" name="c2-table-2"/>
          <p:cNvGrpSpPr/>
          <p:nvPr/>
        </p:nvGrpSpPr>
        <p:grpSpPr>
          <a:xfrm>
            <a:off x="5702046" y="3942398"/>
            <a:ext cx="5956554" cy="2401823"/>
            <a:chOff x="5702046" y="3942398"/>
            <a:chExt cx="5956554" cy="2401823"/>
          </a:xfrm>
        </p:grpSpPr>
        <p:sp>
          <p:nvSpPr>
            <p:cNvPr id="72" name="Rectangle 72"/>
            <p:cNvSpPr/>
            <p:nvPr/>
          </p:nvSpPr>
          <p:spPr>
            <a:xfrm>
              <a:off x="5707380" y="3942398"/>
              <a:ext cx="5951220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200474" y="407098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cᵢⱼ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484391" y="40709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630248" y="40709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820873" y="40709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010546" y="40709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293766" y="44958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486612" y="449580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588045" y="44958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778670" y="44958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0968342" y="44958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5707380" y="478631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5707380" y="4791075"/>
              <a:ext cx="595122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293766" y="491966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486612" y="491966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632469" y="491966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823094" y="491966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968342" y="491966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5707380" y="521112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293766" y="534447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486612" y="534447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588045" y="534447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9823094" y="534447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0968342" y="534447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5707380" y="563594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5707380" y="5640705"/>
              <a:ext cx="595122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293766" y="57683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7486612" y="576834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8632469" y="576834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9823094" y="576834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012767" y="576834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5707380" y="3942398"/>
              <a:ext cx="5951220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6980872" y="3942398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8082915" y="3942398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9273540" y="3942398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10463212" y="3942398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5702046" y="6138862"/>
              <a:ext cx="20178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行是出发结点 i，列是到达结点 j</a:t>
              </a:r>
            </a:p>
          </p:txBody>
        </p:sp>
      </p:grpSp>
      <p:grpSp>
        <p:nvGrpSpPr>
          <p:cNvPr id="11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0" name="TextBox 11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55885" cy="909257"/>
            <a:chOff x="520446" y="342900"/>
            <a:chExt cx="44558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货郎担问题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558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最优性原理与递推式 g(i, S)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4912233" cy="2347246"/>
            <a:chOff x="533400" y="1533525"/>
            <a:chExt cx="4912233" cy="234724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4193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15678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拆分周游路线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1861661"/>
              <a:ext cx="44589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周游路线从结点 1 出发、回到 1，由边 &lt;1,k&gt; 和一条从 k 到 1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的简单路径组成，k∈V−{1}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45364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路径经过哪些结点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746534"/>
              <a:ext cx="42994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这条从 k 到 1 的路径恰好经过 V−{1,k} 中每个结点一次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310419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最优性原理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397091"/>
              <a:ext cx="44996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若周游路线最优，这条路径必是从 k 出发、经过 V−{1,k} 全部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结点到达 1 的最短路径，否则可换出更短的周游路线</a:t>
              </a:r>
            </a:p>
          </p:txBody>
        </p:sp>
      </p:grpSp>
      <p:grpSp>
        <p:nvGrpSpPr>
          <p:cNvPr id="41" name="c1-graph-2"/>
          <p:cNvGrpSpPr/>
          <p:nvPr/>
        </p:nvGrpSpPr>
        <p:grpSpPr>
          <a:xfrm>
            <a:off x="744855" y="4332922"/>
            <a:ext cx="4771073" cy="1087375"/>
            <a:chOff x="744855" y="4332922"/>
            <a:chExt cx="4771073" cy="1087375"/>
          </a:xfrm>
        </p:grpSpPr>
        <p:sp>
          <p:nvSpPr>
            <p:cNvPr id="21" name="Freeform 21"/>
            <p:cNvSpPr/>
            <p:nvPr/>
          </p:nvSpPr>
          <p:spPr>
            <a:xfrm>
              <a:off x="1058228" y="4887278"/>
              <a:ext cx="932498" cy="73342"/>
            </a:xfrm>
            <a:custGeom>
              <a:avLst/>
              <a:gdLst/>
              <a:ahLst/>
              <a:cxnLst/>
              <a:rect l="l" t="t" r="r" b="b"/>
              <a:pathLst>
                <a:path w="932498" h="73342">
                  <a:moveTo>
                    <a:pt x="0" y="0"/>
                  </a:moveTo>
                  <a:lnTo>
                    <a:pt x="932498" y="733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986915" y="4912995"/>
              <a:ext cx="99060" cy="94298"/>
            </a:xfrm>
            <a:custGeom>
              <a:avLst/>
              <a:gdLst/>
              <a:ahLst/>
              <a:cxnLst/>
              <a:rect l="l" t="t" r="r" b="b"/>
              <a:pathLst>
                <a:path w="99060" h="94298">
                  <a:moveTo>
                    <a:pt x="99060" y="54293"/>
                  </a:moveTo>
                  <a:lnTo>
                    <a:pt x="0" y="94298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2385060" y="4533900"/>
              <a:ext cx="575310" cy="360045"/>
            </a:xfrm>
            <a:custGeom>
              <a:avLst/>
              <a:gdLst/>
              <a:ahLst/>
              <a:cxnLst/>
              <a:rect l="l" t="t" r="r" b="b"/>
              <a:pathLst>
                <a:path w="575310" h="360045">
                  <a:moveTo>
                    <a:pt x="0" y="360045"/>
                  </a:moveTo>
                  <a:lnTo>
                    <a:pt x="5753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24" name="Freeform 24"/>
            <p:cNvSpPr/>
            <p:nvPr/>
          </p:nvSpPr>
          <p:spPr>
            <a:xfrm>
              <a:off x="2935605" y="4483418"/>
              <a:ext cx="105728" cy="91440"/>
            </a:xfrm>
            <a:custGeom>
              <a:avLst/>
              <a:gdLst/>
              <a:ahLst/>
              <a:cxnLst/>
              <a:rect l="l" t="t" r="r" b="b"/>
              <a:pathLst>
                <a:path w="105728" h="91440">
                  <a:moveTo>
                    <a:pt x="105728" y="0"/>
                  </a:moveTo>
                  <a:lnTo>
                    <a:pt x="50483" y="91440"/>
                  </a:lnTo>
                  <a:lnTo>
                    <a:pt x="0" y="1047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3224212" y="4475798"/>
              <a:ext cx="610553" cy="308610"/>
            </a:xfrm>
            <a:custGeom>
              <a:avLst/>
              <a:gdLst/>
              <a:ahLst/>
              <a:cxnLst/>
              <a:rect l="l" t="t" r="r" b="b"/>
              <a:pathLst>
                <a:path w="610553" h="308610">
                  <a:moveTo>
                    <a:pt x="0" y="0"/>
                  </a:moveTo>
                  <a:lnTo>
                    <a:pt x="610553" y="30861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26" name="Freeform 26"/>
            <p:cNvSpPr/>
            <p:nvPr/>
          </p:nvSpPr>
          <p:spPr>
            <a:xfrm>
              <a:off x="3812858" y="4742498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85725"/>
                  </a:moveTo>
                  <a:lnTo>
                    <a:pt x="0" y="84773"/>
                  </a:lnTo>
                  <a:lnTo>
                    <a:pt x="4381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4117658" y="4874895"/>
              <a:ext cx="988695" cy="9525"/>
            </a:xfrm>
            <a:custGeom>
              <a:avLst/>
              <a:gdLst/>
              <a:ahLst/>
              <a:cxnLst/>
              <a:rect l="l" t="t" r="r" b="b"/>
              <a:pathLst>
                <a:path w="988695" h="9525">
                  <a:moveTo>
                    <a:pt x="0" y="0"/>
                  </a:moveTo>
                  <a:lnTo>
                    <a:pt x="98869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28" name="Freeform 28"/>
            <p:cNvSpPr/>
            <p:nvPr/>
          </p:nvSpPr>
          <p:spPr>
            <a:xfrm>
              <a:off x="5106352" y="48272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744855" y="4722495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2094548" y="482822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3034665" y="4332922"/>
              <a:ext cx="190500" cy="1905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3917632" y="4779645"/>
              <a:ext cx="190500" cy="1905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5211128" y="4722495"/>
              <a:ext cx="304800" cy="3048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67793" y="4804886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217486" y="4910614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14276" y="48048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440180" y="4841558"/>
              <a:ext cx="26479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467860" y="4873942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cᵢⱼ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425027" y="5214938"/>
              <a:ext cx="14097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 中的结点各经过一次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128739" y="4341495"/>
              <a:ext cx="8084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g(j, S−{j})</a:t>
              </a:r>
            </a:p>
          </p:txBody>
        </p:sp>
      </p:grpSp>
      <p:grpSp>
        <p:nvGrpSpPr>
          <p:cNvPr id="47" name="c1-callout-3"/>
          <p:cNvGrpSpPr/>
          <p:nvPr/>
        </p:nvGrpSpPr>
        <p:grpSpPr>
          <a:xfrm>
            <a:off x="533400" y="5565458"/>
            <a:ext cx="5193982" cy="782955"/>
            <a:chOff x="533400" y="5565458"/>
            <a:chExt cx="5193982" cy="782955"/>
          </a:xfrm>
        </p:grpSpPr>
        <p:sp>
          <p:nvSpPr>
            <p:cNvPr id="42" name="Rectangle 42"/>
            <p:cNvSpPr/>
            <p:nvPr/>
          </p:nvSpPr>
          <p:spPr>
            <a:xfrm>
              <a:off x="533400" y="5565458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5856925"/>
              <a:ext cx="200023" cy="200023"/>
              <a:chOff x="738188" y="5856925"/>
              <a:chExt cx="200023" cy="200023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585692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71538" y="59235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130" y="5714048"/>
              <a:ext cx="43014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求解顺序：按 |S|=0, 1, …, n−2 求出全部 g(i,S)，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最后求 g(1, V−{1})，即最优周游路线长度。</a:t>
              </a:r>
            </a:p>
          </p:txBody>
        </p:sp>
      </p:grpSp>
      <p:grpSp>
        <p:nvGrpSpPr>
          <p:cNvPr id="56" name="c2-card-1"/>
          <p:cNvGrpSpPr/>
          <p:nvPr/>
        </p:nvGrpSpPr>
        <p:grpSpPr>
          <a:xfrm>
            <a:off x="6032182" y="1524000"/>
            <a:ext cx="5626418" cy="2931795"/>
            <a:chOff x="6032182" y="1524000"/>
            <a:chExt cx="5626418" cy="2931795"/>
          </a:xfrm>
        </p:grpSpPr>
        <p:sp>
          <p:nvSpPr>
            <p:cNvPr id="48" name="Rectangle 48"/>
            <p:cNvSpPr/>
            <p:nvPr/>
          </p:nvSpPr>
          <p:spPr>
            <a:xfrm>
              <a:off x="6032182" y="1524000"/>
              <a:ext cx="5626418" cy="2931795"/>
            </a:xfrm>
            <a:prstGeom prst="roundRect">
              <a:avLst>
                <a:gd name="adj" fmla="val 45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041708" y="1657350"/>
              <a:ext cx="47625" cy="266509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7983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6118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状态定义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72212" y="2110740"/>
              <a:ext cx="4796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g(i,S)：从结点 i 出发，经过 S 中所有结点各一次，最后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到达结点 1 的最短路径长度（i∉S，1∉S）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formula18"/>
                <p:cNvSpPr txBox="1">
                  <a:spLocks noGrp="1"/>
                </p:cNvSpPr>
                <p:nvPr/>
              </p:nvSpPr>
              <p:spPr>
                <a:xfrm>
                  <a:off x="6279832" y="2707005"/>
                  <a:ext cx="5169218" cy="5448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g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1k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g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V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d>
                                      <m:dPr>
                                        <m:begChr m:val="{"/>
                                        <m:sepChr m:val=""/>
                                        <m:endChr m:val="}"/>
                                        <m:grow m:val="on"/>
                                        <m:ctrl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formula19"/>
                <p:cNvSpPr txBox="1">
                  <a:spLocks noGrp="1"/>
                </p:cNvSpPr>
                <p:nvPr/>
              </p:nvSpPr>
              <p:spPr>
                <a:xfrm>
                  <a:off x="6279832" y="3347085"/>
                  <a:ext cx="5169218" cy="5448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g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∈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ij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g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d>
                                      <m:dPr>
                                        <m:begChr m:val="{"/>
                                        <m:sepChr m:val=""/>
                                        <m:endChr m:val="}"/>
                                        <m:grow m:val="on"/>
                                        <m:ctrl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55" name="TextBox 55"/>
            <p:cNvSpPr txBox="1"/>
            <p:nvPr/>
          </p:nvSpPr>
          <p:spPr>
            <a:xfrm>
              <a:off x="6272212" y="4011930"/>
              <a:ext cx="25090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边界：g(i,∅) = cᵢ₁，1&lt;i≤n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6032182" y="4646295"/>
            <a:ext cx="5626418" cy="1702118"/>
            <a:chOff x="6032182" y="4646295"/>
            <a:chExt cx="5626418" cy="1702118"/>
          </a:xfrm>
        </p:grpSpPr>
        <p:sp>
          <p:nvSpPr>
            <p:cNvPr id="57" name="Rectangle 57"/>
            <p:cNvSpPr/>
            <p:nvPr/>
          </p:nvSpPr>
          <p:spPr>
            <a:xfrm>
              <a:off x="6032182" y="4646295"/>
              <a:ext cx="5626418" cy="1702118"/>
            </a:xfrm>
            <a:prstGeom prst="roundRect">
              <a:avLst>
                <a:gd name="adj" fmla="val 78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041708" y="4779645"/>
              <a:ext cx="47625" cy="14354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279832" y="485584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73990" y="489156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272212" y="5233035"/>
              <a:ext cx="4796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g(2,{3,4})：从 2 出发、经过 3 和 4 各一次、回到 1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最短长度。第一步走 3 或走 4：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272212" y="5854065"/>
              <a:ext cx="49827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g(2,{3,4}) = min{c₂₃ + g(3,{4}), c₂₄ + g(4,{3})}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76330" cy="909257"/>
            <a:chOff x="520446" y="342900"/>
            <a:chExt cx="767633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货郎担问题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763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计算过程：|S| 从 0 递增，最优周游路线长度为 35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6" name="c1-table-1"/>
          <p:cNvGrpSpPr/>
          <p:nvPr/>
        </p:nvGrpSpPr>
        <p:grpSpPr>
          <a:xfrm>
            <a:off x="533400" y="1524000"/>
            <a:ext cx="5410200" cy="4301490"/>
            <a:chOff x="533400" y="1524000"/>
            <a:chExt cx="5410200" cy="43014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03346" y="1655445"/>
              <a:ext cx="218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|S|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38687" y="1655445"/>
              <a:ext cx="1075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g(i,S) 的计算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15712" y="165544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9753" y="2085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95984" y="2085022"/>
              <a:ext cx="9976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g(2,∅) = c₂₁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52059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79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8410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395984" y="2515552"/>
              <a:ext cx="9976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g(3,∅) = c₃₁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52059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395984" y="2946082"/>
              <a:ext cx="9976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g(4,∅) = c₄₁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52059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2394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24421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59753" y="33756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95984" y="3375660"/>
              <a:ext cx="22495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g(2,{3}) = c₂₃+g(3,∅) = 9+6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307635" y="33756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6699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395984" y="3806190"/>
              <a:ext cx="23384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g(2,{4}) = c₂₄+g(4,∅) = 10+8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07635" y="380619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1005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410527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395984" y="4235768"/>
              <a:ext cx="23384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g(3,{2}) = c₃₂+g(2,∅) = 13+5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307635" y="423576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5300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395984" y="4666298"/>
              <a:ext cx="23384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g(3,{4}) = c₃₄+g(4,∅) = 12+8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07635" y="466629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96062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4965382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395984" y="5096828"/>
              <a:ext cx="22495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g(4,{2}) = c₄₂+g(2,∅) = 8+5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307635" y="509682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53901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395984" y="5526405"/>
              <a:ext cx="22495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g(4,{3}) = c₄₃+g(3,∅) = 9+6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307635" y="552640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1524000"/>
              <a:ext cx="5410200" cy="43014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285875" y="1524000"/>
              <a:ext cx="9525" cy="43014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856798" y="1524000"/>
              <a:ext cx="9525" cy="43014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0" name="c2-table-1"/>
          <p:cNvGrpSpPr/>
          <p:nvPr/>
        </p:nvGrpSpPr>
        <p:grpSpPr>
          <a:xfrm>
            <a:off x="6248400" y="1524000"/>
            <a:ext cx="5410200" cy="2150745"/>
            <a:chOff x="6248400" y="1524000"/>
            <a:chExt cx="5410200" cy="2150745"/>
          </a:xfrm>
        </p:grpSpPr>
        <p:sp>
          <p:nvSpPr>
            <p:cNvPr id="47" name="Rectangle 47"/>
            <p:cNvSpPr/>
            <p:nvPr/>
          </p:nvSpPr>
          <p:spPr>
            <a:xfrm>
              <a:off x="6248400" y="1524000"/>
              <a:ext cx="541020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18346" y="1655445"/>
              <a:ext cx="218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|S|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53687" y="1655445"/>
              <a:ext cx="1075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g(i,S) 的计算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030712" y="165544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74753" y="2085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10984" y="2085022"/>
              <a:ext cx="24817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g(2,{3,4}) = min{9+20, </a:t>
              </a: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10+15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}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022635" y="208502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2379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48400" y="238410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110984" y="2515552"/>
              <a:ext cx="25706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g(3,{2,4}) = min{13+18, </a:t>
              </a: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12+13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}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022635" y="251555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48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110984" y="2946082"/>
              <a:ext cx="23885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g(4,{2,3}) = min{</a:t>
              </a: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8+15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, 9+18}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022635" y="294608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248400" y="32394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248400" y="324421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74753" y="33756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110984" y="3375660"/>
              <a:ext cx="33299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g(1,{2,3,4}) = min{</a:t>
              </a: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10+25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, 15+25, 20+23}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0586085" y="3253740"/>
              <a:ext cx="106299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1022635" y="33756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248400" y="1524000"/>
              <a:ext cx="5410200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7000875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10571798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4" name="c2-steps-2"/>
          <p:cNvGrpSpPr/>
          <p:nvPr/>
        </p:nvGrpSpPr>
        <p:grpSpPr>
          <a:xfrm>
            <a:off x="6248400" y="3870008"/>
            <a:ext cx="2646426" cy="1789176"/>
            <a:chOff x="6248400" y="3870008"/>
            <a:chExt cx="2646426" cy="1789176"/>
          </a:xfrm>
        </p:grpSpPr>
        <p:sp>
          <p:nvSpPr>
            <p:cNvPr id="71" name="Rectangle 71"/>
            <p:cNvSpPr/>
            <p:nvPr/>
          </p:nvSpPr>
          <p:spPr>
            <a:xfrm>
              <a:off x="6381750" y="4012882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6248400" y="38700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342024" y="39438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6248400" y="44900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342024" y="45639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6248400" y="511111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342024" y="51849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660261" y="3902869"/>
              <a:ext cx="19819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g(1,{2,3,4}) 取 k=2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661404" y="4183380"/>
              <a:ext cx="22334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 1→2，剩下 g(2,{3,4})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660261" y="4523899"/>
              <a:ext cx="17110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g(2,{3,4}) 取 j=4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661404" y="4804410"/>
              <a:ext cx="17326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走 2→4，剩下 g(4,{3})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660261" y="5143976"/>
              <a:ext cx="1701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g(4,{3}) 只能取 3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661404" y="5424488"/>
              <a:ext cx="20638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走 4→3，再由 g(3,∅) 回到 1</a:t>
              </a:r>
            </a:p>
          </p:txBody>
        </p:sp>
      </p:grpSp>
      <p:grpSp>
        <p:nvGrpSpPr>
          <p:cNvPr id="90" name="c2-callout-3"/>
          <p:cNvGrpSpPr/>
          <p:nvPr/>
        </p:nvGrpSpPr>
        <p:grpSpPr>
          <a:xfrm>
            <a:off x="6248400" y="5835968"/>
            <a:ext cx="5410200" cy="518160"/>
            <a:chOff x="6248400" y="5835968"/>
            <a:chExt cx="5410200" cy="518160"/>
          </a:xfrm>
        </p:grpSpPr>
        <p:sp>
          <p:nvSpPr>
            <p:cNvPr id="85" name="Rectangle 85"/>
            <p:cNvSpPr/>
            <p:nvPr/>
          </p:nvSpPr>
          <p:spPr>
            <a:xfrm>
              <a:off x="6248400" y="5835968"/>
              <a:ext cx="5410200" cy="518160"/>
            </a:xfrm>
            <a:prstGeom prst="roundRect">
              <a:avLst>
                <a:gd name="adj" fmla="val 2205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88" name="Group 88"/>
            <p:cNvGrpSpPr/>
            <p:nvPr/>
          </p:nvGrpSpPr>
          <p:grpSpPr>
            <a:xfrm>
              <a:off x="6453188" y="5995035"/>
              <a:ext cx="200026" cy="200026"/>
              <a:chOff x="6453188" y="5995035"/>
              <a:chExt cx="200026" cy="200026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6453188" y="599503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6519863" y="607282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6755511" y="5995511"/>
              <a:ext cx="43633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最优周游路线 1→2→4→3→1，成本 10+10+9+6 = 35。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1" name="TextBox 9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23000" cy="909257"/>
            <a:chOff x="520446" y="342900"/>
            <a:chExt cx="862300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货郎担问题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230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时间复杂度 Θ(n²2ⁿ)：比枚举 O(n!) 快，但仍是指数级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274904" cy="2998756"/>
            <a:chOff x="533400" y="1533525"/>
            <a:chExt cx="5274904" cy="299875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4193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7204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17485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要算多少个 g(i,S)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46459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|S|=k 时 i 有 n−1 种取法，S 是 V−{1,i} 的 k 元子集，共 (n−1)·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C(n−2,k) 个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453640"/>
              <a:ext cx="864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k 求和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746534"/>
              <a:ext cx="4862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k=0,1,…,n−2 合计 Σ(n−1)·C(n−2,k) = (n−1)·2ⁿ⁻² 个函数值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10419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每个函数值的代价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397091"/>
              <a:ext cx="3036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g(i,S) 要在 |S|=k 个候选 j 中取最小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75475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总时间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048601"/>
              <a:ext cx="46865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Σ(n−1)·k·C(n−2,k) = (n−1)(n−2)·2ⁿ⁻³ = Θ(n²2ⁿ)；保存全部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g(i,S) 需要 Θ(n·2ⁿ) 空间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4711065"/>
            <a:ext cx="5842635" cy="1602105"/>
            <a:chOff x="533400" y="4711065"/>
            <a:chExt cx="5842635" cy="1602105"/>
          </a:xfrm>
        </p:grpSpPr>
        <p:sp>
          <p:nvSpPr>
            <p:cNvPr id="25" name="Rectangle 25"/>
            <p:cNvSpPr/>
            <p:nvPr/>
          </p:nvSpPr>
          <p:spPr>
            <a:xfrm>
              <a:off x="533400" y="4711065"/>
              <a:ext cx="584263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84441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81050" y="49206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71258" y="49563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3430" y="5297805"/>
              <a:ext cx="50634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原课件按每个 g(i,S) 比较 |S|−1 次，写成 Σ(n−1)(k−1)·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C(n−2,k)，k=0 时系数为负。这里按考察 k 个候选计数，量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级结论 Θ(n²2ⁿ) 不变。</a:t>
              </a:r>
            </a:p>
          </p:txBody>
        </p:sp>
      </p:grpSp>
      <p:grpSp>
        <p:nvGrpSpPr>
          <p:cNvPr id="56" name="c2-table-1"/>
          <p:cNvGrpSpPr/>
          <p:nvPr/>
        </p:nvGrpSpPr>
        <p:grpSpPr>
          <a:xfrm>
            <a:off x="6675120" y="1524000"/>
            <a:ext cx="4983480" cy="2539842"/>
            <a:chOff x="6675120" y="1524000"/>
            <a:chExt cx="4983480" cy="2539842"/>
          </a:xfrm>
        </p:grpSpPr>
        <p:sp>
          <p:nvSpPr>
            <p:cNvPr id="31" name="Rectangle 31"/>
            <p:cNvSpPr/>
            <p:nvPr/>
          </p:nvSpPr>
          <p:spPr>
            <a:xfrm>
              <a:off x="6680835" y="1524000"/>
              <a:ext cx="4977765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60847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43181" y="1659731"/>
              <a:ext cx="1652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枚举：(n−1)! 条路线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086009" y="1659731"/>
              <a:ext cx="12725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动态规划：n²2ⁿ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60847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75663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53506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680835" y="241649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680835" y="2421255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11092" y="255698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44879" y="2556986"/>
              <a:ext cx="6332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362 880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17494" y="2556986"/>
              <a:ext cx="6332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102 400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680835" y="286607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11092" y="300561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907028" y="300561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8.7×10¹⁰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874416" y="3005614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7.4×10⁶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680835" y="331470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680835" y="3319462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11092" y="345424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907028" y="345424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1.2×10¹⁷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874416" y="345424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4.2×10⁸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680835" y="1524000"/>
              <a:ext cx="497776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54856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978122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75120" y="3843814"/>
              <a:ext cx="3434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很小时动态规划并不占优，n 增大后差距迅速拉开</a:t>
              </a:r>
            </a:p>
          </p:txBody>
        </p:sp>
      </p:grpSp>
      <p:grpSp>
        <p:nvGrpSpPr>
          <p:cNvPr id="63" name="c2-callout-2"/>
          <p:cNvGrpSpPr/>
          <p:nvPr/>
        </p:nvGrpSpPr>
        <p:grpSpPr>
          <a:xfrm>
            <a:off x="6680835" y="4210050"/>
            <a:ext cx="4977765" cy="782955"/>
            <a:chOff x="6680835" y="4210050"/>
            <a:chExt cx="4977765" cy="782955"/>
          </a:xfrm>
        </p:grpSpPr>
        <p:sp>
          <p:nvSpPr>
            <p:cNvPr id="57" name="Rectangle 57"/>
            <p:cNvSpPr/>
            <p:nvPr/>
          </p:nvSpPr>
          <p:spPr>
            <a:xfrm>
              <a:off x="6680835" y="4210050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873564" y="4497823"/>
              <a:ext cx="224134" cy="192560"/>
              <a:chOff x="6873564" y="4497823"/>
              <a:chExt cx="224134" cy="19256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985635" y="456819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873564" y="449782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985635" y="46459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7187565" y="4358640"/>
              <a:ext cx="41109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n²2ⁿ 仍随 n 指数增长，n 再大时这个方法也不可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取。</a:t>
              </a:r>
            </a:p>
          </p:txBody>
        </p:sp>
      </p:grpSp>
      <p:grpSp>
        <p:nvGrpSpPr>
          <p:cNvPr id="70" name="c2-callout-3"/>
          <p:cNvGrpSpPr/>
          <p:nvPr/>
        </p:nvGrpSpPr>
        <p:grpSpPr>
          <a:xfrm>
            <a:off x="6680835" y="5183505"/>
            <a:ext cx="4977765" cy="1129665"/>
            <a:chOff x="6680835" y="5183505"/>
            <a:chExt cx="4977765" cy="1129665"/>
          </a:xfrm>
        </p:grpSpPr>
        <p:sp>
          <p:nvSpPr>
            <p:cNvPr id="64" name="Rectangle 64"/>
            <p:cNvSpPr/>
            <p:nvPr/>
          </p:nvSpPr>
          <p:spPr>
            <a:xfrm>
              <a:off x="6680835" y="5183505"/>
              <a:ext cx="4977765" cy="1129665"/>
            </a:xfrm>
            <a:prstGeom prst="roundRect">
              <a:avLst>
                <a:gd name="adj" fmla="val 1011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6885623" y="5648325"/>
              <a:ext cx="200026" cy="200025"/>
              <a:chOff x="6885623" y="5648325"/>
              <a:chExt cx="200026" cy="20002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6885623" y="56483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925361" y="56927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960077" y="58039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7187565" y="5367338"/>
              <a:ext cx="40443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与贪心比较：从 1 出发每次走最近的结点，得到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1→2→3→4→1，成本 39；动态规划比较了所有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子集，保证得到 35。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357622" cy="3351847"/>
            <a:chOff x="667512" y="1835468"/>
            <a:chExt cx="535762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6738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0/1 背包问题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同一个递推式，三种实现：二维表、一维数组、序偶对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填表与回溯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一维数组变型与伪多项式时间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递推式图解与序偶对法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用估计值清除序偶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72648" cy="909257"/>
            <a:chOff x="520446" y="342900"/>
            <a:chExt cx="68726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0/1 背包问题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726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递推式：第 i 件物品装或不装，取效益较大者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735002" cy="3207068"/>
            <a:chOff x="533400" y="1524000"/>
            <a:chExt cx="5735002" cy="32070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735002" cy="3207068"/>
            </a:xfrm>
            <a:prstGeom prst="roundRect">
              <a:avLst>
                <a:gd name="adj" fmla="val 41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94036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507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问题与递推式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24"/>
                <p:cNvSpPr txBox="1">
                  <a:spLocks noGrp="1"/>
                </p:cNvSpPr>
                <p:nvPr/>
              </p:nvSpPr>
              <p:spPr>
                <a:xfrm>
                  <a:off x="781050" y="2085975"/>
                  <a:ext cx="5277802" cy="6600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max</m:t>
                            </m:r>
                          </m:fName>
                          <m:e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m:rPr>
                                    <m:nor m:val="on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s.t.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ff"/>
                                    <m:supHide m:val="off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=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p>
                                  <m:e>
                                    <m:sSub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w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sSub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nary>
                          </m:e>
                        </m:func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∈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TextBox 12"/>
            <p:cNvSpPr txBox="1"/>
            <p:nvPr/>
          </p:nvSpPr>
          <p:spPr>
            <a:xfrm>
              <a:off x="773430" y="2866072"/>
              <a:ext cx="4911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pᵢ&gt;0，wᵢ&gt;0。fᵢ(X) 表示只考虑前 i 件物品、容量为 X 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的最大效益：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25"/>
                <p:cNvSpPr txBox="1">
                  <a:spLocks noGrp="1"/>
                </p:cNvSpPr>
                <p:nvPr/>
              </p:nvSpPr>
              <p:spPr>
                <a:xfrm>
                  <a:off x="781050" y="3462338"/>
                  <a:ext cx="5277802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w</m:t>
                                        </m:r>
                                      </m:e>
                                      <m:sub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3430" y="4001452"/>
              <a:ext cx="4768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边界：X&lt;0 时 f₀(X) = −∞，X≥0 时 f₀(X) = 0；原问题是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fₙ(M)</a:t>
              </a:r>
            </a:p>
          </p:txBody>
        </p:sp>
      </p:grpSp>
      <p:grpSp>
        <p:nvGrpSpPr>
          <p:cNvPr id="21" name="c1-kv-2"/>
          <p:cNvGrpSpPr/>
          <p:nvPr/>
        </p:nvGrpSpPr>
        <p:grpSpPr>
          <a:xfrm>
            <a:off x="525780" y="4946332"/>
            <a:ext cx="5742622" cy="733426"/>
            <a:chOff x="525780" y="4946332"/>
            <a:chExt cx="5742622" cy="733426"/>
          </a:xfrm>
        </p:grpSpPr>
        <p:sp>
          <p:nvSpPr>
            <p:cNvPr id="16" name="TextBox 16"/>
            <p:cNvSpPr txBox="1"/>
            <p:nvPr/>
          </p:nvSpPr>
          <p:spPr>
            <a:xfrm>
              <a:off x="525780" y="4946332"/>
              <a:ext cx="8546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fᵢ₋₁(X)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45995" y="4946332"/>
              <a:ext cx="28220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不装第 i 件，容量和效益都不变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5266372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5780" y="5386388"/>
              <a:ext cx="15956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fᵢ₋₁(X−wᵢ)+pᵢ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245995" y="5386388"/>
              <a:ext cx="30239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装入第 i 件，占用 wᵢ，效益加 pᵢ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573202" y="1524000"/>
            <a:ext cx="5085398" cy="4096702"/>
            <a:chOff x="6573202" y="1524000"/>
            <a:chExt cx="5085398" cy="4096702"/>
          </a:xfrm>
        </p:grpSpPr>
        <p:sp>
          <p:nvSpPr>
            <p:cNvPr id="22" name="Rectangle 22"/>
            <p:cNvSpPr/>
            <p:nvPr/>
          </p:nvSpPr>
          <p:spPr>
            <a:xfrm>
              <a:off x="6573202" y="1524000"/>
              <a:ext cx="5085398" cy="4096702"/>
            </a:xfrm>
            <a:prstGeom prst="roundRect">
              <a:avLst>
                <a:gd name="adj" fmla="val 32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582728" y="1657350"/>
              <a:ext cx="47625" cy="383000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820852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11061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20928" y="1768792"/>
              <a:ext cx="20441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0/n 背包怎样写递推式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13233" y="2129790"/>
              <a:ext cx="4320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每件物品可以装任意多件，xᵢ∈{0,1,2,…}，目标函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数和约束不变。第 i 件装 t 件：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26"/>
                <p:cNvSpPr txBox="1">
                  <a:spLocks noGrp="1"/>
                </p:cNvSpPr>
                <p:nvPr/>
              </p:nvSpPr>
              <p:spPr>
                <a:xfrm>
                  <a:off x="6820852" y="2726055"/>
                  <a:ext cx="4628198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d>
                                  <m:dPr>
                                    <m:begChr m:val="⌊"/>
                                    <m:sepChr m:val=""/>
                                    <m:endChr m:val="⌋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/</m:t>
                                    </m:r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w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</m:lim>
                            </m:limLow>
                          </m:fName>
                          <m:e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 xml:space="preserve"> </m:t>
                                    </m:r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w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TextBox 29"/>
            <p:cNvSpPr txBox="1"/>
            <p:nvPr/>
          </p:nvSpPr>
          <p:spPr>
            <a:xfrm>
              <a:off x="6813233" y="3341370"/>
              <a:ext cx="4358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等价写法如下。第二项用 fᵢ 而不是 fᵢ₋₁，装了第 i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件之后还可以再装：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formula27"/>
                <p:cNvSpPr txBox="1">
                  <a:spLocks noGrp="1"/>
                </p:cNvSpPr>
                <p:nvPr/>
              </p:nvSpPr>
              <p:spPr>
                <a:xfrm>
                  <a:off x="6820852" y="3937635"/>
                  <a:ext cx="4628198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w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1" name="TextBox 31"/>
            <p:cNvSpPr txBox="1"/>
            <p:nvPr/>
          </p:nvSpPr>
          <p:spPr>
            <a:xfrm>
              <a:off x="6814376" y="4435316"/>
              <a:ext cx="43939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例：(w)=(2,3,4)，(p)=(1,2,5)，M=8。0/1 背包最多得 7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（第 2、3 件）；0/n 背包装两件第 3 件得 10。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3" name="Rectangle 3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130" y="5991225"/>
              <a:ext cx="77689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函数的两个参数各有分工：i 刻画问题边界（只看前 i 件），X 刻画约束条件（容量）。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20414" cy="909257"/>
            <a:chOff x="520446" y="342900"/>
            <a:chExt cx="62204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0/1 背包问题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204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填表：第 i 行只依赖第 i−1 行，按行计算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176120" cy="308039"/>
            <a:chOff x="525399" y="1550194"/>
            <a:chExt cx="1017612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17612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实例：n=3，(w₁,w₂,w₃)=(2,3,4)，(p₁,p₂,p₃)=(1,2,5)，M=6。F(i,X) 就是 fᵢ(X)，第 0 行是边界。</a:t>
              </a:r>
            </a:p>
          </p:txBody>
        </p:sp>
      </p:grpSp>
      <p:grpSp>
        <p:nvGrpSpPr>
          <p:cNvPr id="76" name="c1-table-1"/>
          <p:cNvGrpSpPr/>
          <p:nvPr/>
        </p:nvGrpSpPr>
        <p:grpSpPr>
          <a:xfrm>
            <a:off x="527685" y="1967865"/>
            <a:ext cx="5415915" cy="2734152"/>
            <a:chOff x="527685" y="1967865"/>
            <a:chExt cx="5415915" cy="273415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48768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33163" y="2106930"/>
              <a:ext cx="6863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F(i,X)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30667" y="2106930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X=0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53460" y="210693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39248" y="210693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25988" y="210693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11775" y="210693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98515" y="210693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84303" y="210693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20286" y="2594610"/>
              <a:ext cx="3120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59959" y="259461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56237" y="259461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42024" y="259461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28764" y="259461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14552" y="259461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01292" y="259461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87079" y="259461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29384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2943225"/>
              <a:ext cx="5410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0286" y="3082290"/>
              <a:ext cx="3120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59959" y="308229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56237" y="308229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21330" y="2952750"/>
              <a:ext cx="566738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42024" y="308229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608070" y="2952750"/>
              <a:ext cx="566738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828764" y="308229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194810" y="2952750"/>
              <a:ext cx="566738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414552" y="308229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780598" y="2952750"/>
              <a:ext cx="566738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001292" y="308229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67338" y="2952750"/>
              <a:ext cx="566738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587079" y="308229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3426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20286" y="3569970"/>
              <a:ext cx="3120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959959" y="356997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656237" y="356997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242024" y="356997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3608070" y="3440430"/>
              <a:ext cx="566738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828764" y="356997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194810" y="3440430"/>
              <a:ext cx="566738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414552" y="356997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780598" y="3440430"/>
              <a:ext cx="566738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001292" y="356997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67338" y="3440430"/>
              <a:ext cx="566738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587079" y="356997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39138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33400" y="3918585"/>
              <a:ext cx="5410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20286" y="4057650"/>
              <a:ext cx="3120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959959" y="40576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656237" y="40576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242024" y="40576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828764" y="40576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4194810" y="3928110"/>
              <a:ext cx="566738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414552" y="40576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4780598" y="3928110"/>
              <a:ext cx="566738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001292" y="40576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367338" y="3928110"/>
              <a:ext cx="566738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587079" y="40576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33400" y="1967865"/>
              <a:ext cx="5410200" cy="2438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1615440" y="1967865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2421255" y="1967865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3007995" y="1967865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3593782" y="1967865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4180522" y="1967865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4766310" y="1967865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5353050" y="1967865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27685" y="4481989"/>
              <a:ext cx="22579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橙色格：装入第 i 件的那一项更大</a:t>
              </a:r>
            </a:p>
          </p:txBody>
        </p:sp>
      </p:grpSp>
      <p:grpSp>
        <p:nvGrpSpPr>
          <p:cNvPr id="82" name="c1-callout-2"/>
          <p:cNvGrpSpPr/>
          <p:nvPr/>
        </p:nvGrpSpPr>
        <p:grpSpPr>
          <a:xfrm>
            <a:off x="533400" y="4848225"/>
            <a:ext cx="5410200" cy="782955"/>
            <a:chOff x="533400" y="4848225"/>
            <a:chExt cx="5410200" cy="782955"/>
          </a:xfrm>
        </p:grpSpPr>
        <p:sp>
          <p:nvSpPr>
            <p:cNvPr id="77" name="Rectangle 77"/>
            <p:cNvSpPr/>
            <p:nvPr/>
          </p:nvSpPr>
          <p:spPr>
            <a:xfrm>
              <a:off x="533400" y="484822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738188" y="5139690"/>
              <a:ext cx="200026" cy="200026"/>
              <a:chOff x="738188" y="5139690"/>
              <a:chExt cx="200026" cy="200026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738188" y="513969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04863" y="521747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1040130" y="4996815"/>
              <a:ext cx="43681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最优解 F(3,6) = 6。表的大小是 (n+1)×(M+1)，与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n 和 M 都有关。</a:t>
              </a:r>
            </a:p>
          </p:txBody>
        </p:sp>
      </p:grpSp>
      <p:grpSp>
        <p:nvGrpSpPr>
          <p:cNvPr id="96" name="c2-steps-1"/>
          <p:cNvGrpSpPr/>
          <p:nvPr/>
        </p:nvGrpSpPr>
        <p:grpSpPr>
          <a:xfrm>
            <a:off x="6248400" y="1977390"/>
            <a:ext cx="5009769" cy="2582514"/>
            <a:chOff x="6248400" y="1977390"/>
            <a:chExt cx="5009769" cy="2582514"/>
          </a:xfrm>
        </p:grpSpPr>
        <p:sp>
          <p:nvSpPr>
            <p:cNvPr id="83" name="Rectangle 83"/>
            <p:cNvSpPr/>
            <p:nvPr/>
          </p:nvSpPr>
          <p:spPr>
            <a:xfrm>
              <a:off x="6381750" y="2120265"/>
              <a:ext cx="19050" cy="17706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6248400" y="197739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34202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6248400" y="28622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342024" y="29360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6248400" y="374808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342024" y="38219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659880" y="2011680"/>
              <a:ext cx="18931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i=1（w₁=2，p₁=1）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661023" y="2304574"/>
              <a:ext cx="34917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X&lt;2 装不下，F(1,X)=max{0, −∞+1}=0；X≥2 时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F(1,X)=max{0, 0+1}=1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659880" y="2896552"/>
              <a:ext cx="18931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i=2（w₂=3，p₂=2）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661023" y="3190399"/>
              <a:ext cx="45808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X=3、4：max{1, F(1,X−3)+2} = max{1, 0+2} = 2；X=5、6：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max{1, 1+2} = 3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659880" y="3782378"/>
              <a:ext cx="18931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i=3（w₃=4，p₃=5）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661023" y="4076224"/>
              <a:ext cx="45971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X=4：max{2, F(2,0)+5} = 5；X=5：max{3, F(2,1)+5} = 5；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X=6：max{3, F(2,2)+5} = 6</a:t>
              </a:r>
            </a:p>
          </p:txBody>
        </p:sp>
      </p:grpSp>
      <p:grpSp>
        <p:nvGrpSpPr>
          <p:cNvPr id="103" name="c2-callout-2"/>
          <p:cNvGrpSpPr/>
          <p:nvPr/>
        </p:nvGrpSpPr>
        <p:grpSpPr>
          <a:xfrm>
            <a:off x="6248400" y="4738688"/>
            <a:ext cx="5410200" cy="892492"/>
            <a:chOff x="6248400" y="4738688"/>
            <a:chExt cx="5410200" cy="892492"/>
          </a:xfrm>
        </p:grpSpPr>
        <p:sp>
          <p:nvSpPr>
            <p:cNvPr id="97" name="Rectangle 97"/>
            <p:cNvSpPr/>
            <p:nvPr/>
          </p:nvSpPr>
          <p:spPr>
            <a:xfrm>
              <a:off x="6248400" y="4738688"/>
              <a:ext cx="5410200" cy="892492"/>
            </a:xfrm>
            <a:prstGeom prst="roundRect">
              <a:avLst>
                <a:gd name="adj" fmla="val 1280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01" name="Group 101"/>
            <p:cNvGrpSpPr/>
            <p:nvPr/>
          </p:nvGrpSpPr>
          <p:grpSpPr>
            <a:xfrm>
              <a:off x="6453188" y="5084445"/>
              <a:ext cx="200026" cy="200025"/>
              <a:chOff x="6453188" y="5084445"/>
              <a:chExt cx="200026" cy="200025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6453188" y="50844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9" name="Freeform 99"/>
              <p:cNvSpPr/>
              <p:nvPr/>
            </p:nvSpPr>
            <p:spPr>
              <a:xfrm>
                <a:off x="6492926" y="51288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6527642" y="52400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02" name="TextBox 102"/>
            <p:cNvSpPr txBox="1"/>
            <p:nvPr/>
          </p:nvSpPr>
          <p:spPr>
            <a:xfrm>
              <a:off x="6755130" y="4941570"/>
              <a:ext cx="44824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每一格只看上一行的两格：正上方的 F(i−1,X)，以及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再往左 wᵢ 列的 F(i−1,X−wᵢ)。</a:t>
              </a:r>
            </a:p>
          </p:txBody>
        </p:sp>
      </p:grpSp>
      <p:grpSp>
        <p:nvGrpSpPr>
          <p:cNvPr id="10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4" name="TextBox 10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0/1 背包问题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回溯：比较上下相邻两行，确定每件物品装不装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7" name="c1-table-1"/>
          <p:cNvGrpSpPr/>
          <p:nvPr/>
        </p:nvGrpSpPr>
        <p:grpSpPr>
          <a:xfrm>
            <a:off x="527685" y="1524000"/>
            <a:ext cx="5199697" cy="2734152"/>
            <a:chOff x="527685" y="1524000"/>
            <a:chExt cx="5199697" cy="27341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48768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9828" y="1663065"/>
              <a:ext cx="6863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F(i,X)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89709" y="166306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X=0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585833" y="16630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44950" y="16630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4068" y="16630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63185" y="16630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822303" y="16630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381420" y="16630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6951" y="2150745"/>
              <a:ext cx="3120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19002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88609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940368" y="2021205"/>
              <a:ext cx="540068" cy="46863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147727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06844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65962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25079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84197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49459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2499360"/>
              <a:ext cx="5193982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06951" y="2638425"/>
              <a:ext cx="3120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19002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588609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940368" y="2508885"/>
              <a:ext cx="540068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147727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706844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65962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825079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84197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298227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06951" y="3126105"/>
              <a:ext cx="3120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919002" y="31261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588609" y="31261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940368" y="2996565"/>
              <a:ext cx="540068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147727" y="31261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706844" y="31261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265962" y="31261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825079" y="31261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177790" y="2996565"/>
              <a:ext cx="540068" cy="46863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384197" y="31261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346995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33400" y="3474720"/>
              <a:ext cx="5193982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06951" y="3613785"/>
              <a:ext cx="3120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919002" y="361378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588609" y="361378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147727" y="361378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706844" y="361378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265962" y="361378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825079" y="361378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177790" y="3484245"/>
              <a:ext cx="540068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384197" y="361378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1524000"/>
              <a:ext cx="5193982" cy="2438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1587818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2366962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2926080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3485198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4044315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4604385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163502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27685" y="4038124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橙色格是回溯经过的格，蓝色格是用来比较的上一行</a:t>
              </a:r>
            </a:p>
          </p:txBody>
        </p:sp>
      </p:grpSp>
      <p:grpSp>
        <p:nvGrpSpPr>
          <p:cNvPr id="74" name="c1-card-2"/>
          <p:cNvGrpSpPr/>
          <p:nvPr/>
        </p:nvGrpSpPr>
        <p:grpSpPr>
          <a:xfrm>
            <a:off x="533400" y="4404360"/>
            <a:ext cx="5193982" cy="1335405"/>
            <a:chOff x="533400" y="4404360"/>
            <a:chExt cx="5193982" cy="1335405"/>
          </a:xfrm>
        </p:grpSpPr>
        <p:sp>
          <p:nvSpPr>
            <p:cNvPr id="68" name="Rectangle 68"/>
            <p:cNvSpPr/>
            <p:nvPr/>
          </p:nvSpPr>
          <p:spPr>
            <a:xfrm>
              <a:off x="533400" y="4404360"/>
              <a:ext cx="5193982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542925" y="453771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781050" y="461391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71258" y="46496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思考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382078" y="4649152"/>
              <a:ext cx="3106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大于 Σwᵢ 时，要算到第 M 列吗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73430" y="5010150"/>
              <a:ext cx="4225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不用。X ≥ Σwᵢ 时所有物品都装得下，fᵢ(X) 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fᵢ(Σwᵢ) 相同，表格算到 min{M, Σwᵢ} 列即可。</a:t>
              </a:r>
            </a:p>
          </p:txBody>
        </p:sp>
      </p:grpSp>
      <p:grpSp>
        <p:nvGrpSpPr>
          <p:cNvPr id="88" name="c2-steps-1"/>
          <p:cNvGrpSpPr/>
          <p:nvPr/>
        </p:nvGrpSpPr>
        <p:grpSpPr>
          <a:xfrm>
            <a:off x="6032182" y="1533525"/>
            <a:ext cx="5237354" cy="2112930"/>
            <a:chOff x="6032182" y="1533525"/>
            <a:chExt cx="5237354" cy="2112930"/>
          </a:xfrm>
        </p:grpSpPr>
        <p:sp>
          <p:nvSpPr>
            <p:cNvPr id="75" name="Rectangle 75"/>
            <p:cNvSpPr/>
            <p:nvPr/>
          </p:nvSpPr>
          <p:spPr>
            <a:xfrm>
              <a:off x="6165532" y="1676400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6032182" y="24193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125806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6032182" y="30699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125806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443662" y="1567815"/>
              <a:ext cx="7159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 x₃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444806" y="1861661"/>
              <a:ext cx="48247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X=M=6，F(3,6)=6 ≠ F(2,6)=3，说明装了第 3 件：x₃=1，X = 6−4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2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443662" y="2453640"/>
              <a:ext cx="7159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 x₂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444806" y="2746534"/>
              <a:ext cx="42538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F(2,2)=1 = F(1,2)=1，没装第 2 件：x₂=0，X 仍为 2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443662" y="3104198"/>
              <a:ext cx="7159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 x₁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444806" y="3397091"/>
              <a:ext cx="34356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F(1,2)=1 ≠ F(0,2)=0，装了第 1 件：x₁=1</a:t>
              </a:r>
            </a:p>
          </p:txBody>
        </p:sp>
      </p:grpSp>
      <p:grpSp>
        <p:nvGrpSpPr>
          <p:cNvPr id="94" name="c2-callout-2"/>
          <p:cNvGrpSpPr/>
          <p:nvPr/>
        </p:nvGrpSpPr>
        <p:grpSpPr>
          <a:xfrm>
            <a:off x="6032182" y="3825240"/>
            <a:ext cx="5626418" cy="782955"/>
            <a:chOff x="6032182" y="3825240"/>
            <a:chExt cx="5626418" cy="782955"/>
          </a:xfrm>
        </p:grpSpPr>
        <p:sp>
          <p:nvSpPr>
            <p:cNvPr id="89" name="Rectangle 89"/>
            <p:cNvSpPr/>
            <p:nvPr/>
          </p:nvSpPr>
          <p:spPr>
            <a:xfrm>
              <a:off x="6032182" y="3825240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92" name="Group 92"/>
            <p:cNvGrpSpPr/>
            <p:nvPr/>
          </p:nvGrpSpPr>
          <p:grpSpPr>
            <a:xfrm>
              <a:off x="6236970" y="4116705"/>
              <a:ext cx="200026" cy="200026"/>
              <a:chOff x="6236970" y="4116705"/>
              <a:chExt cx="200026" cy="200026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6236970" y="41167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6303645" y="419449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93" name="TextBox 93"/>
            <p:cNvSpPr txBox="1"/>
            <p:nvPr/>
          </p:nvSpPr>
          <p:spPr>
            <a:xfrm>
              <a:off x="6538912" y="3973830"/>
              <a:ext cx="46729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最优决策 (x₁,x₂,x₃) = (1,0,1)：总重量 2+4 = 6，总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效益 1+5 = 6。</a:t>
              </a:r>
            </a:p>
          </p:txBody>
        </p:sp>
      </p:grpSp>
      <p:grpSp>
        <p:nvGrpSpPr>
          <p:cNvPr id="101" name="c2-callout-3"/>
          <p:cNvGrpSpPr/>
          <p:nvPr/>
        </p:nvGrpSpPr>
        <p:grpSpPr>
          <a:xfrm>
            <a:off x="6032182" y="4798695"/>
            <a:ext cx="5626418" cy="941070"/>
            <a:chOff x="6032182" y="4798695"/>
            <a:chExt cx="5626418" cy="941070"/>
          </a:xfrm>
        </p:grpSpPr>
        <p:sp>
          <p:nvSpPr>
            <p:cNvPr id="95" name="Rectangle 95"/>
            <p:cNvSpPr/>
            <p:nvPr/>
          </p:nvSpPr>
          <p:spPr>
            <a:xfrm>
              <a:off x="6032182" y="4798695"/>
              <a:ext cx="5626418" cy="941070"/>
            </a:xfrm>
            <a:prstGeom prst="roundRect">
              <a:avLst>
                <a:gd name="adj" fmla="val 1214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9" name="Group 99"/>
            <p:cNvGrpSpPr/>
            <p:nvPr/>
          </p:nvGrpSpPr>
          <p:grpSpPr>
            <a:xfrm>
              <a:off x="6236970" y="5169218"/>
              <a:ext cx="200026" cy="200026"/>
              <a:chOff x="6236970" y="5169218"/>
              <a:chExt cx="200026" cy="200026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6236970" y="51692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6336983" y="52358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6325870" y="52692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00" name="TextBox 100"/>
            <p:cNvSpPr txBox="1"/>
            <p:nvPr/>
          </p:nvSpPr>
          <p:spPr>
            <a:xfrm>
              <a:off x="6538912" y="5026342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保留整张二维表就能推出决策，这里不需要另设标记函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数。</a:t>
              </a:r>
            </a:p>
          </p:txBody>
        </p:sp>
      </p:grpSp>
      <p:grpSp>
        <p:nvGrpSpPr>
          <p:cNvPr id="10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2" name="TextBox 102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92752" cy="909257"/>
            <a:chOff x="520446" y="342900"/>
            <a:chExt cx="70927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0/1 背包问题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927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算法6.2 KNAPSACK：Θ(nM) 是伪多项式时间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951220" cy="3344228"/>
            <a:chOff x="533400" y="1524000"/>
            <a:chExt cx="5951220" cy="33442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3344228"/>
            </a:xfrm>
            <a:prstGeom prst="roundRect">
              <a:avLst>
                <a:gd name="adj" fmla="val 284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3417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算法6.2 0/1 背包算法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3017711" cy="28590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KNAPSACK(p, w, n, M)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integer p(n), w(n), x(1:n)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integer F(0:n, 0:M)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备忘录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j ← 0 to M do F(0,j) ← 0 repeat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i ← 1 to n do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for j ← 0 to M do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F(i,j) ← F(i-1,j)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if w(i) ≤ j and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F(i,j) &lt; F(i-1,j-w(i))+p(i) then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F(i,j) ← F(i-1,j-w(i)) + p(i)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endif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repeat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最优解在 F(n,M) 中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回溯确定 x 的值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KNAPSACK</a:t>
              </a:r>
            </a:p>
          </p:txBody>
        </p:sp>
      </p:grpSp>
      <p:grpSp>
        <p:nvGrpSpPr>
          <p:cNvPr id="16" name="c1-card-2"/>
          <p:cNvGrpSpPr/>
          <p:nvPr/>
        </p:nvGrpSpPr>
        <p:grpSpPr>
          <a:xfrm>
            <a:off x="533400" y="5048250"/>
            <a:ext cx="5951220" cy="1250632"/>
            <a:chOff x="533400" y="5048250"/>
            <a:chExt cx="5951220" cy="1250632"/>
          </a:xfrm>
        </p:grpSpPr>
        <p:sp>
          <p:nvSpPr>
            <p:cNvPr id="11" name="Rectangle 11"/>
            <p:cNvSpPr/>
            <p:nvPr/>
          </p:nvSpPr>
          <p:spPr>
            <a:xfrm>
              <a:off x="533400" y="5048250"/>
              <a:ext cx="5951220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5181600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9620" y="5246370"/>
              <a:ext cx="862012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9036" y="5280660"/>
              <a:ext cx="702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回溯确定 x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381" y="5607844"/>
              <a:ext cx="499186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← M，i 从 n 递减到 1：若 F(i,X) ≠ F(i−1,X)，则 x(i)=1，X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 X−w(i)；否则 x(i)=0。</a:t>
              </a:r>
            </a:p>
          </p:txBody>
        </p:sp>
      </p:grpSp>
      <p:grpSp>
        <p:nvGrpSpPr>
          <p:cNvPr id="22" name="c2-kv-1"/>
          <p:cNvGrpSpPr/>
          <p:nvPr/>
        </p:nvGrpSpPr>
        <p:grpSpPr>
          <a:xfrm>
            <a:off x="6782181" y="1547336"/>
            <a:ext cx="4876419" cy="694945"/>
            <a:chOff x="6782181" y="1547336"/>
            <a:chExt cx="4876419" cy="694945"/>
          </a:xfrm>
        </p:grpSpPr>
        <p:sp>
          <p:nvSpPr>
            <p:cNvPr id="17" name="TextBox 17"/>
            <p:cNvSpPr txBox="1"/>
            <p:nvPr/>
          </p:nvSpPr>
          <p:spPr>
            <a:xfrm>
              <a:off x="6782181" y="1547336"/>
              <a:ext cx="10737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时间 Θ(nM)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46148" y="1547336"/>
              <a:ext cx="34476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两重循环，n 是物品个数，M 是背包容量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789420" y="185070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82181" y="1963579"/>
              <a:ext cx="10737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空间 Θ(nM)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46148" y="1963579"/>
              <a:ext cx="18377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二维表 F(0:n, 0:M)</a:t>
              </a:r>
            </a:p>
          </p:txBody>
        </p:sp>
      </p:grpSp>
      <p:grpSp>
        <p:nvGrpSpPr>
          <p:cNvPr id="33" name="c2-card-2"/>
          <p:cNvGrpSpPr/>
          <p:nvPr/>
        </p:nvGrpSpPr>
        <p:grpSpPr>
          <a:xfrm>
            <a:off x="6789420" y="2366962"/>
            <a:ext cx="4869180" cy="2175510"/>
            <a:chOff x="6789420" y="2366962"/>
            <a:chExt cx="4869180" cy="2175510"/>
          </a:xfrm>
        </p:grpSpPr>
        <p:sp>
          <p:nvSpPr>
            <p:cNvPr id="23" name="Rectangle 23"/>
            <p:cNvSpPr/>
            <p:nvPr/>
          </p:nvSpPr>
          <p:spPr>
            <a:xfrm>
              <a:off x="6789420" y="2366962"/>
              <a:ext cx="4869180" cy="2175510"/>
            </a:xfrm>
            <a:prstGeom prst="roundRect">
              <a:avLst>
                <a:gd name="adj" fmla="val 6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798945" y="2500312"/>
              <a:ext cx="47625" cy="190881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025640" y="256508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117080" y="259937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思考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08951" y="2599849"/>
              <a:ext cx="29511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能说 0/1 背包有多项式时间算法吗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18401" y="2943701"/>
              <a:ext cx="409016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不能。输入中的 M 只占 log₂M 个二进制位，Θ(nM)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相对输入长度是指数级的，这种界称为伪多项式时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间。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033260" y="386429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189851" y="3803809"/>
              <a:ext cx="19756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与 n 同阶时算法很快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033260" y="418147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89851" y="4121944"/>
              <a:ext cx="34667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很大（例如 2⁶⁰）时，表格根本存不下</a:t>
              </a:r>
            </a:p>
          </p:txBody>
        </p:sp>
      </p:grpSp>
      <p:grpSp>
        <p:nvGrpSpPr>
          <p:cNvPr id="39" name="c2-card-3"/>
          <p:cNvGrpSpPr/>
          <p:nvPr/>
        </p:nvGrpSpPr>
        <p:grpSpPr>
          <a:xfrm>
            <a:off x="6789420" y="4722495"/>
            <a:ext cx="4869180" cy="1577340"/>
            <a:chOff x="6789420" y="4722495"/>
            <a:chExt cx="4869180" cy="1577340"/>
          </a:xfrm>
        </p:grpSpPr>
        <p:sp>
          <p:nvSpPr>
            <p:cNvPr id="34" name="Rectangle 34"/>
            <p:cNvSpPr/>
            <p:nvPr/>
          </p:nvSpPr>
          <p:spPr>
            <a:xfrm>
              <a:off x="6789420" y="4722495"/>
              <a:ext cx="4869180" cy="1577340"/>
            </a:xfrm>
            <a:prstGeom prst="roundRect">
              <a:avLst>
                <a:gd name="adj" fmla="val 84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798945" y="4855845"/>
              <a:ext cx="47625" cy="13106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025640" y="492061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117080" y="495490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18401" y="5281136"/>
              <a:ext cx="418934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原课件算法6.2、6.3 的结尾都写作 end FGRAPH，应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分别为 end KNAPSACK 和 end KNAPSACK1。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38951" cy="909257"/>
            <a:chOff x="520446" y="342900"/>
            <a:chExt cx="88389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0/1 背包问题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389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算法6.3 一维数组：j 倒序循环，只求最优值时空间 Θ(M)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2733675"/>
            <a:chOff x="533400" y="1524000"/>
            <a:chExt cx="5626418" cy="2733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733675"/>
            </a:xfrm>
            <a:prstGeom prst="roundRect">
              <a:avLst>
                <a:gd name="adj" fmla="val 348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6055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算法6.3 0/1 背包算法变型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2991358" cy="22488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KNAPSACK1(p, w, n, M)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integer p(n), w(n), F(0:M), i, j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j ← 0 to M do F(j) ← 0 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i ← 1 to n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for j ← M to w(i) by -1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if F(j) &lt; F(j-w(i))+p(i) then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F(j) ← F(j-w(i)) + p(i)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endif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最优解在 F(M) 中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KNAPSACK1</a:t>
              </a:r>
            </a:p>
          </p:txBody>
        </p:sp>
      </p:grpSp>
      <p:grpSp>
        <p:nvGrpSpPr>
          <p:cNvPr id="16" name="c1-card-2"/>
          <p:cNvGrpSpPr/>
          <p:nvPr/>
        </p:nvGrpSpPr>
        <p:grpSpPr>
          <a:xfrm>
            <a:off x="533400" y="4443412"/>
            <a:ext cx="5626418" cy="1767840"/>
            <a:chOff x="533400" y="4443412"/>
            <a:chExt cx="5626418" cy="1767840"/>
          </a:xfrm>
        </p:grpSpPr>
        <p:sp>
          <p:nvSpPr>
            <p:cNvPr id="11" name="Rectangle 11"/>
            <p:cNvSpPr/>
            <p:nvPr/>
          </p:nvSpPr>
          <p:spPr>
            <a:xfrm>
              <a:off x="533400" y="4443412"/>
              <a:ext cx="5626418" cy="1767840"/>
            </a:xfrm>
            <a:prstGeom prst="roundRect">
              <a:avLst>
                <a:gd name="adj" fmla="val 75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576762"/>
              <a:ext cx="47625" cy="150114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75335" y="4647248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2741" y="468296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为什么倒序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8096" y="5020151"/>
              <a:ext cx="496481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从大到小时，F(j−w(i)) 还没被第 i 轮改写，仍是前 i−1 件物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品的结果。若改成正序，第 i 件会被重复装入，算的就成了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0/n 背包。</a:t>
              </a:r>
            </a:p>
          </p:txBody>
        </p:sp>
      </p:grpSp>
      <p:grpSp>
        <p:nvGrpSpPr>
          <p:cNvPr id="84" name="c2-cells-1"/>
          <p:cNvGrpSpPr/>
          <p:nvPr/>
        </p:nvGrpSpPr>
        <p:grpSpPr>
          <a:xfrm>
            <a:off x="6458522" y="1524000"/>
            <a:ext cx="3377946" cy="2315528"/>
            <a:chOff x="6458522" y="1524000"/>
            <a:chExt cx="3377946" cy="2315528"/>
          </a:xfrm>
        </p:grpSpPr>
        <p:sp>
          <p:nvSpPr>
            <p:cNvPr id="17" name="TextBox 17"/>
            <p:cNvSpPr txBox="1"/>
            <p:nvPr/>
          </p:nvSpPr>
          <p:spPr>
            <a:xfrm>
              <a:off x="645852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902768" y="15240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59576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321868" y="15240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78676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740968" y="15240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897776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160068" y="15240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16876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579168" y="15240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735976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998268" y="15240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155076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417368" y="15240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574176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74237" y="19859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93337" y="19859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12437" y="19859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31537" y="19859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750637" y="19859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169737" y="19859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88837" y="19859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58522" y="2415540"/>
              <a:ext cx="2496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i=1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902768" y="228695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59576" y="24155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321868" y="228695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478676" y="24155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740968" y="2286952"/>
              <a:ext cx="4191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897776" y="24155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160068" y="2286952"/>
              <a:ext cx="4191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316876" y="24155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579168" y="2286952"/>
              <a:ext cx="4191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735976" y="24155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998268" y="2286952"/>
              <a:ext cx="4191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155076" y="24155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417368" y="2286952"/>
              <a:ext cx="4191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574176" y="24155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58522" y="2988945"/>
              <a:ext cx="2496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i=2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902768" y="28603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059576" y="29889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321868" y="28603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478676" y="29889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740968" y="28603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897776" y="29889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160068" y="2860358"/>
              <a:ext cx="4191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316876" y="29889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579168" y="2860358"/>
              <a:ext cx="4191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735976" y="29889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998268" y="2860358"/>
              <a:ext cx="4191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155076" y="29889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9417368" y="2860358"/>
              <a:ext cx="4191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574176" y="29889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458522" y="3561398"/>
              <a:ext cx="2496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i=3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902768" y="343281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059576" y="356139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321868" y="343281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478676" y="356139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7740968" y="343281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897776" y="356139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160068" y="343281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316876" y="356139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8579168" y="3432810"/>
              <a:ext cx="4191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735976" y="356139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8998268" y="3432810"/>
              <a:ext cx="4191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9155076" y="356139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9417368" y="3432810"/>
              <a:ext cx="4191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9574176" y="356139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  <p:grpSp>
        <p:nvGrpSpPr>
          <p:cNvPr id="95" name="c2-card-2"/>
          <p:cNvGrpSpPr/>
          <p:nvPr/>
        </p:nvGrpSpPr>
        <p:grpSpPr>
          <a:xfrm>
            <a:off x="6464618" y="4025265"/>
            <a:ext cx="5193982" cy="2185988"/>
            <a:chOff x="6464618" y="4025265"/>
            <a:chExt cx="5193982" cy="2185988"/>
          </a:xfrm>
        </p:grpSpPr>
        <p:sp>
          <p:nvSpPr>
            <p:cNvPr id="85" name="Rectangle 85"/>
            <p:cNvSpPr/>
            <p:nvPr/>
          </p:nvSpPr>
          <p:spPr>
            <a:xfrm>
              <a:off x="6464618" y="4025265"/>
              <a:ext cx="5193982" cy="2185988"/>
            </a:xfrm>
            <a:prstGeom prst="roundRect">
              <a:avLst>
                <a:gd name="adj" fmla="val 61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6474142" y="4158615"/>
              <a:ext cx="47625" cy="191928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6706552" y="42291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797713" y="42648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分析</a:t>
              </a:r>
            </a:p>
          </p:txBody>
        </p:sp>
        <p:sp>
          <p:nvSpPr>
            <p:cNvPr id="89" name="Ellipse 89"/>
            <p:cNvSpPr/>
            <p:nvPr/>
          </p:nvSpPr>
          <p:spPr>
            <a:xfrm>
              <a:off x="6714172" y="466153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870764" y="4602004"/>
              <a:ext cx="433362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轮结束后 F 就是二维表的第 i 行，橙色格是本轮改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写的格</a:t>
              </a:r>
            </a:p>
          </p:txBody>
        </p:sp>
        <p:sp>
          <p:nvSpPr>
            <p:cNvPr id="91" name="Ellipse 91"/>
            <p:cNvSpPr/>
            <p:nvPr/>
          </p:nvSpPr>
          <p:spPr>
            <a:xfrm>
              <a:off x="6714172" y="525303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870764" y="5193506"/>
              <a:ext cx="44867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时间仍为 Θ(nM)；只求最优值 F(M) 时空间为 Θ(M)</a:t>
              </a:r>
            </a:p>
          </p:txBody>
        </p:sp>
        <p:sp>
          <p:nvSpPr>
            <p:cNvPr id="93" name="Ellipse 93"/>
            <p:cNvSpPr/>
            <p:nvPr/>
          </p:nvSpPr>
          <p:spPr>
            <a:xfrm>
              <a:off x="6714172" y="5573077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6870764" y="5513546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要回溯决策序列就不行：第 i−1 行已被覆盖，无法推出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 xᵢ，仍需 Θ(nM) 空间</a:t>
              </a:r>
            </a:p>
          </p:txBody>
        </p:sp>
      </p:grpSp>
      <p:grpSp>
        <p:nvGrpSpPr>
          <p:cNvPr id="9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6" name="TextBox 96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29582" cy="909257"/>
            <a:chOff x="520446" y="342900"/>
            <a:chExt cx="762958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0/1 背包问题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2958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递推式图解：右移 wᵢ、上移 pᵢ，再逐点取较大值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intro"/>
          <p:cNvGrpSpPr/>
          <p:nvPr/>
        </p:nvGrpSpPr>
        <p:grpSpPr>
          <a:xfrm>
            <a:off x="526923" y="1576864"/>
            <a:ext cx="11137392" cy="502920"/>
            <a:chOff x="526923" y="1576864"/>
            <a:chExt cx="11137392" cy="502920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76864"/>
              <a:ext cx="92637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fᵢ₋₁(X) 向右平移 wᵢ、向上平移 pᵢ，得到 fᵢ₋₁(X−wᵢ)+pᵢ；在每个 X 处取两条阶梯线中较高的一条，就是 fᵢ(X)。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533400" y="193357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5B6475"/>
              </a:solidFill>
              <a:custDash>
                <a:ds d="300000" sp="200000"/>
              </a:custDash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03935" y="1859756"/>
              <a:ext cx="6083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fᵢ₋₁(X)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900238" y="193357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  <a:custDash>
                <a:ds d="300000" sp="200000"/>
              </a:custDash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370772" y="1859756"/>
              <a:ext cx="23414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fᵢ₋₁(X−wᵢ)+pᵢ（右移、上移后）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4902518" y="193357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38100">
              <a:solidFill>
                <a:srgbClr val="2F4B9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373052" y="1859756"/>
              <a:ext cx="12191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fᵢ(X) = 两者取大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28494" y="1859756"/>
              <a:ext cx="41358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实例：(w₁,w₂,w₃)=(2,3,4)，(p₁,p₂,p₃)=(1,2,5)，M=6</a:t>
              </a:r>
            </a:p>
          </p:txBody>
        </p:sp>
      </p:grpSp>
      <p:grpSp>
        <p:nvGrpSpPr>
          <p:cNvPr id="52" name="chart-1"/>
          <p:cNvGrpSpPr/>
          <p:nvPr/>
        </p:nvGrpSpPr>
        <p:grpSpPr>
          <a:xfrm>
            <a:off x="533400" y="2171700"/>
            <a:ext cx="3562350" cy="2857500"/>
            <a:chOff x="533400" y="2171700"/>
            <a:chExt cx="3562350" cy="2857500"/>
          </a:xfrm>
        </p:grpSpPr>
        <p:sp>
          <p:nvSpPr>
            <p:cNvPr id="16" name="Rectangle 16"/>
            <p:cNvSpPr/>
            <p:nvPr/>
          </p:nvSpPr>
          <p:spPr>
            <a:xfrm>
              <a:off x="533400" y="2171700"/>
              <a:ext cx="3562350" cy="2857500"/>
            </a:xfrm>
            <a:prstGeom prst="roundRect">
              <a:avLst>
                <a:gd name="adj" fmla="val 4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8373" y="2319814"/>
              <a:ext cx="1443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i=1：w₁=2，p₁=1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952500" y="4479608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04901" y="44253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952500" y="4253865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4901" y="419957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952500" y="4029075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04901" y="397478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952500" y="3803332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04901" y="374904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952500" y="3577590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04901" y="352329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952500" y="3351848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04901" y="329755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952500" y="3127058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4901" y="30727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52500" y="2901315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04901" y="2847023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18267" y="4779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22114" y="4779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825009" y="4779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128857" y="4779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432704" y="4779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735599" y="4779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039447" y="4779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343294" y="4779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647142" y="4779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4901" y="4779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952500" y="4705350"/>
              <a:ext cx="3009900" cy="9525"/>
            </a:xfrm>
            <a:custGeom>
              <a:avLst/>
              <a:gdLst/>
              <a:ahLst/>
              <a:cxnLst/>
              <a:rect l="l" t="t" r="r" b="b"/>
              <a:pathLst>
                <a:path w="3009900" h="9525">
                  <a:moveTo>
                    <a:pt x="0" y="0"/>
                  </a:moveTo>
                  <a:lnTo>
                    <a:pt x="300990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Polygon 45"/>
            <p:cNvSpPr/>
            <p:nvPr/>
          </p:nvSpPr>
          <p:spPr>
            <a:xfrm>
              <a:off x="3943350" y="4662488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95250" y="42862"/>
                  </a:moveTo>
                  <a:lnTo>
                    <a:pt x="0" y="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6" name="Line 46"/>
            <p:cNvSpPr/>
            <p:nvPr/>
          </p:nvSpPr>
          <p:spPr>
            <a:xfrm>
              <a:off x="952500" y="2647950"/>
              <a:ext cx="9525" cy="2057400"/>
            </a:xfrm>
            <a:custGeom>
              <a:avLst/>
              <a:gdLst/>
              <a:ahLst/>
              <a:cxnLst/>
              <a:rect l="l" t="t" r="r" b="b"/>
              <a:pathLst>
                <a:path w="9525" h="2057400">
                  <a:moveTo>
                    <a:pt x="0" y="205740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7" name="Polygon 47"/>
            <p:cNvSpPr/>
            <p:nvPr/>
          </p:nvSpPr>
          <p:spPr>
            <a:xfrm>
              <a:off x="909638" y="2571750"/>
              <a:ext cx="85725" cy="95250"/>
            </a:xfrm>
            <a:custGeom>
              <a:avLst/>
              <a:gdLst/>
              <a:ahLst/>
              <a:cxnLst/>
              <a:rect l="l" t="t" r="r" b="b"/>
              <a:pathLst>
                <a:path w="85725" h="95250">
                  <a:moveTo>
                    <a:pt x="42862" y="0"/>
                  </a:moveTo>
                  <a:lnTo>
                    <a:pt x="0" y="95250"/>
                  </a:lnTo>
                  <a:lnTo>
                    <a:pt x="85725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952500" y="4479608"/>
              <a:ext cx="2914650" cy="225742"/>
            </a:xfrm>
            <a:custGeom>
              <a:avLst/>
              <a:gdLst/>
              <a:ahLst/>
              <a:cxnLst/>
              <a:rect l="l" t="t" r="r" b="b"/>
              <a:pathLst>
                <a:path w="2914650" h="225742">
                  <a:moveTo>
                    <a:pt x="0" y="225742"/>
                  </a:moveTo>
                  <a:lnTo>
                    <a:pt x="607695" y="225742"/>
                  </a:lnTo>
                  <a:lnTo>
                    <a:pt x="607695" y="0"/>
                  </a:lnTo>
                  <a:lnTo>
                    <a:pt x="2914650" y="0"/>
                  </a:lnTo>
                </a:path>
              </a:pathLst>
            </a:custGeom>
            <a:noFill/>
            <a:ln w="38100">
              <a:solidFill>
                <a:srgbClr val="2F4B9A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952500" y="4705350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19050">
              <a:solidFill>
                <a:srgbClr val="5B6475"/>
              </a:solidFill>
              <a:custDash>
                <a:ds d="300000" sp="200000"/>
              </a:custDash>
            </a:ln>
          </p:spPr>
        </p:sp>
        <p:sp>
          <p:nvSpPr>
            <p:cNvPr id="50" name="Freeform 50"/>
            <p:cNvSpPr/>
            <p:nvPr/>
          </p:nvSpPr>
          <p:spPr>
            <a:xfrm>
              <a:off x="1560195" y="4479608"/>
              <a:ext cx="2306955" cy="9525"/>
            </a:xfrm>
            <a:custGeom>
              <a:avLst/>
              <a:gdLst/>
              <a:ahLst/>
              <a:cxnLst/>
              <a:rect l="l" t="t" r="r" b="b"/>
              <a:pathLst>
                <a:path w="2306955" h="9525">
                  <a:moveTo>
                    <a:pt x="0" y="0"/>
                  </a:moveTo>
                  <a:lnTo>
                    <a:pt x="2306955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  <a:custDash>
                <a:ds d="300000" sp="200000"/>
              </a:custDash>
            </a:ln>
          </p:spPr>
        </p:sp>
        <p:sp>
          <p:nvSpPr>
            <p:cNvPr id="51" name="Ellipse 51"/>
            <p:cNvSpPr/>
            <p:nvPr/>
          </p:nvSpPr>
          <p:spPr>
            <a:xfrm>
              <a:off x="1522095" y="4441508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</p:grpSp>
      <p:grpSp>
        <p:nvGrpSpPr>
          <p:cNvPr id="89" name="chart-2"/>
          <p:cNvGrpSpPr/>
          <p:nvPr/>
        </p:nvGrpSpPr>
        <p:grpSpPr>
          <a:xfrm>
            <a:off x="4314825" y="2171700"/>
            <a:ext cx="3562350" cy="2857500"/>
            <a:chOff x="4314825" y="2171700"/>
            <a:chExt cx="3562350" cy="2857500"/>
          </a:xfrm>
        </p:grpSpPr>
        <p:sp>
          <p:nvSpPr>
            <p:cNvPr id="53" name="Rectangle 53"/>
            <p:cNvSpPr/>
            <p:nvPr/>
          </p:nvSpPr>
          <p:spPr>
            <a:xfrm>
              <a:off x="4314825" y="2171700"/>
              <a:ext cx="3562350" cy="2857500"/>
            </a:xfrm>
            <a:prstGeom prst="roundRect">
              <a:avLst>
                <a:gd name="adj" fmla="val 4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479798" y="2319814"/>
              <a:ext cx="1443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i=2：w₂=3，p₂=2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4733925" y="4479608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586326" y="44253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4733925" y="4253865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586326" y="419957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4733925" y="4029075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586326" y="397478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4733925" y="3803332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586326" y="374904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4733925" y="3577590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586326" y="352329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4733925" y="3351848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586326" y="329755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7" name="Line 67"/>
            <p:cNvSpPr/>
            <p:nvPr/>
          </p:nvSpPr>
          <p:spPr>
            <a:xfrm>
              <a:off x="4733925" y="3127058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4586326" y="30727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4733925" y="2901315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4586326" y="2847023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999692" y="4779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303539" y="4779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606434" y="4779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910282" y="4779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214129" y="4779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517024" y="4779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820872" y="4779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124719" y="4779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428567" y="4779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4586326" y="4779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1" name="Line 81"/>
            <p:cNvSpPr/>
            <p:nvPr/>
          </p:nvSpPr>
          <p:spPr>
            <a:xfrm>
              <a:off x="4733925" y="4705350"/>
              <a:ext cx="3009900" cy="9525"/>
            </a:xfrm>
            <a:custGeom>
              <a:avLst/>
              <a:gdLst/>
              <a:ahLst/>
              <a:cxnLst/>
              <a:rect l="l" t="t" r="r" b="b"/>
              <a:pathLst>
                <a:path w="3009900" h="9525">
                  <a:moveTo>
                    <a:pt x="0" y="0"/>
                  </a:moveTo>
                  <a:lnTo>
                    <a:pt x="300990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2" name="Polygon 82"/>
            <p:cNvSpPr/>
            <p:nvPr/>
          </p:nvSpPr>
          <p:spPr>
            <a:xfrm>
              <a:off x="7724775" y="4662488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95250" y="42862"/>
                  </a:moveTo>
                  <a:lnTo>
                    <a:pt x="0" y="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83" name="Line 83"/>
            <p:cNvSpPr/>
            <p:nvPr/>
          </p:nvSpPr>
          <p:spPr>
            <a:xfrm>
              <a:off x="4733925" y="2647950"/>
              <a:ext cx="9525" cy="2057400"/>
            </a:xfrm>
            <a:custGeom>
              <a:avLst/>
              <a:gdLst/>
              <a:ahLst/>
              <a:cxnLst/>
              <a:rect l="l" t="t" r="r" b="b"/>
              <a:pathLst>
                <a:path w="9525" h="2057400">
                  <a:moveTo>
                    <a:pt x="0" y="205740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4" name="Polygon 84"/>
            <p:cNvSpPr/>
            <p:nvPr/>
          </p:nvSpPr>
          <p:spPr>
            <a:xfrm>
              <a:off x="4691062" y="2571750"/>
              <a:ext cx="85725" cy="95250"/>
            </a:xfrm>
            <a:custGeom>
              <a:avLst/>
              <a:gdLst/>
              <a:ahLst/>
              <a:cxnLst/>
              <a:rect l="l" t="t" r="r" b="b"/>
              <a:pathLst>
                <a:path w="85725" h="95250">
                  <a:moveTo>
                    <a:pt x="42862" y="0"/>
                  </a:moveTo>
                  <a:lnTo>
                    <a:pt x="0" y="95250"/>
                  </a:lnTo>
                  <a:lnTo>
                    <a:pt x="85725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85" name="Freeform 85"/>
            <p:cNvSpPr/>
            <p:nvPr/>
          </p:nvSpPr>
          <p:spPr>
            <a:xfrm>
              <a:off x="4733925" y="4029075"/>
              <a:ext cx="2914650" cy="676275"/>
            </a:xfrm>
            <a:custGeom>
              <a:avLst/>
              <a:gdLst/>
              <a:ahLst/>
              <a:cxnLst/>
              <a:rect l="l" t="t" r="r" b="b"/>
              <a:pathLst>
                <a:path w="2914650" h="676275">
                  <a:moveTo>
                    <a:pt x="0" y="676275"/>
                  </a:moveTo>
                  <a:lnTo>
                    <a:pt x="607695" y="676275"/>
                  </a:lnTo>
                  <a:lnTo>
                    <a:pt x="607695" y="450533"/>
                  </a:lnTo>
                  <a:lnTo>
                    <a:pt x="910590" y="450533"/>
                  </a:lnTo>
                  <a:lnTo>
                    <a:pt x="910590" y="224790"/>
                  </a:lnTo>
                  <a:lnTo>
                    <a:pt x="1518285" y="224790"/>
                  </a:lnTo>
                  <a:lnTo>
                    <a:pt x="1518285" y="0"/>
                  </a:lnTo>
                  <a:lnTo>
                    <a:pt x="2914650" y="0"/>
                  </a:lnTo>
                </a:path>
              </a:pathLst>
            </a:custGeom>
            <a:noFill/>
            <a:ln w="38100">
              <a:solidFill>
                <a:srgbClr val="2F4B9A"/>
              </a:solidFill>
            </a:ln>
          </p:spPr>
        </p:sp>
        <p:sp>
          <p:nvSpPr>
            <p:cNvPr id="86" name="Freeform 86"/>
            <p:cNvSpPr/>
            <p:nvPr/>
          </p:nvSpPr>
          <p:spPr>
            <a:xfrm>
              <a:off x="4733925" y="4479608"/>
              <a:ext cx="2914650" cy="225742"/>
            </a:xfrm>
            <a:custGeom>
              <a:avLst/>
              <a:gdLst/>
              <a:ahLst/>
              <a:cxnLst/>
              <a:rect l="l" t="t" r="r" b="b"/>
              <a:pathLst>
                <a:path w="2914650" h="225742">
                  <a:moveTo>
                    <a:pt x="0" y="225742"/>
                  </a:moveTo>
                  <a:lnTo>
                    <a:pt x="607695" y="225742"/>
                  </a:lnTo>
                  <a:lnTo>
                    <a:pt x="607695" y="0"/>
                  </a:lnTo>
                  <a:lnTo>
                    <a:pt x="2914650" y="0"/>
                  </a:lnTo>
                </a:path>
              </a:pathLst>
            </a:custGeom>
            <a:noFill/>
            <a:ln w="19050">
              <a:solidFill>
                <a:srgbClr val="5B6475"/>
              </a:solidFill>
              <a:custDash>
                <a:ds d="300000" sp="200000"/>
              </a:custDash>
            </a:ln>
          </p:spPr>
        </p:sp>
        <p:sp>
          <p:nvSpPr>
            <p:cNvPr id="87" name="Freeform 87"/>
            <p:cNvSpPr/>
            <p:nvPr/>
          </p:nvSpPr>
          <p:spPr>
            <a:xfrm>
              <a:off x="5644515" y="4029075"/>
              <a:ext cx="2004060" cy="224790"/>
            </a:xfrm>
            <a:custGeom>
              <a:avLst/>
              <a:gdLst/>
              <a:ahLst/>
              <a:cxnLst/>
              <a:rect l="l" t="t" r="r" b="b"/>
              <a:pathLst>
                <a:path w="2004060" h="224790">
                  <a:moveTo>
                    <a:pt x="0" y="224790"/>
                  </a:moveTo>
                  <a:lnTo>
                    <a:pt x="607695" y="224790"/>
                  </a:lnTo>
                  <a:lnTo>
                    <a:pt x="607695" y="0"/>
                  </a:lnTo>
                  <a:lnTo>
                    <a:pt x="2004060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  <a:custDash>
                <a:ds d="300000" sp="200000"/>
              </a:custDash>
            </a:ln>
          </p:spPr>
        </p:sp>
        <p:sp>
          <p:nvSpPr>
            <p:cNvPr id="88" name="Ellipse 88"/>
            <p:cNvSpPr/>
            <p:nvPr/>
          </p:nvSpPr>
          <p:spPr>
            <a:xfrm>
              <a:off x="5606415" y="4215765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</p:grpSp>
      <p:grpSp>
        <p:nvGrpSpPr>
          <p:cNvPr id="128" name="chart-3"/>
          <p:cNvGrpSpPr/>
          <p:nvPr/>
        </p:nvGrpSpPr>
        <p:grpSpPr>
          <a:xfrm>
            <a:off x="8096250" y="2171700"/>
            <a:ext cx="3562350" cy="2857500"/>
            <a:chOff x="8096250" y="2171700"/>
            <a:chExt cx="3562350" cy="2857500"/>
          </a:xfrm>
        </p:grpSpPr>
        <p:sp>
          <p:nvSpPr>
            <p:cNvPr id="90" name="Rectangle 90"/>
            <p:cNvSpPr/>
            <p:nvPr/>
          </p:nvSpPr>
          <p:spPr>
            <a:xfrm>
              <a:off x="8096250" y="2171700"/>
              <a:ext cx="3562350" cy="2857500"/>
            </a:xfrm>
            <a:prstGeom prst="roundRect">
              <a:avLst>
                <a:gd name="adj" fmla="val 4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8261223" y="2319814"/>
              <a:ext cx="1443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i=3：w₃=4，p₃=5</a:t>
              </a:r>
            </a:p>
          </p:txBody>
        </p:sp>
        <p:sp>
          <p:nvSpPr>
            <p:cNvPr id="92" name="Line 92"/>
            <p:cNvSpPr/>
            <p:nvPr/>
          </p:nvSpPr>
          <p:spPr>
            <a:xfrm>
              <a:off x="8515350" y="4479608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367751" y="44253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4" name="Line 94"/>
            <p:cNvSpPr/>
            <p:nvPr/>
          </p:nvSpPr>
          <p:spPr>
            <a:xfrm>
              <a:off x="8515350" y="4253865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8367751" y="419957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6" name="Line 96"/>
            <p:cNvSpPr/>
            <p:nvPr/>
          </p:nvSpPr>
          <p:spPr>
            <a:xfrm>
              <a:off x="8515350" y="4029075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8367751" y="397478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8" name="Line 98"/>
            <p:cNvSpPr/>
            <p:nvPr/>
          </p:nvSpPr>
          <p:spPr>
            <a:xfrm>
              <a:off x="8515350" y="3803332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8367751" y="374904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0" name="Line 100"/>
            <p:cNvSpPr/>
            <p:nvPr/>
          </p:nvSpPr>
          <p:spPr>
            <a:xfrm>
              <a:off x="8515350" y="3577590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8367751" y="352329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2" name="Line 102"/>
            <p:cNvSpPr/>
            <p:nvPr/>
          </p:nvSpPr>
          <p:spPr>
            <a:xfrm>
              <a:off x="8515350" y="3351848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8367751" y="329755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4" name="Line 104"/>
            <p:cNvSpPr/>
            <p:nvPr/>
          </p:nvSpPr>
          <p:spPr>
            <a:xfrm>
              <a:off x="8515350" y="3127058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8367751" y="30727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6" name="Line 106"/>
            <p:cNvSpPr/>
            <p:nvPr/>
          </p:nvSpPr>
          <p:spPr>
            <a:xfrm>
              <a:off x="8515350" y="2901315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8367751" y="2847023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8781117" y="4779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9084964" y="4779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9387859" y="4779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9691707" y="4779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9995554" y="4779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0298449" y="4779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0602297" y="4779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0906144" y="4779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1209992" y="4779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8367751" y="47796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8" name="Line 118"/>
            <p:cNvSpPr/>
            <p:nvPr/>
          </p:nvSpPr>
          <p:spPr>
            <a:xfrm>
              <a:off x="8515350" y="4705350"/>
              <a:ext cx="3009900" cy="9525"/>
            </a:xfrm>
            <a:custGeom>
              <a:avLst/>
              <a:gdLst/>
              <a:ahLst/>
              <a:cxnLst/>
              <a:rect l="l" t="t" r="r" b="b"/>
              <a:pathLst>
                <a:path w="3009900" h="9525">
                  <a:moveTo>
                    <a:pt x="0" y="0"/>
                  </a:moveTo>
                  <a:lnTo>
                    <a:pt x="300990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9" name="Polygon 119"/>
            <p:cNvSpPr/>
            <p:nvPr/>
          </p:nvSpPr>
          <p:spPr>
            <a:xfrm>
              <a:off x="11506200" y="4662488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95250" y="42862"/>
                  </a:moveTo>
                  <a:lnTo>
                    <a:pt x="0" y="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20" name="Line 120"/>
            <p:cNvSpPr/>
            <p:nvPr/>
          </p:nvSpPr>
          <p:spPr>
            <a:xfrm>
              <a:off x="8515350" y="2647950"/>
              <a:ext cx="9525" cy="2057400"/>
            </a:xfrm>
            <a:custGeom>
              <a:avLst/>
              <a:gdLst/>
              <a:ahLst/>
              <a:cxnLst/>
              <a:rect l="l" t="t" r="r" b="b"/>
              <a:pathLst>
                <a:path w="9525" h="2057400">
                  <a:moveTo>
                    <a:pt x="0" y="205740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1" name="Polygon 121"/>
            <p:cNvSpPr/>
            <p:nvPr/>
          </p:nvSpPr>
          <p:spPr>
            <a:xfrm>
              <a:off x="8472488" y="2571750"/>
              <a:ext cx="85725" cy="95250"/>
            </a:xfrm>
            <a:custGeom>
              <a:avLst/>
              <a:gdLst/>
              <a:ahLst/>
              <a:cxnLst/>
              <a:rect l="l" t="t" r="r" b="b"/>
              <a:pathLst>
                <a:path w="85725" h="95250">
                  <a:moveTo>
                    <a:pt x="42862" y="0"/>
                  </a:moveTo>
                  <a:lnTo>
                    <a:pt x="0" y="95250"/>
                  </a:lnTo>
                  <a:lnTo>
                    <a:pt x="85725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22" name="Line 122"/>
            <p:cNvSpPr/>
            <p:nvPr/>
          </p:nvSpPr>
          <p:spPr>
            <a:xfrm>
              <a:off x="10336530" y="2743200"/>
              <a:ext cx="9525" cy="1962150"/>
            </a:xfrm>
            <a:custGeom>
              <a:avLst/>
              <a:gdLst/>
              <a:ahLst/>
              <a:cxnLst/>
              <a:rect l="l" t="t" r="r" b="b"/>
              <a:pathLst>
                <a:path w="9525" h="1962150">
                  <a:moveTo>
                    <a:pt x="0" y="1962150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B42318"/>
              </a:solidFill>
              <a:custDash>
                <a:ds d="214286" sp="214286"/>
              </a:custDash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10369868" y="2665095"/>
              <a:ext cx="2581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M=6</a:t>
              </a:r>
            </a:p>
          </p:txBody>
        </p:sp>
        <p:sp>
          <p:nvSpPr>
            <p:cNvPr id="124" name="Freeform 124"/>
            <p:cNvSpPr/>
            <p:nvPr/>
          </p:nvSpPr>
          <p:spPr>
            <a:xfrm>
              <a:off x="8515350" y="2901315"/>
              <a:ext cx="2914650" cy="1804035"/>
            </a:xfrm>
            <a:custGeom>
              <a:avLst/>
              <a:gdLst/>
              <a:ahLst/>
              <a:cxnLst/>
              <a:rect l="l" t="t" r="r" b="b"/>
              <a:pathLst>
                <a:path w="2914650" h="1804035">
                  <a:moveTo>
                    <a:pt x="0" y="1804035"/>
                  </a:moveTo>
                  <a:lnTo>
                    <a:pt x="607695" y="1804035"/>
                  </a:lnTo>
                  <a:lnTo>
                    <a:pt x="607695" y="1578292"/>
                  </a:lnTo>
                  <a:lnTo>
                    <a:pt x="910590" y="1578292"/>
                  </a:lnTo>
                  <a:lnTo>
                    <a:pt x="910590" y="1352550"/>
                  </a:lnTo>
                  <a:lnTo>
                    <a:pt x="1214438" y="1352550"/>
                  </a:lnTo>
                  <a:lnTo>
                    <a:pt x="1214438" y="676275"/>
                  </a:lnTo>
                  <a:lnTo>
                    <a:pt x="1821180" y="676275"/>
                  </a:lnTo>
                  <a:lnTo>
                    <a:pt x="1821180" y="450532"/>
                  </a:lnTo>
                  <a:lnTo>
                    <a:pt x="2125027" y="450532"/>
                  </a:lnTo>
                  <a:lnTo>
                    <a:pt x="2125027" y="225742"/>
                  </a:lnTo>
                  <a:lnTo>
                    <a:pt x="2732723" y="225742"/>
                  </a:lnTo>
                  <a:lnTo>
                    <a:pt x="2732723" y="0"/>
                  </a:lnTo>
                  <a:lnTo>
                    <a:pt x="2914650" y="0"/>
                  </a:lnTo>
                </a:path>
              </a:pathLst>
            </a:custGeom>
            <a:noFill/>
            <a:ln w="38100">
              <a:solidFill>
                <a:srgbClr val="2F4B9A"/>
              </a:solidFill>
            </a:ln>
          </p:spPr>
        </p:sp>
        <p:sp>
          <p:nvSpPr>
            <p:cNvPr id="125" name="Freeform 125"/>
            <p:cNvSpPr/>
            <p:nvPr/>
          </p:nvSpPr>
          <p:spPr>
            <a:xfrm>
              <a:off x="8515350" y="4029075"/>
              <a:ext cx="2914650" cy="676275"/>
            </a:xfrm>
            <a:custGeom>
              <a:avLst/>
              <a:gdLst/>
              <a:ahLst/>
              <a:cxnLst/>
              <a:rect l="l" t="t" r="r" b="b"/>
              <a:pathLst>
                <a:path w="2914650" h="676275">
                  <a:moveTo>
                    <a:pt x="0" y="676275"/>
                  </a:moveTo>
                  <a:lnTo>
                    <a:pt x="607695" y="676275"/>
                  </a:lnTo>
                  <a:lnTo>
                    <a:pt x="607695" y="450533"/>
                  </a:lnTo>
                  <a:lnTo>
                    <a:pt x="910590" y="450533"/>
                  </a:lnTo>
                  <a:lnTo>
                    <a:pt x="910590" y="224790"/>
                  </a:lnTo>
                  <a:lnTo>
                    <a:pt x="1518285" y="224790"/>
                  </a:lnTo>
                  <a:lnTo>
                    <a:pt x="1518285" y="0"/>
                  </a:lnTo>
                  <a:lnTo>
                    <a:pt x="2914650" y="0"/>
                  </a:lnTo>
                </a:path>
              </a:pathLst>
            </a:custGeom>
            <a:noFill/>
            <a:ln w="19050">
              <a:solidFill>
                <a:srgbClr val="5B6475"/>
              </a:solidFill>
              <a:custDash>
                <a:ds d="300000" sp="200000"/>
              </a:custDash>
            </a:ln>
          </p:spPr>
        </p:sp>
        <p:sp>
          <p:nvSpPr>
            <p:cNvPr id="126" name="Freeform 126"/>
            <p:cNvSpPr/>
            <p:nvPr/>
          </p:nvSpPr>
          <p:spPr>
            <a:xfrm>
              <a:off x="9729788" y="2901315"/>
              <a:ext cx="1700212" cy="676275"/>
            </a:xfrm>
            <a:custGeom>
              <a:avLst/>
              <a:gdLst/>
              <a:ahLst/>
              <a:cxnLst/>
              <a:rect l="l" t="t" r="r" b="b"/>
              <a:pathLst>
                <a:path w="1700212" h="676275">
                  <a:moveTo>
                    <a:pt x="0" y="676275"/>
                  </a:moveTo>
                  <a:lnTo>
                    <a:pt x="606743" y="676275"/>
                  </a:lnTo>
                  <a:lnTo>
                    <a:pt x="606743" y="450532"/>
                  </a:lnTo>
                  <a:lnTo>
                    <a:pt x="910590" y="450532"/>
                  </a:lnTo>
                  <a:lnTo>
                    <a:pt x="910590" y="225742"/>
                  </a:lnTo>
                  <a:lnTo>
                    <a:pt x="1518285" y="225742"/>
                  </a:lnTo>
                  <a:lnTo>
                    <a:pt x="1518285" y="0"/>
                  </a:lnTo>
                  <a:lnTo>
                    <a:pt x="1700212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  <a:custDash>
                <a:ds d="300000" sp="200000"/>
              </a:custDash>
            </a:ln>
          </p:spPr>
        </p:sp>
        <p:sp>
          <p:nvSpPr>
            <p:cNvPr id="127" name="Ellipse 127"/>
            <p:cNvSpPr/>
            <p:nvPr/>
          </p:nvSpPr>
          <p:spPr>
            <a:xfrm>
              <a:off x="9691688" y="3539490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</p:grpSp>
      <p:grpSp>
        <p:nvGrpSpPr>
          <p:cNvPr id="134" name="pairs-1"/>
          <p:cNvGrpSpPr/>
          <p:nvPr/>
        </p:nvGrpSpPr>
        <p:grpSpPr>
          <a:xfrm>
            <a:off x="533400" y="5143500"/>
            <a:ext cx="3562350" cy="1219200"/>
            <a:chOff x="533400" y="5143500"/>
            <a:chExt cx="3562350" cy="1219200"/>
          </a:xfrm>
        </p:grpSpPr>
        <p:sp>
          <p:nvSpPr>
            <p:cNvPr id="129" name="Rectangle 129"/>
            <p:cNvSpPr/>
            <p:nvPr/>
          </p:nvSpPr>
          <p:spPr>
            <a:xfrm>
              <a:off x="533400" y="5143500"/>
              <a:ext cx="3562350" cy="1219200"/>
            </a:xfrm>
            <a:prstGeom prst="roundRect">
              <a:avLst>
                <a:gd name="adj" fmla="val 109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0" name="Rectangle 130"/>
            <p:cNvSpPr/>
            <p:nvPr/>
          </p:nvSpPr>
          <p:spPr>
            <a:xfrm>
              <a:off x="542925" y="5276850"/>
              <a:ext cx="47625" cy="95250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737235" y="5326856"/>
              <a:ext cx="983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S⁰ = {(0,0)}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737235" y="5631656"/>
              <a:ext cx="10708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S¹₁ = {(1,2)}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737235" y="5936456"/>
              <a:ext cx="16339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S¹ = {(0,0), (1,2)}</a:t>
              </a:r>
            </a:p>
          </p:txBody>
        </p:sp>
      </p:grpSp>
      <p:grpSp>
        <p:nvGrpSpPr>
          <p:cNvPr id="140" name="pairs-2"/>
          <p:cNvGrpSpPr/>
          <p:nvPr/>
        </p:nvGrpSpPr>
        <p:grpSpPr>
          <a:xfrm>
            <a:off x="4314825" y="5143500"/>
            <a:ext cx="3562350" cy="1219200"/>
            <a:chOff x="4314825" y="5143500"/>
            <a:chExt cx="3562350" cy="1219200"/>
          </a:xfrm>
        </p:grpSpPr>
        <p:sp>
          <p:nvSpPr>
            <p:cNvPr id="135" name="Rectangle 135"/>
            <p:cNvSpPr/>
            <p:nvPr/>
          </p:nvSpPr>
          <p:spPr>
            <a:xfrm>
              <a:off x="4314825" y="5143500"/>
              <a:ext cx="3562350" cy="1219200"/>
            </a:xfrm>
            <a:prstGeom prst="roundRect">
              <a:avLst>
                <a:gd name="adj" fmla="val 109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6" name="Rectangle 136"/>
            <p:cNvSpPr/>
            <p:nvPr/>
          </p:nvSpPr>
          <p:spPr>
            <a:xfrm>
              <a:off x="4324350" y="5276850"/>
              <a:ext cx="47625" cy="95250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7" name="TextBox 137"/>
            <p:cNvSpPr txBox="1"/>
            <p:nvPr/>
          </p:nvSpPr>
          <p:spPr>
            <a:xfrm>
              <a:off x="4518660" y="5326856"/>
              <a:ext cx="15567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S¹ = {(0,0), (1,2)}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4518660" y="5631656"/>
              <a:ext cx="1644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S²₁ = {(2,3), (3,5)}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4518660" y="5936456"/>
              <a:ext cx="28383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S² = {(0,0), (1,2), (2,3), (3,5)}</a:t>
              </a:r>
            </a:p>
          </p:txBody>
        </p:sp>
      </p:grpSp>
      <p:grpSp>
        <p:nvGrpSpPr>
          <p:cNvPr id="146" name="pairs-3"/>
          <p:cNvGrpSpPr/>
          <p:nvPr/>
        </p:nvGrpSpPr>
        <p:grpSpPr>
          <a:xfrm>
            <a:off x="8096250" y="5143500"/>
            <a:ext cx="3562350" cy="1219200"/>
            <a:chOff x="8096250" y="5143500"/>
            <a:chExt cx="3562350" cy="1219200"/>
          </a:xfrm>
        </p:grpSpPr>
        <p:sp>
          <p:nvSpPr>
            <p:cNvPr id="141" name="Rectangle 141"/>
            <p:cNvSpPr/>
            <p:nvPr/>
          </p:nvSpPr>
          <p:spPr>
            <a:xfrm>
              <a:off x="8096250" y="5143500"/>
              <a:ext cx="3562350" cy="1219200"/>
            </a:xfrm>
            <a:prstGeom prst="roundRect">
              <a:avLst>
                <a:gd name="adj" fmla="val 109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2" name="Rectangle 142"/>
            <p:cNvSpPr/>
            <p:nvPr/>
          </p:nvSpPr>
          <p:spPr>
            <a:xfrm>
              <a:off x="8105775" y="5276850"/>
              <a:ext cx="47625" cy="95250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3" name="TextBox 143"/>
            <p:cNvSpPr txBox="1"/>
            <p:nvPr/>
          </p:nvSpPr>
          <p:spPr>
            <a:xfrm>
              <a:off x="8300085" y="5326856"/>
              <a:ext cx="2791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S³₁ = {(5,4), (6,6), (7,7), (8,9)}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8300085" y="5631656"/>
              <a:ext cx="22293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X=5 时 5 &gt; 3：(5,4) 支配 (3,5)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8300085" y="5936456"/>
              <a:ext cx="32398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S³ = {(0,0),(1,2),(2,3),(5,4),(6,6)}</a:t>
              </a:r>
            </a:p>
          </p:txBody>
        </p:sp>
      </p:grpSp>
      <p:grpSp>
        <p:nvGrpSpPr>
          <p:cNvPr id="1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47" name="TextBox 14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79746" cy="909257"/>
            <a:chOff x="520446" y="342900"/>
            <a:chExt cx="56797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0/1 背包问题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797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序偶：用阶跃点集合描述阶梯函数 fᵢ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5410200" cy="2943225"/>
            <a:chOff x="533400" y="1524000"/>
            <a:chExt cx="5410200" cy="29432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943225"/>
            </a:xfrm>
            <a:prstGeom prst="roundRect">
              <a:avLst>
                <a:gd name="adj" fmla="val 45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67652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507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函数曲线分析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463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fᵢ 完全由一组序偶 (Pⱼ,Wⱼ) 确定：Wⱼ 是 fᵢ 发生阶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跃的 X 值，Pⱼ = fᵢ(Wⱼ)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31770"/>
              <a:ext cx="4520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第一个序偶是 (P₀,W₀)=(0,0)；有 r 次阶跃就另有 r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个序偶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4156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352800"/>
              <a:ext cx="31424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Wⱼ 递增排列时，Pⱼ 也严格递增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75094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688080"/>
              <a:ext cx="27893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Wⱼ ≤ X &lt; Wⱼ₊₁ 时 fᵢ(X) = Pⱼ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6765" y="408622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4880" y="4023360"/>
              <a:ext cx="3647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≥ Wᵣ 时 fᵢ(X) = Pᵣ（最后一个序偶）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4657725"/>
            <a:ext cx="5410200" cy="1602105"/>
            <a:chOff x="533400" y="4657725"/>
            <a:chExt cx="5410200" cy="1602105"/>
          </a:xfrm>
        </p:grpSpPr>
        <p:sp>
          <p:nvSpPr>
            <p:cNvPr id="22" name="Rectangle 22"/>
            <p:cNvSpPr/>
            <p:nvPr/>
          </p:nvSpPr>
          <p:spPr>
            <a:xfrm>
              <a:off x="533400" y="4657725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479107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81050" y="486727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6160" y="490299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3430" y="5244465"/>
              <a:ext cx="47396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f₂ 有 3 次阶跃，由 {(0,0), (1,2), (2,3), (3,5)} 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画：3≤X&lt;5 时 f₂(X) = f₂(3) = 2；X≥5 时 f₂(X)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f₂(5) = 3。</a:t>
              </a:r>
            </a:p>
          </p:txBody>
        </p:sp>
      </p:grpSp>
      <p:grpSp>
        <p:nvGrpSpPr>
          <p:cNvPr id="36" name="c2-kv-1"/>
          <p:cNvGrpSpPr/>
          <p:nvPr/>
        </p:nvGrpSpPr>
        <p:grpSpPr>
          <a:xfrm>
            <a:off x="6240780" y="1548765"/>
            <a:ext cx="5417820" cy="1455420"/>
            <a:chOff x="6240780" y="1548765"/>
            <a:chExt cx="5417820" cy="1455420"/>
          </a:xfrm>
        </p:grpSpPr>
        <p:sp>
          <p:nvSpPr>
            <p:cNvPr id="28" name="TextBox 28"/>
            <p:cNvSpPr txBox="1"/>
            <p:nvPr/>
          </p:nvSpPr>
          <p:spPr>
            <a:xfrm>
              <a:off x="6240780" y="1548765"/>
              <a:ext cx="508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Sⁱ⁻¹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46583" y="1548765"/>
              <a:ext cx="15297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fᵢ₋₁ 的全部序偶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48400" y="18688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40780" y="1988820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Sⁱ₁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46583" y="1988820"/>
              <a:ext cx="44253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fᵢ₋₁(X−wᵢ)+pᵢ 的全部序偶：Sⁱ⁻¹ 中每个序偶都加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 (pᵢ,wᵢ)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48400" y="25908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40780" y="271081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Sⁱ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46583" y="2710815"/>
              <a:ext cx="3249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Sⁱ⁻¹ 与 Sⁱ₁ 按支配规则归并的结果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248400" y="3135630"/>
            <a:ext cx="5410200" cy="3124200"/>
            <a:chOff x="6248400" y="3135630"/>
            <a:chExt cx="5410200" cy="3124200"/>
          </a:xfrm>
        </p:grpSpPr>
        <p:sp>
          <p:nvSpPr>
            <p:cNvPr id="37" name="Rectangle 37"/>
            <p:cNvSpPr/>
            <p:nvPr/>
          </p:nvSpPr>
          <p:spPr>
            <a:xfrm>
              <a:off x="6248400" y="3135630"/>
              <a:ext cx="5410200" cy="3124200"/>
            </a:xfrm>
            <a:prstGeom prst="roundRect">
              <a:avLst>
                <a:gd name="adj" fmla="val 426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57950" y="334518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40259" y="338089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支配规则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50330" y="3722370"/>
              <a:ext cx="4520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(Pⱼ,Wⱼ)∈Sⁱ⁻¹，(Pₖ,Wₖ)∈Sⁱ₁，若 Wⱼ ≥ Wₖ 且 Pⱼ ≤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Pₖ，则 (Pₖ,Wₖ) 支配 (Pⱼ,Wⱼ)，丢弃 (Pⱼ,Wⱼ)。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50330" y="4343400"/>
              <a:ext cx="51313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反过来 Sⁱ₁ 中的序偶被 Sⁱ⁻¹ 中的序偶支配时同样丢弃。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51473" y="4675346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更重而效益又不更高的方案，不可能出现在最优解中。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0/1 背包问题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序偶对法：加序偶、去超重、按支配规则归并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3349562" cy="3031236"/>
            <a:chOff x="533400" y="1533525"/>
            <a:chExt cx="3349562" cy="303123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4831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75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3956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01669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0905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15663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1846898"/>
              <a:ext cx="10533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S⁰ = {(0,0)}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187416"/>
              <a:ext cx="9597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加入第 i 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2467927"/>
              <a:ext cx="2936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Sⁱ₁ = {(p,w) | (p−pᵢ, w−wᵢ) ∈ Sⁱ⁻¹}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280844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去掉超重的序偶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088957"/>
              <a:ext cx="27638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&gt; M 的序偶导不出可行解，直接丢弃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342947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3709988"/>
              <a:ext cx="27285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按支配规则把 Sⁱ⁻¹ 与 Sⁱ₁ 归并成 Sⁱ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261" y="404955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读出结果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404" y="4330065"/>
              <a:ext cx="27090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Sⁿ 中最后一个序偶的 P 值就是最优解</a:t>
              </a:r>
            </a:p>
          </p:txBody>
        </p:sp>
      </p:grpSp>
      <p:grpSp>
        <p:nvGrpSpPr>
          <p:cNvPr id="35" name="c1-callout-2"/>
          <p:cNvGrpSpPr/>
          <p:nvPr/>
        </p:nvGrpSpPr>
        <p:grpSpPr>
          <a:xfrm>
            <a:off x="533400" y="4741545"/>
            <a:ext cx="4328160" cy="1610678"/>
            <a:chOff x="533400" y="4741545"/>
            <a:chExt cx="4328160" cy="1610678"/>
          </a:xfrm>
        </p:grpSpPr>
        <p:sp>
          <p:nvSpPr>
            <p:cNvPr id="29" name="Rectangle 29"/>
            <p:cNvSpPr/>
            <p:nvPr/>
          </p:nvSpPr>
          <p:spPr>
            <a:xfrm>
              <a:off x="533400" y="4741545"/>
              <a:ext cx="4328160" cy="1610678"/>
            </a:xfrm>
            <a:prstGeom prst="roundRect">
              <a:avLst>
                <a:gd name="adj" fmla="val 709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446395"/>
              <a:ext cx="200026" cy="200026"/>
              <a:chOff x="738188" y="5446395"/>
              <a:chExt cx="200026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4463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8200" y="55130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27088" y="55464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511" y="5316379"/>
              <a:ext cx="341388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Sⁱ 中的序偶表示：在不同的容量 X≤M 下，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 i 件物品能取得的最大效益。</a:t>
              </a:r>
            </a:p>
          </p:txBody>
        </p:sp>
      </p:grpSp>
      <p:grpSp>
        <p:nvGrpSpPr>
          <p:cNvPr id="65" name="c2-table-1"/>
          <p:cNvGrpSpPr/>
          <p:nvPr/>
        </p:nvGrpSpPr>
        <p:grpSpPr>
          <a:xfrm>
            <a:off x="5160645" y="1524000"/>
            <a:ext cx="6497955" cy="2659857"/>
            <a:chOff x="5160645" y="1524000"/>
            <a:chExt cx="6497955" cy="2659857"/>
          </a:xfrm>
        </p:grpSpPr>
        <p:sp>
          <p:nvSpPr>
            <p:cNvPr id="36" name="Rectangle 36"/>
            <p:cNvSpPr/>
            <p:nvPr/>
          </p:nvSpPr>
          <p:spPr>
            <a:xfrm>
              <a:off x="5166360" y="1524000"/>
              <a:ext cx="649224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362468" y="1655445"/>
              <a:ext cx="63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790236" y="1655445"/>
              <a:ext cx="6991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(pᵢ,wᵢ)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08921" y="1655445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Sⁱ₁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158519" y="165544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Sⁱ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341266" y="2085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972169" y="2085022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{(0,0)}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166360" y="237934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166360" y="2384108"/>
              <a:ext cx="649224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341266" y="25155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911596" y="251555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(1,2)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65226" y="2515552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{(1,2)}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972169" y="2515552"/>
              <a:ext cx="12156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{(0,0), (1,2)}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166360" y="280987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341266" y="2946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911596" y="294608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(2,3)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65226" y="2946082"/>
              <a:ext cx="12156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{(2,3), (3,5)}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972169" y="2946082"/>
              <a:ext cx="2378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{(0,0), (1,2), (2,3), (3,5)}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166360" y="323945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166360" y="3244215"/>
              <a:ext cx="649224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341266" y="34823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911596" y="348234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(5,4)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65226" y="3375660"/>
              <a:ext cx="1721358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{(5,4), (6,6), </a:t>
              </a:r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(7,7),</a:t>
              </a:r>
              <a:br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(8,9)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}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972169" y="3375660"/>
              <a:ext cx="22448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{(0,0), (1,2), (2,3), (5,4),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(6,6)}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166360" y="1524000"/>
              <a:ext cx="6492240" cy="23641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5615940" y="152400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655118" y="152400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8862060" y="152400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160645" y="3963829"/>
              <a:ext cx="44373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实例同前：(p₁,p₂,p₃)=(1,2,5)，(w₁,w₂,w₃)=(2,3,4)，M=6</a:t>
              </a:r>
            </a:p>
          </p:txBody>
        </p:sp>
      </p:grpSp>
      <p:grpSp>
        <p:nvGrpSpPr>
          <p:cNvPr id="74" name="c2-card-2"/>
          <p:cNvGrpSpPr/>
          <p:nvPr/>
        </p:nvGrpSpPr>
        <p:grpSpPr>
          <a:xfrm>
            <a:off x="5166360" y="4325302"/>
            <a:ext cx="6492240" cy="1323022"/>
            <a:chOff x="5166360" y="4325302"/>
            <a:chExt cx="6492240" cy="1323022"/>
          </a:xfrm>
        </p:grpSpPr>
        <p:sp>
          <p:nvSpPr>
            <p:cNvPr id="66" name="Rectangle 66"/>
            <p:cNvSpPr/>
            <p:nvPr/>
          </p:nvSpPr>
          <p:spPr>
            <a:xfrm>
              <a:off x="5166360" y="4325302"/>
              <a:ext cx="6492240" cy="1323022"/>
            </a:xfrm>
            <a:prstGeom prst="roundRect">
              <a:avLst>
                <a:gd name="adj" fmla="val 100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5175885" y="4458652"/>
              <a:ext cx="47625" cy="105632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408295" y="4529138"/>
              <a:ext cx="131730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473868" y="4564856"/>
              <a:ext cx="11852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i=3 时发生了什么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5415915" y="496157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572506" y="4902041"/>
              <a:ext cx="34690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(7,7)、(8,9) 的重量超过 M=6，被丢弃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5415915" y="528161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572506" y="5222081"/>
              <a:ext cx="46883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(5,4) 比 (3,5) 更轻、效益更高，(3,5) 被支配而丢弃</a:t>
              </a:r>
            </a:p>
          </p:txBody>
        </p:sp>
      </p:grpSp>
      <p:grpSp>
        <p:nvGrpSpPr>
          <p:cNvPr id="80" name="c2-callout-3"/>
          <p:cNvGrpSpPr/>
          <p:nvPr/>
        </p:nvGrpSpPr>
        <p:grpSpPr>
          <a:xfrm>
            <a:off x="5166360" y="5834062"/>
            <a:ext cx="6492240" cy="518160"/>
            <a:chOff x="5166360" y="5834062"/>
            <a:chExt cx="6492240" cy="518160"/>
          </a:xfrm>
        </p:grpSpPr>
        <p:sp>
          <p:nvSpPr>
            <p:cNvPr id="75" name="Rectangle 75"/>
            <p:cNvSpPr/>
            <p:nvPr/>
          </p:nvSpPr>
          <p:spPr>
            <a:xfrm>
              <a:off x="5166360" y="5834062"/>
              <a:ext cx="6492240" cy="518160"/>
            </a:xfrm>
            <a:prstGeom prst="roundRect">
              <a:avLst>
                <a:gd name="adj" fmla="val 2205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5371148" y="5993130"/>
              <a:ext cx="200026" cy="200026"/>
              <a:chOff x="5371148" y="5993130"/>
              <a:chExt cx="200026" cy="200026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5371148" y="599313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5437823" y="607091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5673471" y="5993606"/>
              <a:ext cx="54394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S³ 的最后一个序偶是 (6,6)：最大效益为 6，与填表结果一致。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0/1 背包问题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由序偶集合回溯决策，以及序偶在数组里怎么存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2185988"/>
            <a:chOff x="533400" y="1524000"/>
            <a:chExt cx="5410200" cy="21859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185988"/>
            </a:xfrm>
            <a:prstGeom prst="roundRect">
              <a:avLst>
                <a:gd name="adj" fmla="val 61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1928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64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回溯规则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2955" y="216122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9546" y="2100739"/>
              <a:ext cx="27953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(P,W) 是 Sⁿ 的最后一个序偶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248126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420779"/>
              <a:ext cx="409016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(P,W)∈Sⁿ⁻¹，则 xₙ=0；否则 xₙ=1，且 (P−pₙ,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W−wₙ)∈Sⁿ⁻¹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2955" y="307276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546" y="3012281"/>
              <a:ext cx="457708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对留在 Sⁿ⁻¹ 中的那个序偶继续判断它是否属于 Sⁿ⁻²，依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次确定 xₙ₋₁, …, x₁</a:t>
              </a:r>
            </a:p>
          </p:txBody>
        </p:sp>
      </p:grpSp>
      <p:grpSp>
        <p:nvGrpSpPr>
          <p:cNvPr id="37" name="c1-table-2"/>
          <p:cNvGrpSpPr/>
          <p:nvPr/>
        </p:nvGrpSpPr>
        <p:grpSpPr>
          <a:xfrm>
            <a:off x="533400" y="3895725"/>
            <a:ext cx="5410200" cy="1720215"/>
            <a:chOff x="533400" y="3895725"/>
            <a:chExt cx="5410200" cy="1720215"/>
          </a:xfrm>
        </p:grpSpPr>
        <p:sp>
          <p:nvSpPr>
            <p:cNvPr id="18" name="Rectangle 18"/>
            <p:cNvSpPr/>
            <p:nvPr/>
          </p:nvSpPr>
          <p:spPr>
            <a:xfrm>
              <a:off x="533400" y="3895725"/>
              <a:ext cx="541020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5236" y="402717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当前序偶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70860" y="402717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34940" y="402717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决策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5095" y="4456748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(6,6)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20787" y="4456748"/>
              <a:ext cx="24012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∉S²；(6−5, 6−4) = (1,2) ∈ S²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18786" y="4456748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x₃=1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75107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755832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35095" y="4887278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(1,2)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20787" y="4887278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∈S¹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18786" y="4887278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x₂=0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51816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5095" y="5317808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(1,2)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20787" y="5317808"/>
              <a:ext cx="24012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∉S⁰；(1−1, 2−2) = (0,0) ∈ S⁰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18786" y="5317808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x₁=1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895725"/>
              <a:ext cx="541020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610678" y="3895725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856798" y="3895725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1-callout-3"/>
          <p:cNvGrpSpPr/>
          <p:nvPr/>
        </p:nvGrpSpPr>
        <p:grpSpPr>
          <a:xfrm>
            <a:off x="533400" y="5801678"/>
            <a:ext cx="5410200" cy="518160"/>
            <a:chOff x="533400" y="5801678"/>
            <a:chExt cx="5410200" cy="518160"/>
          </a:xfrm>
        </p:grpSpPr>
        <p:sp>
          <p:nvSpPr>
            <p:cNvPr id="38" name="Rectangle 38"/>
            <p:cNvSpPr/>
            <p:nvPr/>
          </p:nvSpPr>
          <p:spPr>
            <a:xfrm>
              <a:off x="533400" y="5801678"/>
              <a:ext cx="5410200" cy="518160"/>
            </a:xfrm>
            <a:prstGeom prst="roundRect">
              <a:avLst>
                <a:gd name="adj" fmla="val 2205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960745"/>
              <a:ext cx="200026" cy="200026"/>
              <a:chOff x="738188" y="5960745"/>
              <a:chExt cx="200026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59607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04863" y="603853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511" y="5961221"/>
              <a:ext cx="45067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(x₁,x₂,x₃) = (1,0,1)，与二维表回溯的结果相同。</a:t>
              </a:r>
            </a:p>
          </p:txBody>
        </p:sp>
      </p:grpSp>
      <p:grpSp>
        <p:nvGrpSpPr>
          <p:cNvPr id="52" name="c2-kv-1"/>
          <p:cNvGrpSpPr/>
          <p:nvPr/>
        </p:nvGrpSpPr>
        <p:grpSpPr>
          <a:xfrm>
            <a:off x="6241161" y="1547336"/>
            <a:ext cx="5417439" cy="1657922"/>
            <a:chOff x="6241161" y="1547336"/>
            <a:chExt cx="5417439" cy="1657922"/>
          </a:xfrm>
        </p:grpSpPr>
        <p:sp>
          <p:nvSpPr>
            <p:cNvPr id="44" name="TextBox 44"/>
            <p:cNvSpPr txBox="1"/>
            <p:nvPr/>
          </p:nvSpPr>
          <p:spPr>
            <a:xfrm>
              <a:off x="6241161" y="1547336"/>
              <a:ext cx="819696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p(1:n)、</a:t>
              </a:r>
              <a:br/>
              <a:r>
                <a:rPr lang="en-US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w(1:n)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64221" y="154733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物品的效益值和重量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212121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41161" y="2236946"/>
              <a:ext cx="85756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P(1:m)、</a:t>
              </a:r>
              <a:br/>
              <a:r>
                <a:rPr lang="en-US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W(1:m)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64221" y="2236946"/>
              <a:ext cx="3639312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依次存放 S⁰, S¹, …, Sⁿ⁻¹ 的全部序偶，各集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合相邻存放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28108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241161" y="2926556"/>
              <a:ext cx="6955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F(0:n)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64221" y="2926556"/>
              <a:ext cx="36675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指针数组：F(i) 指向 Sⁱ 第一个序偶的位置</a:t>
              </a:r>
            </a:p>
          </p:txBody>
        </p:sp>
      </p:grpSp>
      <p:grpSp>
        <p:nvGrpSpPr>
          <p:cNvPr id="101" name="c2-cells-2"/>
          <p:cNvGrpSpPr/>
          <p:nvPr/>
        </p:nvGrpSpPr>
        <p:grpSpPr>
          <a:xfrm>
            <a:off x="6242304" y="3381851"/>
            <a:ext cx="3612261" cy="1468279"/>
            <a:chOff x="6242304" y="3381851"/>
            <a:chExt cx="3612261" cy="1468279"/>
          </a:xfrm>
        </p:grpSpPr>
        <p:sp>
          <p:nvSpPr>
            <p:cNvPr id="53" name="TextBox 53"/>
            <p:cNvSpPr txBox="1"/>
            <p:nvPr/>
          </p:nvSpPr>
          <p:spPr>
            <a:xfrm>
              <a:off x="6242304" y="376809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501765" y="363950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58573" y="37680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920865" y="3639502"/>
              <a:ext cx="4191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077673" y="37680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339965" y="3639502"/>
              <a:ext cx="4191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496773" y="37680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759065" y="363950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915873" y="37680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178165" y="363950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334973" y="37680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597265" y="363950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754073" y="37680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016365" y="363950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173173" y="37680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435465" y="3639502"/>
              <a:ext cx="41910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545361" y="3381851"/>
              <a:ext cx="3319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F(0)</a:t>
              </a:r>
            </a:p>
          </p:txBody>
        </p:sp>
        <p:sp>
          <p:nvSpPr>
            <p:cNvPr id="70" name="Freeform 70"/>
            <p:cNvSpPr/>
            <p:nvPr/>
          </p:nvSpPr>
          <p:spPr>
            <a:xfrm>
              <a:off x="6673215" y="354425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964461" y="3381851"/>
              <a:ext cx="3319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F(1)</a:t>
              </a:r>
            </a:p>
          </p:txBody>
        </p:sp>
        <p:sp>
          <p:nvSpPr>
            <p:cNvPr id="72" name="Freeform 72"/>
            <p:cNvSpPr/>
            <p:nvPr/>
          </p:nvSpPr>
          <p:spPr>
            <a:xfrm>
              <a:off x="7092315" y="354425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802661" y="3381851"/>
              <a:ext cx="3319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F(2)</a:t>
              </a:r>
            </a:p>
          </p:txBody>
        </p:sp>
        <p:sp>
          <p:nvSpPr>
            <p:cNvPr id="74" name="Freeform 74"/>
            <p:cNvSpPr/>
            <p:nvPr/>
          </p:nvSpPr>
          <p:spPr>
            <a:xfrm>
              <a:off x="7930515" y="354425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479061" y="3381851"/>
              <a:ext cx="3319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F(3)</a:t>
              </a:r>
            </a:p>
          </p:txBody>
        </p:sp>
        <p:sp>
          <p:nvSpPr>
            <p:cNvPr id="76" name="Freeform 76"/>
            <p:cNvSpPr/>
            <p:nvPr/>
          </p:nvSpPr>
          <p:spPr>
            <a:xfrm>
              <a:off x="9606915" y="354425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242304" y="4340542"/>
              <a:ext cx="146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W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501765" y="4211955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658573" y="43405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920865" y="4211955"/>
              <a:ext cx="4191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077673" y="43405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7339965" y="4211955"/>
              <a:ext cx="4191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496773" y="43405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7759065" y="4211955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915873" y="43405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8178165" y="4211955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8334973" y="43405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8597265" y="4211955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8754073" y="43405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9016365" y="4211955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9173173" y="43405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9435465" y="4211955"/>
              <a:ext cx="41910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673234" y="467391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092334" y="467391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511434" y="467391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930534" y="467391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349634" y="467391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768734" y="467391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9187834" y="467391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606934" y="467391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108" name="c2-callout-3"/>
          <p:cNvGrpSpPr/>
          <p:nvPr/>
        </p:nvGrpSpPr>
        <p:grpSpPr>
          <a:xfrm>
            <a:off x="6248400" y="4994910"/>
            <a:ext cx="5410200" cy="1325880"/>
            <a:chOff x="6248400" y="4994910"/>
            <a:chExt cx="5410200" cy="1325880"/>
          </a:xfrm>
        </p:grpSpPr>
        <p:sp>
          <p:nvSpPr>
            <p:cNvPr id="102" name="Rectangle 102"/>
            <p:cNvSpPr/>
            <p:nvPr/>
          </p:nvSpPr>
          <p:spPr>
            <a:xfrm>
              <a:off x="6248400" y="4994910"/>
              <a:ext cx="5410200" cy="1325880"/>
            </a:xfrm>
            <a:prstGeom prst="roundRect">
              <a:avLst>
                <a:gd name="adj" fmla="val 862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06" name="Group 106"/>
            <p:cNvGrpSpPr/>
            <p:nvPr/>
          </p:nvGrpSpPr>
          <p:grpSpPr>
            <a:xfrm>
              <a:off x="6453188" y="5557838"/>
              <a:ext cx="200026" cy="200026"/>
              <a:chOff x="6453188" y="5557838"/>
              <a:chExt cx="200026" cy="200026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6453188" y="55578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6553200" y="56245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5" name="Freeform 105"/>
              <p:cNvSpPr/>
              <p:nvPr/>
            </p:nvSpPr>
            <p:spPr>
              <a:xfrm>
                <a:off x="6542088" y="565785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07" name="TextBox 107"/>
            <p:cNvSpPr txBox="1"/>
            <p:nvPr/>
          </p:nvSpPr>
          <p:spPr>
            <a:xfrm>
              <a:off x="6755511" y="5426869"/>
              <a:ext cx="443280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图中存的是 S⁰、S¹、S²；F(3) 指向下一个空位，S³ 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序偶从这里接着存。</a:t>
              </a:r>
            </a:p>
          </p:txBody>
        </p:sp>
      </p:grpSp>
      <p:grpSp>
        <p:nvGrpSpPr>
          <p:cNvPr id="11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9" name="TextBox 10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419744" cy="909257"/>
            <a:chOff x="520446" y="342900"/>
            <a:chExt cx="94197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0/1 背包问题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4197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序偶对法的复杂度：最坏 O(2ⁿ)，整数数据时不超过 O(nM)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2451735"/>
            <a:chOff x="533400" y="1524000"/>
            <a:chExt cx="5410200" cy="24517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451735"/>
            </a:xfrm>
            <a:prstGeom prst="roundRect">
              <a:avLst>
                <a:gd name="adj" fmla="val 54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8503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空间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330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Sⁱ 由 Sⁱ⁻¹ 与 Sⁱ₁ 归并而成，|Sⁱ₁| ≤ |Sⁱ⁻¹|，所以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|Sⁱ| ≤ 2|Sⁱ⁻¹|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31770"/>
              <a:ext cx="4577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最坏情况下归并时一个序偶也没被清除，|Sⁱ| = 2ⁱ，空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间复杂度为 O(2ⁿ)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31"/>
                <p:cNvSpPr txBox="1">
                  <a:spLocks noGrp="1"/>
                </p:cNvSpPr>
                <p:nvPr/>
              </p:nvSpPr>
              <p:spPr>
                <a:xfrm>
                  <a:off x="781050" y="3328035"/>
                  <a:ext cx="49530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p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p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+⋯+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p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+⋯+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7" name="c1-table-2"/>
          <p:cNvGrpSpPr/>
          <p:nvPr/>
        </p:nvGrpSpPr>
        <p:grpSpPr>
          <a:xfrm>
            <a:off x="527685" y="4166235"/>
            <a:ext cx="5415915" cy="2091214"/>
            <a:chOff x="527685" y="4166235"/>
            <a:chExt cx="5415915" cy="2091214"/>
          </a:xfrm>
        </p:grpSpPr>
        <p:sp>
          <p:nvSpPr>
            <p:cNvPr id="17" name="Rectangle 17"/>
            <p:cNvSpPr/>
            <p:nvPr/>
          </p:nvSpPr>
          <p:spPr>
            <a:xfrm>
              <a:off x="533400" y="4166235"/>
              <a:ext cx="5410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7444" y="4301966"/>
              <a:ext cx="672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57064" y="43019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2ⁱ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90392" y="4301966"/>
              <a:ext cx="5245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1+Σpⱼ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195316" y="4301966"/>
              <a:ext cx="12941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1+min{Σwⱼ,M}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959276" y="4301966"/>
              <a:ext cx="7399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 |Sⁱ|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4827" y="475059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09189" y="475059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98824" y="475059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88522" y="475059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75374" y="475059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50587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506349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04827" y="51992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09189" y="51992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398824" y="51992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88522" y="51992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75374" y="51992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55083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04827" y="564784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09189" y="564784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398824" y="564784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788522" y="564784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275374" y="564784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166235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183958" y="416623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932622" y="416623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2963228" y="416623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711065" y="416623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7685" y="6037421"/>
              <a:ext cx="47690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本节实例 (p)=(1,2,5)，(w)=(2,3,4)，M=6：实际个数低于三个上界</a:t>
              </a:r>
            </a:p>
          </p:txBody>
        </p:sp>
      </p:grpSp>
      <p:grpSp>
        <p:nvGrpSpPr>
          <p:cNvPr id="58" name="c2-card-1"/>
          <p:cNvGrpSpPr/>
          <p:nvPr/>
        </p:nvGrpSpPr>
        <p:grpSpPr>
          <a:xfrm>
            <a:off x="6248400" y="1524000"/>
            <a:ext cx="5410200" cy="2908935"/>
            <a:chOff x="6248400" y="1524000"/>
            <a:chExt cx="5410200" cy="2908935"/>
          </a:xfrm>
        </p:grpSpPr>
        <p:sp>
          <p:nvSpPr>
            <p:cNvPr id="48" name="Rectangle 48"/>
            <p:cNvSpPr/>
            <p:nvPr/>
          </p:nvSpPr>
          <p:spPr>
            <a:xfrm>
              <a:off x="6248400" y="1524000"/>
              <a:ext cx="5410200" cy="2908935"/>
            </a:xfrm>
            <a:prstGeom prst="roundRect">
              <a:avLst>
                <a:gd name="adj" fmla="val 45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57925" y="1657350"/>
              <a:ext cx="47625" cy="264223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96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86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501765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59880" y="2110740"/>
              <a:ext cx="4501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Sⁱ⁻¹ 生成 Sⁱ 需要 Θ(|Sⁱ⁻¹|)，总时间 Θ(Σ|Sⁱ⁻¹|)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O(2ⁿ)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501765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59880" y="2731770"/>
              <a:ext cx="4558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pⱼ、wⱼ 都是整数时，同一集合中各序偶的 P 值互不相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同，W 值也互不相同，所以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formula32"/>
                <p:cNvSpPr txBox="1">
                  <a:spLocks noGrp="1"/>
                </p:cNvSpPr>
                <p:nvPr/>
              </p:nvSpPr>
              <p:spPr>
                <a:xfrm>
                  <a:off x="6496050" y="3328035"/>
                  <a:ext cx="495300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+⋯+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min</m:t>
                            </m:r>
                          </m:fName>
                          <m:e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w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+⋯+</m:t>
                                </m:r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w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formula33"/>
                <p:cNvSpPr txBox="1">
                  <a:spLocks noGrp="1"/>
                </p:cNvSpPr>
                <p:nvPr/>
              </p:nvSpPr>
              <p:spPr>
                <a:xfrm>
                  <a:off x="6496050" y="3785235"/>
                  <a:ext cx="49530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O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min</m:t>
                                </m:r>
                              </m:fName>
                              <m:e>
                                <m:d>
                                  <m:dPr>
                                    <m:begChr m:val="{"/>
                                    <m:sepChr m:val=""/>
                                    <m:endChr m:val="}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 xml:space="preserve"> 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6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p</m:t>
                                            </m:r>
                                          </m:e>
                                          <m:sub>
                                            <m:r>
                                              <a:rPr lang="zh-CN" sz="16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+⋯+</m:t>
                                        </m:r>
                                        <m:sSub>
                                          <m:e>
                                            <m:r>
                                              <a:rPr lang="zh-CN" sz="16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p</m:t>
                                            </m:r>
                                          </m:e>
                                          <m:sub>
                                            <m:r>
                                              <a:rPr lang="zh-CN" sz="16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n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 xml:space="preserve"> 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nM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65" name="c2-callout-2"/>
          <p:cNvGrpSpPr/>
          <p:nvPr/>
        </p:nvGrpSpPr>
        <p:grpSpPr>
          <a:xfrm>
            <a:off x="6248400" y="4623435"/>
            <a:ext cx="5410200" cy="1589722"/>
            <a:chOff x="6248400" y="4623435"/>
            <a:chExt cx="5410200" cy="1589722"/>
          </a:xfrm>
        </p:grpSpPr>
        <p:sp>
          <p:nvSpPr>
            <p:cNvPr id="59" name="Rectangle 59"/>
            <p:cNvSpPr/>
            <p:nvPr/>
          </p:nvSpPr>
          <p:spPr>
            <a:xfrm>
              <a:off x="6248400" y="4623435"/>
              <a:ext cx="5410200" cy="1589722"/>
            </a:xfrm>
            <a:prstGeom prst="roundRect">
              <a:avLst>
                <a:gd name="adj" fmla="val 719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453188" y="5317808"/>
              <a:ext cx="200026" cy="200025"/>
              <a:chOff x="6453188" y="5317808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453188" y="53178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492926" y="53622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527642" y="54733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6755130" y="4898708"/>
              <a:ext cx="4501515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子问题重叠程度低时，保存全部序偶的空间代价很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大。时间上和迭代法 Θ(nM) 比，序偶对法的上界不超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过 O(nM)，支配规则还会清除大量序偶，实际往往更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快。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42941" cy="909257"/>
            <a:chOff x="520446" y="342900"/>
            <a:chExt cx="66429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0/1 背包问题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429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改进：用估计值 L 提前清除没有希望的序偶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4652962" cy="2955608"/>
            <a:chOff x="533400" y="1524000"/>
            <a:chExt cx="4652962" cy="29556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652962" cy="2955608"/>
            </a:xfrm>
            <a:prstGeom prst="roundRect">
              <a:avLst>
                <a:gd name="adj" fmla="val 45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68890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1344" y="175069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试探法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39227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是最优解的估计值，满足 fₙ(M) ≥ L，例如用贪心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法求出的一个可行解的效益。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38"/>
                <p:cNvSpPr txBox="1">
                  <a:spLocks noGrp="1"/>
                </p:cNvSpPr>
                <p:nvPr/>
              </p:nvSpPr>
              <p:spPr>
                <a:xfrm>
                  <a:off x="763905" y="2610802"/>
                  <a:ext cx="4230052" cy="628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PLEFT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  <m:sup/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57047" y="3348038"/>
              <a:ext cx="38884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(p,w)∈Sⁱ 且 p + PLEFT(i) &lt; L，就把 (p,w) 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Sⁱ 中清除。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8190" y="3903821"/>
              <a:ext cx="383057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后面的物品全部装进去也达不到 L，这个序偶不可能导出最优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解。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4653915"/>
            <a:ext cx="4652962" cy="1590675"/>
            <a:chOff x="533400" y="4653915"/>
            <a:chExt cx="4652962" cy="1590675"/>
          </a:xfrm>
        </p:grpSpPr>
        <p:sp>
          <p:nvSpPr>
            <p:cNvPr id="16" name="Rectangle 16"/>
            <p:cNvSpPr/>
            <p:nvPr/>
          </p:nvSpPr>
          <p:spPr>
            <a:xfrm>
              <a:off x="533400" y="4653915"/>
              <a:ext cx="4652962" cy="1590675"/>
            </a:xfrm>
            <a:prstGeom prst="roundRect">
              <a:avLst>
                <a:gd name="adj" fmla="val 83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787265"/>
              <a:ext cx="47625" cy="13239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3905" y="48463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5345" y="48806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7047" y="5203508"/>
              <a:ext cx="377704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n=6，M=165，(p₁,…,p₆) = (w₁,…,w₆)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(100,50,20,10,7,3)。贪心依次装入 100、50、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10、3，得到 L=163。</a:t>
              </a:r>
            </a:p>
          </p:txBody>
        </p:sp>
      </p:grpSp>
      <p:grpSp>
        <p:nvGrpSpPr>
          <p:cNvPr id="44" name="c2-cells-1"/>
          <p:cNvGrpSpPr/>
          <p:nvPr/>
        </p:nvGrpSpPr>
        <p:grpSpPr>
          <a:xfrm>
            <a:off x="5485448" y="1524000"/>
            <a:ext cx="4008120" cy="596741"/>
            <a:chOff x="5485448" y="1524000"/>
            <a:chExt cx="4008120" cy="596741"/>
          </a:xfrm>
        </p:grpSpPr>
        <p:sp>
          <p:nvSpPr>
            <p:cNvPr id="22" name="TextBox 22"/>
            <p:cNvSpPr txBox="1"/>
            <p:nvPr/>
          </p:nvSpPr>
          <p:spPr>
            <a:xfrm>
              <a:off x="5485448" y="1644491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PLEFT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35040" y="1524000"/>
              <a:ext cx="49434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145414" y="164449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190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29388" y="1524000"/>
              <a:ext cx="49434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83298" y="16444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022782" y="1524000"/>
              <a:ext cx="49434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77645" y="16444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517130" y="1524000"/>
              <a:ext cx="49434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71993" y="16444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011478" y="1524000"/>
              <a:ext cx="49434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165388" y="16444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505825" y="1524000"/>
              <a:ext cx="49434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703271" y="1644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999220" y="1524000"/>
              <a:ext cx="49434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97619" y="1644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46618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40966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35313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29661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23056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17403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211751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  <p:grpSp>
        <p:nvGrpSpPr>
          <p:cNvPr id="87" name="c2-table-2"/>
          <p:cNvGrpSpPr/>
          <p:nvPr/>
        </p:nvGrpSpPr>
        <p:grpSpPr>
          <a:xfrm>
            <a:off x="5485829" y="2261235"/>
            <a:ext cx="6172771" cy="3120009"/>
            <a:chOff x="5485829" y="2261235"/>
            <a:chExt cx="6172771" cy="3120009"/>
          </a:xfrm>
        </p:grpSpPr>
        <p:sp>
          <p:nvSpPr>
            <p:cNvPr id="45" name="Rectangle 45"/>
            <p:cNvSpPr/>
            <p:nvPr/>
          </p:nvSpPr>
          <p:spPr>
            <a:xfrm>
              <a:off x="5491162" y="2261235"/>
              <a:ext cx="6167438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708398" y="2385536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19021" y="2385536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Sⁱ₁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49133" y="238553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归并后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815972" y="2385536"/>
              <a:ext cx="848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清除后的 Sⁱ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688609" y="27913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084570" y="279130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{100}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40930" y="2791301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{0, 100}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921115" y="2791301"/>
              <a:ext cx="13307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{100}：0+90 &lt; 163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491162" y="3068002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491162" y="3072765"/>
              <a:ext cx="616743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688609" y="3197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084570" y="319706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{150}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440930" y="319706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{100, 150}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921115" y="3197066"/>
              <a:ext cx="14965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{150}：100+40 &lt; 163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491162" y="3473768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688609" y="3602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084570" y="3602831"/>
              <a:ext cx="9614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∅（170 &gt; M）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440930" y="360283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{150}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921115" y="3602831"/>
              <a:ext cx="19488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{150}：150+20 ≥ 163，保留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491162" y="3879532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5491162" y="3884295"/>
              <a:ext cx="616743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688609" y="40085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084570" y="400859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{160}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440930" y="400859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{150, 160}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921115" y="4008596"/>
              <a:ext cx="14965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{160}：150+10 &lt; 163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491162" y="4285298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688609" y="44143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084570" y="4414361"/>
              <a:ext cx="9614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∅（167 &gt; M）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440930" y="441436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{160}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921115" y="4414361"/>
              <a:ext cx="1865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{160}：160+3 ≥ 163，保留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491162" y="4691062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5491162" y="4695825"/>
              <a:ext cx="616743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688609" y="48201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084570" y="482012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{163}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440930" y="482012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{160, 163}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921115" y="4820126"/>
              <a:ext cx="14136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{163}：160+0 &lt; 163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5491162" y="2261235"/>
              <a:ext cx="6167438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5979795" y="226123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7336155" y="226123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8816340" y="226123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5485829" y="5175885"/>
              <a:ext cx="20814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本例 pᵢ=wᵢ，序偶 (p,w) 只写 p</a:t>
              </a:r>
            </a:p>
          </p:txBody>
        </p:sp>
      </p:grpSp>
      <p:grpSp>
        <p:nvGrpSpPr>
          <p:cNvPr id="93" name="c2-callout-3"/>
          <p:cNvGrpSpPr/>
          <p:nvPr/>
        </p:nvGrpSpPr>
        <p:grpSpPr>
          <a:xfrm>
            <a:off x="5491162" y="5514975"/>
            <a:ext cx="6167438" cy="729615"/>
            <a:chOff x="5491162" y="5514975"/>
            <a:chExt cx="6167438" cy="729615"/>
          </a:xfrm>
        </p:grpSpPr>
        <p:sp>
          <p:nvSpPr>
            <p:cNvPr id="88" name="Rectangle 88"/>
            <p:cNvSpPr/>
            <p:nvPr/>
          </p:nvSpPr>
          <p:spPr>
            <a:xfrm>
              <a:off x="5491162" y="5514975"/>
              <a:ext cx="6167438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91" name="Group 91"/>
            <p:cNvGrpSpPr/>
            <p:nvPr/>
          </p:nvGrpSpPr>
          <p:grpSpPr>
            <a:xfrm>
              <a:off x="5695950" y="5779770"/>
              <a:ext cx="200026" cy="200026"/>
              <a:chOff x="5695950" y="5779770"/>
              <a:chExt cx="200026" cy="200026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5695950" y="577977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5762625" y="585755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92" name="TextBox 92"/>
            <p:cNvSpPr txBox="1"/>
            <p:nvPr/>
          </p:nvSpPr>
          <p:spPr>
            <a:xfrm>
              <a:off x="5998654" y="5661660"/>
              <a:ext cx="495147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S⁶ = {163}，最优解为 163；整个过程中每个 Sⁱ 最多只留 1 个序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偶。</a:t>
              </a:r>
            </a:p>
          </p:txBody>
        </p:sp>
      </p:grpSp>
      <p:grpSp>
        <p:nvGrpSpPr>
          <p:cNvPr id="9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4" name="TextBox 9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247007" cy="2997517"/>
            <a:chOff x="667512" y="1835468"/>
            <a:chExt cx="4247007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可靠性设计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目标函数是乘积，仍然可以用序偶对法求解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串联系统与冗余设备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最优化模型与递推式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实例：三级系统的完整求解过程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可靠性设计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串联系统的可靠性是乘积，给每一级并联多台设备来提高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951220" cy="2232660"/>
            <a:chOff x="533400" y="1524000"/>
            <a:chExt cx="5951220" cy="22326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2232660"/>
            </a:xfrm>
            <a:prstGeom prst="roundRect">
              <a:avLst>
                <a:gd name="adj" fmla="val 59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6596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问题描述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1641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系统由 n 种不同设备 D₁, D₂, …, Dₙ 串联组成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36896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rᵢ 是设备 Dᵢ 正常运转的概率，即可靠性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28441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2781300"/>
              <a:ext cx="22998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整个系统的可靠性是 Π rᵢ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4573" y="3113246"/>
              <a:ext cx="50848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 台 rᵢ=0.99 的设备串联：0.99¹⁰ ≈ 0.904；r=(0.9, 0.8, 0.5) 串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联：0.9×0.8×0.5 = 0.36。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947160"/>
            <a:ext cx="5951220" cy="2165985"/>
            <a:chOff x="533400" y="3947160"/>
            <a:chExt cx="5951220" cy="2165985"/>
          </a:xfrm>
        </p:grpSpPr>
        <p:sp>
          <p:nvSpPr>
            <p:cNvPr id="19" name="Rectangle 19"/>
            <p:cNvSpPr/>
            <p:nvPr/>
          </p:nvSpPr>
          <p:spPr>
            <a:xfrm>
              <a:off x="533400" y="3947160"/>
              <a:ext cx="5951220" cy="2165985"/>
            </a:xfrm>
            <a:prstGeom prst="roundRect">
              <a:avLst>
                <a:gd name="adj" fmla="val 61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080510"/>
              <a:ext cx="47625" cy="189928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81050" y="415671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3359" y="419242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改进方法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3430" y="4533900"/>
              <a:ext cx="5215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每一级增加几台同种设备并联。Dᵢ 有 mᵢ 台时，同时出现故障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的概率是 (1−rᵢ) 的 mᵢ 次方，这一级的可靠性变为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formula40"/>
                <p:cNvSpPr txBox="1">
                  <a:spLocks noGrp="1"/>
                </p:cNvSpPr>
                <p:nvPr/>
              </p:nvSpPr>
              <p:spPr>
                <a:xfrm>
                  <a:off x="781050" y="5130165"/>
                  <a:ext cx="549402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ϕ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5" name="TextBox 25"/>
            <p:cNvSpPr txBox="1"/>
            <p:nvPr/>
          </p:nvSpPr>
          <p:spPr>
            <a:xfrm>
              <a:off x="773430" y="5669280"/>
              <a:ext cx="47303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例如 rᵢ=0.99，mᵢ=2 时，1−(1−0.99)² = 0.9999。</a:t>
              </a:r>
            </a:p>
          </p:txBody>
        </p:sp>
      </p:grpSp>
      <p:grpSp>
        <p:nvGrpSpPr>
          <p:cNvPr id="29" name="c2-image-1"/>
          <p:cNvGrpSpPr/>
          <p:nvPr/>
        </p:nvGrpSpPr>
        <p:grpSpPr>
          <a:xfrm>
            <a:off x="6789420" y="1524000"/>
            <a:ext cx="4869180" cy="3890487"/>
            <a:chOff x="6789420" y="1524000"/>
            <a:chExt cx="4869180" cy="3890487"/>
          </a:xfrm>
        </p:grpSpPr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2"/>
            <a:srcRect l="0" t="1044" r="0" b="1043"/>
            <a:stretch>
              <a:fillRect/>
            </a:stretch>
          </p:blipFill>
          <p:spPr>
            <a:xfrm>
              <a:off x="6789420" y="1524000"/>
              <a:ext cx="4869180" cy="3575685"/>
            </a:xfrm>
            <a:prstGeom prst="roundRect">
              <a:avLst>
                <a:gd name="adj" fmla="val 3729"/>
              </a:avLst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7635164" y="5194459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某一级有备份时，一台故障，整条管线仍能工作</a:t>
              </a:r>
            </a:p>
          </p:txBody>
        </p:sp>
      </p:grpSp>
      <p:grpSp>
        <p:nvGrpSpPr>
          <p:cNvPr id="36" name="c2-callout-2"/>
          <p:cNvGrpSpPr/>
          <p:nvPr/>
        </p:nvGrpSpPr>
        <p:grpSpPr>
          <a:xfrm>
            <a:off x="6789420" y="5579745"/>
            <a:ext cx="4869180" cy="782955"/>
            <a:chOff x="6789420" y="5579745"/>
            <a:chExt cx="4869180" cy="782955"/>
          </a:xfrm>
        </p:grpSpPr>
        <p:sp>
          <p:nvSpPr>
            <p:cNvPr id="30" name="Rectangle 30"/>
            <p:cNvSpPr/>
            <p:nvPr/>
          </p:nvSpPr>
          <p:spPr>
            <a:xfrm>
              <a:off x="6789420" y="5579745"/>
              <a:ext cx="486918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982149" y="5867518"/>
              <a:ext cx="224134" cy="192560"/>
              <a:chOff x="6982149" y="5867518"/>
              <a:chExt cx="224134" cy="19256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094220" y="59378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982149" y="58675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094220" y="60156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7296150" y="5728335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设备越多成本越高。可靠性设计要回答的是：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总投资有限时，每一级各配几台。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49321" cy="909257"/>
            <a:chOff x="520446" y="342900"/>
            <a:chExt cx="76493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可靠性设计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493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最优化模型：成本不超过 c 时，让系统可靠性最大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4555808"/>
            <a:chOff x="533400" y="1524000"/>
            <a:chExt cx="5410200" cy="45558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555808"/>
            </a:xfrm>
            <a:prstGeom prst="roundRect">
              <a:avLst>
                <a:gd name="adj" fmla="val 29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28910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50"/>
                <p:cNvSpPr txBox="1">
                  <a:spLocks noGrp="1"/>
                </p:cNvSpPr>
                <p:nvPr/>
              </p:nvSpPr>
              <p:spPr>
                <a:xfrm>
                  <a:off x="775335" y="2077402"/>
                  <a:ext cx="4964430" cy="6600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max</m:t>
                            </m:r>
                          </m:fName>
                          <m:e>
                            <m:nary>
                              <m:naryPr>
                                <m:chr m:val="∏"/>
                                <m:limLoc m:val="undOvr"/>
                                <m:grow m:val="off"/>
                                <m:subHide m:val="off"/>
                                <m:supHide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  <m:sup/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ϕ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m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51"/>
                <p:cNvSpPr txBox="1">
                  <a:spLocks noGrp="1"/>
                </p:cNvSpPr>
                <p:nvPr/>
              </p:nvSpPr>
              <p:spPr>
                <a:xfrm>
                  <a:off x="775335" y="2829878"/>
                  <a:ext cx="4964430" cy="628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nor m:val="on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s.t.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  <m:sup/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≥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nor m:val="on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且为整数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68096" y="3574256"/>
              <a:ext cx="475742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cᵢ 是一台设备 i 的成本。每种设备至少有一台，先给其余每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种设备留出一台的成本，设备 j 至多配置 uⱼ 台：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52"/>
                <p:cNvSpPr txBox="1">
                  <a:spLocks noGrp="1"/>
                </p:cNvSpPr>
                <p:nvPr/>
              </p:nvSpPr>
              <p:spPr>
                <a:xfrm>
                  <a:off x="775335" y="4142422"/>
                  <a:ext cx="496443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⌊"/>
                            <m:sepChr m:val=""/>
                            <m:endChr m:val="⌋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+⋯+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68096" y="4658201"/>
              <a:ext cx="464921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+ cⱼ − C 就是总投资扣掉其余设备各一台后剩给设备 j 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钱。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9239" y="5246370"/>
              <a:ext cx="4104132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例：c=105，(c₁,c₂,c₃)=(30,15,20)，C=65，u₁=⌊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(105+30−65)/30⌋=⌊70/30⌋=2，同理 u₂=⌊55/15⌋=3，u₃=⌊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60/20⌋=3。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524000"/>
            <a:ext cx="5410200" cy="2709862"/>
            <a:chOff x="6248400" y="1524000"/>
            <a:chExt cx="5410200" cy="2709862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410200" cy="2709862"/>
            </a:xfrm>
            <a:prstGeom prst="roundRect">
              <a:avLst>
                <a:gd name="adj" fmla="val 49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57925" y="1657350"/>
              <a:ext cx="47625" cy="244316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90335" y="172783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76593" y="176355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递推式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83096" y="2100739"/>
              <a:ext cx="469430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fᵢ(x)：可容许成本为 x 时，第 1 到第 i 种设备的最大可靠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性（记作 RELI(1,i,x)）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formula53"/>
                <p:cNvSpPr txBox="1">
                  <a:spLocks noGrp="1"/>
                </p:cNvSpPr>
                <p:nvPr/>
              </p:nvSpPr>
              <p:spPr>
                <a:xfrm>
                  <a:off x="6490335" y="2668905"/>
                  <a:ext cx="4964430" cy="5200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lim>
                            </m:limLow>
                          </m:fName>
                          <m:e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ϕ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m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c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sSub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m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4" name="TextBox 24"/>
            <p:cNvSpPr txBox="1"/>
            <p:nvPr/>
          </p:nvSpPr>
          <p:spPr>
            <a:xfrm>
              <a:off x="6483096" y="3304699"/>
              <a:ext cx="49273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边界：x≥0 时 f₀(x) = 1，x&lt;0 时不可行；原问题是 fₙ(c)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84239" y="3621405"/>
              <a:ext cx="45841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形式和 0/1 背包相同，只是加法换成了乘法，决策从 0/1 换成 1…uᵢ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台。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4418648"/>
            <a:ext cx="5410200" cy="1660208"/>
            <a:chOff x="6248400" y="4418648"/>
            <a:chExt cx="5410200" cy="1660208"/>
          </a:xfrm>
        </p:grpSpPr>
        <p:sp>
          <p:nvSpPr>
            <p:cNvPr id="27" name="Rectangle 27"/>
            <p:cNvSpPr/>
            <p:nvPr/>
          </p:nvSpPr>
          <p:spPr>
            <a:xfrm>
              <a:off x="6248400" y="4418648"/>
              <a:ext cx="5410200" cy="1660208"/>
            </a:xfrm>
            <a:prstGeom prst="roundRect">
              <a:avLst>
                <a:gd name="adj" fmla="val 80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57925" y="4551998"/>
              <a:ext cx="47625" cy="13935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90335" y="4622482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7742" y="46582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更正与补充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83096" y="4995386"/>
              <a:ext cx="476643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原课件把一般项写成 fᵢ(x) = max{φᵢ(mᵢ)·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fᵢ₋₁(c−cᵢmᵢ)}，括号里的 c 应为 x；原课件也没有给出边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 f₀，这里补上。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77309" cy="909257"/>
            <a:chOff x="520446" y="342900"/>
            <a:chExt cx="71773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可靠性设计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773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序偶对法求解：序偶 (f, x) 记录可靠性和成本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ard-1"/>
          <p:cNvGrpSpPr/>
          <p:nvPr/>
        </p:nvGrpSpPr>
        <p:grpSpPr>
          <a:xfrm>
            <a:off x="533400" y="1524000"/>
            <a:ext cx="6059805" cy="1316355"/>
            <a:chOff x="533400" y="1524000"/>
            <a:chExt cx="6059805" cy="1316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316355"/>
            </a:xfrm>
            <a:prstGeom prst="roundRect">
              <a:avLst>
                <a:gd name="adj" fmla="val 1013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52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支配规则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5063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 (f₁,x₁) 和 (f₂,x₂)，当且仅当 f₁ ≥ f₂ 且 x₁ ≤ x₂ 时，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(f₁,x₁) 支配 (f₂,x₂)，把 (f₂,x₂) 从序偶集合中舍去。</a:t>
              </a:r>
            </a:p>
          </p:txBody>
        </p:sp>
      </p:grpSp>
      <p:grpSp>
        <p:nvGrpSpPr>
          <p:cNvPr id="20" name="c1-kv-2"/>
          <p:cNvGrpSpPr/>
          <p:nvPr/>
        </p:nvGrpSpPr>
        <p:grpSpPr>
          <a:xfrm>
            <a:off x="525780" y="3055620"/>
            <a:ext cx="6067425" cy="1173480"/>
            <a:chOff x="525780" y="3055620"/>
            <a:chExt cx="6067425" cy="1173480"/>
          </a:xfrm>
        </p:grpSpPr>
        <p:sp>
          <p:nvSpPr>
            <p:cNvPr id="12" name="TextBox 12"/>
            <p:cNvSpPr txBox="1"/>
            <p:nvPr/>
          </p:nvSpPr>
          <p:spPr>
            <a:xfrm>
              <a:off x="525780" y="3055620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Sⁱ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70622" y="3055620"/>
              <a:ext cx="53058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m₁, …, mᵢ 的各种决策产生的、不受支配的全部序偶 (f,x)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37566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5780" y="349567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Sⁱⱼ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70622" y="3495675"/>
              <a:ext cx="52452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级选 j 台时（m₁, …, mᵢ₋₁, j）产生的不受支配的序偶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81571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5780" y="39357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70622" y="3935730"/>
              <a:ext cx="52351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背包序偶做加法、每级 2 种选择，这里做乘法、每级 uᵢ 种</a:t>
              </a:r>
            </a:p>
          </p:txBody>
        </p:sp>
      </p:grpSp>
      <p:grpSp>
        <p:nvGrpSpPr>
          <p:cNvPr id="24" name="c1-code-3"/>
          <p:cNvGrpSpPr/>
          <p:nvPr/>
        </p:nvGrpSpPr>
        <p:grpSpPr>
          <a:xfrm>
            <a:off x="533400" y="4360545"/>
            <a:ext cx="6059805" cy="1922145"/>
            <a:chOff x="533400" y="4360545"/>
            <a:chExt cx="6059805" cy="1922145"/>
          </a:xfrm>
        </p:grpSpPr>
        <p:sp>
          <p:nvSpPr>
            <p:cNvPr id="21" name="Rectangle 21"/>
            <p:cNvSpPr/>
            <p:nvPr/>
          </p:nvSpPr>
          <p:spPr>
            <a:xfrm>
              <a:off x="533400" y="4360545"/>
              <a:ext cx="6059805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1797" y="451246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算法框架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1035" y="4774406"/>
              <a:ext cx="1768094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求解 uᵢ，i = 1, 2, …, 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i ← 1 to n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j ← 1 to uᵢ do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求 φᵢ(j)；求 Sⁱⱼ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基于支配规则归并出 Sⁱ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</a:p>
          </p:txBody>
        </p:sp>
      </p:grpSp>
      <p:grpSp>
        <p:nvGrpSpPr>
          <p:cNvPr id="46" name="c2-steps-1"/>
          <p:cNvGrpSpPr/>
          <p:nvPr/>
        </p:nvGrpSpPr>
        <p:grpSpPr>
          <a:xfrm>
            <a:off x="6898005" y="1533525"/>
            <a:ext cx="4572970" cy="3649314"/>
            <a:chOff x="6898005" y="1533525"/>
            <a:chExt cx="4572970" cy="3649314"/>
          </a:xfrm>
        </p:grpSpPr>
        <p:sp>
          <p:nvSpPr>
            <p:cNvPr id="25" name="Rectangle 25"/>
            <p:cNvSpPr/>
            <p:nvPr/>
          </p:nvSpPr>
          <p:spPr>
            <a:xfrm>
              <a:off x="7031355" y="1676400"/>
              <a:ext cx="19050" cy="28374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689800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99162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898005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91629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898005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91629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898005" y="37204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91629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898005" y="437102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91629" y="44448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09485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10628" y="1861661"/>
              <a:ext cx="1178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S⁰ = {(1, 0)}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09485" y="2218372"/>
              <a:ext cx="19064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 Sⁱⱼ（1≤j≤uᵢ）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10628" y="2512219"/>
              <a:ext cx="38848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Sⁱⱼ 收集 (φᵢ(j)·f, x + cᵢ·j)，其中 (f,x)∈Sⁱ⁻¹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09485" y="2868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检查成本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10628" y="3162776"/>
              <a:ext cx="39550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只保留 x + cᵢ·j + Σcₖ ≤ c 的序偶（i&lt;k≤n），给后面每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种设备各留一台的钱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09485" y="375475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归并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10628" y="4048601"/>
              <a:ext cx="41603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Sⁱ = ∪ Sⁱⱼ（1≤j≤uᵢ），按支配规则删去被支配的序偶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09485" y="440531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10628" y="4699159"/>
              <a:ext cx="39062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Sⁿ 中 f 最大的序偶若来自 Sⁿⱼ，则 mₙ=j；再逐级找来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源，求出 mₙ₋₁, …, m₁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42843" cy="909257"/>
            <a:chOff x="520446" y="342900"/>
            <a:chExt cx="564284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可靠性设计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428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实例：三级系统，投资不超过 105 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206990" cy="569595"/>
            <a:chOff x="525780" y="1548765"/>
            <a:chExt cx="10206990" cy="56959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2069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c=105，(c₁,c₂,c₃)=(30,15,20)，(r₁,r₂,r₃)=(0.9,0.8,0.5)。u₁=⌊(105+30−65)/30⌋=2，u₂=⌊(105+15−65)/15⌋</a:t>
              </a:r>
              <a:br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=3，u₃=⌊(105+20−65)/20⌋=3。</a:t>
              </a:r>
            </a:p>
          </p:txBody>
        </p:sp>
      </p:grpSp>
      <p:grpSp>
        <p:nvGrpSpPr>
          <p:cNvPr id="33" name="c1-table-1"/>
          <p:cNvGrpSpPr/>
          <p:nvPr/>
        </p:nvGrpSpPr>
        <p:grpSpPr>
          <a:xfrm>
            <a:off x="533400" y="2230755"/>
            <a:ext cx="4111942" cy="1720215"/>
            <a:chOff x="533400" y="2230755"/>
            <a:chExt cx="4111942" cy="1720215"/>
          </a:xfrm>
        </p:grpSpPr>
        <p:sp>
          <p:nvSpPr>
            <p:cNvPr id="9" name="Rectangle 9"/>
            <p:cNvSpPr/>
            <p:nvPr/>
          </p:nvSpPr>
          <p:spPr>
            <a:xfrm>
              <a:off x="533400" y="2230755"/>
              <a:ext cx="4111942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6772" y="2362200"/>
              <a:ext cx="4362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φᵢ(j)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36379" y="2362200"/>
              <a:ext cx="2496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j=1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07929" y="2362200"/>
              <a:ext cx="2496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j=2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68062" y="2362200"/>
              <a:ext cx="2496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j=3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60227" y="2791777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21840" y="2791777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48966" y="2791777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42372" y="279177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086100"/>
              <a:ext cx="41119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3090862"/>
              <a:ext cx="411194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60227" y="3222307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21840" y="3222307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48966" y="3222307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864674" y="3222307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0.992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516630"/>
              <a:ext cx="41119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0227" y="365283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21840" y="3652838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848966" y="3652838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64674" y="3652838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0.875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2230755"/>
              <a:ext cx="4111942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592580" y="2230755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520315" y="2230755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536632" y="2230755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1-card-2"/>
          <p:cNvGrpSpPr/>
          <p:nvPr/>
        </p:nvGrpSpPr>
        <p:grpSpPr>
          <a:xfrm>
            <a:off x="533400" y="4136708"/>
            <a:ext cx="4111942" cy="2178368"/>
            <a:chOff x="533400" y="4136708"/>
            <a:chExt cx="4111942" cy="2178368"/>
          </a:xfrm>
        </p:grpSpPr>
        <p:sp>
          <p:nvSpPr>
            <p:cNvPr id="34" name="Rectangle 34"/>
            <p:cNvSpPr/>
            <p:nvPr/>
          </p:nvSpPr>
          <p:spPr>
            <a:xfrm>
              <a:off x="533400" y="4136708"/>
              <a:ext cx="4111942" cy="2178368"/>
            </a:xfrm>
            <a:prstGeom prst="roundRect">
              <a:avLst>
                <a:gd name="adj" fmla="val 61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4270058"/>
              <a:ext cx="47625" cy="191166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75335" y="434054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7644" y="43762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成本上限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82955" y="477393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39546" y="4713446"/>
              <a:ext cx="28970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 S¹：x ≤ 105 − (15+20) = 70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82955" y="509397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39546" y="5033486"/>
              <a:ext cx="23713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 S²：x ≤ 105 − 20 = 85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82955" y="541401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39546" y="5353526"/>
              <a:ext cx="1511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 S³：x ≤ 105</a:t>
              </a:r>
            </a:p>
          </p:txBody>
        </p:sp>
      </p:grpSp>
      <p:grpSp>
        <p:nvGrpSpPr>
          <p:cNvPr id="87" name="c2-table-1"/>
          <p:cNvGrpSpPr/>
          <p:nvPr/>
        </p:nvGrpSpPr>
        <p:grpSpPr>
          <a:xfrm>
            <a:off x="4950142" y="2230755"/>
            <a:ext cx="6708458" cy="4085273"/>
            <a:chOff x="4950142" y="2230755"/>
            <a:chExt cx="6708458" cy="4085273"/>
          </a:xfrm>
        </p:grpSpPr>
        <p:sp>
          <p:nvSpPr>
            <p:cNvPr id="45" name="Rectangle 45"/>
            <p:cNvSpPr/>
            <p:nvPr/>
          </p:nvSpPr>
          <p:spPr>
            <a:xfrm>
              <a:off x="4950142" y="2230755"/>
              <a:ext cx="6708458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184458" y="23622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集合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45322" y="2362200"/>
              <a:ext cx="9035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序偶 (f, x)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81235" y="23622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247429" y="2791777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860352" y="2791777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(1, 0)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950142" y="308610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4950142" y="3090862"/>
              <a:ext cx="670845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198143" y="3222307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S¹₁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860352" y="3222307"/>
              <a:ext cx="7714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(0.9, 30)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543544" y="3222307"/>
              <a:ext cx="5742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一台 D₁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4950142" y="351663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198143" y="3652838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S¹₂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860352" y="3652838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(0.99, 60)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543544" y="3652838"/>
              <a:ext cx="5742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两台 D₁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950142" y="394620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4950142" y="3950970"/>
              <a:ext cx="670845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247429" y="408241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S¹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764530" y="3960495"/>
              <a:ext cx="2664142" cy="41148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860352" y="4082415"/>
              <a:ext cx="17568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(0.9, 30), (0.99, 60)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4950142" y="437673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198143" y="4512945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S²₁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860352" y="4512945"/>
              <a:ext cx="19345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(0.72, 45), (0.792, 75)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543544" y="4512945"/>
              <a:ext cx="15064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0.9×0.8，0.99×0.8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4950142" y="480726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4950142" y="4812030"/>
              <a:ext cx="670845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198143" y="4942522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S²₂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860352" y="4942522"/>
              <a:ext cx="9491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(0.864, 60)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543544" y="4942522"/>
              <a:ext cx="21203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(0.9504, 90) 超过 85，舍去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4950142" y="5236845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198143" y="5373052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S²₃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860352" y="5373052"/>
              <a:ext cx="10379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(0.8928, 75)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543544" y="5373052"/>
              <a:ext cx="22980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(0.98208, 105) 超过 85，舍去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4950142" y="5667375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4950142" y="5672138"/>
              <a:ext cx="6708458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5247429" y="591026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S²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5764530" y="5681662"/>
              <a:ext cx="2664142" cy="62484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860352" y="5803582"/>
              <a:ext cx="19095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(0.72, 45), (0.864, 60),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(0.8928, 75)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543544" y="5910262"/>
              <a:ext cx="26049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(0.792, 75) 被 (0.8928, 75) 支配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4950142" y="2230755"/>
              <a:ext cx="6708458" cy="40843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5750242" y="2230755"/>
              <a:ext cx="9525" cy="40843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8433435" y="2230755"/>
              <a:ext cx="9525" cy="40843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91397" cy="909257"/>
            <a:chOff x="520446" y="342900"/>
            <a:chExt cx="71913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可靠性设计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913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实例：求出 S³ 并回溯，最优配置为 (1, 2, 2)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33400" y="1524000"/>
            <a:ext cx="6167438" cy="3150870"/>
            <a:chOff x="533400" y="1524000"/>
            <a:chExt cx="6167438" cy="31508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167438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2513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集合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44892" y="1659731"/>
              <a:ext cx="13718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 S² 生成的序偶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6568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9730" y="2221706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S³₁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81315" y="2108359"/>
              <a:ext cx="203682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(0.36, 65), (0.432, 80),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(0.4464, 95)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94988" y="2221706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×0.5，成本 +20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616743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39730" y="2783681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S³₂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1315" y="2783681"/>
              <a:ext cx="21582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(0.54, 85), (0.648, 100)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94988" y="2783681"/>
              <a:ext cx="24511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(0.6696, 115) 超过 105，舍去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92768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39730" y="3345656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S³₃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81315" y="3345656"/>
              <a:ext cx="10123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(0.63, 105)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94988" y="3232309"/>
              <a:ext cx="2329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(0.756, 120)、(0.7812, 135)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舍去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68090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772852"/>
              <a:ext cx="6167438" cy="9020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2302" y="413432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S³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283018" y="3782378"/>
              <a:ext cx="2694622" cy="882968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381315" y="4020979"/>
              <a:ext cx="203682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(0.36, 65), (0.432, 80),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(0.54, 85), (0.648, 100)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94988" y="3907631"/>
              <a:ext cx="237007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(0.4464, 95) 被 (0.54, 85) 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配；(0.63, 105) 被 (0.648,</a:t>
              </a:r>
            </a:p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100) 支配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1524000"/>
              <a:ext cx="6167438" cy="31508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268730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982402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1-card-2"/>
          <p:cNvGrpSpPr/>
          <p:nvPr/>
        </p:nvGrpSpPr>
        <p:grpSpPr>
          <a:xfrm>
            <a:off x="533400" y="4865370"/>
            <a:ext cx="6167438" cy="1316355"/>
            <a:chOff x="533400" y="4865370"/>
            <a:chExt cx="6167438" cy="1316355"/>
          </a:xfrm>
        </p:grpSpPr>
        <p:sp>
          <p:nvSpPr>
            <p:cNvPr id="33" name="Rectangle 33"/>
            <p:cNvSpPr/>
            <p:nvPr/>
          </p:nvSpPr>
          <p:spPr>
            <a:xfrm>
              <a:off x="533400" y="4865370"/>
              <a:ext cx="6167438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2925" y="499872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81050" y="507492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71258" y="51106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3430" y="5452110"/>
              <a:ext cx="5492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原课件给出的 S³ 还保留着 (0.4464, 95) 和 (0.63, 105)，没有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按支配规则删去。删去后最优解不变。</a:t>
              </a:r>
            </a:p>
          </p:txBody>
        </p:sp>
      </p:grpSp>
      <p:grpSp>
        <p:nvGrpSpPr>
          <p:cNvPr id="52" name="c2-steps-1"/>
          <p:cNvGrpSpPr/>
          <p:nvPr/>
        </p:nvGrpSpPr>
        <p:grpSpPr>
          <a:xfrm>
            <a:off x="7005638" y="1533525"/>
            <a:ext cx="4465193" cy="2348198"/>
            <a:chOff x="7005638" y="1533525"/>
            <a:chExt cx="4465193" cy="2348198"/>
          </a:xfrm>
        </p:grpSpPr>
        <p:sp>
          <p:nvSpPr>
            <p:cNvPr id="39" name="Rectangle 39"/>
            <p:cNvSpPr/>
            <p:nvPr/>
          </p:nvSpPr>
          <p:spPr>
            <a:xfrm>
              <a:off x="7138988" y="1676400"/>
              <a:ext cx="19050" cy="17706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7005638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9926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005638" y="24193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99261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005638" y="330422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099261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17118" y="1567815"/>
              <a:ext cx="7583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 m₃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18261" y="1861661"/>
              <a:ext cx="40525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S³ 中 f 最大的序偶 (0.648, 100) 来自 S³₂：m₃=2，来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源序偶为 (0.648÷0.75, 100−40) = (0.864, 60)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17118" y="2453640"/>
              <a:ext cx="7583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 m₂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418261" y="2746534"/>
              <a:ext cx="31747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(0.864, 60) 属于 S²₂：m₂=2，来源序偶为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(0.864÷0.96, 60−30) = (0.9, 30)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17118" y="3338512"/>
              <a:ext cx="7583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 m₁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418261" y="3632359"/>
              <a:ext cx="21600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(0.9, 30) 属于 S¹₁：m₁=1</a:t>
              </a:r>
            </a:p>
          </p:txBody>
        </p:sp>
      </p:grpSp>
      <p:grpSp>
        <p:nvGrpSpPr>
          <p:cNvPr id="58" name="c2-callout-2"/>
          <p:cNvGrpSpPr/>
          <p:nvPr/>
        </p:nvGrpSpPr>
        <p:grpSpPr>
          <a:xfrm>
            <a:off x="7005638" y="4060508"/>
            <a:ext cx="4652962" cy="2121218"/>
            <a:chOff x="7005638" y="4060508"/>
            <a:chExt cx="4652962" cy="2121218"/>
          </a:xfrm>
        </p:grpSpPr>
        <p:sp>
          <p:nvSpPr>
            <p:cNvPr id="53" name="Rectangle 53"/>
            <p:cNvSpPr/>
            <p:nvPr/>
          </p:nvSpPr>
          <p:spPr>
            <a:xfrm>
              <a:off x="7005638" y="4060508"/>
              <a:ext cx="4652962" cy="2121218"/>
            </a:xfrm>
            <a:prstGeom prst="roundRect">
              <a:avLst>
                <a:gd name="adj" fmla="val 5388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210425" y="5020628"/>
              <a:ext cx="200026" cy="200026"/>
              <a:chOff x="7210425" y="5020628"/>
              <a:chExt cx="200026" cy="20002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210425" y="50206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277100" y="509841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7512368" y="4601528"/>
              <a:ext cx="3644265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最优设计 (m₁,m₂,m₃) = (1,2,2)：成本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30+30+40 = 100 元，可靠性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0.9×0.96×0.75 = 0.648。穷举全部可行配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置验证过，没有更好的。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691253" cy="3351847"/>
            <a:chOff x="667512" y="1835468"/>
            <a:chExt cx="4691253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最优二分检索树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按检索概率构造平均比较次数最少的二分检索树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二分检索树与预期成本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139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递推式 C(i,j) 与 W、R 两张辅助表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830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 n=4 的完整计算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314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时间复杂度与 Knuth 优化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最优二分检索树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二分检索树：左小右大，检索时每层比较一次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410200" cy="2637472"/>
            <a:chOff x="533400" y="1524000"/>
            <a:chExt cx="5410200" cy="263747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637472"/>
            </a:xfrm>
            <a:prstGeom prst="roundRect">
              <a:avLst>
                <a:gd name="adj" fmla="val 50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7077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2153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二分检索树 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749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或者为空，或者每个结点含有一个可比较大小的元素，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并且：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50820"/>
              <a:ext cx="38313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的左子树的所有元素比根结点中的元素小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489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86100"/>
              <a:ext cx="38313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的右子树的所有元素比根结点中的元素大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48424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421380"/>
              <a:ext cx="28216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的左、右子树也是二分检索树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4573" y="375332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树中所有结点的元素互不相同。</a:t>
              </a:r>
            </a:p>
          </p:txBody>
        </p:sp>
      </p:grpSp>
      <p:grpSp>
        <p:nvGrpSpPr>
          <p:cNvPr id="35" name="c1-tree-2"/>
          <p:cNvGrpSpPr/>
          <p:nvPr/>
        </p:nvGrpSpPr>
        <p:grpSpPr>
          <a:xfrm>
            <a:off x="1676400" y="4444365"/>
            <a:ext cx="3850005" cy="1675447"/>
            <a:chOff x="1676400" y="4444365"/>
            <a:chExt cx="3850005" cy="1675447"/>
          </a:xfrm>
        </p:grpSpPr>
        <p:sp>
          <p:nvSpPr>
            <p:cNvPr id="21" name="Freeform 21"/>
            <p:cNvSpPr/>
            <p:nvPr/>
          </p:nvSpPr>
          <p:spPr>
            <a:xfrm>
              <a:off x="3914775" y="5256848"/>
              <a:ext cx="676275" cy="603885"/>
            </a:xfrm>
            <a:custGeom>
              <a:avLst/>
              <a:gdLst/>
              <a:ahLst/>
              <a:cxnLst/>
              <a:rect l="l" t="t" r="r" b="b"/>
              <a:pathLst>
                <a:path w="676275" h="603885">
                  <a:moveTo>
                    <a:pt x="676275" y="0"/>
                  </a:moveTo>
                  <a:lnTo>
                    <a:pt x="0" y="6038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591050" y="5256848"/>
              <a:ext cx="676275" cy="603885"/>
            </a:xfrm>
            <a:custGeom>
              <a:avLst/>
              <a:gdLst/>
              <a:ahLst/>
              <a:cxnLst/>
              <a:rect l="l" t="t" r="r" b="b"/>
              <a:pathLst>
                <a:path w="676275" h="603885">
                  <a:moveTo>
                    <a:pt x="0" y="0"/>
                  </a:moveTo>
                  <a:lnTo>
                    <a:pt x="676275" y="6038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885950" y="4653915"/>
              <a:ext cx="1352550" cy="602932"/>
            </a:xfrm>
            <a:custGeom>
              <a:avLst/>
              <a:gdLst/>
              <a:ahLst/>
              <a:cxnLst/>
              <a:rect l="l" t="t" r="r" b="b"/>
              <a:pathLst>
                <a:path w="1352550" h="602932">
                  <a:moveTo>
                    <a:pt x="1352550" y="0"/>
                  </a:moveTo>
                  <a:lnTo>
                    <a:pt x="0" y="60293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238500" y="4653915"/>
              <a:ext cx="1352550" cy="602932"/>
            </a:xfrm>
            <a:custGeom>
              <a:avLst/>
              <a:gdLst/>
              <a:ahLst/>
              <a:cxnLst/>
              <a:rect l="l" t="t" r="r" b="b"/>
              <a:pathLst>
                <a:path w="1352550" h="602932">
                  <a:moveTo>
                    <a:pt x="0" y="0"/>
                  </a:moveTo>
                  <a:lnTo>
                    <a:pt x="1352550" y="60293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1676400" y="504729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3692842" y="5638800"/>
              <a:ext cx="443865" cy="4438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5008245" y="5601652"/>
              <a:ext cx="518160" cy="5181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4268152" y="4933950"/>
              <a:ext cx="645795" cy="6457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3028950" y="444436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749627" y="5186839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54705" y="5790724"/>
              <a:ext cx="320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loop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67676" y="5790724"/>
              <a:ext cx="3992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24118" y="5186839"/>
              <a:ext cx="53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repeat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65502" y="4583906"/>
              <a:ext cx="145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</p:grpSp>
      <p:grpSp>
        <p:nvGrpSpPr>
          <p:cNvPr id="39" name="c2-code-1"/>
          <p:cNvGrpSpPr/>
          <p:nvPr/>
        </p:nvGrpSpPr>
        <p:grpSpPr>
          <a:xfrm>
            <a:off x="6248400" y="1524000"/>
            <a:ext cx="5410200" cy="2530792"/>
            <a:chOff x="6248400" y="1524000"/>
            <a:chExt cx="5410200" cy="2530792"/>
          </a:xfrm>
        </p:grpSpPr>
        <p:sp>
          <p:nvSpPr>
            <p:cNvPr id="36" name="Rectangle 36"/>
            <p:cNvSpPr/>
            <p:nvPr/>
          </p:nvSpPr>
          <p:spPr>
            <a:xfrm>
              <a:off x="6248400" y="1524000"/>
              <a:ext cx="5410200" cy="2530792"/>
            </a:xfrm>
            <a:prstGeom prst="roundRect">
              <a:avLst>
                <a:gd name="adj" fmla="val 376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76797" y="167592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二分检索树的检索算法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76035" y="1937861"/>
              <a:ext cx="2671318" cy="2045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SEARCH(T, X, i)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 ← 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while i ≠ 0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case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:X &lt; IDENT(i): i ← LCHILD(i)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:X = IDENT(i): return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:X &gt; IDENT(i): i ← RCHILD(i)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endcase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SEARCH</a:t>
              </a:r>
            </a:p>
          </p:txBody>
        </p:sp>
      </p:grpSp>
      <p:grpSp>
        <p:nvGrpSpPr>
          <p:cNvPr id="48" name="c2-kv-2"/>
          <p:cNvGrpSpPr/>
          <p:nvPr/>
        </p:nvGrpSpPr>
        <p:grpSpPr>
          <a:xfrm>
            <a:off x="6240780" y="4270058"/>
            <a:ext cx="5417820" cy="1455420"/>
            <a:chOff x="6240780" y="4270058"/>
            <a:chExt cx="5417820" cy="1455420"/>
          </a:xfrm>
        </p:grpSpPr>
        <p:sp>
          <p:nvSpPr>
            <p:cNvPr id="40" name="TextBox 40"/>
            <p:cNvSpPr txBox="1"/>
            <p:nvPr/>
          </p:nvSpPr>
          <p:spPr>
            <a:xfrm>
              <a:off x="6240780" y="427005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结点信息段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80935" y="4270058"/>
              <a:ext cx="22539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LCHILD、RCHILD、IDENT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45900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40780" y="471011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检索过程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80935" y="4710112"/>
              <a:ext cx="39871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比根小就查左子树，相等则成功，比根大就查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右子树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53120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240780" y="543210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80935" y="5432108"/>
              <a:ext cx="39065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不在 T 中时 i=0；否则 i 满足 IDENT(i)=X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最优二分检索树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同一组标识符，树的形状不同，检索代价也不同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607138" cy="278702"/>
            <a:chOff x="526161" y="1547336"/>
            <a:chExt cx="8607138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6071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标识符集 (a₁,a₂,a₃,a₄,a₅) = (for, if, loop, repeat, while)，下面两棵都是合法的二分检索树。</a:t>
              </a:r>
            </a:p>
          </p:txBody>
        </p:sp>
      </p:grpSp>
      <p:grpSp>
        <p:nvGrpSpPr>
          <p:cNvPr id="23" name="c1-tree-1"/>
          <p:cNvGrpSpPr/>
          <p:nvPr/>
        </p:nvGrpSpPr>
        <p:grpSpPr>
          <a:xfrm>
            <a:off x="1130618" y="2065020"/>
            <a:ext cx="2016442" cy="2288857"/>
            <a:chOff x="1130618" y="2065020"/>
            <a:chExt cx="2016442" cy="2288857"/>
          </a:xfrm>
        </p:grpSpPr>
        <p:sp>
          <p:nvSpPr>
            <p:cNvPr id="9" name="Freeform 9"/>
            <p:cNvSpPr/>
            <p:nvPr/>
          </p:nvSpPr>
          <p:spPr>
            <a:xfrm>
              <a:off x="2307908" y="3512820"/>
              <a:ext cx="197167" cy="628650"/>
            </a:xfrm>
            <a:custGeom>
              <a:avLst/>
              <a:gdLst/>
              <a:ahLst/>
              <a:cxnLst/>
              <a:rect l="l" t="t" r="r" b="b"/>
              <a:pathLst>
                <a:path w="197167" h="628650">
                  <a:moveTo>
                    <a:pt x="197167" y="0"/>
                  </a:moveTo>
                  <a:lnTo>
                    <a:pt x="0" y="6286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505075" y="2884170"/>
              <a:ext cx="394335" cy="628650"/>
            </a:xfrm>
            <a:custGeom>
              <a:avLst/>
              <a:gdLst/>
              <a:ahLst/>
              <a:cxnLst/>
              <a:rect l="l" t="t" r="r" b="b"/>
              <a:pathLst>
                <a:path w="394335" h="628650">
                  <a:moveTo>
                    <a:pt x="394335" y="0"/>
                  </a:moveTo>
                  <a:lnTo>
                    <a:pt x="0" y="6286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322070" y="2255520"/>
              <a:ext cx="788670" cy="628650"/>
            </a:xfrm>
            <a:custGeom>
              <a:avLst/>
              <a:gdLst/>
              <a:ahLst/>
              <a:cxnLst/>
              <a:rect l="l" t="t" r="r" b="b"/>
              <a:pathLst>
                <a:path w="788670" h="628650">
                  <a:moveTo>
                    <a:pt x="788670" y="0"/>
                  </a:moveTo>
                  <a:lnTo>
                    <a:pt x="0" y="6286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110740" y="2255520"/>
              <a:ext cx="788670" cy="628650"/>
            </a:xfrm>
            <a:custGeom>
              <a:avLst/>
              <a:gdLst/>
              <a:ahLst/>
              <a:cxnLst/>
              <a:rect l="l" t="t" r="r" b="b"/>
              <a:pathLst>
                <a:path w="788670" h="628650">
                  <a:moveTo>
                    <a:pt x="0" y="0"/>
                  </a:moveTo>
                  <a:lnTo>
                    <a:pt x="788670" y="6286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130618" y="2692718"/>
              <a:ext cx="382905" cy="3829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2095500" y="3929062"/>
              <a:ext cx="424815" cy="4248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2197418" y="3205162"/>
              <a:ext cx="615315" cy="6153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651760" y="2636520"/>
              <a:ext cx="495300" cy="495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920240" y="206502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94291" y="281844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57865" y="4075748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loop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254850" y="3447098"/>
              <a:ext cx="50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repeat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12263" y="2818448"/>
              <a:ext cx="3742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while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42328" y="2190750"/>
              <a:ext cx="1368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</p:grpSp>
      <p:grpSp>
        <p:nvGrpSpPr>
          <p:cNvPr id="25" name="c1-text-2"/>
          <p:cNvGrpSpPr/>
          <p:nvPr/>
        </p:nvGrpSpPr>
        <p:grpSpPr>
          <a:xfrm>
            <a:off x="1181532" y="4648676"/>
            <a:ext cx="1858416" cy="220028"/>
            <a:chOff x="1181532" y="4648676"/>
            <a:chExt cx="1858416" cy="220028"/>
          </a:xfrm>
        </p:grpSpPr>
        <p:sp>
          <p:nvSpPr>
            <p:cNvPr id="24" name="TextBox 24"/>
            <p:cNvSpPr txBox="1"/>
            <p:nvPr/>
          </p:nvSpPr>
          <p:spPr>
            <a:xfrm>
              <a:off x="1181532" y="4648676"/>
              <a:ext cx="1858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图a：最深的 loop 在第 4 层</a:t>
              </a:r>
            </a:p>
          </p:txBody>
        </p:sp>
      </p:grpSp>
      <p:grpSp>
        <p:nvGrpSpPr>
          <p:cNvPr id="28" name="c1-text-3"/>
          <p:cNvGrpSpPr/>
          <p:nvPr/>
        </p:nvGrpSpPr>
        <p:grpSpPr>
          <a:xfrm>
            <a:off x="527685" y="5018246"/>
            <a:ext cx="1896110" cy="483871"/>
            <a:chOff x="527685" y="5018246"/>
            <a:chExt cx="1896110" cy="483871"/>
          </a:xfrm>
        </p:grpSpPr>
        <p:sp>
          <p:nvSpPr>
            <p:cNvPr id="26" name="TextBox 26"/>
            <p:cNvSpPr txBox="1"/>
            <p:nvPr/>
          </p:nvSpPr>
          <p:spPr>
            <a:xfrm>
              <a:off x="527685" y="5018246"/>
              <a:ext cx="1896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层数：if 1、for 2、while 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7685" y="5282089"/>
              <a:ext cx="18734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repeat 3、loop 4，合计 12</a:t>
              </a:r>
            </a:p>
          </p:txBody>
        </p:sp>
      </p:grpSp>
      <p:grpSp>
        <p:nvGrpSpPr>
          <p:cNvPr id="43" name="c2-tree-1"/>
          <p:cNvGrpSpPr/>
          <p:nvPr/>
        </p:nvGrpSpPr>
        <p:grpSpPr>
          <a:xfrm>
            <a:off x="4590098" y="2169795"/>
            <a:ext cx="2410777" cy="2114550"/>
            <a:chOff x="4590098" y="2169795"/>
            <a:chExt cx="2410777" cy="2114550"/>
          </a:xfrm>
        </p:grpSpPr>
        <p:sp>
          <p:nvSpPr>
            <p:cNvPr id="29" name="Freeform 29"/>
            <p:cNvSpPr/>
            <p:nvPr/>
          </p:nvSpPr>
          <p:spPr>
            <a:xfrm>
              <a:off x="5964555" y="3198495"/>
              <a:ext cx="394335" cy="838200"/>
            </a:xfrm>
            <a:custGeom>
              <a:avLst/>
              <a:gdLst/>
              <a:ahLst/>
              <a:cxnLst/>
              <a:rect l="l" t="t" r="r" b="b"/>
              <a:pathLst>
                <a:path w="394335" h="838200">
                  <a:moveTo>
                    <a:pt x="394335" y="0"/>
                  </a:moveTo>
                  <a:lnTo>
                    <a:pt x="0" y="8382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6358890" y="3198495"/>
              <a:ext cx="394335" cy="838200"/>
            </a:xfrm>
            <a:custGeom>
              <a:avLst/>
              <a:gdLst/>
              <a:ahLst/>
              <a:cxnLst/>
              <a:rect l="l" t="t" r="r" b="b"/>
              <a:pathLst>
                <a:path w="394335" h="838200">
                  <a:moveTo>
                    <a:pt x="0" y="0"/>
                  </a:moveTo>
                  <a:lnTo>
                    <a:pt x="394335" y="8382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4781550" y="2360295"/>
              <a:ext cx="788670" cy="838200"/>
            </a:xfrm>
            <a:custGeom>
              <a:avLst/>
              <a:gdLst/>
              <a:ahLst/>
              <a:cxnLst/>
              <a:rect l="l" t="t" r="r" b="b"/>
              <a:pathLst>
                <a:path w="788670" h="838200">
                  <a:moveTo>
                    <a:pt x="788670" y="0"/>
                  </a:moveTo>
                  <a:lnTo>
                    <a:pt x="0" y="8382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5570220" y="2360295"/>
              <a:ext cx="788670" cy="838200"/>
            </a:xfrm>
            <a:custGeom>
              <a:avLst/>
              <a:gdLst/>
              <a:ahLst/>
              <a:cxnLst/>
              <a:rect l="l" t="t" r="r" b="b"/>
              <a:pathLst>
                <a:path w="788670" h="838200">
                  <a:moveTo>
                    <a:pt x="0" y="0"/>
                  </a:moveTo>
                  <a:lnTo>
                    <a:pt x="788670" y="8382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4590098" y="3007042"/>
              <a:ext cx="382905" cy="3829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5752148" y="3824288"/>
              <a:ext cx="424815" cy="4248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505575" y="3789045"/>
              <a:ext cx="495300" cy="495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6051233" y="2890838"/>
              <a:ext cx="615315" cy="6153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5379720" y="2169795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653771" y="3132773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814513" y="3970973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loop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66078" y="3970973"/>
              <a:ext cx="3742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while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108665" y="3132773"/>
              <a:ext cx="50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repeat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501808" y="2295525"/>
              <a:ext cx="1368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</p:grpSp>
      <p:grpSp>
        <p:nvGrpSpPr>
          <p:cNvPr id="45" name="c2-text-2"/>
          <p:cNvGrpSpPr/>
          <p:nvPr/>
        </p:nvGrpSpPr>
        <p:grpSpPr>
          <a:xfrm>
            <a:off x="4682475" y="4648676"/>
            <a:ext cx="1775490" cy="220028"/>
            <a:chOff x="4682475" y="4648676"/>
            <a:chExt cx="1775490" cy="220028"/>
          </a:xfrm>
        </p:grpSpPr>
        <p:sp>
          <p:nvSpPr>
            <p:cNvPr id="44" name="TextBox 44"/>
            <p:cNvSpPr txBox="1"/>
            <p:nvPr/>
          </p:nvSpPr>
          <p:spPr>
            <a:xfrm>
              <a:off x="4682475" y="4648676"/>
              <a:ext cx="1775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图b：最深的结点在第 3 层</a:t>
              </a:r>
            </a:p>
          </p:txBody>
        </p:sp>
      </p:grpSp>
      <p:grpSp>
        <p:nvGrpSpPr>
          <p:cNvPr id="48" name="c2-text-3"/>
          <p:cNvGrpSpPr/>
          <p:nvPr/>
        </p:nvGrpSpPr>
        <p:grpSpPr>
          <a:xfrm>
            <a:off x="3987165" y="5018246"/>
            <a:ext cx="2024268" cy="483871"/>
            <a:chOff x="3987165" y="5018246"/>
            <a:chExt cx="2024268" cy="483871"/>
          </a:xfrm>
        </p:grpSpPr>
        <p:sp>
          <p:nvSpPr>
            <p:cNvPr id="46" name="TextBox 46"/>
            <p:cNvSpPr txBox="1"/>
            <p:nvPr/>
          </p:nvSpPr>
          <p:spPr>
            <a:xfrm>
              <a:off x="3987165" y="5018246"/>
              <a:ext cx="20242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层数：if 1、for 2、repeat 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987165" y="5282089"/>
              <a:ext cx="17453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loop 3、while 3，合计 11</a:t>
              </a:r>
            </a:p>
          </p:txBody>
        </p:sp>
      </p:grpSp>
      <p:grpSp>
        <p:nvGrpSpPr>
          <p:cNvPr id="65" name="c3-table-1"/>
          <p:cNvGrpSpPr/>
          <p:nvPr/>
        </p:nvGrpSpPr>
        <p:grpSpPr>
          <a:xfrm>
            <a:off x="7447026" y="1941195"/>
            <a:ext cx="4211574" cy="1684592"/>
            <a:chOff x="7447026" y="1941195"/>
            <a:chExt cx="4211574" cy="1684592"/>
          </a:xfrm>
        </p:grpSpPr>
        <p:sp>
          <p:nvSpPr>
            <p:cNvPr id="49" name="Rectangle 49"/>
            <p:cNvSpPr/>
            <p:nvPr/>
          </p:nvSpPr>
          <p:spPr>
            <a:xfrm>
              <a:off x="7452360" y="1941195"/>
              <a:ext cx="420624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354771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比较次数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194747" y="2065496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图a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087239" y="2065496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图b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52372" y="24712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最坏情况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272207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164700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452360" y="2747962"/>
              <a:ext cx="4206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452360" y="2752725"/>
              <a:ext cx="4206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552372" y="2877026"/>
              <a:ext cx="19786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平均（每个标识符概率 1/5）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147818" y="287702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12/5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040311" y="287702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11/5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452360" y="1941195"/>
              <a:ext cx="4206240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9867900" y="194119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10760392" y="194119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447026" y="3233738"/>
              <a:ext cx="358444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平均次数 = 各结点层数之和 ÷ 5：图a 为 1+2+2+3+4，图b 为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1+2+2+3+3</a:t>
              </a:r>
            </a:p>
          </p:txBody>
        </p:sp>
      </p:grpSp>
      <p:grpSp>
        <p:nvGrpSpPr>
          <p:cNvPr id="72" name="c3-card-2"/>
          <p:cNvGrpSpPr/>
          <p:nvPr/>
        </p:nvGrpSpPr>
        <p:grpSpPr>
          <a:xfrm>
            <a:off x="7452360" y="3759518"/>
            <a:ext cx="4206240" cy="1937385"/>
            <a:chOff x="7452360" y="3759518"/>
            <a:chExt cx="4206240" cy="1937385"/>
          </a:xfrm>
        </p:grpSpPr>
        <p:sp>
          <p:nvSpPr>
            <p:cNvPr id="66" name="Rectangle 66"/>
            <p:cNvSpPr/>
            <p:nvPr/>
          </p:nvSpPr>
          <p:spPr>
            <a:xfrm>
              <a:off x="7452360" y="3759518"/>
              <a:ext cx="4206240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7461885" y="3892868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7682865" y="395192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766304" y="398621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问题描述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676007" y="4308158"/>
              <a:ext cx="36141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已知一个固定的标识符集合，构造一棵使平均检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索次数最小的二分检索树，称为最优二分检索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树。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677150" y="5121116"/>
              <a:ext cx="35674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一般情况下各标识符被检索的概率不同，而且还有检索不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成功的情况。</a:t>
              </a:r>
            </a:p>
          </p:txBody>
        </p:sp>
      </p:grpSp>
      <p:grpSp>
        <p:nvGrpSpPr>
          <p:cNvPr id="7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3" name="Rectangle 7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40892" y="6023610"/>
              <a:ext cx="102148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按字典序插入会退化成链（层数和 15、最坏 5 次）；n=5 的标识符集共有 42 棵不同树形（Catalan 数），逐棵算成本行不通。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最优二分检索树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预期成本：成功检索停在内结点，不成功检索停在外结点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kv-1"/>
          <p:cNvGrpSpPr/>
          <p:nvPr/>
        </p:nvGrpSpPr>
        <p:grpSpPr>
          <a:xfrm>
            <a:off x="525780" y="1548765"/>
            <a:ext cx="5093018" cy="2177415"/>
            <a:chOff x="525780" y="1548765"/>
            <a:chExt cx="5093018" cy="217741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178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内结点 aᵢ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60207" y="1548765"/>
              <a:ext cx="35013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圆结点，表示给定的 n 个标识符 a₁&lt;a₂&lt;…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&lt;aₙ，对应 n 种成功检索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150745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270760"/>
              <a:ext cx="9346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外结点 Eᵢ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0207" y="2270760"/>
              <a:ext cx="37395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方结点，表示 aᵢ&lt;X&lt;aᵢ₊₁ 的不成功检索，共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n+1 个（a₀=−∞，aₙ₊₁=+∞）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872740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992755"/>
              <a:ext cx="4403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P(i)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60207" y="2992755"/>
              <a:ext cx="23130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检索 X=aᵢ 的概率，1≤i≤n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312795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80" y="3432810"/>
              <a:ext cx="4839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Q(i)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60207" y="3432810"/>
              <a:ext cx="28735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检索 aᵢ&lt;X&lt;aᵢ₊₁ 的概率，0≤i≤n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formula56"/>
              <p:cNvSpPr txBox="1">
                <a:spLocks noGrp="1"/>
              </p:cNvSpPr>
              <p:nvPr/>
            </p:nvSpPr>
            <p:spPr>
              <a:xfrm>
                <a:off x="533400" y="3857625"/>
                <a:ext cx="5085398" cy="691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  <m:sup/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  <m:sup/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0" name="c1-graph-3"/>
          <p:cNvGrpSpPr/>
          <p:nvPr/>
        </p:nvGrpSpPr>
        <p:grpSpPr>
          <a:xfrm>
            <a:off x="718185" y="4756785"/>
            <a:ext cx="4715827" cy="1515046"/>
            <a:chOff x="718185" y="4756785"/>
            <a:chExt cx="4715827" cy="1515046"/>
          </a:xfrm>
        </p:grpSpPr>
        <p:sp>
          <p:nvSpPr>
            <p:cNvPr id="20" name="Freeform 20"/>
            <p:cNvSpPr/>
            <p:nvPr/>
          </p:nvSpPr>
          <p:spPr>
            <a:xfrm>
              <a:off x="1043940" y="5686425"/>
              <a:ext cx="401955" cy="321945"/>
            </a:xfrm>
            <a:custGeom>
              <a:avLst/>
              <a:gdLst/>
              <a:ahLst/>
              <a:cxnLst/>
              <a:rect l="l" t="t" r="r" b="b"/>
              <a:pathLst>
                <a:path w="401955" h="321945">
                  <a:moveTo>
                    <a:pt x="401955" y="0"/>
                  </a:moveTo>
                  <a:lnTo>
                    <a:pt x="0" y="3219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820228" y="5047298"/>
              <a:ext cx="1052513" cy="421005"/>
            </a:xfrm>
            <a:custGeom>
              <a:avLst/>
              <a:gdLst/>
              <a:ahLst/>
              <a:cxnLst/>
              <a:rect l="l" t="t" r="r" b="b"/>
              <a:pathLst>
                <a:path w="1052513" h="421005">
                  <a:moveTo>
                    <a:pt x="1052513" y="0"/>
                  </a:moveTo>
                  <a:lnTo>
                    <a:pt x="0" y="4210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787842" y="5685472"/>
              <a:ext cx="405765" cy="322897"/>
            </a:xfrm>
            <a:custGeom>
              <a:avLst/>
              <a:gdLst/>
              <a:ahLst/>
              <a:cxnLst/>
              <a:rect l="l" t="t" r="r" b="b"/>
              <a:pathLst>
                <a:path w="405765" h="322897">
                  <a:moveTo>
                    <a:pt x="0" y="0"/>
                  </a:moveTo>
                  <a:lnTo>
                    <a:pt x="405765" y="3228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3958590" y="5685472"/>
              <a:ext cx="405765" cy="322897"/>
            </a:xfrm>
            <a:custGeom>
              <a:avLst/>
              <a:gdLst/>
              <a:ahLst/>
              <a:cxnLst/>
              <a:rect l="l" t="t" r="r" b="b"/>
              <a:pathLst>
                <a:path w="405765" h="322897">
                  <a:moveTo>
                    <a:pt x="405765" y="0"/>
                  </a:moveTo>
                  <a:lnTo>
                    <a:pt x="0" y="3228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279458" y="5047298"/>
              <a:ext cx="1052512" cy="421005"/>
            </a:xfrm>
            <a:custGeom>
              <a:avLst/>
              <a:gdLst/>
              <a:ahLst/>
              <a:cxnLst/>
              <a:rect l="l" t="t" r="r" b="b"/>
              <a:pathLst>
                <a:path w="1052512" h="421005">
                  <a:moveTo>
                    <a:pt x="0" y="0"/>
                  </a:moveTo>
                  <a:lnTo>
                    <a:pt x="1052512" y="4210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4706302" y="5686425"/>
              <a:ext cx="401955" cy="321945"/>
            </a:xfrm>
            <a:custGeom>
              <a:avLst/>
              <a:gdLst/>
              <a:ahLst/>
              <a:cxnLst/>
              <a:rect l="l" t="t" r="r" b="b"/>
              <a:pathLst>
                <a:path w="401955" h="321945">
                  <a:moveTo>
                    <a:pt x="0" y="0"/>
                  </a:moveTo>
                  <a:lnTo>
                    <a:pt x="401955" y="3219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718185" y="6008370"/>
              <a:ext cx="342900" cy="247650"/>
            </a:xfrm>
            <a:prstGeom prst="roundRect">
              <a:avLst>
                <a:gd name="adj" fmla="val 15385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1406842" y="533971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177415" y="6008370"/>
              <a:ext cx="342900" cy="247650"/>
            </a:xfrm>
            <a:prstGeom prst="roundRect">
              <a:avLst>
                <a:gd name="adj" fmla="val 15385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2867025" y="475678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631882" y="6008370"/>
              <a:ext cx="342900" cy="247650"/>
            </a:xfrm>
            <a:prstGeom prst="roundRect">
              <a:avLst>
                <a:gd name="adj" fmla="val 15385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4326255" y="533971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091112" y="6008370"/>
              <a:ext cx="342900" cy="247650"/>
            </a:xfrm>
            <a:prstGeom prst="roundRect">
              <a:avLst>
                <a:gd name="adj" fmla="val 15385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98050" y="606647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29428" y="548354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257280" y="606647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008163" y="4900612"/>
              <a:ext cx="1368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711748" y="606647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367211" y="548354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stop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170978" y="606647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E3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5923598" y="1524000"/>
            <a:ext cx="5735002" cy="2795588"/>
            <a:chOff x="5923598" y="1524000"/>
            <a:chExt cx="5735002" cy="2795588"/>
          </a:xfrm>
        </p:grpSpPr>
        <p:sp>
          <p:nvSpPr>
            <p:cNvPr id="41" name="Rectangle 41"/>
            <p:cNvSpPr/>
            <p:nvPr/>
          </p:nvSpPr>
          <p:spPr>
            <a:xfrm>
              <a:off x="5923598" y="1524000"/>
              <a:ext cx="5735002" cy="2795588"/>
            </a:xfrm>
            <a:prstGeom prst="roundRect">
              <a:avLst>
                <a:gd name="adj" fmla="val 47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933122" y="1657350"/>
              <a:ext cx="47625" cy="252888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171248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53556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预期成本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176962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35078" y="2110740"/>
              <a:ext cx="4625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成功检索停在第 l 层的内结点，循环执行 l 次，aᵢ 贡献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P(i)·level(aᵢ)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176962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35078" y="273177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不成功检索停在第 l 层的外结点，循环只执行 l−1 次，Eᵢ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贡献 Q(i)·(level(Eᵢ)−1)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formula57"/>
                <p:cNvSpPr txBox="1">
                  <a:spLocks noGrp="1"/>
                </p:cNvSpPr>
                <p:nvPr/>
              </p:nvSpPr>
              <p:spPr>
                <a:xfrm>
                  <a:off x="6171248" y="3556635"/>
                  <a:ext cx="5277802" cy="5343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COST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  <m:sup/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d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level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  <m:sup/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d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level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6" name="c2-callout-2"/>
          <p:cNvGrpSpPr/>
          <p:nvPr/>
        </p:nvGrpSpPr>
        <p:grpSpPr>
          <a:xfrm>
            <a:off x="5923598" y="4510088"/>
            <a:ext cx="5735002" cy="782955"/>
            <a:chOff x="5923598" y="4510088"/>
            <a:chExt cx="5735002" cy="782955"/>
          </a:xfrm>
        </p:grpSpPr>
        <p:sp>
          <p:nvSpPr>
            <p:cNvPr id="51" name="Rectangle 51"/>
            <p:cNvSpPr/>
            <p:nvPr/>
          </p:nvSpPr>
          <p:spPr>
            <a:xfrm>
              <a:off x="5923598" y="4510088"/>
              <a:ext cx="5735002" cy="782955"/>
            </a:xfrm>
            <a:prstGeom prst="roundRect">
              <a:avLst>
                <a:gd name="adj" fmla="val 1459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128385" y="4801555"/>
              <a:ext cx="200023" cy="200023"/>
              <a:chOff x="6128385" y="4801555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128385" y="480155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261735" y="48682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430328" y="4658678"/>
              <a:ext cx="46920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标识符集 (a₁,…,aₙ) 的最优二分检索树，是所有二分检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索树中使 COST(T) 取最小值的那一棵。</a:t>
              </a:r>
            </a:p>
          </p:txBody>
        </p:sp>
      </p:grpSp>
      <p:grpSp>
        <p:nvGrpSpPr>
          <p:cNvPr id="63" name="c2-callout-3"/>
          <p:cNvGrpSpPr/>
          <p:nvPr/>
        </p:nvGrpSpPr>
        <p:grpSpPr>
          <a:xfrm>
            <a:off x="5923598" y="5483542"/>
            <a:ext cx="5735002" cy="875348"/>
            <a:chOff x="5923598" y="5483542"/>
            <a:chExt cx="5735002" cy="875348"/>
          </a:xfrm>
        </p:grpSpPr>
        <p:sp>
          <p:nvSpPr>
            <p:cNvPr id="57" name="Rectangle 57"/>
            <p:cNvSpPr/>
            <p:nvPr/>
          </p:nvSpPr>
          <p:spPr>
            <a:xfrm>
              <a:off x="5923598" y="5483542"/>
              <a:ext cx="5735002" cy="875348"/>
            </a:xfrm>
            <a:prstGeom prst="roundRect">
              <a:avLst>
                <a:gd name="adj" fmla="val 1305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128385" y="5821680"/>
              <a:ext cx="200026" cy="200025"/>
              <a:chOff x="6128385" y="5821680"/>
              <a:chExt cx="200026" cy="20002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128385" y="58216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168124" y="58661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202839" y="59772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430328" y="5678805"/>
              <a:ext cx="46348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左图是 (do, if, stop) 的一棵树：if 在第 1 层；E₀ 到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E₃ 都在第 3 层，各自只比较 2 次。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62660" cy="909257"/>
            <a:chOff x="520446" y="342900"/>
            <a:chExt cx="52626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最优二分检索树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626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n=3 时共有 5 棵不同的二分检索树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845046" cy="293370"/>
            <a:chOff x="525780" y="1548765"/>
            <a:chExt cx="6845046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8450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标识符集 (a₁,a₂,a₃) = (do, if, stop)，3 个内结点、4 个外结点 E₀~E₃。</a:t>
              </a:r>
            </a:p>
          </p:txBody>
        </p:sp>
      </p:grpSp>
      <p:grpSp>
        <p:nvGrpSpPr>
          <p:cNvPr id="30" name="c1-graph-1"/>
          <p:cNvGrpSpPr/>
          <p:nvPr/>
        </p:nvGrpSpPr>
        <p:grpSpPr>
          <a:xfrm>
            <a:off x="528066" y="1987868"/>
            <a:ext cx="3425761" cy="1785651"/>
            <a:chOff x="528066" y="1987868"/>
            <a:chExt cx="3425761" cy="1785651"/>
          </a:xfrm>
        </p:grpSpPr>
        <p:sp>
          <p:nvSpPr>
            <p:cNvPr id="9" name="Freeform 9"/>
            <p:cNvSpPr/>
            <p:nvPr/>
          </p:nvSpPr>
          <p:spPr>
            <a:xfrm>
              <a:off x="915352" y="3349942"/>
              <a:ext cx="207645" cy="177165"/>
            </a:xfrm>
            <a:custGeom>
              <a:avLst/>
              <a:gdLst/>
              <a:ahLst/>
              <a:cxnLst/>
              <a:rect l="l" t="t" r="r" b="b"/>
              <a:pathLst>
                <a:path w="207645" h="177165">
                  <a:moveTo>
                    <a:pt x="207645" y="0"/>
                  </a:moveTo>
                  <a:lnTo>
                    <a:pt x="0" y="1771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469708" y="2867025"/>
              <a:ext cx="626745" cy="267653"/>
            </a:xfrm>
            <a:custGeom>
              <a:avLst/>
              <a:gdLst/>
              <a:ahLst/>
              <a:cxnLst/>
              <a:rect l="l" t="t" r="r" b="b"/>
              <a:pathLst>
                <a:path w="626745" h="267653">
                  <a:moveTo>
                    <a:pt x="626745" y="0"/>
                  </a:moveTo>
                  <a:lnTo>
                    <a:pt x="0" y="26765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437322" y="3348990"/>
              <a:ext cx="210502" cy="178117"/>
            </a:xfrm>
            <a:custGeom>
              <a:avLst/>
              <a:gdLst/>
              <a:ahLst/>
              <a:cxnLst/>
              <a:rect l="l" t="t" r="r" b="b"/>
              <a:pathLst>
                <a:path w="210502" h="178117">
                  <a:moveTo>
                    <a:pt x="0" y="0"/>
                  </a:moveTo>
                  <a:lnTo>
                    <a:pt x="210502" y="1781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476500" y="2439352"/>
              <a:ext cx="625792" cy="265747"/>
            </a:xfrm>
            <a:custGeom>
              <a:avLst/>
              <a:gdLst/>
              <a:ahLst/>
              <a:cxnLst/>
              <a:rect l="l" t="t" r="r" b="b"/>
              <a:pathLst>
                <a:path w="625792" h="265747">
                  <a:moveTo>
                    <a:pt x="625792" y="0"/>
                  </a:moveTo>
                  <a:lnTo>
                    <a:pt x="0" y="26574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443162" y="2920365"/>
              <a:ext cx="208597" cy="179070"/>
            </a:xfrm>
            <a:custGeom>
              <a:avLst/>
              <a:gdLst/>
              <a:ahLst/>
              <a:cxnLst/>
              <a:rect l="l" t="t" r="r" b="b"/>
              <a:pathLst>
                <a:path w="208597" h="179070">
                  <a:moveTo>
                    <a:pt x="0" y="0"/>
                  </a:moveTo>
                  <a:lnTo>
                    <a:pt x="208597" y="1790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449002" y="2492692"/>
              <a:ext cx="207645" cy="177165"/>
            </a:xfrm>
            <a:custGeom>
              <a:avLst/>
              <a:gdLst/>
              <a:ahLst/>
              <a:cxnLst/>
              <a:rect l="l" t="t" r="r" b="b"/>
              <a:pathLst>
                <a:path w="207645" h="177165">
                  <a:moveTo>
                    <a:pt x="0" y="0"/>
                  </a:moveTo>
                  <a:lnTo>
                    <a:pt x="207645" y="1771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17220" y="3527108"/>
              <a:ext cx="321945" cy="232410"/>
            </a:xfrm>
            <a:prstGeom prst="roundRect">
              <a:avLst>
                <a:gd name="adj" fmla="val 1639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082992" y="3018473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624012" y="3527108"/>
              <a:ext cx="321945" cy="232410"/>
            </a:xfrm>
            <a:prstGeom prst="roundRect">
              <a:avLst>
                <a:gd name="adj" fmla="val 1639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2088832" y="2588895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626042" y="3099435"/>
              <a:ext cx="321945" cy="232410"/>
            </a:xfrm>
            <a:prstGeom prst="roundRect">
              <a:avLst>
                <a:gd name="adj" fmla="val 1639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3094673" y="2161222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631882" y="2669858"/>
              <a:ext cx="321945" cy="232410"/>
            </a:xfrm>
            <a:prstGeom prst="roundRect">
              <a:avLst>
                <a:gd name="adj" fmla="val 1639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3691" y="358282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99019" y="315515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99531" y="358282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222174" y="2725579"/>
              <a:ext cx="1276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01561" y="315515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34511" y="2297906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stop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07401" y="272557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8066" y="1987868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图a</a:t>
              </a:r>
            </a:p>
          </p:txBody>
        </p:sp>
      </p:grpSp>
      <p:grpSp>
        <p:nvGrpSpPr>
          <p:cNvPr id="52" name="c1-graph-2"/>
          <p:cNvGrpSpPr/>
          <p:nvPr/>
        </p:nvGrpSpPr>
        <p:grpSpPr>
          <a:xfrm>
            <a:off x="528066" y="4003358"/>
            <a:ext cx="3425761" cy="1785651"/>
            <a:chOff x="528066" y="4003358"/>
            <a:chExt cx="3425761" cy="1785651"/>
          </a:xfrm>
        </p:grpSpPr>
        <p:sp>
          <p:nvSpPr>
            <p:cNvPr id="31" name="Freeform 31"/>
            <p:cNvSpPr/>
            <p:nvPr/>
          </p:nvSpPr>
          <p:spPr>
            <a:xfrm>
              <a:off x="914400" y="4935855"/>
              <a:ext cx="208598" cy="179070"/>
            </a:xfrm>
            <a:custGeom>
              <a:avLst/>
              <a:gdLst/>
              <a:ahLst/>
              <a:cxnLst/>
              <a:rect l="l" t="t" r="r" b="b"/>
              <a:pathLst>
                <a:path w="208598" h="179070">
                  <a:moveTo>
                    <a:pt x="208598" y="0"/>
                  </a:moveTo>
                  <a:lnTo>
                    <a:pt x="0" y="1790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482090" y="4416742"/>
              <a:ext cx="1607820" cy="341948"/>
            </a:xfrm>
            <a:custGeom>
              <a:avLst/>
              <a:gdLst/>
              <a:ahLst/>
              <a:cxnLst/>
              <a:rect l="l" t="t" r="r" b="b"/>
              <a:pathLst>
                <a:path w="1607820" h="341948">
                  <a:moveTo>
                    <a:pt x="1607820" y="0"/>
                  </a:moveTo>
                  <a:lnTo>
                    <a:pt x="0" y="34194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921192" y="5365432"/>
              <a:ext cx="207645" cy="177165"/>
            </a:xfrm>
            <a:custGeom>
              <a:avLst/>
              <a:gdLst/>
              <a:ahLst/>
              <a:cxnLst/>
              <a:rect l="l" t="t" r="r" b="b"/>
              <a:pathLst>
                <a:path w="207645" h="177165">
                  <a:moveTo>
                    <a:pt x="207645" y="0"/>
                  </a:moveTo>
                  <a:lnTo>
                    <a:pt x="0" y="1771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469708" y="4882515"/>
              <a:ext cx="626745" cy="267653"/>
            </a:xfrm>
            <a:custGeom>
              <a:avLst/>
              <a:gdLst/>
              <a:ahLst/>
              <a:cxnLst/>
              <a:rect l="l" t="t" r="r" b="b"/>
              <a:pathLst>
                <a:path w="626745" h="267653">
                  <a:moveTo>
                    <a:pt x="0" y="0"/>
                  </a:moveTo>
                  <a:lnTo>
                    <a:pt x="626745" y="26765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2443162" y="5365432"/>
              <a:ext cx="207645" cy="177165"/>
            </a:xfrm>
            <a:custGeom>
              <a:avLst/>
              <a:gdLst/>
              <a:ahLst/>
              <a:cxnLst/>
              <a:rect l="l" t="t" r="r" b="b"/>
              <a:pathLst>
                <a:path w="207645" h="177165">
                  <a:moveTo>
                    <a:pt x="0" y="0"/>
                  </a:moveTo>
                  <a:lnTo>
                    <a:pt x="207645" y="1771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3449002" y="4508182"/>
              <a:ext cx="207645" cy="177165"/>
            </a:xfrm>
            <a:custGeom>
              <a:avLst/>
              <a:gdLst/>
              <a:ahLst/>
              <a:cxnLst/>
              <a:rect l="l" t="t" r="r" b="b"/>
              <a:pathLst>
                <a:path w="207645" h="177165">
                  <a:moveTo>
                    <a:pt x="0" y="0"/>
                  </a:moveTo>
                  <a:lnTo>
                    <a:pt x="207645" y="1771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17220" y="5114925"/>
              <a:ext cx="321945" cy="232410"/>
            </a:xfrm>
            <a:prstGeom prst="roundRect">
              <a:avLst>
                <a:gd name="adj" fmla="val 1639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1082992" y="4604385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624012" y="5542598"/>
              <a:ext cx="321945" cy="232410"/>
            </a:xfrm>
            <a:prstGeom prst="roundRect">
              <a:avLst>
                <a:gd name="adj" fmla="val 1639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2088832" y="5033962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2626042" y="5542598"/>
              <a:ext cx="321945" cy="232410"/>
            </a:xfrm>
            <a:prstGeom prst="roundRect">
              <a:avLst>
                <a:gd name="adj" fmla="val 1639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3094673" y="4176712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3631882" y="4685348"/>
              <a:ext cx="321945" cy="232410"/>
            </a:xfrm>
            <a:prstGeom prst="roundRect">
              <a:avLst>
                <a:gd name="adj" fmla="val 1639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3691" y="517064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99019" y="474106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699531" y="559831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222174" y="5170646"/>
              <a:ext cx="1276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701561" y="559831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134511" y="4313396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stop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707401" y="474106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28066" y="4003358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图d</a:t>
              </a:r>
            </a:p>
          </p:txBody>
        </p:sp>
      </p:grpSp>
      <p:grpSp>
        <p:nvGrpSpPr>
          <p:cNvPr id="74" name="c2-graph-1"/>
          <p:cNvGrpSpPr/>
          <p:nvPr/>
        </p:nvGrpSpPr>
        <p:grpSpPr>
          <a:xfrm>
            <a:off x="4338066" y="1987868"/>
            <a:ext cx="3425761" cy="1785651"/>
            <a:chOff x="4338066" y="1987868"/>
            <a:chExt cx="3425761" cy="1785651"/>
          </a:xfrm>
        </p:grpSpPr>
        <p:sp>
          <p:nvSpPr>
            <p:cNvPr id="53" name="Freeform 53"/>
            <p:cNvSpPr/>
            <p:nvPr/>
          </p:nvSpPr>
          <p:spPr>
            <a:xfrm>
              <a:off x="4679632" y="3163252"/>
              <a:ext cx="282892" cy="363855"/>
            </a:xfrm>
            <a:custGeom>
              <a:avLst/>
              <a:gdLst/>
              <a:ahLst/>
              <a:cxnLst/>
              <a:rect l="l" t="t" r="r" b="b"/>
              <a:pathLst>
                <a:path w="282892" h="363855">
                  <a:moveTo>
                    <a:pt x="282892" y="0"/>
                  </a:moveTo>
                  <a:lnTo>
                    <a:pt x="0" y="3638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5264468" y="2469832"/>
              <a:ext cx="657225" cy="420052"/>
            </a:xfrm>
            <a:custGeom>
              <a:avLst/>
              <a:gdLst/>
              <a:ahLst/>
              <a:cxnLst/>
              <a:rect l="l" t="t" r="r" b="b"/>
              <a:pathLst>
                <a:path w="657225" h="420052">
                  <a:moveTo>
                    <a:pt x="657225" y="0"/>
                  </a:moveTo>
                  <a:lnTo>
                    <a:pt x="0" y="42005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5217795" y="3163252"/>
              <a:ext cx="285750" cy="363855"/>
            </a:xfrm>
            <a:custGeom>
              <a:avLst/>
              <a:gdLst/>
              <a:ahLst/>
              <a:cxnLst/>
              <a:rect l="l" t="t" r="r" b="b"/>
              <a:pathLst>
                <a:path w="285750" h="363855">
                  <a:moveTo>
                    <a:pt x="0" y="0"/>
                  </a:moveTo>
                  <a:lnTo>
                    <a:pt x="285750" y="3638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6688455" y="3163252"/>
              <a:ext cx="285750" cy="363855"/>
            </a:xfrm>
            <a:custGeom>
              <a:avLst/>
              <a:gdLst/>
              <a:ahLst/>
              <a:cxnLst/>
              <a:rect l="l" t="t" r="r" b="b"/>
              <a:pathLst>
                <a:path w="285750" h="363855">
                  <a:moveTo>
                    <a:pt x="285750" y="0"/>
                  </a:moveTo>
                  <a:lnTo>
                    <a:pt x="0" y="3638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6270308" y="2469832"/>
              <a:ext cx="657225" cy="420052"/>
            </a:xfrm>
            <a:custGeom>
              <a:avLst/>
              <a:gdLst/>
              <a:ahLst/>
              <a:cxnLst/>
              <a:rect l="l" t="t" r="r" b="b"/>
              <a:pathLst>
                <a:path w="657225" h="420052">
                  <a:moveTo>
                    <a:pt x="0" y="0"/>
                  </a:moveTo>
                  <a:lnTo>
                    <a:pt x="657225" y="42005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7229475" y="3163252"/>
              <a:ext cx="282893" cy="363855"/>
            </a:xfrm>
            <a:custGeom>
              <a:avLst/>
              <a:gdLst/>
              <a:ahLst/>
              <a:cxnLst/>
              <a:rect l="l" t="t" r="r" b="b"/>
              <a:pathLst>
                <a:path w="282893" h="363855">
                  <a:moveTo>
                    <a:pt x="0" y="0"/>
                  </a:moveTo>
                  <a:lnTo>
                    <a:pt x="282893" y="3638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4427220" y="3527108"/>
              <a:ext cx="321945" cy="232410"/>
            </a:xfrm>
            <a:prstGeom prst="roundRect">
              <a:avLst>
                <a:gd name="adj" fmla="val 1639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4892992" y="2803208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5434012" y="3527108"/>
              <a:ext cx="321945" cy="232410"/>
            </a:xfrm>
            <a:prstGeom prst="roundRect">
              <a:avLst>
                <a:gd name="adj" fmla="val 1639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5898832" y="2161222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436042" y="3527108"/>
              <a:ext cx="321945" cy="232410"/>
            </a:xfrm>
            <a:prstGeom prst="roundRect">
              <a:avLst>
                <a:gd name="adj" fmla="val 1639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6904672" y="2803208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7441882" y="3527108"/>
              <a:ext cx="321945" cy="232410"/>
            </a:xfrm>
            <a:prstGeom prst="roundRect">
              <a:avLst>
                <a:gd name="adj" fmla="val 1639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503691" y="358282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009019" y="293989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509531" y="358282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032174" y="2297906"/>
              <a:ext cx="1276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511561" y="358282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E2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944511" y="2939891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stop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517401" y="358282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E3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338066" y="1987868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图b</a:t>
              </a:r>
            </a:p>
          </p:txBody>
        </p:sp>
      </p:grpSp>
      <p:grpSp>
        <p:nvGrpSpPr>
          <p:cNvPr id="96" name="c2-graph-2"/>
          <p:cNvGrpSpPr/>
          <p:nvPr/>
        </p:nvGrpSpPr>
        <p:grpSpPr>
          <a:xfrm>
            <a:off x="4338066" y="4003358"/>
            <a:ext cx="3425761" cy="1785651"/>
            <a:chOff x="4338066" y="4003358"/>
            <a:chExt cx="3425761" cy="1785651"/>
          </a:xfrm>
        </p:grpSpPr>
        <p:sp>
          <p:nvSpPr>
            <p:cNvPr id="75" name="Freeform 75"/>
            <p:cNvSpPr/>
            <p:nvPr/>
          </p:nvSpPr>
          <p:spPr>
            <a:xfrm>
              <a:off x="4725352" y="4508182"/>
              <a:ext cx="207645" cy="177165"/>
            </a:xfrm>
            <a:custGeom>
              <a:avLst/>
              <a:gdLst/>
              <a:ahLst/>
              <a:cxnLst/>
              <a:rect l="l" t="t" r="r" b="b"/>
              <a:pathLst>
                <a:path w="207645" h="177165">
                  <a:moveTo>
                    <a:pt x="207645" y="0"/>
                  </a:moveTo>
                  <a:lnTo>
                    <a:pt x="0" y="1771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5731192" y="5365432"/>
              <a:ext cx="207645" cy="177165"/>
            </a:xfrm>
            <a:custGeom>
              <a:avLst/>
              <a:gdLst/>
              <a:ahLst/>
              <a:cxnLst/>
              <a:rect l="l" t="t" r="r" b="b"/>
              <a:pathLst>
                <a:path w="207645" h="177165">
                  <a:moveTo>
                    <a:pt x="207645" y="0"/>
                  </a:moveTo>
                  <a:lnTo>
                    <a:pt x="0" y="1771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6285548" y="4882515"/>
              <a:ext cx="626745" cy="267653"/>
            </a:xfrm>
            <a:custGeom>
              <a:avLst/>
              <a:gdLst/>
              <a:ahLst/>
              <a:cxnLst/>
              <a:rect l="l" t="t" r="r" b="b"/>
              <a:pathLst>
                <a:path w="626745" h="267653">
                  <a:moveTo>
                    <a:pt x="626745" y="0"/>
                  </a:moveTo>
                  <a:lnTo>
                    <a:pt x="0" y="26765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6253162" y="5365432"/>
              <a:ext cx="207645" cy="177165"/>
            </a:xfrm>
            <a:custGeom>
              <a:avLst/>
              <a:gdLst/>
              <a:ahLst/>
              <a:cxnLst/>
              <a:rect l="l" t="t" r="r" b="b"/>
              <a:pathLst>
                <a:path w="207645" h="177165">
                  <a:moveTo>
                    <a:pt x="0" y="0"/>
                  </a:moveTo>
                  <a:lnTo>
                    <a:pt x="207645" y="1771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5292090" y="4416742"/>
              <a:ext cx="1607820" cy="341948"/>
            </a:xfrm>
            <a:custGeom>
              <a:avLst/>
              <a:gdLst/>
              <a:ahLst/>
              <a:cxnLst/>
              <a:rect l="l" t="t" r="r" b="b"/>
              <a:pathLst>
                <a:path w="1607820" h="341948">
                  <a:moveTo>
                    <a:pt x="0" y="0"/>
                  </a:moveTo>
                  <a:lnTo>
                    <a:pt x="1607820" y="34194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0" name="Freeform 80"/>
            <p:cNvSpPr/>
            <p:nvPr/>
          </p:nvSpPr>
          <p:spPr>
            <a:xfrm>
              <a:off x="7259002" y="4935855"/>
              <a:ext cx="208597" cy="179070"/>
            </a:xfrm>
            <a:custGeom>
              <a:avLst/>
              <a:gdLst/>
              <a:ahLst/>
              <a:cxnLst/>
              <a:rect l="l" t="t" r="r" b="b"/>
              <a:pathLst>
                <a:path w="208597" h="179070">
                  <a:moveTo>
                    <a:pt x="0" y="0"/>
                  </a:moveTo>
                  <a:lnTo>
                    <a:pt x="208597" y="1790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4427220" y="4685348"/>
              <a:ext cx="321945" cy="232410"/>
            </a:xfrm>
            <a:prstGeom prst="roundRect">
              <a:avLst>
                <a:gd name="adj" fmla="val 1639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82" name="Ellipse 82"/>
            <p:cNvSpPr/>
            <p:nvPr/>
          </p:nvSpPr>
          <p:spPr>
            <a:xfrm>
              <a:off x="4892992" y="4176712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5434012" y="5542598"/>
              <a:ext cx="321945" cy="232410"/>
            </a:xfrm>
            <a:prstGeom prst="roundRect">
              <a:avLst>
                <a:gd name="adj" fmla="val 1639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84" name="Ellipse 84"/>
            <p:cNvSpPr/>
            <p:nvPr/>
          </p:nvSpPr>
          <p:spPr>
            <a:xfrm>
              <a:off x="5898832" y="5033962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6436042" y="5542598"/>
              <a:ext cx="321945" cy="232410"/>
            </a:xfrm>
            <a:prstGeom prst="roundRect">
              <a:avLst>
                <a:gd name="adj" fmla="val 1639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86" name="Ellipse 86"/>
            <p:cNvSpPr/>
            <p:nvPr/>
          </p:nvSpPr>
          <p:spPr>
            <a:xfrm>
              <a:off x="6904672" y="4604385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7441882" y="5114925"/>
              <a:ext cx="321945" cy="232410"/>
            </a:xfrm>
            <a:prstGeom prst="roundRect">
              <a:avLst>
                <a:gd name="adj" fmla="val 1639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4503691" y="474106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E0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5009019" y="431339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5509531" y="559831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E1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032174" y="5170646"/>
              <a:ext cx="1276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511561" y="559831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E2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944511" y="474106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stop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517401" y="517064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E3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4338066" y="4003358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图e</a:t>
              </a:r>
            </a:p>
          </p:txBody>
        </p:sp>
      </p:grpSp>
      <p:grpSp>
        <p:nvGrpSpPr>
          <p:cNvPr id="118" name="c3-graph-1"/>
          <p:cNvGrpSpPr/>
          <p:nvPr/>
        </p:nvGrpSpPr>
        <p:grpSpPr>
          <a:xfrm>
            <a:off x="8148066" y="1987868"/>
            <a:ext cx="3425761" cy="1785651"/>
            <a:chOff x="8148066" y="1987868"/>
            <a:chExt cx="3425761" cy="1785651"/>
          </a:xfrm>
        </p:grpSpPr>
        <p:sp>
          <p:nvSpPr>
            <p:cNvPr id="97" name="Freeform 97"/>
            <p:cNvSpPr/>
            <p:nvPr/>
          </p:nvSpPr>
          <p:spPr>
            <a:xfrm>
              <a:off x="8535352" y="2492692"/>
              <a:ext cx="207645" cy="177165"/>
            </a:xfrm>
            <a:custGeom>
              <a:avLst/>
              <a:gdLst/>
              <a:ahLst/>
              <a:cxnLst/>
              <a:rect l="l" t="t" r="r" b="b"/>
              <a:pathLst>
                <a:path w="207645" h="177165">
                  <a:moveTo>
                    <a:pt x="207645" y="0"/>
                  </a:moveTo>
                  <a:lnTo>
                    <a:pt x="0" y="1771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8" name="Freeform 98"/>
            <p:cNvSpPr/>
            <p:nvPr/>
          </p:nvSpPr>
          <p:spPr>
            <a:xfrm>
              <a:off x="9540240" y="2920365"/>
              <a:ext cx="208597" cy="179070"/>
            </a:xfrm>
            <a:custGeom>
              <a:avLst/>
              <a:gdLst/>
              <a:ahLst/>
              <a:cxnLst/>
              <a:rect l="l" t="t" r="r" b="b"/>
              <a:pathLst>
                <a:path w="208597" h="179070">
                  <a:moveTo>
                    <a:pt x="208597" y="0"/>
                  </a:moveTo>
                  <a:lnTo>
                    <a:pt x="0" y="1790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9" name="Freeform 99"/>
            <p:cNvSpPr/>
            <p:nvPr/>
          </p:nvSpPr>
          <p:spPr>
            <a:xfrm>
              <a:off x="9089708" y="2439352"/>
              <a:ext cx="625793" cy="265747"/>
            </a:xfrm>
            <a:custGeom>
              <a:avLst/>
              <a:gdLst/>
              <a:ahLst/>
              <a:cxnLst/>
              <a:rect l="l" t="t" r="r" b="b"/>
              <a:pathLst>
                <a:path w="625793" h="265747">
                  <a:moveTo>
                    <a:pt x="0" y="0"/>
                  </a:moveTo>
                  <a:lnTo>
                    <a:pt x="625793" y="26574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0" name="Freeform 100"/>
            <p:cNvSpPr/>
            <p:nvPr/>
          </p:nvSpPr>
          <p:spPr>
            <a:xfrm>
              <a:off x="10544175" y="3348990"/>
              <a:ext cx="210502" cy="178117"/>
            </a:xfrm>
            <a:custGeom>
              <a:avLst/>
              <a:gdLst/>
              <a:ahLst/>
              <a:cxnLst/>
              <a:rect l="l" t="t" r="r" b="b"/>
              <a:pathLst>
                <a:path w="210502" h="178117">
                  <a:moveTo>
                    <a:pt x="210502" y="0"/>
                  </a:moveTo>
                  <a:lnTo>
                    <a:pt x="0" y="1781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1" name="Freeform 101"/>
            <p:cNvSpPr/>
            <p:nvPr/>
          </p:nvSpPr>
          <p:spPr>
            <a:xfrm>
              <a:off x="10095548" y="2867025"/>
              <a:ext cx="626745" cy="267653"/>
            </a:xfrm>
            <a:custGeom>
              <a:avLst/>
              <a:gdLst/>
              <a:ahLst/>
              <a:cxnLst/>
              <a:rect l="l" t="t" r="r" b="b"/>
              <a:pathLst>
                <a:path w="626745" h="267653">
                  <a:moveTo>
                    <a:pt x="0" y="0"/>
                  </a:moveTo>
                  <a:lnTo>
                    <a:pt x="626745" y="26765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2" name="Freeform 102"/>
            <p:cNvSpPr/>
            <p:nvPr/>
          </p:nvSpPr>
          <p:spPr>
            <a:xfrm>
              <a:off x="11069002" y="3349942"/>
              <a:ext cx="207645" cy="177165"/>
            </a:xfrm>
            <a:custGeom>
              <a:avLst/>
              <a:gdLst/>
              <a:ahLst/>
              <a:cxnLst/>
              <a:rect l="l" t="t" r="r" b="b"/>
              <a:pathLst>
                <a:path w="207645" h="177165">
                  <a:moveTo>
                    <a:pt x="0" y="0"/>
                  </a:moveTo>
                  <a:lnTo>
                    <a:pt x="207645" y="1771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8237220" y="2669858"/>
              <a:ext cx="321945" cy="232410"/>
            </a:xfrm>
            <a:prstGeom prst="roundRect">
              <a:avLst>
                <a:gd name="adj" fmla="val 1639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04" name="Ellipse 104"/>
            <p:cNvSpPr/>
            <p:nvPr/>
          </p:nvSpPr>
          <p:spPr>
            <a:xfrm>
              <a:off x="8702992" y="2161222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9244012" y="3099435"/>
              <a:ext cx="321945" cy="232410"/>
            </a:xfrm>
            <a:prstGeom prst="roundRect">
              <a:avLst>
                <a:gd name="adj" fmla="val 1639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06" name="Ellipse 106"/>
            <p:cNvSpPr/>
            <p:nvPr/>
          </p:nvSpPr>
          <p:spPr>
            <a:xfrm>
              <a:off x="9708832" y="2588895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10246042" y="3527108"/>
              <a:ext cx="321945" cy="232410"/>
            </a:xfrm>
            <a:prstGeom prst="roundRect">
              <a:avLst>
                <a:gd name="adj" fmla="val 1639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08" name="Ellipse 108"/>
            <p:cNvSpPr/>
            <p:nvPr/>
          </p:nvSpPr>
          <p:spPr>
            <a:xfrm>
              <a:off x="10714672" y="3018473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11251882" y="3527108"/>
              <a:ext cx="321945" cy="232410"/>
            </a:xfrm>
            <a:prstGeom prst="roundRect">
              <a:avLst>
                <a:gd name="adj" fmla="val 1639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8313691" y="272557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E0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8819019" y="229790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9319531" y="315515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E1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9842174" y="2725579"/>
              <a:ext cx="1276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0321561" y="358282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E2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0754511" y="3155156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stop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1327401" y="358282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E3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8148066" y="1987868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图c</a:t>
              </a:r>
            </a:p>
          </p:txBody>
        </p:sp>
      </p:grpSp>
      <p:grpSp>
        <p:nvGrpSpPr>
          <p:cNvPr id="128" name="c3-card-2"/>
          <p:cNvGrpSpPr/>
          <p:nvPr/>
        </p:nvGrpSpPr>
        <p:grpSpPr>
          <a:xfrm>
            <a:off x="8153400" y="3970020"/>
            <a:ext cx="3505200" cy="2390775"/>
            <a:chOff x="8153400" y="3970020"/>
            <a:chExt cx="3505200" cy="2390775"/>
          </a:xfrm>
        </p:grpSpPr>
        <p:sp>
          <p:nvSpPr>
            <p:cNvPr id="119" name="Rectangle 119"/>
            <p:cNvSpPr/>
            <p:nvPr/>
          </p:nvSpPr>
          <p:spPr>
            <a:xfrm>
              <a:off x="8153400" y="3970020"/>
              <a:ext cx="3505200" cy="2390775"/>
            </a:xfrm>
            <a:prstGeom prst="roundRect">
              <a:avLst>
                <a:gd name="adj" fmla="val 55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0" name="Rectangle 120"/>
            <p:cNvSpPr/>
            <p:nvPr/>
          </p:nvSpPr>
          <p:spPr>
            <a:xfrm>
              <a:off x="8162925" y="4103370"/>
              <a:ext cx="47625" cy="21240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8389620" y="416814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8465058" y="420243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两种概率分布</a:t>
              </a:r>
            </a:p>
          </p:txBody>
        </p:sp>
        <p:sp>
          <p:nvSpPr>
            <p:cNvPr id="123" name="Ellipse 123"/>
            <p:cNvSpPr/>
            <p:nvPr/>
          </p:nvSpPr>
          <p:spPr>
            <a:xfrm>
              <a:off x="8397240" y="458914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8553831" y="4528661"/>
              <a:ext cx="233184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情景 1：内外结点概率相同，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P(i)=Q(i)=1/7</a:t>
              </a:r>
            </a:p>
          </p:txBody>
        </p:sp>
        <p:sp>
          <p:nvSpPr>
            <p:cNvPr id="125" name="Ellipse 125"/>
            <p:cNvSpPr/>
            <p:nvPr/>
          </p:nvSpPr>
          <p:spPr>
            <a:xfrm>
              <a:off x="8397240" y="517779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8553831" y="5118259"/>
              <a:ext cx="246710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情景 2：P(1:3)=(0.5, 0.1,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0.05)，Q(0:3)=(0.15, 0.1,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0.05, 0.05)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8383524" y="5975032"/>
              <a:ext cx="30620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圆结点是内结点 aᵢ，方结点是外结点 Eᵢ。</a:t>
              </a:r>
            </a:p>
          </p:txBody>
        </p:sp>
      </p:grpSp>
      <p:grpSp>
        <p:nvGrpSpPr>
          <p:cNvPr id="1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9" name="TextBox 12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最优二分检索树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两种概率分布下，最优的树并不相同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652962" cy="3987165"/>
            <a:chOff x="533400" y="1524000"/>
            <a:chExt cx="4652962" cy="39871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652962" cy="3987165"/>
            </a:xfrm>
            <a:prstGeom prst="roundRect">
              <a:avLst>
                <a:gd name="adj" fmla="val 33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7204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86106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065" y="1763554"/>
              <a:ext cx="7016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以图a为例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396392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stop 在第 1 层，if 第 2 层，do 第 3 层；E₃ 在第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层，E₂ 第 3 层，E₀、E₁ 第 4 层：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60"/>
                <p:cNvSpPr txBox="1">
                  <a:spLocks noGrp="1"/>
                </p:cNvSpPr>
                <p:nvPr/>
              </p:nvSpPr>
              <p:spPr>
                <a:xfrm>
                  <a:off x="775335" y="2668905"/>
                  <a:ext cx="4207192" cy="266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cost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3Q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3Q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2Q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0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Q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0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Ellipse 13"/>
            <p:cNvSpPr/>
            <p:nvPr/>
          </p:nvSpPr>
          <p:spPr>
            <a:xfrm>
              <a:off x="782955" y="311181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3051334"/>
              <a:ext cx="267449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情景 1：P(i)=Q(i)=1/7，cost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(3+2+1+3+3+2+1)/7 = 15/7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2955" y="370332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546" y="3642836"/>
              <a:ext cx="359422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情景 2：P=(0.5, 0.1, 0.05)，Q=(0.15,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0.1, 0.05, 0.05)，cost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1.5+0.2+0.05+0.45+0.3+0.1+0.05 = 2.65</a:t>
              </a:r>
            </a:p>
          </p:txBody>
        </p:sp>
      </p:grpSp>
      <p:grpSp>
        <p:nvGrpSpPr>
          <p:cNvPr id="63" name="c2-table-1"/>
          <p:cNvGrpSpPr/>
          <p:nvPr/>
        </p:nvGrpSpPr>
        <p:grpSpPr>
          <a:xfrm>
            <a:off x="5485448" y="1524000"/>
            <a:ext cx="6173152" cy="3090387"/>
            <a:chOff x="5485448" y="1524000"/>
            <a:chExt cx="6173152" cy="3090387"/>
          </a:xfrm>
        </p:grpSpPr>
        <p:sp>
          <p:nvSpPr>
            <p:cNvPr id="18" name="Rectangle 18"/>
            <p:cNvSpPr/>
            <p:nvPr/>
          </p:nvSpPr>
          <p:spPr>
            <a:xfrm>
              <a:off x="5491162" y="1524000"/>
              <a:ext cx="6167438" cy="64389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681472" y="176212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35840" y="1655445"/>
              <a:ext cx="1086231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内结点系数 do,</a:t>
              </a:r>
              <a:br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if, stop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30175" y="1762125"/>
              <a:ext cx="1366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外结点系数 E₀~E₃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661508" y="1762125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情景 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833083" y="1762125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情景 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15598" y="22983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02273" y="2298382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3, 2, 1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23682" y="2298382"/>
              <a:ext cx="779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3, 3, 2, 1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17443" y="229838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15/7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889018" y="229838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2.65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491162" y="2592705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91162" y="2597468"/>
              <a:ext cx="616743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715598" y="272891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02273" y="2728912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2, 1, 2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23682" y="2728912"/>
              <a:ext cx="779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2, 2, 2, 2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324022" y="2606992"/>
              <a:ext cx="1152525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717443" y="272891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13/7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933443" y="272891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491162" y="3023235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715598" y="31594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02273" y="3159442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1, 2, 3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23682" y="3159442"/>
              <a:ext cx="779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1, 2, 3, 3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717443" y="315944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15/7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0496550" y="3037522"/>
              <a:ext cx="1152525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933443" y="315944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491162" y="3452812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491162" y="3457575"/>
              <a:ext cx="616743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715598" y="35890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02273" y="358902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2, 3, 1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23682" y="3589020"/>
              <a:ext cx="779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2, 3, 3, 1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717443" y="358902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15/7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889018" y="358902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2.15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491162" y="3883342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715598" y="40195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02273" y="40195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1, 3, 2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123682" y="4019550"/>
              <a:ext cx="779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1, 3, 3, 2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717443" y="401955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15/7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933443" y="401955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491162" y="1524000"/>
              <a:ext cx="6167438" cy="27946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041708" y="1524000"/>
              <a:ext cx="9525" cy="27946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706678" y="1524000"/>
              <a:ext cx="9525" cy="27946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9309735" y="1524000"/>
              <a:ext cx="9525" cy="27946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10482262" y="1524000"/>
              <a:ext cx="9525" cy="27946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485448" y="4394359"/>
              <a:ext cx="35780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内结点系数是 level(aᵢ)，外结点系数是 level(Eᵢ)−1</a:t>
              </a:r>
            </a:p>
          </p:txBody>
        </p:sp>
      </p:grpSp>
      <p:grpSp>
        <p:nvGrpSpPr>
          <p:cNvPr id="69" name="c2-callout-2"/>
          <p:cNvGrpSpPr/>
          <p:nvPr/>
        </p:nvGrpSpPr>
        <p:grpSpPr>
          <a:xfrm>
            <a:off x="5491162" y="4754880"/>
            <a:ext cx="6167438" cy="756285"/>
            <a:chOff x="5491162" y="4754880"/>
            <a:chExt cx="6167438" cy="756285"/>
          </a:xfrm>
        </p:grpSpPr>
        <p:sp>
          <p:nvSpPr>
            <p:cNvPr id="64" name="Rectangle 64"/>
            <p:cNvSpPr/>
            <p:nvPr/>
          </p:nvSpPr>
          <p:spPr>
            <a:xfrm>
              <a:off x="5491162" y="4754880"/>
              <a:ext cx="6167438" cy="756285"/>
            </a:xfrm>
            <a:prstGeom prst="roundRect">
              <a:avLst>
                <a:gd name="adj" fmla="val 1511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5695950" y="5033010"/>
              <a:ext cx="200026" cy="200026"/>
              <a:chOff x="5695950" y="5033010"/>
              <a:chExt cx="200026" cy="200026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5695950" y="50330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5762625" y="511079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5998274" y="4902041"/>
              <a:ext cx="494677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情景 1 内外结点概率相同，图b 最优（13/7）；情景 2 概率不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同，图c 最优（1.5）。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70" name="Rectangle 7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0511" y="6004084"/>
              <a:ext cx="72498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易错：外结点的系数是层数减 1。检索不成功时，最后一次循环在它的父结点处结束。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47566" cy="909257"/>
            <a:chOff x="520446" y="342900"/>
            <a:chExt cx="78475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最优二分检索树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475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选定根 aₖ 后，树的成本可以用左右子树的成本表示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graph-1"/>
          <p:cNvGrpSpPr/>
          <p:nvPr/>
        </p:nvGrpSpPr>
        <p:grpSpPr>
          <a:xfrm>
            <a:off x="922020" y="1602105"/>
            <a:ext cx="3550920" cy="1479232"/>
            <a:chOff x="922020" y="1602105"/>
            <a:chExt cx="3550920" cy="1479232"/>
          </a:xfrm>
        </p:grpSpPr>
        <p:sp>
          <p:nvSpPr>
            <p:cNvPr id="7" name="Freeform 7"/>
            <p:cNvSpPr/>
            <p:nvPr/>
          </p:nvSpPr>
          <p:spPr>
            <a:xfrm>
              <a:off x="1851660" y="1893570"/>
              <a:ext cx="698182" cy="541972"/>
            </a:xfrm>
            <a:custGeom>
              <a:avLst/>
              <a:gdLst/>
              <a:ahLst/>
              <a:cxnLst/>
              <a:rect l="l" t="t" r="r" b="b"/>
              <a:pathLst>
                <a:path w="698182" h="541972">
                  <a:moveTo>
                    <a:pt x="698182" y="0"/>
                  </a:moveTo>
                  <a:lnTo>
                    <a:pt x="0" y="54197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845118" y="1893570"/>
              <a:ext cx="698183" cy="541972"/>
            </a:xfrm>
            <a:custGeom>
              <a:avLst/>
              <a:gdLst/>
              <a:ahLst/>
              <a:cxnLst/>
              <a:rect l="l" t="t" r="r" b="b"/>
              <a:pathLst>
                <a:path w="698183" h="541972">
                  <a:moveTo>
                    <a:pt x="0" y="0"/>
                  </a:moveTo>
                  <a:lnTo>
                    <a:pt x="698183" y="54197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2520315" y="1602105"/>
              <a:ext cx="354330" cy="35433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922020" y="2435542"/>
              <a:ext cx="1300162" cy="433388"/>
            </a:xfrm>
            <a:prstGeom prst="roundRect">
              <a:avLst>
                <a:gd name="adj" fmla="val 21978"/>
              </a:avLst>
            </a:prstGeom>
            <a:solidFill>
              <a:srgbClr val="E8EDF8"/>
            </a:solidFill>
            <a:ln w="17145">
              <a:solidFill>
                <a:srgbClr val="2F4B9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3172778" y="2435542"/>
              <a:ext cx="1300162" cy="433388"/>
            </a:xfrm>
            <a:prstGeom prst="roundRect">
              <a:avLst>
                <a:gd name="adj" fmla="val 21978"/>
              </a:avLst>
            </a:prstGeom>
            <a:solidFill>
              <a:srgbClr val="E8EDF8"/>
            </a:solidFill>
            <a:ln w="17145">
              <a:solidFill>
                <a:srgbClr val="2F4B9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604693" y="170926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69609" y="2582704"/>
              <a:ext cx="605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左子树 L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7576" y="2905125"/>
              <a:ext cx="109000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a₁…aₖ₋₁，E₀…Eₖ₋₁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19414" y="2582704"/>
              <a:ext cx="605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右子树 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47790" y="2905125"/>
              <a:ext cx="9491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aₖ₊₁…aₙ，Eₖ…Eₙ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519488"/>
            <a:ext cx="4328160" cy="1634490"/>
            <a:chOff x="533400" y="3519488"/>
            <a:chExt cx="4328160" cy="1634490"/>
          </a:xfrm>
        </p:grpSpPr>
        <p:sp>
          <p:nvSpPr>
            <p:cNvPr id="18" name="Rectangle 18"/>
            <p:cNvSpPr/>
            <p:nvPr/>
          </p:nvSpPr>
          <p:spPr>
            <a:xfrm>
              <a:off x="533400" y="3519488"/>
              <a:ext cx="4328160" cy="1634490"/>
            </a:xfrm>
            <a:prstGeom prst="roundRect">
              <a:avLst>
                <a:gd name="adj" fmla="val 81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3652838"/>
              <a:ext cx="47625" cy="13677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63905" y="371189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5345" y="374618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决策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7047" y="4068127"/>
              <a:ext cx="375989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把构造树看成一系列决策：先决定 a₁, …, aₙ 中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哪一个作根 T。根定下后，L 和 R 各自又是一个独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立的二分检索树问题。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5166360" y="1524000"/>
            <a:ext cx="6492240" cy="3629025"/>
            <a:chOff x="5166360" y="1524000"/>
            <a:chExt cx="6492240" cy="3629025"/>
          </a:xfrm>
        </p:grpSpPr>
        <p:sp>
          <p:nvSpPr>
            <p:cNvPr id="24" name="Rectangle 24"/>
            <p:cNvSpPr/>
            <p:nvPr/>
          </p:nvSpPr>
          <p:spPr>
            <a:xfrm>
              <a:off x="5166360" y="1524000"/>
              <a:ext cx="6492240" cy="3629025"/>
            </a:xfrm>
            <a:prstGeom prst="roundRect">
              <a:avLst>
                <a:gd name="adj" fmla="val 367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175885" y="1657350"/>
              <a:ext cx="47625" cy="336232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9686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8830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推导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90007" y="2072640"/>
              <a:ext cx="42925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L、R 单独计算成本时，结点层数都比放在 T 中少 1：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formula73"/>
                <p:cNvSpPr txBox="1">
                  <a:spLocks noGrp="1"/>
                </p:cNvSpPr>
                <p:nvPr/>
              </p:nvSpPr>
              <p:spPr>
                <a:xfrm>
                  <a:off x="5396865" y="2544128"/>
                  <a:ext cx="6069330" cy="5343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COST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  <m:sup/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d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level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  <m:sup/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d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level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0" name="TextBox 30"/>
            <p:cNvSpPr txBox="1"/>
            <p:nvPr/>
          </p:nvSpPr>
          <p:spPr>
            <a:xfrm>
              <a:off x="5390007" y="3187065"/>
              <a:ext cx="5612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挂到 aₖ 下面后每个结点下移一层，成本增加子树的全部概率之和 W：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formula74"/>
                <p:cNvSpPr txBox="1">
                  <a:spLocks noGrp="1"/>
                </p:cNvSpPr>
                <p:nvPr/>
              </p:nvSpPr>
              <p:spPr>
                <a:xfrm>
                  <a:off x="5396865" y="3658552"/>
                  <a:ext cx="6069330" cy="5343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W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Q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e>
                                </m:d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W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W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Q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2" name="TextBox 32"/>
            <p:cNvSpPr txBox="1"/>
            <p:nvPr/>
          </p:nvSpPr>
          <p:spPr>
            <a:xfrm>
              <a:off x="5390007" y="4301490"/>
              <a:ext cx="60712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左子树增加 W(0,k−1)，右子树增加 W(k,n)，根 aₖ 在第 1 层贡献 P(k)：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formula75"/>
                <p:cNvSpPr txBox="1">
                  <a:spLocks noGrp="1"/>
                </p:cNvSpPr>
                <p:nvPr/>
              </p:nvSpPr>
              <p:spPr>
                <a:xfrm>
                  <a:off x="5396865" y="4581525"/>
                  <a:ext cx="606933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COST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COST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COST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W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W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0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35" name="Rectangle 35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5897882"/>
              <a:ext cx="200023" cy="200023"/>
              <a:chOff x="738188" y="5897882"/>
              <a:chExt cx="200023" cy="20002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58978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71538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892" y="5779770"/>
              <a:ext cx="999210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P(k) + W(0,k−1) + W(k,n) 恰好是全部概率之和 W(0,n)，所以 COST(T) = COST(L) + COST(R) + W(0,n)，其中 W(0,n) 与根的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选择无关。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86856" cy="909257"/>
            <a:chOff x="520446" y="342900"/>
            <a:chExt cx="63868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最优二分检索树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868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递推式：C(i, j) 枚举每个根 k，取最小值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5626418" cy="3182302"/>
            <a:chOff x="533400" y="1524000"/>
            <a:chExt cx="5626418" cy="31823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182302"/>
            </a:xfrm>
            <a:prstGeom prst="roundRect">
              <a:avLst>
                <a:gd name="adj" fmla="val 419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91560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7344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状态定义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2478" y="212883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8497" y="2072640"/>
              <a:ext cx="45988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Tᵢⱼ：包含 aᵢ₊₁, …, aⱼ 和 Eᵢ, …, Eⱼ 的最优二分检索树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2478" y="243173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497" y="2375535"/>
              <a:ext cx="3798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C(i,j)：Tᵢⱼ 的成本；R(i,j)：Tᵢⱼ 的根的下标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2478" y="2734627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8497" y="2678430"/>
              <a:ext cx="413708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T 最优，COST(T)=C(0,n)，COST(L)=C(0,k−1)，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COST(R)=C(k,n)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formula84"/>
                <p:cNvSpPr txBox="1">
                  <a:spLocks noGrp="1"/>
                </p:cNvSpPr>
                <p:nvPr/>
              </p:nvSpPr>
              <p:spPr>
                <a:xfrm>
                  <a:off x="763905" y="3215640"/>
                  <a:ext cx="5203508" cy="3962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formula85"/>
                <p:cNvSpPr txBox="1">
                  <a:spLocks noGrp="1"/>
                </p:cNvSpPr>
                <p:nvPr/>
              </p:nvSpPr>
              <p:spPr>
                <a:xfrm>
                  <a:off x="763905" y="3698558"/>
                  <a:ext cx="5203508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W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9" name="Ellipse 19"/>
            <p:cNvSpPr/>
            <p:nvPr/>
          </p:nvSpPr>
          <p:spPr>
            <a:xfrm>
              <a:off x="772478" y="435864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8497" y="4302442"/>
              <a:ext cx="4062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边界：C(i,i)=0，W(i,i)=Q(i)，R(i,i)=0，0≤i≤n</a:t>
              </a:r>
            </a:p>
          </p:txBody>
        </p:sp>
      </p:grpSp>
      <p:grpSp>
        <p:nvGrpSpPr>
          <p:cNvPr id="28" name="c1-callout-2"/>
          <p:cNvGrpSpPr/>
          <p:nvPr/>
        </p:nvGrpSpPr>
        <p:grpSpPr>
          <a:xfrm>
            <a:off x="533400" y="4880610"/>
            <a:ext cx="5626418" cy="1097280"/>
            <a:chOff x="533400" y="4880610"/>
            <a:chExt cx="5626418" cy="1097280"/>
          </a:xfrm>
        </p:grpSpPr>
        <p:sp>
          <p:nvSpPr>
            <p:cNvPr id="22" name="Rectangle 22"/>
            <p:cNvSpPr/>
            <p:nvPr/>
          </p:nvSpPr>
          <p:spPr>
            <a:xfrm>
              <a:off x="533400" y="4880610"/>
              <a:ext cx="5626418" cy="1097280"/>
            </a:xfrm>
            <a:prstGeom prst="roundRect">
              <a:avLst>
                <a:gd name="adj" fmla="val 1041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5329238"/>
              <a:ext cx="200026" cy="200025"/>
              <a:chOff x="738188" y="5329238"/>
              <a:chExt cx="200026" cy="2000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53292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77926" y="53736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12642" y="54848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892" y="5211128"/>
              <a:ext cx="450570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P(k)+W(i,k−1)+W(k,j) = W(i,j)，与 k 无关，所以能提到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min 外面。</a:t>
              </a:r>
            </a:p>
          </p:txBody>
        </p:sp>
      </p:grpSp>
      <p:grpSp>
        <p:nvGrpSpPr>
          <p:cNvPr id="46" name="c2-steps-1"/>
          <p:cNvGrpSpPr/>
          <p:nvPr/>
        </p:nvGrpSpPr>
        <p:grpSpPr>
          <a:xfrm>
            <a:off x="6464618" y="1533525"/>
            <a:ext cx="4980477" cy="2695098"/>
            <a:chOff x="6464618" y="1533525"/>
            <a:chExt cx="4980477" cy="2695098"/>
          </a:xfrm>
        </p:grpSpPr>
        <p:sp>
          <p:nvSpPr>
            <p:cNvPr id="29" name="Rectangle 29"/>
            <p:cNvSpPr/>
            <p:nvPr/>
          </p:nvSpPr>
          <p:spPr>
            <a:xfrm>
              <a:off x="6597968" y="1676400"/>
              <a:ext cx="19050" cy="19678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464618" y="21202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58241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64618" y="27070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58241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64618" y="350139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58241" y="3575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76860" y="1564957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证明最优性原理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78002" y="1833086"/>
              <a:ext cx="4567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T 是最优二分检索树，它的左右子树也一定是对应子问题的最优树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76860" y="21526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设计递推式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78002" y="2419826"/>
              <a:ext cx="3758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函数值表示最小预期成本，参数 (i,j) 表示标识符的范围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76860" y="273939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自底向上计算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78002" y="3006566"/>
              <a:ext cx="435686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依次求 j−i=1, 2, …, n 的全部 C(i,j)，同时记下使 C(i,j) 取最小值的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k，即 R(i,j)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76860" y="353282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构造最优树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78002" y="3800951"/>
              <a:ext cx="447776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 r=R(0,n)，根是 aᵣ，左子树是 T(0,r−1)，右子树是 T(r,n)，递归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下去</a:t>
              </a:r>
            </a:p>
          </p:txBody>
        </p:sp>
      </p:grpSp>
      <p:grpSp>
        <p:nvGrpSpPr>
          <p:cNvPr id="70" name="c2-cells-2"/>
          <p:cNvGrpSpPr/>
          <p:nvPr/>
        </p:nvGrpSpPr>
        <p:grpSpPr>
          <a:xfrm>
            <a:off x="6458902" y="4442460"/>
            <a:ext cx="4157663" cy="630555"/>
            <a:chOff x="6458902" y="4442460"/>
            <a:chExt cx="4157663" cy="630555"/>
          </a:xfrm>
        </p:grpSpPr>
        <p:sp>
          <p:nvSpPr>
            <p:cNvPr id="47" name="TextBox 47"/>
            <p:cNvSpPr txBox="1"/>
            <p:nvPr/>
          </p:nvSpPr>
          <p:spPr>
            <a:xfrm>
              <a:off x="6458902" y="481250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n=4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844665" y="469201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56499" y="481250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E₀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263765" y="469201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380528" y="48125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682865" y="4692015"/>
              <a:ext cx="419100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794699" y="481250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E₁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101965" y="4692015"/>
              <a:ext cx="41910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218728" y="48125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521065" y="4692015"/>
              <a:ext cx="419100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632899" y="481250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E₂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940165" y="4692015"/>
              <a:ext cx="41910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056928" y="48125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a₃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359265" y="4692015"/>
              <a:ext cx="419100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471099" y="481250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E₃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778365" y="469201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895128" y="48125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a₄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0197465" y="469201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309299" y="481250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E₄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798601" y="4442460"/>
              <a:ext cx="1876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i=1</a:t>
              </a:r>
            </a:p>
          </p:txBody>
        </p:sp>
        <p:sp>
          <p:nvSpPr>
            <p:cNvPr id="67" name="Freeform 67"/>
            <p:cNvSpPr/>
            <p:nvPr/>
          </p:nvSpPr>
          <p:spPr>
            <a:xfrm>
              <a:off x="7854315" y="459676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475001" y="4442460"/>
              <a:ext cx="1876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j=3</a:t>
              </a:r>
            </a:p>
          </p:txBody>
        </p:sp>
        <p:sp>
          <p:nvSpPr>
            <p:cNvPr id="69" name="Freeform 69"/>
            <p:cNvSpPr/>
            <p:nvPr/>
          </p:nvSpPr>
          <p:spPr>
            <a:xfrm>
              <a:off x="9530715" y="459676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77" name="c2-callout-3"/>
          <p:cNvGrpSpPr/>
          <p:nvPr/>
        </p:nvGrpSpPr>
        <p:grpSpPr>
          <a:xfrm>
            <a:off x="6464618" y="5248275"/>
            <a:ext cx="5193982" cy="729615"/>
            <a:chOff x="6464618" y="5248275"/>
            <a:chExt cx="5193982" cy="729615"/>
          </a:xfrm>
        </p:grpSpPr>
        <p:sp>
          <p:nvSpPr>
            <p:cNvPr id="71" name="Rectangle 71"/>
            <p:cNvSpPr/>
            <p:nvPr/>
          </p:nvSpPr>
          <p:spPr>
            <a:xfrm>
              <a:off x="6464618" y="5248275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6669405" y="5513070"/>
              <a:ext cx="200026" cy="200026"/>
              <a:chOff x="6669405" y="5513070"/>
              <a:chExt cx="200026" cy="200026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6669405" y="551307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769418" y="55797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6758305" y="561308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6972110" y="5394960"/>
              <a:ext cx="432568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T₁₃ 包含 a₂、a₃ 和 E₁、E₂、E₃：内结点从 aᵢ₊₁ 开始，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外结点从 Eᵢ 开始。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734865" cy="909257"/>
            <a:chOff x="520446" y="342900"/>
            <a:chExt cx="47348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最优二分检索树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7348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 n=4：先算 j−i=1 和 j−i=2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1551787" cy="264033"/>
            <a:chOff x="526542" y="1545907"/>
            <a:chExt cx="1155178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15517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(a₁,a₂,a₃,a₄) = (do, if, read, while)，P(1:4) = (3,3,1,1)，Q(0:4) = (2,3,1,1,1)。概率都乘了 16 化成整数，不影响哪棵树最优。</a:t>
              </a:r>
            </a:p>
          </p:txBody>
        </p:sp>
      </p:grpSp>
      <p:grpSp>
        <p:nvGrpSpPr>
          <p:cNvPr id="76" name="c1-table-1"/>
          <p:cNvGrpSpPr/>
          <p:nvPr/>
        </p:nvGrpSpPr>
        <p:grpSpPr>
          <a:xfrm>
            <a:off x="533400" y="1928812"/>
            <a:ext cx="11125200" cy="3600450"/>
            <a:chOff x="533400" y="1928812"/>
            <a:chExt cx="11125200" cy="360045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11125200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81472" y="2050256"/>
              <a:ext cx="193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j−i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71731" y="2050256"/>
              <a:ext cx="4151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(i, j)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23295" y="2050256"/>
              <a:ext cx="4953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W(i,j)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172880" y="2050256"/>
              <a:ext cx="18483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候选 k：C(i,k−1)+C(k,j)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24910" y="2050256"/>
              <a:ext cx="463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C(i,j)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759362" y="2050256"/>
              <a:ext cx="463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R(i,j)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8966" y="24503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81343" y="2450306"/>
              <a:ext cx="39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(i, i)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32710" y="2450306"/>
              <a:ext cx="21083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W(i,i) = Q(i) = 2, 3, 1, 1, 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303520" y="24503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没有内结点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609267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43720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7241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2728912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8966" y="2850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43649" y="285035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(0, 1)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32710" y="2850356"/>
              <a:ext cx="21939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Q(0)+Q(1)+P(1) = 2+3+3 = 8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03520" y="2850356"/>
              <a:ext cx="659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k=1：0+0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609267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43720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1242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743649" y="325040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(1, 2)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32710" y="3250406"/>
              <a:ext cx="21939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Q(1)+Q(2)+P(2) = 3+1+3 = 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303520" y="3250406"/>
              <a:ext cx="659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k=2：0+0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609267" y="32504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943720" y="32504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5242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3529012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743649" y="365045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(2, 3)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632710" y="3650456"/>
              <a:ext cx="21939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Q(2)+Q(3)+P(3) = 1+1+1 = 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303520" y="3650456"/>
              <a:ext cx="659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k=3：0+0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609267" y="36504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43720" y="36504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9243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743649" y="405050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(3, 4)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632710" y="4050506"/>
              <a:ext cx="21939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Q(3)+Q(4)+P(4) = 1+1+1 = 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303520" y="4050506"/>
              <a:ext cx="659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k=4：0+0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609267" y="40505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943720" y="40505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43243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33400" y="4329112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28966" y="44505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743649" y="445055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(0, 2)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632710" y="4450556"/>
              <a:ext cx="2456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W(0,1)+Q(2)+P(2) = 8+1+3 = 12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303520" y="4450556"/>
              <a:ext cx="17905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k=1：0+7=7；k=2：8+0=8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315257" y="4450556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7+12 = 19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943720" y="4450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47244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743649" y="485060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(1, 3)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632710" y="4850606"/>
              <a:ext cx="23692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W(1,2)+Q(3)+P(3) = 7+1+1 = 9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303520" y="4850606"/>
              <a:ext cx="17905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k=2：0+3=3；k=3：7+0=7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356720" y="4850606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3+9 = 12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943720" y="48506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33400" y="51244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533400" y="5129212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743649" y="525065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(2, 4)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632710" y="5250656"/>
              <a:ext cx="23692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W(2,3)+Q(4)+P(4) = 3+1+1 = 5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303520" y="5250656"/>
              <a:ext cx="17905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k=3：0+3=3；k=4：3+0=3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398183" y="525065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3+5 = 8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943720" y="52506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33400" y="1928812"/>
              <a:ext cx="11125200" cy="36004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1418272" y="1928812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2530792" y="1928812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5201602" y="1928812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8983980" y="1928812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10318432" y="1928812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3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7" name="Rectangle 77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1040892" y="6028373"/>
              <a:ext cx="71021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C(2,4) 的两个候选并列最小，取较小的 k=3。换成 k=4 成本不变，只是子树形状不同。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64158" cy="909257"/>
            <a:chOff x="520446" y="342900"/>
            <a:chExt cx="776415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最优二分检索树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641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 n=4：再算 j−i=3 和 j−i=4，得到 C(0,4)=32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able-1"/>
          <p:cNvGrpSpPr/>
          <p:nvPr/>
        </p:nvGrpSpPr>
        <p:grpSpPr>
          <a:xfrm>
            <a:off x="533400" y="1524000"/>
            <a:ext cx="11125200" cy="2146935"/>
            <a:chOff x="533400" y="1524000"/>
            <a:chExt cx="11125200" cy="21469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74589" y="1655445"/>
              <a:ext cx="2072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j−i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56932" y="1655445"/>
              <a:ext cx="4447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(i, j)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05632" y="1655445"/>
              <a:ext cx="5306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W(i,j)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106893" y="1655445"/>
              <a:ext cx="19803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候选 k：C(i,k−1)+C(k,j)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08399" y="1655445"/>
              <a:ext cx="4960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C(i,j)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742851" y="1655445"/>
              <a:ext cx="4960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R(i,j)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25476" y="219170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26844" y="2191702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(0, 3)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40902" y="2085022"/>
              <a:ext cx="2221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W(0,2)+Q(3)+P(3) = 12+1+1 =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11712" y="2191702"/>
              <a:ext cx="33965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k=1：0+12=12；k=2：8+3=11；k=3：19+0=19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246489" y="219170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11+14 = 25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40377" y="219170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59270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597468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726844" y="2728912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(1, 4)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40902" y="2728912"/>
              <a:ext cx="26322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W(1,3)+Q(4)+P(4) = 9+1+1 = 11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11712" y="2728912"/>
              <a:ext cx="3218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k=2：0+8=8；k=3：7+3=10；k=4：12+0=12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90914" y="2728912"/>
              <a:ext cx="7310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8+11 = 19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40377" y="27289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02323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5476" y="32661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26844" y="3266122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(0, 4)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40902" y="3159442"/>
              <a:ext cx="2221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W(0,3)+Q(4)+P(4) = 14+1+1 =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11712" y="3159442"/>
              <a:ext cx="33573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k=1：0+19=19；k=2：8+8=16；k=3：19+3=22；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k=4：25+0=25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998268" y="3037522"/>
              <a:ext cx="1316355" cy="6248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246489" y="326612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16+16 = 32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0332720" y="3037522"/>
              <a:ext cx="1316355" cy="6248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940377" y="32661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1524000"/>
              <a:ext cx="11125200" cy="21469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418272" y="1524000"/>
              <a:ext cx="9525" cy="21469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2530792" y="1524000"/>
              <a:ext cx="9525" cy="21469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201602" y="1524000"/>
              <a:ext cx="9525" cy="21469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983980" y="1524000"/>
              <a:ext cx="9525" cy="21469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10318432" y="1524000"/>
              <a:ext cx="9525" cy="21469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c1-steps-2"/>
          <p:cNvGrpSpPr/>
          <p:nvPr/>
        </p:nvGrpSpPr>
        <p:grpSpPr>
          <a:xfrm>
            <a:off x="533400" y="3856672"/>
            <a:ext cx="11125200" cy="1398270"/>
            <a:chOff x="533400" y="3856672"/>
            <a:chExt cx="11125200" cy="1398270"/>
          </a:xfrm>
        </p:grpSpPr>
        <p:sp>
          <p:nvSpPr>
            <p:cNvPr id="43" name="Rectangle 43"/>
            <p:cNvSpPr/>
            <p:nvPr/>
          </p:nvSpPr>
          <p:spPr>
            <a:xfrm>
              <a:off x="533400" y="3856672"/>
              <a:ext cx="2566988" cy="1398270"/>
            </a:xfrm>
            <a:prstGeom prst="roundRect">
              <a:avLst>
                <a:gd name="adj" fmla="val 81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666750" y="399002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56883" y="406050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9511" y="4394359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0654" y="4693920"/>
              <a:ext cx="21762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R(0,4)=2：a₂=if 作根，左边是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T(0,1)，右边是 T(2,4)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3176588" y="4470082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3386138" y="3856672"/>
              <a:ext cx="2566988" cy="1398270"/>
            </a:xfrm>
            <a:prstGeom prst="roundRect">
              <a:avLst>
                <a:gd name="adj" fmla="val 81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3519488" y="399002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609621" y="406050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512248" y="439435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左子树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513392" y="4693920"/>
              <a:ext cx="21686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R(0,1)=1：a₁=do，它的两个孩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子都是外结点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6029325" y="4470082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38875" y="3856672"/>
              <a:ext cx="2566988" cy="1398270"/>
            </a:xfrm>
            <a:prstGeom prst="roundRect">
              <a:avLst>
                <a:gd name="adj" fmla="val 81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6372225" y="399002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462358" y="406050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364986" y="439435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右子树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366129" y="4693920"/>
              <a:ext cx="21762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R(2,4)=3：a₃=read，左孩子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T(2,2) 为空，右孩子是 T(3,4)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8882062" y="4470082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9091612" y="3856672"/>
              <a:ext cx="2566988" cy="1398270"/>
            </a:xfrm>
            <a:prstGeom prst="roundRect">
              <a:avLst>
                <a:gd name="adj" fmla="val 81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9224962" y="399002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315096" y="406050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217724" y="439435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再往下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218866" y="4693920"/>
              <a:ext cx="20391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R(3,4)=4：a₄=while 作 read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的右孩子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67" name="Rectangle 67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5884547"/>
              <a:ext cx="200023" cy="200023"/>
              <a:chOff x="738188" y="5884547"/>
              <a:chExt cx="200023" cy="200023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8188" y="58845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71538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511" y="5753576"/>
              <a:ext cx="987005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最优二分检索树的根是 if，左孩子 do，右孩子 read，while 是 read 的右孩子；最小预期成本 C(0,4)=32（按 1/16 换算为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2）。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21638" cy="909257"/>
            <a:chOff x="520446" y="342900"/>
            <a:chExt cx="54216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最优二分检索树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216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三张表 W、C、R 与最优二分检索树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6" name="c1-table-1"/>
          <p:cNvGrpSpPr/>
          <p:nvPr/>
        </p:nvGrpSpPr>
        <p:grpSpPr>
          <a:xfrm>
            <a:off x="533400" y="1524000"/>
            <a:ext cx="3505200" cy="2692718"/>
            <a:chOff x="533400" y="1524000"/>
            <a:chExt cx="3505200" cy="26927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938" y="1659731"/>
              <a:ext cx="5659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W(i,j)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55655" y="1659731"/>
              <a:ext cx="266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j=0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48805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39342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176552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13762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0803" y="2108359"/>
              <a:ext cx="266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34919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51174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94326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31536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68746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416492"/>
              <a:ext cx="350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421255"/>
              <a:ext cx="350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7697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51174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41712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78922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68746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2866072"/>
              <a:ext cx="350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7697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41712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78922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16132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314700"/>
              <a:ext cx="350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319462"/>
              <a:ext cx="350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07697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178922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716132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763328"/>
              <a:ext cx="350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07697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716132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1524000"/>
              <a:ext cx="3505200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390650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1978342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2422208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2959418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3496628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1-card-2"/>
          <p:cNvGrpSpPr/>
          <p:nvPr/>
        </p:nvGrpSpPr>
        <p:grpSpPr>
          <a:xfrm>
            <a:off x="533400" y="4407218"/>
            <a:ext cx="3505200" cy="1905000"/>
            <a:chOff x="533400" y="4407218"/>
            <a:chExt cx="3505200" cy="1905000"/>
          </a:xfrm>
        </p:grpSpPr>
        <p:sp>
          <p:nvSpPr>
            <p:cNvPr id="47" name="Rectangle 47"/>
            <p:cNvSpPr/>
            <p:nvPr/>
          </p:nvSpPr>
          <p:spPr>
            <a:xfrm>
              <a:off x="533400" y="4407218"/>
              <a:ext cx="3505200" cy="190500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542925" y="4540568"/>
              <a:ext cx="47625" cy="16383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81050" y="461676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71258" y="46524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73430" y="4993958"/>
              <a:ext cx="285369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 C 表把 C(0,2)、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C(1,3)、C(2,4) 写成 12、9、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5，那是 W 表的值；按前两页的计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算应为 19、12、8。</a:t>
              </a:r>
            </a:p>
          </p:txBody>
        </p:sp>
      </p:grpSp>
      <p:grpSp>
        <p:nvGrpSpPr>
          <p:cNvPr id="96" name="c2-table-1"/>
          <p:cNvGrpSpPr/>
          <p:nvPr/>
        </p:nvGrpSpPr>
        <p:grpSpPr>
          <a:xfrm>
            <a:off x="4343400" y="1524000"/>
            <a:ext cx="3505200" cy="2692718"/>
            <a:chOff x="4343400" y="1524000"/>
            <a:chExt cx="3505200" cy="2692718"/>
          </a:xfrm>
        </p:grpSpPr>
        <p:sp>
          <p:nvSpPr>
            <p:cNvPr id="53" name="Rectangle 53"/>
            <p:cNvSpPr/>
            <p:nvPr/>
          </p:nvSpPr>
          <p:spPr>
            <a:xfrm>
              <a:off x="4343400" y="1524000"/>
              <a:ext cx="3505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495085" y="1659731"/>
              <a:ext cx="5291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C(i,j)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340890" y="1659731"/>
              <a:ext cx="266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j=0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938802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35055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977980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520905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626515" y="2108359"/>
              <a:ext cx="266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420154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941172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29350" y="1982152"/>
              <a:ext cx="52387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390038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932963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315200" y="1982152"/>
              <a:ext cx="52387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475888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4343400" y="2416492"/>
              <a:ext cx="350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4343400" y="2421255"/>
              <a:ext cx="350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4703410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941172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437424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772275" y="2430780"/>
              <a:ext cx="52387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932963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475888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4343400" y="2866072"/>
              <a:ext cx="350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4703410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437424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980349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7315200" y="2880360"/>
              <a:ext cx="52387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523274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4343400" y="3314700"/>
              <a:ext cx="350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4343400" y="3319462"/>
              <a:ext cx="350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4703410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980349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523274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4343400" y="3763328"/>
              <a:ext cx="350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4703410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523274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4343400" y="1524000"/>
              <a:ext cx="3505200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5172075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5765482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6215062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6757988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7300912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3" name="c2-callout-2"/>
          <p:cNvGrpSpPr/>
          <p:nvPr/>
        </p:nvGrpSpPr>
        <p:grpSpPr>
          <a:xfrm>
            <a:off x="4343400" y="4407218"/>
            <a:ext cx="3505200" cy="1905000"/>
            <a:chOff x="4343400" y="4407218"/>
            <a:chExt cx="3505200" cy="1905000"/>
          </a:xfrm>
        </p:grpSpPr>
        <p:sp>
          <p:nvSpPr>
            <p:cNvPr id="97" name="Rectangle 97"/>
            <p:cNvSpPr/>
            <p:nvPr/>
          </p:nvSpPr>
          <p:spPr>
            <a:xfrm>
              <a:off x="4343400" y="4407218"/>
              <a:ext cx="3505200" cy="1905000"/>
            </a:xfrm>
            <a:prstGeom prst="roundRect">
              <a:avLst>
                <a:gd name="adj" fmla="val 600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01" name="Group 101"/>
            <p:cNvGrpSpPr/>
            <p:nvPr/>
          </p:nvGrpSpPr>
          <p:grpSpPr>
            <a:xfrm>
              <a:off x="4548188" y="5259705"/>
              <a:ext cx="200026" cy="200025"/>
              <a:chOff x="4548188" y="5259705"/>
              <a:chExt cx="200026" cy="200025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4548188" y="52597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9" name="Freeform 99"/>
              <p:cNvSpPr/>
              <p:nvPr/>
            </p:nvSpPr>
            <p:spPr>
              <a:xfrm>
                <a:off x="4587926" y="53041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4622642" y="54152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02" name="TextBox 102"/>
            <p:cNvSpPr txBox="1"/>
            <p:nvPr/>
          </p:nvSpPr>
          <p:spPr>
            <a:xfrm>
              <a:off x="4850130" y="4978718"/>
              <a:ext cx="25584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填表顺序沿对角线方向：先填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j−i=0，再填 j−i=1，…，最后是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右上角的 C(0,4)。</a:t>
              </a:r>
            </a:p>
          </p:txBody>
        </p:sp>
      </p:grpSp>
      <p:grpSp>
        <p:nvGrpSpPr>
          <p:cNvPr id="147" name="c3-table-1"/>
          <p:cNvGrpSpPr/>
          <p:nvPr/>
        </p:nvGrpSpPr>
        <p:grpSpPr>
          <a:xfrm>
            <a:off x="8153400" y="1524000"/>
            <a:ext cx="3505200" cy="2692718"/>
            <a:chOff x="8153400" y="1524000"/>
            <a:chExt cx="3505200" cy="2692718"/>
          </a:xfrm>
        </p:grpSpPr>
        <p:sp>
          <p:nvSpPr>
            <p:cNvPr id="104" name="Rectangle 104"/>
            <p:cNvSpPr/>
            <p:nvPr/>
          </p:nvSpPr>
          <p:spPr>
            <a:xfrm>
              <a:off x="8153400" y="1524000"/>
              <a:ext cx="3505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8328898" y="1659731"/>
              <a:ext cx="5291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R(i,j)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9220423" y="1659731"/>
              <a:ext cx="266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j=0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9865960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0362212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0858465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1354717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8460328" y="2108359"/>
              <a:ext cx="266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i=0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9299687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9684068" y="1982152"/>
              <a:ext cx="47720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9868329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0364582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0860834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11171872" y="1982152"/>
              <a:ext cx="47720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11357087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9" name="Rectangle 119"/>
            <p:cNvSpPr/>
            <p:nvPr/>
          </p:nvSpPr>
          <p:spPr>
            <a:xfrm>
              <a:off x="8153400" y="2416492"/>
              <a:ext cx="350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0" name="Rectangle 120"/>
            <p:cNvSpPr/>
            <p:nvPr/>
          </p:nvSpPr>
          <p:spPr>
            <a:xfrm>
              <a:off x="8153400" y="2421255"/>
              <a:ext cx="350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8537222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9868329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0364582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0860834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11357087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6" name="Rectangle 126"/>
            <p:cNvSpPr/>
            <p:nvPr/>
          </p:nvSpPr>
          <p:spPr>
            <a:xfrm>
              <a:off x="8153400" y="2866072"/>
              <a:ext cx="350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8537222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10364582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10860834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0" name="Rectangle 130"/>
            <p:cNvSpPr/>
            <p:nvPr/>
          </p:nvSpPr>
          <p:spPr>
            <a:xfrm>
              <a:off x="11171872" y="2880360"/>
              <a:ext cx="47720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11357087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2" name="Rectangle 132"/>
            <p:cNvSpPr/>
            <p:nvPr/>
          </p:nvSpPr>
          <p:spPr>
            <a:xfrm>
              <a:off x="8153400" y="3314700"/>
              <a:ext cx="350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3" name="Rectangle 133"/>
            <p:cNvSpPr/>
            <p:nvPr/>
          </p:nvSpPr>
          <p:spPr>
            <a:xfrm>
              <a:off x="8153400" y="3319462"/>
              <a:ext cx="350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8537222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10860834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6" name="Rectangle 136"/>
            <p:cNvSpPr/>
            <p:nvPr/>
          </p:nvSpPr>
          <p:spPr>
            <a:xfrm>
              <a:off x="11171872" y="3328988"/>
              <a:ext cx="47720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7" name="TextBox 137"/>
            <p:cNvSpPr txBox="1"/>
            <p:nvPr/>
          </p:nvSpPr>
          <p:spPr>
            <a:xfrm>
              <a:off x="11357087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8" name="Rectangle 138"/>
            <p:cNvSpPr/>
            <p:nvPr/>
          </p:nvSpPr>
          <p:spPr>
            <a:xfrm>
              <a:off x="8153400" y="3763328"/>
              <a:ext cx="350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9" name="TextBox 139"/>
            <p:cNvSpPr txBox="1"/>
            <p:nvPr/>
          </p:nvSpPr>
          <p:spPr>
            <a:xfrm>
              <a:off x="8537222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11357087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1" name="Rectangle 141"/>
            <p:cNvSpPr/>
            <p:nvPr/>
          </p:nvSpPr>
          <p:spPr>
            <a:xfrm>
              <a:off x="8153400" y="1524000"/>
              <a:ext cx="3505200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42" name="Rectangle 142"/>
            <p:cNvSpPr/>
            <p:nvPr/>
          </p:nvSpPr>
          <p:spPr>
            <a:xfrm>
              <a:off x="9028748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3" name="Rectangle 143"/>
            <p:cNvSpPr/>
            <p:nvPr/>
          </p:nvSpPr>
          <p:spPr>
            <a:xfrm>
              <a:off x="9669780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4" name="Rectangle 144"/>
            <p:cNvSpPr/>
            <p:nvPr/>
          </p:nvSpPr>
          <p:spPr>
            <a:xfrm>
              <a:off x="10166032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5" name="Rectangle 145"/>
            <p:cNvSpPr/>
            <p:nvPr/>
          </p:nvSpPr>
          <p:spPr>
            <a:xfrm>
              <a:off x="10662285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6" name="Rectangle 146"/>
            <p:cNvSpPr/>
            <p:nvPr/>
          </p:nvSpPr>
          <p:spPr>
            <a:xfrm>
              <a:off x="11157585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74" name="c3-graph-2"/>
          <p:cNvGrpSpPr/>
          <p:nvPr/>
        </p:nvGrpSpPr>
        <p:grpSpPr>
          <a:xfrm>
            <a:off x="8192452" y="4416742"/>
            <a:ext cx="3427096" cy="1807465"/>
            <a:chOff x="8192452" y="4416742"/>
            <a:chExt cx="3427096" cy="1807465"/>
          </a:xfrm>
        </p:grpSpPr>
        <p:sp>
          <p:nvSpPr>
            <p:cNvPr id="148" name="Freeform 148"/>
            <p:cNvSpPr/>
            <p:nvPr/>
          </p:nvSpPr>
          <p:spPr>
            <a:xfrm>
              <a:off x="8462010" y="5296852"/>
              <a:ext cx="144780" cy="180975"/>
            </a:xfrm>
            <a:custGeom>
              <a:avLst/>
              <a:gdLst/>
              <a:ahLst/>
              <a:cxnLst/>
              <a:rect l="l" t="t" r="r" b="b"/>
              <a:pathLst>
                <a:path w="144780" h="180975">
                  <a:moveTo>
                    <a:pt x="144780" y="0"/>
                  </a:moveTo>
                  <a:lnTo>
                    <a:pt x="0" y="1809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9" name="Freeform 149"/>
            <p:cNvSpPr/>
            <p:nvPr/>
          </p:nvSpPr>
          <p:spPr>
            <a:xfrm>
              <a:off x="8943022" y="4756785"/>
              <a:ext cx="383858" cy="240030"/>
            </a:xfrm>
            <a:custGeom>
              <a:avLst/>
              <a:gdLst/>
              <a:ahLst/>
              <a:cxnLst/>
              <a:rect l="l" t="t" r="r" b="b"/>
              <a:pathLst>
                <a:path w="383858" h="240030">
                  <a:moveTo>
                    <a:pt x="383858" y="0"/>
                  </a:moveTo>
                  <a:lnTo>
                    <a:pt x="0" y="2400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0" name="Freeform 150"/>
            <p:cNvSpPr/>
            <p:nvPr/>
          </p:nvSpPr>
          <p:spPr>
            <a:xfrm>
              <a:off x="8891588" y="5296852"/>
              <a:ext cx="144780" cy="180975"/>
            </a:xfrm>
            <a:custGeom>
              <a:avLst/>
              <a:gdLst/>
              <a:ahLst/>
              <a:cxnLst/>
              <a:rect l="l" t="t" r="r" b="b"/>
              <a:pathLst>
                <a:path w="144780" h="180975">
                  <a:moveTo>
                    <a:pt x="0" y="0"/>
                  </a:moveTo>
                  <a:lnTo>
                    <a:pt x="144780" y="1809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1" name="Freeform 151"/>
            <p:cNvSpPr/>
            <p:nvPr/>
          </p:nvSpPr>
          <p:spPr>
            <a:xfrm>
              <a:off x="10005060" y="5296852"/>
              <a:ext cx="143827" cy="180975"/>
            </a:xfrm>
            <a:custGeom>
              <a:avLst/>
              <a:gdLst/>
              <a:ahLst/>
              <a:cxnLst/>
              <a:rect l="l" t="t" r="r" b="b"/>
              <a:pathLst>
                <a:path w="143827" h="180975">
                  <a:moveTo>
                    <a:pt x="143827" y="0"/>
                  </a:moveTo>
                  <a:lnTo>
                    <a:pt x="0" y="1809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2" name="Freeform 152"/>
            <p:cNvSpPr/>
            <p:nvPr/>
          </p:nvSpPr>
          <p:spPr>
            <a:xfrm>
              <a:off x="9714548" y="4756785"/>
              <a:ext cx="382905" cy="240030"/>
            </a:xfrm>
            <a:custGeom>
              <a:avLst/>
              <a:gdLst/>
              <a:ahLst/>
              <a:cxnLst/>
              <a:rect l="l" t="t" r="r" b="b"/>
              <a:pathLst>
                <a:path w="382905" h="240030">
                  <a:moveTo>
                    <a:pt x="0" y="0"/>
                  </a:moveTo>
                  <a:lnTo>
                    <a:pt x="382905" y="2400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3" name="Freeform 153"/>
            <p:cNvSpPr/>
            <p:nvPr/>
          </p:nvSpPr>
          <p:spPr>
            <a:xfrm>
              <a:off x="10776585" y="5780722"/>
              <a:ext cx="142875" cy="179070"/>
            </a:xfrm>
            <a:custGeom>
              <a:avLst/>
              <a:gdLst/>
              <a:ahLst/>
              <a:cxnLst/>
              <a:rect l="l" t="t" r="r" b="b"/>
              <a:pathLst>
                <a:path w="142875" h="179070">
                  <a:moveTo>
                    <a:pt x="142875" y="0"/>
                  </a:moveTo>
                  <a:lnTo>
                    <a:pt x="0" y="1790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4" name="Freeform 154"/>
            <p:cNvSpPr/>
            <p:nvPr/>
          </p:nvSpPr>
          <p:spPr>
            <a:xfrm>
              <a:off x="10485120" y="5239702"/>
              <a:ext cx="383857" cy="240982"/>
            </a:xfrm>
            <a:custGeom>
              <a:avLst/>
              <a:gdLst/>
              <a:ahLst/>
              <a:cxnLst/>
              <a:rect l="l" t="t" r="r" b="b"/>
              <a:pathLst>
                <a:path w="383857" h="240982">
                  <a:moveTo>
                    <a:pt x="0" y="0"/>
                  </a:moveTo>
                  <a:lnTo>
                    <a:pt x="383857" y="24098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5" name="Freeform 155"/>
            <p:cNvSpPr/>
            <p:nvPr/>
          </p:nvSpPr>
          <p:spPr>
            <a:xfrm>
              <a:off x="11205210" y="5780722"/>
              <a:ext cx="143827" cy="179070"/>
            </a:xfrm>
            <a:custGeom>
              <a:avLst/>
              <a:gdLst/>
              <a:ahLst/>
              <a:cxnLst/>
              <a:rect l="l" t="t" r="r" b="b"/>
              <a:pathLst>
                <a:path w="143827" h="179070">
                  <a:moveTo>
                    <a:pt x="0" y="0"/>
                  </a:moveTo>
                  <a:lnTo>
                    <a:pt x="143827" y="1790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6" name="Rectangle 156"/>
            <p:cNvSpPr/>
            <p:nvPr/>
          </p:nvSpPr>
          <p:spPr>
            <a:xfrm>
              <a:off x="8192452" y="5477828"/>
              <a:ext cx="342900" cy="247650"/>
            </a:xfrm>
            <a:prstGeom prst="roundRect">
              <a:avLst>
                <a:gd name="adj" fmla="val 15385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57" name="Ellipse 157"/>
            <p:cNvSpPr/>
            <p:nvPr/>
          </p:nvSpPr>
          <p:spPr>
            <a:xfrm>
              <a:off x="8530590" y="4898708"/>
              <a:ext cx="438150" cy="4381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58" name="Rectangle 158"/>
            <p:cNvSpPr/>
            <p:nvPr/>
          </p:nvSpPr>
          <p:spPr>
            <a:xfrm>
              <a:off x="8963025" y="5477828"/>
              <a:ext cx="342900" cy="247650"/>
            </a:xfrm>
            <a:prstGeom prst="roundRect">
              <a:avLst>
                <a:gd name="adj" fmla="val 15385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59" name="Ellipse 159"/>
            <p:cNvSpPr/>
            <p:nvPr/>
          </p:nvSpPr>
          <p:spPr>
            <a:xfrm>
              <a:off x="9301162" y="4416742"/>
              <a:ext cx="438150" cy="4381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60" name="Rectangle 160"/>
            <p:cNvSpPr/>
            <p:nvPr/>
          </p:nvSpPr>
          <p:spPr>
            <a:xfrm>
              <a:off x="9734550" y="5477828"/>
              <a:ext cx="342900" cy="247650"/>
            </a:xfrm>
            <a:prstGeom prst="roundRect">
              <a:avLst>
                <a:gd name="adj" fmla="val 15385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61" name="Ellipse 161"/>
            <p:cNvSpPr/>
            <p:nvPr/>
          </p:nvSpPr>
          <p:spPr>
            <a:xfrm>
              <a:off x="10072688" y="4898708"/>
              <a:ext cx="438150" cy="4381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62" name="Rectangle 162"/>
            <p:cNvSpPr/>
            <p:nvPr/>
          </p:nvSpPr>
          <p:spPr>
            <a:xfrm>
              <a:off x="10506075" y="5959792"/>
              <a:ext cx="342900" cy="247650"/>
            </a:xfrm>
            <a:prstGeom prst="roundRect">
              <a:avLst>
                <a:gd name="adj" fmla="val 15385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63" name="Ellipse 163"/>
            <p:cNvSpPr/>
            <p:nvPr/>
          </p:nvSpPr>
          <p:spPr>
            <a:xfrm>
              <a:off x="10843260" y="5382578"/>
              <a:ext cx="438150" cy="4381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64" name="Rectangle 164"/>
            <p:cNvSpPr/>
            <p:nvPr/>
          </p:nvSpPr>
          <p:spPr>
            <a:xfrm>
              <a:off x="11276648" y="5959792"/>
              <a:ext cx="342900" cy="247650"/>
            </a:xfrm>
            <a:prstGeom prst="roundRect">
              <a:avLst>
                <a:gd name="adj" fmla="val 15385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65" name="TextBox 165"/>
            <p:cNvSpPr txBox="1"/>
            <p:nvPr/>
          </p:nvSpPr>
          <p:spPr>
            <a:xfrm>
              <a:off x="8272318" y="5536883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E0</a:t>
              </a:r>
            </a:p>
          </p:txBody>
        </p:sp>
        <p:sp>
          <p:nvSpPr>
            <p:cNvPr id="166" name="TextBox 166"/>
            <p:cNvSpPr txBox="1"/>
            <p:nvPr/>
          </p:nvSpPr>
          <p:spPr>
            <a:xfrm>
              <a:off x="8662701" y="505301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</a:t>
              </a:r>
            </a:p>
          </p:txBody>
        </p:sp>
        <p:sp>
          <p:nvSpPr>
            <p:cNvPr id="167" name="TextBox 167"/>
            <p:cNvSpPr txBox="1"/>
            <p:nvPr/>
          </p:nvSpPr>
          <p:spPr>
            <a:xfrm>
              <a:off x="9042890" y="5536883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E1</a:t>
              </a:r>
            </a:p>
          </p:txBody>
        </p:sp>
        <p:sp>
          <p:nvSpPr>
            <p:cNvPr id="168" name="TextBox 168"/>
            <p:cNvSpPr txBox="1"/>
            <p:nvPr/>
          </p:nvSpPr>
          <p:spPr>
            <a:xfrm>
              <a:off x="9451826" y="4571048"/>
              <a:ext cx="1368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169" name="TextBox 169"/>
            <p:cNvSpPr txBox="1"/>
            <p:nvPr/>
          </p:nvSpPr>
          <p:spPr>
            <a:xfrm>
              <a:off x="9814415" y="5536883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E2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10123168" y="505301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</a:t>
              </a:r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10585940" y="601884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E3</a:t>
              </a:r>
            </a:p>
          </p:txBody>
        </p:sp>
        <p:sp>
          <p:nvSpPr>
            <p:cNvPr id="172" name="TextBox 172"/>
            <p:cNvSpPr txBox="1"/>
            <p:nvPr/>
          </p:nvSpPr>
          <p:spPr>
            <a:xfrm>
              <a:off x="10875188" y="5536883"/>
              <a:ext cx="3742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while</a:t>
              </a:r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11356513" y="601884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E4</a:t>
              </a:r>
            </a:p>
          </p:txBody>
        </p:sp>
      </p:grpSp>
      <p:grpSp>
        <p:nvGrpSpPr>
          <p:cNvPr id="1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5" name="TextBox 17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176" name="TextBox 1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23003" cy="909257"/>
            <a:chOff x="520446" y="342900"/>
            <a:chExt cx="732300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最优二分检索树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230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时间复杂度 O(n³)，Knuth 优化后降为 O(n²)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2529840"/>
            <a:chOff x="533400" y="1524000"/>
            <a:chExt cx="5410200" cy="25298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529840"/>
            </a:xfrm>
            <a:prstGeom prst="roundRect">
              <a:avLst>
                <a:gd name="adj" fmla="val 52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6314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1342" y="175069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直接按递推式计算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2478" y="212883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8497" y="2072640"/>
              <a:ext cx="462572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j−i=1 时计算 n 个 C(i,j)，j−i=2 时计算 n−1 个，…，j−i=m 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 n−m+1 个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2478" y="2688907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497" y="2632710"/>
              <a:ext cx="47851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C(i,j) 要在 m 个候选 k 中找最小值，需要 O(m) 时间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2478" y="299180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8497" y="2935605"/>
              <a:ext cx="34473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j−i=m 的全部 C(i,j) 共需 O(nm−m²) 时间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formula94"/>
                <p:cNvSpPr txBox="1">
                  <a:spLocks noGrp="1"/>
                </p:cNvSpPr>
                <p:nvPr/>
              </p:nvSpPr>
              <p:spPr>
                <a:xfrm>
                  <a:off x="763905" y="3215640"/>
                  <a:ext cx="4987290" cy="628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  <m:sup/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nm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</m:t>
                                    </m:r>
                                  </m:e>
                                  <m:sup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O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9" name="c1-table-2"/>
          <p:cNvGrpSpPr/>
          <p:nvPr/>
        </p:nvGrpSpPr>
        <p:grpSpPr>
          <a:xfrm>
            <a:off x="528066" y="4229100"/>
            <a:ext cx="5415534" cy="1902714"/>
            <a:chOff x="528066" y="4229100"/>
            <a:chExt cx="5415534" cy="1902714"/>
          </a:xfrm>
        </p:grpSpPr>
        <p:sp>
          <p:nvSpPr>
            <p:cNvPr id="19" name="Rectangle 19"/>
            <p:cNvSpPr/>
            <p:nvPr/>
          </p:nvSpPr>
          <p:spPr>
            <a:xfrm>
              <a:off x="533400" y="4229100"/>
              <a:ext cx="541020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52080" y="4353401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 = j−i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74899" y="43534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95014" y="43534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15129" y="43534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434291" y="43534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2718" y="4759166"/>
              <a:ext cx="813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C(i,j) 个数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76972" y="47591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97087" y="47591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17202" y="47591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36365" y="47591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50358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50406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1184" y="51649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每个的候选数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676972" y="51649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97087" y="51649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17202" y="51649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436365" y="51649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54416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242733" y="55706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676972" y="55706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97087" y="55706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17202" y="55706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436365" y="55706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4229100"/>
              <a:ext cx="5410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2260282" y="42291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3179445" y="42291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4099560" y="42291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018722" y="42291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8066" y="5926455"/>
              <a:ext cx="22228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n=4 时共考察 4+6+6+4 = 20 个候选</a:t>
              </a:r>
            </a:p>
          </p:txBody>
        </p:sp>
      </p:grpSp>
      <p:grpSp>
        <p:nvGrpSpPr>
          <p:cNvPr id="60" name="c2-card-1"/>
          <p:cNvGrpSpPr/>
          <p:nvPr/>
        </p:nvGrpSpPr>
        <p:grpSpPr>
          <a:xfrm>
            <a:off x="6248400" y="1524000"/>
            <a:ext cx="5410200" cy="2322195"/>
            <a:chOff x="6248400" y="1524000"/>
            <a:chExt cx="5410200" cy="2322195"/>
          </a:xfrm>
        </p:grpSpPr>
        <p:sp>
          <p:nvSpPr>
            <p:cNvPr id="50" name="Rectangle 50"/>
            <p:cNvSpPr/>
            <p:nvPr/>
          </p:nvSpPr>
          <p:spPr>
            <a:xfrm>
              <a:off x="6248400" y="1524000"/>
              <a:ext cx="5410200" cy="2322195"/>
            </a:xfrm>
            <a:prstGeom prst="roundRect">
              <a:avLst>
                <a:gd name="adj" fmla="val 57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257925" y="1657350"/>
              <a:ext cx="47625" cy="205549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78905" y="1716405"/>
              <a:ext cx="134493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34960" y="1750695"/>
              <a:ext cx="12328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D.E.Knuth 的优化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72047" y="2072640"/>
              <a:ext cx="42994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最优的 k 只需在区间 R(i,j−1) ≤ k ≤ R(i+1,j) 中找：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formula95"/>
                <p:cNvSpPr txBox="1">
                  <a:spLocks noGrp="1"/>
                </p:cNvSpPr>
                <p:nvPr/>
              </p:nvSpPr>
              <p:spPr>
                <a:xfrm>
                  <a:off x="6478905" y="2353628"/>
                  <a:ext cx="4987290" cy="42100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e>
                                </m:d>
                              </m:lim>
                            </m:limLow>
                          </m:fName>
                          <m:e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W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56" name="Ellipse 56"/>
            <p:cNvSpPr/>
            <p:nvPr/>
          </p:nvSpPr>
          <p:spPr>
            <a:xfrm>
              <a:off x="6487478" y="293941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643497" y="2883218"/>
              <a:ext cx="46422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 m 时，各区间长度之和为 O(n)，总时间降为 O(n²)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487478" y="324231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43497" y="3186112"/>
              <a:ext cx="43856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初始值：W(i,i)=Q(i)，R(i,i)=0，C(i,i)=0；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W(i,i+1)=C(i,i+1)=Q(i)+P(i+1)+Q(i+1)，R(i,i+1)=i+1</a:t>
              </a:r>
            </a:p>
          </p:txBody>
        </p:sp>
      </p:grpSp>
      <p:grpSp>
        <p:nvGrpSpPr>
          <p:cNvPr id="81" name="c2-table-2"/>
          <p:cNvGrpSpPr/>
          <p:nvPr/>
        </p:nvGrpSpPr>
        <p:grpSpPr>
          <a:xfrm>
            <a:off x="6243066" y="4021455"/>
            <a:ext cx="5415534" cy="1902714"/>
            <a:chOff x="6243066" y="4021455"/>
            <a:chExt cx="5415534" cy="1902714"/>
          </a:xfrm>
        </p:grpSpPr>
        <p:sp>
          <p:nvSpPr>
            <p:cNvPr id="61" name="Rectangle 61"/>
            <p:cNvSpPr/>
            <p:nvPr/>
          </p:nvSpPr>
          <p:spPr>
            <a:xfrm>
              <a:off x="6248400" y="4021455"/>
              <a:ext cx="541020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569315" y="4145756"/>
              <a:ext cx="463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C(i,j)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629171" y="4145756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原来的候选 k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020572" y="4145756"/>
              <a:ext cx="24223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Knuth 区间 [R(i,j−1), R(i+1,j)]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519133" y="4551521"/>
              <a:ext cx="5634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C(0,3)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820843" y="4551521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1, 2, 3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996109" y="4551521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[1, 2]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248400" y="48282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248400" y="483298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519133" y="4957286"/>
              <a:ext cx="5634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C(1,4)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820843" y="495728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2, 3, 4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996109" y="495728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[2, 3]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248400" y="52339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519133" y="5363051"/>
              <a:ext cx="5634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C(0,4)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715301" y="5363051"/>
              <a:ext cx="727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1, 2, 3, 4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996109" y="5363051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[2, 2]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248400" y="4021455"/>
              <a:ext cx="5410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7349490" y="402145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8800148" y="402145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243066" y="5718810"/>
              <a:ext cx="37776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 n=4 的实例：j−i≥3 时候选从 10 个减到 5 个，结果不变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83750" cy="909257"/>
            <a:chOff x="520446" y="342900"/>
            <a:chExt cx="868375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最优二分检索树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8375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算法6.4 OBST：按 j−i 递增填表，在 Knuth 区间里找根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492240" cy="4291012"/>
            <a:chOff x="533400" y="1524000"/>
            <a:chExt cx="6492240" cy="42910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291012"/>
            </a:xfrm>
            <a:prstGeom prst="roundRect">
              <a:avLst>
                <a:gd name="adj" fmla="val 222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7312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算法6.4 最优二分检索树算法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3531108" cy="38067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OBST(P, Q, n)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real P(1:n), Q(0:n), C(0:n,0:n), W(0:n,0:n)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integer R(0:n,0:n)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i ← 0 to n-1 do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(W(i,i), R(i,i), C(i,i)) ← (Q(i), 0, 0)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 ← Q(i) + Q(i+1) + P(i+1)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(W(i,i+1), R(i,i+1), C(i,i+1)) ← (t, i+1, t)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(W(n,n), R(n,n), C(n,n)) ← (Q(n), 0, 0)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m ← 2 to n do          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m = j-i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for i ← 0 to n-m do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j ← i+m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W(i,j) ← W(i,j-1) + P(j) + Q(j)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k ← 区间 [R(i,j-1), R(i+1,j)] 中使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  C(i,l-1)+C(l,j) 取最小值的 l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C(i,j) ← C(i,k-1) + C(k,j) + W(i,j)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R(i,j) ← k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repeat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OBST</a:t>
              </a:r>
            </a:p>
          </p:txBody>
        </p:sp>
      </p:grpSp>
      <p:grpSp>
        <p:nvGrpSpPr>
          <p:cNvPr id="32" name="c2-steps-1"/>
          <p:cNvGrpSpPr/>
          <p:nvPr/>
        </p:nvGrpSpPr>
        <p:grpSpPr>
          <a:xfrm>
            <a:off x="7330440" y="1533525"/>
            <a:ext cx="3871849" cy="3179730"/>
            <a:chOff x="7330440" y="1533525"/>
            <a:chExt cx="3871849" cy="3179730"/>
          </a:xfrm>
        </p:grpSpPr>
        <p:sp>
          <p:nvSpPr>
            <p:cNvPr id="11" name="Rectangle 11"/>
            <p:cNvSpPr/>
            <p:nvPr/>
          </p:nvSpPr>
          <p:spPr>
            <a:xfrm>
              <a:off x="7463790" y="1676400"/>
              <a:ext cx="19050" cy="26031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33044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42406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30440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2406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330440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2406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330440" y="34861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2406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330440" y="41367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24064" y="42105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41920" y="1567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43063" y="1861661"/>
              <a:ext cx="27680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j−i=0 和 j−i=1 的 W、R、C 直接写出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41920" y="221837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按规模递增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43063" y="251221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外层 m 从 2 到 n，内层 i 从 0 到 n−m，j=i+m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41920" y="2868930"/>
              <a:ext cx="6543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递推 W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43063" y="3162776"/>
              <a:ext cx="32037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W(i,j) = W(i,j−1) + P(j) + Q(j)，O(1)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41920" y="352044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在区间里找根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43063" y="3813334"/>
              <a:ext cx="29026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只比较 R(i,j−1) 到 R(i+1,j) 之间的 l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41920" y="417099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43063" y="4463891"/>
              <a:ext cx="24799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C(i,j) 存最小成本，R(i,j) 存根</a:t>
              </a:r>
            </a:p>
          </p:txBody>
        </p:sp>
      </p:grpSp>
      <p:grpSp>
        <p:nvGrpSpPr>
          <p:cNvPr id="38" name="c2-callout-2"/>
          <p:cNvGrpSpPr/>
          <p:nvPr/>
        </p:nvGrpSpPr>
        <p:grpSpPr>
          <a:xfrm>
            <a:off x="7330440" y="4892040"/>
            <a:ext cx="4328160" cy="922972"/>
            <a:chOff x="7330440" y="4892040"/>
            <a:chExt cx="4328160" cy="922972"/>
          </a:xfrm>
        </p:grpSpPr>
        <p:sp>
          <p:nvSpPr>
            <p:cNvPr id="33" name="Rectangle 33"/>
            <p:cNvSpPr/>
            <p:nvPr/>
          </p:nvSpPr>
          <p:spPr>
            <a:xfrm>
              <a:off x="7330440" y="4892040"/>
              <a:ext cx="4328160" cy="922972"/>
            </a:xfrm>
            <a:prstGeom prst="roundRect">
              <a:avLst>
                <a:gd name="adj" fmla="val 12384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535228" y="5253990"/>
              <a:ext cx="200026" cy="200026"/>
              <a:chOff x="7535228" y="5253990"/>
              <a:chExt cx="200026" cy="20002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535228" y="525399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601903" y="533177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7837170" y="5111115"/>
              <a:ext cx="34537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结束时 C(0,n) 是最小预期成本，由 R 表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递归构造出最优树。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502448" cy="2997517"/>
            <a:chOff x="667512" y="1835468"/>
            <a:chExt cx="450244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第七部分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矩阵链乘积问题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925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加括号的位置就是决策，区间 [i, j] 就是状态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问题描述与问题分析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989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最优性原理与递推式 m(i,j)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811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算法与 n=6 的实例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矩阵链乘积问题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矩阵链乘积：加括号的方式决定乘法次数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2071688"/>
            <a:chOff x="533400" y="1524000"/>
            <a:chExt cx="5410200" cy="20716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71688"/>
            </a:xfrm>
            <a:prstGeom prst="roundRect">
              <a:avLst>
                <a:gd name="adj" fmla="val 64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0498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7344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问题描述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2478" y="212883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8497" y="2072640"/>
              <a:ext cx="46687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 n 个矩阵的序列 A₁, A₂, …, Aₙ，计算乘积 A₁A₂…Aₙ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2478" y="243173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497" y="2375535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以标量乘法的执行次数作为计算代价，求代价最小的计算顺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2478" y="299180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8497" y="2935605"/>
              <a:ext cx="43771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A(p×q) 乘 B(q×r) 得到 p×r 的矩阵 T：T 的每个元素要做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 次乘法，共 p×q×r 次</a:t>
              </a:r>
            </a:p>
          </p:txBody>
        </p:sp>
      </p:grpSp>
      <p:grpSp>
        <p:nvGrpSpPr>
          <p:cNvPr id="40" name="c1-card-2"/>
          <p:cNvGrpSpPr/>
          <p:nvPr/>
        </p:nvGrpSpPr>
        <p:grpSpPr>
          <a:xfrm>
            <a:off x="533400" y="3770948"/>
            <a:ext cx="5410200" cy="2524125"/>
            <a:chOff x="533400" y="3770948"/>
            <a:chExt cx="5410200" cy="2524125"/>
          </a:xfrm>
        </p:grpSpPr>
        <p:sp>
          <p:nvSpPr>
            <p:cNvPr id="18" name="Rectangle 18"/>
            <p:cNvSpPr/>
            <p:nvPr/>
          </p:nvSpPr>
          <p:spPr>
            <a:xfrm>
              <a:off x="533400" y="3770948"/>
              <a:ext cx="5410200" cy="2524125"/>
            </a:xfrm>
            <a:prstGeom prst="roundRect">
              <a:avLst>
                <a:gd name="adj" fmla="val 52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3904298"/>
              <a:ext cx="47625" cy="22574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63905" y="3963352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9346" y="399764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7047" y="4319588"/>
              <a:ext cx="42142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 为 p×q，A₂ 为 q×r，A₃ 为 r×m，取 p=10，q=100，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r=5，m=50：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3905" y="4856798"/>
              <a:ext cx="498729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291031" y="498109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计算顺序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94101" y="498109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乘法次数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53356" y="498109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代入数值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24577" y="5386864"/>
              <a:ext cx="747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(A₁A₂)A₃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945100" y="5386864"/>
              <a:ext cx="7125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pqr + prm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179570" y="5272088"/>
              <a:ext cx="1562100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62816" y="5386864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7 500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63905" y="5663565"/>
              <a:ext cx="498729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63905" y="5668328"/>
              <a:ext cx="498729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224577" y="5792629"/>
              <a:ext cx="747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A₁(A₂A₃)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930022" y="5792629"/>
              <a:ext cx="7426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qrm + pqm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179570" y="5677852"/>
              <a:ext cx="1562100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179891" y="5792629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75 000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63905" y="4856798"/>
              <a:ext cx="4987290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428875" y="4856798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165282" y="4856798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2-card-1"/>
          <p:cNvGrpSpPr/>
          <p:nvPr/>
        </p:nvGrpSpPr>
        <p:grpSpPr>
          <a:xfrm>
            <a:off x="6248400" y="1524000"/>
            <a:ext cx="5410200" cy="2631758"/>
            <a:chOff x="6248400" y="1524000"/>
            <a:chExt cx="5410200" cy="2631758"/>
          </a:xfrm>
        </p:grpSpPr>
        <p:sp>
          <p:nvSpPr>
            <p:cNvPr id="41" name="Rectangle 41"/>
            <p:cNvSpPr/>
            <p:nvPr/>
          </p:nvSpPr>
          <p:spPr>
            <a:xfrm>
              <a:off x="6248400" y="1524000"/>
              <a:ext cx="5410200" cy="2631758"/>
            </a:xfrm>
            <a:prstGeom prst="roundRect">
              <a:avLst>
                <a:gd name="adj" fmla="val 50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57925" y="1657350"/>
              <a:ext cx="47625" cy="23650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78905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62344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问题分析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487478" y="212883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43497" y="207264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约束条件：矩阵乘法规则，相邻矩阵的行列要匹配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487478" y="243173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43497" y="237553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目标函数：乘法次数最少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487478" y="2734627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43497" y="2678430"/>
              <a:ext cx="45742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穷举法：n 个矩阵的加括号方式有卡特兰数 C(n−1) 种，随 n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指数增长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487478" y="329374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43497" y="3237548"/>
              <a:ext cx="44714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动态规划：每个阶段决定一个括号（分割点）的位置，这个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决策只依赖矩阵链的当前状态，与之前怎样到达这个状态无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</a:t>
              </a:r>
            </a:p>
          </p:txBody>
        </p:sp>
      </p:grpSp>
      <p:grpSp>
        <p:nvGrpSpPr>
          <p:cNvPr id="73" name="c2-table-2"/>
          <p:cNvGrpSpPr/>
          <p:nvPr/>
        </p:nvGrpSpPr>
        <p:grpSpPr>
          <a:xfrm>
            <a:off x="6248400" y="4330065"/>
            <a:ext cx="5410200" cy="811530"/>
            <a:chOff x="6248400" y="4330065"/>
            <a:chExt cx="5410200" cy="811530"/>
          </a:xfrm>
        </p:grpSpPr>
        <p:sp>
          <p:nvSpPr>
            <p:cNvPr id="54" name="Rectangle 54"/>
            <p:cNvSpPr/>
            <p:nvPr/>
          </p:nvSpPr>
          <p:spPr>
            <a:xfrm>
              <a:off x="6248400" y="4330065"/>
              <a:ext cx="541020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66321" y="4454366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矩阵个数 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90789" y="44543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505151" y="44543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159519" y="44543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917035" y="44543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967643" y="44543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82829" y="48601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加括号方式数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892862" y="48601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507225" y="48601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120129" y="48601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815640" y="4860131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4 862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719242" y="4860131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2 674 440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248400" y="4330065"/>
              <a:ext cx="5410200" cy="8115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7628572" y="4330065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8242935" y="4330065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8856345" y="4330065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9552622" y="4330065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10457498" y="4330065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0" name="c2-callout-3"/>
          <p:cNvGrpSpPr/>
          <p:nvPr/>
        </p:nvGrpSpPr>
        <p:grpSpPr>
          <a:xfrm>
            <a:off x="6248400" y="5316855"/>
            <a:ext cx="5410200" cy="978218"/>
            <a:chOff x="6248400" y="5316855"/>
            <a:chExt cx="5410200" cy="978218"/>
          </a:xfrm>
        </p:grpSpPr>
        <p:sp>
          <p:nvSpPr>
            <p:cNvPr id="74" name="Rectangle 74"/>
            <p:cNvSpPr/>
            <p:nvPr/>
          </p:nvSpPr>
          <p:spPr>
            <a:xfrm>
              <a:off x="6248400" y="5316855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6453188" y="5706428"/>
              <a:ext cx="200026" cy="200025"/>
              <a:chOff x="6453188" y="5706428"/>
              <a:chExt cx="200026" cy="200025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6453188" y="57064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6492926" y="57508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6527642" y="58620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6755892" y="5463540"/>
              <a:ext cx="435140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方式数 P(n) 满足 P(1)=1，P(n) = Σ P(k)·P(n−k)（1≤k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≤n−1）：按最外层分割点分类计数，和动态规划的思路一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样。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13039" cy="909257"/>
            <a:chOff x="520446" y="342900"/>
            <a:chExt cx="44130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矩阵链乘积问题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130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最优性原理与递推式 m(i, j)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4772406" cy="2232089"/>
            <a:chOff x="533400" y="1533525"/>
            <a:chExt cx="4772406" cy="223208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463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965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0703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261" y="156638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决策分割点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404" y="1846898"/>
              <a:ext cx="43594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 AᵢAᵢ₊₁…Aⱼ 时，先决定最外层括号分在 Aₖ 之后，i≤k&lt;j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218741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分成两个子问题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2467927"/>
              <a:ext cx="38602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(Aᵢ…Aₖ)(Aₖ₊₁…Aⱼ)，两个乘积矩阵的规模是 pᵢ₋₁×pₖ 和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pₖ×pⱼ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302942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3309938"/>
              <a:ext cx="41269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若最优方案对某个子链的算法不是该子链的最优方案，换成子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链的最优方案后总代价更小，与假设矛盾</a:t>
              </a:r>
            </a:p>
          </p:txBody>
        </p:sp>
      </p:grpSp>
      <p:grpSp>
        <p:nvGrpSpPr>
          <p:cNvPr id="35" name="c1-graph-2"/>
          <p:cNvGrpSpPr/>
          <p:nvPr/>
        </p:nvGrpSpPr>
        <p:grpSpPr>
          <a:xfrm>
            <a:off x="624840" y="4096702"/>
            <a:ext cx="4577716" cy="1870235"/>
            <a:chOff x="624840" y="4096702"/>
            <a:chExt cx="4577716" cy="1870235"/>
          </a:xfrm>
        </p:grpSpPr>
        <p:sp>
          <p:nvSpPr>
            <p:cNvPr id="21" name="Freeform 21"/>
            <p:cNvSpPr/>
            <p:nvPr/>
          </p:nvSpPr>
          <p:spPr>
            <a:xfrm>
              <a:off x="1579245" y="4396740"/>
              <a:ext cx="1128712" cy="1201103"/>
            </a:xfrm>
            <a:custGeom>
              <a:avLst/>
              <a:gdLst/>
              <a:ahLst/>
              <a:cxnLst/>
              <a:rect l="l" t="t" r="r" b="b"/>
              <a:pathLst>
                <a:path w="1128712" h="1201103">
                  <a:moveTo>
                    <a:pt x="0" y="0"/>
                  </a:moveTo>
                  <a:lnTo>
                    <a:pt x="1128712" y="12011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672715" y="5564505"/>
              <a:ext cx="100012" cy="101917"/>
            </a:xfrm>
            <a:custGeom>
              <a:avLst/>
              <a:gdLst/>
              <a:ahLst/>
              <a:cxnLst/>
              <a:rect l="l" t="t" r="r" b="b"/>
              <a:pathLst>
                <a:path w="100012" h="101917">
                  <a:moveTo>
                    <a:pt x="100012" y="101917"/>
                  </a:moveTo>
                  <a:lnTo>
                    <a:pt x="0" y="65722"/>
                  </a:lnTo>
                  <a:lnTo>
                    <a:pt x="6953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3120390" y="4396740"/>
              <a:ext cx="1128712" cy="1201103"/>
            </a:xfrm>
            <a:custGeom>
              <a:avLst/>
              <a:gdLst/>
              <a:ahLst/>
              <a:cxnLst/>
              <a:rect l="l" t="t" r="r" b="b"/>
              <a:pathLst>
                <a:path w="1128712" h="1201103">
                  <a:moveTo>
                    <a:pt x="1128712" y="0"/>
                  </a:moveTo>
                  <a:lnTo>
                    <a:pt x="0" y="12011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054668" y="5564505"/>
              <a:ext cx="100012" cy="101917"/>
            </a:xfrm>
            <a:custGeom>
              <a:avLst/>
              <a:gdLst/>
              <a:ahLst/>
              <a:cxnLst/>
              <a:rect l="l" t="t" r="r" b="b"/>
              <a:pathLst>
                <a:path w="100012" h="101917">
                  <a:moveTo>
                    <a:pt x="0" y="101917"/>
                  </a:moveTo>
                  <a:lnTo>
                    <a:pt x="30480" y="0"/>
                  </a:lnTo>
                  <a:lnTo>
                    <a:pt x="100012" y="6572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4840" y="4096702"/>
              <a:ext cx="1625918" cy="300038"/>
            </a:xfrm>
            <a:prstGeom prst="roundRect">
              <a:avLst>
                <a:gd name="adj" fmla="val 31746"/>
              </a:avLst>
            </a:prstGeom>
            <a:solidFill>
              <a:srgbClr val="E8EDF8"/>
            </a:solidFill>
            <a:ln w="17145">
              <a:solidFill>
                <a:srgbClr val="2F4B9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576638" y="4096702"/>
              <a:ext cx="1625918" cy="300038"/>
            </a:xfrm>
            <a:prstGeom prst="roundRect">
              <a:avLst>
                <a:gd name="adj" fmla="val 31746"/>
              </a:avLst>
            </a:prstGeom>
            <a:solidFill>
              <a:srgbClr val="E8EDF8"/>
            </a:solidFill>
            <a:ln w="17145">
              <a:solidFill>
                <a:srgbClr val="2F4B9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101215" y="5666422"/>
              <a:ext cx="1625918" cy="300038"/>
            </a:xfrm>
            <a:prstGeom prst="roundRect">
              <a:avLst>
                <a:gd name="adj" fmla="val 31746"/>
              </a:avLst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2418" y="4177189"/>
              <a:ext cx="12317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Aᵢ…Aₖ：pᵢ₋₁×pₖ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69287" y="4177189"/>
              <a:ext cx="12415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Aₖ₊₁…Aⱼ：pₖ×pⱼ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97840" y="5746909"/>
              <a:ext cx="12317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Aᵢ…Aⱼ：pᵢ₋₁×pⱼ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13669" y="5005388"/>
              <a:ext cx="6538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m(i,k) 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60863" y="5005388"/>
              <a:ext cx="8093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m(k+1,j) 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84310" y="478726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最后一次相乘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407274" y="5071110"/>
              <a:ext cx="1012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pᵢ₋₁·pₖ·pⱼ 次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5598795" y="1524000"/>
            <a:ext cx="6059805" cy="2969895"/>
            <a:chOff x="5598795" y="1524000"/>
            <a:chExt cx="6059805" cy="2969895"/>
          </a:xfrm>
        </p:grpSpPr>
        <p:sp>
          <p:nvSpPr>
            <p:cNvPr id="36" name="Rectangle 36"/>
            <p:cNvSpPr/>
            <p:nvPr/>
          </p:nvSpPr>
          <p:spPr>
            <a:xfrm>
              <a:off x="5598795" y="1524000"/>
              <a:ext cx="6059805" cy="2969895"/>
            </a:xfrm>
            <a:prstGeom prst="roundRect">
              <a:avLst>
                <a:gd name="adj" fmla="val 449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608320" y="1657350"/>
              <a:ext cx="47625" cy="270319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840730" y="172783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26988" y="176355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递推式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833491" y="2100739"/>
              <a:ext cx="519023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Aₜ 是 pₜ₋₁×pₜ 的矩阵。m(i,j) 表示计算 AᵢAᵢ₊₁…Aⱼ 的最少乘法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次数，在 Aₖ 后分割时最少代价为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formula100"/>
                <p:cNvSpPr txBox="1">
                  <a:spLocks noGrp="1"/>
                </p:cNvSpPr>
                <p:nvPr/>
              </p:nvSpPr>
              <p:spPr>
                <a:xfrm>
                  <a:off x="5840730" y="2668905"/>
                  <a:ext cx="5614035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2" name="TextBox 42"/>
            <p:cNvSpPr txBox="1"/>
            <p:nvPr/>
          </p:nvSpPr>
          <p:spPr>
            <a:xfrm>
              <a:off x="5833491" y="3184684"/>
              <a:ext cx="39428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遍历所有分割点 k 取最小值，边界 m(i,i)=0：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formula101"/>
                <p:cNvSpPr txBox="1">
                  <a:spLocks noGrp="1"/>
                </p:cNvSpPr>
                <p:nvPr/>
              </p:nvSpPr>
              <p:spPr>
                <a:xfrm>
                  <a:off x="5840730" y="3481388"/>
                  <a:ext cx="5614035" cy="4705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j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4" name="TextBox 44"/>
            <p:cNvSpPr txBox="1"/>
            <p:nvPr/>
          </p:nvSpPr>
          <p:spPr>
            <a:xfrm>
              <a:off x="5833491" y="4067651"/>
              <a:ext cx="42104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s(i,j) 记录取到最小值的 k，用来还原括号位置。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5598795" y="4679632"/>
            <a:ext cx="6059805" cy="1623060"/>
            <a:chOff x="5598795" y="4679632"/>
            <a:chExt cx="6059805" cy="1623060"/>
          </a:xfrm>
        </p:grpSpPr>
        <p:sp>
          <p:nvSpPr>
            <p:cNvPr id="46" name="Rectangle 46"/>
            <p:cNvSpPr/>
            <p:nvPr/>
          </p:nvSpPr>
          <p:spPr>
            <a:xfrm>
              <a:off x="5598795" y="4679632"/>
              <a:ext cx="6059805" cy="1623060"/>
            </a:xfrm>
            <a:prstGeom prst="roundRect">
              <a:avLst>
                <a:gd name="adj" fmla="val 82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5608320" y="4812982"/>
              <a:ext cx="47625" cy="13563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840730" y="4883468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35840" y="491918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00216" y="4922996"/>
              <a:ext cx="40656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 30×35，A₂ 35×15，A₃ 15×5，求 m(1,3)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833491" y="5275421"/>
              <a:ext cx="52809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k=1：m(1,1) + m(2,3) + 30×35×5 = 0 + 2625 + 5250 = 7875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833491" y="5595461"/>
              <a:ext cx="549122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k=2：m(1,2) + m(3,3) + 30×15×5 = 15750 + 0 + 2250 = 18000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834634" y="5911215"/>
              <a:ext cx="44976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 k=1：m(1,3) = 7875，s(1,3) = 1，最优方式为 A₁(A₂A₃)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351055" cy="909257"/>
            <a:chOff x="520446" y="342900"/>
            <a:chExt cx="535105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矩阵链乘积问题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35105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算法6.5：按链长递增计算 m(i, j)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492240" cy="3810952"/>
            <a:chOff x="533400" y="1524000"/>
            <a:chExt cx="6492240" cy="38109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3810952"/>
            </a:xfrm>
            <a:prstGeom prst="roundRect">
              <a:avLst>
                <a:gd name="adj" fmla="val 24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4673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算法6.5 矩阵链乘积算法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568" y="1936814"/>
              <a:ext cx="3812362" cy="3324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48"/>
                </a:lnSpc>
              </a:pPr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Matrix-Chain-Order(n)</a:t>
              </a:r>
              <a:br/>
              <a:r>
                <a:rPr lang="zh-CN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zh-CN" sz="10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A1 为 p0×p1，A2 为 p1×p2，…，An 为 p(n-1)×pn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integer m(1:n,1:n), s(1:n-1,1:n)  </a:t>
              </a:r>
              <a:r>
                <a:rPr lang="zh-CN" sz="10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s 记录分割点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i ← 1 to n-1 do               </a:t>
              </a:r>
              <a:r>
                <a:rPr lang="zh-CN" sz="10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初始化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(m(i,i), s(i,i)) ← (0, 0)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(m(i,i+1), s(i,i+1)) ← (p(i-1)·p(i)·p(i+1), i)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(m(n,n), s(n,n)) ← (0, 0)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w ← 2 to n-1 do    </a:t>
              </a:r>
              <a:r>
                <a:rPr lang="zh-CN" sz="10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w = j-i，连乘的矩阵个数减 1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for i ← 1 to n-w do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j ← i+w</a:t>
              </a:r>
              <a:br/>
              <a:r>
                <a:rPr lang="zh-CN" sz="10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k ← [i, j) 中使下式最小的 l：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m(i,l) + m(l+1,j) + p(i-1)·p(l)·p(j)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m(i,j) ← m(i,k) + m(k+1,j) + p(i-1)·p(k)·p(j)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s(i,j) ← k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repeat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Matrix-Chain-Order</a:t>
              </a:r>
            </a:p>
          </p:txBody>
        </p:sp>
      </p:grpSp>
      <p:grpSp>
        <p:nvGrpSpPr>
          <p:cNvPr id="28" name="c2-steps-1"/>
          <p:cNvGrpSpPr/>
          <p:nvPr/>
        </p:nvGrpSpPr>
        <p:grpSpPr>
          <a:xfrm>
            <a:off x="7330440" y="1533525"/>
            <a:ext cx="3930396" cy="2632139"/>
            <a:chOff x="7330440" y="1533525"/>
            <a:chExt cx="3930396" cy="2632139"/>
          </a:xfrm>
        </p:grpSpPr>
        <p:sp>
          <p:nvSpPr>
            <p:cNvPr id="11" name="Rectangle 11"/>
            <p:cNvSpPr/>
            <p:nvPr/>
          </p:nvSpPr>
          <p:spPr>
            <a:xfrm>
              <a:off x="7463790" y="1676400"/>
              <a:ext cx="19050" cy="20831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33044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42406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30440" y="237553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24064" y="24493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330440" y="29965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24064" y="30703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330440" y="361664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24064" y="36904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42301" y="1566386"/>
              <a:ext cx="4660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j−i=1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43444" y="1846898"/>
              <a:ext cx="35173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两个矩阵相乘，共 n−1 个 m(i,i+1)，各等于 pᵢ₋₁ ·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pᵢ · pᵢ₊₁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42301" y="2408396"/>
              <a:ext cx="4660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j−i=2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43444" y="2688907"/>
              <a:ext cx="21284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 n−2 个，用到 j−i≤1 的结果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42301" y="3029426"/>
              <a:ext cx="2352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43444" y="3309938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每一轮只用到比它短的矩阵链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42301" y="3650456"/>
              <a:ext cx="6868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j−i=n−1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43444" y="3930968"/>
              <a:ext cx="21284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m(1,n) 一个，问题得解</a:t>
              </a:r>
            </a:p>
          </p:txBody>
        </p:sp>
      </p:grpSp>
      <p:grpSp>
        <p:nvGrpSpPr>
          <p:cNvPr id="34" name="c2-kv-2"/>
          <p:cNvGrpSpPr/>
          <p:nvPr/>
        </p:nvGrpSpPr>
        <p:grpSpPr>
          <a:xfrm>
            <a:off x="7323201" y="4364831"/>
            <a:ext cx="4335399" cy="700660"/>
            <a:chOff x="7323201" y="4364831"/>
            <a:chExt cx="4335399" cy="700660"/>
          </a:xfrm>
        </p:grpSpPr>
        <p:sp>
          <p:nvSpPr>
            <p:cNvPr id="29" name="TextBox 29"/>
            <p:cNvSpPr txBox="1"/>
            <p:nvPr/>
          </p:nvSpPr>
          <p:spPr>
            <a:xfrm>
              <a:off x="7323201" y="4364831"/>
              <a:ext cx="10675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时间 O(n³)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87168" y="4364831"/>
              <a:ext cx="19643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三重循环：w、i 和找 k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330440" y="4671060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23201" y="4786789"/>
              <a:ext cx="10263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空间 Θ(n²)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87168" y="4786789"/>
              <a:ext cx="10085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表和 s 表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35" name="Rectangle 35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26129" y="5880853"/>
              <a:ext cx="224134" cy="192560"/>
              <a:chOff x="726129" y="5880853"/>
              <a:chExt cx="224134" cy="19256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38200" y="595122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26129" y="588085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38200" y="60290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511" y="5753576"/>
              <a:ext cx="1001433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外层必须按链长 w 递增：m(i,j) 用到的 m(i,k) 和 m(k+1,j) 都比它短，按行或按列的自然顺序填表会读到还没算出的格子。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这张表也不能像 0/1 背包那样用滚动数组压成一维，因为每一轮要用到之前所有长度的结果，还原括号时还要保留整张 s 表。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581441" cy="909257"/>
            <a:chOff x="520446" y="342900"/>
            <a:chExt cx="35814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矩阵链乘积问题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5814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 n=6：m 表与 s 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884350" cy="308039"/>
            <a:chOff x="525399" y="1550194"/>
            <a:chExt cx="1088435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88435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A₁ 30×35，A₂ 35×15，A₃ 15×5，A₄ 5×10，A₅ 10×20，A₆ 20×25，即 (p₀,…,p₆) = (30,35,15,5,10,20,25)。</a:t>
              </a:r>
            </a:p>
          </p:txBody>
        </p:sp>
      </p:grpSp>
      <p:grpSp>
        <p:nvGrpSpPr>
          <p:cNvPr id="60" name="c1-table-1"/>
          <p:cNvGrpSpPr/>
          <p:nvPr/>
        </p:nvGrpSpPr>
        <p:grpSpPr>
          <a:xfrm>
            <a:off x="533400" y="1967865"/>
            <a:ext cx="6276022" cy="3141345"/>
            <a:chOff x="533400" y="1967865"/>
            <a:chExt cx="6276022" cy="314134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276022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1782" y="2102644"/>
              <a:ext cx="55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m(i,j)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52823" y="2102644"/>
              <a:ext cx="266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j=1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65060" y="21026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68030" y="21026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24327" y="21026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327297" y="21026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77892" y="21026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6525" y="2551271"/>
              <a:ext cx="266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30446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01951" y="255127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15750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53021" y="255127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7875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9318" y="255127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9375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64188" y="255127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11875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868352" y="2426018"/>
              <a:ext cx="93154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14783" y="255127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15125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86035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2865120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73420" y="300085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981041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53021" y="300085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2625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09318" y="300085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4375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58961" y="300085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7125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14783" y="300085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10500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30898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73420" y="344947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837338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04091" y="344947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358961" y="344947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2500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09556" y="344947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5375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375761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3400" y="3762375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73420" y="38981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693636" y="38981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358961" y="389810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09556" y="389810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3500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2071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73420" y="434673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643278" y="434673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09556" y="434673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5000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465582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33400" y="4660582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73420" y="479536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93873" y="479536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1967865"/>
              <a:ext cx="6276022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1521142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2241232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3191828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4048125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4904422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854065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7" name="c1-callout-2"/>
          <p:cNvGrpSpPr/>
          <p:nvPr/>
        </p:nvGrpSpPr>
        <p:grpSpPr>
          <a:xfrm>
            <a:off x="533400" y="5299710"/>
            <a:ext cx="6276022" cy="782955"/>
            <a:chOff x="533400" y="5299710"/>
            <a:chExt cx="6276022" cy="782955"/>
          </a:xfrm>
        </p:grpSpPr>
        <p:sp>
          <p:nvSpPr>
            <p:cNvPr id="61" name="Rectangle 61"/>
            <p:cNvSpPr/>
            <p:nvPr/>
          </p:nvSpPr>
          <p:spPr>
            <a:xfrm>
              <a:off x="533400" y="5299710"/>
              <a:ext cx="627602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5591175"/>
              <a:ext cx="200026" cy="200025"/>
              <a:chOff x="738188" y="5591175"/>
              <a:chExt cx="200026" cy="20002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8188" y="55911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77926" y="56356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12642" y="57467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130" y="5448300"/>
              <a:ext cx="50349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m(1,2) &gt; m(1,3)？链更长代价反而更小：30×35×15 =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15750，而 (A₁(A₂A₃)) 只要 30×35×5 + 35×15×5 = 7875。</a:t>
              </a:r>
            </a:p>
          </p:txBody>
        </p:sp>
      </p:grpSp>
      <p:grpSp>
        <p:nvGrpSpPr>
          <p:cNvPr id="113" name="c2-table-1"/>
          <p:cNvGrpSpPr/>
          <p:nvPr/>
        </p:nvGrpSpPr>
        <p:grpSpPr>
          <a:xfrm>
            <a:off x="7108508" y="1967865"/>
            <a:ext cx="4550092" cy="2988469"/>
            <a:chOff x="7108508" y="1967865"/>
            <a:chExt cx="4550092" cy="2988469"/>
          </a:xfrm>
        </p:grpSpPr>
        <p:sp>
          <p:nvSpPr>
            <p:cNvPr id="68" name="Rectangle 68"/>
            <p:cNvSpPr/>
            <p:nvPr/>
          </p:nvSpPr>
          <p:spPr>
            <a:xfrm>
              <a:off x="7114222" y="1967865"/>
              <a:ext cx="4544378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381177" y="2102644"/>
              <a:ext cx="5195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s(i,j)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441278" y="2102644"/>
              <a:ext cx="266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j=2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260170" y="21026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928825" y="21026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598432" y="21026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268040" y="21026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507828" y="2551271"/>
              <a:ext cx="266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520542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8991600" y="2426018"/>
              <a:ext cx="650558" cy="429578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262539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931194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600802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10998518" y="2426018"/>
              <a:ext cx="65055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1270409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7114222" y="286035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7114222" y="2865120"/>
              <a:ext cx="45443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584722" y="300085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8991600" y="2874645"/>
              <a:ext cx="650558" cy="429578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9262539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931194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600802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270409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7114222" y="330898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584722" y="344947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931194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0600802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270409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7114222" y="375761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7114222" y="3762375"/>
              <a:ext cx="45443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7584722" y="38981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10329862" y="3771900"/>
              <a:ext cx="650558" cy="429578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10600802" y="38981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10998518" y="3771900"/>
              <a:ext cx="650558" cy="429578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11270409" y="38981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7114222" y="420719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7584722" y="434673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1270409" y="434673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7114222" y="1967865"/>
              <a:ext cx="4544378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8162925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8977312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9645968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10315575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10984230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7108508" y="473630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蓝色格是还原括号时用到的分割点</a:t>
              </a:r>
            </a:p>
          </p:txBody>
        </p:sp>
      </p:grpSp>
      <p:grpSp>
        <p:nvGrpSpPr>
          <p:cNvPr id="119" name="c2-callout-2"/>
          <p:cNvGrpSpPr/>
          <p:nvPr/>
        </p:nvGrpSpPr>
        <p:grpSpPr>
          <a:xfrm>
            <a:off x="7114222" y="5102542"/>
            <a:ext cx="4544378" cy="980122"/>
            <a:chOff x="7114222" y="5102542"/>
            <a:chExt cx="4544378" cy="980122"/>
          </a:xfrm>
        </p:grpSpPr>
        <p:sp>
          <p:nvSpPr>
            <p:cNvPr id="114" name="Rectangle 114"/>
            <p:cNvSpPr/>
            <p:nvPr/>
          </p:nvSpPr>
          <p:spPr>
            <a:xfrm>
              <a:off x="7114222" y="5102542"/>
              <a:ext cx="4544378" cy="980122"/>
            </a:xfrm>
            <a:prstGeom prst="roundRect">
              <a:avLst>
                <a:gd name="adj" fmla="val 1166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17" name="Group 117"/>
            <p:cNvGrpSpPr/>
            <p:nvPr/>
          </p:nvGrpSpPr>
          <p:grpSpPr>
            <a:xfrm>
              <a:off x="7319010" y="5492115"/>
              <a:ext cx="200026" cy="200026"/>
              <a:chOff x="7319010" y="5492115"/>
              <a:chExt cx="200026" cy="200026"/>
            </a:xfrm>
          </p:grpSpPr>
          <p:sp>
            <p:nvSpPr>
              <p:cNvPr id="115" name="Freeform 115"/>
              <p:cNvSpPr/>
              <p:nvPr/>
            </p:nvSpPr>
            <p:spPr>
              <a:xfrm>
                <a:off x="7319010" y="54921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16" name="Freeform 116"/>
              <p:cNvSpPr/>
              <p:nvPr/>
            </p:nvSpPr>
            <p:spPr>
              <a:xfrm>
                <a:off x="7385685" y="556990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18" name="TextBox 118"/>
            <p:cNvSpPr txBox="1"/>
            <p:nvPr/>
          </p:nvSpPr>
          <p:spPr>
            <a:xfrm>
              <a:off x="7620952" y="5349240"/>
              <a:ext cx="35204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m(1,6) = 15125 是最少乘法次数；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s(1,6)=3 表示最外层括号分在 A₃ 之后。</a:t>
              </a:r>
            </a:p>
          </p:txBody>
        </p:sp>
      </p:grpSp>
      <p:grpSp>
        <p:nvGrpSpPr>
          <p:cNvPr id="12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0" name="TextBox 12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29483" cy="909257"/>
            <a:chOff x="520446" y="342900"/>
            <a:chExt cx="59294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矩阵链乘积问题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294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m(1,6) 的计算，以及由 s 表还原括号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table-1"/>
          <p:cNvGrpSpPr/>
          <p:nvPr/>
        </p:nvGrpSpPr>
        <p:grpSpPr>
          <a:xfrm>
            <a:off x="533400" y="1524000"/>
            <a:ext cx="5193982" cy="2434590"/>
            <a:chOff x="533400" y="1524000"/>
            <a:chExt cx="5193982" cy="24345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4181" y="16483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76853" y="1648301"/>
              <a:ext cx="21803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m(1,k) + m(k+1,6) + p₀pₖp₆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4700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4181" y="2054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52525" y="205406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+ 10500 + 30×35×25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01310" y="205406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36750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3076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3553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4181" y="2459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52525" y="2459831"/>
              <a:ext cx="17679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15750 + 5375 + 30×15×25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01310" y="245983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32375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365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2750820"/>
              <a:ext cx="500062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4181" y="28655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2525" y="2865596"/>
              <a:ext cx="16021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7875 + 3500 + 30×5×25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490085" y="2750820"/>
              <a:ext cx="1227772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01310" y="286559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15125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14229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14706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44181" y="32713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52525" y="3271361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9375 + 5000 + 30×10×25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01310" y="327136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21875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5480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44181" y="36771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2525" y="367712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11875 + 0 + 30×20×25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01310" y="367712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26875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524000"/>
              <a:ext cx="5193982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047750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475798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1-callout-2"/>
          <p:cNvGrpSpPr/>
          <p:nvPr/>
        </p:nvGrpSpPr>
        <p:grpSpPr>
          <a:xfrm>
            <a:off x="533400" y="4133850"/>
            <a:ext cx="5193982" cy="1244918"/>
            <a:chOff x="533400" y="4133850"/>
            <a:chExt cx="5193982" cy="1244918"/>
          </a:xfrm>
        </p:grpSpPr>
        <p:sp>
          <p:nvSpPr>
            <p:cNvPr id="38" name="Rectangle 38"/>
            <p:cNvSpPr/>
            <p:nvPr/>
          </p:nvSpPr>
          <p:spPr>
            <a:xfrm>
              <a:off x="533400" y="4133850"/>
              <a:ext cx="5193982" cy="1244918"/>
            </a:xfrm>
            <a:prstGeom prst="roundRect">
              <a:avLst>
                <a:gd name="adj" fmla="val 918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26129" y="4652128"/>
              <a:ext cx="224134" cy="192560"/>
              <a:chOff x="726129" y="4652128"/>
              <a:chExt cx="224134" cy="19256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838200" y="472249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26129" y="465212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480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892" y="4412932"/>
              <a:ext cx="417995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易错：不能只比两段之和。k=1 时两段合计 10500 最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小，但最后一次相乘要 30×35×25=26250 次，总代价反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而最大。</a:t>
              </a:r>
            </a:p>
          </p:txBody>
        </p:sp>
      </p:grpSp>
      <p:grpSp>
        <p:nvGrpSpPr>
          <p:cNvPr id="77" name="c2-tree-1"/>
          <p:cNvGrpSpPr/>
          <p:nvPr/>
        </p:nvGrpSpPr>
        <p:grpSpPr>
          <a:xfrm>
            <a:off x="6558915" y="1541145"/>
            <a:ext cx="4572953" cy="1352550"/>
            <a:chOff x="6558915" y="1541145"/>
            <a:chExt cx="4572953" cy="1352550"/>
          </a:xfrm>
        </p:grpSpPr>
        <p:sp>
          <p:nvSpPr>
            <p:cNvPr id="45" name="Freeform 45"/>
            <p:cNvSpPr/>
            <p:nvPr/>
          </p:nvSpPr>
          <p:spPr>
            <a:xfrm>
              <a:off x="7790498" y="2390775"/>
              <a:ext cx="351472" cy="346710"/>
            </a:xfrm>
            <a:custGeom>
              <a:avLst/>
              <a:gdLst/>
              <a:ahLst/>
              <a:cxnLst/>
              <a:rect l="l" t="t" r="r" b="b"/>
              <a:pathLst>
                <a:path w="351472" h="346710">
                  <a:moveTo>
                    <a:pt x="351472" y="0"/>
                  </a:moveTo>
                  <a:lnTo>
                    <a:pt x="0" y="3467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8141970" y="2390775"/>
              <a:ext cx="351473" cy="346710"/>
            </a:xfrm>
            <a:custGeom>
              <a:avLst/>
              <a:gdLst/>
              <a:ahLst/>
              <a:cxnLst/>
              <a:rect l="l" t="t" r="r" b="b"/>
              <a:pathLst>
                <a:path w="351473" h="346710">
                  <a:moveTo>
                    <a:pt x="0" y="0"/>
                  </a:moveTo>
                  <a:lnTo>
                    <a:pt x="351473" y="3467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6735128" y="2044065"/>
              <a:ext cx="703897" cy="346710"/>
            </a:xfrm>
            <a:custGeom>
              <a:avLst/>
              <a:gdLst/>
              <a:ahLst/>
              <a:cxnLst/>
              <a:rect l="l" t="t" r="r" b="b"/>
              <a:pathLst>
                <a:path w="703897" h="346710">
                  <a:moveTo>
                    <a:pt x="703897" y="0"/>
                  </a:moveTo>
                  <a:lnTo>
                    <a:pt x="0" y="3467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7439025" y="2044065"/>
              <a:ext cx="702945" cy="346710"/>
            </a:xfrm>
            <a:custGeom>
              <a:avLst/>
              <a:gdLst/>
              <a:ahLst/>
              <a:cxnLst/>
              <a:rect l="l" t="t" r="r" b="b"/>
              <a:pathLst>
                <a:path w="702945" h="346710">
                  <a:moveTo>
                    <a:pt x="0" y="0"/>
                  </a:moveTo>
                  <a:lnTo>
                    <a:pt x="702945" y="3467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9197340" y="2390775"/>
              <a:ext cx="351472" cy="346710"/>
            </a:xfrm>
            <a:custGeom>
              <a:avLst/>
              <a:gdLst/>
              <a:ahLst/>
              <a:cxnLst/>
              <a:rect l="l" t="t" r="r" b="b"/>
              <a:pathLst>
                <a:path w="351472" h="346710">
                  <a:moveTo>
                    <a:pt x="351472" y="0"/>
                  </a:moveTo>
                  <a:lnTo>
                    <a:pt x="0" y="3467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9548812" y="2390775"/>
              <a:ext cx="351473" cy="346710"/>
            </a:xfrm>
            <a:custGeom>
              <a:avLst/>
              <a:gdLst/>
              <a:ahLst/>
              <a:cxnLst/>
              <a:rect l="l" t="t" r="r" b="b"/>
              <a:pathLst>
                <a:path w="351473" h="346710">
                  <a:moveTo>
                    <a:pt x="0" y="0"/>
                  </a:moveTo>
                  <a:lnTo>
                    <a:pt x="351473" y="3467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9548812" y="2044065"/>
              <a:ext cx="702945" cy="346710"/>
            </a:xfrm>
            <a:custGeom>
              <a:avLst/>
              <a:gdLst/>
              <a:ahLst/>
              <a:cxnLst/>
              <a:rect l="l" t="t" r="r" b="b"/>
              <a:pathLst>
                <a:path w="702945" h="346710">
                  <a:moveTo>
                    <a:pt x="702945" y="0"/>
                  </a:moveTo>
                  <a:lnTo>
                    <a:pt x="0" y="3467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10251758" y="2044065"/>
              <a:ext cx="703898" cy="346710"/>
            </a:xfrm>
            <a:custGeom>
              <a:avLst/>
              <a:gdLst/>
              <a:ahLst/>
              <a:cxnLst/>
              <a:rect l="l" t="t" r="r" b="b"/>
              <a:pathLst>
                <a:path w="703898" h="346710">
                  <a:moveTo>
                    <a:pt x="0" y="0"/>
                  </a:moveTo>
                  <a:lnTo>
                    <a:pt x="703898" y="3467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7439025" y="1697355"/>
              <a:ext cx="1405890" cy="346710"/>
            </a:xfrm>
            <a:custGeom>
              <a:avLst/>
              <a:gdLst/>
              <a:ahLst/>
              <a:cxnLst/>
              <a:rect l="l" t="t" r="r" b="b"/>
              <a:pathLst>
                <a:path w="1405890" h="346710">
                  <a:moveTo>
                    <a:pt x="1405890" y="0"/>
                  </a:moveTo>
                  <a:lnTo>
                    <a:pt x="0" y="3467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8844915" y="1697355"/>
              <a:ext cx="1406842" cy="346710"/>
            </a:xfrm>
            <a:custGeom>
              <a:avLst/>
              <a:gdLst/>
              <a:ahLst/>
              <a:cxnLst/>
              <a:rect l="l" t="t" r="r" b="b"/>
              <a:pathLst>
                <a:path w="1406842" h="346710">
                  <a:moveTo>
                    <a:pt x="0" y="0"/>
                  </a:moveTo>
                  <a:lnTo>
                    <a:pt x="1406842" y="3467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558915" y="2234565"/>
              <a:ext cx="353378" cy="312420"/>
            </a:xfrm>
            <a:prstGeom prst="roundRect">
              <a:avLst>
                <a:gd name="adj" fmla="val 2439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613332" y="2581275"/>
              <a:ext cx="353378" cy="312420"/>
            </a:xfrm>
            <a:prstGeom prst="roundRect">
              <a:avLst>
                <a:gd name="adj" fmla="val 2439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8317230" y="2581275"/>
              <a:ext cx="353378" cy="312420"/>
            </a:xfrm>
            <a:prstGeom prst="roundRect">
              <a:avLst>
                <a:gd name="adj" fmla="val 2439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687628" y="2234565"/>
              <a:ext cx="908685" cy="312420"/>
            </a:xfrm>
            <a:prstGeom prst="roundRect">
              <a:avLst>
                <a:gd name="adj" fmla="val 24390"/>
              </a:avLst>
            </a:prstGeom>
            <a:solidFill>
              <a:srgbClr val="E8EDF8"/>
            </a:solidFill>
            <a:ln w="17145">
              <a:solidFill>
                <a:srgbClr val="2F4B9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983730" y="1887855"/>
              <a:ext cx="908685" cy="312420"/>
            </a:xfrm>
            <a:prstGeom prst="roundRect">
              <a:avLst>
                <a:gd name="adj" fmla="val 24390"/>
              </a:avLst>
            </a:prstGeom>
            <a:solidFill>
              <a:srgbClr val="E8EDF8"/>
            </a:solidFill>
            <a:ln w="17145">
              <a:solidFill>
                <a:srgbClr val="2F4B9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9020175" y="2581275"/>
              <a:ext cx="353378" cy="312420"/>
            </a:xfrm>
            <a:prstGeom prst="roundRect">
              <a:avLst>
                <a:gd name="adj" fmla="val 2439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9724072" y="2581275"/>
              <a:ext cx="353378" cy="312420"/>
            </a:xfrm>
            <a:prstGeom prst="roundRect">
              <a:avLst>
                <a:gd name="adj" fmla="val 2439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9094470" y="2234565"/>
              <a:ext cx="908685" cy="312420"/>
            </a:xfrm>
            <a:prstGeom prst="roundRect">
              <a:avLst>
                <a:gd name="adj" fmla="val 24390"/>
              </a:avLst>
            </a:prstGeom>
            <a:solidFill>
              <a:srgbClr val="E8EDF8"/>
            </a:solidFill>
            <a:ln w="17145">
              <a:solidFill>
                <a:srgbClr val="2F4B9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10778490" y="2234565"/>
              <a:ext cx="353378" cy="312420"/>
            </a:xfrm>
            <a:prstGeom prst="roundRect">
              <a:avLst>
                <a:gd name="adj" fmla="val 24390"/>
              </a:avLst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9797415" y="1887855"/>
              <a:ext cx="908685" cy="312420"/>
            </a:xfrm>
            <a:prstGeom prst="roundRect">
              <a:avLst>
                <a:gd name="adj" fmla="val 24390"/>
              </a:avLst>
            </a:prstGeom>
            <a:solidFill>
              <a:srgbClr val="E8EDF8"/>
            </a:solidFill>
            <a:ln w="17145">
              <a:solidFill>
                <a:srgbClr val="2F4B9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8390572" y="1541145"/>
              <a:ext cx="908685" cy="312420"/>
            </a:xfrm>
            <a:prstGeom prst="roundRect">
              <a:avLst>
                <a:gd name="adj" fmla="val 24390"/>
              </a:avLst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649674" y="2330291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705044" y="2677001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407989" y="2677001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A₃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755519" y="2330291"/>
              <a:ext cx="7729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A₂…A₃：k=2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052574" y="1983581"/>
              <a:ext cx="7729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A₁…A₃：k=1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111886" y="2677001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A₄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814831" y="2677001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A₅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162362" y="2330291"/>
              <a:ext cx="7729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A₄…A₅：k=4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870201" y="2330291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A₆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865307" y="1983581"/>
              <a:ext cx="7729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A₄…A₆：k=5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458464" y="1636871"/>
              <a:ext cx="7729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A₁…A₆：k=3</a:t>
              </a:r>
            </a:p>
          </p:txBody>
        </p:sp>
      </p:grpSp>
      <p:grpSp>
        <p:nvGrpSpPr>
          <p:cNvPr id="83" name="c2-callout-2"/>
          <p:cNvGrpSpPr/>
          <p:nvPr/>
        </p:nvGrpSpPr>
        <p:grpSpPr>
          <a:xfrm>
            <a:off x="6032182" y="3086100"/>
            <a:ext cx="5626418" cy="488632"/>
            <a:chOff x="6032182" y="3086100"/>
            <a:chExt cx="5626418" cy="488632"/>
          </a:xfrm>
        </p:grpSpPr>
        <p:sp>
          <p:nvSpPr>
            <p:cNvPr id="78" name="Rectangle 78"/>
            <p:cNvSpPr/>
            <p:nvPr/>
          </p:nvSpPr>
          <p:spPr>
            <a:xfrm>
              <a:off x="6032182" y="3086100"/>
              <a:ext cx="5626418" cy="488632"/>
            </a:xfrm>
            <a:prstGeom prst="roundRect">
              <a:avLst>
                <a:gd name="adj" fmla="val 2339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6236970" y="3229928"/>
              <a:ext cx="200026" cy="200026"/>
              <a:chOff x="6236970" y="3229928"/>
              <a:chExt cx="200026" cy="200026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6236970" y="32299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6303645" y="330771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6539674" y="3235642"/>
              <a:ext cx="33304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内结点上的 k 就是该段的分割点 s(i,j)。</a:t>
              </a:r>
            </a:p>
          </p:txBody>
        </p:sp>
      </p:grpSp>
      <p:grpSp>
        <p:nvGrpSpPr>
          <p:cNvPr id="87" name="c2-code-3"/>
          <p:cNvGrpSpPr/>
          <p:nvPr/>
        </p:nvGrpSpPr>
        <p:grpSpPr>
          <a:xfrm>
            <a:off x="6032182" y="3749992"/>
            <a:ext cx="5626418" cy="1628775"/>
            <a:chOff x="6032182" y="3749992"/>
            <a:chExt cx="5626418" cy="1628775"/>
          </a:xfrm>
        </p:grpSpPr>
        <p:sp>
          <p:nvSpPr>
            <p:cNvPr id="84" name="Rectangle 84"/>
            <p:cNvSpPr/>
            <p:nvPr/>
          </p:nvSpPr>
          <p:spPr>
            <a:xfrm>
              <a:off x="6032182" y="3749992"/>
              <a:ext cx="5626418" cy="1628775"/>
            </a:xfrm>
            <a:prstGeom prst="roundRect">
              <a:avLst>
                <a:gd name="adj" fmla="val 584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160580" y="3901916"/>
              <a:ext cx="12246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由 s 表递归输出括号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160770" y="4161187"/>
              <a:ext cx="2283841" cy="11334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PAREN(s, i, j)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i = j then print(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i)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else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print(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"("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PAREN(s, i, s(i,j))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PAREN(s, s(i,j)+1, j); print(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")"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endif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PAREN</a:t>
              </a:r>
            </a:p>
          </p:txBody>
        </p:sp>
      </p:grpSp>
      <p:grpSp>
        <p:nvGrpSpPr>
          <p:cNvPr id="93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88" name="Rectangle 88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91" name="Group 91"/>
            <p:cNvGrpSpPr/>
            <p:nvPr/>
          </p:nvGrpSpPr>
          <p:grpSpPr>
            <a:xfrm>
              <a:off x="738188" y="5897882"/>
              <a:ext cx="200023" cy="200023"/>
              <a:chOff x="738188" y="5897882"/>
              <a:chExt cx="200023" cy="200023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738188" y="58978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871538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2" name="TextBox 92"/>
            <p:cNvSpPr txBox="1"/>
            <p:nvPr/>
          </p:nvSpPr>
          <p:spPr>
            <a:xfrm>
              <a:off x="1040892" y="5779770"/>
              <a:ext cx="984637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同一条链，加括号方式不同代价差很多：最优 15125 次；顺序加括号 ((((A₁A₂)A₃)A₄)A₅)A₆ 要 40500 次；最费的一种要 58000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次，约为最优的 3.8 倍。</a:t>
              </a:r>
            </a:p>
          </p:txBody>
        </p:sp>
      </p:grpSp>
      <p:grpSp>
        <p:nvGrpSpPr>
          <p:cNvPr id="9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4" name="TextBox 9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37677" cy="909257"/>
            <a:chOff x="520446" y="342900"/>
            <a:chExt cx="79376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矩阵链乘积问题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376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自测（一）：一般方法、多段图、货郎担、0/1 背包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485900"/>
            <a:chOff x="533400" y="1524000"/>
            <a:chExt cx="5410200" cy="14859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232" y="2054542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动态规划适用的问题有哪两个特征？各起什么作用？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232" y="2355532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最优子结构保证递推式正确；重叠子问题使保存子问题的结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果有意义。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179445"/>
            <a:ext cx="5410200" cy="1485900"/>
            <a:chOff x="533400" y="3179445"/>
            <a:chExt cx="5410200" cy="1485900"/>
          </a:xfrm>
        </p:grpSpPr>
        <p:sp>
          <p:nvSpPr>
            <p:cNvPr id="13" name="Rectangle 13"/>
            <p:cNvSpPr/>
            <p:nvPr/>
          </p:nvSpPr>
          <p:spPr>
            <a:xfrm>
              <a:off x="533400" y="3179445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0090" y="336613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9547" y="339899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232" y="3710940"/>
              <a:ext cx="44131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货郎担例题中，从结点 2 出发的最优周游路线是哪条？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3232" y="4010977"/>
              <a:ext cx="44542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路线 2→4→3→1→2，成本 10+9+6+10 = 35，与从 1 出发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的最优回路是同一个环。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835842"/>
            <a:ext cx="5410200" cy="1485900"/>
            <a:chOff x="533400" y="4835842"/>
            <a:chExt cx="5410200" cy="1485900"/>
          </a:xfrm>
        </p:grpSpPr>
        <p:sp>
          <p:nvSpPr>
            <p:cNvPr id="19" name="Rectangle 19"/>
            <p:cNvSpPr/>
            <p:nvPr/>
          </p:nvSpPr>
          <p:spPr>
            <a:xfrm>
              <a:off x="533400" y="4835842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0090" y="502253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9547" y="505539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3232" y="5366385"/>
              <a:ext cx="51151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一维数组的背包算法中，内层循环为什么要从 M 倒序到 w(i)？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3232" y="5666423"/>
              <a:ext cx="47885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倒序时 F(j−w(i)) 仍是前 i−1 件物品的结果；正序会让第 i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件被重复装入。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485900"/>
            <a:chOff x="6248400" y="1524000"/>
            <a:chExt cx="5410200" cy="1485900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35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4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8232" y="2054542"/>
              <a:ext cx="42681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多段图例中把边 &lt;2,7&gt; 的成本改为 5，结果怎样变？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8232" y="2355532"/>
              <a:ext cx="47971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新的 COST(2) = min{4+7, 5+5, 1+7} = 8，COST(1) 仍为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16，只剩路径 1→3→6→10→12。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3179445"/>
            <a:ext cx="5410200" cy="1485900"/>
            <a:chOff x="6248400" y="3179445"/>
            <a:chExt cx="5410200" cy="1485900"/>
          </a:xfrm>
        </p:grpSpPr>
        <p:sp>
          <p:nvSpPr>
            <p:cNvPr id="31" name="Rectangle 31"/>
            <p:cNvSpPr/>
            <p:nvPr/>
          </p:nvSpPr>
          <p:spPr>
            <a:xfrm>
              <a:off x="6248400" y="3179445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35090" y="336613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4547" y="339899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8232" y="3710940"/>
              <a:ext cx="50324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背包例题 (w)=(2,3,4)，(p)=(1,2,5)，M=5 时最优解是？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8232" y="4010977"/>
              <a:ext cx="46771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F(3,5)=5 ≠ F(2,5)=3 得 x₃=1；剩余容量 1 放不下其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他物品，解为 (0,0,1)，效益 5。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835842"/>
            <a:ext cx="5410200" cy="1485900"/>
            <a:chOff x="6248400" y="4835842"/>
            <a:chExt cx="5410200" cy="1485900"/>
          </a:xfrm>
        </p:grpSpPr>
        <p:sp>
          <p:nvSpPr>
            <p:cNvPr id="37" name="Rectangle 37"/>
            <p:cNvSpPr/>
            <p:nvPr/>
          </p:nvSpPr>
          <p:spPr>
            <a:xfrm>
              <a:off x="6248400" y="4835842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35090" y="502253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4547" y="505539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28232" y="5366385"/>
              <a:ext cx="39285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Θ(nM) 的背包算法为什么不算多项式时间算法？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8232" y="5666423"/>
              <a:ext cx="47971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因为 M 在输入中只占 log₂M 位，Θ(nM) 相对输入长度是指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数级的，属于伪多项式时间。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48843" cy="909257"/>
            <a:chOff x="520446" y="342900"/>
            <a:chExt cx="814884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 · 矩阵链乘积问题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488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自测（二）：序偶对法、可靠性设计、OBST、矩阵链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485900"/>
            <a:chOff x="533400" y="1524000"/>
            <a:chExt cx="5410200" cy="14859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232" y="2054542"/>
              <a:ext cx="46731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序偶例题中再加入物品 (p₄,w₄)=(3,1)，M=6，求 S⁴。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232" y="2355532"/>
              <a:ext cx="47971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先求 S⁴₁ = {(3,1),(4,3),(5,4),(8,5)}，(9,7) 超重；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S⁴ = {(0,0),(3,1),(4,3),(5,4),(8,5)}，最优效益 8。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179445"/>
            <a:ext cx="5410200" cy="1485900"/>
            <a:chOff x="533400" y="3179445"/>
            <a:chExt cx="5410200" cy="1485900"/>
          </a:xfrm>
        </p:grpSpPr>
        <p:sp>
          <p:nvSpPr>
            <p:cNvPr id="13" name="Rectangle 13"/>
            <p:cNvSpPr/>
            <p:nvPr/>
          </p:nvSpPr>
          <p:spPr>
            <a:xfrm>
              <a:off x="533400" y="3179445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0090" y="336613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9547" y="339899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232" y="3710940"/>
              <a:ext cx="34824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外结点 Eᵢ 的系数为什么是 level(Eᵢ)−1？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3232" y="4010977"/>
              <a:ext cx="45914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不成功检索的最后一次比较在 Eᵢ 的父结点，循环只执行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level(Eᵢ)−1 次。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835842"/>
            <a:ext cx="5410200" cy="1485900"/>
            <a:chOff x="533400" y="4835842"/>
            <a:chExt cx="5410200" cy="1485900"/>
          </a:xfrm>
        </p:grpSpPr>
        <p:sp>
          <p:nvSpPr>
            <p:cNvPr id="19" name="Rectangle 19"/>
            <p:cNvSpPr/>
            <p:nvPr/>
          </p:nvSpPr>
          <p:spPr>
            <a:xfrm>
              <a:off x="533400" y="4835842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0090" y="502253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9547" y="505539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3232" y="5366385"/>
              <a:ext cx="35101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Knuth 优化缩小了什么？复杂度变为多少？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3232" y="5666423"/>
              <a:ext cx="47114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 k 只在 R(i,j−1) 到 R(i+1,j) 之间搜索，总时间 O(n³)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降为 O(n²)。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28725"/>
            <a:chOff x="6248400" y="1524000"/>
            <a:chExt cx="5410200" cy="1228725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28725"/>
            </a:xfrm>
            <a:prstGeom prst="roundRect">
              <a:avLst>
                <a:gd name="adj" fmla="val 108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35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4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8232" y="2054542"/>
              <a:ext cx="38558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可靠性实例中，生成 S² 时为什么要求 x ≤ 85？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8232" y="2355532"/>
              <a:ext cx="49290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每种设备至少一台，要给 D₃ 留出 20 元：105−20 = 85。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22270"/>
            <a:ext cx="5410200" cy="1743075"/>
            <a:chOff x="6248400" y="2922270"/>
            <a:chExt cx="5410200" cy="1743075"/>
          </a:xfrm>
        </p:grpSpPr>
        <p:sp>
          <p:nvSpPr>
            <p:cNvPr id="31" name="Rectangle 31"/>
            <p:cNvSpPr/>
            <p:nvPr/>
          </p:nvSpPr>
          <p:spPr>
            <a:xfrm>
              <a:off x="6248400" y="2922270"/>
              <a:ext cx="541020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35090" y="310896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4547" y="314182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8232" y="3453765"/>
              <a:ext cx="44491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OBST 例题中 C(2,4) 的候选 k=3、4 并列，选哪个会改变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C(0,4) 吗？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8232" y="4010977"/>
              <a:ext cx="47114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不会。两者子树成本相同，只是 T(2,4) 的根分别为 read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 while。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835842"/>
            <a:ext cx="5410200" cy="1485900"/>
            <a:chOff x="6248400" y="4835842"/>
            <a:chExt cx="5410200" cy="1485900"/>
          </a:xfrm>
        </p:grpSpPr>
        <p:sp>
          <p:nvSpPr>
            <p:cNvPr id="37" name="Rectangle 37"/>
            <p:cNvSpPr/>
            <p:nvPr/>
          </p:nvSpPr>
          <p:spPr>
            <a:xfrm>
              <a:off x="6248400" y="4835842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35090" y="502253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4547" y="505539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28232" y="5366385"/>
              <a:ext cx="36834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矩阵链实例中 m(2,5)=7125 是怎样算出的？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8232" y="5666423"/>
              <a:ext cx="47028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分割点 k=2、3、4 时分别为 13000、7125、11375，取最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小值，s(2,5)=3。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动态规划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table-1"/>
          <p:cNvGrpSpPr/>
          <p:nvPr/>
        </p:nvGrpSpPr>
        <p:grpSpPr>
          <a:xfrm>
            <a:off x="533400" y="1524000"/>
            <a:ext cx="6167438" cy="3040380"/>
            <a:chOff x="533400" y="1524000"/>
            <a:chExt cx="6167438" cy="30403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167438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1700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27122" y="164830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状态（函数）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46611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时间复杂度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0540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多段图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13598" y="2054066"/>
              <a:ext cx="19295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COST(j)：j 到 t 的最小成本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57700" y="2054066"/>
              <a:ext cx="5183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Θ(n+e)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30768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35530"/>
              <a:ext cx="616743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45983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货郎担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13598" y="2459831"/>
              <a:ext cx="18316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g(i,S)：从 i 经过 S 回到 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57700" y="2459831"/>
              <a:ext cx="6083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Θ(n²2ⁿ)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36532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2965609"/>
              <a:ext cx="621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0/1 背包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13598" y="2965609"/>
              <a:ext cx="16135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fᵢ(X)：前 i 件、容量 X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57700" y="2865596"/>
              <a:ext cx="195300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 Θ(nM)；序偶 O(min{2ⁿ,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nM})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42322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47085"/>
              <a:ext cx="616743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347138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可靠性设计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13598" y="3471386"/>
              <a:ext cx="15945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fᵢ(x)：前 i 级、成本 x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57700" y="347138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序偶对法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748088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387715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最优二分检索树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13598" y="3877151"/>
              <a:ext cx="18211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C(i,j)：aᵢ₊₁…aⱼ 的最优树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57700" y="3877151"/>
              <a:ext cx="18900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O(n³)，Knuth 优化 O(n²)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153852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158615"/>
              <a:ext cx="616743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3412" y="428291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矩阵链乘积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13598" y="4282916"/>
              <a:ext cx="21558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m(i,j)：Aᵢ…Aⱼ 的最少乘法次数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57700" y="4282916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O(n³)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6167438" cy="30403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008822" y="1524000"/>
              <a:ext cx="9525" cy="30403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352925" y="1524000"/>
              <a:ext cx="9525" cy="30403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1-table-2"/>
          <p:cNvGrpSpPr/>
          <p:nvPr/>
        </p:nvGrpSpPr>
        <p:grpSpPr>
          <a:xfrm>
            <a:off x="533400" y="4739640"/>
            <a:ext cx="6167438" cy="1417320"/>
            <a:chOff x="533400" y="4739640"/>
            <a:chExt cx="6167438" cy="1417320"/>
          </a:xfrm>
        </p:grpSpPr>
        <p:sp>
          <p:nvSpPr>
            <p:cNvPr id="41" name="Rectangle 41"/>
            <p:cNvSpPr/>
            <p:nvPr/>
          </p:nvSpPr>
          <p:spPr>
            <a:xfrm>
              <a:off x="533400" y="4739640"/>
              <a:ext cx="6167438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32218" y="48639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563137" y="486394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与动态规划的区别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3412" y="52697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744028" y="526970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子问题相互独立，不具有重叠子问题性质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5546408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33400" y="5551170"/>
              <a:ext cx="6167438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3412" y="577548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贪心法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744028" y="5675471"/>
              <a:ext cx="45631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做下一步决策时不考虑子问题的结果，只看眼前；动态规划依赖子问题的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最优解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4739640"/>
              <a:ext cx="6167438" cy="14173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639252" y="4739640"/>
              <a:ext cx="9525" cy="14173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bullets-1"/>
          <p:cNvGrpSpPr/>
          <p:nvPr/>
        </p:nvGrpSpPr>
        <p:grpSpPr>
          <a:xfrm>
            <a:off x="7005638" y="1532572"/>
            <a:ext cx="4442840" cy="1904524"/>
            <a:chOff x="7005638" y="1532572"/>
            <a:chExt cx="4442840" cy="1904524"/>
          </a:xfrm>
        </p:grpSpPr>
        <p:sp>
          <p:nvSpPr>
            <p:cNvPr id="53" name="Ellipse 53"/>
            <p:cNvSpPr/>
            <p:nvPr/>
          </p:nvSpPr>
          <p:spPr>
            <a:xfrm>
              <a:off x="7005638" y="1532572"/>
              <a:ext cx="160020" cy="16002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051343" y="1564291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255192" y="1542574"/>
              <a:ext cx="4136390" cy="434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动态规划求解多阶段决策最优化问题，要求最优子结构和重叠子问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005638" y="2019300"/>
              <a:ext cx="160020" cy="16002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051343" y="2051018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255192" y="2029301"/>
              <a:ext cx="4136390" cy="434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设计过程：证明最优性原理、设计递推式、自底向上填表、由标记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函数回溯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005638" y="2506028"/>
              <a:ext cx="160020" cy="16002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51343" y="2537746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255192" y="2516029"/>
              <a:ext cx="4136390" cy="434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备忘录记录子问题最优解，标记函数记录最优决策；存储空间直接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影响时间复杂度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005638" y="2992755"/>
              <a:ext cx="160020" cy="16002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051343" y="3024473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255192" y="3002756"/>
              <a:ext cx="4193286" cy="434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降低复杂度的技巧：序偶对法用支配规则和估计值清除序偶；OBST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缩小根的搜索区间；矩阵链设计好边界和标记</a:t>
              </a:r>
            </a:p>
          </p:txBody>
        </p:sp>
      </p:grpSp>
      <p:grpSp>
        <p:nvGrpSpPr>
          <p:cNvPr id="79" name="c2-card-2"/>
          <p:cNvGrpSpPr/>
          <p:nvPr/>
        </p:nvGrpSpPr>
        <p:grpSpPr>
          <a:xfrm>
            <a:off x="7005638" y="3568065"/>
            <a:ext cx="4652962" cy="2637472"/>
            <a:chOff x="7005638" y="3568065"/>
            <a:chExt cx="4652962" cy="2637472"/>
          </a:xfrm>
        </p:grpSpPr>
        <p:sp>
          <p:nvSpPr>
            <p:cNvPr id="66" name="Rectangle 66"/>
            <p:cNvSpPr/>
            <p:nvPr/>
          </p:nvSpPr>
          <p:spPr>
            <a:xfrm>
              <a:off x="7005638" y="3568065"/>
              <a:ext cx="4652962" cy="2637472"/>
            </a:xfrm>
            <a:prstGeom prst="roundRect">
              <a:avLst>
                <a:gd name="adj" fmla="val 50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7015162" y="3701415"/>
              <a:ext cx="47625" cy="237077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7236142" y="3760470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295579" y="379476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7244715" y="417290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400734" y="4116705"/>
              <a:ext cx="37598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FGRAPH 执行过程中 COST(9)、COST(11) 两格写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7244715" y="473297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400734" y="4676775"/>
              <a:ext cx="3168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算法6.2、6.3 结尾误写为 end FGRAPH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7244715" y="503491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400734" y="4978718"/>
              <a:ext cx="38541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可靠性递推式中的 c 应为 x；S³ 未删去被支配的序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偶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7244715" y="559498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400734" y="5538788"/>
              <a:ext cx="26478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OBST 的 C 表中三格误填为 W 值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230428" y="5837396"/>
              <a:ext cx="4233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原课件小结还提到最长公共子序列，但本章正文没有讲这一节。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lgo_ch6">
  <a:themeElements>
    <a:clrScheme name="algo_ch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lgo_ch6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lgo_ch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2026-09-19T07:43:28Z</dcterms:created>
  <dcterms:modified xsi:type="dcterms:W3CDTF">2026-09-19T07:43:28Z</dcterms:modified>
  <cp:category/>
  <cp:contentStatus/>
</cp:coreProperties>
</file>