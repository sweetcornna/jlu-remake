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hw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hw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0f992891faedfd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571fab299357fcf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7a497cfecaa26db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807431" cy="3437763"/>
            <a:chOff x="666750" y="1619250"/>
            <a:chExt cx="5807431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5965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3747" y="1718310"/>
              <a:ext cx="2400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第4章作业讲解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17403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 作业讲解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7975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道题：解递推式、写查找与排序算法、设计分治算法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递推式求解（题1）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二分与三分查找（题2、3）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归并排序与极大点（题4、5）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假币与棋盘覆盖（题6、7）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774197" cy="205359"/>
            <a:chOff x="680466" y="6192202"/>
            <a:chExt cx="4774197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自学复习版｜据吉林大学《算法设计与分析》第4章作业讲解整理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本次作业讲解路线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解题前的准备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4672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 题总览，本次作业出现的递推式，设计题答案要写哪几项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递推式求解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217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题1 T(n) = 2T(n/2) + f(n)，f 分别是 O(n) 和 O(1)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题2 递归二分查找，题3 三分查找及其比较树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排序与合并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2691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题4 自底向上归并排序，题5 二维极大点的分治求解过程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分治算法设计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389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题6 找轻假币，题7 L 型牌覆盖 2ᵏ × 2ᵏ 棋盘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道自测题，7 题结论表，原讲解的更正汇总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用展开法解 T(n) = aT(n/b) + f(n)，写出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每层代价并正确求和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把循环版算法改写成递归版（或反过来），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说清递归出口和参数变化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画出查找算法的比较树，由树高得出最坏比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较次数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按“思路、伪代码、正确性、复杂度、执行过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程”五项写出一个分治算法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30479" cy="909257"/>
            <a:chOff x="520446" y="342900"/>
            <a:chExt cx="74304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30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题总览：3 道分析题、2 道改写题、2 道设计题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c1-table-1"/>
          <p:cNvGrpSpPr/>
          <p:nvPr/>
        </p:nvGrpSpPr>
        <p:grpSpPr>
          <a:xfrm>
            <a:off x="533400" y="1524000"/>
            <a:ext cx="11125200" cy="3654742"/>
            <a:chOff x="533400" y="1524000"/>
            <a:chExt cx="11125200" cy="36547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9907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3561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0547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6897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关键答案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911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4033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06449" y="2085022"/>
              <a:ext cx="39196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T(n) = 2T(n/2) + f(n)，① f = O(n)，② f = O(1)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05475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46164" y="2085022"/>
              <a:ext cx="2394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an + bn log n；② cn + d(n − 1)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61791" y="2085022"/>
              <a:ext cx="1593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Θ(n log n)；② Θ(n)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84108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033" y="26222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6449" y="2622232"/>
              <a:ext cx="2387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写二分查找的递归过程 BINSRCH2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5475" y="262223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46164" y="2515552"/>
              <a:ext cx="2679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&gt; A(mid) 递归右半，x &lt; A(mid) 递归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61791" y="2622232"/>
              <a:ext cx="6493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232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4033" y="31594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06449" y="3159442"/>
              <a:ext cx="27665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三分查找：先查 n/3 处，再查 2n/3 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05475" y="31594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46164" y="3159442"/>
              <a:ext cx="26737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H(n) = H(n/3) + 2，H(3ᵏ) = 2k + 1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61791" y="3159442"/>
              <a:ext cx="6493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528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5757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4033" y="35890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06449" y="3589020"/>
              <a:ext cx="2524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自底向上的归并排序 MERGESORT1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05475" y="35890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46164" y="3589020"/>
              <a:ext cx="2499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step = 1, 2, 4, … 两两合并相邻段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61791" y="3589020"/>
              <a:ext cx="786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 log n)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883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4033" y="40195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06449" y="401955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分治求 8 个点的二维极大点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05475" y="40195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50342" y="3897630"/>
              <a:ext cx="309562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46164" y="4019550"/>
              <a:ext cx="1934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(2,8) (6,7) (7,6) (8,3)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61791" y="4019550"/>
              <a:ext cx="786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 log n)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313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31863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4033" y="44491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06449" y="4449128"/>
              <a:ext cx="2257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枚硬币中找出一枚较轻的假币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05475" y="444912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46164" y="444912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平分称重，奇数时先拿出一枚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1791" y="4449128"/>
              <a:ext cx="1135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⌊log₂N⌋ 次称重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743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4033" y="48796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06449" y="4879658"/>
              <a:ext cx="1764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型牌覆盖 2ᵏ × 2ᵏ 棋盘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05475" y="48796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46164" y="4879658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在中心放一张牌造出 4 个同类子问题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1791" y="4879658"/>
              <a:ext cx="1126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Θ(4ᵏ) = Θ(n²)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11125200" cy="36547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196340" y="152400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201602" y="152400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536055" y="152400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651682" y="152400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511" y="6004084"/>
              <a:ext cx="104996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表中 log 不写底数时指 log₂。题1②、题5、题6 的原讲解有需要更正或补全的地方，在对应页用“更正”卡标出，小结页汇总。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49321" cy="909257"/>
            <a:chOff x="520446" y="342900"/>
            <a:chExt cx="76493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493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本次作业的 7 个递推式：展开法求和，主定理核对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4" name="c1-table-1"/>
          <p:cNvGrpSpPr/>
          <p:nvPr/>
        </p:nvGrpSpPr>
        <p:grpSpPr>
          <a:xfrm>
            <a:off x="527685" y="1524000"/>
            <a:ext cx="6281737" cy="3737134"/>
            <a:chOff x="527685" y="1524000"/>
            <a:chExt cx="6281737" cy="373713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059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0718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4589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26942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8835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085022"/>
              <a:ext cx="3603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68412" y="2085022"/>
              <a:ext cx="1567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2T(n/2) + bn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4811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7580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7914" y="2085022"/>
              <a:ext cx="786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 log n)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793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84108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515552"/>
              <a:ext cx="3603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68412" y="2515552"/>
              <a:ext cx="14824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2T(n/2) + 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4811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7580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12092" y="2393632"/>
              <a:ext cx="148685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07914" y="2515552"/>
              <a:ext cx="377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8098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2946082"/>
              <a:ext cx="267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68412" y="2946082"/>
              <a:ext cx="1399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T(n/2) + 1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4811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7580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07914" y="2946082"/>
              <a:ext cx="6493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2394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24421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8746" y="3375660"/>
              <a:ext cx="267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68412" y="3375660"/>
              <a:ext cx="1399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H(n) = H(n/3) + 2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48112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75809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07914" y="3375660"/>
              <a:ext cx="6493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6699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8746" y="3806190"/>
              <a:ext cx="521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题4、5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68412" y="3806190"/>
              <a:ext cx="1567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2T(n/2) + cn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48112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7580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07914" y="3806190"/>
              <a:ext cx="786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 log n)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1005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105275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8746" y="4235768"/>
              <a:ext cx="267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68412" y="4235768"/>
              <a:ext cx="1648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W(n) = W(⌊n/2⌋) + 1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48112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75809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07914" y="4235768"/>
              <a:ext cx="6493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5300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8746" y="4666298"/>
              <a:ext cx="267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68412" y="4666298"/>
              <a:ext cx="1590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T(k) = 4T(k − 1) + 1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48112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75809" y="466629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07914" y="4666298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Θ(4ᵏ)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6276022" cy="34413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658302" y="152400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043362" y="152400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545330" y="152400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297805" y="152400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7685" y="5041106"/>
              <a:ext cx="3612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简化主定理：T(n) = aT(n/b) + Θ(nᵈ)，比较 a 与 bᵈ</a:t>
              </a:r>
            </a:p>
          </p:txBody>
        </p:sp>
      </p:grpSp>
      <p:grpSp>
        <p:nvGrpSpPr>
          <p:cNvPr id="76" name="c2-card-1"/>
          <p:cNvGrpSpPr/>
          <p:nvPr/>
        </p:nvGrpSpPr>
        <p:grpSpPr>
          <a:xfrm>
            <a:off x="7114222" y="1524000"/>
            <a:ext cx="4544378" cy="1662112"/>
            <a:chOff x="7114222" y="1524000"/>
            <a:chExt cx="4544378" cy="1662112"/>
          </a:xfrm>
        </p:grpSpPr>
        <p:sp>
          <p:nvSpPr>
            <p:cNvPr id="65" name="Rectangle 65"/>
            <p:cNvSpPr/>
            <p:nvPr/>
          </p:nvSpPr>
          <p:spPr>
            <a:xfrm>
              <a:off x="7114222" y="1524000"/>
              <a:ext cx="4544378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23748" y="165735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56158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33564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简化主定理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83334" y="1767364"/>
              <a:ext cx="10997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 a 与 bᵈ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363777" y="217932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20368" y="2119789"/>
              <a:ext cx="34692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&lt; bᵈ：T(n) = Θ(nᵈ)，合并代价占主导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363777" y="249936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520368" y="2439829"/>
              <a:ext cx="37559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bᵈ：T(n) = Θ(nᵈ log n)，每层代价相同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363777" y="281940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520368" y="2759869"/>
              <a:ext cx="39299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&gt; bᵈ：T(n) = Θ(n^(log_b a))，叶子占主导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7114222" y="3370898"/>
            <a:ext cx="4544378" cy="1894522"/>
            <a:chOff x="7114222" y="3370898"/>
            <a:chExt cx="4544378" cy="1894522"/>
          </a:xfrm>
        </p:grpSpPr>
        <p:sp>
          <p:nvSpPr>
            <p:cNvPr id="77" name="Rectangle 77"/>
            <p:cNvSpPr/>
            <p:nvPr/>
          </p:nvSpPr>
          <p:spPr>
            <a:xfrm>
              <a:off x="7114222" y="3370898"/>
              <a:ext cx="4544378" cy="1894522"/>
            </a:xfrm>
            <a:prstGeom prst="roundRect">
              <a:avLst>
                <a:gd name="adj" fmla="val 70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123748" y="3504248"/>
              <a:ext cx="47625" cy="16278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356158" y="357473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442416" y="36104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展开法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099488" y="3615214"/>
              <a:ext cx="19557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题目要求“求解”时用它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356158" y="395478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414502" y="399416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47051" y="3966686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n = bᵏ，逐层代入，写出第 i 层的子问题个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数和每个的代价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7356158" y="454628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414502" y="45856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47051" y="4558189"/>
              <a:ext cx="37263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k 层的代价加起来，再加上叶子 aᵏ·T(1)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50062" y="4874895"/>
              <a:ext cx="4026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主定理只给出阶；题1 要的是解析式，主定理用来核对。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90" name="Rectangle 9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511" y="6004084"/>
              <a:ext cx="10210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题7 按 k 递减而不是按 n 除以常数，不能直接套主定理；换成 n = 2ᵏ 看，T(n) = 4T(n/2) + 1，a = 4 &gt; 2⁰，得 Θ(n²)。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91345" cy="909257"/>
            <a:chOff x="520446" y="342900"/>
            <a:chExt cx="87913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913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设计题的答案要写 5 项，伪代码按教材的 SPARKS 规范写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3816858" cy="2702814"/>
            <a:chOff x="533400" y="1533525"/>
            <a:chExt cx="3816858" cy="27028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算法思路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181832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怎样分、子问题是什么、怎样合、递归出口在哪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伪代码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371725"/>
              <a:ext cx="25196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procedure … end，参数和返回值写清楚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正确性要点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2925128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每个分支为什么不会漏掉解，循环或递归为什么会结束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2227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4775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选定基本运算，列出递推式并解出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7761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执行过程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03098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用一个小实例把每次调用或每轮循环的变量值列成表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397692"/>
            <a:ext cx="5626418" cy="1146810"/>
            <a:chOff x="533400" y="4397692"/>
            <a:chExt cx="5626418" cy="1146810"/>
          </a:xfrm>
        </p:grpSpPr>
        <p:sp>
          <p:nvSpPr>
            <p:cNvPr id="29" name="Rectangle 29"/>
            <p:cNvSpPr/>
            <p:nvPr/>
          </p:nvSpPr>
          <p:spPr>
            <a:xfrm>
              <a:off x="533400" y="4397692"/>
              <a:ext cx="5626418" cy="1146810"/>
            </a:xfrm>
            <a:prstGeom prst="roundRect">
              <a:avLst>
                <a:gd name="adj" fmla="val 116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531042"/>
              <a:ext cx="47625" cy="8801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578668"/>
              <a:ext cx="65436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9197" y="4611529"/>
              <a:ext cx="4818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对照题6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" y="4919186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平分称重，轻的一堆继续 → procedure FAKE(c) → 两堆枚数相等时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轻的一堆必含假币 → 称重 ⌊log₂N⌋ 次 → N = 11 的称重表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464618" y="1524000"/>
            <a:ext cx="5193982" cy="2669858"/>
            <a:chOff x="6464618" y="1524000"/>
            <a:chExt cx="5193982" cy="2669858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9707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9454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59296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17586" y="202311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← 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9296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17586" y="2404110"/>
              <a:ext cx="1558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 … then … else … endif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9296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多分支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17586" y="2785110"/>
              <a:ext cx="2180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case :条件1: … :else: … endcase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9296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17586" y="3167062"/>
              <a:ext cx="31486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… do … repeat；for i ← 1 to n do … repeat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426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9296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17586" y="3548062"/>
              <a:ext cx="2355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procedure NAME(参数) … end NAME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3807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4618" y="3811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9296" y="393001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调用与返回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17586" y="3930015"/>
              <a:ext cx="1497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call NAME(…)；return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1524000"/>
              <a:ext cx="5193982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1814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rd-2"/>
          <p:cNvGrpSpPr/>
          <p:nvPr/>
        </p:nvGrpSpPr>
        <p:grpSpPr>
          <a:xfrm>
            <a:off x="6464618" y="4358640"/>
            <a:ext cx="5193982" cy="1185862"/>
            <a:chOff x="6464618" y="4358640"/>
            <a:chExt cx="5193982" cy="1185862"/>
          </a:xfrm>
        </p:grpSpPr>
        <p:sp>
          <p:nvSpPr>
            <p:cNvPr id="61" name="Rectangle 61"/>
            <p:cNvSpPr/>
            <p:nvPr/>
          </p:nvSpPr>
          <p:spPr>
            <a:xfrm>
              <a:off x="6464618" y="4358640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4142" y="449199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83692" y="45396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69214" y="45724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常见扣分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693218" y="49320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48666" y="4879181"/>
              <a:ext cx="4277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递归调用的结果没有 return 出去（题6 原讲解即如此）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693218" y="52168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48666" y="516493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只写思路不写复杂度，或复杂度没说明基本运算是什么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8645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改写题（题2、题4）也要写正确性要点：说明改写后每一步做的事和原算法一致，递归出口与循环条件一一对应。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96990" cy="3321367"/>
            <a:chOff x="667512" y="1835468"/>
            <a:chExt cx="639699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递推式求解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8708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同一个分治框架，合并代价从 O(n) 变成 O(1)，总时间从 n log n 降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到 n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5889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T(n) = g(n)（n 足够小），T(n) = 2T(n/2) + f(n)（否则）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7525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g(n) = O(1)，f(n) = O(n)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758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g(n) = O(1)，f(n) = O(1)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21143" cy="909257"/>
            <a:chOff x="520446" y="342900"/>
            <a:chExt cx="97211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递推式求解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211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题1①：每层合并代价都是 bn，共 log n 层，T(n) = Θ(n log 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76350"/>
            <a:chOff x="533400" y="1524000"/>
            <a:chExt cx="5626418" cy="1276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76350"/>
            </a:xfrm>
            <a:prstGeom prst="roundRect">
              <a:avLst>
                <a:gd name="adj" fmla="val 104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96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3055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582" y="1756410"/>
              <a:ext cx="456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第1题①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52142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g(n) = O(1)，f(n) = O(n) 时解 T(n) = 2T(n/2) + f(n)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524" y="2414588"/>
              <a:ext cx="5205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思路：设 g(n) = a、f(n) = bn（a、b 为常数），令 n = 2ᵏ，逐层展开。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2989898"/>
            <a:ext cx="4070414" cy="2398776"/>
            <a:chOff x="533400" y="2989898"/>
            <a:chExt cx="4070414" cy="2398776"/>
          </a:xfrm>
        </p:grpSpPr>
        <p:sp>
          <p:nvSpPr>
            <p:cNvPr id="14" name="Rectangle 14"/>
            <p:cNvSpPr/>
            <p:nvPr/>
          </p:nvSpPr>
          <p:spPr>
            <a:xfrm>
              <a:off x="666750" y="3132772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9898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063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0711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6809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223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297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8406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9144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30227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展开一次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3303270"/>
              <a:ext cx="3657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2(2T(n/4) + bn/2) + bn = 4T(n/4) + 2bn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3639979"/>
              <a:ext cx="7686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 i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3920490"/>
              <a:ext cx="1973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2ⁱ·T(n/2ⁱ) + i·bn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261" y="4257199"/>
              <a:ext cx="17540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展开到叶子（i = k）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4537710"/>
              <a:ext cx="2829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2ᵏ·T(1) + kbn = an + bn log₂n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261" y="487346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5153978"/>
              <a:ext cx="2517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an + bn log₂n = Θ(n log n)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559742"/>
            <a:ext cx="5626418" cy="777240"/>
            <a:chOff x="533400" y="5559742"/>
            <a:chExt cx="5626418" cy="777240"/>
          </a:xfrm>
        </p:grpSpPr>
        <p:sp>
          <p:nvSpPr>
            <p:cNvPr id="32" name="Rectangle 32"/>
            <p:cNvSpPr/>
            <p:nvPr/>
          </p:nvSpPr>
          <p:spPr>
            <a:xfrm>
              <a:off x="533400" y="5559742"/>
              <a:ext cx="5626418" cy="777240"/>
            </a:xfrm>
            <a:prstGeom prst="roundRect">
              <a:avLst>
                <a:gd name="adj" fmla="val 1470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848350"/>
              <a:ext cx="200026" cy="200026"/>
              <a:chOff x="738188" y="5848350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8483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915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9483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5717381"/>
              <a:ext cx="45139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不是 2 的幂时，取 2ᵏ⁻¹ &lt; n ≤ 2ᵏ；T(n) 单调不减，就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夹在 T(2ᵏ⁻¹) 与 T(2ᵏ) 之间，阶不变。</a:t>
              </a:r>
            </a:p>
          </p:txBody>
        </p:sp>
      </p:grpSp>
      <p:grpSp>
        <p:nvGrpSpPr>
          <p:cNvPr id="76" name="c2-table-1"/>
          <p:cNvGrpSpPr/>
          <p:nvPr/>
        </p:nvGrpSpPr>
        <p:grpSpPr>
          <a:xfrm>
            <a:off x="6459284" y="1524000"/>
            <a:ext cx="5199316" cy="2826639"/>
            <a:chOff x="6459284" y="1524000"/>
            <a:chExt cx="5199316" cy="2826639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56453" y="1652588"/>
              <a:ext cx="275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 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707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子问题数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3484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每个规模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8835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本层代价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4146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8573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1350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22597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2367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23726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41466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573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24658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74313" y="2501265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2·b(n/2) = bn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27927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41466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8573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24658" y="29260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74313" y="2926080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4·b(n/4) = bn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32165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4618" y="3221355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62668" y="3349942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41310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2ⁱ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80233" y="334994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n/2ⁱ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986962" y="3230880"/>
              <a:ext cx="166211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722597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64618" y="36414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54478" y="3774757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 k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85734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13507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496436" y="3774757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n·a = an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64618" y="1524000"/>
              <a:ext cx="5193982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518082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744902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972675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59284" y="4145280"/>
              <a:ext cx="2781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非叶子共 k = log₂n 层，每层 bn；叶子层 an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464618" y="4489132"/>
            <a:ext cx="5193982" cy="1847850"/>
            <a:chOff x="6464618" y="4489132"/>
            <a:chExt cx="5193982" cy="1847850"/>
          </a:xfrm>
        </p:grpSpPr>
        <p:sp>
          <p:nvSpPr>
            <p:cNvPr id="77" name="Rectangle 77"/>
            <p:cNvSpPr/>
            <p:nvPr/>
          </p:nvSpPr>
          <p:spPr>
            <a:xfrm>
              <a:off x="6464618" y="4489132"/>
              <a:ext cx="5193982" cy="1847850"/>
            </a:xfrm>
            <a:prstGeom prst="roundRect">
              <a:avLst>
                <a:gd name="adj" fmla="val 721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62738" y="468725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46177" y="472154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简单分析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670358" y="510825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826948" y="5047774"/>
              <a:ext cx="40861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递归树每层代价相同，总代价 = 每层代价 × 层数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670358" y="542639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826948" y="5365909"/>
              <a:ext cx="443280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归并排序就是这种情况：合并两段要 Θ(n)，所以排序要</a:t>
              </a:r>
              <a:br/>
              <a:r>
                <a:rPr lang="el-GR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Θ(n log n)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656642" y="5951220"/>
              <a:ext cx="4115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主定理核对：a = 2，bᵈ = 2¹ = 2，相等，得 Θ(n log n)。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6007" cy="909257"/>
            <a:chOff x="520446" y="342900"/>
            <a:chExt cx="84560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递推式求解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60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题1②：每层代价翻倍，求和是 d(n − 1)，T(n) = Θ(n)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838325"/>
            <a:chOff x="533400" y="1524000"/>
            <a:chExt cx="5626418" cy="18383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5817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053" y="1769269"/>
              <a:ext cx="487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第1题②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17244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g(n) = O(1)，f(n) = O(1) 时解 T(n) = 2T(n/2) +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18911"/>
              <a:ext cx="47597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思路：设 g(n) = c、f(n) = d，令 n = 2ᵏ。这次每层的子问题数翻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倍，而每个的代价不变。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562350"/>
            <a:ext cx="5180457" cy="2763488"/>
            <a:chOff x="533400" y="3562350"/>
            <a:chExt cx="5180457" cy="2763488"/>
          </a:xfrm>
        </p:grpSpPr>
        <p:sp>
          <p:nvSpPr>
            <p:cNvPr id="14" name="Rectangle 14"/>
            <p:cNvSpPr/>
            <p:nvPr/>
          </p:nvSpPr>
          <p:spPr>
            <a:xfrm>
              <a:off x="666750" y="370522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562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636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212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286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0987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5172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7492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823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596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展开一次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889534"/>
              <a:ext cx="34364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2(2T(n/4) + d) + d = 4T(n/4) + 3d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247198"/>
              <a:ext cx="811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 i 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541044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2ⁱ·T(n/2ⁱ) + (1 + 2 + … + 2ⁱ⁻¹)d = 2ⁱ·T(n/2ⁱ) + (2ⁱ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5133022"/>
              <a:ext cx="18528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展开到叶子（i = k）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5425916"/>
              <a:ext cx="32146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2ᵏ·c + (2ᵏ − 1)d = cn + d(n − 1)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880" y="57835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6076474"/>
              <a:ext cx="2162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(c + d)n − d = Θ(n)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2203132"/>
            <a:chOff x="6464618" y="1524000"/>
            <a:chExt cx="5193982" cy="2203132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1657350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13295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原讲解的展开式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4648" y="2129790"/>
              <a:ext cx="45396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原讲解写作 4T(n/4) + 2d、2ᵏ·T(n/2ᵏ) + kd，最后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cn + d log₂n。第 i 层有 2ⁱ 个子问题，各付 d，本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层代价是 2ⁱ·d，不是 d，所以应为 4T(n/4) + 3d，和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(2ᵏ − 1)d。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5791" y="3318986"/>
              <a:ext cx="3692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 O(n) 碰巧不变：叶子 cn 本来就是 Θ(n)。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3917632"/>
            <a:ext cx="5193982" cy="2396490"/>
            <a:chOff x="6464618" y="3917632"/>
            <a:chExt cx="5193982" cy="2396490"/>
          </a:xfrm>
        </p:grpSpPr>
        <p:sp>
          <p:nvSpPr>
            <p:cNvPr id="40" name="Rectangle 40"/>
            <p:cNvSpPr/>
            <p:nvPr/>
          </p:nvSpPr>
          <p:spPr>
            <a:xfrm>
              <a:off x="6464618" y="3917632"/>
              <a:ext cx="5193982" cy="2396490"/>
            </a:xfrm>
            <a:prstGeom prst="roundRect">
              <a:avLst>
                <a:gd name="adj" fmla="val 556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74168" y="412718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56476" y="41629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简单分析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79883" y="456723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37998" y="4504372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叶子层 n 个出口的代价 cn 占主导，内部结点合计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d(n − 1) 也是 Θ(n)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79883" y="518826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37998" y="5125402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递归求最大最小值（MAXMIN）就是这种情况：合并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只比较两次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7691" y="5743099"/>
              <a:ext cx="4358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主定理核对：a = 2 &gt; bᵈ = 2⁰ = 1，log₂2 = 1，得 Θ(n)。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25468" cy="909257"/>
            <a:chOff x="520446" y="342900"/>
            <a:chExt cx="8925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递推式求解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25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复核：代入 n = 2ᵏ 逐项核对，kd 其实是 a = 1 时的和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28066" y="1524000"/>
            <a:ext cx="5956554" cy="3120009"/>
            <a:chOff x="528066" y="1524000"/>
            <a:chExt cx="5956554" cy="31200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4189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1658" y="164830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递推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20906" y="1648301"/>
              <a:ext cx="945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 + bn log 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8088" y="164830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递推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36597" y="1648301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cn + d(n − 1)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60806" y="1648301"/>
              <a:ext cx="1207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原式 cn + d log 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4965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301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96494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944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5007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9025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3076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3553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4965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20086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13568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36516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67146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07326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7365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4965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20086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13568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6516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67146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99033" y="28655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1422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14706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4965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37160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30642" y="327136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36516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67146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99033" y="32713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5480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7893" y="36771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37160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730642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53590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84220" y="36771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99033" y="36771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9538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95859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3749" y="40828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71308" y="40828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54272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564790" y="40828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54272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370664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8187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01294" y="408289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8187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24889" y="40828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3122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595122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16871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89261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08610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80904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03967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8066" y="4438650"/>
              <a:ext cx="3664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a = c = 3，b = d = 5，脚本按递推式逐层计算到 n = 2¹⁰</a:t>
              </a:r>
            </a:p>
          </p:txBody>
        </p:sp>
      </p:grpSp>
      <p:grpSp>
        <p:nvGrpSpPr>
          <p:cNvPr id="72" name="c1-callout-2"/>
          <p:cNvGrpSpPr/>
          <p:nvPr/>
        </p:nvGrpSpPr>
        <p:grpSpPr>
          <a:xfrm>
            <a:off x="533400" y="4777740"/>
            <a:ext cx="5951220" cy="846772"/>
            <a:chOff x="533400" y="4777740"/>
            <a:chExt cx="5951220" cy="846772"/>
          </a:xfrm>
        </p:grpSpPr>
        <p:sp>
          <p:nvSpPr>
            <p:cNvPr id="66" name="Rectangle 66"/>
            <p:cNvSpPr/>
            <p:nvPr/>
          </p:nvSpPr>
          <p:spPr>
            <a:xfrm>
              <a:off x="533400" y="4777740"/>
              <a:ext cx="5951220" cy="846772"/>
            </a:xfrm>
            <a:prstGeom prst="roundRect">
              <a:avLst>
                <a:gd name="adj" fmla="val 1349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101590"/>
              <a:ext cx="200026" cy="200026"/>
              <a:chOff x="738188" y="5101590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1015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51682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52016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4982528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 时原式恰好也对（log₂2 = 1 = n − 1），从 n = 4 起就偏小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了，而且差距越来越大。</a:t>
              </a:r>
            </a:p>
          </p:txBody>
        </p:sp>
      </p:grpSp>
      <p:grpSp>
        <p:nvGrpSpPr>
          <p:cNvPr id="88" name="c2-card-1"/>
          <p:cNvGrpSpPr/>
          <p:nvPr/>
        </p:nvGrpSpPr>
        <p:grpSpPr>
          <a:xfrm>
            <a:off x="6789420" y="1524000"/>
            <a:ext cx="4869180" cy="2302192"/>
            <a:chOff x="6789420" y="1524000"/>
            <a:chExt cx="4869180" cy="2302192"/>
          </a:xfrm>
        </p:grpSpPr>
        <p:sp>
          <p:nvSpPr>
            <p:cNvPr id="73" name="Rectangle 73"/>
            <p:cNvSpPr/>
            <p:nvPr/>
          </p:nvSpPr>
          <p:spPr>
            <a:xfrm>
              <a:off x="6789420" y="1524000"/>
              <a:ext cx="4869180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798945" y="1657350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01992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11136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03617" y="1756410"/>
              <a:ext cx="25901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T(n/2) + d，T(1) = c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7019925" y="207835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07560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00722" y="20907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每层只有 1 个子问题，本层代价都是 d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019925" y="238029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07560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00722" y="2392680"/>
              <a:ext cx="3520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 k 次：T(n) = T(1) + kd = c + d log₂n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019925" y="268319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075603" y="27215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00722" y="2695575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T(n) = Θ(log n)，这正是二分查找（题2）的递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推式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014210" y="3251359"/>
              <a:ext cx="421462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原讲解的 kd 是这个递推式的和：只有子问题数 a = 1 时每层代价才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都是 d。</a:t>
              </a:r>
            </a:p>
          </p:txBody>
        </p:sp>
      </p:grpSp>
      <p:grpSp>
        <p:nvGrpSpPr>
          <p:cNvPr id="109" name="c2-table-2"/>
          <p:cNvGrpSpPr/>
          <p:nvPr/>
        </p:nvGrpSpPr>
        <p:grpSpPr>
          <a:xfrm>
            <a:off x="6789420" y="4001452"/>
            <a:ext cx="4869180" cy="1623060"/>
            <a:chOff x="6789420" y="4001452"/>
            <a:chExt cx="4869180" cy="1623060"/>
          </a:xfrm>
        </p:grpSpPr>
        <p:sp>
          <p:nvSpPr>
            <p:cNvPr id="89" name="Rectangle 89"/>
            <p:cNvSpPr/>
            <p:nvPr/>
          </p:nvSpPr>
          <p:spPr>
            <a:xfrm>
              <a:off x="6789420" y="4001452"/>
              <a:ext cx="486918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530998" y="41257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039815" y="4125754"/>
              <a:ext cx="757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i 层代价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722966" y="41257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总和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889432" y="4531519"/>
              <a:ext cx="817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T(n/2) + d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837295" y="4531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200322" y="4531519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log₂n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789420" y="480822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789420" y="4812982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889432" y="4937284"/>
              <a:ext cx="906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2T(n/2) + d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746808" y="4822508"/>
              <a:ext cx="134397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837295" y="493728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2ⁱ·d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200322" y="4937284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d(n − 1)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789420" y="521398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889432" y="5343049"/>
              <a:ext cx="99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2T(n/2) + bn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837295" y="534304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200322" y="5343049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bn log₂n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6789420" y="4001452"/>
              <a:ext cx="486918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8732520" y="400145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0095548" y="400145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0" name="Rectangle 11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1040892" y="6023610"/>
              <a:ext cx="7265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展开法最容易错在第 i 层的系数：先数本层有几个子问题，再乘每个子问题的非递归代价。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690360" cy="2928937"/>
            <a:chOff x="667512" y="1835468"/>
            <a:chExt cx="6690360" cy="292893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二分查找的递归写法，三分查找的算法、比较树和各情况下的复杂度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487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根据 4.2 节的二分查找策略，写一个二分查找的递归过程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611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先查 n/3 处、再查 2n/3 处的“三分”查找，分析各种情况下的计算复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杂度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38789" cy="909257"/>
            <a:chOff x="520446" y="342900"/>
            <a:chExt cx="88387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387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题2：把 while 循环换成两次递归调用，范围空了就返回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930592"/>
            <a:chOff x="533400" y="1524000"/>
            <a:chExt cx="6059805" cy="9305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930592"/>
            </a:xfrm>
            <a:prstGeom prst="roundRect">
              <a:avLst>
                <a:gd name="adj" fmla="val 14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6638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534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630" y="175069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第2题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4750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写一个二分查找的递归过程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086451"/>
              <a:ext cx="5529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思路：循环版每轮改的是 low 或 high，递归版把新的 low、high 作为参数传下去。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2629852"/>
            <a:ext cx="6059805" cy="3089910"/>
            <a:chOff x="533400" y="2629852"/>
            <a:chExt cx="6059805" cy="3089910"/>
          </a:xfrm>
        </p:grpSpPr>
        <p:sp>
          <p:nvSpPr>
            <p:cNvPr id="14" name="Rectangle 14"/>
            <p:cNvSpPr/>
            <p:nvPr/>
          </p:nvSpPr>
          <p:spPr>
            <a:xfrm>
              <a:off x="533400" y="2629852"/>
              <a:ext cx="6059805" cy="3089910"/>
            </a:xfrm>
            <a:prstGeom prst="roundRect">
              <a:avLst>
                <a:gd name="adj" fmla="val 30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2781776"/>
              <a:ext cx="15847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BINSRCH2（原讲解）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2450" y="4111942"/>
              <a:ext cx="6021705" cy="18478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4296728"/>
              <a:ext cx="6021705" cy="18478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530" y="3042809"/>
              <a:ext cx="3895496" cy="26031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BINSRCH2(A, low, high, x, j)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mid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low ≤ high then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mid ← ⌊(low + high)/2⌋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case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= A(mid): j ← mid; return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&gt; A(mid): call BINSRCH2(A, mid+1, high, x, j)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&lt; A(mid): call BINSRCH2(A, low, mid−1, x, j)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endcase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 ← 0                      </a:t>
              </a:r>
              <a:r>
                <a:rPr lang="zh-CN" sz="10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范围为空，查找失败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BINSRCH2</a:t>
              </a:r>
              <a:br/>
              <a:r>
                <a:rPr lang="zh-CN" sz="10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初次调用 BINSRCH2(A, 1, n, x, j)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898005" y="1524000"/>
            <a:ext cx="4760595" cy="2328862"/>
            <a:chOff x="6898005" y="1524000"/>
            <a:chExt cx="4760595" cy="2328862"/>
          </a:xfrm>
        </p:grpSpPr>
        <p:sp>
          <p:nvSpPr>
            <p:cNvPr id="20" name="Rectangle 20"/>
            <p:cNvSpPr/>
            <p:nvPr/>
          </p:nvSpPr>
          <p:spPr>
            <a:xfrm>
              <a:off x="6898005" y="1524000"/>
              <a:ext cx="4760595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07530" y="1657350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28510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07948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正确性要点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27558" y="20612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83236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08354" y="2072640"/>
              <a:ext cx="37770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出口：low &gt; high 时范围为空，j ← 0；x = A(mid)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j ← mid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127558" y="2620327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83236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08354" y="2632710"/>
              <a:ext cx="38713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有序性：x &gt; A(mid) 时 A(low..mid) 都 &lt; x，只能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在右半；x &lt; A(mid) 同理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127558" y="318039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83236" y="32187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08354" y="3192780"/>
              <a:ext cx="37598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终止：每次调用范围至少缩小 1，有限次后必到出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898005" y="4028122"/>
            <a:ext cx="4760595" cy="2032635"/>
            <a:chOff x="6898005" y="4028122"/>
            <a:chExt cx="4760595" cy="2032635"/>
          </a:xfrm>
        </p:grpSpPr>
        <p:sp>
          <p:nvSpPr>
            <p:cNvPr id="34" name="Rectangle 34"/>
            <p:cNvSpPr/>
            <p:nvPr/>
          </p:nvSpPr>
          <p:spPr>
            <a:xfrm>
              <a:off x="6898005" y="4028122"/>
              <a:ext cx="4760595" cy="2032635"/>
            </a:xfrm>
            <a:prstGeom prst="roundRect">
              <a:avLst>
                <a:gd name="adj" fmla="val 656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90410" y="422052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77850" y="425481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098982" y="463296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55002" y="4576762"/>
              <a:ext cx="36570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 T(n) = T(n/2) + 1，最坏 ⌊log₂n⌋ + 1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次，Θ(log n)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98982" y="51930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55002" y="5136833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递归深度同为 Θ(log n)，栈空间 Θ(log n)；循环版只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 O(1)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84695" y="5692616"/>
              <a:ext cx="4172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是输出参数，要按引用传递，下层写入的值调用者才看得到。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64126" cy="909257"/>
            <a:chOff x="520446" y="342900"/>
            <a:chExt cx="87641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641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执行过程：n = 9，找 82 调用 3 层，找 8 走到空范围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88384" cy="264033"/>
            <a:chOff x="526542" y="1545907"/>
            <a:chExt cx="718838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88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A(1:9) = (−15, −6, 0, 7, 9, 23, 54, 82, 101)，与第4章讲义的二分查找实例相同。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28447" y="1928812"/>
            <a:ext cx="5415153" cy="1789462"/>
            <a:chOff x="528447" y="1928812"/>
            <a:chExt cx="5415153" cy="1789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533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6955" y="2045970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low, high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26776" y="2045970"/>
              <a:ext cx="248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62943" y="2045970"/>
              <a:ext cx="499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A(mid)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5110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5393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65659" y="2426970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0663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68895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46664" y="2426970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 &gt; 9，右半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5393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65659" y="2808923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0663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91152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46664" y="2808923"/>
              <a:ext cx="908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 &gt; 54，右半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5393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65659" y="3189923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8, 9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663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91152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46664" y="3189923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相等，j = 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28812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284922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23172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69945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447222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3527584"/>
              <a:ext cx="1870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82：比较 3 次，第 3 层返回</a:t>
              </a:r>
            </a:p>
          </p:txBody>
        </p:sp>
      </p:grpSp>
      <p:grpSp>
        <p:nvGrpSpPr>
          <p:cNvPr id="83" name="c1-table-2"/>
          <p:cNvGrpSpPr/>
          <p:nvPr/>
        </p:nvGrpSpPr>
        <p:grpSpPr>
          <a:xfrm>
            <a:off x="528447" y="3844290"/>
            <a:ext cx="5415153" cy="2552414"/>
            <a:chOff x="528447" y="3844290"/>
            <a:chExt cx="5415153" cy="2552414"/>
          </a:xfrm>
        </p:grpSpPr>
        <p:sp>
          <p:nvSpPr>
            <p:cNvPr id="40" name="Rectangle 40"/>
            <p:cNvSpPr/>
            <p:nvPr/>
          </p:nvSpPr>
          <p:spPr>
            <a:xfrm>
              <a:off x="533400" y="384429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5530" y="3961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15995" y="396144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low, high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25811" y="3961448"/>
              <a:ext cx="248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21973" y="3961448"/>
              <a:ext cx="499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A(mid)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70145" y="39614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5391" y="43434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04699" y="4343400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05674" y="43434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06970" y="43434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84738" y="434340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&lt; 9，左半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602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46072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5391" y="47244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04699" y="4724400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805674" y="47244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029227" y="472440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84738" y="4724400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&gt; −6，右半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9834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5391" y="51063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04699" y="5106352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805674" y="5106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106970" y="5106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384738" y="51063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&gt; 0，右半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53654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537019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5391" y="54873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704699" y="5487352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805674" y="5487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106970" y="5487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384738" y="54873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&gt; 7，右半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57464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45391" y="58683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704699" y="5868352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805674" y="5868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–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106970" y="58683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–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384738" y="5868352"/>
              <a:ext cx="1146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low &gt; high，j = 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33400" y="384429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1243965" y="384429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2442210" y="384429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3248025" y="384429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4285298" y="384429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28447" y="6206014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8：比较 4 次，第 5 层是空范围</a:t>
              </a:r>
            </a:p>
          </p:txBody>
        </p:sp>
      </p:grpSp>
      <p:grpSp>
        <p:nvGrpSpPr>
          <p:cNvPr id="108" name="c2-table-1"/>
          <p:cNvGrpSpPr/>
          <p:nvPr/>
        </p:nvGrpSpPr>
        <p:grpSpPr>
          <a:xfrm>
            <a:off x="6248400" y="1928812"/>
            <a:ext cx="5410200" cy="2093595"/>
            <a:chOff x="6248400" y="1928812"/>
            <a:chExt cx="5410200" cy="2093595"/>
          </a:xfrm>
        </p:grpSpPr>
        <p:sp>
          <p:nvSpPr>
            <p:cNvPr id="84" name="Rectangle 84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33984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133161" y="2045970"/>
              <a:ext cx="1046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循环版 BINSRCH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91238" y="2045970"/>
              <a:ext cx="11325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递归版 BINSRCH2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343079" y="25203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缩小范围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49921" y="2426970"/>
              <a:ext cx="132416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 ← mid+1 或 high ←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mid−1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751124" y="252031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带新参数递归调用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48400" y="2873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248400" y="287845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343079" y="29956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失败判定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749921" y="2995612"/>
              <a:ext cx="1190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 while 后 j ← 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751124" y="2995612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 else 分支 j ← 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3254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343079" y="33766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749921" y="3376612"/>
              <a:ext cx="1084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⌊log₂n⌋ + 1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751124" y="33766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248400" y="36356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248400" y="364045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343079" y="37585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749921" y="3758565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751124" y="3758565"/>
              <a:ext cx="8937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栈深 Θ(log n)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248400" y="1928812"/>
              <a:ext cx="5410200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650480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651682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4" name="c2-card-2"/>
          <p:cNvGrpSpPr/>
          <p:nvPr/>
        </p:nvGrpSpPr>
        <p:grpSpPr>
          <a:xfrm>
            <a:off x="6248400" y="4187190"/>
            <a:ext cx="5410200" cy="1143952"/>
            <a:chOff x="6248400" y="4187190"/>
            <a:chExt cx="5410200" cy="1143952"/>
          </a:xfrm>
        </p:grpSpPr>
        <p:sp>
          <p:nvSpPr>
            <p:cNvPr id="109" name="Rectangle 109"/>
            <p:cNvSpPr/>
            <p:nvPr/>
          </p:nvSpPr>
          <p:spPr>
            <a:xfrm>
              <a:off x="6248400" y="418719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6257925" y="432054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467475" y="436816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556096" y="44010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尾递归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460998" y="470773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两个递归调用都是过程的最后一步，返回后什么也不做。这种尾递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归可以机械地改回 while 循环，栈空间降为 O(1)。</a:t>
              </a:r>
            </a:p>
          </p:txBody>
        </p:sp>
      </p:grpSp>
      <p:grpSp>
        <p:nvGrpSpPr>
          <p:cNvPr id="120" name="c2-callout-3"/>
          <p:cNvGrpSpPr/>
          <p:nvPr/>
        </p:nvGrpSpPr>
        <p:grpSpPr>
          <a:xfrm>
            <a:off x="6248400" y="5495925"/>
            <a:ext cx="5410200" cy="862012"/>
            <a:chOff x="6248400" y="5495925"/>
            <a:chExt cx="5410200" cy="862012"/>
          </a:xfrm>
        </p:grpSpPr>
        <p:sp>
          <p:nvSpPr>
            <p:cNvPr id="115" name="Rectangle 115"/>
            <p:cNvSpPr/>
            <p:nvPr/>
          </p:nvSpPr>
          <p:spPr>
            <a:xfrm>
              <a:off x="6248400" y="5495925"/>
              <a:ext cx="5410200" cy="862012"/>
            </a:xfrm>
            <a:prstGeom prst="roundRect">
              <a:avLst>
                <a:gd name="adj" fmla="val 13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6453188" y="5827395"/>
              <a:ext cx="200026" cy="200026"/>
              <a:chOff x="6453188" y="5827395"/>
              <a:chExt cx="200026" cy="200026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6453188" y="58273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6519863" y="59051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6756273" y="5720239"/>
              <a:ext cx="45321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脚本对 0~59 个元素的随机有序表逐个查找，结果都与线性查找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一致。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01887" cy="909257"/>
            <a:chOff x="520446" y="342900"/>
            <a:chExt cx="88018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01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题3：两个分点 p1、p2 把区间切成三段，每轮排除约 2/3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357312"/>
            <a:chOff x="533400" y="1524000"/>
            <a:chExt cx="5951220" cy="13573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357312"/>
            </a:xfrm>
            <a:prstGeom prst="roundRect">
              <a:avLst>
                <a:gd name="adj" fmla="val 98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0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295" y="173783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第3题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450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三分查找：先查 n/3 处，再查 2n/3 处，找到 x 或把范围缩小到约 1/3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2342198"/>
              <a:ext cx="525132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思路：p1 取区间的 1/3 处，p2 取 2/3 处。与二分查找一样依赖有序性，只是每轮用两个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分点。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046095"/>
            <a:ext cx="5951220" cy="3266122"/>
            <a:chOff x="533400" y="3046095"/>
            <a:chExt cx="5951220" cy="3266122"/>
          </a:xfrm>
        </p:grpSpPr>
        <p:sp>
          <p:nvSpPr>
            <p:cNvPr id="14" name="Rectangle 14"/>
            <p:cNvSpPr/>
            <p:nvPr/>
          </p:nvSpPr>
          <p:spPr>
            <a:xfrm>
              <a:off x="533400" y="3046095"/>
              <a:ext cx="5951220" cy="3266122"/>
            </a:xfrm>
            <a:prstGeom prst="roundRect">
              <a:avLst>
                <a:gd name="adj" fmla="val 291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198019"/>
              <a:ext cx="17109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ThriSearch（原讲解）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2450" y="4110990"/>
              <a:ext cx="5913120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4283392"/>
              <a:ext cx="5913120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873" y="3457766"/>
              <a:ext cx="2691994" cy="2773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ThriSearch(A, n, x, j)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low, high, p1, p2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low ← 1; high ← n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low ≤ high do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p1 ← ⌊(high + 2·low)/3⌋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p2 ← ⌊(2·high + low)/3⌋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case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= A(p1): j ← p1; return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= A(p2): j ← p2; return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&lt; A(p1): high ← p1 − 1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:x &gt; A(p2): low ← p2 + 1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:else: low ← p1 + 1; high ← p2 − 1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endcase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 ← 0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ThriSearch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789420" y="1524000"/>
            <a:ext cx="4869180" cy="1714500"/>
            <a:chOff x="6789420" y="1524000"/>
            <a:chExt cx="4869180" cy="1714500"/>
          </a:xfrm>
        </p:grpSpPr>
        <p:sp>
          <p:nvSpPr>
            <p:cNvPr id="20" name="Rectangle 20"/>
            <p:cNvSpPr/>
            <p:nvPr/>
          </p:nvSpPr>
          <p:spPr>
            <a:xfrm>
              <a:off x="6789420" y="1524000"/>
              <a:ext cx="4869180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98945" y="1657350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0849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8996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正确性要点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08495" y="203358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60402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78243" y="2045494"/>
              <a:ext cx="38383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low ≤ p1 ≤ p2 ≤ high，两个分点都落在当前区间内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008495" y="231933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60402" y="23540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78243" y="2330291"/>
              <a:ext cx="3890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&lt; A(p1)：x 只能在 p1 左边；x &gt; A(p2)：只能在 p2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右边；否则在 p1、p2 之间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008495" y="284702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60402" y="28826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78243" y="2857976"/>
              <a:ext cx="3433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每个分支都把区间至少缩小 1，循环必然结束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789420" y="3403282"/>
            <a:ext cx="4869180" cy="2908935"/>
            <a:chOff x="6789420" y="3403282"/>
            <a:chExt cx="4869180" cy="2908935"/>
          </a:xfrm>
        </p:grpSpPr>
        <p:sp>
          <p:nvSpPr>
            <p:cNvPr id="34" name="Rectangle 34"/>
            <p:cNvSpPr/>
            <p:nvPr/>
          </p:nvSpPr>
          <p:spPr>
            <a:xfrm>
              <a:off x="6789420" y="3403282"/>
              <a:ext cx="4869180" cy="2908935"/>
            </a:xfrm>
            <a:prstGeom prst="roundRect">
              <a:avLst>
                <a:gd name="adj" fmla="val 4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98945" y="3536632"/>
              <a:ext cx="47625" cy="26422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08495" y="358425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93064" y="361711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两个细节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018020" y="397668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73468" y="3923824"/>
              <a:ext cx="38168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high − low ≤ 1 时 p1 = p2 = low：(low, high) = (1,</a:t>
              </a:r>
            </a:p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2) 时 p1 = ⌊4/3⌋ = 1，p2 = ⌊5/3⌋ = 1，这一轮只查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 A(1)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018020" y="47472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73468" y="4694396"/>
              <a:ext cx="3922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伪代码每轮最多 4 次元素比较；比较树把与 A(p1)、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A(p2) 的比较各算一个结点，后两页的次数按结点数计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018020" y="52749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73468" y="5223034"/>
              <a:ext cx="3890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第一轮 low = 1、high = n，p1 = ⌊(n + 2)/3⌋ ≈ n/3，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= ⌊(2n + 1)/3⌋ ≈ 2n/3，正是题面说的两处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0929" cy="909257"/>
            <a:chOff x="520446" y="342900"/>
            <a:chExt cx="71009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09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执行过程：n = 9，找 −6 和 101 各走 3 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994869" cy="278702"/>
            <a:chOff x="526161" y="1547336"/>
            <a:chExt cx="899486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9948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A(1:9) = (−15, −6, 0, 7, 9, 23, 54, 82, 101)。表中每行是一轮循环开始时的 low、p1、p2、high。</a:t>
              </a:r>
            </a:p>
          </p:txBody>
        </p:sp>
      </p:grpSp>
      <p:grpSp>
        <p:nvGrpSpPr>
          <p:cNvPr id="83" name="c1-table-1"/>
          <p:cNvGrpSpPr/>
          <p:nvPr/>
        </p:nvGrpSpPr>
        <p:grpSpPr>
          <a:xfrm>
            <a:off x="528066" y="1941195"/>
            <a:ext cx="5956554" cy="4338256"/>
            <a:chOff x="528066" y="1941195"/>
            <a:chExt cx="5956554" cy="433825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95122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1809" y="20654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062" y="2065496"/>
              <a:ext cx="264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77008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31375" y="20654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19412" y="2065496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high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3814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本轮结果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273" y="247126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6825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22617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7698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3230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06202" y="2471261"/>
              <a:ext cx="16922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 &lt; A(3) = 0，high ← 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479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752725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6825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22617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7698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32305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06202" y="2877026"/>
              <a:ext cx="1814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 &gt; A(1) = −15，low ← 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1537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68250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22617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7698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32305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06202" y="3282791"/>
              <a:ext cx="9890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= A(2)，j = 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559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564255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4737" y="36885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68250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22617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76985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32305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06202" y="3688556"/>
              <a:ext cx="1814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 &gt; A(6) = 23，low ← 7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9652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468250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122617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776985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32305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06202" y="4094321"/>
              <a:ext cx="1814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 &gt; A(8) = 82，low ← 9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3710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375785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468250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22617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76985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432305" y="45000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906202" y="4500086"/>
              <a:ext cx="9890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= A(9)，j = 9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7767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1809" y="49058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68250" y="49058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122617" y="49058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76985" y="49058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432305" y="49058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906202" y="4905851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8 &lt; 23，low ← 4，high ← 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518255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33400" y="5187315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468250" y="53116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122617" y="53116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776985" y="53116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432305" y="53116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906202" y="5311616"/>
              <a:ext cx="1551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&gt; A(4) = 7，low ← 5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3400" y="558831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468250" y="5717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122617" y="5717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776985" y="5717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432305" y="5717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906202" y="5717381"/>
              <a:ext cx="2144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 &lt; A(5) = 9，high ← 4，j = 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3400" y="1941195"/>
              <a:ext cx="5951220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183005" y="1941195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838325" y="1941195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2492692" y="1941195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3147060" y="1941195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3801428" y="1941195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28066" y="6074092"/>
              <a:ext cx="4676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前两组与原讲解的两张 Low/P1/P2/High 表一致；x = 8 是补充的失败例子</a:t>
              </a:r>
            </a:p>
          </p:txBody>
        </p:sp>
      </p:grpSp>
      <p:grpSp>
        <p:nvGrpSpPr>
          <p:cNvPr id="86" name="c2-image-1"/>
          <p:cNvGrpSpPr/>
          <p:nvPr/>
        </p:nvGrpSpPr>
        <p:grpSpPr>
          <a:xfrm>
            <a:off x="7063740" y="1941195"/>
            <a:ext cx="4319588" cy="3539109"/>
            <a:chOff x="7063740" y="1941195"/>
            <a:chExt cx="4319588" cy="3539109"/>
          </a:xfrm>
        </p:grpSpPr>
        <p:pic>
          <p:nvPicPr>
            <p:cNvPr id="84" name="Image 84"/>
            <p:cNvPicPr>
              <a:picLocks noChangeAspect="1"/>
            </p:cNvPicPr>
            <p:nvPr/>
          </p:nvPicPr>
          <p:blipFill>
            <a:blip r:embed="rId2"/>
            <a:srcRect l="16674" t="0" r="16674" b="0"/>
            <a:stretch>
              <a:fillRect/>
            </a:stretch>
          </p:blipFill>
          <p:spPr>
            <a:xfrm>
              <a:off x="7063740" y="1941195"/>
              <a:ext cx="4319588" cy="3240405"/>
            </a:xfrm>
            <a:prstGeom prst="roundRect">
              <a:avLst>
                <a:gd name="adj" fmla="val 4115"/>
              </a:avLst>
            </a:prstGeom>
          </p:spPr>
        </p:pic>
        <p:sp>
          <p:nvSpPr>
            <p:cNvPr id="85" name="TextBox 85"/>
            <p:cNvSpPr txBox="1"/>
            <p:nvPr/>
          </p:nvSpPr>
          <p:spPr>
            <a:xfrm>
              <a:off x="7239762" y="5274945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两个书签把一排按高矮排好的书分成三段，只需在一段里继续找</a:t>
              </a:r>
            </a:p>
          </p:txBody>
        </p:sp>
      </p:grpSp>
      <p:grpSp>
        <p:nvGrpSpPr>
          <p:cNvPr id="93" name="c2-callout-2"/>
          <p:cNvGrpSpPr/>
          <p:nvPr/>
        </p:nvGrpSpPr>
        <p:grpSpPr>
          <a:xfrm>
            <a:off x="6789420" y="5633085"/>
            <a:ext cx="4869180" cy="729615"/>
            <a:chOff x="6789420" y="5633085"/>
            <a:chExt cx="4869180" cy="729615"/>
          </a:xfrm>
        </p:grpSpPr>
        <p:sp>
          <p:nvSpPr>
            <p:cNvPr id="87" name="Rectangle 87"/>
            <p:cNvSpPr/>
            <p:nvPr/>
          </p:nvSpPr>
          <p:spPr>
            <a:xfrm>
              <a:off x="6789420" y="5633085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6994208" y="5897880"/>
              <a:ext cx="200026" cy="200025"/>
              <a:chOff x="6994208" y="5897880"/>
              <a:chExt cx="200026" cy="200025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699420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03394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06866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7296912" y="5779770"/>
              <a:ext cx="37513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分点公式 ⌊(high + 2low)/3⌋ 等于 low + ⌊(high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 low)/3⌋，就是从 low 往后走区间长度的 1/3。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30873" cy="909257"/>
            <a:chOff x="520446" y="342900"/>
            <a:chExt cx="90308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308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比较树：每轮至多两个结点，树高 H(n) = H(n/3) + 2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ree-1"/>
          <p:cNvGrpSpPr/>
          <p:nvPr/>
        </p:nvGrpSpPr>
        <p:grpSpPr>
          <a:xfrm>
            <a:off x="639128" y="1624965"/>
            <a:ext cx="5848349" cy="3379470"/>
            <a:chOff x="639128" y="1624965"/>
            <a:chExt cx="5848349" cy="3379470"/>
          </a:xfrm>
        </p:grpSpPr>
        <p:sp>
          <p:nvSpPr>
            <p:cNvPr id="7" name="Freeform 7"/>
            <p:cNvSpPr/>
            <p:nvPr/>
          </p:nvSpPr>
          <p:spPr>
            <a:xfrm>
              <a:off x="1442085" y="3016568"/>
              <a:ext cx="302895" cy="596265"/>
            </a:xfrm>
            <a:custGeom>
              <a:avLst/>
              <a:gdLst/>
              <a:ahLst/>
              <a:cxnLst/>
              <a:rect l="l" t="t" r="r" b="b"/>
              <a:pathLst>
                <a:path w="302895" h="596265">
                  <a:moveTo>
                    <a:pt x="302895" y="0"/>
                  </a:moveTo>
                  <a:lnTo>
                    <a:pt x="0" y="5962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44980" y="3016568"/>
              <a:ext cx="302895" cy="596265"/>
            </a:xfrm>
            <a:custGeom>
              <a:avLst/>
              <a:gdLst/>
              <a:ahLst/>
              <a:cxnLst/>
              <a:rect l="l" t="t" r="r" b="b"/>
              <a:pathLst>
                <a:path w="302895" h="596265">
                  <a:moveTo>
                    <a:pt x="0" y="0"/>
                  </a:moveTo>
                  <a:lnTo>
                    <a:pt x="302895" y="5962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36295" y="2419350"/>
              <a:ext cx="605790" cy="597217"/>
            </a:xfrm>
            <a:custGeom>
              <a:avLst/>
              <a:gdLst/>
              <a:ahLst/>
              <a:cxnLst/>
              <a:rect l="l" t="t" r="r" b="b"/>
              <a:pathLst>
                <a:path w="605790" h="597217">
                  <a:moveTo>
                    <a:pt x="605790" y="0"/>
                  </a:moveTo>
                  <a:lnTo>
                    <a:pt x="0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42085" y="2419350"/>
              <a:ext cx="302895" cy="597217"/>
            </a:xfrm>
            <a:custGeom>
              <a:avLst/>
              <a:gdLst/>
              <a:ahLst/>
              <a:cxnLst/>
              <a:rect l="l" t="t" r="r" b="b"/>
              <a:pathLst>
                <a:path w="302895" h="597217">
                  <a:moveTo>
                    <a:pt x="0" y="0"/>
                  </a:moveTo>
                  <a:lnTo>
                    <a:pt x="302895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60408" y="3612832"/>
              <a:ext cx="302895" cy="597217"/>
            </a:xfrm>
            <a:custGeom>
              <a:avLst/>
              <a:gdLst/>
              <a:ahLst/>
              <a:cxnLst/>
              <a:rect l="l" t="t" r="r" b="b"/>
              <a:pathLst>
                <a:path w="302895" h="597217">
                  <a:moveTo>
                    <a:pt x="302895" y="0"/>
                  </a:moveTo>
                  <a:lnTo>
                    <a:pt x="0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63302" y="3612832"/>
              <a:ext cx="302895" cy="597217"/>
            </a:xfrm>
            <a:custGeom>
              <a:avLst/>
              <a:gdLst/>
              <a:ahLst/>
              <a:cxnLst/>
              <a:rect l="l" t="t" r="r" b="b"/>
              <a:pathLst>
                <a:path w="302895" h="597217">
                  <a:moveTo>
                    <a:pt x="0" y="0"/>
                  </a:moveTo>
                  <a:lnTo>
                    <a:pt x="302895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654618" y="3016568"/>
              <a:ext cx="605790" cy="596265"/>
            </a:xfrm>
            <a:custGeom>
              <a:avLst/>
              <a:gdLst/>
              <a:ahLst/>
              <a:cxnLst/>
              <a:rect l="l" t="t" r="r" b="b"/>
              <a:pathLst>
                <a:path w="605790" h="596265">
                  <a:moveTo>
                    <a:pt x="605790" y="0"/>
                  </a:moveTo>
                  <a:lnTo>
                    <a:pt x="0" y="5962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60408" y="3016568"/>
              <a:ext cx="302895" cy="596265"/>
            </a:xfrm>
            <a:custGeom>
              <a:avLst/>
              <a:gdLst/>
              <a:ahLst/>
              <a:cxnLst/>
              <a:rect l="l" t="t" r="r" b="b"/>
              <a:pathLst>
                <a:path w="302895" h="596265">
                  <a:moveTo>
                    <a:pt x="0" y="0"/>
                  </a:moveTo>
                  <a:lnTo>
                    <a:pt x="302895" y="5962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683568" y="4210050"/>
              <a:ext cx="302895" cy="597217"/>
            </a:xfrm>
            <a:custGeom>
              <a:avLst/>
              <a:gdLst/>
              <a:ahLst/>
              <a:cxnLst/>
              <a:rect l="l" t="t" r="r" b="b"/>
              <a:pathLst>
                <a:path w="302895" h="597217">
                  <a:moveTo>
                    <a:pt x="302895" y="0"/>
                  </a:moveTo>
                  <a:lnTo>
                    <a:pt x="0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986462" y="4210050"/>
              <a:ext cx="303847" cy="597217"/>
            </a:xfrm>
            <a:custGeom>
              <a:avLst/>
              <a:gdLst/>
              <a:ahLst/>
              <a:cxnLst/>
              <a:rect l="l" t="t" r="r" b="b"/>
              <a:pathLst>
                <a:path w="303847" h="597217">
                  <a:moveTo>
                    <a:pt x="0" y="0"/>
                  </a:moveTo>
                  <a:lnTo>
                    <a:pt x="303847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077778" y="3612832"/>
              <a:ext cx="605790" cy="597217"/>
            </a:xfrm>
            <a:custGeom>
              <a:avLst/>
              <a:gdLst/>
              <a:ahLst/>
              <a:cxnLst/>
              <a:rect l="l" t="t" r="r" b="b"/>
              <a:pathLst>
                <a:path w="605790" h="597217">
                  <a:moveTo>
                    <a:pt x="605790" y="0"/>
                  </a:moveTo>
                  <a:lnTo>
                    <a:pt x="0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683568" y="3612832"/>
              <a:ext cx="302895" cy="597217"/>
            </a:xfrm>
            <a:custGeom>
              <a:avLst/>
              <a:gdLst/>
              <a:ahLst/>
              <a:cxnLst/>
              <a:rect l="l" t="t" r="r" b="b"/>
              <a:pathLst>
                <a:path w="302895" h="597217">
                  <a:moveTo>
                    <a:pt x="0" y="0"/>
                  </a:moveTo>
                  <a:lnTo>
                    <a:pt x="302895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471988" y="3016568"/>
              <a:ext cx="908685" cy="596265"/>
            </a:xfrm>
            <a:custGeom>
              <a:avLst/>
              <a:gdLst/>
              <a:ahLst/>
              <a:cxnLst/>
              <a:rect l="l" t="t" r="r" b="b"/>
              <a:pathLst>
                <a:path w="908685" h="596265">
                  <a:moveTo>
                    <a:pt x="908685" y="0"/>
                  </a:moveTo>
                  <a:lnTo>
                    <a:pt x="0" y="5962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380672" y="3016568"/>
              <a:ext cx="302895" cy="596265"/>
            </a:xfrm>
            <a:custGeom>
              <a:avLst/>
              <a:gdLst/>
              <a:ahLst/>
              <a:cxnLst/>
              <a:rect l="l" t="t" r="r" b="b"/>
              <a:pathLst>
                <a:path w="302895" h="596265">
                  <a:moveTo>
                    <a:pt x="0" y="0"/>
                  </a:moveTo>
                  <a:lnTo>
                    <a:pt x="302895" y="5962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260408" y="2419350"/>
              <a:ext cx="1211580" cy="597217"/>
            </a:xfrm>
            <a:custGeom>
              <a:avLst/>
              <a:gdLst/>
              <a:ahLst/>
              <a:cxnLst/>
              <a:rect l="l" t="t" r="r" b="b"/>
              <a:pathLst>
                <a:path w="1211580" h="597217">
                  <a:moveTo>
                    <a:pt x="1211580" y="0"/>
                  </a:moveTo>
                  <a:lnTo>
                    <a:pt x="0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471988" y="2419350"/>
              <a:ext cx="908685" cy="597217"/>
            </a:xfrm>
            <a:custGeom>
              <a:avLst/>
              <a:gdLst/>
              <a:ahLst/>
              <a:cxnLst/>
              <a:rect l="l" t="t" r="r" b="b"/>
              <a:pathLst>
                <a:path w="908685" h="597217">
                  <a:moveTo>
                    <a:pt x="0" y="0"/>
                  </a:moveTo>
                  <a:lnTo>
                    <a:pt x="908685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442085" y="1822132"/>
              <a:ext cx="2121218" cy="597217"/>
            </a:xfrm>
            <a:custGeom>
              <a:avLst/>
              <a:gdLst/>
              <a:ahLst/>
              <a:cxnLst/>
              <a:rect l="l" t="t" r="r" b="b"/>
              <a:pathLst>
                <a:path w="2121218" h="597217">
                  <a:moveTo>
                    <a:pt x="2121218" y="0"/>
                  </a:moveTo>
                  <a:lnTo>
                    <a:pt x="0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563302" y="1822132"/>
              <a:ext cx="908685" cy="597217"/>
            </a:xfrm>
            <a:custGeom>
              <a:avLst/>
              <a:gdLst/>
              <a:ahLst/>
              <a:cxnLst/>
              <a:rect l="l" t="t" r="r" b="b"/>
              <a:pathLst>
                <a:path w="908685" h="597217">
                  <a:moveTo>
                    <a:pt x="0" y="0"/>
                  </a:moveTo>
                  <a:lnTo>
                    <a:pt x="908685" y="5972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9128" y="2819400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44918" y="3416618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51660" y="3416618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547812" y="2819400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244918" y="222218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57450" y="3416618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63240" y="401288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669030" y="401288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366135" y="3415665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063240" y="2819400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274820" y="3416618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880610" y="4012882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87352" y="4610100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3142" y="4610100"/>
              <a:ext cx="394335" cy="394335"/>
            </a:xfrm>
            <a:prstGeom prst="roundRect">
              <a:avLst>
                <a:gd name="adj" fmla="val 19324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789295" y="4012882"/>
              <a:ext cx="394335" cy="39433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5486400" y="3415665"/>
              <a:ext cx="394335" cy="3943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5183505" y="2819400"/>
              <a:ext cx="394335" cy="3943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4274820" y="2222182"/>
              <a:ext cx="394335" cy="3943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3366135" y="1624965"/>
              <a:ext cx="394335" cy="3943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692238" y="29413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89343" y="23450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10561" y="35385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207666" y="29413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33721" y="4135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30826" y="35385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27931" y="29413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19246" y="23450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10561" y="17478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60" name="c1-callout-2"/>
          <p:cNvGrpSpPr/>
          <p:nvPr/>
        </p:nvGrpSpPr>
        <p:grpSpPr>
          <a:xfrm>
            <a:off x="533400" y="5285422"/>
            <a:ext cx="6059805" cy="1075372"/>
            <a:chOff x="533400" y="5285422"/>
            <a:chExt cx="6059805" cy="1075372"/>
          </a:xfrm>
        </p:grpSpPr>
        <p:sp>
          <p:nvSpPr>
            <p:cNvPr id="54" name="Rectangle 54"/>
            <p:cNvSpPr/>
            <p:nvPr/>
          </p:nvSpPr>
          <p:spPr>
            <a:xfrm>
              <a:off x="533400" y="5285422"/>
              <a:ext cx="6059805" cy="1075372"/>
            </a:xfrm>
            <a:prstGeom prst="roundRect">
              <a:avLst>
                <a:gd name="adj" fmla="val 106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723573"/>
              <a:ext cx="200026" cy="200026"/>
              <a:chOff x="738188" y="5723573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7235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57902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58235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5461159"/>
              <a:ext cx="500989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圆是一次与 A(p1) 或 A(p2) 的比较（圆内是下标），方框是查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找失败。橙色是 x = 101 的路径：3 → 6 → 7 → 8 → 9，共 5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结点。</a:t>
              </a:r>
            </a:p>
          </p:txBody>
        </p:sp>
      </p:grpSp>
      <p:grpSp>
        <p:nvGrpSpPr>
          <p:cNvPr id="71" name="c2-card-1"/>
          <p:cNvGrpSpPr/>
          <p:nvPr/>
        </p:nvGrpSpPr>
        <p:grpSpPr>
          <a:xfrm>
            <a:off x="6898005" y="1524000"/>
            <a:ext cx="4760595" cy="1615440"/>
            <a:chOff x="6898005" y="1524000"/>
            <a:chExt cx="4760595" cy="1615440"/>
          </a:xfrm>
        </p:grpSpPr>
        <p:sp>
          <p:nvSpPr>
            <p:cNvPr id="61" name="Rectangle 61"/>
            <p:cNvSpPr/>
            <p:nvPr/>
          </p:nvSpPr>
          <p:spPr>
            <a:xfrm>
              <a:off x="6898005" y="1524000"/>
              <a:ext cx="4760595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07530" y="1657350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3422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2566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读树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41845" y="21431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98436" y="2082641"/>
              <a:ext cx="40760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3 是 A(p1)，x &gt; A(3) 时再比 A(p2) = A(6)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141845" y="246030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98436" y="2400776"/>
              <a:ext cx="40384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6 的左子树是中段 4~5，右子树是右段 7~9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141845" y="277844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98436" y="2717959"/>
              <a:ext cx="34935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右段 7~9 正好是 n/3 = 3 个元素的比较树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formula5"/>
              <p:cNvSpPr txBox="1">
                <a:spLocks noGrp="1"/>
              </p:cNvSpPr>
              <p:nvPr/>
            </p:nvSpPr>
            <p:spPr>
              <a:xfrm>
                <a:off x="6898005" y="3319462"/>
                <a:ext cx="4760595" cy="7600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&gt;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82" name="c2-steps-3"/>
          <p:cNvGrpSpPr/>
          <p:nvPr/>
        </p:nvGrpSpPr>
        <p:grpSpPr>
          <a:xfrm>
            <a:off x="6898005" y="4269105"/>
            <a:ext cx="4541825" cy="1165289"/>
            <a:chOff x="6898005" y="4269105"/>
            <a:chExt cx="4541825" cy="1165289"/>
          </a:xfrm>
        </p:grpSpPr>
        <p:sp>
          <p:nvSpPr>
            <p:cNvPr id="73" name="Rectangle 73"/>
            <p:cNvSpPr/>
            <p:nvPr/>
          </p:nvSpPr>
          <p:spPr>
            <a:xfrm>
              <a:off x="7031355" y="4411980"/>
              <a:ext cx="19050" cy="6172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6898005" y="42691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991629" y="4342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898005" y="48863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991629" y="49601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309866" y="4301966"/>
              <a:ext cx="12704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n = 3ᵏ 展开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311009" y="4582478"/>
              <a:ext cx="2523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H(n) = H(n/3ᵏ) + 2k = 1 + 2log₃n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309866" y="49191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11009" y="5199698"/>
              <a:ext cx="4128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H(1) = 1，H(3) = 3，H(9) = 5，与树高一致；H(2) = 2</a:t>
              </a:r>
            </a:p>
          </p:txBody>
        </p:sp>
      </p:grpSp>
      <p:grpSp>
        <p:nvGrpSpPr>
          <p:cNvPr id="89" name="c2-callout-4"/>
          <p:cNvGrpSpPr/>
          <p:nvPr/>
        </p:nvGrpSpPr>
        <p:grpSpPr>
          <a:xfrm>
            <a:off x="6898005" y="5605462"/>
            <a:ext cx="4760595" cy="756285"/>
            <a:chOff x="6898005" y="5605462"/>
            <a:chExt cx="4760595" cy="756285"/>
          </a:xfrm>
        </p:grpSpPr>
        <p:sp>
          <p:nvSpPr>
            <p:cNvPr id="83" name="Rectangle 83"/>
            <p:cNvSpPr/>
            <p:nvPr/>
          </p:nvSpPr>
          <p:spPr>
            <a:xfrm>
              <a:off x="6898005" y="5605462"/>
              <a:ext cx="476059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7102793" y="5883593"/>
              <a:ext cx="200026" cy="200025"/>
              <a:chOff x="7102793" y="5883593"/>
              <a:chExt cx="200026" cy="200025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102793" y="58835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142531" y="59280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177247" y="60391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7405116" y="5752624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同样 9 个元素，二分查找的比较树高 4，三分查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找高 5。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28914" cy="909257"/>
            <a:chOff x="520446" y="342900"/>
            <a:chExt cx="87289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查找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289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复杂度：各种情况都是 Θ(log n)，常数比二分查找大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8447" y="1524000"/>
            <a:ext cx="5631371" cy="1408461"/>
            <a:chOff x="528447" y="1524000"/>
            <a:chExt cx="5631371" cy="140846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88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2219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985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7494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885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99259" y="2023110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61166" y="2023110"/>
              <a:ext cx="56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37541" y="2023110"/>
              <a:ext cx="56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885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4791" y="2404110"/>
              <a:ext cx="56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61166" y="2404110"/>
              <a:ext cx="56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37541" y="2404110"/>
              <a:ext cx="56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524000"/>
              <a:ext cx="5626418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725930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02305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78680" y="1524000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447" y="2741771"/>
              <a:ext cx="41598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原讲解写成 O(log₃n)；换底只差常数因子，与 O(log n) 是同一个集合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058478"/>
            <a:ext cx="5626418" cy="1390650"/>
            <a:chOff x="533400" y="3058478"/>
            <a:chExt cx="5626418" cy="1390650"/>
          </a:xfrm>
        </p:grpSpPr>
        <p:sp>
          <p:nvSpPr>
            <p:cNvPr id="28" name="Rectangle 28"/>
            <p:cNvSpPr/>
            <p:nvPr/>
          </p:nvSpPr>
          <p:spPr>
            <a:xfrm>
              <a:off x="533400" y="3058478"/>
              <a:ext cx="5626418" cy="1390650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3191828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2475" y="3239452"/>
              <a:ext cx="225171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7618" y="3272314"/>
              <a:ext cx="21814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为什么失败的最好情况也是 Θ(log n)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3579971"/>
              <a:ext cx="4897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失败要走到方框。每轮区间最多剩约 1/3，至少要约 log₃n 轮才能缩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到空，所以最浅的方框也在 log₃n 附近。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7141" y="4103370"/>
              <a:ext cx="38554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脚本：n = 9、27、81、729 时失败最少比较 2、3、4、6 次。</a:t>
              </a:r>
            </a:p>
          </p:txBody>
        </p:sp>
      </p:grpSp>
      <p:grpSp>
        <p:nvGrpSpPr>
          <p:cNvPr id="44" name="c1-card-3"/>
          <p:cNvGrpSpPr/>
          <p:nvPr/>
        </p:nvGrpSpPr>
        <p:grpSpPr>
          <a:xfrm>
            <a:off x="533400" y="4613910"/>
            <a:ext cx="5626418" cy="1675448"/>
            <a:chOff x="533400" y="4613910"/>
            <a:chExt cx="5626418" cy="1675448"/>
          </a:xfrm>
        </p:grpSpPr>
        <p:sp>
          <p:nvSpPr>
            <p:cNvPr id="35" name="Rectangle 35"/>
            <p:cNvSpPr/>
            <p:nvPr/>
          </p:nvSpPr>
          <p:spPr>
            <a:xfrm>
              <a:off x="533400" y="4613910"/>
              <a:ext cx="5626418" cy="1675448"/>
            </a:xfrm>
            <a:prstGeom prst="roundRect">
              <a:avLst>
                <a:gd name="adj" fmla="val 7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4747260"/>
              <a:ext cx="47625" cy="14087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2475" y="4794885"/>
              <a:ext cx="104108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7114" y="4827746"/>
              <a:ext cx="890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 = 9 的平均值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62000" y="518731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7448" y="5134451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成功：9 个元素的比较次数 2, 3, 1, 3, 4, 2, 3, 4, 5，平均 27/9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3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62000" y="57150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7448" y="5662136"/>
              <a:ext cx="3588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失败：10 个方框的比较次数之和 36，平均 3.6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7141" y="5943600"/>
              <a:ext cx="26892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二分查找 n = 9 时是 25/9 ≈ 2.78 与 3.4。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6459665" y="1524000"/>
            <a:ext cx="5198935" cy="2552414"/>
            <a:chOff x="6459665" y="1524000"/>
            <a:chExt cx="5198935" cy="2552414"/>
          </a:xfrm>
        </p:grpSpPr>
        <p:sp>
          <p:nvSpPr>
            <p:cNvPr id="45" name="Rectangle 45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3758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631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三分最坏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2743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二分最坏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64489" y="1641157"/>
              <a:ext cx="715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2log₃n + 1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681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3014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7126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7811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35188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3014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7126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7811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35188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3014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7126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7811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64618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53558" y="316706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91278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32398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39240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64618" y="3426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153558" y="354806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513320" y="3440430"/>
              <a:ext cx="132207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091278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32398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761497" y="3548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17.8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464618" y="1524000"/>
              <a:ext cx="519398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49903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84015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18127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59665" y="38857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最坏比较次数，脚本逐个元素实测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formula12"/>
              <p:cNvSpPr txBox="1">
                <a:spLocks noGrp="1"/>
              </p:cNvSpPr>
              <p:nvPr/>
            </p:nvSpPr>
            <p:spPr>
              <a:xfrm>
                <a:off x="6464618" y="4202430"/>
                <a:ext cx="5193982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func>
                        <m:funcPr/>
                        <m:fNam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func>
                            <m:funcPr/>
                            <m:fNam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e>
                          </m:func>
                        </m:den>
                      </m:f>
                      <m:func>
                        <m:funcPr/>
                        <m:fNam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1.26</m:t>
                      </m:r>
                      <m:func>
                        <m:funcPr/>
                        <m:fNam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88" name="c2-card-3"/>
          <p:cNvGrpSpPr/>
          <p:nvPr/>
        </p:nvGrpSpPr>
        <p:grpSpPr>
          <a:xfrm>
            <a:off x="6464618" y="4855845"/>
            <a:ext cx="5193982" cy="1432560"/>
            <a:chOff x="6464618" y="4855845"/>
            <a:chExt cx="5193982" cy="1432560"/>
          </a:xfrm>
        </p:grpSpPr>
        <p:sp>
          <p:nvSpPr>
            <p:cNvPr id="84" name="Rectangle 84"/>
            <p:cNvSpPr/>
            <p:nvPr/>
          </p:nvSpPr>
          <p:spPr>
            <a:xfrm>
              <a:off x="6464618" y="4855845"/>
              <a:ext cx="5193982" cy="1432560"/>
            </a:xfrm>
            <a:prstGeom prst="roundRect">
              <a:avLst>
                <a:gd name="adj" fmla="val 930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645592" y="50368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738264" y="50696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639116" y="537733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三分查找每轮排除更多元素，但一轮要比两次。按比较次数算，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最坏约为二分查找的 1.26 倍，所以二分更好。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100382" cy="2928937"/>
            <a:chOff x="667512" y="1835468"/>
            <a:chExt cx="6100382" cy="292893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排序与合并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归并排序去掉递归，二维极大点按中位线分治再合并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8611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写一个“由底向上”的归并分类算法，从而取消对栈空间的利用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5577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用分治策略求 (1,2) (2,8) (3,5) (4,1) (5,4) (6,7) (7,6)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(8,3) 的极大点，给出求解过程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70250" cy="909257"/>
            <a:chOff x="520446" y="342900"/>
            <a:chExt cx="81702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排序与合并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702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题4：段长 step 从 1 开始翻倍，每趟把相邻两段合并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138238"/>
            <a:chOff x="533400" y="1524000"/>
            <a:chExt cx="6059805" cy="11382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138238"/>
            </a:xfrm>
            <a:prstGeom prst="roundRect">
              <a:avLst>
                <a:gd name="adj" fmla="val 117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15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534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630" y="175069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第4题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4750" y="1756410"/>
              <a:ext cx="4585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写一个“由底向上”的归并排序算法，取消对栈空间的利用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086451"/>
              <a:ext cx="53454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思路：递归版先拆到单个元素再往回合并。直接从单个元素开始，按段长 1、2、4、…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逐趟合并，就不用递归了。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2837498"/>
            <a:ext cx="6059805" cy="3089910"/>
            <a:chOff x="533400" y="2837498"/>
            <a:chExt cx="6059805" cy="3089910"/>
          </a:xfrm>
        </p:grpSpPr>
        <p:sp>
          <p:nvSpPr>
            <p:cNvPr id="14" name="Rectangle 14"/>
            <p:cNvSpPr/>
            <p:nvPr/>
          </p:nvSpPr>
          <p:spPr>
            <a:xfrm>
              <a:off x="533400" y="2837498"/>
              <a:ext cx="6059805" cy="3089910"/>
            </a:xfrm>
            <a:prstGeom prst="roundRect">
              <a:avLst>
                <a:gd name="adj" fmla="val 30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2989421"/>
              <a:ext cx="18408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MERGESORT1（原讲解）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2450" y="4503420"/>
              <a:ext cx="6021705" cy="18478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530" y="3249501"/>
              <a:ext cx="3267608" cy="26031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MERGESORT1(n)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low, mid, high, step, k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step ← 1; k ← ⌊log n⌋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step ≤ 2^k do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low ← 1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while low + step − 1 &lt; n do    </a:t>
              </a:r>
              <a:r>
                <a:rPr lang="zh-CN" sz="103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右段非空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mid ← low + step − 1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high ← min{mid + step, n}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call MERGE(low, mid, high)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low ← high + 1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step ← step × 2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MERGESORT1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898005" y="1524000"/>
            <a:ext cx="4760595" cy="2888932"/>
            <a:chOff x="6898005" y="1524000"/>
            <a:chExt cx="4760595" cy="2888932"/>
          </a:xfrm>
        </p:grpSpPr>
        <p:sp>
          <p:nvSpPr>
            <p:cNvPr id="19" name="Rectangle 19"/>
            <p:cNvSpPr/>
            <p:nvPr/>
          </p:nvSpPr>
          <p:spPr>
            <a:xfrm>
              <a:off x="6898005" y="1524000"/>
              <a:ext cx="4760595" cy="2888932"/>
            </a:xfrm>
            <a:prstGeom prst="roundRect">
              <a:avLst>
                <a:gd name="adj" fmla="val 4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1657350"/>
              <a:ext cx="47625" cy="26222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28510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07948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正确性要点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127558" y="20612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83236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08354" y="2072640"/>
              <a:ext cx="37427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不变式：第 step 趟开始时，从 1 起每 step 个元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素是一段有序段（最后一段可以更短）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127558" y="2620327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83236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08354" y="2632710"/>
              <a:ext cx="38713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内层循环把第 1、2 段，第 3、4 段……合并，末尾落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单的一段原样保留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127558" y="318039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83236" y="32187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08354" y="3192780"/>
              <a:ext cx="38027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high 取 min{mid + step, n}，最后一段不满 step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个时不越界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127558" y="373951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83236" y="37788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08354" y="3751898"/>
              <a:ext cx="38027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需要的最后一趟 step 是小于 n 的最大 2 的幂，它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不超过 2 的 ⌊log n⌋ 次幂，外层条件够用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898005" y="4587240"/>
            <a:ext cx="4760595" cy="1768792"/>
            <a:chOff x="6898005" y="4587240"/>
            <a:chExt cx="4760595" cy="1768792"/>
          </a:xfrm>
        </p:grpSpPr>
        <p:sp>
          <p:nvSpPr>
            <p:cNvPr id="36" name="Rectangle 36"/>
            <p:cNvSpPr/>
            <p:nvPr/>
          </p:nvSpPr>
          <p:spPr>
            <a:xfrm>
              <a:off x="6898005" y="4587240"/>
              <a:ext cx="4760595" cy="1768792"/>
            </a:xfrm>
            <a:prstGeom prst="roundRect">
              <a:avLst>
                <a:gd name="adj" fmla="val 75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90410" y="47796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7850" y="48139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98982" y="51930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55002" y="5136833"/>
              <a:ext cx="37170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 ⌈log₂n⌉ 趟有效合并，每趟 MERGE 总共移动 n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个元素：Θ(n log n)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98982" y="575214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55002" y="5695950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没有递归，栈空间 O(1)；MERGE 的辅助数组 B 仍占</a:t>
              </a:r>
              <a:br/>
              <a:r>
                <a:rPr lang="el-GR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Θ(n)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9279" cy="909257"/>
            <a:chOff x="520446" y="342900"/>
            <a:chExt cx="76592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排序与合并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92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执行过程：n = 10 共 4 趟，调用 MERGE 9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2" name="c1-cells-1"/>
          <p:cNvGrpSpPr/>
          <p:nvPr/>
        </p:nvGrpSpPr>
        <p:grpSpPr>
          <a:xfrm>
            <a:off x="527685" y="1524000"/>
            <a:ext cx="6065521" cy="2711768"/>
            <a:chOff x="527685" y="1524000"/>
            <a:chExt cx="6065521" cy="271176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44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09688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427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37372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52916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66010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0601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94648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0923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22332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37876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950970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22025" y="16444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479608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9419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08245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22836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35930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51474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64568" y="1524000"/>
              <a:ext cx="5286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915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3841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6704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9473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2337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5200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796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0833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3696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6560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62934" y="1958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7685" y="2362676"/>
              <a:ext cx="692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step 1 后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309688" y="224218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524279" y="2362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837372" y="224218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52916" y="2362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366010" y="2242185"/>
              <a:ext cx="52863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580601" y="2362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894648" y="2242185"/>
              <a:ext cx="52863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09239" y="2362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22332" y="224218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37876" y="2362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950970" y="224218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22025" y="23626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479608" y="2242185"/>
              <a:ext cx="52863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94199" y="2362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008245" y="2242185"/>
              <a:ext cx="52863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22836" y="2362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35930" y="224218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51474" y="2362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64568" y="224218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79159" y="2362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7685" y="2900839"/>
              <a:ext cx="692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step 2 后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309688" y="277939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524279" y="2900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837372" y="277939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052916" y="2900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366010" y="277939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580601" y="2900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894648" y="2779395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109239" y="2900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422332" y="2779395"/>
              <a:ext cx="52863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637876" y="2900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3950970" y="2779395"/>
              <a:ext cx="52863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165561" y="2900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479608" y="2779395"/>
              <a:ext cx="52863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694199" y="2900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008245" y="2779395"/>
              <a:ext cx="52863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179300" y="29008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535930" y="2779395"/>
              <a:ext cx="528638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751474" y="2900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64568" y="2779395"/>
              <a:ext cx="528638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279159" y="29008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27685" y="3438049"/>
              <a:ext cx="692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step 4 后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309688" y="3317558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524279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837372" y="3317558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2052916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2366010" y="3317558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2580601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2894648" y="3317558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109239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3422332" y="3317558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3637876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3950970" y="3317558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165561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4479608" y="3317558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4694199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008245" y="3317558"/>
              <a:ext cx="528638" cy="3810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179300" y="343804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535930" y="3317558"/>
              <a:ext cx="528638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5751474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064568" y="3317558"/>
              <a:ext cx="528638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279159" y="3438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27685" y="3975259"/>
              <a:ext cx="692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step 8 后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309688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524279" y="3975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1837372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2052916" y="3975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2366010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2580601" y="3975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2894648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3109239" y="3975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3422332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3637876" y="3975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3950970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4165561" y="3975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4479608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4694199" y="3975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5008245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5222836" y="3975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5535930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5751474" y="3975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064568" y="3854768"/>
              <a:ext cx="528638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235623" y="397525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129" name="c1-callout-2"/>
          <p:cNvGrpSpPr/>
          <p:nvPr/>
        </p:nvGrpSpPr>
        <p:grpSpPr>
          <a:xfrm>
            <a:off x="533400" y="4411028"/>
            <a:ext cx="6059805" cy="1285875"/>
            <a:chOff x="533400" y="4411028"/>
            <a:chExt cx="6059805" cy="1285875"/>
          </a:xfrm>
        </p:grpSpPr>
        <p:sp>
          <p:nvSpPr>
            <p:cNvPr id="123" name="Rectangle 123"/>
            <p:cNvSpPr/>
            <p:nvPr/>
          </p:nvSpPr>
          <p:spPr>
            <a:xfrm>
              <a:off x="533400" y="4411028"/>
              <a:ext cx="6059805" cy="1285875"/>
            </a:xfrm>
            <a:prstGeom prst="roundRect">
              <a:avLst>
                <a:gd name="adj" fmla="val 888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7" name="Group 127"/>
            <p:cNvGrpSpPr/>
            <p:nvPr/>
          </p:nvGrpSpPr>
          <p:grpSpPr>
            <a:xfrm>
              <a:off x="738188" y="4953953"/>
              <a:ext cx="200026" cy="200026"/>
              <a:chOff x="738188" y="4953953"/>
              <a:chExt cx="200026" cy="200026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738188" y="49539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838200" y="50206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827088" y="50539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8" name="TextBox 128"/>
            <p:cNvSpPr txBox="1"/>
            <p:nvPr/>
          </p:nvSpPr>
          <p:spPr>
            <a:xfrm>
              <a:off x="1040892" y="4834890"/>
              <a:ext cx="51314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同色的一段是本趟合并出的有序段；灰色的 9~10 在 step = 2、4 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趟里落单，原样保留，最后一趟才并入。</a:t>
              </a:r>
            </a:p>
          </p:txBody>
        </p:sp>
      </p:grpSp>
      <p:grpSp>
        <p:nvGrpSpPr>
          <p:cNvPr id="150" name="c2-table-1"/>
          <p:cNvGrpSpPr/>
          <p:nvPr/>
        </p:nvGrpSpPr>
        <p:grpSpPr>
          <a:xfrm>
            <a:off x="6892671" y="1524000"/>
            <a:ext cx="4765929" cy="2308479"/>
            <a:chOff x="6892671" y="1524000"/>
            <a:chExt cx="4765929" cy="2308479"/>
          </a:xfrm>
        </p:grpSpPr>
        <p:sp>
          <p:nvSpPr>
            <p:cNvPr id="130" name="Rectangle 130"/>
            <p:cNvSpPr/>
            <p:nvPr/>
          </p:nvSpPr>
          <p:spPr>
            <a:xfrm>
              <a:off x="6898005" y="1524000"/>
              <a:ext cx="476059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7145818" y="164830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step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647157" y="1648301"/>
              <a:ext cx="2119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本趟 MERGE(low, mid, high)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276426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7854315" y="205406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(1,1,2) (3,3,4) (5,5,6) (7,7,8) (9,9,10)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6898005" y="2330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6898005" y="233553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7276426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854315" y="2459831"/>
              <a:ext cx="3230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(1,2,4) (5,6,8)；9 + 2 − 1 = 10 不小于 n，停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6898005" y="2736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7276426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7854315" y="2865596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(1,4,8)；9 + 4 − 1 = 12 ≥ n，停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6898005" y="31422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6898005" y="314706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7276426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7763828" y="3156585"/>
              <a:ext cx="388524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7854315" y="3271361"/>
              <a:ext cx="2499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(1,8,10)，high = min{16, 10} = 10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6898005" y="1524000"/>
              <a:ext cx="476059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774954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6892671" y="3627120"/>
              <a:ext cx="2724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与原讲解的合并树（1,1,2 … 1,8,10）一致</a:t>
              </a:r>
            </a:p>
          </p:txBody>
        </p:sp>
      </p:grpSp>
      <p:grpSp>
        <p:nvGrpSpPr>
          <p:cNvPr id="157" name="c2-card-2"/>
          <p:cNvGrpSpPr/>
          <p:nvPr/>
        </p:nvGrpSpPr>
        <p:grpSpPr>
          <a:xfrm>
            <a:off x="6898005" y="3966210"/>
            <a:ext cx="4760595" cy="1730692"/>
            <a:chOff x="6898005" y="3966210"/>
            <a:chExt cx="4760595" cy="1730692"/>
          </a:xfrm>
        </p:grpSpPr>
        <p:sp>
          <p:nvSpPr>
            <p:cNvPr id="151" name="Rectangle 151"/>
            <p:cNvSpPr/>
            <p:nvPr/>
          </p:nvSpPr>
          <p:spPr>
            <a:xfrm>
              <a:off x="6898005" y="3966210"/>
              <a:ext cx="4760595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6907530" y="409956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7128510" y="415861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7211949" y="41929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外层循环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7121652" y="4515802"/>
              <a:ext cx="405136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⌊log 10⌋ = 3，step 取 1、2、4、8 共 4 趟。n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时 k = 4，还会多跑一趟 step = 16，但内层条件 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+ 15 &lt; 16 不成立，一次 MERGE 也不调。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7122795" y="5328761"/>
              <a:ext cx="3215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外层写成 while step &lt; n 效果相同，也更直白。</a:t>
              </a:r>
            </a:p>
          </p:txBody>
        </p:sp>
      </p:grpSp>
      <p:grpSp>
        <p:nvGrpSpPr>
          <p:cNvPr id="1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58" name="Rectangle 1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2" name="Group 16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159" name="Freeform 15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0" name="Freeform 16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1" name="Freeform 16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3" name="TextBox 163"/>
            <p:cNvSpPr txBox="1"/>
            <p:nvPr/>
          </p:nvSpPr>
          <p:spPr>
            <a:xfrm>
              <a:off x="1040892" y="6023610"/>
              <a:ext cx="8509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 (6, 3, 9, 4, 1, 10, 8, 2, 7, 5) 为补充的实例，脚本逐趟核对；另对 1~299 个随机元素全部排对。</a:t>
              </a:r>
            </a:p>
          </p:txBody>
        </p:sp>
      </p:grpSp>
      <p:grpSp>
        <p:nvGrpSpPr>
          <p:cNvPr id="1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5" name="TextBox 16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77409" cy="909257"/>
            <a:chOff x="520446" y="342900"/>
            <a:chExt cx="88774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排序与合并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774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题5：按 x 排序后从中间切开，右半的最高点决定左半留谁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163955"/>
            <a:chOff x="533400" y="1524000"/>
            <a:chExt cx="5193982" cy="11639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163955"/>
            </a:xfrm>
            <a:prstGeom prst="roundRect">
              <a:avLst>
                <a:gd name="adj" fmla="val 114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72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295" y="173783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第5题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356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用分治策略求 8 个点的二维极大点，给出求解过程及结果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2342198"/>
              <a:ext cx="48519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点集：(1,2) (2,8) (3,5) (4,1) (5,4) (6,7) (7,6) (8,3)，已按 x 排好。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2862262"/>
            <a:ext cx="5005006" cy="2342769"/>
            <a:chOff x="533400" y="2862262"/>
            <a:chExt cx="5005006" cy="2342769"/>
          </a:xfrm>
        </p:grpSpPr>
        <p:sp>
          <p:nvSpPr>
            <p:cNvPr id="14" name="Rectangle 14"/>
            <p:cNvSpPr/>
            <p:nvPr/>
          </p:nvSpPr>
          <p:spPr>
            <a:xfrm>
              <a:off x="666750" y="3005138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8622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4147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488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9681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041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5205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594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28922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预处理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3147060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x 值排序（x 相同再按 y）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44566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3700462"/>
              <a:ext cx="28860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取垂直于 x 轴的中位线 l，分成 SL 和 SR 两半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399811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4252912"/>
              <a:ext cx="34184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递归求 SL、SR 的极大点；只剩 1 个点时它就是极大点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5515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166" y="4806315"/>
              <a:ext cx="459124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 的极大点全保留；SL 的极大点 p 若 yp 小于 SR 极大点中的最大 y 值，p 被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支配，舍去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366385"/>
            <a:ext cx="5193982" cy="702945"/>
            <a:chOff x="533400" y="5366385"/>
            <a:chExt cx="5193982" cy="702945"/>
          </a:xfrm>
        </p:grpSpPr>
        <p:sp>
          <p:nvSpPr>
            <p:cNvPr id="32" name="Rectangle 32"/>
            <p:cNvSpPr/>
            <p:nvPr/>
          </p:nvSpPr>
          <p:spPr>
            <a:xfrm>
              <a:off x="533400" y="5366385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617845"/>
              <a:ext cx="200026" cy="200026"/>
              <a:chOff x="738188" y="5617845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6178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6845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7178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1273" y="5511641"/>
              <a:ext cx="41338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本课程的支配定义：x1 &gt; x2 且 y1 &gt; y2 时 (x1, y1) 支配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(x2, y2)。</a:t>
              </a:r>
            </a:p>
          </p:txBody>
        </p:sp>
      </p:grpSp>
      <p:grpSp>
        <p:nvGrpSpPr>
          <p:cNvPr id="71" name="c2-graph-1"/>
          <p:cNvGrpSpPr/>
          <p:nvPr/>
        </p:nvGrpSpPr>
        <p:grpSpPr>
          <a:xfrm>
            <a:off x="6263919" y="1548289"/>
            <a:ext cx="5387734" cy="3093720"/>
            <a:chOff x="6263919" y="1548289"/>
            <a:chExt cx="5387734" cy="3093720"/>
          </a:xfrm>
        </p:grpSpPr>
        <p:sp>
          <p:nvSpPr>
            <p:cNvPr id="39" name="Freeform 39"/>
            <p:cNvSpPr/>
            <p:nvPr/>
          </p:nvSpPr>
          <p:spPr>
            <a:xfrm>
              <a:off x="6332220" y="4491990"/>
              <a:ext cx="5097780" cy="9525"/>
            </a:xfrm>
            <a:custGeom>
              <a:avLst/>
              <a:gdLst/>
              <a:ahLst/>
              <a:cxnLst/>
              <a:rect l="l" t="t" r="r" b="b"/>
              <a:pathLst>
                <a:path w="5097780" h="9525">
                  <a:moveTo>
                    <a:pt x="0" y="0"/>
                  </a:moveTo>
                  <a:lnTo>
                    <a:pt x="509778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1430000" y="44443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313170" y="1827848"/>
              <a:ext cx="9525" cy="2645093"/>
            </a:xfrm>
            <a:custGeom>
              <a:avLst/>
              <a:gdLst/>
              <a:ahLst/>
              <a:cxnLst/>
              <a:rect l="l" t="t" r="r" b="b"/>
              <a:pathLst>
                <a:path w="9525" h="2645093">
                  <a:moveTo>
                    <a:pt x="0" y="264509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265545" y="17325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154478" y="1669732"/>
              <a:ext cx="9525" cy="2803208"/>
            </a:xfrm>
            <a:custGeom>
              <a:avLst/>
              <a:gdLst/>
              <a:ahLst/>
              <a:cxnLst/>
              <a:rect l="l" t="t" r="r" b="b"/>
              <a:pathLst>
                <a:path w="9525" h="2803208">
                  <a:moveTo>
                    <a:pt x="0" y="0"/>
                  </a:moveTo>
                  <a:lnTo>
                    <a:pt x="0" y="2803208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7683818" y="1840230"/>
              <a:ext cx="2399347" cy="255270"/>
            </a:xfrm>
            <a:custGeom>
              <a:avLst/>
              <a:gdLst/>
              <a:ahLst/>
              <a:cxnLst/>
              <a:rect l="l" t="t" r="r" b="b"/>
              <a:pathLst>
                <a:path w="2399347" h="255270">
                  <a:moveTo>
                    <a:pt x="0" y="0"/>
                  </a:moveTo>
                  <a:lnTo>
                    <a:pt x="2399347" y="0"/>
                  </a:lnTo>
                  <a:lnTo>
                    <a:pt x="2399347" y="255270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10159365" y="2171700"/>
              <a:ext cx="542925" cy="255270"/>
            </a:xfrm>
            <a:custGeom>
              <a:avLst/>
              <a:gdLst/>
              <a:ahLst/>
              <a:cxnLst/>
              <a:rect l="l" t="t" r="r" b="b"/>
              <a:pathLst>
                <a:path w="542925" h="255270">
                  <a:moveTo>
                    <a:pt x="0" y="0"/>
                  </a:moveTo>
                  <a:lnTo>
                    <a:pt x="542925" y="0"/>
                  </a:lnTo>
                  <a:lnTo>
                    <a:pt x="542925" y="255270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10778490" y="2503170"/>
              <a:ext cx="542925" cy="918210"/>
            </a:xfrm>
            <a:custGeom>
              <a:avLst/>
              <a:gdLst/>
              <a:ahLst/>
              <a:cxnLst/>
              <a:rect l="l" t="t" r="r" b="b"/>
              <a:pathLst>
                <a:path w="542925" h="918210">
                  <a:moveTo>
                    <a:pt x="0" y="0"/>
                  </a:moveTo>
                  <a:lnTo>
                    <a:pt x="542925" y="0"/>
                  </a:lnTo>
                  <a:lnTo>
                    <a:pt x="542925" y="918210"/>
                  </a:lnTo>
                </a:path>
              </a:pathLst>
            </a:custGeom>
            <a:noFill/>
            <a:ln w="17145">
              <a:solidFill>
                <a:srgbClr val="14A38B"/>
              </a:solidFill>
              <a:custDash>
                <a:ds d="333333" sp="222222"/>
              </a:custDash>
            </a:ln>
          </p:spPr>
        </p:sp>
        <p:sp>
          <p:nvSpPr>
            <p:cNvPr id="47" name="Ellipse 47"/>
            <p:cNvSpPr/>
            <p:nvPr/>
          </p:nvSpPr>
          <p:spPr>
            <a:xfrm>
              <a:off x="6303645" y="448246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144952" y="1641158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144952" y="4482465"/>
              <a:ext cx="19050" cy="190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921818" y="3762375"/>
              <a:ext cx="133350" cy="1333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540942" y="1773555"/>
              <a:ext cx="133350" cy="1333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8160068" y="2767965"/>
              <a:ext cx="133350" cy="1333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778240" y="4093845"/>
              <a:ext cx="133350" cy="1333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397365" y="3099435"/>
              <a:ext cx="133350" cy="13335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016490" y="2105025"/>
              <a:ext cx="133350" cy="1333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0635615" y="2436495"/>
              <a:ext cx="133350" cy="1333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1254740" y="3430905"/>
              <a:ext cx="133350" cy="1333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553151" y="44219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63919" y="15482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07555" y="3772852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(1,2)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45846" y="1784032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(2,8)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45805" y="2778442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(3,5)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83143" y="4104323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(4,1)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83102" y="3109912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(5,4)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21393" y="2115502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(6,7)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40518" y="2446973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(7,6)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59643" y="3441382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(8,3)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501578" y="4261009"/>
              <a:ext cx="4888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中位线 l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28428" y="42529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SL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554508" y="42529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SR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6032182" y="4846320"/>
            <a:ext cx="5626418" cy="1223010"/>
            <a:chOff x="6032182" y="4846320"/>
            <a:chExt cx="5626418" cy="1223010"/>
          </a:xfrm>
        </p:grpSpPr>
        <p:sp>
          <p:nvSpPr>
            <p:cNvPr id="72" name="Rectangle 72"/>
            <p:cNvSpPr/>
            <p:nvPr/>
          </p:nvSpPr>
          <p:spPr>
            <a:xfrm>
              <a:off x="6032182" y="4846320"/>
              <a:ext cx="5626418" cy="1223010"/>
            </a:xfrm>
            <a:prstGeom prst="roundRect">
              <a:avLst>
                <a:gd name="adj" fmla="val 934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236970" y="5357813"/>
              <a:ext cx="200026" cy="200026"/>
              <a:chOff x="6236970" y="5357813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236970" y="53578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303645" y="54356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540056" y="5251609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绿色 4 个点是极大点，从左往右一个比一个低，连成阶梯。其余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每个点的右上方都至少有一个点。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81290" cy="909257"/>
            <a:chOff x="520446" y="342900"/>
            <a:chExt cx="87812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排序与合并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812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求解过程：7 次合并，最后一次舍去 (3,5) 和 (4,1)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3" name="c1-table-1"/>
          <p:cNvGrpSpPr/>
          <p:nvPr/>
        </p:nvGrpSpPr>
        <p:grpSpPr>
          <a:xfrm>
            <a:off x="527685" y="1524000"/>
            <a:ext cx="6810786" cy="4590574"/>
            <a:chOff x="527685" y="1524000"/>
            <a:chExt cx="6810786" cy="459057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64389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5137" y="176212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0640" y="1762125"/>
              <a:ext cx="74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SL 极大点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09387" y="1762125"/>
              <a:ext cx="74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SR 极大点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39743" y="1655445"/>
              <a:ext cx="30060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 的</a:t>
              </a:r>
              <a:br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93945" y="17621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07811" y="17621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263" y="22983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75004" y="22983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4704" y="22983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(2,8)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39527" y="22983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96384" y="2298382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&lt; 8，舍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37479" y="229838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(2,8)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59270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597468"/>
              <a:ext cx="670845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9263" y="27289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5004" y="27289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(3,5)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84704" y="272891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(4,1)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39527" y="27289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96384" y="2728912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&gt; 1，留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37479" y="2728912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(3,5) (4,1)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02323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9263" y="31594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5004" y="315944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(5,4)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84704" y="315944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(6,7)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39527" y="31594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96384" y="3159442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&lt; 7，舍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37479" y="315944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(6,7)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45281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457575"/>
              <a:ext cx="670845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9263" y="35890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75004" y="358902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(7,6)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84704" y="358902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(8,3)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39527" y="35890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96384" y="358902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&gt; 3，留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37479" y="3589020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(7,6) (8,3)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88334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9263" y="41262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75004" y="412623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(2,8)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84704" y="4126230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(3,5) (4,1)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39527" y="41262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96384" y="412623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&gt; 5，留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37479" y="4019550"/>
              <a:ext cx="8961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(2,8) (3,5)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(4,1)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52723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531995"/>
              <a:ext cx="670845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9263" y="476916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75004" y="4769167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(6,7)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584704" y="4769167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(7,6) (8,3)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139527" y="476916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96384" y="4769167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&gt; 6，留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737479" y="4662488"/>
              <a:ext cx="8961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(6,7) (7,6)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(8,3)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517017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9263" y="54130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75004" y="5306378"/>
              <a:ext cx="8961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(2,8) (3,5)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(4,1)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584704" y="5306378"/>
              <a:ext cx="8961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(6,7) (7,6)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(8,3)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139527" y="54130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96384" y="5306378"/>
              <a:ext cx="7894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&gt; 7 留；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5、1 &lt; 7 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641658" y="5184458"/>
              <a:ext cx="1590675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737479" y="5306378"/>
              <a:ext cx="94030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(2,8) (6,7)</a:t>
              </a:r>
              <a:br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(7,6) (8,3)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1524000"/>
              <a:ext cx="6708458" cy="429482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64895" y="1524000"/>
              <a:ext cx="9525" cy="42948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2474595" y="1524000"/>
              <a:ext cx="9525" cy="42948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3883342" y="1524000"/>
              <a:ext cx="9525" cy="42948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486275" y="1524000"/>
              <a:ext cx="9525" cy="42948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627370" y="1524000"/>
              <a:ext cx="9525" cy="42948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27685" y="5894546"/>
              <a:ext cx="68107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 3 是最底层的 4 次合并；q 是 SR 中 y 最大的极大点。脚本逐次输出，结果与两两比较的蛮力法一致</a:t>
              </a:r>
            </a:p>
          </p:txBody>
        </p:sp>
      </p:grpSp>
      <p:grpSp>
        <p:nvGrpSpPr>
          <p:cNvPr id="83" name="c2-card-1"/>
          <p:cNvGrpSpPr/>
          <p:nvPr/>
        </p:nvGrpSpPr>
        <p:grpSpPr>
          <a:xfrm>
            <a:off x="7546658" y="1524000"/>
            <a:ext cx="4111942" cy="2457450"/>
            <a:chOff x="7546658" y="1524000"/>
            <a:chExt cx="4111942" cy="2457450"/>
          </a:xfrm>
        </p:grpSpPr>
        <p:sp>
          <p:nvSpPr>
            <p:cNvPr id="74" name="Rectangle 74"/>
            <p:cNvSpPr/>
            <p:nvPr/>
          </p:nvSpPr>
          <p:spPr>
            <a:xfrm>
              <a:off x="7546658" y="1524000"/>
              <a:ext cx="4111942" cy="2457450"/>
            </a:xfrm>
            <a:prstGeom prst="roundRect">
              <a:avLst>
                <a:gd name="adj" fmla="val 54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750492" y="1727835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818644" y="176355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为什么只和 q 比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758112" y="21612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914704" y="2100739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极大点按 x 从小到大排，y 一定从大到小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排（否则前面的点被后面的支配）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758112" y="27527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14704" y="2692241"/>
              <a:ext cx="32335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 SR 中 y 最大的是最左边那个，也就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是离中位线最近的 q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758112" y="334422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914704" y="3283744"/>
              <a:ext cx="32064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SL 的每个点 x 都比 q 小，只要 y 也比 q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小就被 q 支配</a:t>
              </a:r>
            </a:p>
          </p:txBody>
        </p:sp>
      </p:grpSp>
      <p:grpSp>
        <p:nvGrpSpPr>
          <p:cNvPr id="90" name="c2-card-2"/>
          <p:cNvGrpSpPr/>
          <p:nvPr/>
        </p:nvGrpSpPr>
        <p:grpSpPr>
          <a:xfrm>
            <a:off x="7546658" y="4167188"/>
            <a:ext cx="4111942" cy="1903095"/>
            <a:chOff x="7546658" y="4167188"/>
            <a:chExt cx="4111942" cy="1903095"/>
          </a:xfrm>
        </p:grpSpPr>
        <p:sp>
          <p:nvSpPr>
            <p:cNvPr id="84" name="Rectangle 84"/>
            <p:cNvSpPr/>
            <p:nvPr/>
          </p:nvSpPr>
          <p:spPr>
            <a:xfrm>
              <a:off x="7546658" y="4167188"/>
              <a:ext cx="4111942" cy="1903095"/>
            </a:xfrm>
            <a:prstGeom prst="roundRect">
              <a:avLst>
                <a:gd name="adj" fmla="val 70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556182" y="4300538"/>
              <a:ext cx="47625" cy="16363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788592" y="437102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866952" y="440674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合并的做法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781354" y="4743926"/>
              <a:ext cx="351307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SL 的极大点中找满足 yp ≥ yq 的最末一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p，删掉它后面的全部极大点。SL 的 y 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递减，可以按 y 二分查找 p。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82497" y="5603558"/>
              <a:ext cx="36469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原讲解写 yp &gt; yq，y 相等时会误删，见下页更正。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41704" cy="909257"/>
            <a:chOff x="520446" y="342900"/>
            <a:chExt cx="93417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排序与合并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417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复杂度与边界：预排序后 Θ(n log n)，y 相等的点要保留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27685" y="1524000"/>
            <a:ext cx="5632133" cy="2446497"/>
            <a:chOff x="527685" y="1524000"/>
            <a:chExt cx="5632133" cy="24464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1640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2913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x 预排序（只做一次）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39084" y="2085022"/>
              <a:ext cx="786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 log n)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找中位线并划分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39084" y="2515552"/>
              <a:ext cx="2198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O(1)（已排好，取中间下标）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2946082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合并：找 p 并截断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39084" y="2946082"/>
              <a:ext cx="2633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 O(log n)，逐个比较 O(n)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94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4421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递归部分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39084" y="3375660"/>
              <a:ext cx="2785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2T(n/2) + O(n) = O(n log n)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22897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7685" y="3750469"/>
              <a:ext cx="32129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总时间 Θ(n log n)；两两比较的蛮力法是 Θ(n²)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111942"/>
            <a:ext cx="5626418" cy="1293495"/>
            <a:chOff x="533400" y="4111942"/>
            <a:chExt cx="5626418" cy="1293495"/>
          </a:xfrm>
        </p:grpSpPr>
        <p:sp>
          <p:nvSpPr>
            <p:cNvPr id="27" name="Rectangle 27"/>
            <p:cNvSpPr/>
            <p:nvPr/>
          </p:nvSpPr>
          <p:spPr>
            <a:xfrm>
              <a:off x="533400" y="4111942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24529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5335" y="43157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5543" y="4351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76744" y="435530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每层都重新排序会变慢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8096" y="4706779"/>
              <a:ext cx="47934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若在每次递归里再按 x 排序，递推式变成 T(n) = 2T(n/2)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n)，结果是 Θ(n log²n)。排序只在最外层做一次。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464618" y="1524000"/>
            <a:ext cx="5193982" cy="1836420"/>
            <a:chOff x="6464618" y="1524000"/>
            <a:chExt cx="5193982" cy="1836420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1836420"/>
            </a:xfrm>
            <a:prstGeom prst="roundRect">
              <a:avLst>
                <a:gd name="adj" fmla="val 7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1657350"/>
              <a:ext cx="47625" cy="15697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07961" y="1767364"/>
              <a:ext cx="19055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值相等时的合并条件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99314" y="2119789"/>
              <a:ext cx="454101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原讲解合并第 2 步写“找满足 yp &gt; yq 的最末元素 p，删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 p 之后的极大点”，y 相等的点也被删了。按本课程的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定义，支配要求 y 严格大，yp = yq 的 p 不被 q 支配，应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改为找满足 yp ≥ yq 的最末元素。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464618" y="3545205"/>
            <a:ext cx="5193982" cy="1859280"/>
            <a:chOff x="6464618" y="3545205"/>
            <a:chExt cx="5193982" cy="1859280"/>
          </a:xfrm>
        </p:grpSpPr>
        <p:sp>
          <p:nvSpPr>
            <p:cNvPr id="41" name="Rectangle 41"/>
            <p:cNvSpPr/>
            <p:nvPr/>
          </p:nvSpPr>
          <p:spPr>
            <a:xfrm>
              <a:off x="6464618" y="3545205"/>
              <a:ext cx="5193982" cy="1859280"/>
            </a:xfrm>
            <a:prstGeom prst="roundRect">
              <a:avLst>
                <a:gd name="adj" fmla="val 71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3678555"/>
              <a:ext cx="47625" cy="15925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06552" y="37490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7713" y="37847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07961" y="3789521"/>
              <a:ext cx="17521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点集 (1,5)、(2,5)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14172" y="42005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70764" y="4140994"/>
              <a:ext cx="3866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两点 y 相等，谁也不支配谁，两个都是极大点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14172" y="452151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70764" y="446103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yp &gt; yq 合并会删掉 (1,5)，结果少一个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00456" y="4777740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本题 8 个点的 y 互不相同，结论不受影响。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2" name="Rectangle 5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6004084"/>
              <a:ext cx="97431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原讲解第 15 页“py 小于 SR 中任一极大点 y 的值”应读作“小于 SR 极大点中最大的 y 值”，与第 16 页的规则一致。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5779237" cy="2643187"/>
            <a:chOff x="667512" y="1835468"/>
            <a:chExt cx="5779237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分治算法设计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69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称重找假币，L 型牌覆盖棋盘：自己设计分法、出口和合并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426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N 枚硬币中有一枚较轻的假币，写出算法思想和算法描述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50059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2ᵏ × 2ᵏ 棋盘恰有一个黑格，用 L 型牌覆盖所有白格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6492" cy="909257"/>
            <a:chOff x="520446" y="342900"/>
            <a:chExt cx="6746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分治算法设计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6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题6：平分两堆称一次，假币一定在轻的那堆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203960"/>
            <a:chOff x="533400" y="1524000"/>
            <a:chExt cx="6059805" cy="12039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203960"/>
            </a:xfrm>
            <a:prstGeom prst="roundRect">
              <a:avLst>
                <a:gd name="adj" fmla="val 11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372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第6题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8659" y="1767364"/>
              <a:ext cx="4400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枚硬币中有一枚假币，比真币轻，设计算法找出它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115502"/>
              <a:ext cx="53004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思路：N 为偶数时平分两堆称，轻的一堆继续；N 为奇数时先拿出一枚，其余平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分称，一样重则拿出的就是假币。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2913698"/>
            <a:ext cx="6059805" cy="3258502"/>
            <a:chOff x="533400" y="2913698"/>
            <a:chExt cx="6059805" cy="3258502"/>
          </a:xfrm>
        </p:grpSpPr>
        <p:sp>
          <p:nvSpPr>
            <p:cNvPr id="14" name="Rectangle 14"/>
            <p:cNvSpPr/>
            <p:nvPr/>
          </p:nvSpPr>
          <p:spPr>
            <a:xfrm>
              <a:off x="533400" y="2913698"/>
              <a:ext cx="6059805" cy="3258502"/>
            </a:xfrm>
            <a:prstGeom prst="roundRect">
              <a:avLst>
                <a:gd name="adj" fmla="val 29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065621"/>
              <a:ext cx="12993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FAKE（更正后）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2450" y="4072890"/>
              <a:ext cx="6021705" cy="1971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5450205"/>
              <a:ext cx="6021705" cy="1971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226" y="3327797"/>
              <a:ext cx="4067048" cy="2775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52"/>
                </a:lnSpc>
              </a:pP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FAKE(c)       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c：硬币集合，返回假币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sizeof(c) = 1 then return c endif 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出口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sizeof(c) mod 2 = 0 then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(c1, c2) ← partition(c)             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平分两堆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return FAKE(lighter(c1, c2))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c0 ← takeone(c); c ← c − {c0}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(c1, c2) ← partition(c)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weight(c1) = weight(c2) then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return c0                         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出口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return FAKE(lighter(c1, c2))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FAKE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898005" y="1524000"/>
            <a:ext cx="4760595" cy="2427922"/>
            <a:chOff x="6898005" y="1524000"/>
            <a:chExt cx="4760595" cy="2427922"/>
          </a:xfrm>
        </p:grpSpPr>
        <p:sp>
          <p:nvSpPr>
            <p:cNvPr id="20" name="Rectangle 20"/>
            <p:cNvSpPr/>
            <p:nvPr/>
          </p:nvSpPr>
          <p:spPr>
            <a:xfrm>
              <a:off x="6898005" y="1524000"/>
              <a:ext cx="4760595" cy="2427922"/>
            </a:xfrm>
            <a:prstGeom prst="roundRect">
              <a:avLst>
                <a:gd name="adj" fmla="val 54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07530" y="1657350"/>
              <a:ext cx="47625" cy="21612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3994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30148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0396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原讲解的两个问题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139940" y="210693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98285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9881" y="2119789"/>
              <a:ext cx="372948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递归调用写成 FAKE(lighter); 没有 return，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找到的假币传不回调用者。两处都应写 return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FAKE(lighter)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139940" y="296989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98285" y="30102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29881" y="2982754"/>
              <a:ext cx="367538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偶数分支 FAKE(lighter) 之后的 if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sizeof(lighter) = 1 多余：lighter 只剩 1 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时，递归调用的第一行已经返回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898005" y="4136708"/>
            <a:ext cx="4760595" cy="2147888"/>
            <a:chOff x="6898005" y="4136708"/>
            <a:chExt cx="4760595" cy="2147888"/>
          </a:xfrm>
        </p:grpSpPr>
        <p:sp>
          <p:nvSpPr>
            <p:cNvPr id="32" name="Rectangle 32"/>
            <p:cNvSpPr/>
            <p:nvPr/>
          </p:nvSpPr>
          <p:spPr>
            <a:xfrm>
              <a:off x="6898005" y="4136708"/>
              <a:ext cx="4760595" cy="2147888"/>
            </a:xfrm>
            <a:prstGeom prst="roundRect">
              <a:avLst>
                <a:gd name="adj" fmla="val 6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07530" y="4270058"/>
              <a:ext cx="47625" cy="18811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39940" y="434054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08495" y="43762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正确性与复杂度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47560" y="47739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04151" y="471439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假币更轻，两堆枚数相等时轻的一堆必含假币；一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样重说明假币不在秤上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47560" y="536543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04151" y="5305901"/>
              <a:ext cx="34138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基本运算是称重：W(n) = W(⌊n/2⌋) + 1，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W(1) = 0，解得 W(n) = ⌊log₂n⌋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3844" y="5893117"/>
              <a:ext cx="3753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原讲解写 T(n) = T(n/2) + 1 = O(log n)，阶正确。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30479" cy="909257"/>
            <a:chOff x="520446" y="342900"/>
            <a:chExt cx="74304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分治算法设计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304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复核：11 枚硬币至多称 3 次，三分可以更少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27685" y="1524000"/>
            <a:ext cx="5956935" cy="1799749"/>
            <a:chOff x="527685" y="1524000"/>
            <a:chExt cx="5956935" cy="179974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342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称重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497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7371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0433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0277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8318" y="21917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93114" y="219170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2~6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61857" y="219170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7~11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04335" y="21917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24044" y="2085022"/>
              <a:ext cx="1101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继续查 7~11，5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枚，先拿出 7 号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5927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597468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8318" y="27289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93114" y="272891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8, 9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61857" y="272891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10, 11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23563" y="27289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24044" y="2728912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拿出的 7 号是假币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5951220" cy="1503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83005" y="1524000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551748" y="1524000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20490" y="1524000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13935" y="1524000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685" y="3103721"/>
              <a:ext cx="35182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11，假币是 7 号：奇数先拿出第一枚，共称 2 次</a:t>
              </a:r>
            </a:p>
          </p:txBody>
        </p:sp>
      </p:grpSp>
      <p:grpSp>
        <p:nvGrpSpPr>
          <p:cNvPr id="58" name="c1-table-2"/>
          <p:cNvGrpSpPr/>
          <p:nvPr/>
        </p:nvGrpSpPr>
        <p:grpSpPr>
          <a:xfrm>
            <a:off x="527685" y="3464242"/>
            <a:ext cx="5956935" cy="1156812"/>
            <a:chOff x="527685" y="3464242"/>
            <a:chExt cx="5956935" cy="1156812"/>
          </a:xfrm>
        </p:grpSpPr>
        <p:sp>
          <p:nvSpPr>
            <p:cNvPr id="32" name="Rectangle 32"/>
            <p:cNvSpPr/>
            <p:nvPr/>
          </p:nvSpPr>
          <p:spPr>
            <a:xfrm>
              <a:off x="533400" y="3464242"/>
              <a:ext cx="595122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67628" y="359568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36103" y="35956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88553" y="35956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41003" y="35956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88744" y="359568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4~7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14576" y="3595688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8~15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36530" y="35956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74732" y="359568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282" y="402621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最坏称重次数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38324" y="402621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90774" y="402621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43224" y="402621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84257" y="402621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56734" y="402621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85397" y="402621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70244" y="402621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464242"/>
              <a:ext cx="5951220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907858" y="34642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460308" y="34642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012758" y="34642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565208" y="34642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293870" y="34642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110162" y="34642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51195" y="3464242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7685" y="4401026"/>
              <a:ext cx="48322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脚本对 N = 1~129、假币在每个位置逐一模拟，最坏次数都等于 ⌊log₂N⌋</a:t>
              </a:r>
            </a:p>
          </p:txBody>
        </p:sp>
      </p:grpSp>
      <p:grpSp>
        <p:nvGrpSpPr>
          <p:cNvPr id="64" name="c1-card-3"/>
          <p:cNvGrpSpPr/>
          <p:nvPr/>
        </p:nvGrpSpPr>
        <p:grpSpPr>
          <a:xfrm>
            <a:off x="533400" y="4761548"/>
            <a:ext cx="5951220" cy="1545908"/>
            <a:chOff x="533400" y="4761548"/>
            <a:chExt cx="5951220" cy="1545908"/>
          </a:xfrm>
        </p:grpSpPr>
        <p:sp>
          <p:nvSpPr>
            <p:cNvPr id="59" name="Rectangle 59"/>
            <p:cNvSpPr/>
            <p:nvPr/>
          </p:nvSpPr>
          <p:spPr>
            <a:xfrm>
              <a:off x="533400" y="4761548"/>
              <a:ext cx="595122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42925" y="489489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75335" y="496538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8792" y="50011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补充：分三堆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8096" y="5338286"/>
              <a:ext cx="528942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天平一次有三种结果（左轻、右轻、平衡），分成三堆各约 N/3 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一次，就能排除 2/3。最坏次数降到 ⌈log₃N⌉：N = 100 时 5 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1000 时 7 次（二分法 9 次）。</a:t>
              </a:r>
            </a:p>
          </p:txBody>
        </p:sp>
      </p:grpSp>
      <p:grpSp>
        <p:nvGrpSpPr>
          <p:cNvPr id="67" name="c2-image-1"/>
          <p:cNvGrpSpPr/>
          <p:nvPr/>
        </p:nvGrpSpPr>
        <p:grpSpPr>
          <a:xfrm>
            <a:off x="6818948" y="1524000"/>
            <a:ext cx="4810125" cy="3922872"/>
            <a:chOff x="6818948" y="1524000"/>
            <a:chExt cx="4810125" cy="3922872"/>
          </a:xfrm>
        </p:grpSpPr>
        <p:pic>
          <p:nvPicPr>
            <p:cNvPr id="65" name="Image 65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6818948" y="1524000"/>
              <a:ext cx="4810125" cy="3608070"/>
            </a:xfrm>
            <a:prstGeom prst="roundRect">
              <a:avLst>
                <a:gd name="adj" fmla="val 3695"/>
              </a:avLst>
            </a:prstGeom>
          </p:spPr>
        </p:pic>
        <p:sp>
          <p:nvSpPr>
            <p:cNvPr id="66" name="TextBox 66"/>
            <p:cNvSpPr txBox="1"/>
            <p:nvPr/>
          </p:nvSpPr>
          <p:spPr>
            <a:xfrm>
              <a:off x="7258228" y="522684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两盘枚数相同，高起来的一侧更轻；拿出来的那一枚不上秤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6789420" y="5606415"/>
            <a:ext cx="4869180" cy="756285"/>
            <a:chOff x="6789420" y="5606415"/>
            <a:chExt cx="4869180" cy="756285"/>
          </a:xfrm>
        </p:grpSpPr>
        <p:sp>
          <p:nvSpPr>
            <p:cNvPr id="68" name="Rectangle 68"/>
            <p:cNvSpPr/>
            <p:nvPr/>
          </p:nvSpPr>
          <p:spPr>
            <a:xfrm>
              <a:off x="6789420" y="5606415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982149" y="5880853"/>
              <a:ext cx="224134" cy="192560"/>
              <a:chOff x="6982149" y="5880853"/>
              <a:chExt cx="224134" cy="1925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09422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8214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09422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7296531" y="575357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奇数时拿出的那枚不能忽略：两盘平衡说明它就是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假币，这是算法的第二个出口。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4080" cy="909257"/>
            <a:chOff x="520446" y="342900"/>
            <a:chExt cx="89540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分治算法设计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40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题7：在中心放一张 L 型牌，四块子棋盘都各有一个“黑格”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46860"/>
            <a:chOff x="533400" y="1524000"/>
            <a:chExt cx="5626418" cy="1546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4686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801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第7题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928292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 × 2ᵏ 棋盘恰有一个黑格，用 3 格的 L 型牌覆盖全部白格，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黑格不盖、白格不重叠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680335"/>
              <a:ext cx="5230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思路：把棋盘平分成 4 块 2ᵏ⁻¹ × 2ᵏ⁻¹ 的子棋盘，黑格只在其中一块里。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266122"/>
            <a:ext cx="5324856" cy="2853119"/>
            <a:chOff x="533400" y="3266122"/>
            <a:chExt cx="5324856" cy="2853119"/>
          </a:xfrm>
        </p:grpSpPr>
        <p:sp>
          <p:nvSpPr>
            <p:cNvPr id="14" name="Rectangle 14"/>
            <p:cNvSpPr/>
            <p:nvPr/>
          </p:nvSpPr>
          <p:spPr>
            <a:xfrm>
              <a:off x="666750" y="3408998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2661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3399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8871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960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7291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8029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3501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424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329898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3579495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按中线切成左上、右上、左下、右下 4 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392001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造出相同子问题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200525"/>
              <a:ext cx="49118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在不含黑格的 3 块紧挨中心的角上放 1 张 L 型牌，这 3 格当作各自的“黑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261" y="476202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5042535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块都成了“2ᵏ⁻¹ 棋盘 + 1 个已占格”，递归覆盖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261" y="53830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5663565"/>
              <a:ext cx="4835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1（2 × 2）时剩下 3 个格正好是 1 张牌；写成 s = 1 时直接返回也可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</a:t>
              </a:r>
            </a:p>
          </p:txBody>
        </p:sp>
      </p:grpSp>
      <p:grpSp>
        <p:nvGrpSpPr>
          <p:cNvPr id="72" name="c2-cells-1"/>
          <p:cNvGrpSpPr/>
          <p:nvPr/>
        </p:nvGrpSpPr>
        <p:grpSpPr>
          <a:xfrm>
            <a:off x="6458522" y="1524000"/>
            <a:ext cx="3916108" cy="2153602"/>
            <a:chOff x="6458522" y="1524000"/>
            <a:chExt cx="3916108" cy="2153602"/>
          </a:xfrm>
        </p:grpSpPr>
        <p:sp>
          <p:nvSpPr>
            <p:cNvPr id="32" name="TextBox 32"/>
            <p:cNvSpPr txBox="1"/>
            <p:nvPr/>
          </p:nvSpPr>
          <p:spPr>
            <a:xfrm>
              <a:off x="6458522" y="16897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6550" y="1524000"/>
              <a:ext cx="922020" cy="48006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94818" y="16897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08570" y="1524000"/>
              <a:ext cx="922020" cy="48006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16838" y="16897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530590" y="1524000"/>
              <a:ext cx="922020" cy="48006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38858" y="16897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452610" y="1524000"/>
              <a:ext cx="922020" cy="48006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60878" y="16897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58522" y="2169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6550" y="2004060"/>
              <a:ext cx="922020" cy="48006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94818" y="2169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08570" y="2004060"/>
              <a:ext cx="922020" cy="48006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16838" y="2169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530590" y="2004060"/>
              <a:ext cx="922020" cy="480060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38858" y="2169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452610" y="2004060"/>
              <a:ext cx="922020" cy="48006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60878" y="2169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58522" y="26508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6550" y="2485072"/>
              <a:ext cx="922020" cy="48006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94818" y="26508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608570" y="2485072"/>
              <a:ext cx="922020" cy="480060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16838" y="26508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530590" y="2485072"/>
              <a:ext cx="922020" cy="480060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38858" y="26508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452610" y="2485072"/>
              <a:ext cx="92202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860878" y="265080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58522" y="31308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86550" y="2965132"/>
              <a:ext cx="922020" cy="48006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94818" y="31308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608570" y="2965132"/>
              <a:ext cx="922020" cy="48006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016838" y="31308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530590" y="2965132"/>
              <a:ext cx="92202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938858" y="31308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452610" y="2965132"/>
              <a:ext cx="922020" cy="48006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860878" y="31308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09479" y="35013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31499" y="35013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953519" y="35013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875539" y="35013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82" name="c2-card-2"/>
          <p:cNvGrpSpPr/>
          <p:nvPr/>
        </p:nvGrpSpPr>
        <p:grpSpPr>
          <a:xfrm>
            <a:off x="6464618" y="3821430"/>
            <a:ext cx="5193982" cy="2287905"/>
            <a:chOff x="6464618" y="3821430"/>
            <a:chExt cx="5193982" cy="2287905"/>
          </a:xfrm>
        </p:grpSpPr>
        <p:sp>
          <p:nvSpPr>
            <p:cNvPr id="73" name="Rectangle 73"/>
            <p:cNvSpPr/>
            <p:nvPr/>
          </p:nvSpPr>
          <p:spPr>
            <a:xfrm>
              <a:off x="6464618" y="3821430"/>
              <a:ext cx="5193982" cy="2287905"/>
            </a:xfrm>
            <a:prstGeom prst="roundRect">
              <a:avLst>
                <a:gd name="adj" fmla="val 582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68452" y="4025265"/>
              <a:ext cx="163639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51375" y="406098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× 4 实例（原题图）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676072" y="445865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832664" y="4398169"/>
              <a:ext cx="3159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黑格 ■ 在第 1 行第 2 列，属于左上块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676072" y="477869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832664" y="4718209"/>
              <a:ext cx="37835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张牌放在另三块紧挨中心的角上：(2,3)、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(3,2)、(3,3)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676072" y="537019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832664" y="5309711"/>
              <a:ext cx="41442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然后 2~5 号牌分别盖满四块 2 × 2 子棋盘，共 (16 −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1)/3 = 5 张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04617" cy="909257"/>
            <a:chOff x="520446" y="342900"/>
            <a:chExt cx="80046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分治算法设计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046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算法：用 (tr, tc, s) 表示子棋盘，t 给牌编号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2762250"/>
            <a:chOff x="533400" y="1524000"/>
            <a:chExt cx="6276022" cy="2762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762250"/>
            </a:xfrm>
            <a:prstGeom prst="roundRect">
              <a:avLst>
                <a:gd name="adj" fmla="val 34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796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CHESSBOARD（补充）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349942"/>
              <a:ext cx="6237922" cy="1609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5337"/>
              <a:ext cx="3321304" cy="22674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CHESSBOARD(tr, tc, dr, dc, s)</a:t>
              </a:r>
              <a:br/>
              <a:r>
                <a:rPr lang="zh-CN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8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子棋盘左上角 (tr, tc)、边长 s，已占格 (dr, dc)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global board(1:n, 1:n), t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 = 1 then return endif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 ← t; t ← t + 1; h ← s/2       </a:t>
              </a:r>
              <a:r>
                <a:rPr lang="zh-CN" sz="8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本层用第 m 张牌</a:t>
              </a:r>
              <a:br/>
              <a:r>
                <a:rPr lang="zh-CN" sz="8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for 每块子棋盘 (qr, qc) 及其中心角格 (cr, cc) do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qr ≤ dr &lt; qr+h and qc ≤ dc &lt; qc+h then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call CHESSBOARD(qr, qc, dr, dc, h)   </a:t>
              </a:r>
              <a:r>
                <a:rPr lang="zh-CN" sz="8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黑格在此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board(cr, cc) ← m                     </a:t>
              </a:r>
              <a:r>
                <a:rPr lang="zh-CN" sz="8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盖角格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call CHESSBOARD(qr, qc, cr, cc, h)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8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CHESSBOARD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451032"/>
            <a:ext cx="6276022" cy="1675448"/>
            <a:chOff x="533400" y="4451032"/>
            <a:chExt cx="6276022" cy="1675448"/>
          </a:xfrm>
        </p:grpSpPr>
        <p:sp>
          <p:nvSpPr>
            <p:cNvPr id="12" name="Rectangle 12"/>
            <p:cNvSpPr/>
            <p:nvPr/>
          </p:nvSpPr>
          <p:spPr>
            <a:xfrm>
              <a:off x="533400" y="4451032"/>
              <a:ext cx="6276022" cy="1675448"/>
            </a:xfrm>
            <a:prstGeom prst="roundRect">
              <a:avLst>
                <a:gd name="adj" fmla="val 7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584382"/>
              <a:ext cx="47625" cy="14087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2475" y="463200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9894" y="466486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主程序与出口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502443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4971574"/>
              <a:ext cx="5149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主程序：board(dr, dc) ← −1，其余置 0；t ← 1；call CHESSBOARD(1,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dr, dc, n)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55521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5499259"/>
              <a:ext cx="3209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 时子棋盘只剩那个已占格，直接返回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7141" y="5780722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数据结构取自原讲解；原讲解没给伪代码，这里按它的约定补写。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7114222" y="1524000"/>
            <a:ext cx="4544378" cy="1906905"/>
            <a:chOff x="7114222" y="1524000"/>
            <a:chExt cx="4544378" cy="1906905"/>
          </a:xfrm>
        </p:grpSpPr>
        <p:sp>
          <p:nvSpPr>
            <p:cNvPr id="22" name="Rectangle 22"/>
            <p:cNvSpPr/>
            <p:nvPr/>
          </p:nvSpPr>
          <p:spPr>
            <a:xfrm>
              <a:off x="7114222" y="1524000"/>
              <a:ext cx="454437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51205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子棋盘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93513" y="1641157"/>
              <a:ext cx="1095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左上角 (qr, qc)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40208" y="1641157"/>
              <a:ext cx="1236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中心角格 (cr, cc)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08901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17586" y="202311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(tr, tc)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53981" y="2023110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(tr+h−1, tc+h−1)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14222" y="2282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14222" y="2286952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08901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右上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17586" y="240411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(tr, tc+h)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53981" y="2404110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(tr+h−1, tc+h)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14222" y="26631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08901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17586" y="278511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(tr+h, tc)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53981" y="2785110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(tr+h, tc+h−1)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14222" y="30451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14222" y="3049905"/>
              <a:ext cx="454437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8901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17586" y="3167062"/>
              <a:ext cx="908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(tr+h, tc+h)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53981" y="3167062"/>
              <a:ext cx="908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(tr+h, tc+h)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14222" y="1524000"/>
              <a:ext cx="454437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1814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65454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kv-2"/>
          <p:cNvGrpSpPr/>
          <p:nvPr/>
        </p:nvGrpSpPr>
        <p:grpSpPr>
          <a:xfrm>
            <a:off x="7107746" y="3617119"/>
            <a:ext cx="4550854" cy="997076"/>
            <a:chOff x="7107746" y="3617119"/>
            <a:chExt cx="4550854" cy="997076"/>
          </a:xfrm>
        </p:grpSpPr>
        <p:sp>
          <p:nvSpPr>
            <p:cNvPr id="47" name="TextBox 47"/>
            <p:cNvSpPr txBox="1"/>
            <p:nvPr/>
          </p:nvSpPr>
          <p:spPr>
            <a:xfrm>
              <a:off x="7107746" y="36171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棋盘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3078" y="3617119"/>
              <a:ext cx="24339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board(n, n)，黑格 −1，未盖 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14222" y="388905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07746" y="39904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子棋盘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63078" y="3990499"/>
              <a:ext cx="36660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左上角 (tr, tc) 加边长 s，初始 (1, 1)、s = n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14222" y="426243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07746" y="436483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牌号 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63078" y="4364831"/>
              <a:ext cx="2158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 1，共用 (n² − 1)/3 张</a:t>
              </a:r>
            </a:p>
          </p:txBody>
        </p:sp>
      </p:grpSp>
      <p:grpSp>
        <p:nvGrpSpPr>
          <p:cNvPr id="63" name="c2-card-3"/>
          <p:cNvGrpSpPr/>
          <p:nvPr/>
        </p:nvGrpSpPr>
        <p:grpSpPr>
          <a:xfrm>
            <a:off x="7114222" y="4729162"/>
            <a:ext cx="4544378" cy="1397318"/>
            <a:chOff x="7114222" y="4729162"/>
            <a:chExt cx="4544378" cy="1397318"/>
          </a:xfrm>
        </p:grpSpPr>
        <p:sp>
          <p:nvSpPr>
            <p:cNvPr id="56" name="Rectangle 56"/>
            <p:cNvSpPr/>
            <p:nvPr/>
          </p:nvSpPr>
          <p:spPr>
            <a:xfrm>
              <a:off x="7114222" y="4729162"/>
              <a:ext cx="4544378" cy="1397318"/>
            </a:xfrm>
            <a:prstGeom prst="roundRect">
              <a:avLst>
                <a:gd name="adj" fmla="val 954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295198" y="491013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83818" y="49429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04722" y="530256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60170" y="5249704"/>
              <a:ext cx="3794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T(k) = 4T(k − 1) + O(1)，解得 Θ(4ᵏ) = Θ(n²)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04722" y="558736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60170" y="5534501"/>
              <a:ext cx="27934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每张牌至少写一次，Θ(n²) 已是最优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77741" cy="909257"/>
            <a:chOff x="520446" y="342900"/>
            <a:chExt cx="93777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 · 分治算法设计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777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复核：8 × 8 棋盘黑格在 (3,6)，21 张牌按递归顺序编号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1" name="c1-cells-1"/>
          <p:cNvGrpSpPr/>
          <p:nvPr/>
        </p:nvGrpSpPr>
        <p:grpSpPr>
          <a:xfrm>
            <a:off x="528066" y="1524000"/>
            <a:ext cx="5956554" cy="4099084"/>
            <a:chOff x="528066" y="1524000"/>
            <a:chExt cx="5956554" cy="4099084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43902" y="1524000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6846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61135" y="1524000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74078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79320" y="1524000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91311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96552" y="1524000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09496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613785" y="1524000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26728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31970" y="1524000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44913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049202" y="1524000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362146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67388" y="1524000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79378" y="17011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066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43902" y="2009775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6846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461135" y="2009775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74078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179320" y="2009775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491311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896552" y="2009775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09496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613785" y="2009775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26728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331970" y="2009775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44913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049202" y="2009775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362146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767388" y="2009775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79378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066" y="26717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43902" y="2494598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56846" y="26717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461135" y="2494598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74078" y="26717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179320" y="2494598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491311" y="26717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896552" y="2494598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09496" y="26717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613785" y="2494598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885913" y="26717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331970" y="2494598"/>
              <a:ext cx="717232" cy="485775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644913" y="26717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■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049202" y="2494598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62146" y="26717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67388" y="2494598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38563" y="26717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8066" y="31575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43902" y="2980372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56846" y="31575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461135" y="2980372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774078" y="31575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179320" y="2980372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491311" y="31575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896552" y="2980372"/>
              <a:ext cx="717232" cy="485775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209496" y="315753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613785" y="2980372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885913" y="31575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4331970" y="2980372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604098" y="31575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049202" y="2980372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321331" y="31575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767388" y="2980372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038563" y="31575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8066" y="36433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43902" y="3465195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16031" y="36433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461135" y="3465195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733263" y="36433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2179320" y="3465195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2450496" y="36433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2896552" y="3465195"/>
              <a:ext cx="717232" cy="485775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209496" y="36433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613785" y="3465195"/>
              <a:ext cx="717232" cy="485775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926728" y="36433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4331970" y="3465195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604098" y="36433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049202" y="3465195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321331" y="36433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767388" y="3465195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038563" y="36433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28066" y="41281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43902" y="3950970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16031" y="4128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461135" y="3950970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733263" y="4128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2179320" y="3950970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2450496" y="4128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2896552" y="3950970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3168681" y="4128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3613785" y="3950970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3885913" y="4128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4331970" y="3950970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4604098" y="4128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049202" y="3950970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5321331" y="4128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767388" y="3950970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038563" y="41281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528066" y="46139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743902" y="4436745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016031" y="46139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1461135" y="4436745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1733263" y="46139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2179320" y="4436745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2450496" y="46139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2896552" y="4436745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168681" y="46139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3613785" y="4436745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3885913" y="46139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4331970" y="4436745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4604098" y="46139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5049202" y="4436745"/>
              <a:ext cx="717232" cy="485775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5321331" y="46139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5767388" y="4436745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038563" y="46139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528066" y="509873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743902" y="4921568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1016031" y="509873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1461135" y="4921568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1733263" y="509873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2179320" y="4921568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2450496" y="509873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2896552" y="4921568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3168681" y="509873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3613785" y="4921568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3885913" y="509873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4331970" y="4921568"/>
              <a:ext cx="717232" cy="48577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4604098" y="509873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5049202" y="4921568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5321331" y="509873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5767388" y="4921568"/>
              <a:ext cx="717232" cy="48577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6038563" y="509873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067876" y="54611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785108" y="54611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2502341" y="54611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3220526" y="54611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3937758" y="54611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4655943" y="54611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5373176" y="54611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6090408" y="54611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165" name="c2-steps-1"/>
          <p:cNvGrpSpPr/>
          <p:nvPr/>
        </p:nvGrpSpPr>
        <p:grpSpPr>
          <a:xfrm>
            <a:off x="6789420" y="1533525"/>
            <a:ext cx="4649343" cy="1900714"/>
            <a:chOff x="6789420" y="1533525"/>
            <a:chExt cx="4649343" cy="1900714"/>
          </a:xfrm>
        </p:grpSpPr>
        <p:sp>
          <p:nvSpPr>
            <p:cNvPr id="152" name="Rectangle 152"/>
            <p:cNvSpPr/>
            <p:nvPr/>
          </p:nvSpPr>
          <p:spPr>
            <a:xfrm>
              <a:off x="6922770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5" name="Ellipse 155"/>
            <p:cNvSpPr/>
            <p:nvPr/>
          </p:nvSpPr>
          <p:spPr>
            <a:xfrm>
              <a:off x="678942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688304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7" name="Ellipse 157"/>
            <p:cNvSpPr/>
            <p:nvPr/>
          </p:nvSpPr>
          <p:spPr>
            <a:xfrm>
              <a:off x="6789420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688304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7201662" y="1564957"/>
              <a:ext cx="1389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层（s = 8）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7202805" y="1833086"/>
              <a:ext cx="3238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黑格在右上块，1 号牌盖 (4,4)、(5,4)、(5,5)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7201662" y="2152650"/>
              <a:ext cx="1389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层（s = 4）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7202805" y="2419826"/>
              <a:ext cx="42359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左上块用 2 号，右上块用 7 号，左下 12 号，右下 17 号，各盖本块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7201662" y="2946082"/>
              <a:ext cx="1389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层（s = 2）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7202805" y="3214211"/>
              <a:ext cx="3064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 2 × 2 只剩 3 格，一张牌盖满，如 3~6 号</a:t>
              </a:r>
            </a:p>
          </p:txBody>
        </p:sp>
      </p:grpSp>
      <p:grpSp>
        <p:nvGrpSpPr>
          <p:cNvPr id="172" name="c2-card-2"/>
          <p:cNvGrpSpPr/>
          <p:nvPr/>
        </p:nvGrpSpPr>
        <p:grpSpPr>
          <a:xfrm>
            <a:off x="6789420" y="3602355"/>
            <a:ext cx="4869180" cy="1434465"/>
            <a:chOff x="6789420" y="3602355"/>
            <a:chExt cx="4869180" cy="1434465"/>
          </a:xfrm>
        </p:grpSpPr>
        <p:sp>
          <p:nvSpPr>
            <p:cNvPr id="166" name="Rectangle 166"/>
            <p:cNvSpPr/>
            <p:nvPr/>
          </p:nvSpPr>
          <p:spPr>
            <a:xfrm>
              <a:off x="6789420" y="3602355"/>
              <a:ext cx="4869180" cy="1434465"/>
            </a:xfrm>
            <a:prstGeom prst="roundRect">
              <a:avLst>
                <a:gd name="adj" fmla="val 92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6798945" y="3735705"/>
              <a:ext cx="47625" cy="1167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8" name="Ellipse 168"/>
            <p:cNvSpPr/>
            <p:nvPr/>
          </p:nvSpPr>
          <p:spPr>
            <a:xfrm>
              <a:off x="7028498" y="387381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7184517" y="381762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(64 − 1)/3 = 21 张，每张恰好 3 格，占 2 行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列，是 L 形</a:t>
              </a:r>
            </a:p>
          </p:txBody>
        </p:sp>
        <p:sp>
          <p:nvSpPr>
            <p:cNvPr id="170" name="Ellipse 170"/>
            <p:cNvSpPr/>
            <p:nvPr/>
          </p:nvSpPr>
          <p:spPr>
            <a:xfrm>
              <a:off x="7028498" y="44329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1" name="TextBox 171"/>
            <p:cNvSpPr txBox="1"/>
            <p:nvPr/>
          </p:nvSpPr>
          <p:spPr>
            <a:xfrm>
              <a:off x="7184517" y="4376738"/>
              <a:ext cx="39656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脚本对 n = 2、4、8、16 的每一个黑格位置都跑了一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遍，全部盖满且不重叠</a:t>
              </a:r>
            </a:p>
          </p:txBody>
        </p:sp>
      </p:grpSp>
      <p:grpSp>
        <p:nvGrpSpPr>
          <p:cNvPr id="179" name="c2-callout-3"/>
          <p:cNvGrpSpPr/>
          <p:nvPr/>
        </p:nvGrpSpPr>
        <p:grpSpPr>
          <a:xfrm>
            <a:off x="6789420" y="5213032"/>
            <a:ext cx="4869180" cy="978218"/>
            <a:chOff x="6789420" y="5213032"/>
            <a:chExt cx="4869180" cy="978218"/>
          </a:xfrm>
        </p:grpSpPr>
        <p:sp>
          <p:nvSpPr>
            <p:cNvPr id="173" name="Rectangle 173"/>
            <p:cNvSpPr/>
            <p:nvPr/>
          </p:nvSpPr>
          <p:spPr>
            <a:xfrm>
              <a:off x="6789420" y="5213032"/>
              <a:ext cx="486918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7" name="Group 177"/>
            <p:cNvGrpSpPr/>
            <p:nvPr/>
          </p:nvGrpSpPr>
          <p:grpSpPr>
            <a:xfrm>
              <a:off x="6994208" y="5601653"/>
              <a:ext cx="200026" cy="200025"/>
              <a:chOff x="6994208" y="5601653"/>
              <a:chExt cx="200026" cy="200025"/>
            </a:xfrm>
          </p:grpSpPr>
          <p:sp>
            <p:nvSpPr>
              <p:cNvPr id="174" name="Freeform 174"/>
              <p:cNvSpPr/>
              <p:nvPr/>
            </p:nvSpPr>
            <p:spPr>
              <a:xfrm>
                <a:off x="6994208" y="56016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5" name="Freeform 175"/>
              <p:cNvSpPr/>
              <p:nvPr/>
            </p:nvSpPr>
            <p:spPr>
              <a:xfrm>
                <a:off x="7033946" y="56461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6" name="Freeform 176"/>
              <p:cNvSpPr/>
              <p:nvPr/>
            </p:nvSpPr>
            <p:spPr>
              <a:xfrm>
                <a:off x="7068662" y="57572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8" name="TextBox 178"/>
            <p:cNvSpPr txBox="1"/>
            <p:nvPr/>
          </p:nvSpPr>
          <p:spPr>
            <a:xfrm>
              <a:off x="7296912" y="5358765"/>
              <a:ext cx="39570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编号按递归顺序：进入一块先用掉一个号，把这块整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个盖完才轮到下一块。所以左上 4 × 4 用 2~6 号，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右上用 7~11 号。</a:t>
              </a:r>
            </a:p>
          </p:txBody>
        </p:sp>
      </p:grpSp>
      <p:grpSp>
        <p:nvGrpSpPr>
          <p:cNvPr id="1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0" name="TextBox 180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自测：把本次作业的方法用到新题上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68768"/>
            <a:chOff x="533400" y="1524000"/>
            <a:chExt cx="5410200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40566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T(n) = 4T(n/2) + n，T(1) = 1（n = 2ᵏ）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40077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层代价 2ⁱ·n，求和 n(2ᵏ − 1) + 4ᵏ·1 = 2n² − n，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Θ(n²)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72790"/>
            <a:ext cx="5410200" cy="1297305"/>
            <a:chOff x="533400" y="3272790"/>
            <a:chExt cx="5410200" cy="1297305"/>
          </a:xfrm>
        </p:grpSpPr>
        <p:sp>
          <p:nvSpPr>
            <p:cNvPr id="13" name="Rectangle 13"/>
            <p:cNvSpPr/>
            <p:nvPr/>
          </p:nvSpPr>
          <p:spPr>
            <a:xfrm>
              <a:off x="533400" y="3272790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34709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35052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3831431"/>
              <a:ext cx="35041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三分查找最坏要比较几次？n = 27 时呢？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149566"/>
              <a:ext cx="45213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H(n) = 1 + 2log₃n，n = 27 时 7 次（二分 5 次）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750118"/>
            <a:ext cx="5410200" cy="1568768"/>
            <a:chOff x="533400" y="4750118"/>
            <a:chExt cx="5410200" cy="1568768"/>
          </a:xfrm>
        </p:grpSpPr>
        <p:sp>
          <p:nvSpPr>
            <p:cNvPr id="19" name="Rectangle 19"/>
            <p:cNvSpPr/>
            <p:nvPr/>
          </p:nvSpPr>
          <p:spPr>
            <a:xfrm>
              <a:off x="533400" y="4750118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1520" y="494823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0468" y="498252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281" y="5309711"/>
              <a:ext cx="36463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枚硬币用 FAKE 至多称几次？分三堆呢？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4281" y="5626894"/>
              <a:ext cx="41893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⌊log₂8⌋ = 3 次；三堆 ⌈log₃8⌉ = 2 次（3、3、2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分）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568768"/>
            <a:chOff x="6248400" y="1524000"/>
            <a:chExt cx="5410200" cy="1568768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6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5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9281" y="208264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二分查找的递归版比循环版多用多少空间？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9281" y="2400776"/>
              <a:ext cx="43065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递归深度 ⌊log₂n⌋ + 1，栈空间 Θ(log n)；循环版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272790"/>
            <a:ext cx="5410200" cy="1568768"/>
            <a:chOff x="6248400" y="3272790"/>
            <a:chExt cx="5410200" cy="1568768"/>
          </a:xfrm>
        </p:grpSpPr>
        <p:sp>
          <p:nvSpPr>
            <p:cNvPr id="31" name="Rectangle 31"/>
            <p:cNvSpPr/>
            <p:nvPr/>
          </p:nvSpPr>
          <p:spPr>
            <a:xfrm>
              <a:off x="6248400" y="327279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6520" y="34709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35468" y="35052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9281" y="3831431"/>
              <a:ext cx="37410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6 时 MERGESORT1 调用哪些 MERGE？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9281" y="4149566"/>
              <a:ext cx="42073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step 1：(1,1,2) (3,3,4) (5,5,6)；step 2：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(1,2,4)；step 4：(1,4,6)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5021580"/>
            <a:ext cx="5410200" cy="1297305"/>
            <a:chOff x="6248400" y="5021580"/>
            <a:chExt cx="5410200" cy="1297305"/>
          </a:xfrm>
        </p:grpSpPr>
        <p:sp>
          <p:nvSpPr>
            <p:cNvPr id="37" name="Rectangle 37"/>
            <p:cNvSpPr/>
            <p:nvPr/>
          </p:nvSpPr>
          <p:spPr>
            <a:xfrm>
              <a:off x="6248400" y="5021580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6520" y="52197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35468" y="52539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9281" y="5581174"/>
              <a:ext cx="2520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× 16 棋盘要几张 L 型牌？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9281" y="5898356"/>
              <a:ext cx="21363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(256 − 1)/3 = 85 张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小结：7 题的结论、方法与更正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33400" y="1524000"/>
            <a:ext cx="5842635" cy="3654742"/>
            <a:chOff x="533400" y="1524000"/>
            <a:chExt cx="5842635" cy="36547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8950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8499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5235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方法要点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22629" y="2085022"/>
              <a:ext cx="1593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Θ(n log n)；② Θ(n)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2387" y="208502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 2ⁱ 个子问题，代价要乘 2ⁱ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2629" y="2515552"/>
              <a:ext cx="1658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Θ(log n)，栈 Θ(log 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92387" y="2515552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 low、high 作参数递归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2629" y="2946082"/>
              <a:ext cx="1333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H(n) = 1 + 2log₃n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92387" y="2946082"/>
              <a:ext cx="2823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两分点 1/3、2/3；比二分慢约 1.26 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22629" y="3375660"/>
              <a:ext cx="1432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 log n)，无递归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92387" y="3375660"/>
              <a:ext cx="1869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step 翻倍，相邻两段合并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699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9128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26808" y="3684270"/>
              <a:ext cx="1850708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22629" y="3806190"/>
              <a:ext cx="13609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(2,8) (6,7) (7,6)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(8,3)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92387" y="3912870"/>
              <a:ext cx="1804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只和 SR 中 y 最大的 q 比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3138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31863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44491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22629" y="4449128"/>
              <a:ext cx="1135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⌊log₂N⌋ 次称重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92387" y="444912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奇数先拿出一枚，平衡即假币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7434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746" y="48796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22629" y="4879658"/>
              <a:ext cx="1126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Θ(4ᵏ) = Θ(n²)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92387" y="4879658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中心放一张牌造出 4 个子问题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5842635" cy="36547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112520" y="152400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982278" y="152400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llout-2"/>
          <p:cNvGrpSpPr/>
          <p:nvPr/>
        </p:nvGrpSpPr>
        <p:grpSpPr>
          <a:xfrm>
            <a:off x="533400" y="5363528"/>
            <a:ext cx="5842635" cy="941070"/>
            <a:chOff x="533400" y="5363528"/>
            <a:chExt cx="5842635" cy="941070"/>
          </a:xfrm>
        </p:grpSpPr>
        <p:sp>
          <p:nvSpPr>
            <p:cNvPr id="46" name="Rectangle 46"/>
            <p:cNvSpPr/>
            <p:nvPr/>
          </p:nvSpPr>
          <p:spPr>
            <a:xfrm>
              <a:off x="533400" y="5363528"/>
              <a:ext cx="5842635" cy="941070"/>
            </a:xfrm>
            <a:prstGeom prst="roundRect">
              <a:avLst>
                <a:gd name="adj" fmla="val 12146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734052"/>
              <a:ext cx="200023" cy="200023"/>
              <a:chOff x="738188" y="5734052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7340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5800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604034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分析题先写每层代价再求和；设计题按思路、伪代码、正确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性、复杂度、执行过程五项作答。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680835" y="1524000"/>
            <a:ext cx="4977765" cy="2728912"/>
            <a:chOff x="6680835" y="1524000"/>
            <a:chExt cx="4977765" cy="2728912"/>
          </a:xfrm>
        </p:grpSpPr>
        <p:sp>
          <p:nvSpPr>
            <p:cNvPr id="52" name="Rectangle 52"/>
            <p:cNvSpPr/>
            <p:nvPr/>
          </p:nvSpPr>
          <p:spPr>
            <a:xfrm>
              <a:off x="6680835" y="1524000"/>
              <a:ext cx="4977765" cy="2728912"/>
            </a:xfrm>
            <a:prstGeom prst="roundRect">
              <a:avLst>
                <a:gd name="adj" fmla="val 48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1657350"/>
              <a:ext cx="47625" cy="24622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2277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05079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23722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82067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13664" y="2100739"/>
              <a:ext cx="391883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题1②：应为 4T(n/4) + 3d、2ᵏ·T(n/2ᵏ) + (2ᵏ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1)d，T(n) = cn + d(n − 1)（原作 cn + d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log₂n），结论 O(n) 不变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23722" y="2951798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82067" y="29911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13664" y="2963704"/>
              <a:ext cx="36843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题5：y 相等时应保留，找 yp ≥ yq 的最末元素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（原作 yp &gt; yq）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923722" y="354330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82067" y="35826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13664" y="3555206"/>
              <a:ext cx="39999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题6：递归结果要 return FAKE(lighter)，删去多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余的 sizeof(lighter) 判断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680835" y="4438650"/>
            <a:ext cx="4977765" cy="1865948"/>
            <a:chOff x="6680835" y="4438650"/>
            <a:chExt cx="4977765" cy="1865948"/>
          </a:xfrm>
        </p:grpSpPr>
        <p:sp>
          <p:nvSpPr>
            <p:cNvPr id="66" name="Rectangle 66"/>
            <p:cNvSpPr/>
            <p:nvPr/>
          </p:nvSpPr>
          <p:spPr>
            <a:xfrm>
              <a:off x="6680835" y="4438650"/>
              <a:ext cx="497776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90360" y="457200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22770" y="46424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13931" y="46782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930390" y="507587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86981" y="5015389"/>
              <a:ext cx="41262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题2、3、4 补正确性要点和执行过程；题3 补与二分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的比较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930390" y="566737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86981" y="5606891"/>
              <a:ext cx="39458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补三分称法；题7 补伪代码与 4 × 4、8 × 8 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盖结果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424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第4章 分治法 作业讲解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hw4">
  <a:themeElements>
    <a:clrScheme name="algo_hw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hw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hw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2026-09-23T09:52:57Z</dcterms:created>
  <dcterms:modified xsi:type="dcterms:W3CDTF">2026-09-23T09:52:57Z</dcterms:modified>
  <cp:category/>
  <cp:contentStatus/>
</cp:coreProperties>
</file>