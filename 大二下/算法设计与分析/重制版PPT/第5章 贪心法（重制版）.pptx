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algo_ch5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algo_ch5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e0e36430ad20c327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ca18bdf4fbb62c71.png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6168946" cy="3799713"/>
            <a:chOff x="666750" y="1619250"/>
            <a:chExt cx="6168946" cy="379971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986915" cy="3429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02035" y="1718310"/>
              <a:ext cx="17544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算法设计与分析 · 第5章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6168946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贪心法 Greedy Method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5756148" cy="7139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50"/>
                </a:lnSpc>
              </a:pPr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每一步都选当前看来最好的——但要能证明这样走到底不绕</a:t>
              </a:r>
              <a:br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远路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433863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4283392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适用条件与抽象控制过程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62915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57390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背包问题：贪心为什么最优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91966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864418"/>
              <a:ext cx="27458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作业调度：从O(n²)到并查集优化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521017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515493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最小生成树与货郎担问题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131050" cy="205359"/>
            <a:chOff x="680466" y="6192202"/>
            <a:chExt cx="4131050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13105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自学复习版｜据吉林大学《算法设计与分析》课件整理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10490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5916" y="407194"/>
              <a:ext cx="8998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agenda-1"/>
          <p:cNvGrpSpPr/>
          <p:nvPr/>
        </p:nvGrpSpPr>
        <p:grpSpPr>
          <a:xfrm>
            <a:off x="521970" y="1515428"/>
            <a:ext cx="6287453" cy="3689317"/>
            <a:chOff x="521970" y="1515428"/>
            <a:chExt cx="6287453" cy="3689317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一般方法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贪心法适用的问题特征、抽象控制过程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背包问题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三种量度标准对比，证明按效益比贪心最优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作业调度问题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32926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可行性判定，从O(n²)插入法优化到并查集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最小生成树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28783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Kruskal算法与贪心最优性的交换论证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货郎担问题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最近邻近似算法，贪心为什么不再最优</a:t>
              </a:r>
            </a:p>
          </p:txBody>
        </p:sp>
      </p:grpSp>
      <p:grpSp>
        <p:nvGrpSpPr>
          <p:cNvPr id="39" name="c2-card-1"/>
          <p:cNvGrpSpPr/>
          <p:nvPr/>
        </p:nvGrpSpPr>
        <p:grpSpPr>
          <a:xfrm>
            <a:off x="7114222" y="1524000"/>
            <a:ext cx="4544378" cy="3630930"/>
            <a:chOff x="7114222" y="1524000"/>
            <a:chExt cx="4544378" cy="3630930"/>
          </a:xfrm>
        </p:grpSpPr>
        <p:sp>
          <p:nvSpPr>
            <p:cNvPr id="27" name="Rectangle 27"/>
            <p:cNvSpPr/>
            <p:nvPr/>
          </p:nvSpPr>
          <p:spPr>
            <a:xfrm>
              <a:off x="7114222" y="1524000"/>
              <a:ext cx="4544378" cy="3630930"/>
            </a:xfrm>
            <a:prstGeom prst="roundRect">
              <a:avLst>
                <a:gd name="adj" fmla="val 367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123748" y="1657350"/>
              <a:ext cx="47625" cy="336423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能写出贪心法抽象控制过程并判断问题是否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适合贪心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525702" y="273177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能证明分数背包问题贪心解的最优性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312991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306705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能用并查集优化作业调度算法并分析复杂度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346519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3402330"/>
              <a:ext cx="37490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能用Kruskal算法求最小生成树并说明贪心为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什么在TSP上失效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4" name="section-title"/>
          <p:cNvGrpSpPr/>
          <p:nvPr/>
        </p:nvGrpSpPr>
        <p:grpSpPr>
          <a:xfrm>
            <a:off x="667512" y="1835468"/>
            <a:ext cx="3913632" cy="2643187"/>
            <a:chOff x="667512" y="1835468"/>
            <a:chExt cx="3913632" cy="264318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贪心法的一般方法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3486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先弄清问题结构，再谈算法怎么写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17544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约束条件·可行解·目标函数·最优解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贪心的核心是选对量度标准</a:t>
              </a:r>
            </a:p>
          </p:txBody>
        </p:sp>
      </p:grpSp>
      <p:grpSp>
        <p:nvGrpSpPr>
          <p:cNvPr id="1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5" name="TextBox 15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贪心法的一般方法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什么样的问题能用贪心法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6843659" cy="308039"/>
            <a:chOff x="525399" y="1550194"/>
            <a:chExt cx="6843659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684365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有n个输入，解是这n个输入的某个子集，子集必须满足事先给定的条件。</a:t>
              </a:r>
            </a:p>
          </p:txBody>
        </p:sp>
      </p:grpSp>
      <p:grpSp>
        <p:nvGrpSpPr>
          <p:cNvPr id="20" name="c1-kv-1"/>
          <p:cNvGrpSpPr/>
          <p:nvPr/>
        </p:nvGrpSpPr>
        <p:grpSpPr>
          <a:xfrm>
            <a:off x="525780" y="1992630"/>
            <a:ext cx="5958840" cy="1613535"/>
            <a:chOff x="525780" y="1992630"/>
            <a:chExt cx="5958840" cy="1613535"/>
          </a:xfrm>
        </p:grpSpPr>
        <p:sp>
          <p:nvSpPr>
            <p:cNvPr id="9" name="TextBox 9"/>
            <p:cNvSpPr txBox="1"/>
            <p:nvPr/>
          </p:nvSpPr>
          <p:spPr>
            <a:xfrm>
              <a:off x="525780" y="199263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约束条件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66862" y="1992630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可行解必须满足的限制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" y="2312670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25780" y="243268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可行解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566862" y="243268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满足约束条件的输入子集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752725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5780" y="287274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目标函数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66862" y="2872740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衡量可行解优劣的函数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3192780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25780" y="331279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最优解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566862" y="331279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使目标函数取极值的可行解</a:t>
              </a:r>
            </a:p>
          </p:txBody>
        </p:sp>
      </p:grpSp>
      <p:grpSp>
        <p:nvGrpSpPr>
          <p:cNvPr id="35" name="c2-card-1"/>
          <p:cNvGrpSpPr/>
          <p:nvPr/>
        </p:nvGrpSpPr>
        <p:grpSpPr>
          <a:xfrm>
            <a:off x="6789420" y="1967865"/>
            <a:ext cx="4869180" cy="2676525"/>
            <a:chOff x="6789420" y="1967865"/>
            <a:chExt cx="4869180" cy="2676525"/>
          </a:xfrm>
        </p:grpSpPr>
        <p:sp>
          <p:nvSpPr>
            <p:cNvPr id="21" name="Rectangle 21"/>
            <p:cNvSpPr/>
            <p:nvPr/>
          </p:nvSpPr>
          <p:spPr>
            <a:xfrm>
              <a:off x="6789420" y="1967865"/>
              <a:ext cx="4869180" cy="2676525"/>
            </a:xfrm>
            <a:prstGeom prst="roundRect">
              <a:avLst>
                <a:gd name="adj" fmla="val 498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798945" y="2101215"/>
              <a:ext cx="47625" cy="240982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037070" y="2177415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132180" y="221313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95223" y="2212658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对照一个小例子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029450" y="2573655"/>
              <a:ext cx="42252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从"看世界杯决赛、游新西兰、学潜水、听演唱会"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四个活动里选两个：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7042785" y="325755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200900" y="31946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约束条件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：只能选两个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7042785" y="359283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200900" y="352996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可行解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：任意两个的组合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042785" y="392811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200900" y="386524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目标函数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：按个人偏好打分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042785" y="426339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200900" y="420052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最优解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：你最想要的那两个</a:t>
              </a:r>
            </a:p>
          </p:txBody>
        </p:sp>
      </p:grpSp>
      <p:grpSp>
        <p:nvGrpSpPr>
          <p:cNvPr id="41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6" name="Rectangle 36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040130" y="5991225"/>
              <a:ext cx="613371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别把"随便找一个可行解"当成"求最优解"——贪心法要解决的是后者。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贪心法的一般方法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贪心法的求解思想与抽象控制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5546192" cy="308039"/>
            <a:chOff x="525399" y="1550194"/>
            <a:chExt cx="5546192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554619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一次做一个不回头的选择，只要它眼下不违反约束就收下。</a:t>
              </a:r>
            </a:p>
          </p:txBody>
        </p:sp>
      </p:grpSp>
      <p:grpSp>
        <p:nvGrpSpPr>
          <p:cNvPr id="26" name="c1-steps-1"/>
          <p:cNvGrpSpPr/>
          <p:nvPr/>
        </p:nvGrpSpPr>
        <p:grpSpPr>
          <a:xfrm>
            <a:off x="533400" y="1977390"/>
            <a:ext cx="3527222" cy="2529173"/>
            <a:chOff x="533400" y="1977390"/>
            <a:chExt cx="3527222" cy="2529173"/>
          </a:xfrm>
        </p:grpSpPr>
        <p:sp>
          <p:nvSpPr>
            <p:cNvPr id="9" name="Rectangle 9"/>
            <p:cNvSpPr/>
            <p:nvPr/>
          </p:nvSpPr>
          <p:spPr>
            <a:xfrm>
              <a:off x="666750" y="2120265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7739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512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62794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7017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27850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3523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92906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0028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01168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选量度标准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2304574"/>
              <a:ext cx="27872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根据题意定义一种衡量"好坏"的标准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2662238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按标准取一个输入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2955131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从剩余输入里选当前标准下最优的一个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331279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检查可行性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3606641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并入部分解仍满足约束就收下，否则舍弃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4880" y="3963352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重复到输入用完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023" y="4257199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不再回头调整已经做出的选择</a:t>
              </a:r>
            </a:p>
          </p:txBody>
        </p:sp>
      </p:grpSp>
      <p:grpSp>
        <p:nvGrpSpPr>
          <p:cNvPr id="30" name="c2-code-1"/>
          <p:cNvGrpSpPr/>
          <p:nvPr/>
        </p:nvGrpSpPr>
        <p:grpSpPr>
          <a:xfrm>
            <a:off x="6032182" y="1967865"/>
            <a:ext cx="5626418" cy="2733675"/>
            <a:chOff x="6032182" y="1967865"/>
            <a:chExt cx="5626418" cy="2733675"/>
          </a:xfrm>
        </p:grpSpPr>
        <p:sp>
          <p:nvSpPr>
            <p:cNvPr id="27" name="Rectangle 27"/>
            <p:cNvSpPr/>
            <p:nvPr/>
          </p:nvSpPr>
          <p:spPr>
            <a:xfrm>
              <a:off x="6032182" y="1967865"/>
              <a:ext cx="5626418" cy="2733675"/>
            </a:xfrm>
            <a:prstGeom prst="roundRect">
              <a:avLst>
                <a:gd name="adj" fmla="val 348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160580" y="2119789"/>
              <a:ext cx="15993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算法5.1 贪心法抽象化控制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159817" y="2381726"/>
              <a:ext cx="3375406" cy="22488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GREEDY(A, n)</a:t>
              </a:r>
              <a:br/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A(1:n) 包含 n 个输入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solution &lt;- 空集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for i &lt;- 1 to n do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x &lt;- SELECT(A)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FEASIBLE(solution, x)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then solution &lt;- UNION(solution, x)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endif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return (solution)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GREEDY</a:t>
              </a:r>
            </a:p>
          </p:txBody>
        </p:sp>
      </p:grpSp>
      <p:grpSp>
        <p:nvGrpSpPr>
          <p:cNvPr id="37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1" name="Rectangle 31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130" y="5991225"/>
              <a:ext cx="692543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关键在 SELECT 用的量度标准——标准选错，贪心也救不回来，必须经过证明。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8" name="TextBox 38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贪心法的一般方法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贪心法的优点、缺点与证明责任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compare-1"/>
          <p:cNvGrpSpPr/>
          <p:nvPr/>
        </p:nvGrpSpPr>
        <p:grpSpPr>
          <a:xfrm>
            <a:off x="533400" y="1524000"/>
            <a:ext cx="11125200" cy="1703070"/>
            <a:chOff x="533400" y="1524000"/>
            <a:chExt cx="11125200" cy="170307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391150" cy="1703070"/>
            </a:xfrm>
            <a:prstGeom prst="roundRect">
              <a:avLst>
                <a:gd name="adj" fmla="val 78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43637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73430" y="17583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86765" y="217551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44880" y="211264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策略构造简单直接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51079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44792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一旦证明成立就是高效算法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284607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278320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对不少问题能给出整体最优解或近似解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67450" y="1524000"/>
              <a:ext cx="5391150" cy="1703070"/>
            </a:xfrm>
            <a:prstGeom prst="roundRect">
              <a:avLst>
                <a:gd name="adj" fmla="val 78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76975" y="1657350"/>
              <a:ext cx="47625" cy="143637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507480" y="17583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缺点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6520815" y="217551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678930" y="211264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不是对所有问题都能得到最优解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6520815" y="251079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678930" y="244792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量度标准不一定天然正确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6520815" y="284607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78930" y="278320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换一个问题就要重新证明一次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5934075" y="2213610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004415" y="2309812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33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28" name="Rectangle 28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040130" y="5991225"/>
              <a:ext cx="79308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贪心法本身不保证正确——正确性永远来自对"最优量度标准"的证明，不是算法形式本身。</a:t>
              </a:r>
            </a:p>
          </p:txBody>
        </p:sp>
      </p:grpSp>
      <p:grpSp>
        <p:nvGrpSpPr>
          <p:cNvPr id="3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4" name="TextBox 34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4" name="section-title"/>
          <p:cNvGrpSpPr/>
          <p:nvPr/>
        </p:nvGrpSpPr>
        <p:grpSpPr>
          <a:xfrm>
            <a:off x="667512" y="1835468"/>
            <a:ext cx="6616667" cy="2643187"/>
            <a:chOff x="667512" y="1835468"/>
            <a:chExt cx="6616667" cy="264318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661666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背包问题（可分割/分数背包）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70355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物品能按比例拿，贪心第一次显出"证明"的价值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目标是效益总和最大化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贪心策略要证明才能相信</a:t>
              </a:r>
            </a:p>
          </p:txBody>
        </p:sp>
      </p:grpSp>
      <p:grpSp>
        <p:nvGrpSpPr>
          <p:cNvPr id="1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5" name="TextBox 15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20802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2876" y="407194"/>
              <a:ext cx="31290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背包问题（可分割/分数背包）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问题描述：物品可以只拿一部分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193008" cy="308039"/>
            <a:chOff x="525399" y="1550194"/>
            <a:chExt cx="7193008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19300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n件物品，一个能装M重量的背包；物品i可以只装入比例xi，得到效益pi·xi。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3"/>
              <p:cNvSpPr txBox="1">
                <a:spLocks noGrp="1"/>
              </p:cNvSpPr>
              <p:nvPr/>
            </p:nvSpPr>
            <p:spPr>
              <a:xfrm>
                <a:off x="533400" y="1967865"/>
                <a:ext cx="5951220" cy="81724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func>
                        <m:funcPr/>
                        <m:fName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max</m:t>
                          </m:r>
                        </m:fName>
                        <m:e>
                          <m:nary>
                            <m:naryPr>
                              <m:chr m:val="∑"/>
                              <m:limLoc m:val="undOvr"/>
                              <m:grow m:val="off"/>
                              <m:subHide m:val="off"/>
                              <m:supHide m:val="off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</m:t>
                                  </m:r>
                                </m:e>
                                <m:sub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sSub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nary>
                        </m:e>
                      </m:func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formula4"/>
              <p:cNvSpPr txBox="1">
                <a:spLocks noGrp="1"/>
              </p:cNvSpPr>
              <p:nvPr/>
            </p:nvSpPr>
            <p:spPr>
              <a:xfrm>
                <a:off x="533400" y="2975610"/>
                <a:ext cx="5951220" cy="81724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 m:val="on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s.t. </m:t>
                      </m:r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sSub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w</m:t>
                              </m:r>
                            </m:e>
                            <m:sub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sSub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≤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M</m:t>
                      </m:r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</m:t>
                      </m:r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≤</m:t>
                      </m:r>
                      <m:sSub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≤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16" name="c1-kv-3"/>
          <p:cNvGrpSpPr/>
          <p:nvPr/>
        </p:nvGrpSpPr>
        <p:grpSpPr>
          <a:xfrm>
            <a:off x="526923" y="4003834"/>
            <a:ext cx="5957697" cy="650366"/>
            <a:chOff x="526923" y="4003834"/>
            <a:chExt cx="5957697" cy="650366"/>
          </a:xfrm>
        </p:grpSpPr>
        <p:sp>
          <p:nvSpPr>
            <p:cNvPr id="11" name="TextBox 11"/>
            <p:cNvSpPr txBox="1"/>
            <p:nvPr/>
          </p:nvSpPr>
          <p:spPr>
            <a:xfrm>
              <a:off x="526923" y="4003834"/>
              <a:ext cx="6552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pᵢ / wᵢ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406080" y="4003834"/>
              <a:ext cx="14690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物品i的效益 / 重量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" y="428910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26923" y="440483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xᵢ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406080" y="4404836"/>
              <a:ext cx="16154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物品i装入背包的比例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6789420" y="1967865"/>
            <a:ext cx="4869180" cy="2636520"/>
            <a:chOff x="6789420" y="1967865"/>
            <a:chExt cx="4869180" cy="2636520"/>
          </a:xfrm>
        </p:grpSpPr>
        <p:sp>
          <p:nvSpPr>
            <p:cNvPr id="17" name="Rectangle 17"/>
            <p:cNvSpPr/>
            <p:nvPr/>
          </p:nvSpPr>
          <p:spPr>
            <a:xfrm>
              <a:off x="6789420" y="1967865"/>
              <a:ext cx="4869180" cy="2636520"/>
            </a:xfrm>
            <a:prstGeom prst="roundRect">
              <a:avLst>
                <a:gd name="adj" fmla="val 505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798945" y="2101215"/>
              <a:ext cx="47625" cy="236982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037070" y="2177415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132180" y="221313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495223" y="2212658"/>
              <a:ext cx="22137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和"0-1背包"不是一回事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29450" y="2573655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这里允许只拿一部分（比如半件），叫</a:t>
              </a: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可分割背包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/分数背包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29450" y="3194685"/>
              <a:ext cx="4155281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物品不能拆分的整数版本叫</a:t>
              </a: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0-1背包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，本节的贪心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结论对它不成立——后面单独讲。</a:t>
              </a:r>
            </a:p>
          </p:txBody>
        </p:sp>
      </p:grpSp>
      <p:grpSp>
        <p:nvGrpSpPr>
          <p:cNvPr id="31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25" name="Rectangle 2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040130" y="5991225"/>
              <a:ext cx="554812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看到"0≤xᵢ≤1"这种连续约束，就要留意它是不是可分割背包。</a:t>
              </a:r>
            </a:p>
          </p:txBody>
        </p:sp>
      </p:grpSp>
      <p:grpSp>
        <p:nvGrpSpPr>
          <p:cNvPr id="3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2" name="TextBox 32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20802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2876" y="407194"/>
              <a:ext cx="31290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背包问题（可分割/分数背包）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实例：三种量度标准，谁更划算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6719099" cy="308039"/>
            <a:chOff x="525399" y="1550194"/>
            <a:chExt cx="6719099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67190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n=3, M=20, (p1,p2,p3)=(25,24,15), (w1,w2,w3)=(18,15,10)。</a:t>
              </a:r>
            </a:p>
          </p:txBody>
        </p:sp>
      </p:grpSp>
      <p:grpSp>
        <p:nvGrpSpPr>
          <p:cNvPr id="40" name="c1-table-1"/>
          <p:cNvGrpSpPr/>
          <p:nvPr/>
        </p:nvGrpSpPr>
        <p:grpSpPr>
          <a:xfrm>
            <a:off x="527685" y="1967865"/>
            <a:ext cx="11130915" cy="2090262"/>
            <a:chOff x="527685" y="1967865"/>
            <a:chExt cx="11130915" cy="2090262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11125200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870126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量度标准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878121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装入顺序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983659" y="2102644"/>
              <a:ext cx="13526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结果(x1,x2,x3)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226715" y="210264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总重量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671658" y="210264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总效益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41223" y="255127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按效益非增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016883" y="2551271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25→24→15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57213" y="2551271"/>
              <a:ext cx="10640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2/15, 0)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877490" y="255127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322433" y="2551271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28.2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28603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" y="286512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1223" y="300085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按重量非降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016883" y="3000851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10→15→18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657213" y="3000851"/>
              <a:ext cx="9692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 2/3, 1)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877490" y="300085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322433" y="300085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30898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1223" y="3449479"/>
              <a:ext cx="24567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按pᵢ/wᵢ非增(1.6→1.5→1.39)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016883" y="3449479"/>
              <a:ext cx="15982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item2→item3→item1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57213" y="3449479"/>
              <a:ext cx="9692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 1, 1/2)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877490" y="3449479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10224135" y="3323272"/>
              <a:ext cx="1424940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0322433" y="3449479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31.5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1967865"/>
              <a:ext cx="11125200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3904298" y="1967865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544628" y="1967865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8764905" y="1967865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10209848" y="1967865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27685" y="3838099"/>
              <a:ext cx="47985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三个方案容量都恰好用满(总重量=20)，只有按比值贪心的总效益最高。</a:t>
              </a:r>
            </a:p>
          </p:txBody>
        </p:sp>
      </p:grpSp>
      <p:grpSp>
        <p:nvGrpSpPr>
          <p:cNvPr id="46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1" name="Rectangle 41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1040130" y="5991225"/>
              <a:ext cx="77188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三种标准里只有pᵢ/wᵢ比值直接对应"每单位容量换来的效益"——这才是最优量度标准。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655279" cy="909257"/>
            <a:chOff x="520446" y="342900"/>
            <a:chExt cx="465527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20802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2876" y="407194"/>
              <a:ext cx="31290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背包问题（可分割/分数背包）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65527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贪心算法 GREEDY-KNAPSACK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951220" cy="2530792"/>
            <a:chOff x="533400" y="1524000"/>
            <a:chExt cx="5951220" cy="253079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2530792"/>
            </a:xfrm>
            <a:prstGeom prst="roundRect">
              <a:avLst>
                <a:gd name="adj" fmla="val 376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5023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算法5.2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2827782" cy="20459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先按 pi/wi 非增次序排序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GREEDY-KNAPSACK(P,W,M,X,n)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X &lt;- 0；cu &lt;- M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cu为背包剩余容量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for i &lt;- 1 to n do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W(i) &gt; cu then exit endif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X(i) &lt;- 1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cu &lt;- cu - W(i)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if (i&lt;=n) then X(i) &lt;- cu / W(i)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GREEDY-KNAPSACK</a:t>
              </a:r>
            </a:p>
          </p:txBody>
        </p:sp>
      </p:grpSp>
      <p:grpSp>
        <p:nvGrpSpPr>
          <p:cNvPr id="24" name="c2-steps-1"/>
          <p:cNvGrpSpPr/>
          <p:nvPr/>
        </p:nvGrpSpPr>
        <p:grpSpPr>
          <a:xfrm>
            <a:off x="6789420" y="1533525"/>
            <a:ext cx="3871849" cy="1878615"/>
            <a:chOff x="6789420" y="1533525"/>
            <a:chExt cx="3871849" cy="1878615"/>
          </a:xfrm>
        </p:grpSpPr>
        <p:sp>
          <p:nvSpPr>
            <p:cNvPr id="11" name="Rectangle 11"/>
            <p:cNvSpPr/>
            <p:nvPr/>
          </p:nvSpPr>
          <p:spPr>
            <a:xfrm>
              <a:off x="6922770" y="1676400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6789420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88304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6789420" y="218408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88304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6789420" y="283464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88304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00900" y="15678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排序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202043" y="1861661"/>
              <a:ext cx="27607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按pᵢ/wᵢ非增排序，代价O(n log n)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200900" y="2218372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顺序装入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202043" y="2512219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能整件装就整件装，最后一件不够就装一部分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200900" y="286893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循环本身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202043" y="3162776"/>
              <a:ext cx="21613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排序后这一遍扫描只需O(n)</a:t>
              </a:r>
            </a:p>
          </p:txBody>
        </p:sp>
      </p:grpSp>
      <p:grpSp>
        <p:nvGrpSpPr>
          <p:cNvPr id="31" name="c2-callout-2"/>
          <p:cNvGrpSpPr/>
          <p:nvPr/>
        </p:nvGrpSpPr>
        <p:grpSpPr>
          <a:xfrm>
            <a:off x="6789420" y="3590925"/>
            <a:ext cx="4869180" cy="533400"/>
            <a:chOff x="6789420" y="3590925"/>
            <a:chExt cx="4869180" cy="533400"/>
          </a:xfrm>
        </p:grpSpPr>
        <p:sp>
          <p:nvSpPr>
            <p:cNvPr id="25" name="Rectangle 25"/>
            <p:cNvSpPr/>
            <p:nvPr/>
          </p:nvSpPr>
          <p:spPr>
            <a:xfrm>
              <a:off x="6789420" y="3590925"/>
              <a:ext cx="4869180" cy="533400"/>
            </a:xfrm>
            <a:prstGeom prst="roundRect">
              <a:avLst>
                <a:gd name="adj" fmla="val 2142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6994208" y="3757613"/>
              <a:ext cx="200026" cy="200026"/>
              <a:chOff x="6994208" y="3757613"/>
              <a:chExt cx="200026" cy="20002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6994208" y="375761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7094220" y="382428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7083108" y="385762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7296150" y="3752850"/>
              <a:ext cx="36493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整体复杂度由排序主导，是O(n log n)。</a:t>
              </a:r>
            </a:p>
          </p:txBody>
        </p:sp>
      </p:grpSp>
      <p:grpSp>
        <p:nvGrpSpPr>
          <p:cNvPr id="38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2" name="Rectangle 32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040130" y="5991225"/>
              <a:ext cx="750684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思考：算法里体现了约束条件，但怎么确认这个可行解就是最优解？——下一页证明。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396733" cy="909257"/>
            <a:chOff x="520446" y="342900"/>
            <a:chExt cx="439673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20802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2876" y="407194"/>
              <a:ext cx="31290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背包问题（可分割/分数背包）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39673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定理5.1：贪心解为什么最优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8988514" cy="308039"/>
            <a:chOff x="525399" y="1550194"/>
            <a:chExt cx="8988514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898851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若 p1/w1 ≥ p2/w2 ≥ … ≥ pn/wn，GREEDY-KNAPSACK 生成的解就是最优解。证明用交换论证。</a:t>
              </a:r>
            </a:p>
          </p:txBody>
        </p:sp>
      </p:grpSp>
      <p:grpSp>
        <p:nvGrpSpPr>
          <p:cNvPr id="44" name="c1-steps-1"/>
          <p:cNvGrpSpPr/>
          <p:nvPr/>
        </p:nvGrpSpPr>
        <p:grpSpPr>
          <a:xfrm>
            <a:off x="533400" y="1967865"/>
            <a:ext cx="11125200" cy="1920240"/>
            <a:chOff x="533400" y="1967865"/>
            <a:chExt cx="11125200" cy="1920240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1616392" cy="1920240"/>
            </a:xfrm>
            <a:prstGeom prst="roundRect">
              <a:avLst>
                <a:gd name="adj" fmla="val 707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666750" y="210121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56883" y="217170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59130" y="2506980"/>
              <a:ext cx="10561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1.反证假设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60273" y="2818924"/>
              <a:ext cx="1240282" cy="717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若贪心解X不是最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优解，设Y是效益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更高的可行解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2225992" y="2842260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2435542" y="1967865"/>
              <a:ext cx="1616392" cy="1920240"/>
            </a:xfrm>
            <a:prstGeom prst="roundRect">
              <a:avLst>
                <a:gd name="adj" fmla="val 707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2568892" y="210121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659026" y="217170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561272" y="2506980"/>
              <a:ext cx="1187768" cy="5410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2.找第一个分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歧位k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562416" y="3066574"/>
              <a:ext cx="1256538" cy="717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X、Y从下标k开始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取值不同，可证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yk&lt;xk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4127182" y="2842260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4336732" y="1967865"/>
              <a:ext cx="1616392" cy="1920240"/>
            </a:xfrm>
            <a:prstGeom prst="roundRect">
              <a:avLst>
                <a:gd name="adj" fmla="val 707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4470082" y="210121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560216" y="217170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462462" y="2506980"/>
              <a:ext cx="138133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3.构造过渡解Z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63606" y="2818924"/>
              <a:ext cx="1183386" cy="717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把yk调到xk，从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后面按比例扣掉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同样多的重量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6029325" y="2842260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38875" y="1967865"/>
              <a:ext cx="1616392" cy="1920240"/>
            </a:xfrm>
            <a:prstGeom prst="roundRect">
              <a:avLst>
                <a:gd name="adj" fmla="val 707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6372225" y="210121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62358" y="217170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64605" y="2506980"/>
              <a:ext cx="10561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4.比较效益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65748" y="2818924"/>
              <a:ext cx="1150874" cy="717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物品已按比值排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序，这样换入换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出效益只增不减</a:t>
              </a:r>
            </a:p>
          </p:txBody>
        </p:sp>
        <p:sp>
          <p:nvSpPr>
            <p:cNvPr id="32" name="Freeform 32"/>
            <p:cNvSpPr/>
            <p:nvPr/>
          </p:nvSpPr>
          <p:spPr>
            <a:xfrm>
              <a:off x="7931468" y="2842260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8141018" y="1967865"/>
              <a:ext cx="1616392" cy="1920240"/>
            </a:xfrm>
            <a:prstGeom prst="roundRect">
              <a:avLst>
                <a:gd name="adj" fmla="val 707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8274368" y="210121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364501" y="217170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66748" y="2506980"/>
              <a:ext cx="10561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5.归纳收尾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267891" y="2818924"/>
              <a:ext cx="125653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Z比Y更接近X，重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复替换直到Z=X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9832658" y="2842260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10042208" y="1967865"/>
              <a:ext cx="1616392" cy="1920240"/>
            </a:xfrm>
            <a:prstGeom prst="roundRect">
              <a:avLst>
                <a:gd name="adj" fmla="val 707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Ellipse 40"/>
            <p:cNvSpPr/>
            <p:nvPr/>
          </p:nvSpPr>
          <p:spPr>
            <a:xfrm>
              <a:off x="10175558" y="210121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0265691" y="217170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167938" y="2506980"/>
              <a:ext cx="6523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6.结论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169080" y="2818924"/>
              <a:ext cx="1240282" cy="952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效益全程没减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少，X的效益不低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于Y，X就是最优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</a:t>
              </a:r>
            </a:p>
          </p:txBody>
        </p:sp>
      </p:grpSp>
      <p:grpSp>
        <p:nvGrpSpPr>
          <p:cNvPr id="5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5" name="Rectangle 4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0130" y="5991225"/>
              <a:ext cx="93040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交换论证的套路：假设最优解和贪心解不同，找到第一个差异，替换后证明不会变差，反复到两者相同。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769857" cy="909257"/>
            <a:chOff x="520446" y="342900"/>
            <a:chExt cx="576985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20802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2876" y="407194"/>
              <a:ext cx="31290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背包问题（可分割/分数背包）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76985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易错点：0-1背包为什么不能直接贪心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6960644" cy="308039"/>
            <a:chOff x="525399" y="1550194"/>
            <a:chExt cx="6960644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696064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把上面的算法直接搬到0-1背包（物品不能拆）上，会漏掉真正的最优解。</a:t>
              </a:r>
            </a:p>
          </p:txBody>
        </p:sp>
      </p:grpSp>
      <p:grpSp>
        <p:nvGrpSpPr>
          <p:cNvPr id="31" name="c1-table-1"/>
          <p:cNvGrpSpPr/>
          <p:nvPr/>
        </p:nvGrpSpPr>
        <p:grpSpPr>
          <a:xfrm>
            <a:off x="527685" y="1967865"/>
            <a:ext cx="11130915" cy="1641634"/>
            <a:chOff x="527685" y="1967865"/>
            <a:chExt cx="11130915" cy="1641634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11125200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892897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方案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352377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选择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238973" y="210264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总重量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342093" y="210264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总效益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41223" y="2551271"/>
              <a:ext cx="15611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按pᵢ/wᵢ贪心(0-1)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716845" y="2551271"/>
              <a:ext cx="22075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A(v60,w10)+B(v100,w20)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60183" y="255127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565005" y="2426018"/>
              <a:ext cx="2084070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63303" y="2551271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160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8603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286512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1223" y="300085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真正最优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16845" y="3000851"/>
              <a:ext cx="230407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B(v100,w20)+C(v120,w30)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560183" y="300085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9565005" y="2874645"/>
              <a:ext cx="2084070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63303" y="3000851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220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1967865"/>
              <a:ext cx="11125200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3604260" y="196786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447598" y="196786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9550718" y="196786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27685" y="3389471"/>
              <a:ext cx="53542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M=50；三件物品(v,w)=(60,10),(100,20),(120,30)，比值分别为6、5、4。</a:t>
              </a:r>
            </a:p>
          </p:txBody>
        </p:sp>
      </p:grpSp>
      <p:grpSp>
        <p:nvGrpSpPr>
          <p:cNvPr id="38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2" name="Rectangle 32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040130" y="5991225"/>
              <a:ext cx="93127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贪心选完A、B后剩余容量20装不下C，只能眼睁睁放弃更优组合——这就是"只顾眼前、不能回头"的代价。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4" name="section-title"/>
          <p:cNvGrpSpPr/>
          <p:nvPr/>
        </p:nvGrpSpPr>
        <p:grpSpPr>
          <a:xfrm>
            <a:off x="667512" y="1835468"/>
            <a:ext cx="5367528" cy="2643187"/>
            <a:chOff x="667512" y="1835468"/>
            <a:chExt cx="5367528" cy="264318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36752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带有期限的作业调度问题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90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任务不能拆，只能选或不选，可行性判定是新难点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3475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每个作业占用1个单位时间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超过截止期限完成就没有效益</a:t>
              </a:r>
            </a:p>
          </p:txBody>
        </p:sp>
      </p:grpSp>
      <p:grpSp>
        <p:nvGrpSpPr>
          <p:cNvPr id="1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5" name="TextBox 15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带有期限的作业调度问题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问题描述与一个小实例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8757956" cy="308039"/>
            <a:chOff x="525399" y="1550194"/>
            <a:chExt cx="8757956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875795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单机上处理n个作业，每个耗时1个单位；作业i有截止期限di和效益pi，逾期完成则效益作废。</a:t>
              </a:r>
            </a:p>
          </p:txBody>
        </p:sp>
      </p:grpSp>
      <p:grpSp>
        <p:nvGrpSpPr>
          <p:cNvPr id="14" name="c1-kv-1"/>
          <p:cNvGrpSpPr/>
          <p:nvPr/>
        </p:nvGrpSpPr>
        <p:grpSpPr>
          <a:xfrm>
            <a:off x="526923" y="1988344"/>
            <a:ext cx="4875657" cy="650366"/>
            <a:chOff x="526923" y="1988344"/>
            <a:chExt cx="4875657" cy="650366"/>
          </a:xfrm>
        </p:grpSpPr>
        <p:sp>
          <p:nvSpPr>
            <p:cNvPr id="9" name="TextBox 9"/>
            <p:cNvSpPr txBox="1"/>
            <p:nvPr/>
          </p:nvSpPr>
          <p:spPr>
            <a:xfrm>
              <a:off x="526923" y="198834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可行解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282256" y="1988344"/>
              <a:ext cx="26977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J中每个作业都能在各自期限前完成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" y="2273618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26923" y="238934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最优解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82256" y="2389346"/>
              <a:ext cx="19773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效益之和∑pj最大的可行解</a:t>
              </a:r>
            </a:p>
          </p:txBody>
        </p:sp>
      </p:grpSp>
      <p:grpSp>
        <p:nvGrpSpPr>
          <p:cNvPr id="21" name="c1-callout-2"/>
          <p:cNvGrpSpPr/>
          <p:nvPr/>
        </p:nvGrpSpPr>
        <p:grpSpPr>
          <a:xfrm>
            <a:off x="533400" y="2779395"/>
            <a:ext cx="4869180" cy="2132648"/>
            <a:chOff x="533400" y="2779395"/>
            <a:chExt cx="4869180" cy="2132648"/>
          </a:xfrm>
        </p:grpSpPr>
        <p:sp>
          <p:nvSpPr>
            <p:cNvPr id="15" name="Rectangle 15"/>
            <p:cNvSpPr/>
            <p:nvPr/>
          </p:nvSpPr>
          <p:spPr>
            <a:xfrm>
              <a:off x="533400" y="2779395"/>
              <a:ext cx="4869180" cy="2132648"/>
            </a:xfrm>
            <a:prstGeom prst="roundRect">
              <a:avLst>
                <a:gd name="adj" fmla="val 536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38188" y="3745230"/>
              <a:ext cx="200026" cy="200025"/>
              <a:chOff x="738188" y="3745230"/>
              <a:chExt cx="200026" cy="200025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738188" y="374523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777926" y="378968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12642" y="390080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040130" y="3464242"/>
              <a:ext cx="38442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光靠效益排序选不出最优解，还要看能不能安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排进各自的期限——这是可行性判定，后面单独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讲。</a:t>
              </a:r>
            </a:p>
          </p:txBody>
        </p:sp>
      </p:grpSp>
      <p:grpSp>
        <p:nvGrpSpPr>
          <p:cNvPr id="51" name="c2-table-1"/>
          <p:cNvGrpSpPr/>
          <p:nvPr/>
        </p:nvGrpSpPr>
        <p:grpSpPr>
          <a:xfrm>
            <a:off x="5701665" y="1967865"/>
            <a:ext cx="5956935" cy="2988469"/>
            <a:chOff x="5701665" y="1967865"/>
            <a:chExt cx="5956935" cy="2988469"/>
          </a:xfrm>
        </p:grpSpPr>
        <p:sp>
          <p:nvSpPr>
            <p:cNvPr id="22" name="Rectangle 22"/>
            <p:cNvSpPr/>
            <p:nvPr/>
          </p:nvSpPr>
          <p:spPr>
            <a:xfrm>
              <a:off x="5707380" y="1967865"/>
              <a:ext cx="5951220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07315" y="210264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可行解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31886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处理顺序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428770" y="210264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效益值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815203" y="2551271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{1}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744968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836658" y="2551271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707380" y="286035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707380" y="2865120"/>
              <a:ext cx="595122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815203" y="3000851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{4}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744968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836658" y="300085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707380" y="3308985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815203" y="3449479"/>
              <a:ext cx="5105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{1,3}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744968" y="3449479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1,3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836658" y="3449479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115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707380" y="3757612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5707380" y="3762375"/>
              <a:ext cx="595122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815203" y="3898106"/>
              <a:ext cx="5105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{1,4}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744968" y="3898106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4,1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836658" y="3898106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120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707380" y="4207192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815203" y="4346734"/>
              <a:ext cx="5105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{3,4}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744968" y="4346734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4,3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36658" y="4346734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707380" y="1967865"/>
              <a:ext cx="5951220" cy="269271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7632382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9724072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701665" y="4736306"/>
              <a:ext cx="47382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n=4, (p)=(100,10,15,20), (d)=(2,1,2,1)；{1,4}效益最高=120。</a:t>
              </a:r>
            </a:p>
          </p:txBody>
        </p:sp>
      </p:grpSp>
      <p:grpSp>
        <p:nvGrpSpPr>
          <p:cNvPr id="58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2" name="Rectangle 52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1040130" y="5991225"/>
              <a:ext cx="50836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光看效益排序选不出最优解——还要看期限能不能凑得下。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带有期限的作业调度问题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贪心策略：按效益降序，一个个试装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steps-1"/>
          <p:cNvGrpSpPr/>
          <p:nvPr/>
        </p:nvGrpSpPr>
        <p:grpSpPr>
          <a:xfrm>
            <a:off x="533400" y="1533525"/>
            <a:ext cx="4281500" cy="1878615"/>
            <a:chOff x="533400" y="1533525"/>
            <a:chExt cx="4281500" cy="1878615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8408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83464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4880" y="15678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6023" y="1861661"/>
              <a:ext cx="24425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把作业按效益 p1≥p2≥…≥pn 排序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2218372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逐个尝试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2512219"/>
              <a:ext cx="33870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依次把作业加入J，仍可行就留下，否则跳过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86893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可行性判定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3162776"/>
              <a:ext cx="38688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J可行 = J中所有作业都能安排在各自期限之前完成</a:t>
              </a:r>
            </a:p>
          </p:txBody>
        </p:sp>
      </p:grpSp>
      <p:grpSp>
        <p:nvGrpSpPr>
          <p:cNvPr id="24" name="c2-code-1"/>
          <p:cNvGrpSpPr/>
          <p:nvPr/>
        </p:nvGrpSpPr>
        <p:grpSpPr>
          <a:xfrm>
            <a:off x="6032182" y="1524000"/>
            <a:ext cx="5626418" cy="2327910"/>
            <a:chOff x="6032182" y="1524000"/>
            <a:chExt cx="5626418" cy="2327910"/>
          </a:xfrm>
        </p:grpSpPr>
        <p:sp>
          <p:nvSpPr>
            <p:cNvPr id="21" name="Rectangle 21"/>
            <p:cNvSpPr/>
            <p:nvPr/>
          </p:nvSpPr>
          <p:spPr>
            <a:xfrm>
              <a:off x="6032182" y="1524000"/>
              <a:ext cx="5626418" cy="2327910"/>
            </a:xfrm>
            <a:prstGeom prst="roundRect">
              <a:avLst>
                <a:gd name="adj" fmla="val 409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160580" y="1675924"/>
              <a:ext cx="1393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算法5.3 GREEDY_JOB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159817" y="1937861"/>
              <a:ext cx="2607310" cy="1843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GREEDY_JOB(D, J, n)</a:t>
              </a:r>
              <a:br/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作业已按 p1&gt;=p2&gt;=...&gt;=pn 输入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J &lt;- {1}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for i &lt;- 2 to n do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if (J∪{i} 都能在截止期限前完成)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then J &lt;- J∪{i}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endif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GREEDY_JOB</a:t>
              </a:r>
            </a:p>
          </p:txBody>
        </p:sp>
      </p:grpSp>
      <p:grpSp>
        <p:nvGrpSpPr>
          <p:cNvPr id="3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25" name="Rectangle 2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1040130" y="5991225"/>
              <a:ext cx="750684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这里贪心选的是效益最大的作业，能不能装下要靠可行性检验——这正是本节的难点。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1" name="TextBox 31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740014" cy="909257"/>
            <a:chOff x="520446" y="342900"/>
            <a:chExt cx="474001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带有期限的作业调度问题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74001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定理5.2：贪心结果就是最优解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651516" cy="308039"/>
            <a:chOff x="525399" y="1550194"/>
            <a:chExt cx="7651516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65151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J是贪心得到的作业集合，I是任意一个最优解的作业集合，证明二者效益值相同。</a:t>
              </a:r>
            </a:p>
          </p:txBody>
        </p:sp>
      </p:grpSp>
      <p:grpSp>
        <p:nvGrpSpPr>
          <p:cNvPr id="38" name="c1-steps-1"/>
          <p:cNvGrpSpPr/>
          <p:nvPr/>
        </p:nvGrpSpPr>
        <p:grpSpPr>
          <a:xfrm>
            <a:off x="533400" y="1967865"/>
            <a:ext cx="11125200" cy="1672590"/>
            <a:chOff x="533400" y="1967865"/>
            <a:chExt cx="11125200" cy="1672590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1996440" cy="1672590"/>
            </a:xfrm>
            <a:prstGeom prst="roundRect">
              <a:avLst>
                <a:gd name="adj" fmla="val 683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666750" y="210121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56883" y="217170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59130" y="2506980"/>
              <a:ext cx="13747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1.取关键作业a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60273" y="2818924"/>
              <a:ext cx="154101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设a是同时属于J和I、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效益最高的作业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2606040" y="2718435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2815590" y="1967865"/>
              <a:ext cx="1996440" cy="1672590"/>
            </a:xfrm>
            <a:prstGeom prst="roundRect">
              <a:avLst>
                <a:gd name="adj" fmla="val 683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2948940" y="210121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039073" y="217170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941320" y="2506980"/>
              <a:ext cx="13207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2.比较pa与pb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942463" y="2818924"/>
              <a:ext cx="1597914" cy="717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若I中作业b不在J中，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必有pa≥pb（否则贪心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会先选b）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4888230" y="2718435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097780" y="1967865"/>
              <a:ext cx="1996440" cy="1672590"/>
            </a:xfrm>
            <a:prstGeom prst="roundRect">
              <a:avLst>
                <a:gd name="adj" fmla="val 683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5231130" y="210121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321263" y="217170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223510" y="2506980"/>
              <a:ext cx="10561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3.替换调度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224653" y="2818924"/>
              <a:ext cx="1654810" cy="717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在I的调度表里，把和J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冲突的b换成a，效益不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会变小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7170420" y="2718435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379970" y="1967865"/>
              <a:ext cx="1996440" cy="1672590"/>
            </a:xfrm>
            <a:prstGeom prst="roundRect">
              <a:avLst>
                <a:gd name="adj" fmla="val 683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7513320" y="210121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603453" y="217170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05700" y="2506980"/>
              <a:ext cx="10561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4.归纳收尾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06843" y="2818924"/>
              <a:ext cx="161417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每替换一次，I与J的差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异就少一个作业</a:t>
              </a:r>
            </a:p>
          </p:txBody>
        </p:sp>
        <p:sp>
          <p:nvSpPr>
            <p:cNvPr id="32" name="Freeform 32"/>
            <p:cNvSpPr/>
            <p:nvPr/>
          </p:nvSpPr>
          <p:spPr>
            <a:xfrm>
              <a:off x="9452610" y="2718435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9662160" y="1967865"/>
              <a:ext cx="1996440" cy="1672590"/>
            </a:xfrm>
            <a:prstGeom prst="roundRect">
              <a:avLst>
                <a:gd name="adj" fmla="val 683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9795510" y="210121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885643" y="217170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787890" y="2506980"/>
              <a:ext cx="6523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5.结论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789033" y="2818924"/>
              <a:ext cx="1614170" cy="717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反复替换直到I变成J，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效益全程没降，J就是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最优解</a:t>
              </a:r>
            </a:p>
          </p:txBody>
        </p:sp>
      </p:grpSp>
      <p:grpSp>
        <p:nvGrpSpPr>
          <p:cNvPr id="44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9" name="Rectangle 39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1040130" y="5991225"/>
              <a:ext cx="71029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证明思路和背包问题一样是"交换论证"，只是这里换的是调度位置，不是数量。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354746" cy="909257"/>
            <a:chOff x="520446" y="342900"/>
            <a:chExt cx="435474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带有期限的作业调度问题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35474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怎么判断作业集合J是可行解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410200" cy="1720215"/>
            <a:chOff x="533400" y="1524000"/>
            <a:chExt cx="5410200" cy="17202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720215"/>
            </a:xfrm>
            <a:prstGeom prst="roundRect">
              <a:avLst>
                <a:gd name="adj" fmla="val 775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0356" y="176926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检验方法一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0697" y="1768792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枚举所有排列（定义）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2129790"/>
              <a:ext cx="423176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若J有k个作业，检验是否存在排列 σ=i1,…,ik，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35330" y="2465070"/>
              <a:ext cx="29331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使第j个完成的作业满足 diⱼ ≥ j。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35330" y="2800350"/>
              <a:ext cx="27513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排列数是k的阶乘，代价很高。</a:t>
              </a:r>
            </a:p>
          </p:txBody>
        </p:sp>
      </p:grpSp>
      <p:grpSp>
        <p:nvGrpSpPr>
          <p:cNvPr id="23" name="c2-card-1"/>
          <p:cNvGrpSpPr/>
          <p:nvPr/>
        </p:nvGrpSpPr>
        <p:grpSpPr>
          <a:xfrm>
            <a:off x="6248400" y="1524000"/>
            <a:ext cx="5410200" cy="1720215"/>
            <a:chOff x="6248400" y="1524000"/>
            <a:chExt cx="5410200" cy="1720215"/>
          </a:xfrm>
        </p:grpSpPr>
        <p:sp>
          <p:nvSpPr>
            <p:cNvPr id="15" name="Rectangle 15"/>
            <p:cNvSpPr/>
            <p:nvPr/>
          </p:nvSpPr>
          <p:spPr>
            <a:xfrm>
              <a:off x="6248400" y="1524000"/>
              <a:ext cx="5410200" cy="1720215"/>
            </a:xfrm>
            <a:prstGeom prst="roundRect">
              <a:avLst>
                <a:gd name="adj" fmla="val 775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257925" y="1657350"/>
              <a:ext cx="47625" cy="145351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496050" y="1733550"/>
              <a:ext cx="740092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579475" y="1769269"/>
              <a:ext cx="5741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定理5.3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42823" y="1768792"/>
              <a:ext cx="30754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只需检查"按期限升序"这一种排列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88430" y="2129790"/>
              <a:ext cx="295960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把J中作业按期限从小到大排列；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488430" y="2465070"/>
              <a:ext cx="396925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若这个顺序不违反任何期限，J就是可行解；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88430" y="2800350"/>
              <a:ext cx="358559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否则J一定不可行——不必再试其他排列。</a:t>
              </a:r>
            </a:p>
          </p:txBody>
        </p:sp>
      </p:grpSp>
      <p:grpSp>
        <p:nvGrpSpPr>
          <p:cNvPr id="29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24" name="Rectangle 24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1040130" y="5991225"/>
              <a:ext cx="725443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定理5.3把"检查所有排列"降到"只检查一种排列"，是后面设计快速算法的关键。</a:t>
              </a:r>
            </a:p>
          </p:txBody>
        </p:sp>
      </p:grpSp>
      <p:grpSp>
        <p:nvGrpSpPr>
          <p:cNvPr id="3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0" name="TextBox 30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208844" cy="909257"/>
            <a:chOff x="520446" y="342900"/>
            <a:chExt cx="420884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带有期限的作业调度问题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20884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简单实现：插入法，O(n²)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951220" cy="3545205"/>
            <a:chOff x="533400" y="1524000"/>
            <a:chExt cx="5951220" cy="35452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3545205"/>
            </a:xfrm>
            <a:prstGeom prst="roundRect">
              <a:avLst>
                <a:gd name="adj" fmla="val 268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72017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算法5.4 JS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3140710" cy="3060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JS(D, J, n, k)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D(0)&lt;-J(0)&lt;-0; k&lt;-1; J(1)&lt;-1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for i &lt;- 2 to n do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r &lt;- k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while D(J(r))&gt;D(i) and D(J(r))&lt;&gt;r do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r &lt;- r - 1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D(J(r))&lt;=D(i) and D(i)&gt;r then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for l &lt;- k to r+1 by -1 do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J(l+1) &lt;- J(l)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J(r+1) &lt;- i; k &lt;- k+1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endif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JS</a:t>
              </a:r>
            </a:p>
          </p:txBody>
        </p:sp>
      </p:grpSp>
      <p:grpSp>
        <p:nvGrpSpPr>
          <p:cNvPr id="24" name="c2-steps-1"/>
          <p:cNvGrpSpPr/>
          <p:nvPr/>
        </p:nvGrpSpPr>
        <p:grpSpPr>
          <a:xfrm>
            <a:off x="6789420" y="1533525"/>
            <a:ext cx="3665073" cy="1878615"/>
            <a:chOff x="6789420" y="1533525"/>
            <a:chExt cx="3665073" cy="1878615"/>
          </a:xfrm>
        </p:grpSpPr>
        <p:sp>
          <p:nvSpPr>
            <p:cNvPr id="11" name="Rectangle 11"/>
            <p:cNvSpPr/>
            <p:nvPr/>
          </p:nvSpPr>
          <p:spPr>
            <a:xfrm>
              <a:off x="6922770" y="1676400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6789420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88304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6789420" y="218408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88304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6789420" y="283464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88304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00900" y="15678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保持有序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202043" y="1861661"/>
              <a:ext cx="25254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J中作业始终按期限从小到大排列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200900" y="2218372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找空位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202043" y="2512219"/>
              <a:ext cx="32524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新作业i从后往前找一个不迟于di的位置r+1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200900" y="286893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腾位置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202043" y="3162776"/>
              <a:ext cx="28561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把r+1到k的作业依次后移一位再插入i</a:t>
              </a:r>
            </a:p>
          </p:txBody>
        </p:sp>
      </p:grpSp>
      <p:grpSp>
        <p:nvGrpSpPr>
          <p:cNvPr id="31" name="c2-callout-2"/>
          <p:cNvGrpSpPr/>
          <p:nvPr/>
        </p:nvGrpSpPr>
        <p:grpSpPr>
          <a:xfrm>
            <a:off x="6789420" y="3590925"/>
            <a:ext cx="4869180" cy="1478280"/>
            <a:chOff x="6789420" y="3590925"/>
            <a:chExt cx="4869180" cy="1478280"/>
          </a:xfrm>
        </p:grpSpPr>
        <p:sp>
          <p:nvSpPr>
            <p:cNvPr id="25" name="Rectangle 25"/>
            <p:cNvSpPr/>
            <p:nvPr/>
          </p:nvSpPr>
          <p:spPr>
            <a:xfrm>
              <a:off x="6789420" y="3590925"/>
              <a:ext cx="4869180" cy="1478280"/>
            </a:xfrm>
            <a:prstGeom prst="roundRect">
              <a:avLst>
                <a:gd name="adj" fmla="val 773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6982149" y="4226361"/>
              <a:ext cx="224134" cy="192560"/>
              <a:chOff x="6982149" y="4226361"/>
              <a:chExt cx="224134" cy="19256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094220" y="429672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6982149" y="422636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7094220" y="437451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7296150" y="4087178"/>
              <a:ext cx="38823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内层while最多循环k次，外层for循环n-1次，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总体O(n²)。</a:t>
              </a:r>
            </a:p>
          </p:txBody>
        </p:sp>
      </p:grpSp>
      <p:grpSp>
        <p:nvGrpSpPr>
          <p:cNvPr id="38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2" name="Rectangle 32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040130" y="5991225"/>
              <a:ext cx="61135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思考：能不能不靠"挪动数组"就找到空位？——下一页给出优化思路。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带有期限的作业调度问题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优化思路：用并查集跳过无效搜索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6418260" cy="308039"/>
            <a:chOff x="525399" y="1550194"/>
            <a:chExt cx="6418260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641826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与其一格格挪位置，不如给每个期限值维护"当前可用的最大空位"。</a:t>
              </a:r>
            </a:p>
          </p:txBody>
        </p:sp>
      </p:grpSp>
      <p:grpSp>
        <p:nvGrpSpPr>
          <p:cNvPr id="15" name="c1-bullets-1"/>
          <p:cNvGrpSpPr/>
          <p:nvPr/>
        </p:nvGrpSpPr>
        <p:grpSpPr>
          <a:xfrm>
            <a:off x="533400" y="1992630"/>
            <a:ext cx="5132261" cy="982980"/>
            <a:chOff x="533400" y="1992630"/>
            <a:chExt cx="5132261" cy="982980"/>
          </a:xfrm>
        </p:grpSpPr>
        <p:sp>
          <p:nvSpPr>
            <p:cNvPr id="9" name="Freeform 9"/>
            <p:cNvSpPr/>
            <p:nvPr/>
          </p:nvSpPr>
          <p:spPr>
            <a:xfrm>
              <a:off x="533400" y="2024062"/>
              <a:ext cx="143827" cy="116205"/>
            </a:xfrm>
            <a:custGeom>
              <a:avLst/>
              <a:gdLst/>
              <a:ahLst/>
              <a:cxnLst/>
              <a:rect l="l" t="t" r="r" b="b"/>
              <a:pathLst>
                <a:path w="143827" h="116205">
                  <a:moveTo>
                    <a:pt x="0" y="61912"/>
                  </a:moveTo>
                  <a:lnTo>
                    <a:pt x="55245" y="116205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83908" y="1992630"/>
              <a:ext cx="42366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数组 </a:t>
              </a:r>
              <a:r>
                <a:rPr lang="en-US" sz="1500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F(i)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：期限为i的作业当前能用的最大空位</a:t>
              </a:r>
            </a:p>
          </p:txBody>
        </p:sp>
        <p:sp>
          <p:nvSpPr>
            <p:cNvPr id="11" name="Freeform 11"/>
            <p:cNvSpPr/>
            <p:nvPr/>
          </p:nvSpPr>
          <p:spPr>
            <a:xfrm>
              <a:off x="533400" y="2368868"/>
              <a:ext cx="143827" cy="116205"/>
            </a:xfrm>
            <a:custGeom>
              <a:avLst/>
              <a:gdLst/>
              <a:ahLst/>
              <a:cxnLst/>
              <a:rect l="l" t="t" r="r" b="b"/>
              <a:pathLst>
                <a:path w="143827" h="116205">
                  <a:moveTo>
                    <a:pt x="0" y="61912"/>
                  </a:moveTo>
                  <a:lnTo>
                    <a:pt x="55245" y="116205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83908" y="2337435"/>
              <a:ext cx="469620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数组 </a:t>
              </a:r>
              <a:r>
                <a:rPr lang="en-US" sz="1500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P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做并查集：同一棵树里的节点共享同一个空位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533400" y="2713672"/>
              <a:ext cx="143827" cy="116205"/>
            </a:xfrm>
            <a:custGeom>
              <a:avLst/>
              <a:gdLst/>
              <a:ahLst/>
              <a:cxnLst/>
              <a:rect l="l" t="t" r="r" b="b"/>
              <a:pathLst>
                <a:path w="143827" h="116205">
                  <a:moveTo>
                    <a:pt x="0" y="61912"/>
                  </a:moveTo>
                  <a:lnTo>
                    <a:pt x="55245" y="116205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83908" y="2682240"/>
              <a:ext cx="48817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每次给作业分配空位后，把它和"少一个位置"的树合并</a:t>
              </a:r>
            </a:p>
          </p:txBody>
        </p:sp>
      </p:grpSp>
      <p:grpSp>
        <p:nvGrpSpPr>
          <p:cNvPr id="36" name="c2-card-1"/>
          <p:cNvGrpSpPr/>
          <p:nvPr/>
        </p:nvGrpSpPr>
        <p:grpSpPr>
          <a:xfrm>
            <a:off x="6032182" y="1967865"/>
            <a:ext cx="5626418" cy="2390775"/>
            <a:chOff x="6032182" y="1967865"/>
            <a:chExt cx="5626418" cy="2390775"/>
          </a:xfrm>
        </p:grpSpPr>
        <p:sp>
          <p:nvSpPr>
            <p:cNvPr id="16" name="Rectangle 16"/>
            <p:cNvSpPr/>
            <p:nvPr/>
          </p:nvSpPr>
          <p:spPr>
            <a:xfrm>
              <a:off x="6032182" y="1967865"/>
              <a:ext cx="5626418" cy="2390775"/>
            </a:xfrm>
            <a:prstGeom prst="roundRect">
              <a:avLst>
                <a:gd name="adj" fmla="val 557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6041708" y="2101215"/>
              <a:ext cx="47625" cy="212407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6279832" y="217741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66091" y="221313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小例子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022783" y="2212658"/>
              <a:ext cx="410735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n=5, p=(20,15,10,5,1), d=(2,2,1,3,3)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6279832" y="2560320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41682" y="260261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580823" y="257365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作业1(d=2) → 占用空位2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6279832" y="2895600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41682" y="293789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580823" y="2908935"/>
              <a:ext cx="33571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作业2(d=2) → 空位2已占，占用空位1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279832" y="3230880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41682" y="327317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580823" y="3244215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作业3(d=1) → 空位1也已占，无空位，舍弃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279832" y="3566160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41682" y="360845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580823" y="357949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作业4(d=3) → 占用空位3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279832" y="3901440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41682" y="394373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580823" y="3914775"/>
              <a:ext cx="30643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作业5(d=3) → 空位1~3全占，舍弃</a:t>
              </a:r>
            </a:p>
          </p:txBody>
        </p:sp>
      </p:grpSp>
      <p:grpSp>
        <p:nvGrpSpPr>
          <p:cNvPr id="42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7" name="Rectangle 37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1040130" y="5991225"/>
              <a:ext cx="5659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目标：去掉内层while循环，把复杂度从O(n²)降到接近O(n)。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87933" cy="909257"/>
            <a:chOff x="520446" y="342900"/>
            <a:chExt cx="488793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带有期限的作业调度问题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8793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更快算法：FJS 伪代码与复杂度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951220" cy="3748088"/>
            <a:chOff x="533400" y="1524000"/>
            <a:chExt cx="5951220" cy="374808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3748088"/>
            </a:xfrm>
            <a:prstGeom prst="roundRect">
              <a:avLst>
                <a:gd name="adj" fmla="val 254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800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算法5.5 FJS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2201926" cy="32632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FJS(D, n, b, J, k)</a:t>
              </a:r>
              <a:br/>
              <a:r>
                <a:rPr lang="en-US" sz="112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b = min(n, max(dj))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for i &lt;- 0 to b do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F(i) &lt;- i; P(i) &lt;- -1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k &lt;- 0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for i &lt;- 1 to n do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j &lt;- FIND(min(n, D(i)))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F(j) &lt;&gt; 0 then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k &lt;- k+1; J(k) &lt;- i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l &lt;- FIND(F(j)-1)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call UNION(l, j)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F(j) &lt;- F(l)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endif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FJS</a:t>
              </a:r>
            </a:p>
          </p:txBody>
        </p:sp>
      </p:grpSp>
      <p:grpSp>
        <p:nvGrpSpPr>
          <p:cNvPr id="27" name="c2-table-1"/>
          <p:cNvGrpSpPr/>
          <p:nvPr/>
        </p:nvGrpSpPr>
        <p:grpSpPr>
          <a:xfrm>
            <a:off x="6789420" y="1524000"/>
            <a:ext cx="4869180" cy="1346835"/>
            <a:chOff x="6789420" y="1524000"/>
            <a:chExt cx="4869180" cy="1346835"/>
          </a:xfrm>
        </p:grpSpPr>
        <p:sp>
          <p:nvSpPr>
            <p:cNvPr id="11" name="Rectangle 11"/>
            <p:cNvSpPr/>
            <p:nvPr/>
          </p:nvSpPr>
          <p:spPr>
            <a:xfrm>
              <a:off x="6789420" y="1524000"/>
              <a:ext cx="4869180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31928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算法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945296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核心操作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585069" y="165973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时间复杂度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897243" y="2108359"/>
              <a:ext cx="9448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JS(插入法)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314563" y="2108359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顺序移动数组元素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493883" y="2108359"/>
              <a:ext cx="5356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O(n²)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789420" y="2416492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789420" y="2421255"/>
              <a:ext cx="486918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897243" y="2556986"/>
              <a:ext cx="10499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FJS(并查集)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14563" y="2556986"/>
              <a:ext cx="18308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带路径压缩的查找/合并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395585" y="2430780"/>
              <a:ext cx="1253490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0493883" y="2556986"/>
              <a:ext cx="7828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接近O(n)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789420" y="1524000"/>
              <a:ext cx="4869180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8201978" y="15240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10381298" y="15240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4" name="c2-callout-2"/>
          <p:cNvGrpSpPr/>
          <p:nvPr/>
        </p:nvGrpSpPr>
        <p:grpSpPr>
          <a:xfrm>
            <a:off x="6789420" y="3061335"/>
            <a:ext cx="4869180" cy="1059180"/>
            <a:chOff x="6789420" y="3061335"/>
            <a:chExt cx="4869180" cy="1059180"/>
          </a:xfrm>
        </p:grpSpPr>
        <p:sp>
          <p:nvSpPr>
            <p:cNvPr id="28" name="Rectangle 28"/>
            <p:cNvSpPr/>
            <p:nvPr/>
          </p:nvSpPr>
          <p:spPr>
            <a:xfrm>
              <a:off x="6789420" y="3061335"/>
              <a:ext cx="4869180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6994208" y="3490913"/>
              <a:ext cx="200026" cy="200026"/>
              <a:chOff x="6994208" y="3490913"/>
              <a:chExt cx="200026" cy="200026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6994208" y="349091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7094220" y="355758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7083108" y="359092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7296150" y="3209925"/>
              <a:ext cx="38823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加权合并+路径压缩后总操作数约为O(n·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α(n))，α是增长极慢的反阿克曼函数，可近似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看作线性。</a:t>
              </a:r>
            </a:p>
          </p:txBody>
        </p:sp>
      </p:grpSp>
      <p:grpSp>
        <p:nvGrpSpPr>
          <p:cNvPr id="4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5" name="Rectangle 3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1040130" y="5991225"/>
              <a:ext cx="563765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FJS没有改变贪心策略，只是用并查集加速了"找空位"这一步。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053452" cy="909257"/>
            <a:chOff x="520446" y="342900"/>
            <a:chExt cx="40534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带有期限的作业调度问题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0534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完整实例：n=7的贪心调度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8991925" cy="308039"/>
            <a:chOff x="525399" y="1550194"/>
            <a:chExt cx="8991925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899192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(p)=(35,30,25,20,15,10,5)，(d)=(4,2,4,3,4,8,3)，按效益从高到低依次尝试分配空位。</a:t>
              </a:r>
            </a:p>
          </p:txBody>
        </p:sp>
      </p:grpSp>
      <p:grpSp>
        <p:nvGrpSpPr>
          <p:cNvPr id="62" name="c1-table-1"/>
          <p:cNvGrpSpPr/>
          <p:nvPr/>
        </p:nvGrpSpPr>
        <p:grpSpPr>
          <a:xfrm>
            <a:off x="533400" y="1967865"/>
            <a:ext cx="11125200" cy="3590925"/>
            <a:chOff x="533400" y="1967865"/>
            <a:chExt cx="11125200" cy="359092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11125200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474387" y="2102644"/>
              <a:ext cx="9012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作业(效益)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443692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期限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05103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尝试分配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442537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41223" y="2551271"/>
              <a:ext cx="11084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作业1 (p=35)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423476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036183" y="2551271"/>
              <a:ext cx="7969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空位4空闲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593580" y="2426018"/>
              <a:ext cx="2055495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91878" y="255127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8603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286512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1223" y="3000851"/>
              <a:ext cx="11084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作业2 (p=30)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423476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036183" y="3000851"/>
              <a:ext cx="7969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空位2空闲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9593580" y="2874645"/>
              <a:ext cx="2055495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91878" y="300085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加入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330898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1223" y="3449479"/>
              <a:ext cx="11084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作业3 (p=25)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423476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036183" y="3449479"/>
              <a:ext cx="17533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空位4已占，退到空位3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593580" y="3323272"/>
              <a:ext cx="2055495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691878" y="344947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加入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375761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3762375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1223" y="3898106"/>
              <a:ext cx="11084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作业4 (p=20)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423476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036183" y="3898106"/>
              <a:ext cx="20204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空位3、2已占，退到空位1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593580" y="3771900"/>
              <a:ext cx="2055495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691878" y="389810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加入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42071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1223" y="4346734"/>
              <a:ext cx="11084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作业5 (p=15)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423476" y="434673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036183" y="4346734"/>
              <a:ext cx="15982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空位4、3、2、1全占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593580" y="4221480"/>
              <a:ext cx="2055495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691878" y="434673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舍弃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33400" y="465582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533400" y="4660582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41223" y="4795361"/>
              <a:ext cx="11084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作业6 (p=10)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3423476" y="4795361"/>
              <a:ext cx="9089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8(封顶为7)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036183" y="4795361"/>
              <a:ext cx="7969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空位7空闲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9593580" y="4670108"/>
              <a:ext cx="2055495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9691878" y="479536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加入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33400" y="510444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41223" y="5244941"/>
              <a:ext cx="100892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作业7 (p=5)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3423476" y="524494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036183" y="5244941"/>
              <a:ext cx="13311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空位3、2、1全占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593580" y="5118735"/>
              <a:ext cx="2055495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9691878" y="524494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舍弃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33400" y="1967865"/>
              <a:ext cx="11125200" cy="35909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3310890" y="1967865"/>
              <a:ext cx="9525" cy="35909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5923598" y="1967865"/>
              <a:ext cx="9525" cy="35909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9579292" y="1967865"/>
              <a:ext cx="9525" cy="35909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8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63" name="Rectangle 63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66" name="Group 66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7" name="TextBox 67"/>
            <p:cNvSpPr txBox="1"/>
            <p:nvPr/>
          </p:nvSpPr>
          <p:spPr>
            <a:xfrm>
              <a:off x="1040130" y="5991225"/>
              <a:ext cx="99646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最优解 J={1,2,3,4,6}，按空位从小到大处理顺序为4,2,3,1,6，总效益=35+30+25+20+10=120（已核算）。</a:t>
              </a:r>
            </a:p>
          </p:txBody>
        </p:sp>
      </p:grpSp>
      <p:grpSp>
        <p:nvGrpSpPr>
          <p:cNvPr id="7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9" name="TextBox 6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4" name="section-title"/>
          <p:cNvGrpSpPr/>
          <p:nvPr/>
        </p:nvGrpSpPr>
        <p:grpSpPr>
          <a:xfrm>
            <a:off x="667512" y="1835468"/>
            <a:ext cx="4631082" cy="2643187"/>
            <a:chOff x="667512" y="1835468"/>
            <a:chExt cx="4631082" cy="264318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最小生成树问题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62117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Kruskal算法——先挑最便宜的边，不成环就敢加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从边入手，而不是从点入手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1107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生成树恰好有|V|-1条边</a:t>
              </a:r>
            </a:p>
          </p:txBody>
        </p:sp>
      </p:grpSp>
      <p:grpSp>
        <p:nvGrpSpPr>
          <p:cNvPr id="1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5" name="TextBox 15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285619" cy="909257"/>
            <a:chOff x="520446" y="342900"/>
            <a:chExt cx="228561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最小生成树问题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问题定义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222104" cy="308039"/>
            <a:chOff x="525399" y="1550194"/>
            <a:chExt cx="7222104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22210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给定带权连通无向图G=(V,E)，生成树T=(V,E')的权是E'中所有边权之和。</a:t>
              </a:r>
            </a:p>
          </p:txBody>
        </p:sp>
      </p:grpSp>
      <p:grpSp>
        <p:nvGrpSpPr>
          <p:cNvPr id="17" name="c1-card-1"/>
          <p:cNvGrpSpPr/>
          <p:nvPr/>
        </p:nvGrpSpPr>
        <p:grpSpPr>
          <a:xfrm>
            <a:off x="533400" y="1967865"/>
            <a:ext cx="5951220" cy="3147060"/>
            <a:chOff x="533400" y="1967865"/>
            <a:chExt cx="5951220" cy="3147060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951220" cy="3147060"/>
            </a:xfrm>
            <a:prstGeom prst="roundRect">
              <a:avLst>
                <a:gd name="adj" fmla="val 423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101215"/>
              <a:ext cx="47625" cy="288036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81050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71258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2078" y="2212658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最小生成树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3430" y="2573655"/>
              <a:ext cx="45750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G的一棵生成树是包含全部顶点、无环的连通子图。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73430" y="2908935"/>
              <a:ext cx="47769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G的最小生成树是所有生成树中权值和最小的那一棵。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73430" y="3244215"/>
              <a:ext cx="540524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|V|个顶点的生成树恰好有|V|-1条边——这是算法结束的判据。</a:t>
              </a:r>
            </a:p>
          </p:txBody>
        </p:sp>
      </p:grpSp>
      <p:grpSp>
        <p:nvGrpSpPr>
          <p:cNvPr id="20" name="c2-image-1"/>
          <p:cNvGrpSpPr/>
          <p:nvPr/>
        </p:nvGrpSpPr>
        <p:grpSpPr>
          <a:xfrm>
            <a:off x="6789420" y="1967865"/>
            <a:ext cx="4869180" cy="3172302"/>
            <a:chOff x="6789420" y="1967865"/>
            <a:chExt cx="4869180" cy="3172302"/>
          </a:xfrm>
        </p:grpSpPr>
        <p:pic>
          <p:nvPicPr>
            <p:cNvPr id="18" name="Image 18"/>
            <p:cNvPicPr>
              <a:picLocks noChangeAspect="1"/>
            </p:cNvPicPr>
            <p:nvPr/>
          </p:nvPicPr>
          <p:blipFill>
            <a:blip r:embed="rId2"/>
            <a:srcRect l="0" t="10876" r="0" b="10877"/>
            <a:stretch>
              <a:fillRect/>
            </a:stretch>
          </p:blipFill>
          <p:spPr>
            <a:xfrm>
              <a:off x="6789420" y="1967865"/>
              <a:ext cx="4869180" cy="2857500"/>
            </a:xfrm>
            <a:prstGeom prst="roundRect">
              <a:avLst>
                <a:gd name="adj" fmla="val 4666"/>
              </a:avLst>
            </a:prstGeom>
          </p:spPr>
        </p:pic>
        <p:sp>
          <p:nvSpPr>
            <p:cNvPr id="19" name="TextBox 19"/>
            <p:cNvSpPr txBox="1"/>
            <p:nvPr/>
          </p:nvSpPr>
          <p:spPr>
            <a:xfrm>
              <a:off x="7710551" y="4920139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先修最便宜的桥，只要不和已修的桥围成环。</a:t>
              </a:r>
            </a:p>
          </p:txBody>
        </p:sp>
      </p:grpSp>
      <p:grpSp>
        <p:nvGrpSpPr>
          <p:cNvPr id="27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21" name="Rectangle 21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040130" y="5991225"/>
              <a:ext cx="66991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把顶点看成岛屿，把边看成桥——修最少的桥把所有岛连通，还要花费最少。</a:t>
              </a:r>
            </a:p>
          </p:txBody>
        </p:sp>
      </p:grpSp>
      <p:grpSp>
        <p:nvGrpSpPr>
          <p:cNvPr id="3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8" name="TextBox 28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10094" cy="909257"/>
            <a:chOff x="520446" y="342900"/>
            <a:chExt cx="51100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最小生成树问题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100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Kruskal算法：贪心策略与伪代码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951220" cy="2733675"/>
            <a:chOff x="533400" y="1524000"/>
            <a:chExt cx="5951220" cy="27336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2733675"/>
            </a:xfrm>
            <a:prstGeom prst="roundRect">
              <a:avLst>
                <a:gd name="adj" fmla="val 348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0487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算法5.6 Kruskal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2358390" cy="22488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input: 加权连通无向图 G=(V,E)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output: G的一棵最小生成树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T &lt;- 空集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存储选中的边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while T所含边数 &lt; n-1 do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从E中选一条最小权值的边(v,w)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从E中删除该边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if 加入T不会形成回路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  then 将(v,w)加入T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  else 放弃(v,w)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endif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</a:p>
          </p:txBody>
        </p:sp>
      </p:grpSp>
      <p:grpSp>
        <p:nvGrpSpPr>
          <p:cNvPr id="24" name="c2-steps-1"/>
          <p:cNvGrpSpPr/>
          <p:nvPr/>
        </p:nvGrpSpPr>
        <p:grpSpPr>
          <a:xfrm>
            <a:off x="6789420" y="1533525"/>
            <a:ext cx="2938104" cy="1878615"/>
            <a:chOff x="6789420" y="1533525"/>
            <a:chExt cx="2938104" cy="1878615"/>
          </a:xfrm>
        </p:grpSpPr>
        <p:sp>
          <p:nvSpPr>
            <p:cNvPr id="11" name="Rectangle 11"/>
            <p:cNvSpPr/>
            <p:nvPr/>
          </p:nvSpPr>
          <p:spPr>
            <a:xfrm>
              <a:off x="6922770" y="1676400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6789420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88304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6789420" y="218408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88304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6789420" y="283464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88304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00900" y="15678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排序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202043" y="1861661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把所有边按权值从小到大排序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200900" y="2218372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逐条判断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202043" y="2512219"/>
              <a:ext cx="25254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依次考察每条边，不成环就加入T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200900" y="286893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202043" y="3162776"/>
              <a:ext cx="17759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T中凑满n-1条边就停止</a:t>
              </a:r>
            </a:p>
          </p:txBody>
        </p:sp>
      </p:grpSp>
      <p:grpSp>
        <p:nvGrpSpPr>
          <p:cNvPr id="3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25" name="Rectangle 2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1040130" y="5991225"/>
              <a:ext cx="646623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复杂度O(e log e)，e是边数（排序主导；连通图边数最多n(n-1)/2）。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1" name="TextBox 31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最小生成树问题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实例：五个顶点，逐条边判断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408517" cy="308039"/>
            <a:chOff x="525399" y="1550194"/>
            <a:chExt cx="7408517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40851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顶点A、B、C、D、E；边按权值从小到大依次判断，凑够4条边(=5-1)就结束。</a:t>
              </a:r>
            </a:p>
          </p:txBody>
        </p:sp>
      </p:grpSp>
      <p:grpSp>
        <p:nvGrpSpPr>
          <p:cNvPr id="50" name="c1-table-1"/>
          <p:cNvGrpSpPr/>
          <p:nvPr/>
        </p:nvGrpSpPr>
        <p:grpSpPr>
          <a:xfrm>
            <a:off x="527685" y="1967865"/>
            <a:ext cx="11130915" cy="2988469"/>
            <a:chOff x="527685" y="1967865"/>
            <a:chExt cx="11130915" cy="2988469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11125200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602816" y="2102644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08387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权值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59258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是否成环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702444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决定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41223" y="2551271"/>
              <a:ext cx="22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64370" y="255127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25630" y="255127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113395" y="2426018"/>
              <a:ext cx="3535680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211693" y="255127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8603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286512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1223" y="3000851"/>
              <a:ext cx="22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CD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964370" y="300085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425630" y="300085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113395" y="2874645"/>
              <a:ext cx="3535680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211693" y="300085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加入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330898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1223" y="3449479"/>
              <a:ext cx="22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BC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964370" y="3449479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25630" y="3449479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113395" y="3323272"/>
              <a:ext cx="3535680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211693" y="344947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加入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375761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3762375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1223" y="3898106"/>
              <a:ext cx="22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BD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964370" y="3898106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75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425630" y="3898106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13395" y="3771900"/>
              <a:ext cx="3535680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211693" y="389810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跳过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42071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1223" y="4346734"/>
              <a:ext cx="22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AD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964370" y="4346734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80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425630" y="4346734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8113395" y="4221480"/>
              <a:ext cx="3535680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211693" y="4346734"/>
              <a:ext cx="15034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加入(已4条，结束)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33400" y="1967865"/>
              <a:ext cx="11125200" cy="269271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2851785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5313045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8099108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27685" y="4736306"/>
              <a:ext cx="5163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剩余的ED(90)、BE(200)、AC(300)权值更大，且已达到4条边，无需再看。</a:t>
              </a:r>
            </a:p>
          </p:txBody>
        </p:sp>
      </p:grpSp>
      <p:grpSp>
        <p:nvGrpSpPr>
          <p:cNvPr id="57" name="c1-callout-2"/>
          <p:cNvGrpSpPr/>
          <p:nvPr/>
        </p:nvGrpSpPr>
        <p:grpSpPr>
          <a:xfrm>
            <a:off x="533400" y="5102542"/>
            <a:ext cx="11125200" cy="533400"/>
            <a:chOff x="533400" y="5102542"/>
            <a:chExt cx="11125200" cy="533400"/>
          </a:xfrm>
        </p:grpSpPr>
        <p:sp>
          <p:nvSpPr>
            <p:cNvPr id="51" name="Rectangle 51"/>
            <p:cNvSpPr/>
            <p:nvPr/>
          </p:nvSpPr>
          <p:spPr>
            <a:xfrm>
              <a:off x="533400" y="5102542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738188" y="5269230"/>
              <a:ext cx="200026" cy="200026"/>
              <a:chOff x="738188" y="5269230"/>
              <a:chExt cx="200026" cy="200026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738188" y="526923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838200" y="533590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27088" y="536924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1040130" y="5264468"/>
              <a:ext cx="976617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生成树只需要|V|-1=4条边，凑够就立刻停止——这也是为什么权值最大的三条边(ED、BE、AC)根本不用检查。</a:t>
              </a:r>
            </a:p>
          </p:txBody>
        </p:sp>
      </p:grpSp>
      <p:grpSp>
        <p:nvGrpSpPr>
          <p:cNvPr id="63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8" name="Rectangle 58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1040130" y="5991225"/>
              <a:ext cx="64640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最小生成树={AE,CD,BC,AD}，总权值=50+60+70+80=260（已核算）。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285619" cy="909257"/>
            <a:chOff x="520446" y="342900"/>
            <a:chExt cx="228561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最小生成树问题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贪心策略分析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kv-1"/>
          <p:cNvGrpSpPr/>
          <p:nvPr/>
        </p:nvGrpSpPr>
        <p:grpSpPr>
          <a:xfrm>
            <a:off x="525780" y="1548765"/>
            <a:ext cx="5417820" cy="1613535"/>
            <a:chOff x="525780" y="1548765"/>
            <a:chExt cx="5417820" cy="161353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约束条件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566862" y="1548765"/>
              <a:ext cx="3409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T中|V|=n，|E'|=n-1，E'⊆E，且T无环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186880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5780" y="198882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目标函数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66862" y="198882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权值和最小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30886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5780" y="24288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量度标准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566862" y="242887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权值从小到大排列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274891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25780" y="286893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算法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566862" y="2868930"/>
              <a:ext cx="31932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Kruskal——按边权贪心，并查集判环</a:t>
              </a:r>
            </a:p>
          </p:txBody>
        </p:sp>
      </p:grpSp>
      <p:grpSp>
        <p:nvGrpSpPr>
          <p:cNvPr id="25" name="c1-callout-2"/>
          <p:cNvGrpSpPr/>
          <p:nvPr/>
        </p:nvGrpSpPr>
        <p:grpSpPr>
          <a:xfrm>
            <a:off x="533400" y="3293745"/>
            <a:ext cx="5410200" cy="782955"/>
            <a:chOff x="533400" y="3293745"/>
            <a:chExt cx="5410200" cy="782955"/>
          </a:xfrm>
        </p:grpSpPr>
        <p:sp>
          <p:nvSpPr>
            <p:cNvPr id="19" name="Rectangle 19"/>
            <p:cNvSpPr/>
            <p:nvPr/>
          </p:nvSpPr>
          <p:spPr>
            <a:xfrm>
              <a:off x="533400" y="3293745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738188" y="3585210"/>
              <a:ext cx="200026" cy="200025"/>
              <a:chOff x="738188" y="3585210"/>
              <a:chExt cx="200026" cy="200025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358521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777926" y="362966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12642" y="374078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040130" y="3442335"/>
              <a:ext cx="44919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复杂度O(e log e)，e是边数；排序占主导，判环用并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查集可以做到接近常数时间。</a:t>
              </a:r>
            </a:p>
          </p:txBody>
        </p:sp>
      </p:grpSp>
      <p:grpSp>
        <p:nvGrpSpPr>
          <p:cNvPr id="32" name="c2-callout-1"/>
          <p:cNvGrpSpPr/>
          <p:nvPr/>
        </p:nvGrpSpPr>
        <p:grpSpPr>
          <a:xfrm>
            <a:off x="6248400" y="1524000"/>
            <a:ext cx="5410200" cy="782955"/>
            <a:chOff x="6248400" y="1524000"/>
            <a:chExt cx="5410200" cy="782955"/>
          </a:xfrm>
        </p:grpSpPr>
        <p:sp>
          <p:nvSpPr>
            <p:cNvPr id="26" name="Rectangle 26"/>
            <p:cNvSpPr/>
            <p:nvPr/>
          </p:nvSpPr>
          <p:spPr>
            <a:xfrm>
              <a:off x="6248400" y="1524000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6441129" y="1811773"/>
              <a:ext cx="224134" cy="192560"/>
              <a:chOff x="6441129" y="1811773"/>
              <a:chExt cx="224134" cy="19256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6553200" y="188214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6441129" y="181177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6553200" y="195992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6755130" y="1672590"/>
              <a:ext cx="45205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量度标准直接照搬目标函数——但这是不是"最优量度标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准"，还没有证明，需要单独证。</a:t>
              </a:r>
            </a:p>
          </p:txBody>
        </p:sp>
      </p:grpSp>
      <p:grpSp>
        <p:nvGrpSpPr>
          <p:cNvPr id="39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3" name="Rectangle 33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040130" y="5991225"/>
              <a:ext cx="62750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下一页用交换论证证明：按权值贪心选边，得到的一定是最小生成树。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最小生成树问题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证明思路：交换论证（反证法）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114321" cy="308039"/>
            <a:chOff x="525399" y="1550194"/>
            <a:chExt cx="7114321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11432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设T是Kruskal算法生成的树，T'是真正的最小生成树，证明二者权值相同。</a:t>
              </a:r>
            </a:p>
          </p:txBody>
        </p:sp>
      </p:grpSp>
      <p:grpSp>
        <p:nvGrpSpPr>
          <p:cNvPr id="44" name="c1-steps-1"/>
          <p:cNvGrpSpPr/>
          <p:nvPr/>
        </p:nvGrpSpPr>
        <p:grpSpPr>
          <a:xfrm>
            <a:off x="533400" y="1967865"/>
            <a:ext cx="11125200" cy="1907858"/>
            <a:chOff x="533400" y="1967865"/>
            <a:chExt cx="11125200" cy="1907858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1616392" cy="1907858"/>
            </a:xfrm>
            <a:prstGeom prst="roundRect">
              <a:avLst>
                <a:gd name="adj" fmla="val 707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666750" y="210121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56883" y="217170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59130" y="2506980"/>
              <a:ext cx="10561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1.反证假设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60273" y="2818924"/>
              <a:ext cx="1232154" cy="952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若E(T)≠E(T')，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取e为属于T但不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属于T'中权值最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小的边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2225992" y="2835592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2435542" y="1967865"/>
              <a:ext cx="1616392" cy="1907858"/>
            </a:xfrm>
            <a:prstGeom prst="roundRect">
              <a:avLst>
                <a:gd name="adj" fmla="val 707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2568892" y="210121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659026" y="217170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561272" y="2506980"/>
              <a:ext cx="6523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2.找环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562416" y="2818924"/>
              <a:ext cx="1289050" cy="952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把e加入T'必然形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成一个环，环上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至少有一条边ej不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在T中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4127182" y="2835592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4336732" y="1967865"/>
              <a:ext cx="1616392" cy="1907858"/>
            </a:xfrm>
            <a:prstGeom prst="roundRect">
              <a:avLst>
                <a:gd name="adj" fmla="val 707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4470082" y="210121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560216" y="217170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462462" y="2506980"/>
              <a:ext cx="10561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3.比较权值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63606" y="2818924"/>
              <a:ext cx="1085850" cy="952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若ej比e便宜，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Kruskal会先选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ej，矛盾，故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c(ej)≥c(e)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6029325" y="2835592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38875" y="1967865"/>
              <a:ext cx="1616392" cy="1907858"/>
            </a:xfrm>
            <a:prstGeom prst="roundRect">
              <a:avLst>
                <a:gd name="adj" fmla="val 707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6372225" y="210121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62358" y="217170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64605" y="2506980"/>
              <a:ext cx="6523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4.替换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65748" y="2818924"/>
              <a:ext cx="1256538" cy="952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用e替换T'中的ej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得到新树T''，权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值不比T'大，仍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是最小生成树</a:t>
              </a:r>
            </a:p>
          </p:txBody>
        </p:sp>
        <p:sp>
          <p:nvSpPr>
            <p:cNvPr id="32" name="Freeform 32"/>
            <p:cNvSpPr/>
            <p:nvPr/>
          </p:nvSpPr>
          <p:spPr>
            <a:xfrm>
              <a:off x="7931468" y="2835592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8141018" y="1967865"/>
              <a:ext cx="1616392" cy="1907858"/>
            </a:xfrm>
            <a:prstGeom prst="roundRect">
              <a:avLst>
                <a:gd name="adj" fmla="val 707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8274368" y="210121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364501" y="217170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66748" y="2506980"/>
              <a:ext cx="10561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5.归纳收尾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267891" y="2818924"/>
              <a:ext cx="1240282" cy="717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重复替换，T'逐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步变成T且权值没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有增加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9832658" y="2835592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10042208" y="1967865"/>
              <a:ext cx="1616392" cy="1907858"/>
            </a:xfrm>
            <a:prstGeom prst="roundRect">
              <a:avLst>
                <a:gd name="adj" fmla="val 707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Ellipse 40"/>
            <p:cNvSpPr/>
            <p:nvPr/>
          </p:nvSpPr>
          <p:spPr>
            <a:xfrm>
              <a:off x="10175558" y="210121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0265691" y="217170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167938" y="2506980"/>
              <a:ext cx="6523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6.结论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169080" y="2818924"/>
              <a:ext cx="1256538" cy="717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因此T的权值等于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T'，T也是最小生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成树，证毕</a:t>
              </a:r>
            </a:p>
          </p:txBody>
        </p:sp>
      </p:grpSp>
      <p:grpSp>
        <p:nvGrpSpPr>
          <p:cNvPr id="5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5" name="Rectangle 4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0130" y="5991225"/>
              <a:ext cx="76885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和背包、作业调度的证明是同一个套路：找差异、做替换、证明不变差、归纳到相同。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4" name="section-title"/>
          <p:cNvGrpSpPr/>
          <p:nvPr/>
        </p:nvGrpSpPr>
        <p:grpSpPr>
          <a:xfrm>
            <a:off x="667512" y="1835468"/>
            <a:ext cx="4316151" cy="2643187"/>
            <a:chOff x="667512" y="1835468"/>
            <a:chExt cx="4316151" cy="264318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316151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货郎担问题（TSP）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24601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贪心第一次不再保证最优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只保证这一步最短，不保证全局最短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结果会随出发点变化</a:t>
              </a:r>
            </a:p>
          </p:txBody>
        </p:sp>
      </p:grpSp>
      <p:grpSp>
        <p:nvGrpSpPr>
          <p:cNvPr id="1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5" name="TextBox 15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531364" cy="909257"/>
            <a:chOff x="520446" y="342900"/>
            <a:chExt cx="253136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1841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5929" y="407194"/>
              <a:ext cx="2413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货郎担问题（TSP）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问题描述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951220" cy="2005965"/>
            <a:chOff x="533400" y="1524000"/>
            <a:chExt cx="5951220" cy="20059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2005965"/>
            </a:xfrm>
            <a:prstGeom prst="roundRect">
              <a:avLst>
                <a:gd name="adj" fmla="val 664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3926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46174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旅行商问题 TSP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457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从某城市出发，经过其余城市各一次后回到起点，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3430" y="2465070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使总路程最短。属于组合优化中的经典难题。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3430" y="2800350"/>
              <a:ext cx="51111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TSP已被证明是NP难问题，目前没有已知的多项式时间精确算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6789420" y="1524000"/>
            <a:ext cx="4869180" cy="2005965"/>
            <a:chOff x="6789420" y="1524000"/>
            <a:chExt cx="4869180" cy="2005965"/>
          </a:xfrm>
        </p:grpSpPr>
        <p:sp>
          <p:nvSpPr>
            <p:cNvPr id="16" name="Rectangle 16"/>
            <p:cNvSpPr/>
            <p:nvPr/>
          </p:nvSpPr>
          <p:spPr>
            <a:xfrm>
              <a:off x="6789420" y="1524000"/>
              <a:ext cx="4869180" cy="2005965"/>
            </a:xfrm>
            <a:prstGeom prst="roundRect">
              <a:avLst>
                <a:gd name="adj" fmla="val 664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6798945" y="1657350"/>
              <a:ext cx="47625" cy="173926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03707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12727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注意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638098" y="1768792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这里贪心不能证明最优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029450" y="2129790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前几节的贪心解都能用交换论证证明是最优解；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29450" y="2465070"/>
              <a:ext cx="44058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TSP的贪心结果只能叫</a:t>
              </a: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近似解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，没有这样的证明。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29450" y="2800350"/>
              <a:ext cx="4015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正因为精确求解代价太高，近似算法才有实际价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值。</a:t>
              </a:r>
            </a:p>
          </p:txBody>
        </p:sp>
      </p:grpSp>
      <p:grpSp>
        <p:nvGrpSpPr>
          <p:cNvPr id="31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25" name="Rectangle 2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040130" y="5991225"/>
              <a:ext cx="69010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目标函数同样是"最小化"，但贪心在这里只是一种近似算法，不是精确算法。</a:t>
              </a:r>
            </a:p>
          </p:txBody>
        </p:sp>
      </p:grpSp>
      <p:grpSp>
        <p:nvGrpSpPr>
          <p:cNvPr id="3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2" name="TextBox 32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1841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5929" y="407194"/>
              <a:ext cx="2413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货郎担问题（TSP）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贪心策略：最近邻算法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460488" cy="308039"/>
            <a:chOff x="525399" y="1550194"/>
            <a:chExt cx="7460488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46048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从当前城市出发，每次走到没去过的最近城市，直到走完所有城市再回到起点。</a:t>
              </a:r>
            </a:p>
          </p:txBody>
        </p:sp>
      </p:grpSp>
      <p:grpSp>
        <p:nvGrpSpPr>
          <p:cNvPr id="22" name="c1-steps-1"/>
          <p:cNvGrpSpPr/>
          <p:nvPr/>
        </p:nvGrpSpPr>
        <p:grpSpPr>
          <a:xfrm>
            <a:off x="533400" y="1977390"/>
            <a:ext cx="3527222" cy="1878615"/>
            <a:chOff x="533400" y="1977390"/>
            <a:chExt cx="3527222" cy="1878615"/>
          </a:xfrm>
        </p:grpSpPr>
        <p:sp>
          <p:nvSpPr>
            <p:cNvPr id="9" name="Rectangle 9"/>
            <p:cNvSpPr/>
            <p:nvPr/>
          </p:nvSpPr>
          <p:spPr>
            <a:xfrm>
              <a:off x="666750" y="2120265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7739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512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62794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7017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27850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3523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201168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选起点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230457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任选一个城市出发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662238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找最近的未访问城市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2955131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反复选距离当前城市最近且没去过的城市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331279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收尾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3606641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所有城市都访问后，回到出发城市</a:t>
              </a:r>
            </a:p>
          </p:txBody>
        </p:sp>
      </p:grpSp>
      <p:grpSp>
        <p:nvGrpSpPr>
          <p:cNvPr id="73" name="c2-table-1"/>
          <p:cNvGrpSpPr/>
          <p:nvPr/>
        </p:nvGrpSpPr>
        <p:grpSpPr>
          <a:xfrm>
            <a:off x="5160645" y="1967865"/>
            <a:ext cx="6497955" cy="2988469"/>
            <a:chOff x="5160645" y="1967865"/>
            <a:chExt cx="6497955" cy="2988469"/>
          </a:xfrm>
        </p:grpSpPr>
        <p:sp>
          <p:nvSpPr>
            <p:cNvPr id="23" name="Rectangle 23"/>
            <p:cNvSpPr/>
            <p:nvPr/>
          </p:nvSpPr>
          <p:spPr>
            <a:xfrm>
              <a:off x="5166360" y="1967865"/>
              <a:ext cx="6492240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600979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城市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863680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917145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969657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023122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075635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274183" y="255127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501956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∞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554468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607933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660446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713910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166360" y="286035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166360" y="2865120"/>
              <a:ext cx="649224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274183" y="300085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501956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554468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∞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607933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660446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713910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166360" y="3308985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274183" y="344947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501956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554468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607933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∞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660446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713910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166360" y="375761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5166360" y="3762375"/>
              <a:ext cx="649224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274183" y="389810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501956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554468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607933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660446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∞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713910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5166360" y="420719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274183" y="434673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501956" y="434673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554468" y="434673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607933" y="434673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660446" y="434673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0713910" y="434673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∞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5166360" y="1967865"/>
              <a:ext cx="6492240" cy="269271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6389370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7441882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8495348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9547860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10601325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5160645" y="4736306"/>
              <a:ext cx="16021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5个城市间的距离矩阵。</a:t>
              </a:r>
            </a:p>
          </p:txBody>
        </p:sp>
      </p:grpSp>
      <p:grpSp>
        <p:nvGrpSpPr>
          <p:cNvPr id="79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74" name="Rectangle 74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77" name="Group 77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8" name="TextBox 78"/>
            <p:cNvSpPr txBox="1"/>
            <p:nvPr/>
          </p:nvSpPr>
          <p:spPr>
            <a:xfrm>
              <a:off x="1040130" y="5991225"/>
              <a:ext cx="51038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这是贪心，不是最优算法——它只保证"这一步"走得最短。</a:t>
              </a:r>
            </a:p>
          </p:txBody>
        </p:sp>
      </p:grpSp>
      <p:grpSp>
        <p:nvGrpSpPr>
          <p:cNvPr id="8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0" name="TextBox 80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1841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5929" y="407194"/>
              <a:ext cx="2413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货郎担问题（TSP）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实例：换个出发点，答案就不同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table-1"/>
          <p:cNvGrpSpPr/>
          <p:nvPr/>
        </p:nvGrpSpPr>
        <p:grpSpPr>
          <a:xfrm>
            <a:off x="533400" y="1524000"/>
            <a:ext cx="11125200" cy="1346835"/>
            <a:chOff x="533400" y="1524000"/>
            <a:chExt cx="11125200" cy="13468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952993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出发城市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825858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贪心路线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704870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总距离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108359"/>
              <a:ext cx="4570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城市1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181666" y="2108359"/>
              <a:ext cx="10554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1→4→3→5→2→1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8289608" y="1982152"/>
              <a:ext cx="3359468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387906" y="2108359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24164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533400" y="2421255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1223" y="2556986"/>
              <a:ext cx="4570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城市2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181666" y="2556986"/>
              <a:ext cx="10554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2→5→4→1→3→2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289608" y="2430780"/>
              <a:ext cx="3359468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387906" y="2556986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1524000"/>
              <a:ext cx="11125200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4069080" y="15240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8275320" y="15240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1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25" name="Rectangle 2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040130" y="5991225"/>
              <a:ext cx="791070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同一张图换一个出发点，贪心给出的答案完全不同——这说明它只是近似解，不是最优解。</a:t>
              </a:r>
            </a:p>
          </p:txBody>
        </p:sp>
      </p:grpSp>
      <p:grpSp>
        <p:nvGrpSpPr>
          <p:cNvPr id="3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2" name="TextBox 32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281540" cy="909257"/>
            <a:chOff x="520446" y="342900"/>
            <a:chExt cx="528154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1841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5929" y="407194"/>
              <a:ext cx="2413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货郎担问题（TSP）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28154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补充：穷举验证——真正最优解是13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173344" cy="308039"/>
            <a:chOff x="525399" y="1550194"/>
            <a:chExt cx="7173344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17334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5个城市只有12条不同回路，可以直接穷举比较（补充内容，已逐条核算）。</a:t>
              </a:r>
            </a:p>
          </p:txBody>
        </p:sp>
      </p:grpSp>
      <p:grpSp>
        <p:nvGrpSpPr>
          <p:cNvPr id="32" name="c1-table-1"/>
          <p:cNvGrpSpPr/>
          <p:nvPr/>
        </p:nvGrpSpPr>
        <p:grpSpPr>
          <a:xfrm>
            <a:off x="527685" y="1967865"/>
            <a:ext cx="11130915" cy="2539842"/>
            <a:chOff x="527685" y="1967865"/>
            <a:chExt cx="11130915" cy="2539842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11125200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815042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路线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91485" y="210264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总距离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1223" y="2551271"/>
              <a:ext cx="11075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1→2→5→4→3→1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464742" y="2426018"/>
              <a:ext cx="4184332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563041" y="255127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28603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533400" y="286512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1223" y="3000851"/>
              <a:ext cx="27660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1→4→3→5→2→1 (贪心·从城市1出发)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464742" y="2874645"/>
              <a:ext cx="4184332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563041" y="300085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330898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1223" y="3449479"/>
              <a:ext cx="31107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1→3→2→5→4→1 (贪心·从城市2出发同解)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64742" y="3323272"/>
              <a:ext cx="4184332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563041" y="3449479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75761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33400" y="3762375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1223" y="3898106"/>
              <a:ext cx="25670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1→3→2→4→5→1 (较差的一种排列)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464742" y="3771900"/>
              <a:ext cx="4184332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563041" y="3898106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1967865"/>
              <a:ext cx="11125200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7450455" y="196786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27685" y="4287679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穷举全部12条回路后的最短路线是1→2→5→4→3→1，总距离13。</a:t>
              </a:r>
            </a:p>
          </p:txBody>
        </p:sp>
      </p:grpSp>
      <p:grpSp>
        <p:nvGrpSpPr>
          <p:cNvPr id="38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3" name="Rectangle 33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040130" y="5991225"/>
              <a:ext cx="861745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贪心最近邻(14或17)都比真正最优(13)差——这次差距不大，但没有任何证明保证它每次都不大。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1841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5929" y="407194"/>
              <a:ext cx="2413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货郎担问题（TSP）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自测（一）：一般方法与背包问题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365885"/>
            <a:chOff x="533400" y="1524000"/>
            <a:chExt cx="5410200" cy="13658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365885"/>
            </a:xfrm>
            <a:prstGeom prst="roundRect">
              <a:avLst>
                <a:gd name="adj" fmla="val 976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30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42870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贪心法中"量度标准"选错了，会导致什么问题？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2446020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解可能不再是最优解，连近似效果都可能不好。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080385"/>
            <a:ext cx="5410200" cy="2223135"/>
            <a:chOff x="533400" y="3080385"/>
            <a:chExt cx="5410200" cy="2223135"/>
          </a:xfrm>
        </p:grpSpPr>
        <p:sp>
          <p:nvSpPr>
            <p:cNvPr id="13" name="Rectangle 13"/>
            <p:cNvSpPr/>
            <p:nvPr/>
          </p:nvSpPr>
          <p:spPr>
            <a:xfrm>
              <a:off x="533400" y="3080385"/>
              <a:ext cx="5410200" cy="2223135"/>
            </a:xfrm>
            <a:prstGeom prst="roundRect">
              <a:avLst>
                <a:gd name="adj" fmla="val 599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42950" y="32899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30437" y="33256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5330" y="3667125"/>
              <a:ext cx="35959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0-1背包问题能不能用同样的贪心算法？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5330" y="4002405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不能，物品不可拆分，剩余容量可能刚好装不下更优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6248400" y="1524000"/>
            <a:ext cx="5410200" cy="1651635"/>
            <a:chOff x="6248400" y="1524000"/>
            <a:chExt cx="5410200" cy="1651635"/>
          </a:xfrm>
        </p:grpSpPr>
        <p:sp>
          <p:nvSpPr>
            <p:cNvPr id="19" name="Rectangle 19"/>
            <p:cNvSpPr/>
            <p:nvPr/>
          </p:nvSpPr>
          <p:spPr>
            <a:xfrm>
              <a:off x="6248400" y="1524000"/>
              <a:ext cx="5410200" cy="1651635"/>
            </a:xfrm>
            <a:prstGeom prst="roundRect">
              <a:avLst>
                <a:gd name="adj" fmla="val 80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57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45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50330" y="2110740"/>
              <a:ext cx="427545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分数背包问题为什么按pᵢ/wᵢ比值贪心才最优？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50330" y="244602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比值直接对应目标函数的边际收益，按效益或按重量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排序都会浪费容量或效益。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6248400" y="3366135"/>
            <a:ext cx="5410200" cy="1937385"/>
            <a:chOff x="6248400" y="3366135"/>
            <a:chExt cx="5410200" cy="1937385"/>
          </a:xfrm>
        </p:grpSpPr>
        <p:sp>
          <p:nvSpPr>
            <p:cNvPr id="25" name="Rectangle 25"/>
            <p:cNvSpPr/>
            <p:nvPr/>
          </p:nvSpPr>
          <p:spPr>
            <a:xfrm>
              <a:off x="6248400" y="3366135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57950" y="357568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45437" y="361140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50330" y="3952875"/>
              <a:ext cx="4726781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判定作业集合J是否可行，为什么只需检查"按期限升序"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这一种排列？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50330" y="4573905"/>
              <a:ext cx="47110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定理5.3证明：只要存在允许的调度，按期限升序排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列也一定允许。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1" name="TextBox 31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03522" cy="909257"/>
            <a:chOff x="520446" y="342900"/>
            <a:chExt cx="580352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1841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5929" y="407194"/>
              <a:ext cx="2413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 · 货郎担问题（TSP）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0352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自测（二）：作业调度、生成树与TSP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7732103" cy="278702"/>
            <a:chOff x="526161" y="1547336"/>
            <a:chExt cx="7732103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77321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覆盖可行性判定与复杂度推导、Kruskal最优性的交换论证，以及贪心在TSP上失效的原因。</a:t>
              </a:r>
            </a:p>
          </p:txBody>
        </p:sp>
      </p:grpSp>
      <p:grpSp>
        <p:nvGrpSpPr>
          <p:cNvPr id="14" name="c1-card-1"/>
          <p:cNvGrpSpPr/>
          <p:nvPr/>
        </p:nvGrpSpPr>
        <p:grpSpPr>
          <a:xfrm>
            <a:off x="533400" y="1941195"/>
            <a:ext cx="5410200" cy="1768792"/>
            <a:chOff x="533400" y="1941195"/>
            <a:chExt cx="5410200" cy="1768792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5410200" cy="1768792"/>
            </a:xfrm>
            <a:prstGeom prst="roundRect">
              <a:avLst>
                <a:gd name="adj" fmla="val 75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25805" y="213360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14753" y="216789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18947" y="2490788"/>
              <a:ext cx="41934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JS的O(n²)和FJS的"接近O(n)"分别是怎么来的？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18947" y="2792730"/>
              <a:ext cx="484003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JS外层扫n个作业，内层while最多回退k≤n格找空位，还要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逐个后移元素，最坏约n²次操作（n=50时实测2499次）；FJS用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并查集直接定位空位，约O(n·α(n))。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886200"/>
            <a:ext cx="5410200" cy="1768792"/>
            <a:chOff x="533400" y="3886200"/>
            <a:chExt cx="5410200" cy="1768792"/>
          </a:xfrm>
        </p:grpSpPr>
        <p:sp>
          <p:nvSpPr>
            <p:cNvPr id="15" name="Rectangle 15"/>
            <p:cNvSpPr/>
            <p:nvPr/>
          </p:nvSpPr>
          <p:spPr>
            <a:xfrm>
              <a:off x="533400" y="3886200"/>
              <a:ext cx="5410200" cy="1768792"/>
            </a:xfrm>
            <a:prstGeom prst="roundRect">
              <a:avLst>
                <a:gd name="adj" fmla="val 75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25805" y="40786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14753" y="41128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18947" y="4434840"/>
              <a:ext cx="367662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为什么货郎担问题的贪心只能叫"近似算法"？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18947" y="4737735"/>
              <a:ext cx="450570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每步只看局部最短：从城市1出发得14，从城市2出发得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17，穷举最优是13。没有证明保证这个偏差有上界。</a:t>
              </a:r>
            </a:p>
          </p:txBody>
        </p:sp>
      </p:grpSp>
      <p:grpSp>
        <p:nvGrpSpPr>
          <p:cNvPr id="26" name="c2-card-1"/>
          <p:cNvGrpSpPr/>
          <p:nvPr/>
        </p:nvGrpSpPr>
        <p:grpSpPr>
          <a:xfrm>
            <a:off x="6248400" y="1941195"/>
            <a:ext cx="5410200" cy="1768792"/>
            <a:chOff x="6248400" y="1941195"/>
            <a:chExt cx="5410200" cy="1768792"/>
          </a:xfrm>
        </p:grpSpPr>
        <p:sp>
          <p:nvSpPr>
            <p:cNvPr id="21" name="Rectangle 21"/>
            <p:cNvSpPr/>
            <p:nvPr/>
          </p:nvSpPr>
          <p:spPr>
            <a:xfrm>
              <a:off x="6248400" y="1941195"/>
              <a:ext cx="5410200" cy="1768792"/>
            </a:xfrm>
            <a:prstGeom prst="roundRect">
              <a:avLst>
                <a:gd name="adj" fmla="val 75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440805" y="213360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29753" y="216789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33947" y="2490788"/>
              <a:ext cx="4776597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Kruskal遇到成环的边怎么办？证明最优性时哪一步用到边已排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序？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33947" y="3049905"/>
              <a:ext cx="473716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成环的边跳过。证明用在"环上的ej若比e便宜，Kruskal会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先选中ej"这一步，由此c(ej)≥c(e)，用e换掉ej权值不增。</a:t>
              </a:r>
            </a:p>
          </p:txBody>
        </p:sp>
      </p:grpSp>
      <p:grpSp>
        <p:nvGrpSpPr>
          <p:cNvPr id="32" name="c2-card-2"/>
          <p:cNvGrpSpPr/>
          <p:nvPr/>
        </p:nvGrpSpPr>
        <p:grpSpPr>
          <a:xfrm>
            <a:off x="6248400" y="3886200"/>
            <a:ext cx="5410200" cy="1768792"/>
            <a:chOff x="6248400" y="3886200"/>
            <a:chExt cx="5410200" cy="1768792"/>
          </a:xfrm>
        </p:grpSpPr>
        <p:sp>
          <p:nvSpPr>
            <p:cNvPr id="27" name="Rectangle 27"/>
            <p:cNvSpPr/>
            <p:nvPr/>
          </p:nvSpPr>
          <p:spPr>
            <a:xfrm>
              <a:off x="6248400" y="3886200"/>
              <a:ext cx="5410200" cy="1768792"/>
            </a:xfrm>
            <a:prstGeom prst="roundRect">
              <a:avLst>
                <a:gd name="adj" fmla="val 75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40805" y="40786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29753" y="41128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33947" y="4434840"/>
              <a:ext cx="46902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0-1背包不能贪心，改用什么方法？它比贪心多做了什么？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33947" y="4737735"/>
              <a:ext cx="478002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用动态规划，按容量逐格记录子问题最优值。M=50、物品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(v/w)=(60/10)(100/20)(120/30)时贪心得160，动态规划得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220。差别在于它允许放弃已装入的物品换更优组合。</a:t>
              </a:r>
            </a:p>
          </p:txBody>
        </p:sp>
      </p:grpSp>
      <p:grpSp>
        <p:nvGrpSpPr>
          <p:cNvPr id="39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33" name="Rectangle 3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26129" y="6014203"/>
              <a:ext cx="224134" cy="192560"/>
              <a:chOff x="726129" y="6014203"/>
              <a:chExt cx="224134" cy="19256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838200" y="608457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726129" y="601420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38200" y="61623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040892" y="6023610"/>
              <a:ext cx="91401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常见失分点：把FJS的复杂度直接写成O(n)。α(n)增长极慢但不是常数，写成O(n·α(n))或"接近O(n)"才准确。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10490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5916" y="407194"/>
              <a:ext cx="8998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第5章 贪心法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c1-bullets-1"/>
          <p:cNvGrpSpPr/>
          <p:nvPr/>
        </p:nvGrpSpPr>
        <p:grpSpPr>
          <a:xfrm>
            <a:off x="533400" y="1535430"/>
            <a:ext cx="6777990" cy="1685925"/>
            <a:chOff x="533400" y="1535430"/>
            <a:chExt cx="6777990" cy="1685925"/>
          </a:xfrm>
        </p:grpSpPr>
        <p:sp>
          <p:nvSpPr>
            <p:cNvPr id="7" name="Ellipse 7"/>
            <p:cNvSpPr/>
            <p:nvPr/>
          </p:nvSpPr>
          <p:spPr>
            <a:xfrm>
              <a:off x="533400" y="1535430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95249" y="157772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4390" y="1548765"/>
              <a:ext cx="6477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贪心法：每步按量度标准选最优输入，可行才收下；正确性必须单独证明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188023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95249" y="19225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34390" y="1893570"/>
              <a:ext cx="43769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分数背包按pᵢ/wᵢ贪心可证明最优；0-1背包不行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225040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95249" y="226733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4390" y="2238375"/>
              <a:ext cx="496281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作业调度用并查集把可行性检验从O(n²)降到接近O(n)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256984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95249" y="261213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4390" y="2583180"/>
              <a:ext cx="47866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最小生成树用Kruskal按边权贪心，交换论证证明最优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2914650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95249" y="295694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4390" y="2927985"/>
              <a:ext cx="4457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货郎担问题的贪心只是近似算法，没有最优性保证</a:t>
              </a:r>
            </a:p>
          </p:txBody>
        </p:sp>
      </p:grpSp>
      <p:grpSp>
        <p:nvGrpSpPr>
          <p:cNvPr id="31" name="c1-card-2"/>
          <p:cNvGrpSpPr/>
          <p:nvPr/>
        </p:nvGrpSpPr>
        <p:grpSpPr>
          <a:xfrm>
            <a:off x="533400" y="3352800"/>
            <a:ext cx="11125200" cy="1720215"/>
            <a:chOff x="533400" y="3352800"/>
            <a:chExt cx="11125200" cy="1720215"/>
          </a:xfrm>
        </p:grpSpPr>
        <p:sp>
          <p:nvSpPr>
            <p:cNvPr id="23" name="Rectangle 23"/>
            <p:cNvSpPr/>
            <p:nvPr/>
          </p:nvSpPr>
          <p:spPr>
            <a:xfrm>
              <a:off x="533400" y="3352800"/>
              <a:ext cx="11125200" cy="1720215"/>
            </a:xfrm>
            <a:prstGeom prst="roundRect">
              <a:avLst>
                <a:gd name="adj" fmla="val 775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42925" y="3486150"/>
              <a:ext cx="47625" cy="145351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81050" y="35623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71258" y="35980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382078" y="3597592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原课件小结页的章节编号有误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73430" y="3958590"/>
              <a:ext cx="77390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原课件把小结写成"5.4 最优二路归并问题 / 5.5 最小生成树问题 / 5.6 货郎担问题"，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73430" y="4293870"/>
              <a:ext cx="48817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但本章目录和正文内容中并没有"最优二路归并问题"。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73430" y="4629150"/>
              <a:ext cx="68505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已按目录页顺序更正为：5.4 最小生成树问题、5.5 货郎担问题、5.6 小结。</a:t>
              </a:r>
            </a:p>
          </p:txBody>
        </p:sp>
      </p:grpSp>
      <p:grpSp>
        <p:nvGrpSpPr>
          <p:cNvPr id="37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2" name="Rectangle 32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130" y="5991225"/>
              <a:ext cx="7284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判断一个问题能不能用贪心法，最终都要靠交换论证或反例说话，不能只凭直觉。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8" name="TextBox 38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第5章 贪心法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algo_ch5">
  <a:themeElements>
    <a:clrScheme name="algo_ch5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lgo_ch5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lgo_ch5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2026-09-19T04:34:03Z</dcterms:created>
  <dcterms:modified xsi:type="dcterms:W3CDTF">2026-09-19T04:34:03Z</dcterms:modified>
  <cp:category/>
  <cp:contentStatus/>
</cp:coreProperties>
</file>