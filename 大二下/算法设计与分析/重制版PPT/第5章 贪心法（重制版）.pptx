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lgo_ch5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lgo_ch5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0e36430ad20c327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0ae37a22e79442d.png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a18bdf4fbb62c71.png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6168946" cy="3437763"/>
            <a:chOff x="666750" y="1619250"/>
            <a:chExt cx="6168946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986915" cy="3429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2035" y="1718310"/>
              <a:ext cx="17544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算法设计与分析 · 第5章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616894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贪心法 Greedy Method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每一步都选当前最好的，还要证明这样走到底不绕远路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适用条件与抽象控制过程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背包问题：贪心为什么最优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27458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作业调度：从O(n²)到并查集优化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最小生成树与货郎担问题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131050" cy="205359"/>
            <a:chOff x="680466" y="6192202"/>
            <a:chExt cx="4131050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1310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自学复习版｜据吉林大学《算法设计与分析》课件整理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049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5916" y="407194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贪心法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689317"/>
            <a:chOff x="521970" y="1515428"/>
            <a:chExt cx="6287453" cy="368931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贪心法适用的问题特征、抽象控制过程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背包问题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三种量度标准对比，证明按效益比贪心最优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作业调度问题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2926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可行性判定，从O(n²)插入法优化到并查集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最小生成树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28783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Kruskal算法与贪心最优性的交换论证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货郎担问题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最近邻近似算法，贪心为什么不再最优</a:t>
              </a:r>
            </a:p>
          </p:txBody>
        </p:sp>
      </p:grpSp>
      <p:grpSp>
        <p:nvGrpSpPr>
          <p:cNvPr id="39" name="c2-card-1"/>
          <p:cNvGrpSpPr/>
          <p:nvPr/>
        </p:nvGrpSpPr>
        <p:grpSpPr>
          <a:xfrm>
            <a:off x="7114222" y="1524000"/>
            <a:ext cx="4544378" cy="3630930"/>
            <a:chOff x="7114222" y="1524000"/>
            <a:chExt cx="4544378" cy="3630930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3630930"/>
            </a:xfrm>
            <a:prstGeom prst="roundRect">
              <a:avLst>
                <a:gd name="adj" fmla="val 36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36423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能写出贪心法抽象控制过程并判断问题是否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适合贪心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能证明分数背包问题贪心解的最优性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12991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06705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能用并查集优化作业调度算法并分析复杂度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346519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402330"/>
              <a:ext cx="37490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能用Kruskal算法求最小生成树并说明贪心为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什么在TSP上失效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3913632" cy="2643187"/>
            <a:chOff x="667512" y="1835468"/>
            <a:chExt cx="3913632" cy="26431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贪心法的一般方法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先弄清问题结构，再谈算法怎么写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1754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约束条件·可行解·目标函数·最优解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贪心的核心是选对量度标准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贪心法 · 贪心法的一般方法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什么样的问题能用贪心法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843659" cy="308039"/>
            <a:chOff x="525399" y="1550194"/>
            <a:chExt cx="6843659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84365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有n个输入，解是这n个输入的某个子集，子集必须满足事先给定的条件。</a:t>
              </a:r>
            </a:p>
          </p:txBody>
        </p:sp>
      </p:grpSp>
      <p:grpSp>
        <p:nvGrpSpPr>
          <p:cNvPr id="20" name="c1-kv-1"/>
          <p:cNvGrpSpPr/>
          <p:nvPr/>
        </p:nvGrpSpPr>
        <p:grpSpPr>
          <a:xfrm>
            <a:off x="525780" y="1992630"/>
            <a:ext cx="5958840" cy="1613535"/>
            <a:chOff x="525780" y="1992630"/>
            <a:chExt cx="5958840" cy="1613535"/>
          </a:xfrm>
        </p:grpSpPr>
        <p:sp>
          <p:nvSpPr>
            <p:cNvPr id="9" name="TextBox 9"/>
            <p:cNvSpPr txBox="1"/>
            <p:nvPr/>
          </p:nvSpPr>
          <p:spPr>
            <a:xfrm>
              <a:off x="525780" y="19926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约束条件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66862" y="199263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可行解必须满足的限制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31267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5780" y="243268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可行解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66862" y="24326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满足约束条件的输入子集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75272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5780" y="287274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目标函数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66862" y="287274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衡量可行解优劣的函数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319278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5780" y="331279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最优解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66862" y="331279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使目标函数取极值的可行解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3737610"/>
            <a:ext cx="5951220" cy="1681162"/>
            <a:chOff x="533400" y="3737610"/>
            <a:chExt cx="5951220" cy="1681162"/>
          </a:xfrm>
        </p:grpSpPr>
        <p:sp>
          <p:nvSpPr>
            <p:cNvPr id="21" name="Rectangle 21"/>
            <p:cNvSpPr/>
            <p:nvPr/>
          </p:nvSpPr>
          <p:spPr>
            <a:xfrm>
              <a:off x="533400" y="3737610"/>
              <a:ext cx="5951220" cy="1681162"/>
            </a:xfrm>
            <a:prstGeom prst="roundRect">
              <a:avLst>
                <a:gd name="adj" fmla="val 793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42950" y="394716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9208" y="398287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解空间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85900" y="3982402"/>
              <a:ext cx="31608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四个活动里选两个，可行解只有6个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5330" y="4343400"/>
              <a:ext cx="43567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{1,2}、{1,3}、{1,4}、{2,3}、{2,4}、{3,4}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5330" y="4678680"/>
              <a:ext cx="53764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目标函数在这6个里取极值，取到极值的那一个才是最优解。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6473" y="5009674"/>
              <a:ext cx="5277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原课件在这一页把6种组合全列了出来，用意是先把解空间交代清楚。</a:t>
              </a:r>
            </a:p>
          </p:txBody>
        </p:sp>
      </p:grpSp>
      <p:grpSp>
        <p:nvGrpSpPr>
          <p:cNvPr id="43" name="c2-card-1"/>
          <p:cNvGrpSpPr/>
          <p:nvPr/>
        </p:nvGrpSpPr>
        <p:grpSpPr>
          <a:xfrm>
            <a:off x="6789420" y="1967865"/>
            <a:ext cx="4869180" cy="3450908"/>
            <a:chOff x="6789420" y="1967865"/>
            <a:chExt cx="4869180" cy="3450908"/>
          </a:xfrm>
        </p:grpSpPr>
        <p:sp>
          <p:nvSpPr>
            <p:cNvPr id="29" name="Rectangle 29"/>
            <p:cNvSpPr/>
            <p:nvPr/>
          </p:nvSpPr>
          <p:spPr>
            <a:xfrm>
              <a:off x="6789420" y="1967865"/>
              <a:ext cx="4869180" cy="3450908"/>
            </a:xfrm>
            <a:prstGeom prst="roundRect">
              <a:avLst>
                <a:gd name="adj" fmla="val 38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798945" y="2101215"/>
              <a:ext cx="47625" cy="318420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037070" y="217741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132180" y="221313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95223" y="2212658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对照一个小例子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29450" y="2573655"/>
              <a:ext cx="4225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从"看世界杯决赛、游新西兰、学潜水、听演唱会"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四个活动里选两个：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042785" y="325755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200900" y="31946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约束条件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：只能选两个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042785" y="359283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200900" y="352996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可行解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：任意两个的组合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042785" y="392811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200900" y="386524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目标函数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：按个人偏好打分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042785" y="426339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200900" y="42005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最优解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：你最想要的那两个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4" name="Rectangle 4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130" y="5991225"/>
              <a:ext cx="61135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别把"随便找一个可行解"当成"求最优解"，贪心法要解决的是后者。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贪心法 · 贪心法的一般方法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贪心法的求解思想与抽象控制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5265420" cy="293370"/>
            <a:chOff x="525780" y="1548765"/>
            <a:chExt cx="526542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5265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一次做一个不回头的选择，只要它眼下不违反约束就收下。</a:t>
              </a:r>
            </a:p>
          </p:txBody>
        </p:sp>
      </p:grpSp>
      <p:grpSp>
        <p:nvGrpSpPr>
          <p:cNvPr id="26" name="c1-steps-1"/>
          <p:cNvGrpSpPr/>
          <p:nvPr/>
        </p:nvGrpSpPr>
        <p:grpSpPr>
          <a:xfrm>
            <a:off x="533400" y="1964055"/>
            <a:ext cx="3332988" cy="2411159"/>
            <a:chOff x="533400" y="1964055"/>
            <a:chExt cx="3332988" cy="2411159"/>
          </a:xfrm>
        </p:grpSpPr>
        <p:sp>
          <p:nvSpPr>
            <p:cNvPr id="9" name="Rectangle 9"/>
            <p:cNvSpPr/>
            <p:nvPr/>
          </p:nvSpPr>
          <p:spPr>
            <a:xfrm>
              <a:off x="666750" y="2106930"/>
              <a:ext cx="19050" cy="18621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640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37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5850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6589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0611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2799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82619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9000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199691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选量度标准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2277428"/>
              <a:ext cx="26130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根据题意定义一种衡量"好坏"的标准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261794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按标准取一个输入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2898457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从剩余输入里选当前标准下最优的一个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323897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检查可行性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3519488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并入部分解仍满足约束就收下，否则舍弃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261" y="386000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重复到输入用完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404" y="4140518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不再回头调整已经做出的选择</a:t>
              </a:r>
            </a:p>
          </p:txBody>
        </p:sp>
      </p:grpSp>
      <p:grpSp>
        <p:nvGrpSpPr>
          <p:cNvPr id="35" name="c1-kv-2"/>
          <p:cNvGrpSpPr/>
          <p:nvPr/>
        </p:nvGrpSpPr>
        <p:grpSpPr>
          <a:xfrm>
            <a:off x="527304" y="4571048"/>
            <a:ext cx="5200078" cy="1000506"/>
            <a:chOff x="527304" y="4571048"/>
            <a:chExt cx="5200078" cy="1000506"/>
          </a:xfrm>
        </p:grpSpPr>
        <p:sp>
          <p:nvSpPr>
            <p:cNvPr id="27" name="TextBox 27"/>
            <p:cNvSpPr txBox="1"/>
            <p:nvPr/>
          </p:nvSpPr>
          <p:spPr>
            <a:xfrm>
              <a:off x="527304" y="4571048"/>
              <a:ext cx="6036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SELECT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466469" y="4571048"/>
              <a:ext cx="34308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按量度标准从A里挑一个输入，并把它从A中删掉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484155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7304" y="4953952"/>
              <a:ext cx="755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FEASIBLE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466469" y="4953952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判断这个输入能不能放进解向量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522446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7304" y="5336858"/>
              <a:ext cx="4960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UNION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466469" y="5336858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把它并入解向量，同时更新约束的判定状态</a:t>
              </a:r>
            </a:p>
          </p:txBody>
        </p:sp>
      </p:grpSp>
      <p:grpSp>
        <p:nvGrpSpPr>
          <p:cNvPr id="39" name="c2-code-1"/>
          <p:cNvGrpSpPr/>
          <p:nvPr/>
        </p:nvGrpSpPr>
        <p:grpSpPr>
          <a:xfrm>
            <a:off x="6032182" y="1954530"/>
            <a:ext cx="5626418" cy="2733675"/>
            <a:chOff x="6032182" y="1954530"/>
            <a:chExt cx="5626418" cy="2733675"/>
          </a:xfrm>
        </p:grpSpPr>
        <p:sp>
          <p:nvSpPr>
            <p:cNvPr id="36" name="Rectangle 36"/>
            <p:cNvSpPr/>
            <p:nvPr/>
          </p:nvSpPr>
          <p:spPr>
            <a:xfrm>
              <a:off x="6032182" y="1954530"/>
              <a:ext cx="5626418" cy="2733675"/>
            </a:xfrm>
            <a:prstGeom prst="roundRect">
              <a:avLst>
                <a:gd name="adj" fmla="val 348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160580" y="2106454"/>
              <a:ext cx="15993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算法5.1 贪心法抽象化控制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159817" y="2368391"/>
              <a:ext cx="3375406" cy="22488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GREEDY(A, n)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A(1:n) 包含 n 个输入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solution &lt;- 空集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i &lt;- 1 to n do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x &lt;- SELECT(A)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FEASIBLE(solution, x)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then solution &lt;- UNION(solution, x)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endif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repeat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return (solution)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GREEDY</a:t>
              </a:r>
            </a:p>
          </p:txBody>
        </p:sp>
      </p:grpSp>
      <p:grpSp>
        <p:nvGrpSpPr>
          <p:cNvPr id="46" name="c2-callout-2"/>
          <p:cNvGrpSpPr/>
          <p:nvPr/>
        </p:nvGrpSpPr>
        <p:grpSpPr>
          <a:xfrm>
            <a:off x="6032182" y="4873942"/>
            <a:ext cx="5626418" cy="756285"/>
            <a:chOff x="6032182" y="4873942"/>
            <a:chExt cx="5626418" cy="756285"/>
          </a:xfrm>
        </p:grpSpPr>
        <p:sp>
          <p:nvSpPr>
            <p:cNvPr id="40" name="Rectangle 40"/>
            <p:cNvSpPr/>
            <p:nvPr/>
          </p:nvSpPr>
          <p:spPr>
            <a:xfrm>
              <a:off x="6032182" y="4873942"/>
              <a:ext cx="5626418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236970" y="5152073"/>
              <a:ext cx="200026" cy="200025"/>
              <a:chOff x="6236970" y="5152073"/>
              <a:chExt cx="200026" cy="20002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6236970" y="51520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276709" y="51965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311424" y="53076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6539294" y="5021104"/>
              <a:ext cx="468528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贪心思路很早就有：1823年Warnsdorff解马踏棋盘用的就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是它。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7" name="Rectangle 47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511" y="6004084"/>
              <a:ext cx="67281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关键在 SELECT 用的量度标准。标准选错，贪心也救不回来，必须先证明再用。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贪心法 · 贪心法的一般方法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贪心法的优点、缺点与证明责任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compare-1"/>
          <p:cNvGrpSpPr/>
          <p:nvPr/>
        </p:nvGrpSpPr>
        <p:grpSpPr>
          <a:xfrm>
            <a:off x="533400" y="1524000"/>
            <a:ext cx="11125200" cy="1703070"/>
            <a:chOff x="533400" y="1524000"/>
            <a:chExt cx="11125200" cy="17030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353050" cy="1703070"/>
            </a:xfrm>
            <a:prstGeom prst="roundRect">
              <a:avLst>
                <a:gd name="adj" fmla="val 78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3637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3430" y="17583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86765" y="217551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4880" y="211264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策略构造简单直接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51079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4479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一旦证明成立就是高效算法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84607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78320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对不少问题能给出整体最优解或近似解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305550" y="1524000"/>
              <a:ext cx="5353050" cy="1703070"/>
            </a:xfrm>
            <a:prstGeom prst="roundRect">
              <a:avLst>
                <a:gd name="adj" fmla="val 78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315075" y="1657350"/>
              <a:ext cx="47625" cy="143637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45580" y="17583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558915" y="217551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17030" y="211264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不是对所有问题都能得到最优解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558915" y="251079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17030" y="24479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量度标准不一定天然正确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558915" y="284607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17030" y="278320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换一个问题就要重新证明一次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934075" y="221361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04415" y="230981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48" name="c1-table-2"/>
          <p:cNvGrpSpPr/>
          <p:nvPr/>
        </p:nvGrpSpPr>
        <p:grpSpPr>
          <a:xfrm>
            <a:off x="527685" y="3417570"/>
            <a:ext cx="11130915" cy="2091214"/>
            <a:chOff x="527685" y="3417570"/>
            <a:chExt cx="11130915" cy="2091214"/>
          </a:xfrm>
        </p:grpSpPr>
        <p:sp>
          <p:nvSpPr>
            <p:cNvPr id="28" name="Rectangle 28"/>
            <p:cNvSpPr/>
            <p:nvPr/>
          </p:nvSpPr>
          <p:spPr>
            <a:xfrm>
              <a:off x="533400" y="3417570"/>
              <a:ext cx="11125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833842" y="355330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策略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94452" y="355330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每步怎么决策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291663" y="355330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正确性从哪里来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1223" y="400192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贪心法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599688" y="4001929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选当前量度标准下最优的输入，选过不回头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51698" y="400192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要对量度标准单独做证明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3100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431482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1223" y="4450556"/>
              <a:ext cx="14909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动态规划（第6章）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599688" y="4450556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把子问题的最优值全部记下来再比较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51698" y="445055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由最优子结构和递推式保证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47596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1223" y="4899184"/>
              <a:ext cx="1318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分治法（第4章）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599688" y="489918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拆成同类子问题分别求解再合并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51698" y="489918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由合并步骤的正确性保证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3417570"/>
              <a:ext cx="11125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3487102" y="341757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139112" y="341757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27685" y="5288756"/>
              <a:ext cx="58916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三者都是多步决策。贪心不保留被放弃的那些分支，省下时间，代价是正确性要另外证。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9" name="Rectangle 4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130" y="5991225"/>
              <a:ext cx="56894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贪心法本身不保证正确，正确性来自对"最优量度标准"的证明。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6616667" cy="2643187"/>
            <a:chOff x="667512" y="1835468"/>
            <a:chExt cx="6616667" cy="26431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61666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背包问题（可分割/分数背包）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7035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物品能按比例拿，贪心第一次显出"证明"的价值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目标是效益总和最大化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贪心策略要证明才能相信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贪心法 · 背包问题（可分割/分数背包）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问题描述：物品可以只拿一部分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464699" cy="278702"/>
            <a:chOff x="526161" y="1547336"/>
            <a:chExt cx="6464699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4646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n件物品，一个能装M重量的背包；物品i可以只装入比例xi，得到效益pi·xi。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3"/>
              <p:cNvSpPr txBox="1">
                <a:spLocks noGrp="1"/>
              </p:cNvSpPr>
              <p:nvPr/>
            </p:nvSpPr>
            <p:spPr>
              <a:xfrm>
                <a:off x="533400" y="1941195"/>
                <a:ext cx="5951220" cy="7543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max</m:t>
                          </m:r>
                        </m:fName>
                        <m:e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p>
                            <m:e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14"/>
              <p:cNvSpPr txBox="1">
                <a:spLocks noGrp="1"/>
              </p:cNvSpPr>
              <p:nvPr/>
            </p:nvSpPr>
            <p:spPr>
              <a:xfrm>
                <a:off x="533400" y="2870835"/>
                <a:ext cx="5951220" cy="7543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 m:val="on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s.t. 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16" name="c1-kv-3"/>
          <p:cNvGrpSpPr/>
          <p:nvPr/>
        </p:nvGrpSpPr>
        <p:grpSpPr>
          <a:xfrm>
            <a:off x="527685" y="3819049"/>
            <a:ext cx="5956935" cy="579120"/>
            <a:chOff x="527685" y="3819049"/>
            <a:chExt cx="5956935" cy="579120"/>
          </a:xfrm>
        </p:grpSpPr>
        <p:sp>
          <p:nvSpPr>
            <p:cNvPr id="11" name="TextBox 11"/>
            <p:cNvSpPr txBox="1"/>
            <p:nvPr/>
          </p:nvSpPr>
          <p:spPr>
            <a:xfrm>
              <a:off x="527685" y="3819049"/>
              <a:ext cx="5734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pᵢ / wᵢ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27785" y="3819049"/>
              <a:ext cx="12854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物品i的效益 / 重量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407289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7685" y="417814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27785" y="4178141"/>
              <a:ext cx="14136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物品i装入背包的比例</a:t>
              </a:r>
            </a:p>
          </p:txBody>
        </p:sp>
      </p:grpSp>
      <p:grpSp>
        <p:nvGrpSpPr>
          <p:cNvPr id="23" name="c1-callout-4"/>
          <p:cNvGrpSpPr/>
          <p:nvPr/>
        </p:nvGrpSpPr>
        <p:grpSpPr>
          <a:xfrm>
            <a:off x="533400" y="4529138"/>
            <a:ext cx="5951220" cy="870585"/>
            <a:chOff x="533400" y="4529138"/>
            <a:chExt cx="5951220" cy="870585"/>
          </a:xfrm>
        </p:grpSpPr>
        <p:sp>
          <p:nvSpPr>
            <p:cNvPr id="17" name="Rectangle 17"/>
            <p:cNvSpPr/>
            <p:nvPr/>
          </p:nvSpPr>
          <p:spPr>
            <a:xfrm>
              <a:off x="533400" y="4529138"/>
              <a:ext cx="5951220" cy="870585"/>
            </a:xfrm>
            <a:prstGeom prst="roundRect">
              <a:avLst>
                <a:gd name="adj" fmla="val 131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4863465"/>
              <a:ext cx="200026" cy="200026"/>
              <a:chOff x="738188" y="4863465"/>
              <a:chExt cx="200026" cy="20002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486346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38200" y="49301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27088" y="496347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892" y="4745355"/>
              <a:ext cx="48143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物品总重超过M时，最优解一定把背包装满（Σwᵢxᵢ=M），定理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5.1的证明要用到这一点。</a:t>
              </a:r>
            </a:p>
          </p:txBody>
        </p:sp>
      </p:grpSp>
      <p:grpSp>
        <p:nvGrpSpPr>
          <p:cNvPr id="26" name="c2-image-1"/>
          <p:cNvGrpSpPr/>
          <p:nvPr/>
        </p:nvGrpSpPr>
        <p:grpSpPr>
          <a:xfrm>
            <a:off x="7805166" y="1941195"/>
            <a:ext cx="2837688" cy="2033207"/>
            <a:chOff x="7805166" y="1941195"/>
            <a:chExt cx="2837688" cy="2033207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2"/>
            <a:srcRect l="0" t="7" r="0" b="7"/>
            <a:stretch>
              <a:fillRect/>
            </a:stretch>
          </p:blipFill>
          <p:spPr>
            <a:xfrm>
              <a:off x="8068628" y="1941195"/>
              <a:ext cx="2311718" cy="1733550"/>
            </a:xfrm>
            <a:prstGeom prst="roundRect">
              <a:avLst>
                <a:gd name="adj" fmla="val 7692"/>
              </a:avLst>
            </a:prstGeom>
          </p:spPr>
        </p:pic>
        <p:sp>
          <p:nvSpPr>
            <p:cNvPr id="25" name="TextBox 25"/>
            <p:cNvSpPr txBox="1"/>
            <p:nvPr/>
          </p:nvSpPr>
          <p:spPr>
            <a:xfrm>
              <a:off x="7805166" y="3769043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金币能一把把地倒，物品也就能只装一部分。</a:t>
              </a:r>
            </a:p>
          </p:txBody>
        </p:sp>
      </p:grpSp>
      <p:grpSp>
        <p:nvGrpSpPr>
          <p:cNvPr id="34" name="c2-card-2"/>
          <p:cNvGrpSpPr/>
          <p:nvPr/>
        </p:nvGrpSpPr>
        <p:grpSpPr>
          <a:xfrm>
            <a:off x="6789420" y="4127182"/>
            <a:ext cx="4869180" cy="1272540"/>
            <a:chOff x="6789420" y="4127182"/>
            <a:chExt cx="4869180" cy="1272540"/>
          </a:xfrm>
        </p:grpSpPr>
        <p:sp>
          <p:nvSpPr>
            <p:cNvPr id="27" name="Rectangle 27"/>
            <p:cNvSpPr/>
            <p:nvPr/>
          </p:nvSpPr>
          <p:spPr>
            <a:xfrm>
              <a:off x="6789420" y="4127182"/>
              <a:ext cx="4869180" cy="1272540"/>
            </a:xfrm>
            <a:prstGeom prst="roundRect">
              <a:avLst>
                <a:gd name="adj" fmla="val 104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798945" y="4260532"/>
              <a:ext cx="47625" cy="10058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019925" y="4319588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115366" y="435387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70267" y="4358640"/>
              <a:ext cx="19923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和"0-1背包"不是一回事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13067" y="4692968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这里允许只拿一部分（比如半件），叫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可分割背包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13067" y="4995862"/>
              <a:ext cx="43267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不能拆的整数版本叫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0-1背包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，贪心结论对它不成立。</a:t>
              </a:r>
            </a:p>
          </p:txBody>
        </p:sp>
      </p:grpSp>
      <p:grpSp>
        <p:nvGrpSpPr>
          <p:cNvPr id="41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5" name="Rectangle 35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0892" y="6023610"/>
              <a:ext cx="49933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看到"0≤xᵢ≤1"这种连续约束，就要留意它是不是可分割背包。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贪心法 · 背包问题（可分割/分数背包）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实例：三种量度标准，谁更划算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719099" cy="308039"/>
            <a:chOff x="525399" y="1550194"/>
            <a:chExt cx="6719099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71909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n=3, M=20, (p1,p2,p3)=(25,24,15), (w1,w2,w3)=(18,15,10)。</a:t>
              </a:r>
            </a:p>
          </p:txBody>
        </p:sp>
      </p:grpSp>
      <p:grpSp>
        <p:nvGrpSpPr>
          <p:cNvPr id="40" name="c1-table-1"/>
          <p:cNvGrpSpPr/>
          <p:nvPr/>
        </p:nvGrpSpPr>
        <p:grpSpPr>
          <a:xfrm>
            <a:off x="527685" y="1967865"/>
            <a:ext cx="11130915" cy="2090262"/>
            <a:chOff x="527685" y="1967865"/>
            <a:chExt cx="11130915" cy="2090262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11125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870126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量度标准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878121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装入顺序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983659" y="2102644"/>
              <a:ext cx="13526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结果(x1,x2,x3)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226715" y="21026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总重量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671658" y="21026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总效益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1223" y="255127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按效益非增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016883" y="2551271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25→24→15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57213" y="2551271"/>
              <a:ext cx="106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2/15, 0)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877490" y="255127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322433" y="255127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28.2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8603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86512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223" y="300085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按重量非降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016883" y="3000851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10→15→18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57213" y="3000851"/>
              <a:ext cx="9692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 2/3, 1)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877490" y="300085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322433" y="300085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3089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1223" y="3449479"/>
              <a:ext cx="24567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按pᵢ/wᵢ非增(1.6→1.5→1.39)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016883" y="3449479"/>
              <a:ext cx="15982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item2→item3→item1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57213" y="3449479"/>
              <a:ext cx="9692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 1, 1/2)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877490" y="344947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0224135" y="3323272"/>
              <a:ext cx="142494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322433" y="344947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31.5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1967865"/>
              <a:ext cx="11125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3904298" y="196786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544628" y="196786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8764905" y="196786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10209848" y="196786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7685" y="3838099"/>
              <a:ext cx="47985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三个方案容量都恰好用满(总重量=20)，只有按比值贪心的总效益最高。</a:t>
              </a:r>
            </a:p>
          </p:txBody>
        </p:sp>
      </p:grpSp>
      <p:grpSp>
        <p:nvGrpSpPr>
          <p:cNvPr id="49" name="c1-kv-2"/>
          <p:cNvGrpSpPr/>
          <p:nvPr/>
        </p:nvGrpSpPr>
        <p:grpSpPr>
          <a:xfrm>
            <a:off x="525780" y="4229100"/>
            <a:ext cx="11132820" cy="1173480"/>
            <a:chOff x="525780" y="4229100"/>
            <a:chExt cx="11132820" cy="1173480"/>
          </a:xfrm>
        </p:grpSpPr>
        <p:sp>
          <p:nvSpPr>
            <p:cNvPr id="41" name="TextBox 41"/>
            <p:cNvSpPr txBox="1"/>
            <p:nvPr/>
          </p:nvSpPr>
          <p:spPr>
            <a:xfrm>
              <a:off x="525780" y="42291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按效益非增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765935" y="4229100"/>
              <a:ext cx="59216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item1整件装(w=18)，剩2 → item2装2/15；25 + 24×2/15 = 28.2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454914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5780" y="466915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按重量非降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765935" y="4669155"/>
              <a:ext cx="55885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item3整件装(w=10)，剩10 → item2装2/3；15 + 24×2/3 = 31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498919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25780" y="510921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按比值非增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765935" y="5109210"/>
              <a:ext cx="56995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item2整件装(w=15)，剩5 → item3装1/2；24 + 15×1/2 = 31.5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0" name="Rectangle 5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130" y="5991225"/>
              <a:ext cx="76986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三种标准里只有pᵢ/wᵢ比值直接对应"每单位容量换来的效益"，它才是最优量度标准。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655279" cy="909257"/>
            <a:chOff x="520446" y="342900"/>
            <a:chExt cx="465527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贪心法 · 背包问题（可分割/分数背包）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6552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贪心算法 GREEDY-KNAPSACK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951220" cy="2530792"/>
            <a:chOff x="533400" y="1524000"/>
            <a:chExt cx="5951220" cy="25307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2530792"/>
            </a:xfrm>
            <a:prstGeom prst="roundRect">
              <a:avLst>
                <a:gd name="adj" fmla="val 376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5023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算法5.2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2827782" cy="2045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先按 pi/wi 非增次序排序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GREEDY-KNAPSACK(P,W,M,X,n)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X &lt;- 0；cu &lt;- M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cu为背包剩余容量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i &lt;- 1 to n do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W(i) &gt; cu then exit endif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X(i) &lt;- 1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cu &lt;- cu - W(i)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repeat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if (i&lt;=n) then X(i) &lt;- cu / W(i)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GREEDY-KNAPSACK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4245292"/>
            <a:ext cx="5951220" cy="1091565"/>
            <a:chOff x="533400" y="4245292"/>
            <a:chExt cx="5951220" cy="1091565"/>
          </a:xfrm>
        </p:grpSpPr>
        <p:sp>
          <p:nvSpPr>
            <p:cNvPr id="11" name="Rectangle 11"/>
            <p:cNvSpPr/>
            <p:nvPr/>
          </p:nvSpPr>
          <p:spPr>
            <a:xfrm>
              <a:off x="533400" y="4245292"/>
              <a:ext cx="5951220" cy="1091565"/>
            </a:xfrm>
            <a:prstGeom prst="roundRect">
              <a:avLst>
                <a:gd name="adj" fmla="val 1047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4691063"/>
              <a:ext cx="200026" cy="200026"/>
              <a:chOff x="738188" y="4691063"/>
              <a:chExt cx="200026" cy="20002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469106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38200" y="47577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27088" y="479107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130" y="4548188"/>
              <a:ext cx="48920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最后一行专门处理零头：循环因容量不足退出时，i 正停在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第一件装不下的物品上，用 cu/W(i) 装进去一部分。</a:t>
              </a:r>
            </a:p>
          </p:txBody>
        </p:sp>
      </p:grpSp>
      <p:grpSp>
        <p:nvGrpSpPr>
          <p:cNvPr id="31" name="c2-steps-1"/>
          <p:cNvGrpSpPr/>
          <p:nvPr/>
        </p:nvGrpSpPr>
        <p:grpSpPr>
          <a:xfrm>
            <a:off x="6789420" y="1533525"/>
            <a:ext cx="3871849" cy="1878615"/>
            <a:chOff x="6789420" y="1533525"/>
            <a:chExt cx="3871849" cy="1878615"/>
          </a:xfrm>
        </p:grpSpPr>
        <p:sp>
          <p:nvSpPr>
            <p:cNvPr id="18" name="Rectangle 18"/>
            <p:cNvSpPr/>
            <p:nvPr/>
          </p:nvSpPr>
          <p:spPr>
            <a:xfrm>
              <a:off x="6922770" y="167640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678942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8304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789420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88304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789420" y="28346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8304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00900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02043" y="1861661"/>
              <a:ext cx="27607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按pᵢ/wᵢ非增排序，代价O(n log n)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00900" y="221837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顺序装入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02043" y="2512219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能整件装就整件装，最后一件不够就装一部分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00900" y="28689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循环本身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02043" y="3162776"/>
              <a:ext cx="21613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排序后这一遍扫描只需O(n)</a:t>
              </a:r>
            </a:p>
          </p:txBody>
        </p:sp>
      </p:grpSp>
      <p:grpSp>
        <p:nvGrpSpPr>
          <p:cNvPr id="38" name="c2-callout-2"/>
          <p:cNvGrpSpPr/>
          <p:nvPr/>
        </p:nvGrpSpPr>
        <p:grpSpPr>
          <a:xfrm>
            <a:off x="6789420" y="3590925"/>
            <a:ext cx="4869180" cy="533400"/>
            <a:chOff x="6789420" y="3590925"/>
            <a:chExt cx="4869180" cy="533400"/>
          </a:xfrm>
        </p:grpSpPr>
        <p:sp>
          <p:nvSpPr>
            <p:cNvPr id="32" name="Rectangle 32"/>
            <p:cNvSpPr/>
            <p:nvPr/>
          </p:nvSpPr>
          <p:spPr>
            <a:xfrm>
              <a:off x="6789420" y="3590925"/>
              <a:ext cx="486918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994208" y="3757613"/>
              <a:ext cx="200026" cy="200026"/>
              <a:chOff x="6994208" y="3757613"/>
              <a:chExt cx="200026" cy="20002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994208" y="375761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094220" y="38242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083108" y="385762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7296150" y="3752850"/>
              <a:ext cx="36493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整体复杂度由排序主导，是O(n log n)。</a:t>
              </a:r>
            </a:p>
          </p:txBody>
        </p:sp>
      </p:grpSp>
      <p:grpSp>
        <p:nvGrpSpPr>
          <p:cNvPr id="47" name="c2-kv-3"/>
          <p:cNvGrpSpPr/>
          <p:nvPr/>
        </p:nvGrpSpPr>
        <p:grpSpPr>
          <a:xfrm>
            <a:off x="6782943" y="4335304"/>
            <a:ext cx="4875657" cy="1052321"/>
            <a:chOff x="6782943" y="4335304"/>
            <a:chExt cx="4875657" cy="1052321"/>
          </a:xfrm>
        </p:grpSpPr>
        <p:sp>
          <p:nvSpPr>
            <p:cNvPr id="39" name="TextBox 39"/>
            <p:cNvSpPr txBox="1"/>
            <p:nvPr/>
          </p:nvSpPr>
          <p:spPr>
            <a:xfrm>
              <a:off x="6782943" y="4335304"/>
              <a:ext cx="7280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装 item2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33538" y="4335304"/>
              <a:ext cx="18567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w=15≤cu=20，整件装入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789420" y="462057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82943" y="4736306"/>
              <a:ext cx="7280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试 item3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733538" y="4736306"/>
              <a:ext cx="17619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w=10&gt;cu=5，退出循环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789420" y="502158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82943" y="513826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装零头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733538" y="5138261"/>
              <a:ext cx="15102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X=cu/W=5/10=1/2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8" name="Rectangle 4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130" y="5991225"/>
              <a:ext cx="72847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思考：算法里体现了约束条件，但怎么确认这个可行解就是最优解？下一页证明。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396733" cy="909257"/>
            <a:chOff x="520446" y="342900"/>
            <a:chExt cx="43967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贪心法 · 背包问题（可分割/分数背包）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3967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定理5.1：贪心解为什么最优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533448" cy="293370"/>
            <a:chOff x="525780" y="1548765"/>
            <a:chExt cx="8533448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5334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若 p1/w1 ≥ p2/w2 ≥ … ≥ pn/wn，GREEDY-KNAPSACK 生成的解就是最优解。证明用交换论证。</a:t>
              </a:r>
            </a:p>
          </p:txBody>
        </p:sp>
      </p:grpSp>
      <p:grpSp>
        <p:nvGrpSpPr>
          <p:cNvPr id="44" name="c1-steps-1"/>
          <p:cNvGrpSpPr/>
          <p:nvPr/>
        </p:nvGrpSpPr>
        <p:grpSpPr>
          <a:xfrm>
            <a:off x="533400" y="1954530"/>
            <a:ext cx="11125200" cy="1854518"/>
            <a:chOff x="533400" y="1954530"/>
            <a:chExt cx="11125200" cy="1854518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1616392" cy="1854518"/>
            </a:xfrm>
            <a:prstGeom prst="roundRect">
              <a:avLst>
                <a:gd name="adj" fmla="val 707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666750" y="20878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6883" y="21583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59511" y="2492216"/>
              <a:ext cx="9999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1.反证假设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0654" y="2791777"/>
              <a:ext cx="1162812" cy="6766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若贪心解X不是最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优解，设Y是效益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更高的可行解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2225992" y="2795588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2435542" y="1954530"/>
              <a:ext cx="1616392" cy="1854518"/>
            </a:xfrm>
            <a:prstGeom prst="roundRect">
              <a:avLst>
                <a:gd name="adj" fmla="val 707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2568892" y="20878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659026" y="21583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61654" y="2492216"/>
              <a:ext cx="1124471" cy="5139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52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2.找第一个分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歧位k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562796" y="3027045"/>
              <a:ext cx="1178052" cy="6766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X、Y从下标k开始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取值不同，可证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yk&lt;xk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4127182" y="2795588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336732" y="1954530"/>
              <a:ext cx="1616392" cy="1854518"/>
            </a:xfrm>
            <a:prstGeom prst="roundRect">
              <a:avLst>
                <a:gd name="adj" fmla="val 707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4470082" y="20878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560216" y="21583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62844" y="2492216"/>
              <a:ext cx="13077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3.构造过渡解Z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63986" y="2791777"/>
              <a:ext cx="1261872" cy="6766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把yk调到xk，从后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面按比例扣掉同样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多的重量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6029325" y="2795588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38875" y="1954530"/>
              <a:ext cx="1616392" cy="1854518"/>
            </a:xfrm>
            <a:prstGeom prst="roundRect">
              <a:avLst>
                <a:gd name="adj" fmla="val 707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6372225" y="20878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62358" y="21583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64986" y="2492216"/>
              <a:ext cx="9999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4.比较效益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66129" y="2791777"/>
              <a:ext cx="1231392" cy="6766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物品已按比值排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序，这样换入换出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效益只增不减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7931468" y="2795588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8141018" y="1954530"/>
              <a:ext cx="1616392" cy="1854518"/>
            </a:xfrm>
            <a:prstGeom prst="roundRect">
              <a:avLst>
                <a:gd name="adj" fmla="val 707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8274368" y="20878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364501" y="21583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67129" y="2492216"/>
              <a:ext cx="9999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5.归纳收尾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68272" y="2791777"/>
              <a:ext cx="11780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Z比Y更接近X，重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复替换直到Z=X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9832658" y="2795588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10042208" y="1954530"/>
              <a:ext cx="1616392" cy="1854518"/>
            </a:xfrm>
            <a:prstGeom prst="roundRect">
              <a:avLst>
                <a:gd name="adj" fmla="val 707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0175558" y="20878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265691" y="21583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168318" y="2492216"/>
              <a:ext cx="6175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6.结论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169461" y="2791777"/>
              <a:ext cx="1246632" cy="6766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效益全程没减少，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X的效益不低于Y，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X就是最优解</a:t>
              </a:r>
            </a:p>
          </p:txBody>
        </p:sp>
      </p:grpSp>
      <p:grpSp>
        <p:nvGrpSpPr>
          <p:cNvPr id="52" name="c1-card-2"/>
          <p:cNvGrpSpPr/>
          <p:nvPr/>
        </p:nvGrpSpPr>
        <p:grpSpPr>
          <a:xfrm>
            <a:off x="533400" y="3994785"/>
            <a:ext cx="11125200" cy="1678305"/>
            <a:chOff x="533400" y="3994785"/>
            <a:chExt cx="11125200" cy="1678305"/>
          </a:xfrm>
        </p:grpSpPr>
        <p:sp>
          <p:nvSpPr>
            <p:cNvPr id="45" name="Rectangle 45"/>
            <p:cNvSpPr/>
            <p:nvPr/>
          </p:nvSpPr>
          <p:spPr>
            <a:xfrm>
              <a:off x="533400" y="3994785"/>
              <a:ext cx="11125200" cy="1678305"/>
            </a:xfrm>
            <a:prstGeom prst="roundRect">
              <a:avLst>
                <a:gd name="adj" fmla="val 79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542925" y="4128135"/>
              <a:ext cx="47625" cy="14116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75335" y="419862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57644" y="423433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代数细节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660588" y="4238149"/>
              <a:ext cx="30219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第4步的"效益只增不减"是怎么来的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68096" y="4589621"/>
              <a:ext cx="62003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yₖ 提到 xₖ，再从 k 之后的分量里按重量扣回同样多，总重仍然是 M。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68096" y="4909661"/>
              <a:ext cx="105055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换进来的那部分单位效益是 pₖ/wₖ，扣掉的各项单位效益都不超过它（元素已按 pᵢ/wᵢ 非增排好），所以 Σpᵢzᵢ ≥ Σpᵢyᵢ。</a:t>
              </a:r>
            </a:p>
          </p:txBody>
        </p:sp>
      </p:grpSp>
      <p:grpSp>
        <p:nvGrpSpPr>
          <p:cNvPr id="58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3" name="Rectangle 53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0511" y="6004084"/>
              <a:ext cx="88078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交换论证的套路：假设最优解和贪心解不同，找到第一个差异，替换后证明不会变差，反复到两者相同。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69857" cy="909257"/>
            <a:chOff x="520446" y="342900"/>
            <a:chExt cx="576985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贪心法 · 背包问题（可分割/分数背包）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698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易错点：0-1背包为什么不能直接贪心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960644" cy="308039"/>
            <a:chOff x="525399" y="1550194"/>
            <a:chExt cx="6960644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96064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把上面的算法直接搬到0-1背包（物品不能拆）上，会漏掉真正的最优解。</a:t>
              </a:r>
            </a:p>
          </p:txBody>
        </p:sp>
      </p:grpSp>
      <p:grpSp>
        <p:nvGrpSpPr>
          <p:cNvPr id="31" name="c1-table-1"/>
          <p:cNvGrpSpPr/>
          <p:nvPr/>
        </p:nvGrpSpPr>
        <p:grpSpPr>
          <a:xfrm>
            <a:off x="527685" y="1967865"/>
            <a:ext cx="11130915" cy="1641634"/>
            <a:chOff x="527685" y="1967865"/>
            <a:chExt cx="11130915" cy="1641634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11125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892897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352377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选择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38973" y="21026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总重量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42093" y="21026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总效益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1223" y="2551271"/>
              <a:ext cx="15611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按pᵢ/wᵢ贪心(0-1)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16845" y="2551271"/>
              <a:ext cx="22075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A(v60,w10)+B(v100,w20)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60183" y="255127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565005" y="2426018"/>
              <a:ext cx="2084070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663303" y="255127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160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603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286512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300085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真正最优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16845" y="3000851"/>
              <a:ext cx="23040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B(v100,w20)+C(v120,w30)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60183" y="300085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565005" y="2874645"/>
              <a:ext cx="208407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663303" y="300085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220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967865"/>
              <a:ext cx="11125200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604260" y="196786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447598" y="196786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9550718" y="196786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7685" y="3389471"/>
              <a:ext cx="53542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M=50；三件物品(v,w)=(60,10),(100,20),(120,30)，比值分别为6、5、4。</a:t>
              </a:r>
            </a:p>
          </p:txBody>
        </p:sp>
      </p:grpSp>
      <p:grpSp>
        <p:nvGrpSpPr>
          <p:cNvPr id="43" name="c1-kv-2"/>
          <p:cNvGrpSpPr/>
          <p:nvPr/>
        </p:nvGrpSpPr>
        <p:grpSpPr>
          <a:xfrm>
            <a:off x="525780" y="3780472"/>
            <a:ext cx="11132820" cy="1613536"/>
            <a:chOff x="525780" y="3780472"/>
            <a:chExt cx="11132820" cy="1613536"/>
          </a:xfrm>
        </p:grpSpPr>
        <p:sp>
          <p:nvSpPr>
            <p:cNvPr id="32" name="TextBox 32"/>
            <p:cNvSpPr txBox="1"/>
            <p:nvPr/>
          </p:nvSpPr>
          <p:spPr>
            <a:xfrm>
              <a:off x="525780" y="378047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贪心怎么走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750820" y="3780472"/>
              <a:ext cx="56401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先取A(比值6)，再取B(比值5)，剩余容量20装不下C，停在160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1005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5780" y="4220528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全部可行装法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750820" y="4220528"/>
              <a:ext cx="51320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A=60，B=100，C=120，A+B=160，A+C=180，B+C=220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5405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5780" y="466058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唯一装不下的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750820" y="4660582"/>
              <a:ext cx="22719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A+B+C 重60，超过 M=50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49806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5780" y="5100638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同一实例换成分数背包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750820" y="5100638"/>
              <a:ext cx="41060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A、B整件 + C装2/3，效益240，容量正好用满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4" name="Rectangle 4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130" y="5991225"/>
              <a:ext cx="74752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贪心选完A、B后剩余容量只剩20，装不下C，这就是"只顾眼前、不能回头"的代价。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5367528" cy="2643187"/>
            <a:chOff x="667512" y="1835468"/>
            <a:chExt cx="5367528" cy="26431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带有期限的作业调度问题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任务不能拆，只能选或不选，可行性判定是新难点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每个作业占用1个单位时间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超过截止期限完成就没有效益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贪心法 · 带有期限的作业调度问题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问题描述与一个小实例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757956" cy="308039"/>
            <a:chOff x="525399" y="1550194"/>
            <a:chExt cx="8757956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75795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单机上处理n个作业，每个耗时1个单位；作业i有截止期限di和效益pi，逾期完成则效益作废。</a:t>
              </a:r>
            </a:p>
          </p:txBody>
        </p:sp>
      </p:grpSp>
      <p:grpSp>
        <p:nvGrpSpPr>
          <p:cNvPr id="14" name="c1-kv-1"/>
          <p:cNvGrpSpPr/>
          <p:nvPr/>
        </p:nvGrpSpPr>
        <p:grpSpPr>
          <a:xfrm>
            <a:off x="526923" y="1988344"/>
            <a:ext cx="4875657" cy="650366"/>
            <a:chOff x="526923" y="1988344"/>
            <a:chExt cx="4875657" cy="650366"/>
          </a:xfrm>
        </p:grpSpPr>
        <p:sp>
          <p:nvSpPr>
            <p:cNvPr id="9" name="TextBox 9"/>
            <p:cNvSpPr txBox="1"/>
            <p:nvPr/>
          </p:nvSpPr>
          <p:spPr>
            <a:xfrm>
              <a:off x="526923" y="19883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可行解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82256" y="1988344"/>
              <a:ext cx="26977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J中每个作业都能在各自期限前完成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27361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6923" y="238934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最优解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82256" y="2389346"/>
              <a:ext cx="19773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效益之和∑pj最大的可行解</a:t>
              </a:r>
            </a:p>
          </p:txBody>
        </p:sp>
      </p:grpSp>
      <p:grpSp>
        <p:nvGrpSpPr>
          <p:cNvPr id="21" name="c1-callout-2"/>
          <p:cNvGrpSpPr/>
          <p:nvPr/>
        </p:nvGrpSpPr>
        <p:grpSpPr>
          <a:xfrm>
            <a:off x="533400" y="2779395"/>
            <a:ext cx="4869180" cy="2132648"/>
            <a:chOff x="533400" y="2779395"/>
            <a:chExt cx="4869180" cy="2132648"/>
          </a:xfrm>
        </p:grpSpPr>
        <p:sp>
          <p:nvSpPr>
            <p:cNvPr id="15" name="Rectangle 15"/>
            <p:cNvSpPr/>
            <p:nvPr/>
          </p:nvSpPr>
          <p:spPr>
            <a:xfrm>
              <a:off x="533400" y="2779395"/>
              <a:ext cx="4869180" cy="2132648"/>
            </a:xfrm>
            <a:prstGeom prst="roundRect">
              <a:avLst>
                <a:gd name="adj" fmla="val 53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3745230"/>
              <a:ext cx="200026" cy="200025"/>
              <a:chOff x="738188" y="3745230"/>
              <a:chExt cx="200026" cy="2000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374523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77926" y="378968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12642" y="390080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130" y="3464242"/>
              <a:ext cx="3825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光靠效益排序选不出最优解，还要看能不能安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排进各自的期限。这一步叫可行性判定，后面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单独讲。</a:t>
              </a:r>
            </a:p>
          </p:txBody>
        </p:sp>
      </p:grpSp>
      <p:grpSp>
        <p:nvGrpSpPr>
          <p:cNvPr id="51" name="c2-table-1"/>
          <p:cNvGrpSpPr/>
          <p:nvPr/>
        </p:nvGrpSpPr>
        <p:grpSpPr>
          <a:xfrm>
            <a:off x="5701665" y="1967865"/>
            <a:ext cx="5956935" cy="2988469"/>
            <a:chOff x="5701665" y="1967865"/>
            <a:chExt cx="5956935" cy="2988469"/>
          </a:xfrm>
        </p:grpSpPr>
        <p:sp>
          <p:nvSpPr>
            <p:cNvPr id="22" name="Rectangle 22"/>
            <p:cNvSpPr/>
            <p:nvPr/>
          </p:nvSpPr>
          <p:spPr>
            <a:xfrm>
              <a:off x="5707380" y="1967865"/>
              <a:ext cx="595122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07315" y="21026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可行解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31886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处理顺序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428770" y="21026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效益值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815203" y="2551271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{1}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44968" y="25512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36658" y="255127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707380" y="286035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707380" y="2865120"/>
              <a:ext cx="595122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815203" y="3000851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{4}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744968" y="30008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836658" y="300085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707380" y="330898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815203" y="3449479"/>
              <a:ext cx="510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{1,3}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44968" y="344947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836658" y="344947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115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707380" y="375761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707380" y="3762375"/>
              <a:ext cx="595122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815203" y="3898106"/>
              <a:ext cx="510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{1,4}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744968" y="389810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4,1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836658" y="389810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120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707380" y="420719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815203" y="4346734"/>
              <a:ext cx="510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{3,4}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744968" y="434673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4,3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836658" y="434673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707380" y="1967865"/>
              <a:ext cx="5951220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632382" y="196786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9724072" y="196786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701665" y="4736306"/>
              <a:ext cx="47382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n=4, (p)=(100,10,15,20), (d)=(2,1,2,1)；{1,4}效益最高=120。</a:t>
              </a:r>
            </a:p>
          </p:txBody>
        </p:sp>
      </p:grpSp>
      <p:grpSp>
        <p:nvGrpSpPr>
          <p:cNvPr id="5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2" name="Rectangle 5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0130" y="5991225"/>
              <a:ext cx="55784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作业既不能拆也不能补做：错过期限再完成，那份效益就是0。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贪心法 · 带有期限的作业调度问题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贪心策略：按效益降序，一个个试装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3798748" cy="1693069"/>
            <a:chOff x="533400" y="1533525"/>
            <a:chExt cx="3798748" cy="169306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202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0700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642" y="1564957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785" y="1833086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把作业按效益 p1≥p2≥…≥pn 排序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642" y="21526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逐个尝试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785" y="2419826"/>
              <a:ext cx="2963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依次把作业加入J，仍可行就留下，否则跳过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273939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可行性判定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3006566"/>
              <a:ext cx="3385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J可行 = J中所有作业都能安排在各自期限之前完成</a:t>
              </a:r>
            </a:p>
          </p:txBody>
        </p:sp>
      </p:grpSp>
      <p:grpSp>
        <p:nvGrpSpPr>
          <p:cNvPr id="32" name="c1-kv-2"/>
          <p:cNvGrpSpPr/>
          <p:nvPr/>
        </p:nvGrpSpPr>
        <p:grpSpPr>
          <a:xfrm>
            <a:off x="527685" y="3414236"/>
            <a:ext cx="5199697" cy="1297306"/>
            <a:chOff x="527685" y="3414236"/>
            <a:chExt cx="5199697" cy="1297306"/>
          </a:xfrm>
        </p:grpSpPr>
        <p:sp>
          <p:nvSpPr>
            <p:cNvPr id="21" name="TextBox 21"/>
            <p:cNvSpPr txBox="1"/>
            <p:nvPr/>
          </p:nvSpPr>
          <p:spPr>
            <a:xfrm>
              <a:off x="527685" y="3414236"/>
              <a:ext cx="7087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作业1 d=2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60182" y="3414236"/>
              <a:ext cx="15147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排成 1，可行 → J={1}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66807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7685" y="3773329"/>
              <a:ext cx="7087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作业4 d=1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60182" y="3773329"/>
              <a:ext cx="18558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排成 4,1，可行 → J={1,4}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02717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7685" y="4132421"/>
              <a:ext cx="7087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作业3 d=2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460182" y="4132421"/>
              <a:ext cx="22051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排成 4,1,3，第3位要 d≥3，舍弃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438626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7685" y="4491514"/>
              <a:ext cx="7087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作业2 d=1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460182" y="4491514"/>
              <a:ext cx="22051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排成 4,2,1，第2位要 d≥2，舍弃</a:t>
              </a:r>
            </a:p>
          </p:txBody>
        </p:sp>
      </p:grpSp>
      <p:grpSp>
        <p:nvGrpSpPr>
          <p:cNvPr id="39" name="c1-callout-3"/>
          <p:cNvGrpSpPr/>
          <p:nvPr/>
        </p:nvGrpSpPr>
        <p:grpSpPr>
          <a:xfrm>
            <a:off x="533400" y="4842510"/>
            <a:ext cx="5193982" cy="851535"/>
            <a:chOff x="533400" y="4842510"/>
            <a:chExt cx="5193982" cy="851535"/>
          </a:xfrm>
        </p:grpSpPr>
        <p:sp>
          <p:nvSpPr>
            <p:cNvPr id="33" name="Rectangle 33"/>
            <p:cNvSpPr/>
            <p:nvPr/>
          </p:nvSpPr>
          <p:spPr>
            <a:xfrm>
              <a:off x="533400" y="4842510"/>
              <a:ext cx="5193982" cy="851535"/>
            </a:xfrm>
            <a:prstGeom prst="roundRect">
              <a:avLst>
                <a:gd name="adj" fmla="val 1342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5168265"/>
              <a:ext cx="200026" cy="200026"/>
              <a:chOff x="738188" y="5168265"/>
              <a:chExt cx="200026" cy="200026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516826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38200" y="52349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27088" y="526827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892" y="5049202"/>
              <a:ext cx="421424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最终J={1,4}，效益120，与上一页穷举得到的最优解一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致。</a:t>
              </a:r>
            </a:p>
          </p:txBody>
        </p:sp>
      </p:grpSp>
      <p:grpSp>
        <p:nvGrpSpPr>
          <p:cNvPr id="43" name="c2-code-1"/>
          <p:cNvGrpSpPr/>
          <p:nvPr/>
        </p:nvGrpSpPr>
        <p:grpSpPr>
          <a:xfrm>
            <a:off x="6032182" y="1524000"/>
            <a:ext cx="5626418" cy="2207895"/>
            <a:chOff x="6032182" y="1524000"/>
            <a:chExt cx="5626418" cy="2207895"/>
          </a:xfrm>
        </p:grpSpPr>
        <p:sp>
          <p:nvSpPr>
            <p:cNvPr id="40" name="Rectangle 40"/>
            <p:cNvSpPr/>
            <p:nvPr/>
          </p:nvSpPr>
          <p:spPr>
            <a:xfrm>
              <a:off x="6032182" y="1524000"/>
              <a:ext cx="5626418" cy="2207895"/>
            </a:xfrm>
            <a:prstGeom prst="roundRect">
              <a:avLst>
                <a:gd name="adj" fmla="val 431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160580" y="1675924"/>
              <a:ext cx="1393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算法5.3 GREEDY_JOB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160198" y="1937385"/>
              <a:ext cx="2444306" cy="1721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GREEDY_JOB(D, J, n)</a:t>
              </a:r>
              <a:br/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作业已按 p1&gt;=p2&gt;=...&gt;=pn 输入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J &lt;- {1}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i &lt;- 2 to n do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if (J∪{i} 都能在截止期限前完成)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then J &lt;- J∪{i}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endif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repeat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GREEDY_JOB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6032182" y="3907155"/>
            <a:ext cx="5626418" cy="1786890"/>
            <a:chOff x="6032182" y="3907155"/>
            <a:chExt cx="5626418" cy="1786890"/>
          </a:xfrm>
        </p:grpSpPr>
        <p:sp>
          <p:nvSpPr>
            <p:cNvPr id="44" name="Rectangle 44"/>
            <p:cNvSpPr/>
            <p:nvPr/>
          </p:nvSpPr>
          <p:spPr>
            <a:xfrm>
              <a:off x="6032182" y="3907155"/>
              <a:ext cx="5626418" cy="1786890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041708" y="4040505"/>
              <a:ext cx="47625" cy="152019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62688" y="4099560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58128" y="413385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注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713030" y="4139565"/>
              <a:ext cx="24350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 J 的初值直接写成 {1}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255830" y="4473892"/>
              <a:ext cx="490861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作业已按效益降序输入，效益最高的作业1单独一个总能在期限内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做完。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55830" y="5033010"/>
              <a:ext cx="494290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循环从 i=2 开始，每轮只做一件事：把作业 i 试着加进 J，可行就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留下。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2" name="Rectangle 52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892" y="6023610"/>
              <a:ext cx="67379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这里贪心选的是效益最大的作业，能不能装下要靠可行性检验，它正是本节的难点。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740014" cy="909257"/>
            <a:chOff x="520446" y="342900"/>
            <a:chExt cx="47400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贪心法 · 带有期限的作业调度问题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7400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定理5.2：贪心结果就是最优解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876776" cy="278702"/>
            <a:chOff x="526161" y="1547336"/>
            <a:chExt cx="6876776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8767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J是贪心得到的作业集合，I是任意一个最优解的作业集合，证明二者效益值相同。</a:t>
              </a:r>
            </a:p>
          </p:txBody>
        </p:sp>
      </p:grpSp>
      <p:grpSp>
        <p:nvGrpSpPr>
          <p:cNvPr id="38" name="c1-steps-1"/>
          <p:cNvGrpSpPr/>
          <p:nvPr/>
        </p:nvGrpSpPr>
        <p:grpSpPr>
          <a:xfrm>
            <a:off x="533400" y="1941195"/>
            <a:ext cx="11125200" cy="1565910"/>
            <a:chOff x="533400" y="1941195"/>
            <a:chExt cx="11125200" cy="1565910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1996440" cy="1565910"/>
            </a:xfrm>
            <a:prstGeom prst="roundRect">
              <a:avLst>
                <a:gd name="adj" fmla="val 729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666750" y="207454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6883" y="214503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59892" y="2478405"/>
              <a:ext cx="12372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1.取关键作业a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035" y="2764631"/>
              <a:ext cx="163296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设a是同时属于J和I、效益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最高的作业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2606040" y="2638425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2815590" y="1941195"/>
              <a:ext cx="1996440" cy="1565910"/>
            </a:xfrm>
            <a:prstGeom prst="roundRect">
              <a:avLst>
                <a:gd name="adj" fmla="val 729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2948940" y="207454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39073" y="214503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42082" y="2478405"/>
              <a:ext cx="11886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2.比较pa与pb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43225" y="2764631"/>
              <a:ext cx="1632966" cy="635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若I中作业b不在J中，必有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pa≥pb（否则贪心会先选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b）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4888230" y="2638425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097780" y="1941195"/>
              <a:ext cx="1996440" cy="1565910"/>
            </a:xfrm>
            <a:prstGeom prst="roundRect">
              <a:avLst>
                <a:gd name="adj" fmla="val 729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5231130" y="207454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321263" y="214503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24272" y="2478405"/>
              <a:ext cx="9505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3.替换调度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25415" y="2764631"/>
              <a:ext cx="1590294" cy="635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在I的调度表里，把和J冲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突的b换成a，效益不会变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7170420" y="2638425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379970" y="1941195"/>
              <a:ext cx="1996440" cy="1565910"/>
            </a:xfrm>
            <a:prstGeom prst="roundRect">
              <a:avLst>
                <a:gd name="adj" fmla="val 729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7513320" y="207454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03453" y="214503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06462" y="2478405"/>
              <a:ext cx="9505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4.归纳收尾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07605" y="2764631"/>
              <a:ext cx="155473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每替换一次，I与J的差异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就少一个作业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9452610" y="2638425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9662160" y="1941195"/>
              <a:ext cx="1996440" cy="1565910"/>
            </a:xfrm>
            <a:prstGeom prst="roundRect">
              <a:avLst>
                <a:gd name="adj" fmla="val 729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9795510" y="207454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885643" y="214503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788652" y="2478405"/>
              <a:ext cx="5870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5.结论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789795" y="2764631"/>
              <a:ext cx="165430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反复替换直到I变成J，效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益全程没降，J就是最优解</a:t>
              </a:r>
            </a:p>
          </p:txBody>
        </p:sp>
      </p:grpSp>
      <p:grpSp>
        <p:nvGrpSpPr>
          <p:cNvPr id="47" name="c1-card-2"/>
          <p:cNvGrpSpPr/>
          <p:nvPr/>
        </p:nvGrpSpPr>
        <p:grpSpPr>
          <a:xfrm>
            <a:off x="533400" y="3682365"/>
            <a:ext cx="11125200" cy="2020252"/>
            <a:chOff x="533400" y="3682365"/>
            <a:chExt cx="11125200" cy="2020252"/>
          </a:xfrm>
        </p:grpSpPr>
        <p:sp>
          <p:nvSpPr>
            <p:cNvPr id="39" name="Rectangle 39"/>
            <p:cNvSpPr/>
            <p:nvPr/>
          </p:nvSpPr>
          <p:spPr>
            <a:xfrm>
              <a:off x="533400" y="3682365"/>
              <a:ext cx="11125200" cy="2020252"/>
            </a:xfrm>
            <a:prstGeom prst="roundRect">
              <a:avLst>
                <a:gd name="adj" fmla="val 66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42925" y="3815715"/>
              <a:ext cx="47625" cy="175355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63905" y="3874770"/>
              <a:ext cx="820102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44629" y="3909060"/>
              <a:ext cx="6577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第3步细节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691450" y="3914775"/>
              <a:ext cx="33131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把b换成a之后，调度表为什么还是可行的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7047" y="4249102"/>
              <a:ext cx="1017212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先让两张调度表里的相同作业落在同一个时间片：若作业i在SJ排在t、在SI排在t′且t&lt;t′，把SI里这两片的内容对调即可，i提前做完不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会误期。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7047" y="4808220"/>
              <a:ext cx="103878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对齐之后找一个时间片，SJ在上面排a、SI在上面排b，用a顶掉b。a本来就能在这一片做完，所以I′=I-{b}∪{a}仍然是可行调度。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57047" y="5111115"/>
              <a:ext cx="70580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又有pa≥pb，I′的效益不比I小，而I′与J的差异比I少一个作业，这样就能一直替换下去。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8" name="Rectangle 48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892" y="6023610"/>
              <a:ext cx="63926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证明思路和背包问题一样是"交换论证"，只是这里换的是调度位置，不是数量。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354746" cy="909257"/>
            <a:chOff x="520446" y="342900"/>
            <a:chExt cx="435474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贪心法 · 带有期限的作业调度问题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35474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怎么判断作业集合J是可行解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1720215"/>
            <a:chOff x="533400" y="1524000"/>
            <a:chExt cx="5410200" cy="17202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720215"/>
            </a:xfrm>
            <a:prstGeom prst="roundRect">
              <a:avLst>
                <a:gd name="adj" fmla="val 775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0356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检验方法一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70697" y="1768792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枚举所有排列（定义）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129790"/>
              <a:ext cx="42317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若J有k个作业，检验是否存在排列 σ=i1,…,ik，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5330" y="2465070"/>
              <a:ext cx="29331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使第j个完成的作业满足 diⱼ ≥ j。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5330" y="2800350"/>
              <a:ext cx="27513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排列数是k的阶乘，代价很高。</a:t>
              </a:r>
            </a:p>
          </p:txBody>
        </p:sp>
      </p:grpSp>
      <p:grpSp>
        <p:nvGrpSpPr>
          <p:cNvPr id="30" name="c1-table-2"/>
          <p:cNvGrpSpPr/>
          <p:nvPr/>
        </p:nvGrpSpPr>
        <p:grpSpPr>
          <a:xfrm>
            <a:off x="527685" y="3434715"/>
            <a:ext cx="5415915" cy="2091214"/>
            <a:chOff x="527685" y="3434715"/>
            <a:chExt cx="5415915" cy="2091214"/>
          </a:xfrm>
        </p:grpSpPr>
        <p:sp>
          <p:nvSpPr>
            <p:cNvPr id="15" name="Rectangle 15"/>
            <p:cNvSpPr/>
            <p:nvPr/>
          </p:nvSpPr>
          <p:spPr>
            <a:xfrm>
              <a:off x="533400" y="3434715"/>
              <a:ext cx="5410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321076" y="3570446"/>
              <a:ext cx="9068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J中作业数k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93138" y="3570446"/>
              <a:ext cx="13729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要检验的排列数k!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1223" y="401907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123438" y="401907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3272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4331970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223" y="446770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123438" y="446770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120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7767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491632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23438" y="491632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40320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434715"/>
              <a:ext cx="5410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010852" y="343471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7685" y="5305901"/>
              <a:ext cx="50166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按定理5.3只查一种排列时，这一步降到给k个作业排序，代价O(k log k)。</a:t>
              </a:r>
            </a:p>
          </p:txBody>
        </p:sp>
      </p:grpSp>
      <p:grpSp>
        <p:nvGrpSpPr>
          <p:cNvPr id="39" name="c2-card-1"/>
          <p:cNvGrpSpPr/>
          <p:nvPr/>
        </p:nvGrpSpPr>
        <p:grpSpPr>
          <a:xfrm>
            <a:off x="6248400" y="1524000"/>
            <a:ext cx="5410200" cy="1720215"/>
            <a:chOff x="6248400" y="1524000"/>
            <a:chExt cx="5410200" cy="1720215"/>
          </a:xfrm>
        </p:grpSpPr>
        <p:sp>
          <p:nvSpPr>
            <p:cNvPr id="31" name="Rectangle 31"/>
            <p:cNvSpPr/>
            <p:nvPr/>
          </p:nvSpPr>
          <p:spPr>
            <a:xfrm>
              <a:off x="6248400" y="1524000"/>
              <a:ext cx="5410200" cy="1720215"/>
            </a:xfrm>
            <a:prstGeom prst="roundRect">
              <a:avLst>
                <a:gd name="adj" fmla="val 77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57925" y="1657350"/>
              <a:ext cx="47625" cy="145351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96050" y="1733550"/>
              <a:ext cx="74009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79475" y="1769269"/>
              <a:ext cx="5741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定理5.3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42823" y="1768792"/>
              <a:ext cx="3075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只需检查"按期限升序"这一种排列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88430" y="2129790"/>
              <a:ext cx="29596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把J中作业按期限从小到大排列；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88430" y="2465070"/>
              <a:ext cx="39692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若这个顺序不违反任何期限，J就是可行解；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88430" y="2800350"/>
              <a:ext cx="35653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否则J一定不可行，不必再试其他排列。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6248400" y="3434715"/>
            <a:ext cx="5410200" cy="2046922"/>
            <a:chOff x="6248400" y="3434715"/>
            <a:chExt cx="5410200" cy="2046922"/>
          </a:xfrm>
        </p:grpSpPr>
        <p:sp>
          <p:nvSpPr>
            <p:cNvPr id="40" name="Rectangle 40"/>
            <p:cNvSpPr/>
            <p:nvPr/>
          </p:nvSpPr>
          <p:spPr>
            <a:xfrm>
              <a:off x="6248400" y="3434715"/>
              <a:ext cx="5410200" cy="2046922"/>
            </a:xfrm>
            <a:prstGeom prst="roundRect">
              <a:avLst>
                <a:gd name="adj" fmla="val 65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57925" y="3568065"/>
              <a:ext cx="47625" cy="178022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96050" y="364426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82308" y="367998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用一遍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39000" y="3679508"/>
              <a:ext cx="32818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检验 J={1,3,4}（d=(2,1,2,1)）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88430" y="4040505"/>
              <a:ext cx="40942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按期限升序排成 4(d=1)、1(d=2)、3(d=2)。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88430" y="4375785"/>
              <a:ext cx="4558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第3个完成的是作业3，完成时刻为3，但d3=2，违反期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限。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88430" y="4996815"/>
              <a:ext cx="34745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于是J不可行，其余5种排列不必再试。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9" name="Rectangle 4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130" y="5991225"/>
              <a:ext cx="72544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定理5.3把"检查所有排列"降到"只检查一种排列"，是后面设计快速算法的关键。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208844" cy="909257"/>
            <a:chOff x="520446" y="342900"/>
            <a:chExt cx="42088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贪心法 · 带有期限的作业调度问题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20884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简单实现：插入法，O(n²)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951220" cy="3545205"/>
            <a:chOff x="533400" y="1524000"/>
            <a:chExt cx="5951220" cy="35452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3545205"/>
            </a:xfrm>
            <a:prstGeom prst="roundRect">
              <a:avLst>
                <a:gd name="adj" fmla="val 268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7201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算法5.4 JS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140710" cy="3060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JS(D, J, n, k)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D(0)&lt;-J(0)&lt;-0; k&lt;-1; J(1)&lt;-1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i &lt;- 2 to n do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 &lt;- k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while D(J(r))&gt;D(i) and D(J(r))&lt;&gt;r do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 &lt;- r - 1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repeat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D(J(r))&lt;=D(i) and D(i)&gt;r then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for l &lt;- k to r+1 by -1 do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J(l+1) &lt;- J(l)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repeat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J(r+1) &lt;- i; k &lt;- k+1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endif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repeat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JS</a:t>
              </a:r>
            </a:p>
          </p:txBody>
        </p:sp>
      </p:grpSp>
      <p:grpSp>
        <p:nvGrpSpPr>
          <p:cNvPr id="24" name="c2-steps-1"/>
          <p:cNvGrpSpPr/>
          <p:nvPr/>
        </p:nvGrpSpPr>
        <p:grpSpPr>
          <a:xfrm>
            <a:off x="6789420" y="1533525"/>
            <a:ext cx="3665073" cy="1878615"/>
            <a:chOff x="6789420" y="1533525"/>
            <a:chExt cx="3665073" cy="1878615"/>
          </a:xfrm>
        </p:grpSpPr>
        <p:sp>
          <p:nvSpPr>
            <p:cNvPr id="11" name="Rectangle 11"/>
            <p:cNvSpPr/>
            <p:nvPr/>
          </p:nvSpPr>
          <p:spPr>
            <a:xfrm>
              <a:off x="6922770" y="167640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678942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88304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6789420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88304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6789420" y="28346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88304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00900" y="1567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保持有序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02043" y="1861661"/>
              <a:ext cx="25254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J中作业始终按期限从小到大排列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00900" y="221837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找空位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02043" y="2512219"/>
              <a:ext cx="32524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新作业i从后往前找一个不迟于di的位置r+1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200900" y="286893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腾位置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02043" y="3162776"/>
              <a:ext cx="28561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把r+1到k的作业依次后移一位再插入i</a:t>
              </a:r>
            </a:p>
          </p:txBody>
        </p:sp>
      </p:grpSp>
      <p:grpSp>
        <p:nvGrpSpPr>
          <p:cNvPr id="31" name="c2-callout-2"/>
          <p:cNvGrpSpPr/>
          <p:nvPr/>
        </p:nvGrpSpPr>
        <p:grpSpPr>
          <a:xfrm>
            <a:off x="6789420" y="3590925"/>
            <a:ext cx="4869180" cy="1478280"/>
            <a:chOff x="6789420" y="3590925"/>
            <a:chExt cx="4869180" cy="1478280"/>
          </a:xfrm>
        </p:grpSpPr>
        <p:sp>
          <p:nvSpPr>
            <p:cNvPr id="25" name="Rectangle 25"/>
            <p:cNvSpPr/>
            <p:nvPr/>
          </p:nvSpPr>
          <p:spPr>
            <a:xfrm>
              <a:off x="6789420" y="3590925"/>
              <a:ext cx="4869180" cy="1478280"/>
            </a:xfrm>
            <a:prstGeom prst="roundRect">
              <a:avLst>
                <a:gd name="adj" fmla="val 773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6982149" y="4226361"/>
              <a:ext cx="224134" cy="192560"/>
              <a:chOff x="6982149" y="4226361"/>
              <a:chExt cx="224134" cy="19256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094220" y="429672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982149" y="422636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094220" y="437451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7296150" y="4087178"/>
              <a:ext cx="38823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内层while最多循环k次，外层for循环n-1次，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总体O(n²)。</a:t>
              </a:r>
            </a:p>
          </p:txBody>
        </p:sp>
      </p:grpSp>
      <p:grpSp>
        <p:nvGrpSpPr>
          <p:cNvPr id="3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2" name="Rectangle 3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130" y="5991225"/>
              <a:ext cx="58914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思考：能不能不靠"挪动数组"就找到空位？下一页给出优化思路。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贪心法 · 带有期限的作业调度问题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优化思路：用并查集跳过无效搜索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418260" cy="308039"/>
            <a:chOff x="525399" y="1550194"/>
            <a:chExt cx="641826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41826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与其一格格挪位置，不如给每个期限值维护"当前可用的最大空位"。</a:t>
              </a:r>
            </a:p>
          </p:txBody>
        </p:sp>
      </p:grpSp>
      <p:grpSp>
        <p:nvGrpSpPr>
          <p:cNvPr id="15" name="c1-bullets-1"/>
          <p:cNvGrpSpPr/>
          <p:nvPr/>
        </p:nvGrpSpPr>
        <p:grpSpPr>
          <a:xfrm>
            <a:off x="533400" y="1992630"/>
            <a:ext cx="5132261" cy="982980"/>
            <a:chOff x="533400" y="1992630"/>
            <a:chExt cx="5132261" cy="982980"/>
          </a:xfrm>
        </p:grpSpPr>
        <p:sp>
          <p:nvSpPr>
            <p:cNvPr id="9" name="Freeform 9"/>
            <p:cNvSpPr/>
            <p:nvPr/>
          </p:nvSpPr>
          <p:spPr>
            <a:xfrm>
              <a:off x="533400" y="2024062"/>
              <a:ext cx="143827" cy="116205"/>
            </a:xfrm>
            <a:custGeom>
              <a:avLst/>
              <a:gdLst/>
              <a:ahLst/>
              <a:cxnLst/>
              <a:rect l="l" t="t" r="r" b="b"/>
              <a:pathLst>
                <a:path w="143827" h="116205">
                  <a:moveTo>
                    <a:pt x="0" y="61912"/>
                  </a:moveTo>
                  <a:lnTo>
                    <a:pt x="55245" y="116205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83908" y="1992630"/>
              <a:ext cx="42366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数组 </a:t>
              </a:r>
              <a:r>
                <a:rPr lang="en-US" sz="1500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F(i)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：期限为i的作业当前能用的最大空位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533400" y="2368868"/>
              <a:ext cx="143827" cy="116205"/>
            </a:xfrm>
            <a:custGeom>
              <a:avLst/>
              <a:gdLst/>
              <a:ahLst/>
              <a:cxnLst/>
              <a:rect l="l" t="t" r="r" b="b"/>
              <a:pathLst>
                <a:path w="143827" h="116205">
                  <a:moveTo>
                    <a:pt x="0" y="61912"/>
                  </a:moveTo>
                  <a:lnTo>
                    <a:pt x="55245" y="116205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83908" y="2337435"/>
              <a:ext cx="46962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数组 </a:t>
              </a:r>
              <a:r>
                <a:rPr lang="en-US" sz="1500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P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做并查集：同一棵树里的节点共享同一个空位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533400" y="2713672"/>
              <a:ext cx="143827" cy="116205"/>
            </a:xfrm>
            <a:custGeom>
              <a:avLst/>
              <a:gdLst/>
              <a:ahLst/>
              <a:cxnLst/>
              <a:rect l="l" t="t" r="r" b="b"/>
              <a:pathLst>
                <a:path w="143827" h="116205">
                  <a:moveTo>
                    <a:pt x="0" y="61912"/>
                  </a:moveTo>
                  <a:lnTo>
                    <a:pt x="55245" y="116205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83908" y="2682240"/>
              <a:ext cx="48817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每次给作业分配空位后，把它和"少一个位置"的树合并</a:t>
              </a:r>
            </a:p>
          </p:txBody>
        </p:sp>
      </p:grpSp>
      <p:grpSp>
        <p:nvGrpSpPr>
          <p:cNvPr id="53" name="c1-table-2"/>
          <p:cNvGrpSpPr/>
          <p:nvPr/>
        </p:nvGrpSpPr>
        <p:grpSpPr>
          <a:xfrm>
            <a:off x="527685" y="3107055"/>
            <a:ext cx="5199697" cy="2539842"/>
            <a:chOff x="527685" y="3107055"/>
            <a:chExt cx="5199697" cy="2539842"/>
          </a:xfrm>
        </p:grpSpPr>
        <p:sp>
          <p:nvSpPr>
            <p:cNvPr id="16" name="Rectangle 16"/>
            <p:cNvSpPr/>
            <p:nvPr/>
          </p:nvSpPr>
          <p:spPr>
            <a:xfrm>
              <a:off x="533400" y="3107055"/>
              <a:ext cx="5193982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221473" y="324183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处理过程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783610" y="3241834"/>
              <a:ext cx="4335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F(0)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62755" y="3241834"/>
              <a:ext cx="4335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F(1)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41900" y="3241834"/>
              <a:ext cx="4335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F(2)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121045" y="3241834"/>
              <a:ext cx="4335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F(3)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1223" y="369046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946512" y="369046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25657" y="369046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04802" y="369046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83947" y="369046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99954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4004310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4140041"/>
              <a:ext cx="16253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作业1(d=2) 占空位2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946512" y="41400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725657" y="41400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04802" y="41400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83947" y="41400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44817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1223" y="4588669"/>
              <a:ext cx="16253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作业2(d=2) 占空位1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946512" y="458866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725657" y="458866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504802" y="458866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283947" y="458866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489680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4901565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1223" y="5037296"/>
              <a:ext cx="16253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作业4(d=3) 占空位3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946512" y="503729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725657" y="503729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504802" y="503729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283947" y="503729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3107055"/>
              <a:ext cx="5193982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2606040" y="310705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3385185" y="310705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4164330" y="310705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4943475" y="310705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27685" y="5426869"/>
              <a:ext cx="50218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F值变成0就表示这个期限之前再无空位，作业3、作业5正是这样被舍弃的。</a:t>
              </a:r>
            </a:p>
          </p:txBody>
        </p:sp>
      </p:grpSp>
      <p:grpSp>
        <p:nvGrpSpPr>
          <p:cNvPr id="74" name="c2-card-1"/>
          <p:cNvGrpSpPr/>
          <p:nvPr/>
        </p:nvGrpSpPr>
        <p:grpSpPr>
          <a:xfrm>
            <a:off x="6032182" y="1967865"/>
            <a:ext cx="5626418" cy="3634740"/>
            <a:chOff x="6032182" y="1967865"/>
            <a:chExt cx="5626418" cy="3634740"/>
          </a:xfrm>
        </p:grpSpPr>
        <p:sp>
          <p:nvSpPr>
            <p:cNvPr id="54" name="Rectangle 54"/>
            <p:cNvSpPr/>
            <p:nvPr/>
          </p:nvSpPr>
          <p:spPr>
            <a:xfrm>
              <a:off x="6032182" y="1967865"/>
              <a:ext cx="5626418" cy="3634740"/>
            </a:xfrm>
            <a:prstGeom prst="roundRect">
              <a:avLst>
                <a:gd name="adj" fmla="val 36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041708" y="2101215"/>
              <a:ext cx="47625" cy="336804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279832" y="217741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366091" y="221313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小例子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022783" y="2212658"/>
              <a:ext cx="41073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n=5, p=(20,15,10,5,1), d=(2,2,1,3,3)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279832" y="2560320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341682" y="260261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580823" y="25736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作业1(d=2) → 占用空位2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279832" y="2895600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341682" y="293789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580823" y="2908935"/>
              <a:ext cx="33571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作业2(d=2) → 空位2已占，占用空位1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279832" y="3230880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341682" y="327317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580823" y="324421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作业3(d=1) → 空位1也已占，无空位，舍弃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6279832" y="3566160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341682" y="360845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580823" y="357949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作业4(d=3) → 占用空位3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6279832" y="3901440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341682" y="394373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580823" y="3914775"/>
              <a:ext cx="30643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作业5(d=3) → 空位1~3全占，舍弃</a:t>
              </a:r>
            </a:p>
          </p:txBody>
        </p:sp>
      </p:grpSp>
      <p:grpSp>
        <p:nvGrpSpPr>
          <p:cNvPr id="8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75" name="Rectangle 7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1040130" y="5991225"/>
              <a:ext cx="5659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目标：去掉内层while循环，把复杂度从O(n²)降到接近O(n)。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87933" cy="909257"/>
            <a:chOff x="520446" y="342900"/>
            <a:chExt cx="488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贪心法 · 带有期限的作业调度问题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8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更快算法：FJS 伪代码与复杂度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951220" cy="3748088"/>
            <a:chOff x="533400" y="1524000"/>
            <a:chExt cx="5951220" cy="374808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3748088"/>
            </a:xfrm>
            <a:prstGeom prst="roundRect">
              <a:avLst>
                <a:gd name="adj" fmla="val 254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800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算法5.5 FJS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2201926" cy="3263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FJS(D, n, b, J, k)</a:t>
              </a:r>
              <a:br/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b = min(n, max(dj))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i &lt;- 0 to b do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F(i) &lt;- i; P(i) &lt;- -1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repeat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k &lt;- 0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i &lt;- 1 to n do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j &lt;- FIND(min(n, D(i)))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F(j) &lt;&gt; 0 then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k &lt;- k+1; J(k) &lt;- i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 &lt;- FIND(F(j)-1)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call UNION(l, j)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F(j) &lt;- F(l)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endif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repeat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FJS</a:t>
              </a:r>
            </a:p>
          </p:txBody>
        </p:sp>
      </p:grpSp>
      <p:grpSp>
        <p:nvGrpSpPr>
          <p:cNvPr id="27" name="c2-table-1"/>
          <p:cNvGrpSpPr/>
          <p:nvPr/>
        </p:nvGrpSpPr>
        <p:grpSpPr>
          <a:xfrm>
            <a:off x="6789420" y="1524000"/>
            <a:ext cx="4869180" cy="1346835"/>
            <a:chOff x="6789420" y="1524000"/>
            <a:chExt cx="4869180" cy="1346835"/>
          </a:xfrm>
        </p:grpSpPr>
        <p:sp>
          <p:nvSpPr>
            <p:cNvPr id="11" name="Rectangle 11"/>
            <p:cNvSpPr/>
            <p:nvPr/>
          </p:nvSpPr>
          <p:spPr>
            <a:xfrm>
              <a:off x="6789420" y="1524000"/>
              <a:ext cx="486918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31928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94529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核心操作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585069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时间复杂度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897243" y="2108359"/>
              <a:ext cx="9448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JS(插入法)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14563" y="210835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顺序移动数组元素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93883" y="2108359"/>
              <a:ext cx="5356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789420" y="241649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789420" y="2421255"/>
              <a:ext cx="486918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97243" y="2556986"/>
              <a:ext cx="10499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FJS(并查集)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14563" y="2556986"/>
              <a:ext cx="18308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带路径压缩的查找/合并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395585" y="2430780"/>
              <a:ext cx="125349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493883" y="2556986"/>
              <a:ext cx="7828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接近O(n)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789420" y="1524000"/>
              <a:ext cx="4869180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8201978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10381298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4" name="c2-callout-2"/>
          <p:cNvGrpSpPr/>
          <p:nvPr/>
        </p:nvGrpSpPr>
        <p:grpSpPr>
          <a:xfrm>
            <a:off x="6789420" y="3061335"/>
            <a:ext cx="4869180" cy="1059180"/>
            <a:chOff x="6789420" y="3061335"/>
            <a:chExt cx="4869180" cy="1059180"/>
          </a:xfrm>
        </p:grpSpPr>
        <p:sp>
          <p:nvSpPr>
            <p:cNvPr id="28" name="Rectangle 28"/>
            <p:cNvSpPr/>
            <p:nvPr/>
          </p:nvSpPr>
          <p:spPr>
            <a:xfrm>
              <a:off x="6789420" y="3061335"/>
              <a:ext cx="4869180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994208" y="3490913"/>
              <a:ext cx="200026" cy="200026"/>
              <a:chOff x="6994208" y="3490913"/>
              <a:chExt cx="200026" cy="20002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6994208" y="349091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094220" y="35575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083108" y="359092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7296150" y="3209925"/>
              <a:ext cx="38823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加权合并+路径压缩后总操作数约为O(n·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α(n))，α是增长极慢的反阿克曼函数，可近似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看作线性。</a:t>
              </a:r>
            </a:p>
          </p:txBody>
        </p:sp>
      </p:grpSp>
      <p:grpSp>
        <p:nvGrpSpPr>
          <p:cNvPr id="4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5" name="Rectangle 3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130" y="5991225"/>
              <a:ext cx="56376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FJS没有改变贪心策略，只是用并查集加速了"找空位"这一步。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053452" cy="909257"/>
            <a:chOff x="520446" y="342900"/>
            <a:chExt cx="40534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贪心法 · 带有期限的作业调度问题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0534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完整实例：n=7的贪心调度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991925" cy="308039"/>
            <a:chOff x="525399" y="1550194"/>
            <a:chExt cx="8991925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99192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(p)=(35,30,25,20,15,10,5)，(d)=(4,2,4,3,4,8,3)，按效益从高到低依次尝试分配空位。</a:t>
              </a:r>
            </a:p>
          </p:txBody>
        </p:sp>
      </p:grpSp>
      <p:grpSp>
        <p:nvGrpSpPr>
          <p:cNvPr id="62" name="c1-table-1"/>
          <p:cNvGrpSpPr/>
          <p:nvPr/>
        </p:nvGrpSpPr>
        <p:grpSpPr>
          <a:xfrm>
            <a:off x="533400" y="1967865"/>
            <a:ext cx="11125200" cy="3590925"/>
            <a:chOff x="533400" y="1967865"/>
            <a:chExt cx="11125200" cy="359092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11125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74387" y="2102644"/>
              <a:ext cx="9012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作业(效益)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43692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期限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05103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尝试分配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42537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1223" y="2551271"/>
              <a:ext cx="1108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作业1 (p=35)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23476" y="25512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36183" y="2551271"/>
              <a:ext cx="7969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空位4空闲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593580" y="2426018"/>
              <a:ext cx="205549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691878" y="255127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加入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603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286512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3000851"/>
              <a:ext cx="1108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作业2 (p=30)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23476" y="30008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36183" y="3000851"/>
              <a:ext cx="7969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空位2空闲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593580" y="2874645"/>
              <a:ext cx="205549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691878" y="300085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加入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3089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1223" y="3449479"/>
              <a:ext cx="1108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作业3 (p=25)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423476" y="344947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36183" y="3449479"/>
              <a:ext cx="17533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空位4已占，退到空位3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593580" y="3323272"/>
              <a:ext cx="205549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691878" y="344947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加入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7576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76237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1223" y="3898106"/>
              <a:ext cx="1108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作业4 (p=20)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423476" y="389810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36183" y="3898106"/>
              <a:ext cx="20204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空位3、2已占，退到空位1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593580" y="3771900"/>
              <a:ext cx="205549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691878" y="38981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加入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2071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1223" y="4346734"/>
              <a:ext cx="1108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作业5 (p=15)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423476" y="434673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036183" y="4346734"/>
              <a:ext cx="15982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空位4、3、2、1全占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593580" y="4221480"/>
              <a:ext cx="2055495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691878" y="434673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舍弃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465582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33400" y="4660582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41223" y="4795361"/>
              <a:ext cx="1108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作业6 (p=10)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423476" y="4795361"/>
              <a:ext cx="9089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8(封顶为7)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036183" y="4795361"/>
              <a:ext cx="7969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空位7空闲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593580" y="4670108"/>
              <a:ext cx="205549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691878" y="479536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加入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510444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41223" y="5244941"/>
              <a:ext cx="10089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作业7 (p=5)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423476" y="52449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036183" y="5244941"/>
              <a:ext cx="13311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空位3、2、1全占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593580" y="5118735"/>
              <a:ext cx="2055495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691878" y="52449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舍弃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3400" y="1967865"/>
              <a:ext cx="11125200" cy="35909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3310890" y="1967865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5923598" y="1967865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9579292" y="1967865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3" name="Rectangle 6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0130" y="5991225"/>
              <a:ext cx="99646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最优解 J={1,2,3,4,6}，按空位从小到大处理顺序为4,2,3,1,6，总效益=35+30+25+20+10=120（已核算）。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4608870" cy="2643187"/>
            <a:chOff x="667512" y="1835468"/>
            <a:chExt cx="4608870" cy="26431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最小生成树问题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5989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Kruskal算法：先挑最便宜的边，不成环就敢加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从边入手，而不是从点入手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1107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生成树恰好有|V|-1条边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285619" cy="909257"/>
            <a:chOff x="520446" y="342900"/>
            <a:chExt cx="22856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贪心法 · 最小生成树问题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问题定义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222104" cy="308039"/>
            <a:chOff x="525399" y="1550194"/>
            <a:chExt cx="7222104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22210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给定带权连通无向图G=(V,E)，生成树T=(V,E')的权是E'中所有边权之和。</a:t>
              </a:r>
            </a:p>
          </p:txBody>
        </p:sp>
      </p:grpSp>
      <p:grpSp>
        <p:nvGrpSpPr>
          <p:cNvPr id="17" name="c1-card-1"/>
          <p:cNvGrpSpPr/>
          <p:nvPr/>
        </p:nvGrpSpPr>
        <p:grpSpPr>
          <a:xfrm>
            <a:off x="533400" y="1967865"/>
            <a:ext cx="5951220" cy="3147060"/>
            <a:chOff x="533400" y="1967865"/>
            <a:chExt cx="5951220" cy="314706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951220" cy="3147060"/>
            </a:xfrm>
            <a:prstGeom prst="roundRect">
              <a:avLst>
                <a:gd name="adj" fmla="val 42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288036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125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2078" y="221265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最小生成树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2573655"/>
              <a:ext cx="45750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G的一棵生成树是包含全部顶点、无环的连通子图。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3430" y="2908935"/>
              <a:ext cx="47769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G的最小生成树是所有生成树中权值和最小的那一棵。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3430" y="3244215"/>
              <a:ext cx="53850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|V|个顶点的生成树恰好有|V|-1条边，这是算法结束的判据。</a:t>
              </a:r>
            </a:p>
          </p:txBody>
        </p:sp>
      </p:grpSp>
      <p:grpSp>
        <p:nvGrpSpPr>
          <p:cNvPr id="20" name="c2-image-1"/>
          <p:cNvGrpSpPr/>
          <p:nvPr/>
        </p:nvGrpSpPr>
        <p:grpSpPr>
          <a:xfrm>
            <a:off x="6789420" y="1967865"/>
            <a:ext cx="4869180" cy="3172302"/>
            <a:chOff x="6789420" y="1967865"/>
            <a:chExt cx="4869180" cy="3172302"/>
          </a:xfrm>
        </p:grpSpPr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rcRect l="0" t="10876" r="0" b="10877"/>
            <a:stretch>
              <a:fillRect/>
            </a:stretch>
          </p:blipFill>
          <p:spPr>
            <a:xfrm>
              <a:off x="6789420" y="1967865"/>
              <a:ext cx="4869180" cy="2857500"/>
            </a:xfrm>
            <a:prstGeom prst="roundRect">
              <a:avLst>
                <a:gd name="adj" fmla="val 4666"/>
              </a:avLst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7710551" y="4920139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先修最便宜的桥，只要不和已修的桥围成环。</a:t>
              </a:r>
            </a:p>
          </p:txBody>
        </p:sp>
      </p:grpSp>
      <p:grpSp>
        <p:nvGrpSpPr>
          <p:cNvPr id="2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21" name="Rectangle 2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130" y="5991225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把顶点看成岛屿，把边看成桥：修最少的桥把所有岛连通，还要花费最少。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8" name="TextBox 28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10094" cy="909257"/>
            <a:chOff x="520446" y="342900"/>
            <a:chExt cx="51100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贪心法 · 最小生成树问题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100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Kruskal算法：贪心策略与伪代码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951220" cy="2440305"/>
            <a:chOff x="533400" y="1524000"/>
            <a:chExt cx="5951220" cy="24403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2440305"/>
            </a:xfrm>
            <a:prstGeom prst="roundRect">
              <a:avLst>
                <a:gd name="adj" fmla="val 390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0487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算法5.6 Kruskal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2063496" cy="195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input: 加权连通无向图 G=(V,E)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output: G的一棵最小生成树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T &lt;- 空集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存储选中的边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while T所含边数 &lt; n-1 do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从E中选一条最小权值的边(v,w)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从E中删除该边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if 加入T不会形成回路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then 将(v,w)加入T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else 放弃(v,w)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endif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repeat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4133850"/>
            <a:ext cx="5951220" cy="1565910"/>
            <a:chOff x="533400" y="4133850"/>
            <a:chExt cx="5951220" cy="1565910"/>
          </a:xfrm>
        </p:grpSpPr>
        <p:sp>
          <p:nvSpPr>
            <p:cNvPr id="11" name="Rectangle 11"/>
            <p:cNvSpPr/>
            <p:nvPr/>
          </p:nvSpPr>
          <p:spPr>
            <a:xfrm>
              <a:off x="533400" y="4133850"/>
              <a:ext cx="5951220" cy="1565910"/>
            </a:xfrm>
            <a:prstGeom prst="roundRect">
              <a:avLst>
                <a:gd name="adj" fmla="val 72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4816793"/>
              <a:ext cx="200026" cy="200026"/>
              <a:chOff x="738188" y="4816793"/>
              <a:chExt cx="200026" cy="20002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481679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38200" y="48834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27088" y="491680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892" y="4698682"/>
              <a:ext cx="4891469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循环条件是"T中边数 &lt; n-1"。图本身不连通时，边选完也凑不满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n-1条，得到的是一片生成森林。</a:t>
              </a:r>
            </a:p>
          </p:txBody>
        </p:sp>
      </p:grpSp>
      <p:grpSp>
        <p:nvGrpSpPr>
          <p:cNvPr id="31" name="c2-steps-1"/>
          <p:cNvGrpSpPr/>
          <p:nvPr/>
        </p:nvGrpSpPr>
        <p:grpSpPr>
          <a:xfrm>
            <a:off x="6789420" y="1533525"/>
            <a:ext cx="2623276" cy="1685449"/>
            <a:chOff x="6789420" y="1533525"/>
            <a:chExt cx="2623276" cy="1685449"/>
          </a:xfrm>
        </p:grpSpPr>
        <p:sp>
          <p:nvSpPr>
            <p:cNvPr id="18" name="Rectangle 18"/>
            <p:cNvSpPr/>
            <p:nvPr/>
          </p:nvSpPr>
          <p:spPr>
            <a:xfrm>
              <a:off x="6922770" y="1676400"/>
              <a:ext cx="19050" cy="11658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678942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8304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789420" y="21164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883044" y="21902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789420" y="26993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83044" y="27732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01662" y="1564957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02805" y="183308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把所有边按权值从小到大排序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01662" y="214788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逐条判断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02805" y="2416016"/>
              <a:ext cx="22098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依次考察每条边，不成环就加入T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01662" y="27308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02805" y="2998946"/>
              <a:ext cx="15540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T中凑满n-1条边就停止</a:t>
              </a:r>
            </a:p>
          </p:txBody>
        </p:sp>
      </p:grpSp>
      <p:grpSp>
        <p:nvGrpSpPr>
          <p:cNvPr id="40" name="c2-card-2"/>
          <p:cNvGrpSpPr/>
          <p:nvPr/>
        </p:nvGrpSpPr>
        <p:grpSpPr>
          <a:xfrm>
            <a:off x="6789420" y="3382328"/>
            <a:ext cx="4869180" cy="2317432"/>
            <a:chOff x="6789420" y="3382328"/>
            <a:chExt cx="4869180" cy="2317432"/>
          </a:xfrm>
        </p:grpSpPr>
        <p:sp>
          <p:nvSpPr>
            <p:cNvPr id="32" name="Rectangle 32"/>
            <p:cNvSpPr/>
            <p:nvPr/>
          </p:nvSpPr>
          <p:spPr>
            <a:xfrm>
              <a:off x="6789420" y="3382328"/>
              <a:ext cx="4869180" cy="2317432"/>
            </a:xfrm>
            <a:prstGeom prst="roundRect">
              <a:avLst>
                <a:gd name="adj" fmla="val 57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798945" y="3515678"/>
              <a:ext cx="47625" cy="20507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014210" y="356901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06882" y="360187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79804" y="3604260"/>
              <a:ext cx="18592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"不会形成回路"怎么判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07352" y="3930015"/>
              <a:ext cx="377704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每个顶点先各自成一个集合。取到边(v,w)时，先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FIND(v)、FIND(w)。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07352" y="4487228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两端落在同一个集合里，说明它们已经连通，这条边会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成环，跳过。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07352" y="5045392"/>
              <a:ext cx="417137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落在不同集合就UNION合并，把边收进T。用的是作业调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度那一节的同一套并查集。</a:t>
              </a:r>
            </a:p>
          </p:txBody>
        </p:sp>
      </p:grpSp>
      <p:grpSp>
        <p:nvGrpSpPr>
          <p:cNvPr id="46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41" name="Rectangle 41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892" y="6028373"/>
              <a:ext cx="58196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复杂度O(e log e)，e是边数（排序主导；连通图边数最多n(n-1)/2）。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贪心法 · 最小生成树问题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实例：五个顶点，逐条边判断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408517" cy="308039"/>
            <a:chOff x="525399" y="1550194"/>
            <a:chExt cx="7408517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40851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顶点A、B、C、D、E；边按权值从小到大依次判断，凑够4条边(=5-1)就结束。</a:t>
              </a:r>
            </a:p>
          </p:txBody>
        </p:sp>
      </p:grpSp>
      <p:grpSp>
        <p:nvGrpSpPr>
          <p:cNvPr id="50" name="c1-table-1"/>
          <p:cNvGrpSpPr/>
          <p:nvPr/>
        </p:nvGrpSpPr>
        <p:grpSpPr>
          <a:xfrm>
            <a:off x="527685" y="1967865"/>
            <a:ext cx="11130915" cy="2988469"/>
            <a:chOff x="527685" y="1967865"/>
            <a:chExt cx="11130915" cy="2988469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11125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602816" y="210264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908387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权值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59258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是否成环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702444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决定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1223" y="255127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64370" y="255127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425630" y="255127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113395" y="2426018"/>
              <a:ext cx="353568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211693" y="255127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加入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603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286512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300085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64370" y="300085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425630" y="300085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113395" y="2874645"/>
              <a:ext cx="353568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211693" y="300085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加入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3089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1223" y="3449479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BC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964370" y="344947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25630" y="344947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113395" y="3323272"/>
              <a:ext cx="353568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211693" y="344947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加入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7576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76237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1223" y="389810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BD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964370" y="389810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425630" y="389810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113395" y="3771900"/>
              <a:ext cx="3535680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211693" y="38981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跳过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2071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1223" y="4346734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964370" y="434673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425630" y="434673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113395" y="4221480"/>
              <a:ext cx="353568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211693" y="4346734"/>
              <a:ext cx="15034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加入(已4条，结束)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1967865"/>
              <a:ext cx="11125200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2851785" y="196786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313045" y="196786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8099108" y="196786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27685" y="4736306"/>
              <a:ext cx="5163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剩余的ED(90)、BE(200)、AC(300)权值更大，且已达到4条边，无需再看。</a:t>
              </a:r>
            </a:p>
          </p:txBody>
        </p:sp>
      </p:grpSp>
      <p:grpSp>
        <p:nvGrpSpPr>
          <p:cNvPr id="57" name="c1-callout-2"/>
          <p:cNvGrpSpPr/>
          <p:nvPr/>
        </p:nvGrpSpPr>
        <p:grpSpPr>
          <a:xfrm>
            <a:off x="533400" y="5102542"/>
            <a:ext cx="11125200" cy="555308"/>
            <a:chOff x="533400" y="5102542"/>
            <a:chExt cx="11125200" cy="555308"/>
          </a:xfrm>
        </p:grpSpPr>
        <p:sp>
          <p:nvSpPr>
            <p:cNvPr id="51" name="Rectangle 51"/>
            <p:cNvSpPr/>
            <p:nvPr/>
          </p:nvSpPr>
          <p:spPr>
            <a:xfrm>
              <a:off x="533400" y="5102542"/>
              <a:ext cx="11125200" cy="555308"/>
            </a:xfrm>
            <a:prstGeom prst="roundRect">
              <a:avLst>
                <a:gd name="adj" fmla="val 2058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5279708"/>
              <a:ext cx="200026" cy="200026"/>
              <a:chOff x="738188" y="5279708"/>
              <a:chExt cx="200026" cy="200026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52797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38200" y="53463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27088" y="53797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130" y="5274945"/>
              <a:ext cx="8938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生成树只需要|V|-1=4条边，凑够就立刻停止，所以权值最大的三条边(ED、BE、AC)根本不用检查。</a:t>
              </a:r>
            </a:p>
          </p:txBody>
        </p:sp>
      </p:grpSp>
      <p:grpSp>
        <p:nvGrpSpPr>
          <p:cNvPr id="6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8" name="Rectangle 5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130" y="5991225"/>
              <a:ext cx="64640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最小生成树={AE,CD,BC,AD}，总权值=50+60+70+80=260（已核算）。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285619" cy="909257"/>
            <a:chOff x="520446" y="342900"/>
            <a:chExt cx="22856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贪心法 · 最小生成树问题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贪心策略分析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kv-1"/>
          <p:cNvGrpSpPr/>
          <p:nvPr/>
        </p:nvGrpSpPr>
        <p:grpSpPr>
          <a:xfrm>
            <a:off x="525780" y="1548765"/>
            <a:ext cx="5417820" cy="1613535"/>
            <a:chOff x="525780" y="1548765"/>
            <a:chExt cx="5417820" cy="161353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约束条件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66862" y="1548765"/>
              <a:ext cx="3409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T中|V|=n，|E'|=n-1，E'⊆E，且T无环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8688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198882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目标函数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66862" y="198882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权值和最小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0886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24288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量度标准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66862" y="24288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权值从小到大排列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7489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5780" y="2868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66862" y="2868930"/>
              <a:ext cx="33731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Kruskal：按边权贪心，用并查集判环</a:t>
              </a:r>
            </a:p>
          </p:txBody>
        </p:sp>
      </p:grpSp>
      <p:grpSp>
        <p:nvGrpSpPr>
          <p:cNvPr id="38" name="c1-table-2"/>
          <p:cNvGrpSpPr/>
          <p:nvPr/>
        </p:nvGrpSpPr>
        <p:grpSpPr>
          <a:xfrm>
            <a:off x="533400" y="3293745"/>
            <a:ext cx="5410200" cy="1795462"/>
            <a:chOff x="533400" y="3293745"/>
            <a:chExt cx="5410200" cy="1795462"/>
          </a:xfrm>
        </p:grpSpPr>
        <p:sp>
          <p:nvSpPr>
            <p:cNvPr id="19" name="Rectangle 19"/>
            <p:cNvSpPr/>
            <p:nvPr/>
          </p:nvSpPr>
          <p:spPr>
            <a:xfrm>
              <a:off x="533400" y="3293745"/>
              <a:ext cx="5410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492847" y="342947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200768" y="342947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执行次数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66678" y="342947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单次代价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1223" y="387810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边排序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918650" y="3878104"/>
              <a:ext cx="2800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399788" y="3878104"/>
              <a:ext cx="8739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O(e log e)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1862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191000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1223" y="4326731"/>
              <a:ext cx="15919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FIND判两端是否连通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918650" y="4326731"/>
              <a:ext cx="7194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最多2e次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399788" y="4326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接近常数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63581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1223" y="4775359"/>
              <a:ext cx="13906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UNION合并两棵树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918650" y="4775359"/>
              <a:ext cx="4695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n-1次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399788" y="4775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接近常数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293745"/>
              <a:ext cx="5410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2806065" y="329374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287202" y="329374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5" name="c2-callout-1"/>
          <p:cNvGrpSpPr/>
          <p:nvPr/>
        </p:nvGrpSpPr>
        <p:grpSpPr>
          <a:xfrm>
            <a:off x="6248400" y="1524000"/>
            <a:ext cx="5410200" cy="782955"/>
            <a:chOff x="6248400" y="1524000"/>
            <a:chExt cx="5410200" cy="782955"/>
          </a:xfrm>
        </p:grpSpPr>
        <p:sp>
          <p:nvSpPr>
            <p:cNvPr id="39" name="Rectangle 39"/>
            <p:cNvSpPr/>
            <p:nvPr/>
          </p:nvSpPr>
          <p:spPr>
            <a:xfrm>
              <a:off x="6248400" y="152400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6441129" y="1811773"/>
              <a:ext cx="224134" cy="192560"/>
              <a:chOff x="6441129" y="1811773"/>
              <a:chExt cx="224134" cy="19256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553200" y="188214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441129" y="181177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553200" y="19599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6755130" y="1672590"/>
              <a:ext cx="45015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量度标准直接照搬了目标函数，但它是不是"最优量度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标准"还没有证明，需要单独证。</a:t>
              </a:r>
            </a:p>
          </p:txBody>
        </p:sp>
      </p:grpSp>
      <p:grpSp>
        <p:nvGrpSpPr>
          <p:cNvPr id="71" name="c2-table-2"/>
          <p:cNvGrpSpPr/>
          <p:nvPr/>
        </p:nvGrpSpPr>
        <p:grpSpPr>
          <a:xfrm>
            <a:off x="6242685" y="2497455"/>
            <a:ext cx="5415915" cy="2739866"/>
            <a:chOff x="6242685" y="2497455"/>
            <a:chExt cx="5415915" cy="2739866"/>
          </a:xfrm>
        </p:grpSpPr>
        <p:sp>
          <p:nvSpPr>
            <p:cNvPr id="46" name="Rectangle 46"/>
            <p:cNvSpPr/>
            <p:nvPr/>
          </p:nvSpPr>
          <p:spPr>
            <a:xfrm>
              <a:off x="6248400" y="2497455"/>
              <a:ext cx="5410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59715" y="263318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131037" y="2633186"/>
              <a:ext cx="6695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Kruskal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046302" y="2633186"/>
              <a:ext cx="10967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Prim（补充）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356223" y="30818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贪心对象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509701" y="308181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637586" y="30818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顶点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248400" y="338994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248400" y="3394710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56223" y="35304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每步选谁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509701" y="353044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全图最小且不成环的边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637586" y="353044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树与树外之间的最小边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248400" y="38395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356223" y="397906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辅助结构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509701" y="397906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并查集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637586" y="397906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距离数组或优先队列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248400" y="42881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248400" y="4292918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356223" y="442769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复杂度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509701" y="4427696"/>
              <a:ext cx="8739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O(e log e)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637586" y="4427696"/>
              <a:ext cx="15689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O(n²)或O(e log n)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248400" y="2497455"/>
              <a:ext cx="5410200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7397115" y="249745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9525000" y="249745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242685" y="4817269"/>
              <a:ext cx="50965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两种都是贪心，都能得到最小生成树。本章只要求掌握Kruskal，Prim列在这里作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对照。</a:t>
              </a:r>
            </a:p>
          </p:txBody>
        </p:sp>
      </p:grpSp>
      <p:grpSp>
        <p:nvGrpSpPr>
          <p:cNvPr id="7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72" name="Rectangle 7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1040130" y="5991225"/>
              <a:ext cx="62750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下一页用交换论证证明：按权值贪心选边，得到的一定是最小生成树。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贪心法 · 最小生成树问题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证明思路：交换论证（反证法）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754150" cy="293370"/>
            <a:chOff x="525780" y="1548765"/>
            <a:chExt cx="675415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7541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设T是Kruskal算法生成的树，T'是真正的最小生成树，证明二者权值相同。</a:t>
              </a:r>
            </a:p>
          </p:txBody>
        </p:sp>
      </p:grpSp>
      <p:grpSp>
        <p:nvGrpSpPr>
          <p:cNvPr id="44" name="c1-steps-1"/>
          <p:cNvGrpSpPr/>
          <p:nvPr/>
        </p:nvGrpSpPr>
        <p:grpSpPr>
          <a:xfrm>
            <a:off x="533400" y="1954530"/>
            <a:ext cx="11125200" cy="1840230"/>
            <a:chOff x="533400" y="1954530"/>
            <a:chExt cx="11125200" cy="1840230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1616392" cy="1840230"/>
            </a:xfrm>
            <a:prstGeom prst="roundRect">
              <a:avLst>
                <a:gd name="adj" fmla="val 707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666750" y="20878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6883" y="21583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59511" y="2492216"/>
              <a:ext cx="9999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1.反证假设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0654" y="2791777"/>
              <a:ext cx="1246632" cy="897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若E(T)≠E(T')，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取e为属于T但不属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于T'中权值最小的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2225992" y="2788920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2435542" y="1954530"/>
              <a:ext cx="1616392" cy="1840230"/>
            </a:xfrm>
            <a:prstGeom prst="roundRect">
              <a:avLst>
                <a:gd name="adj" fmla="val 707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2568892" y="20878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659026" y="21583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61654" y="2492216"/>
              <a:ext cx="6175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2.找环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562796" y="2791777"/>
              <a:ext cx="1292352" cy="897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把e加入T'必然形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成一个环，环上至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少有一条边ej不在T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4127182" y="2788920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336732" y="1954530"/>
              <a:ext cx="1616392" cy="1840230"/>
            </a:xfrm>
            <a:prstGeom prst="roundRect">
              <a:avLst>
                <a:gd name="adj" fmla="val 707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4470082" y="20878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560216" y="21583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62844" y="2492216"/>
              <a:ext cx="9999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3.比较权值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63986" y="2791777"/>
              <a:ext cx="1284732" cy="897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若ej比e便宜，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Kruskal会先选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ej，矛盾，故c(ej)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≥c(e)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6029325" y="2788920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38875" y="1954530"/>
              <a:ext cx="1616392" cy="1840230"/>
            </a:xfrm>
            <a:prstGeom prst="roundRect">
              <a:avLst>
                <a:gd name="adj" fmla="val 707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6372225" y="20878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62358" y="21583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64986" y="2492216"/>
              <a:ext cx="6175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4.替换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66129" y="2791777"/>
              <a:ext cx="1246632" cy="897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用e替换T'中的ej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得到新树T''，权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值不比T'大，仍是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最小生成树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7931468" y="2788920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8141018" y="1954530"/>
              <a:ext cx="1616392" cy="1840230"/>
            </a:xfrm>
            <a:prstGeom prst="roundRect">
              <a:avLst>
                <a:gd name="adj" fmla="val 707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8274368" y="20878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364501" y="21583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67129" y="2492216"/>
              <a:ext cx="9999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5.归纳收尾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68272" y="2791777"/>
              <a:ext cx="1246632" cy="6766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重复替换，T'逐步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变成T且权值没有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9832658" y="2788920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10042208" y="1954530"/>
              <a:ext cx="1616392" cy="1840230"/>
            </a:xfrm>
            <a:prstGeom prst="roundRect">
              <a:avLst>
                <a:gd name="adj" fmla="val 707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0175558" y="20878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265691" y="21583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168318" y="2492216"/>
              <a:ext cx="6175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6.结论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169461" y="2791777"/>
              <a:ext cx="1178052" cy="6766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因此T的权值等于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T'，T也是最小生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成树，证毕</a:t>
              </a:r>
            </a:p>
          </p:txBody>
        </p:sp>
      </p:grpSp>
      <p:grpSp>
        <p:nvGrpSpPr>
          <p:cNvPr id="52" name="c1-card-2"/>
          <p:cNvGrpSpPr/>
          <p:nvPr/>
        </p:nvGrpSpPr>
        <p:grpSpPr>
          <a:xfrm>
            <a:off x="533400" y="3980498"/>
            <a:ext cx="11125200" cy="1692592"/>
            <a:chOff x="533400" y="3980498"/>
            <a:chExt cx="11125200" cy="1692592"/>
          </a:xfrm>
        </p:grpSpPr>
        <p:sp>
          <p:nvSpPr>
            <p:cNvPr id="45" name="Rectangle 45"/>
            <p:cNvSpPr/>
            <p:nvPr/>
          </p:nvSpPr>
          <p:spPr>
            <a:xfrm>
              <a:off x="533400" y="3980498"/>
              <a:ext cx="11125200" cy="1692592"/>
            </a:xfrm>
            <a:prstGeom prst="roundRect">
              <a:avLst>
                <a:gd name="adj" fmla="val 78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542925" y="4113848"/>
              <a:ext cx="47625" cy="142589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75335" y="418433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57644" y="422005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两处关节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660588" y="4223861"/>
              <a:ext cx="46167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第1步的"权值最小"和第2步的"至少有一条边不在T中"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68096" y="4575334"/>
              <a:ext cx="918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第1步取的e是属于T但不属于T'的边里权值最小的那条，有了这个"最小"，第3步才能说Kruskal会先考虑ej。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68096" y="4895374"/>
              <a:ext cx="1045848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第2步：把e加进T'形成的环若整条都落在T里，T自己就含环。Kruskal从不收下成环的边，矛盾，所以环上必有边不在T中。</a:t>
              </a:r>
            </a:p>
          </p:txBody>
        </p:sp>
      </p:grpSp>
      <p:grpSp>
        <p:nvGrpSpPr>
          <p:cNvPr id="58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3" name="Rectangle 53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0511" y="6004084"/>
              <a:ext cx="72785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和背包、作业调度的证明是同一个套路：找差异、做替换、证明不变差、归纳到相同。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4316151" cy="2643187"/>
            <a:chOff x="667512" y="1835468"/>
            <a:chExt cx="4316151" cy="26431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1615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货郎担问题（TSP）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贪心第一次不再保证最优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只保证这一步最短，不保证全局最短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结果会随出发点变化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531364" cy="909257"/>
            <a:chOff x="520446" y="342900"/>
            <a:chExt cx="253136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184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929" y="407194"/>
              <a:ext cx="2413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贪心法 · 货郎担问题（TSP）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问题描述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951220" cy="1662112"/>
            <a:chOff x="533400" y="1524000"/>
            <a:chExt cx="5951220" cy="16621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1662112"/>
            </a:xfrm>
            <a:prstGeom prst="roundRect">
              <a:avLst>
                <a:gd name="adj" fmla="val 80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9541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13838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旅行商问题 TSP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从某城市出发，经过其余城市各一次后回到起点，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8096" y="2439829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使总路程最短。属于组合优化中的经典难题。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8096" y="2759869"/>
              <a:ext cx="55400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TSP已被证明是NP难问题，目前没有已知的多项式时间精确算法。</a:t>
              </a:r>
            </a:p>
          </p:txBody>
        </p:sp>
      </p:grpSp>
      <p:grpSp>
        <p:nvGrpSpPr>
          <p:cNvPr id="35" name="c1-table-2"/>
          <p:cNvGrpSpPr/>
          <p:nvPr/>
        </p:nvGrpSpPr>
        <p:grpSpPr>
          <a:xfrm>
            <a:off x="533400" y="3370898"/>
            <a:ext cx="5951220" cy="1720215"/>
            <a:chOff x="533400" y="3370898"/>
            <a:chExt cx="5951220" cy="1720215"/>
          </a:xfrm>
        </p:grpSpPr>
        <p:sp>
          <p:nvSpPr>
            <p:cNvPr id="16" name="Rectangle 16"/>
            <p:cNvSpPr/>
            <p:nvPr/>
          </p:nvSpPr>
          <p:spPr>
            <a:xfrm>
              <a:off x="533400" y="3370898"/>
              <a:ext cx="595122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395794" y="350234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求解方式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32644" y="350234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要看多少东西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58993" y="350234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复杂度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8746" y="393287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穷举全部回路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21902" y="3932872"/>
              <a:ext cx="18134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固定起点后共(n-1)!/2条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435536" y="3932872"/>
              <a:ext cx="4607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O(n!)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22719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231958"/>
              <a:ext cx="595122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8746" y="4362450"/>
              <a:ext cx="12362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最近邻·单个起点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21902" y="436245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每步扫一遍未访问城市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435536" y="4362450"/>
              <a:ext cx="502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65677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8746" y="4792980"/>
              <a:ext cx="18142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最近邻·n个起点各跑一次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21902" y="4792980"/>
              <a:ext cx="13933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取n条回路里最短的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435536" y="4792980"/>
              <a:ext cx="502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O(n³)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370898"/>
              <a:ext cx="5951220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911792" y="3370898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25428" y="3370898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4" name="c2-card-1"/>
          <p:cNvGrpSpPr/>
          <p:nvPr/>
        </p:nvGrpSpPr>
        <p:grpSpPr>
          <a:xfrm>
            <a:off x="6789420" y="1524000"/>
            <a:ext cx="4869180" cy="1662112"/>
            <a:chOff x="6789420" y="1524000"/>
            <a:chExt cx="4869180" cy="1662112"/>
          </a:xfrm>
        </p:grpSpPr>
        <p:sp>
          <p:nvSpPr>
            <p:cNvPr id="36" name="Rectangle 36"/>
            <p:cNvSpPr/>
            <p:nvPr/>
          </p:nvSpPr>
          <p:spPr>
            <a:xfrm>
              <a:off x="6789420" y="1524000"/>
              <a:ext cx="4869180" cy="1662112"/>
            </a:xfrm>
            <a:prstGeom prst="roundRect">
              <a:avLst>
                <a:gd name="adj" fmla="val 80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798945" y="1657350"/>
              <a:ext cx="47625" cy="139541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03135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12156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注意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32764" y="1767364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这里贪心不能证明最优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24116" y="2119789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前几节的贪心解都能用交换论证证明是最优解；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24116" y="2439829"/>
              <a:ext cx="41709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TSP的贪心结果只能叫</a:t>
              </a: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近似解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，没有这样的证明。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024116" y="2759869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正因为精确求解代价太高，近似算法才有实际价值。</a:t>
              </a:r>
            </a:p>
          </p:txBody>
        </p:sp>
      </p:grpSp>
      <p:grpSp>
        <p:nvGrpSpPr>
          <p:cNvPr id="52" name="c2-card-2"/>
          <p:cNvGrpSpPr/>
          <p:nvPr/>
        </p:nvGrpSpPr>
        <p:grpSpPr>
          <a:xfrm>
            <a:off x="6789420" y="3370898"/>
            <a:ext cx="4869180" cy="1884998"/>
            <a:chOff x="6789420" y="3370898"/>
            <a:chExt cx="4869180" cy="1884998"/>
          </a:xfrm>
        </p:grpSpPr>
        <p:sp>
          <p:nvSpPr>
            <p:cNvPr id="45" name="Rectangle 45"/>
            <p:cNvSpPr/>
            <p:nvPr/>
          </p:nvSpPr>
          <p:spPr>
            <a:xfrm>
              <a:off x="6789420" y="3370898"/>
              <a:ext cx="4869180" cy="1884998"/>
            </a:xfrm>
            <a:prstGeom prst="roundRect">
              <a:avLst>
                <a:gd name="adj" fmla="val 7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798945" y="3504248"/>
              <a:ext cx="47625" cy="161829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031355" y="3574732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117613" y="361045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数量级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774686" y="3615214"/>
              <a:ext cx="20364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穷举只能用在很小的n上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024116" y="3966686"/>
              <a:ext cx="397294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n=5时只有12条回路，手算就能核完；n=10已经有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181440条。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024116" y="4558189"/>
              <a:ext cx="409917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n=20时(n-1)!/2超过6×10¹⁶条，再快的机器也跑不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完。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3" name="Rectangle 53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511" y="6004084"/>
              <a:ext cx="65330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目标函数同样是"最小化"，但贪心在这里只是一种近似算法，不是精确算法。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184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929" y="407194"/>
              <a:ext cx="2413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贪心法 · 货郎担问题（TSP）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贪心策略：最近邻算法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460488" cy="308039"/>
            <a:chOff x="525399" y="1550194"/>
            <a:chExt cx="746048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4604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从当前城市出发，每次走到没去过的最近城市，直到走完所有城市再回到起点。</a:t>
              </a:r>
            </a:p>
          </p:txBody>
        </p:sp>
      </p:grpSp>
      <p:grpSp>
        <p:nvGrpSpPr>
          <p:cNvPr id="22" name="c1-steps-1"/>
          <p:cNvGrpSpPr/>
          <p:nvPr/>
        </p:nvGrpSpPr>
        <p:grpSpPr>
          <a:xfrm>
            <a:off x="533400" y="1977390"/>
            <a:ext cx="3527222" cy="1878615"/>
            <a:chOff x="533400" y="1977390"/>
            <a:chExt cx="3527222" cy="1878615"/>
          </a:xfrm>
        </p:grpSpPr>
        <p:sp>
          <p:nvSpPr>
            <p:cNvPr id="9" name="Rectangle 9"/>
            <p:cNvSpPr/>
            <p:nvPr/>
          </p:nvSpPr>
          <p:spPr>
            <a:xfrm>
              <a:off x="666750" y="2120265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7739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62794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01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7850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3523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201168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选起点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230457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任选一个城市出发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662238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找最近的未访问城市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95513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反复选距离当前城市最近且没去过的城市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331279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收尾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60664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所有城市都访问后，回到出发城市</a:t>
              </a:r>
            </a:p>
          </p:txBody>
        </p:sp>
      </p:grpSp>
      <p:grpSp>
        <p:nvGrpSpPr>
          <p:cNvPr id="73" name="c2-table-1"/>
          <p:cNvGrpSpPr/>
          <p:nvPr/>
        </p:nvGrpSpPr>
        <p:grpSpPr>
          <a:xfrm>
            <a:off x="5160645" y="1967865"/>
            <a:ext cx="6497955" cy="2988469"/>
            <a:chOff x="5160645" y="1967865"/>
            <a:chExt cx="6497955" cy="2988469"/>
          </a:xfrm>
        </p:grpSpPr>
        <p:sp>
          <p:nvSpPr>
            <p:cNvPr id="23" name="Rectangle 23"/>
            <p:cNvSpPr/>
            <p:nvPr/>
          </p:nvSpPr>
          <p:spPr>
            <a:xfrm>
              <a:off x="5166360" y="1967865"/>
              <a:ext cx="649224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600979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城市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63680" y="210264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917145" y="210264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69657" y="210264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023122" y="210264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075635" y="210264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74183" y="255127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01956" y="25512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∞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54468" y="25512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607933" y="25512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660446" y="25512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713910" y="25512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166360" y="286035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166360" y="2865120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74183" y="300085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01956" y="30008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54468" y="30008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∞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607933" y="30008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660446" y="30008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713910" y="30008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166360" y="330898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274183" y="344947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01956" y="344947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54468" y="344947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607933" y="344947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∞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660446" y="344947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713910" y="344947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166360" y="375761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166360" y="3762375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274183" y="38981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501956" y="389810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554468" y="389810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607933" y="389810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660446" y="389810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∞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713910" y="389810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166360" y="420719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274183" y="434673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501956" y="434673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554468" y="434673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607933" y="434673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660446" y="434673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713910" y="434673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∞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166360" y="1967865"/>
              <a:ext cx="6492240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389370" y="196786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7441882" y="196786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8495348" y="196786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9547860" y="196786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10601325" y="196786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160645" y="4736306"/>
              <a:ext cx="16021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5个城市间的距离矩阵。</a:t>
              </a:r>
            </a:p>
          </p:txBody>
        </p:sp>
      </p:grpSp>
      <p:grpSp>
        <p:nvGrpSpPr>
          <p:cNvPr id="7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74" name="Rectangle 7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1040130" y="5991225"/>
              <a:ext cx="60933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最近邻只保证"这一步"走得最短，整条回路的总长度没有任何保证。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184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929" y="407194"/>
              <a:ext cx="2413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贪心法 · 货郎担问题（TSP）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实例：换个出发点，答案就不同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928427" cy="308039"/>
            <a:chOff x="525399" y="1550194"/>
            <a:chExt cx="7928427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92842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同一张距离矩阵，从城市1出发走出1→4→3→5→2→1，从城市2出发走出2→5→4→1→3→2。</a:t>
              </a:r>
            </a:p>
          </p:txBody>
        </p:sp>
      </p:grpSp>
      <p:grpSp>
        <p:nvGrpSpPr>
          <p:cNvPr id="60" name="c1-table-1"/>
          <p:cNvGrpSpPr/>
          <p:nvPr/>
        </p:nvGrpSpPr>
        <p:grpSpPr>
          <a:xfrm>
            <a:off x="527685" y="1967865"/>
            <a:ext cx="11130915" cy="3437097"/>
            <a:chOff x="527685" y="1967865"/>
            <a:chExt cx="11130915" cy="3437097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11125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36155" y="21026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第几步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050568" y="2102644"/>
              <a:ext cx="9740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从城市1出发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805767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距离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45466" y="2102644"/>
              <a:ext cx="9740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从城市2出发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700664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距离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44870" y="255127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76628" y="255127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1→4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930694" y="25512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71526" y="255127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2→5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825592" y="25512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8603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86512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44870" y="300085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76628" y="300085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4→3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930694" y="30008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71526" y="300085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5→4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825592" y="30008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3089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144870" y="344947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976628" y="344947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3→5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930694" y="344947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71526" y="344947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4→1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825592" y="344947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7576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376237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44870" y="38981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976628" y="389810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5→2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930694" y="389810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71526" y="389810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1→3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825592" y="389810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42071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144870" y="434673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976628" y="4346734"/>
              <a:ext cx="10382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2→1 回到起点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930694" y="434673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71526" y="4346734"/>
              <a:ext cx="10382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3→2 回到起点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0110788" y="4221480"/>
              <a:ext cx="1538288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825592" y="434673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465582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33400" y="4660582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22312" y="479536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215890" y="4670108"/>
              <a:ext cx="153828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883308" y="479536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0110788" y="4670108"/>
              <a:ext cx="1538288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778206" y="479536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3400" y="1967865"/>
              <a:ext cx="11125200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1864042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201602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758940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10096500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27685" y="5184934"/>
              <a:ext cx="655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每步都在未访问的城市里挑最近的；距离并列时取编号小的，第3步4→1和4→3都是2就是这种情况。</a:t>
              </a:r>
            </a:p>
          </p:txBody>
        </p:sp>
      </p:grpSp>
      <p:grpSp>
        <p:nvGrpSpPr>
          <p:cNvPr id="6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1" name="Rectangle 6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0130" y="5991225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同一张图换一个出发点，贪心给出的答案就变了，可见它给的只是近似解。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28332" cy="909257"/>
            <a:chOff x="520446" y="342900"/>
            <a:chExt cx="52283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184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929" y="407194"/>
              <a:ext cx="2413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贪心法 · 货郎担问题（TSP）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283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补充：穷举验证，真正最优解是13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949073" cy="308039"/>
            <a:chOff x="525399" y="1550194"/>
            <a:chExt cx="9949073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94907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固定从城市1出发、回路与它的逆向算同一条，5个城市共4!/2=12条回路，下面全列出来（已逐条核算）。</a:t>
              </a:r>
            </a:p>
          </p:txBody>
        </p:sp>
      </p:grpSp>
      <p:grpSp>
        <p:nvGrpSpPr>
          <p:cNvPr id="38" name="c1-table-1"/>
          <p:cNvGrpSpPr/>
          <p:nvPr/>
        </p:nvGrpSpPr>
        <p:grpSpPr>
          <a:xfrm>
            <a:off x="527685" y="1967865"/>
            <a:ext cx="5415915" cy="3637121"/>
            <a:chOff x="527685" y="1967865"/>
            <a:chExt cx="5415915" cy="3637121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410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248179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路线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867123" y="21026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总距离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1223" y="2551271"/>
              <a:ext cx="11075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1→2→5→4→3→1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330065" y="2426018"/>
              <a:ext cx="160401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030821" y="255127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8603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865120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000851"/>
              <a:ext cx="11075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1→2→5→3→4→1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330065" y="2874645"/>
              <a:ext cx="1604010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30821" y="300085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30898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3449479"/>
              <a:ext cx="11075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1→3→5→2→4→1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30821" y="344947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7576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76237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898106"/>
              <a:ext cx="11075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1→3→4→2→5→1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030821" y="389810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2071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1223" y="4346734"/>
              <a:ext cx="11075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1→2→4→5→3→1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30821" y="434673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65582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4660582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1223" y="4795361"/>
              <a:ext cx="11075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1→3→2→5→4→1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330065" y="4670108"/>
              <a:ext cx="1604010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030821" y="479536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1967865"/>
              <a:ext cx="5410200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15778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7685" y="5184934"/>
              <a:ext cx="50965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绿色是全局最优；两条橙色分别是从城市1、城市2出发的最近邻结果（后者即2→5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→4→1→3→2）。</a:t>
              </a:r>
            </a:p>
          </p:txBody>
        </p:sp>
      </p:grpSp>
      <p:grpSp>
        <p:nvGrpSpPr>
          <p:cNvPr id="66" name="c2-table-1"/>
          <p:cNvGrpSpPr/>
          <p:nvPr/>
        </p:nvGrpSpPr>
        <p:grpSpPr>
          <a:xfrm>
            <a:off x="6242685" y="1967865"/>
            <a:ext cx="5415915" cy="3437097"/>
            <a:chOff x="6242685" y="1967865"/>
            <a:chExt cx="5415915" cy="3437097"/>
          </a:xfrm>
        </p:grpSpPr>
        <p:sp>
          <p:nvSpPr>
            <p:cNvPr id="39" name="Rectangle 39"/>
            <p:cNvSpPr/>
            <p:nvPr/>
          </p:nvSpPr>
          <p:spPr>
            <a:xfrm>
              <a:off x="6248400" y="1967865"/>
              <a:ext cx="5410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963179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路线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582123" y="21026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总距离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56223" y="2551271"/>
              <a:ext cx="11075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1→2→4→3→5→1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745821" y="255127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28603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48400" y="2865120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56223" y="3000851"/>
              <a:ext cx="11075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1→4→3→2→5→1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745821" y="300085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48400" y="330898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56223" y="3449479"/>
              <a:ext cx="11075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1→2→3→5→4→1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745821" y="344947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248400" y="37576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48400" y="376237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356223" y="3898106"/>
              <a:ext cx="11075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1→2→3→4→5→1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745821" y="389810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248400" y="42071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356223" y="4346734"/>
              <a:ext cx="11075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1→3→2→4→5→1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745821" y="434673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248400" y="465582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248400" y="4660582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356223" y="4795361"/>
              <a:ext cx="11075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1→4→2→3→5→1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10045065" y="4670108"/>
              <a:ext cx="1604010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0745821" y="479536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248400" y="1967865"/>
              <a:ext cx="5410200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10030778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242685" y="5184934"/>
              <a:ext cx="42557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最长的一条是1→4→2→3→5→1，总距离23，几乎是最优解的两倍。</a:t>
              </a:r>
            </a:p>
          </p:txBody>
        </p:sp>
      </p:grpSp>
      <p:grpSp>
        <p:nvGrpSpPr>
          <p:cNvPr id="7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7" name="Rectangle 6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40130" y="5991225"/>
              <a:ext cx="85972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贪心最近邻(14或17)都比真正最优(13)差。这次差距不大，但没有任何证明保证它每次都不大。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184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929" y="407194"/>
              <a:ext cx="2413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贪心法 · 货郎担问题（TSP）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自测（一）：一般方法与背包问题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365885"/>
            <a:chOff x="533400" y="1524000"/>
            <a:chExt cx="5410200" cy="13658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365885"/>
            </a:xfrm>
            <a:prstGeom prst="roundRect">
              <a:avLst>
                <a:gd name="adj" fmla="val 976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42870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贪心法中"量度标准"选错了，会导致什么问题？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446020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解可能不再是最优解，连近似效果都可能不好。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080385"/>
            <a:ext cx="5410200" cy="2223135"/>
            <a:chOff x="533400" y="3080385"/>
            <a:chExt cx="5410200" cy="2223135"/>
          </a:xfrm>
        </p:grpSpPr>
        <p:sp>
          <p:nvSpPr>
            <p:cNvPr id="13" name="Rectangle 13"/>
            <p:cNvSpPr/>
            <p:nvPr/>
          </p:nvSpPr>
          <p:spPr>
            <a:xfrm>
              <a:off x="533400" y="3080385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32899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33256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3667125"/>
              <a:ext cx="35959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0-1背包问题能不能用同样的贪心算法？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4002405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不能，物品不可拆分，剩余容量可能刚好装不下更优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1651635"/>
            <a:chOff x="6248400" y="1524000"/>
            <a:chExt cx="5410200" cy="1651635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1651635"/>
            </a:xfrm>
            <a:prstGeom prst="roundRect">
              <a:avLst>
                <a:gd name="adj" fmla="val 80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57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5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50330" y="2110740"/>
              <a:ext cx="42754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分数背包问题为什么按pᵢ/wᵢ比值贪心才最优？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0330" y="244602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比值直接对应目标函数的边际收益，按效益或按重量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排序都会浪费容量或效益。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366135"/>
            <a:ext cx="5410200" cy="1937385"/>
            <a:chOff x="6248400" y="3366135"/>
            <a:chExt cx="5410200" cy="1937385"/>
          </a:xfrm>
        </p:grpSpPr>
        <p:sp>
          <p:nvSpPr>
            <p:cNvPr id="25" name="Rectangle 25"/>
            <p:cNvSpPr/>
            <p:nvPr/>
          </p:nvSpPr>
          <p:spPr>
            <a:xfrm>
              <a:off x="6248400" y="3366135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57950" y="35756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45437" y="36114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0330" y="3952875"/>
              <a:ext cx="472678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判定作业集合J是否可行，为什么只需检查"按期限升序"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这一种排列？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50330" y="4573905"/>
              <a:ext cx="47110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定理5.3证明：只要存在允许的调度，按期限升序排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列也一定允许。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03522" cy="909257"/>
            <a:chOff x="520446" y="342900"/>
            <a:chExt cx="580352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184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929" y="407194"/>
              <a:ext cx="2413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贪心法 · 货郎担问题（TSP）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0352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自测（二）：作业调度、生成树与TSP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732103" cy="278702"/>
            <a:chOff x="526161" y="1547336"/>
            <a:chExt cx="7732103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7321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覆盖可行性判定与复杂度推导、Kruskal最优性的交换论证，以及贪心在TSP上失效的原因。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41195"/>
            <a:ext cx="5410200" cy="1768792"/>
            <a:chOff x="533400" y="1941195"/>
            <a:chExt cx="5410200" cy="1768792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5805" y="21336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14753" y="21678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8947" y="2490788"/>
              <a:ext cx="41934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JS的O(n²)和FJS的"接近O(n)"分别是怎么来的？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8947" y="2792730"/>
              <a:ext cx="484003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JS外层扫n个作业，内层while最多回退k≤n格找空位，还要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逐个后移元素，最坏约n²次操作（n=50时实测2499次）；FJS用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并查集直接定位空位，约O(n·α(n))。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886200"/>
            <a:ext cx="5410200" cy="1768792"/>
            <a:chOff x="533400" y="3886200"/>
            <a:chExt cx="5410200" cy="1768792"/>
          </a:xfrm>
        </p:grpSpPr>
        <p:sp>
          <p:nvSpPr>
            <p:cNvPr id="15" name="Rectangle 15"/>
            <p:cNvSpPr/>
            <p:nvPr/>
          </p:nvSpPr>
          <p:spPr>
            <a:xfrm>
              <a:off x="533400" y="3886200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5805" y="40786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4753" y="41128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8947" y="4434840"/>
              <a:ext cx="36766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为什么货郎担问题的贪心只能叫"近似算法"？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8947" y="4737735"/>
              <a:ext cx="450570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每步只看局部最短：从城市1出发得14，从城市2出发得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17，穷举最优是13。没有证明保证这个偏差有上界。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41195"/>
            <a:ext cx="5410200" cy="1768792"/>
            <a:chOff x="6248400" y="1941195"/>
            <a:chExt cx="5410200" cy="1768792"/>
          </a:xfrm>
        </p:grpSpPr>
        <p:sp>
          <p:nvSpPr>
            <p:cNvPr id="21" name="Rectangle 21"/>
            <p:cNvSpPr/>
            <p:nvPr/>
          </p:nvSpPr>
          <p:spPr>
            <a:xfrm>
              <a:off x="6248400" y="1941195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40805" y="21336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29753" y="21678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33947" y="2490788"/>
              <a:ext cx="4776597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Kruskal遇到成环的边怎么办？证明最优性时哪一步用到边已排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33947" y="3049905"/>
              <a:ext cx="473716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成环的边跳过。证明用在"环上的ej若比e便宜，Kruskal会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先选中ej"这一步，由此c(ej)≥c(e)，用e换掉ej权值不增。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3886200"/>
            <a:ext cx="5410200" cy="1768792"/>
            <a:chOff x="6248400" y="3886200"/>
            <a:chExt cx="5410200" cy="1768792"/>
          </a:xfrm>
        </p:grpSpPr>
        <p:sp>
          <p:nvSpPr>
            <p:cNvPr id="27" name="Rectangle 27"/>
            <p:cNvSpPr/>
            <p:nvPr/>
          </p:nvSpPr>
          <p:spPr>
            <a:xfrm>
              <a:off x="6248400" y="3886200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40805" y="40786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29753" y="41128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33947" y="4434840"/>
              <a:ext cx="46902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0-1背包不能贪心，改用什么方法？它比贪心多做了什么？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33947" y="4737735"/>
              <a:ext cx="478002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用动态规划，按容量逐格记录子问题最优值。M=50、物品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(v/w)=(60/10)(100/20)(120/30)时贪心得160，动态规划得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220。差别在于它允许放弃已装入的物品换更优组合。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3" name="Rectangle 3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892" y="6023610"/>
              <a:ext cx="91401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常见失分点：把FJS的复杂度直接写成O(n)。α(n)增长极慢但不是常数，写成O(n·α(n))或"接近O(n)"才准确。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049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5916" y="407194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贪心法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bullets-1"/>
          <p:cNvGrpSpPr/>
          <p:nvPr/>
        </p:nvGrpSpPr>
        <p:grpSpPr>
          <a:xfrm>
            <a:off x="533400" y="1535430"/>
            <a:ext cx="9029795" cy="1685925"/>
            <a:chOff x="533400" y="1535430"/>
            <a:chExt cx="9029795" cy="1685925"/>
          </a:xfrm>
        </p:grpSpPr>
        <p:sp>
          <p:nvSpPr>
            <p:cNvPr id="7" name="Ellipse 7"/>
            <p:cNvSpPr/>
            <p:nvPr/>
          </p:nvSpPr>
          <p:spPr>
            <a:xfrm>
              <a:off x="533400" y="1535430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5249" y="157772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4390" y="1548765"/>
              <a:ext cx="78905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贪心法：每步按量度标准选一个输入，可行就收下，选过不再回头；正确性必须单独证明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8023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5249" y="19225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4390" y="1893570"/>
              <a:ext cx="79409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分数背包按pᵢ/wᵢ非增贪心，定理5.1用交换论证证明最优；0-1背包照搬会漏掉更优组合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225040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5249" y="226733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4390" y="2238375"/>
              <a:ext cx="87288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作业调度按效益降序试装，定理5.3把可行性检验压到一种排列，并查集再把O(n²)降到接近O(n)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56984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5249" y="261213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4390" y="2583180"/>
              <a:ext cx="76136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最小生成树用Kruskal按边权从小到大选边，不成环就收下，同样用交换论证证明最优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914650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5249" y="295694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4390" y="2927985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货郎担问题的最近邻只是近似算法：换个出发点结果就变，也没有误差上界</a:t>
              </a:r>
            </a:p>
          </p:txBody>
        </p:sp>
      </p:grpSp>
      <p:grpSp>
        <p:nvGrpSpPr>
          <p:cNvPr id="31" name="c1-card-2"/>
          <p:cNvGrpSpPr/>
          <p:nvPr/>
        </p:nvGrpSpPr>
        <p:grpSpPr>
          <a:xfrm>
            <a:off x="533400" y="3352800"/>
            <a:ext cx="11125200" cy="2305050"/>
            <a:chOff x="533400" y="3352800"/>
            <a:chExt cx="11125200" cy="2305050"/>
          </a:xfrm>
        </p:grpSpPr>
        <p:sp>
          <p:nvSpPr>
            <p:cNvPr id="23" name="Rectangle 23"/>
            <p:cNvSpPr/>
            <p:nvPr/>
          </p:nvSpPr>
          <p:spPr>
            <a:xfrm>
              <a:off x="533400" y="3352800"/>
              <a:ext cx="11125200" cy="2305050"/>
            </a:xfrm>
            <a:prstGeom prst="roundRect">
              <a:avLst>
                <a:gd name="adj" fmla="val 57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3486150"/>
              <a:ext cx="47625" cy="20383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81050" y="35623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71258" y="35980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82078" y="3597592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原课件小结页的章节编号有误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73430" y="3958590"/>
              <a:ext cx="77390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原课件把小结写成"5.4 最优二路归并问题 / 5.5 最小生成树问题 / 5.6 货郎担问题"，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3430" y="4293870"/>
              <a:ext cx="48817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但本章目录和正文内容中并没有"最优二路归并问题"。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3430" y="4629150"/>
              <a:ext cx="68505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已按目录页顺序更正为：5.4 最小生成树问题、5.5 货郎担问题、5.6 小结。</a:t>
              </a:r>
            </a:p>
          </p:txBody>
        </p:sp>
      </p:grpSp>
      <p:grpSp>
        <p:nvGrpSpPr>
          <p:cNvPr id="3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2" name="Rectangle 3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130" y="5991225"/>
              <a:ext cx="72847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判断一个问题能不能用贪心法，最终都要靠交换论证或反例说话，不能只凭直觉。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第5章 贪心法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lgo_ch5">
  <a:themeElements>
    <a:clrScheme name="algo_ch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lgo_ch5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lgo_ch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2026-09-22T13:46:37Z</dcterms:created>
  <dcterms:modified xsi:type="dcterms:W3CDTF">2026-09-22T13:46:37Z</dcterms:modified>
  <cp:category/>
  <cp:contentStatus/>
</cp:coreProperties>
</file>