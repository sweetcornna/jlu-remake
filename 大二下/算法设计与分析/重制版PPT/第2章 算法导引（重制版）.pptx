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f266a5dfa97f9e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74b135da8fd503b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69ecc2434cf0ec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算法导引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什么是算法，怎样分析快慢，怎样写出算法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算法的五个特性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频率计数与三种情况时间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16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O、Ω、Θ 渐近表示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13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SPARKS 伪代码语言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91495" cy="205359"/>
            <a:chOff x="680466" y="6192202"/>
            <a:chExt cx="44914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自学复习版｜据吉林大学《算法设计与分析》第2章课件整理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定义、五个特性、计算过程与算法、问题求解过程、学习算法的五项内容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分析算法的准备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最坏、最好、平均情况时间，基本运算，频率计数与数量级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计算时间的渐近表示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850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定义2.1~2.3 的 O、Ω、Θ，运算性质，定理2.1，函数增长对比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求和、证明与性能分布图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整数求和公式、数学归纳法、递推式、事后测试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310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SPARKS 语言写算法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50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数据类型、控制语句、过程定义、MAX 过程的分析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说出算法的五个特性，并判断一个计算过程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是不是算法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数出程序段中各语句的频率计数，写出最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坏、最好和平均情况时间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425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按定义找出 c 和 n₀，证明或否定 f(n)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O(g(n))、Ω(g(n))、Θ(g(n))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把常见时间函数按数量级排序，估算规模增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大时运行时间的变化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 SPARKS 伪代码，分析 MAX 过程的比较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次数和赋值次数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351847"/>
            <a:chOff x="667512" y="1835468"/>
            <a:chExt cx="646823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先弄清什么样的规则才算算法，再看解决一个问题要经过哪些环节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什么是算法与五个特性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计算过程与算法的区别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问题的求解过程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算法学习的五项基本内容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算法：解决一类问题的一组有穷规则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865948"/>
            <a:chOff x="533400" y="1524000"/>
            <a:chExt cx="6059805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718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算法（Algorithm）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算法是解决一确定类问题的任意一种特殊的方法。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418874"/>
              <a:ext cx="52533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Knuth 给出的非形式描述：算法就是一组有穷的规则，它规定了解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决某一特定类型问题的一系列运算。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524" y="3004185"/>
              <a:ext cx="5504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三个关键词：一类问题（不是某一组具体数据）、有穷的规则、一系列运算。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33400" y="3569970"/>
            <a:ext cx="6059805" cy="1700213"/>
            <a:chOff x="533400" y="3569970"/>
            <a:chExt cx="6059805" cy="1700213"/>
          </a:xfrm>
        </p:grpSpPr>
        <p:sp>
          <p:nvSpPr>
            <p:cNvPr id="16" name="Rectangle 16"/>
            <p:cNvSpPr/>
            <p:nvPr/>
          </p:nvSpPr>
          <p:spPr>
            <a:xfrm>
              <a:off x="533400" y="3569970"/>
              <a:ext cx="6059805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2518" y="36985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8524" y="369855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求解的问题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3032" y="36985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889" y="42291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数值计算方法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0356" y="42291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求解数值问题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1582" y="4122420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插值计算、数值积分、解线性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方程组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272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632008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8672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非数值计算方法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0356" y="4760595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求解非数值问题，主要进行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判断和比较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71582" y="4760595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排序、查找、求最大值、最短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69970"/>
              <a:ext cx="6059805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83105" y="356997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64330" y="356997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2-image-1"/>
          <p:cNvGrpSpPr/>
          <p:nvPr/>
        </p:nvGrpSpPr>
        <p:grpSpPr>
          <a:xfrm>
            <a:off x="6898005" y="1524000"/>
            <a:ext cx="4760595" cy="4185857"/>
            <a:chOff x="6898005" y="1524000"/>
            <a:chExt cx="4760595" cy="4185857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4074" t="0" r="4074" b="0"/>
            <a:stretch>
              <a:fillRect/>
            </a:stretch>
          </p:blipFill>
          <p:spPr>
            <a:xfrm>
              <a:off x="6898005" y="1524000"/>
              <a:ext cx="4760595" cy="3887152"/>
            </a:xfrm>
            <a:prstGeom prst="roundRect">
              <a:avLst>
                <a:gd name="adj" fmla="val 3430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223379" y="550449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菜谱也是一组有穷规则：给定食材，按确定的步骤操作，得到成品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5" name="Rectangle 3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11704"/>
              <a:ext cx="10031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算法面向一类问题：求最大公约数的算法要对任意一对正整数都给出正确结果，只会算 gcd(48, 18) 的一串步骤不够。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五个特性：同时满足才能称为算法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11125200" cy="3992880"/>
            <a:chOff x="533400" y="1524000"/>
            <a:chExt cx="11125200" cy="3992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112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624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6587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反例或说明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1235393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确定性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Definiteness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53677" y="228409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每一种运算都有确切的定义，无二义性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03758" y="2150745"/>
              <a:ext cx="3996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反例：“计算 5/0”没有定义结果；“把 6 或 7 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相加”不知道加哪一个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139541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能行性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Effectiveness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53677" y="290512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运算都是基本运算，原理上能用纸和笔在有限时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间内完成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3758" y="303847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反例：“写出 √2 的全部小数位”做不完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792855"/>
              <a:ext cx="1019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Input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53677" y="3659505"/>
              <a:ext cx="40443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0 个或多个输入，开始前从特定的对象集合中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3758" y="3659505"/>
              <a:ext cx="40443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gcd 的输入取自正整数；“打印 1 到 100”没有输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700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748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413885"/>
              <a:ext cx="12324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Output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53677" y="44138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有一个或多个输出，输出和输入有特定的关系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03758" y="441388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gcd 的输出必须是两个输入的最大公约数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57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772025"/>
              <a:ext cx="2094548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0080" y="5034915"/>
              <a:ext cx="17511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有穷性 Finiteness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3677" y="50349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在执行了有穷步运算后终止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3758" y="4901565"/>
              <a:ext cx="401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原课件批注：理论上有限还不够，要在现代计算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机上能有效完成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39928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42235" y="1524000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92315" y="1524000"/>
              <a:ext cx="9525" cy="39928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9162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易错：输入可以是 0 个，输出至少要有 1 个；要算几百年才停的过程理论上有穷，实践中同样没有用。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补充例：用欧几里得算法对照五个特性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2088832"/>
            <a:chOff x="533400" y="1524000"/>
            <a:chExt cx="476059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347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EUCLID(m, n)：求两个正整数的最大公约数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1515872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EUCLID(m, n)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m、n 为正整数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while n ≠ 0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 ← m mod 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 ← 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n ← r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(m)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EUCLID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28447" y="3782378"/>
            <a:ext cx="4765548" cy="1864708"/>
            <a:chOff x="528447" y="3782378"/>
            <a:chExt cx="4765548" cy="1864708"/>
          </a:xfrm>
        </p:grpSpPr>
        <p:sp>
          <p:nvSpPr>
            <p:cNvPr id="11" name="Rectangle 11"/>
            <p:cNvSpPr/>
            <p:nvPr/>
          </p:nvSpPr>
          <p:spPr>
            <a:xfrm>
              <a:off x="533400" y="3782378"/>
              <a:ext cx="476059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9361" y="39038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6613" y="3903821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67329" y="39038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14867" y="3903821"/>
              <a:ext cx="8742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← m mod 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6599" y="43038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3054" y="430387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27939" y="430387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63344" y="430387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777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582478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6599" y="47039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43054" y="47039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27939" y="470392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4807" y="47039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97776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6599" y="5103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43054" y="510397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69402" y="51039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18548" y="4992052"/>
              <a:ext cx="166592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04807" y="510397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782378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34490" y="37823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19375" y="37823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04260" y="378237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447" y="5456396"/>
              <a:ext cx="25495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gcd(48, 18)：第 3 轮后 n = 0，返回 m = 6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598795" y="1524000"/>
            <a:ext cx="6059805" cy="2400300"/>
            <a:chOff x="5598795" y="1524000"/>
            <a:chExt cx="6059805" cy="2400300"/>
          </a:xfrm>
        </p:grpSpPr>
        <p:sp>
          <p:nvSpPr>
            <p:cNvPr id="38" name="Rectangle 38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880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86554" y="1645444"/>
              <a:ext cx="13758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EUCLID 中的体现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95950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86562" y="20454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取余、赋值、比较都只有唯一结果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98795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95950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能行性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6562" y="24455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整数除法取余可以用纸和笔完成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95950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86562" y="2845594"/>
              <a:ext cx="1157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两个正整数 m、n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5950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6562" y="3245644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一个值：m 与 n 的最大公约数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598795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95950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有穷性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86562" y="3645694"/>
              <a:ext cx="2959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新的 n 是余数 r &lt; n，严格变小，必然变成 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98795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464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2"/>
          <p:cNvGrpSpPr/>
          <p:nvPr/>
        </p:nvGrpSpPr>
        <p:grpSpPr>
          <a:xfrm>
            <a:off x="5598795" y="4093845"/>
            <a:ext cx="6059805" cy="1514475"/>
            <a:chOff x="5598795" y="4093845"/>
            <a:chExt cx="6059805" cy="1514475"/>
          </a:xfrm>
        </p:grpSpPr>
        <p:sp>
          <p:nvSpPr>
            <p:cNvPr id="60" name="Rectangle 60"/>
            <p:cNvSpPr/>
            <p:nvPr/>
          </p:nvSpPr>
          <p:spPr>
            <a:xfrm>
              <a:off x="5598795" y="4093845"/>
              <a:ext cx="6059805" cy="1514475"/>
            </a:xfrm>
            <a:prstGeom prst="roundRect">
              <a:avLst>
                <a:gd name="adj" fmla="val 88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08320" y="4227195"/>
              <a:ext cx="47625" cy="12477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23585" y="428053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97905" y="431339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正确性与复杂度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832158" y="46815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88177" y="4625340"/>
              <a:ext cx="5456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正确性：gcd(m, n) = gcd(n, m mod n)，两对数的公因数完全相同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832158" y="498157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88177" y="4925378"/>
              <a:ext cx="5401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复杂度：每两轮 n 至少减半，循环不超过 2log₂n + 1 轮，O(log n)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892" y="6028373"/>
              <a:ext cx="580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&lt; n 时第一轮只是交换两个数：gcd(18, 48) 要 4 轮，结果同样是 6。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计算过程可以不终止，算法必须终止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410200" cy="2225040"/>
            <a:chOff x="533400" y="1524000"/>
            <a:chExt cx="5410200" cy="22250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33650" cy="222504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83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75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可以不满足第 5 条有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例：操作系统没有任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务时并不终止，而是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等待新任务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09950" y="1524000"/>
              <a:ext cx="2533650" cy="2225040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19475" y="1657350"/>
              <a:ext cx="47625" cy="19583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499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663315" y="217551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21430" y="21126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五个特性全部满足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63315" y="2510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21430" y="24479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对每个合法输入都在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有穷步后停下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076575" y="247459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46915" y="25707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939540"/>
            <a:ext cx="5410200" cy="1930718"/>
            <a:chOff x="533400" y="3939540"/>
            <a:chExt cx="5410200" cy="1930718"/>
          </a:xfrm>
        </p:grpSpPr>
        <p:sp>
          <p:nvSpPr>
            <p:cNvPr id="24" name="Rectangle 24"/>
            <p:cNvSpPr/>
            <p:nvPr/>
          </p:nvSpPr>
          <p:spPr>
            <a:xfrm>
              <a:off x="533400" y="3939540"/>
              <a:ext cx="5410200" cy="1930718"/>
            </a:xfrm>
            <a:prstGeom prst="roundRect">
              <a:avLst>
                <a:gd name="adj" fmla="val 690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2950" y="4149090"/>
              <a:ext cx="11582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8969" y="4184809"/>
              <a:ext cx="1026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Niklaus Wirth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07870" y="4184332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 = 算法 + 数据结构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330" y="45453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数据结构决定数据怎样组织和存取，算法决定对这些数据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做哪些运算，两者合起来才构成程序。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8400" y="1524000"/>
            <a:ext cx="5410200" cy="3372802"/>
            <a:chOff x="6248400" y="1524000"/>
            <a:chExt cx="5410200" cy="337280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4306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18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是算法吗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358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6223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90356" y="22217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7540" y="2108359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没有任务时进入等待状态，不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2783681"/>
              <a:ext cx="1443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服务器主循环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90356" y="278368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77540" y="27836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一直等待并处理新请求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6223" y="3232309"/>
              <a:ext cx="140731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洗发说明“涂抹、冲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洗、重复”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90356" y="33456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77540" y="33456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没有终止条件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7680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77285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6223" y="3907631"/>
              <a:ext cx="1687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EUCLID 求最大公约数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90356" y="39076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77540" y="39076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余数严格变小，必然停止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42167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6223" y="4357211"/>
              <a:ext cx="15097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个元素中顺序查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 x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0356" y="44705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7540" y="4470559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最多比较 n 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33728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91500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64955" y="1524000"/>
              <a:ext cx="9525" cy="33728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6248400" y="5087302"/>
            <a:ext cx="5410200" cy="782955"/>
            <a:chOff x="6248400" y="5087302"/>
            <a:chExt cx="5410200" cy="782955"/>
          </a:xfrm>
        </p:grpSpPr>
        <p:sp>
          <p:nvSpPr>
            <p:cNvPr id="59" name="Rectangle 59"/>
            <p:cNvSpPr/>
            <p:nvPr/>
          </p:nvSpPr>
          <p:spPr>
            <a:xfrm>
              <a:off x="6248400" y="508730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378768"/>
              <a:ext cx="200026" cy="200025"/>
              <a:chOff x="6453188" y="537876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3787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4232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5343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523589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判断一个过程是不是算法，先问：对任意合法输入，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它一定会停下来吗？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问题的求解过程：设计、证明、分析，不满意就回到选策略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1052512" y="1659255"/>
            <a:ext cx="4702493" cy="3669029"/>
            <a:chOff x="1052512" y="1659255"/>
            <a:chExt cx="4702493" cy="3669029"/>
          </a:xfrm>
        </p:grpSpPr>
        <p:sp>
          <p:nvSpPr>
            <p:cNvPr id="7" name="Freeform 7"/>
            <p:cNvSpPr/>
            <p:nvPr/>
          </p:nvSpPr>
          <p:spPr>
            <a:xfrm>
              <a:off x="4429125" y="2045018"/>
              <a:ext cx="9525" cy="70485"/>
            </a:xfrm>
            <a:custGeom>
              <a:avLst/>
              <a:gdLst/>
              <a:ahLst/>
              <a:cxnLst/>
              <a:rect l="l" t="t" r="r" b="b"/>
              <a:pathLst>
                <a:path w="9525" h="70485">
                  <a:moveTo>
                    <a:pt x="0" y="0"/>
                  </a:moveTo>
                  <a:lnTo>
                    <a:pt x="0" y="70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376738" y="2115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429125" y="2797492"/>
              <a:ext cx="9525" cy="70485"/>
            </a:xfrm>
            <a:custGeom>
              <a:avLst/>
              <a:gdLst/>
              <a:ahLst/>
              <a:cxnLst/>
              <a:rect l="l" t="t" r="r" b="b"/>
              <a:pathLst>
                <a:path w="9525" h="70485">
                  <a:moveTo>
                    <a:pt x="0" y="0"/>
                  </a:moveTo>
                  <a:lnTo>
                    <a:pt x="0" y="704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376738" y="28679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429125" y="3358515"/>
              <a:ext cx="9525" cy="165735"/>
            </a:xfrm>
            <a:custGeom>
              <a:avLst/>
              <a:gdLst/>
              <a:ahLst/>
              <a:cxnLst/>
              <a:rect l="l" t="t" r="r" b="b"/>
              <a:pathLst>
                <a:path w="9525" h="165735">
                  <a:moveTo>
                    <a:pt x="0" y="0"/>
                  </a:moveTo>
                  <a:lnTo>
                    <a:pt x="0" y="16573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76738" y="35242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29125" y="4014788"/>
              <a:ext cx="9525" cy="166688"/>
            </a:xfrm>
            <a:custGeom>
              <a:avLst/>
              <a:gdLst/>
              <a:ahLst/>
              <a:cxnLst/>
              <a:rect l="l" t="t" r="r" b="b"/>
              <a:pathLst>
                <a:path w="9525" h="166688">
                  <a:moveTo>
                    <a:pt x="0" y="0"/>
                  </a:moveTo>
                  <a:lnTo>
                    <a:pt x="0" y="166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76738" y="4181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29125" y="4671060"/>
              <a:ext cx="9525" cy="166688"/>
            </a:xfrm>
            <a:custGeom>
              <a:avLst/>
              <a:gdLst/>
              <a:ahLst/>
              <a:cxnLst/>
              <a:rect l="l" t="t" r="r" b="b"/>
              <a:pathLst>
                <a:path w="9525" h="166688">
                  <a:moveTo>
                    <a:pt x="0" y="0"/>
                  </a:moveTo>
                  <a:lnTo>
                    <a:pt x="0" y="1666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76738" y="48377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52512" y="2508885"/>
              <a:ext cx="2259330" cy="1313498"/>
            </a:xfrm>
            <a:custGeom>
              <a:avLst/>
              <a:gdLst/>
              <a:ahLst/>
              <a:cxnLst/>
              <a:rect l="l" t="t" r="r" b="b"/>
              <a:pathLst>
                <a:path w="2259330" h="1313498">
                  <a:moveTo>
                    <a:pt x="2259330" y="1313498"/>
                  </a:moveTo>
                  <a:lnTo>
                    <a:pt x="2049780" y="1313498"/>
                  </a:lnTo>
                  <a:lnTo>
                    <a:pt x="0" y="1313498"/>
                  </a:lnTo>
                  <a:lnTo>
                    <a:pt x="0" y="1300162"/>
                  </a:lnTo>
                  <a:lnTo>
                    <a:pt x="0" y="0"/>
                  </a:lnTo>
                  <a:lnTo>
                    <a:pt x="2049780" y="0"/>
                  </a:lnTo>
                  <a:lnTo>
                    <a:pt x="215455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07068" y="24564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545455" y="2508885"/>
              <a:ext cx="209550" cy="1969770"/>
            </a:xfrm>
            <a:custGeom>
              <a:avLst/>
              <a:gdLst/>
              <a:ahLst/>
              <a:cxnLst/>
              <a:rect l="l" t="t" r="r" b="b"/>
              <a:pathLst>
                <a:path w="209550" h="1969770">
                  <a:moveTo>
                    <a:pt x="0" y="1969770"/>
                  </a:moveTo>
                  <a:lnTo>
                    <a:pt x="209550" y="196977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45455" y="24564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11842" y="1659255"/>
              <a:ext cx="2233612" cy="385762"/>
            </a:xfrm>
            <a:prstGeom prst="roundRect">
              <a:avLst>
                <a:gd name="adj" fmla="val 4987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11842" y="2220278"/>
              <a:ext cx="2233612" cy="578168"/>
            </a:xfrm>
            <a:prstGeom prst="roundRect">
              <a:avLst>
                <a:gd name="adj" fmla="val 16474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11842" y="2972752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11842" y="3629025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11842" y="4286250"/>
              <a:ext cx="223361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11842" y="4942522"/>
              <a:ext cx="2233612" cy="385762"/>
            </a:xfrm>
            <a:prstGeom prst="roundRect">
              <a:avLst>
                <a:gd name="adj" fmla="val 4987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21861" y="17740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理解问题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69970" y="2334101"/>
              <a:ext cx="17183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选择数据结构和算法设计策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21861" y="30865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设计算法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46474" y="37438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证明正确性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21861" y="44000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1861" y="50563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设计程序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58328" y="3626168"/>
              <a:ext cx="4381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90903" y="364902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证不出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02580" y="3414712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50776" y="343757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太慢</a:t>
              </a:r>
            </a:p>
          </p:txBody>
        </p:sp>
      </p:grpSp>
      <p:grpSp>
        <p:nvGrpSpPr>
          <p:cNvPr id="63" name="c2-steps-1"/>
          <p:cNvGrpSpPr/>
          <p:nvPr/>
        </p:nvGrpSpPr>
        <p:grpSpPr>
          <a:xfrm>
            <a:off x="6032182" y="1533525"/>
            <a:ext cx="4141404" cy="3434239"/>
            <a:chOff x="6032182" y="1533525"/>
            <a:chExt cx="4141404" cy="3434239"/>
          </a:xfrm>
        </p:grpSpPr>
        <p:sp>
          <p:nvSpPr>
            <p:cNvPr id="38" name="Rectangle 38"/>
            <p:cNvSpPr/>
            <p:nvPr/>
          </p:nvSpPr>
          <p:spPr>
            <a:xfrm>
              <a:off x="6165532" y="1676400"/>
              <a:ext cx="19050" cy="2914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2182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32823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32182" y="38652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806" y="39390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032182" y="44481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25806" y="45219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424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理解问题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567" y="183308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弄清输入、输出和约束，举几个小实例手算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424" y="214788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选择数据结构和策略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567" y="2416016"/>
              <a:ext cx="3728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分治、贪心、动态规划、回溯、分支限界等（第4~8章）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4424" y="2730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设计算法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5567" y="2998946"/>
              <a:ext cx="1989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SPARKS 等伪代码写出步骤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4424" y="33137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证明正确性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5567" y="358187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说明算法对所有合法输入都给出正确答案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4424" y="389667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5567" y="41648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定量估计所需的计算时间和存储空间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4424" y="44796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设计程序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45567" y="474773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用具体程序设计语言实现，再测试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4" name="Rectangle 6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10572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原课件流程图中，设计、证明、分析三个环节都有箭头回到“选择数据结构和算法设计策略”：证明不了或效率太低时要换思路重做。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学习算法的五项基本内容，本课程重点是设计和分析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4073842"/>
            <a:chOff x="533400" y="1524000"/>
            <a:chExt cx="11125200" cy="4073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52266" y="164877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要解决的问题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6968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主要方法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" y="1972628"/>
              <a:ext cx="1761172" cy="9001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9412" y="23279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如何设计算法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09634" y="23279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面对具体问题，规划出算法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92012" y="2087880"/>
              <a:ext cx="515721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运用被实践证明有用的基本设计策略。这些策略来自计算机科学、运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筹学、电气工程等领域，已设计出很多精致有效的好算法，掌握它们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才能设计出更多好算法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775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882265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9412" y="312705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如何表示算法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09634" y="312705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把设计好的算法用恰当的方式写出来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92012" y="3007042"/>
              <a:ext cx="51400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采用结构化程序设计的方式；本课程用简单明了的 SPARKS 语言（第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五部分）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556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9412" y="39262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如何确认算法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9634" y="3686175"/>
              <a:ext cx="344271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算法确认（algorithm validation）：证明算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法对所有可能的合法输入都能给出正确答案，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确保它正确无误地工作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92012" y="392620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穷举法；推理（数学归纳法、反证法）；构造性证明；测试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748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479608"/>
              <a:ext cx="11125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489132"/>
              <a:ext cx="1761172" cy="6600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9412" y="47253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如何分析算法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09634" y="4605338"/>
              <a:ext cx="331412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执行算法要占用多少 CPU 时间、多少存储空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92012" y="472535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对计算时间和存储空间作定量分析（第二至四部分）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153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9412" y="5283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如何测试程序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09634" y="52835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程序在实际数据上是否正确、实际快慢如何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92012" y="5283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调试；作时空分布图（下一页）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11125200" cy="40738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308860" y="1524000"/>
              <a:ext cx="9525" cy="4073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1238" y="1524000"/>
              <a:ext cx="9525" cy="40738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8" name="Rectangle 3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8373"/>
              <a:ext cx="7437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原课件把“如何设计算法”和“如何分析算法”标为重点，后续第4~9章基本都围绕这两项展开。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调试只能指出有错误，不能证明没有错误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626418" cy="3933825"/>
            <a:chOff x="533400" y="1524000"/>
            <a:chExt cx="5626418" cy="3933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933825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671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9202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测试全部通过，算法仍然是错的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5169218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447" y="2256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685" y="2518886"/>
              <a:ext cx="321894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BADMAX(A, n)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xmax ← 0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错误的初值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&gt; xmax then xmax ← A(i)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(xmax)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BADMAX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2100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147185"/>
              <a:ext cx="3178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 A = (3, 8, 5)：返回 8，正确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5453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482465"/>
              <a:ext cx="4822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A = (−5, −2, −9)：返回 0，真正的最大值是 −2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4573" y="4814411"/>
              <a:ext cx="44914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测试数据只用了正数，错误没有暴露出来。正确写法是 xmax 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A(1)。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464618" y="1524000"/>
            <a:ext cx="5193982" cy="1602105"/>
            <a:chOff x="6464618" y="1524000"/>
            <a:chExt cx="5193982" cy="160210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04648" y="211074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程序正确性的证明至今还没有取得突破性进展，大程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序很难靠证明保证正确，所以调试和测试仍然必不可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3316605"/>
            <a:ext cx="5193982" cy="2141220"/>
            <a:chOff x="6464618" y="3316605"/>
            <a:chExt cx="5193982" cy="2141220"/>
          </a:xfrm>
        </p:grpSpPr>
        <p:sp>
          <p:nvSpPr>
            <p:cNvPr id="27" name="Rectangle 27"/>
            <p:cNvSpPr/>
            <p:nvPr/>
          </p:nvSpPr>
          <p:spPr>
            <a:xfrm>
              <a:off x="6464618" y="3316605"/>
              <a:ext cx="5193982" cy="2141220"/>
            </a:xfrm>
            <a:prstGeom prst="roundRect">
              <a:avLst>
                <a:gd name="adj" fmla="val 62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3449955"/>
              <a:ext cx="47625" cy="18745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352615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0626" y="356187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时空分布图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0015" y="356139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调试之后要做的测试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12267" y="390906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4117" y="39513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3258" y="392239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用各种给定数据执行调试后的程序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2267" y="42443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17" y="42866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3258" y="42576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测定计算时间和所用空间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2267" y="457962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4117" y="46219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13258" y="4592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印证之前的分析是否正确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12267" y="491490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4117" y="49571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13258" y="492823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指出最值得优化的逻辑位置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9940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设计测试数据时专门构造边界情况：全是负数、元素全相等、只有 1 个元素、最大值在第一个或最后一个位置。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分析算法：准备工作与频率计数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先定下计算模型、运算和数据集，再数每条语句执行了多少次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算法分析的目的与计算机模型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最坏、最好、平均情况的时间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基本运算与复杂运算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频率计数与算法的数量级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算法分析：定量估算时间和空间，用来比较不同算法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1845945"/>
            <a:chOff x="533400" y="1524000"/>
            <a:chExt cx="5626418" cy="1845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3165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算法分析（analysis of algorithms）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对一个算法需要多少计算时间和存储空间作定量的分析。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7172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目的一：确定算法在什么样的环境下能够有效地运行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7279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67176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目的二：对解决同一问题的不同算法的有效性作出比较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0289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297275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要分别分析最好、最坏和平均情况下的执行情况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562350"/>
            <a:ext cx="5633276" cy="1048893"/>
            <a:chOff x="526542" y="3562350"/>
            <a:chExt cx="5633276" cy="1048893"/>
          </a:xfrm>
        </p:grpSpPr>
        <p:sp>
          <p:nvSpPr>
            <p:cNvPr id="20" name="TextBox 20"/>
            <p:cNvSpPr txBox="1"/>
            <p:nvPr/>
          </p:nvSpPr>
          <p:spPr>
            <a:xfrm>
              <a:off x="526542" y="3562350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86624" y="35623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算法的时间复杂性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8481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3954780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S(n)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6624" y="39547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算法的空间复杂性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405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434721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6624" y="43472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问题的规模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4728210"/>
            <a:ext cx="5626418" cy="1506855"/>
            <a:chOff x="533400" y="4728210"/>
            <a:chExt cx="5626418" cy="1506855"/>
          </a:xfrm>
        </p:grpSpPr>
        <p:sp>
          <p:nvSpPr>
            <p:cNvPr id="29" name="Rectangle 29"/>
            <p:cNvSpPr/>
            <p:nvPr/>
          </p:nvSpPr>
          <p:spPr>
            <a:xfrm>
              <a:off x="533400" y="4728210"/>
              <a:ext cx="5626418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861560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8190" y="49149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0862" y="49477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3784" y="494919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空间复杂性算哪些部分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53320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527589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程序本身和输入数据占的空间，与算法设计关系不大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6762" y="56321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782" y="557593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算法运行时额外申请的辅助空间，才是比较算法时关心的部分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475" y="5872639"/>
              <a:ext cx="3890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例：MAX 只用 xmax、i、j 三个变量，辅助空间是 O(1)。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2521268"/>
            <a:chOff x="6464618" y="1524000"/>
            <a:chExt cx="5193982" cy="2521268"/>
          </a:xfrm>
        </p:grpSpPr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2521268"/>
            </a:xfrm>
            <a:prstGeom prst="roundRect">
              <a:avLst>
                <a:gd name="adj" fmla="val 52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1657350"/>
              <a:ext cx="47625" cy="22545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9408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492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计算模型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04557" y="17459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假定使用一台通用计算机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82549" y="207168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分析要独立于具体的软硬件环境，因此假定这台计算机：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89408" y="235934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45086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70204" y="23717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顺序处理每条指令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689408" y="266033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5086" y="26987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70204" y="267176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存储容量足够大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89408" y="296037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5086" y="29987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70204" y="297275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存取时间恒定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3692" y="3268504"/>
              <a:ext cx="454177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这台假想机器也叫随机存取机器（RAM）模型。正因为存取时间恒定，分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析时才能把 A(i) 的读写算作 1 步；同一算法换到不同机器上只差常数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倍，数量级不变。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4215765"/>
            <a:ext cx="5193982" cy="2019300"/>
            <a:chOff x="6464618" y="4215765"/>
            <a:chExt cx="5193982" cy="2019300"/>
          </a:xfrm>
        </p:grpSpPr>
        <p:sp>
          <p:nvSpPr>
            <p:cNvPr id="57" name="Rectangle 57"/>
            <p:cNvSpPr/>
            <p:nvPr/>
          </p:nvSpPr>
          <p:spPr>
            <a:xfrm>
              <a:off x="6464618" y="4215765"/>
              <a:ext cx="5193982" cy="2019300"/>
            </a:xfrm>
            <a:prstGeom prst="roundRect">
              <a:avLst>
                <a:gd name="adj" fmla="val 66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349115"/>
              <a:ext cx="47625" cy="17526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9408" y="440245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63728" y="443531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怎么说才算分析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2549" y="4746308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比较两个排序算法时，不说“在我的电脑上用了 0.3 秒”，而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说“比较次数是 n(n−1)/2”，这样的结论换台机器仍然成立。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82131" cy="909257"/>
            <a:chOff x="520446" y="342900"/>
            <a:chExt cx="110821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821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最坏、最好、平均情况：对规模为 n 的全部实例取最大、最小、加权平均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size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1"/>
              <p:cNvSpPr txBox="1">
                <a:spLocks noGrp="1"/>
              </p:cNvSpPr>
              <p:nvPr/>
            </p:nvSpPr>
            <p:spPr>
              <a:xfrm>
                <a:off x="533400" y="2142172"/>
                <a:ext cx="5193982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∣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size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"/>
              <p:cNvSpPr txBox="1">
                <a:spLocks noGrp="1"/>
              </p:cNvSpPr>
              <p:nvPr/>
            </p:nvSpPr>
            <p:spPr>
              <a:xfrm>
                <a:off x="533400" y="2760345"/>
                <a:ext cx="5193982" cy="722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avg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size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8" name="c1-kv-4"/>
          <p:cNvGrpSpPr/>
          <p:nvPr/>
        </p:nvGrpSpPr>
        <p:grpSpPr>
          <a:xfrm>
            <a:off x="526161" y="3687604"/>
            <a:ext cx="5201221" cy="1111187"/>
            <a:chOff x="526161" y="3687604"/>
            <a:chExt cx="5201221" cy="1111187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687604"/>
              <a:ext cx="781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58621" y="3687604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规模为 n 的一个问题实例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990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4103846"/>
              <a:ext cx="42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T(I)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8621" y="4103846"/>
              <a:ext cx="22990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算法在实例 I 上的计算时间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40721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4520089"/>
              <a:ext cx="416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p(I)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8621" y="4520089"/>
              <a:ext cx="15343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 I 出现的概率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4111942"/>
            <a:chOff x="6032182" y="1524000"/>
            <a:chExt cx="5626418" cy="4111942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4111942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41708" y="1657350"/>
              <a:ext cx="47625" cy="3845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68402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63843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8364" y="1756886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 x 的比较次数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68402" y="2077402"/>
              <a:ext cx="519207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96800" y="22293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6419" y="2490788"/>
              <a:ext cx="272434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SEARCH(A, n, x)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= x then return (i)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(0)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SEARCH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276022" y="38909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32614" y="3830479"/>
              <a:ext cx="23390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最好：x = A(1)，比较 1 次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76022" y="42081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32614" y="4148614"/>
              <a:ext cx="33462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最坏：x = A(n) 或不在表中，比较 n 次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76022" y="45262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32614" y="4465796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平均：设 x 一定在表中，且在每个位置的概率都是 1/n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3"/>
                <p:cNvSpPr txBox="1">
                  <a:spLocks noGrp="1"/>
                </p:cNvSpPr>
                <p:nvPr/>
              </p:nvSpPr>
              <p:spPr>
                <a:xfrm>
                  <a:off x="6268402" y="4760595"/>
                  <a:ext cx="5192078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avg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5" name="Rectangle 3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11704"/>
              <a:ext cx="90510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平均情况依赖对 p(I) 的假设：若 x 有一半概率不在表中，平均比较次数变为 n/2 + (n+1)/4 = (3n+1)/4。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全面分析分两个阶段：事前分析和事后测试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flow-1"/>
          <p:cNvGrpSpPr/>
          <p:nvPr/>
        </p:nvGrpSpPr>
        <p:grpSpPr>
          <a:xfrm>
            <a:off x="680085" y="1810702"/>
            <a:ext cx="5982652" cy="2477453"/>
            <a:chOff x="680085" y="1810702"/>
            <a:chExt cx="5982652" cy="2477453"/>
          </a:xfrm>
        </p:grpSpPr>
        <p:sp>
          <p:nvSpPr>
            <p:cNvPr id="7" name="Freeform 7"/>
            <p:cNvSpPr/>
            <p:nvPr/>
          </p:nvSpPr>
          <p:spPr>
            <a:xfrm>
              <a:off x="2479358" y="3001328"/>
              <a:ext cx="187642" cy="9525"/>
            </a:xfrm>
            <a:custGeom>
              <a:avLst/>
              <a:gdLst/>
              <a:ahLst/>
              <a:cxnLst/>
              <a:rect l="l" t="t" r="r" b="b"/>
              <a:pathLst>
                <a:path w="187642" h="9525">
                  <a:moveTo>
                    <a:pt x="0" y="0"/>
                  </a:moveTo>
                  <a:lnTo>
                    <a:pt x="18764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67000" y="29489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79245" y="3408045"/>
              <a:ext cx="2091690" cy="276225"/>
            </a:xfrm>
            <a:custGeom>
              <a:avLst/>
              <a:gdLst/>
              <a:ahLst/>
              <a:cxnLst/>
              <a:rect l="l" t="t" r="r" b="b"/>
              <a:pathLst>
                <a:path w="2091690" h="276225">
                  <a:moveTo>
                    <a:pt x="0" y="276225"/>
                  </a:moveTo>
                  <a:lnTo>
                    <a:pt x="0" y="85725"/>
                  </a:lnTo>
                  <a:lnTo>
                    <a:pt x="2091690" y="85725"/>
                  </a:lnTo>
                  <a:lnTo>
                    <a:pt x="209169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8548" y="33032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70935" y="3303270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18548" y="35794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675822" y="3986212"/>
              <a:ext cx="187643" cy="9525"/>
            </a:xfrm>
            <a:custGeom>
              <a:avLst/>
              <a:gdLst/>
              <a:ahLst/>
              <a:cxnLst/>
              <a:rect l="l" t="t" r="r" b="b"/>
              <a:pathLst>
                <a:path w="187643" h="9525">
                  <a:moveTo>
                    <a:pt x="18764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71048" y="39338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0085" y="1810702"/>
              <a:ext cx="179927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71775" y="1810702"/>
              <a:ext cx="179927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863465" y="1810702"/>
              <a:ext cx="1799272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0085" y="2699385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0085" y="3684270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71775" y="2699385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71775" y="3684270"/>
              <a:ext cx="1799272" cy="603885"/>
            </a:xfrm>
            <a:prstGeom prst="roundRect">
              <a:avLst>
                <a:gd name="adj" fmla="val 15773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63465" y="3780472"/>
              <a:ext cx="179927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50061" y="1932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准备工作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1751" y="1932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事前分析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4394" y="19326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事后测试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7349" y="2814638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确定算法所涉及的运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7349" y="3799522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确定能反映各种情况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79039" y="2814638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分析算法语句的执行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79039" y="3799522"/>
              <a:ext cx="13837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分析执行时间的渐近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11306" y="39023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作时空性能分布图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45330" y="377952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80852" y="38047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印证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7114222" y="1524000"/>
            <a:ext cx="4544378" cy="2340293"/>
            <a:chOff x="7114222" y="1524000"/>
            <a:chExt cx="4544378" cy="2340293"/>
          </a:xfrm>
        </p:grpSpPr>
        <p:sp>
          <p:nvSpPr>
            <p:cNvPr id="34" name="Rectangle 34"/>
            <p:cNvSpPr/>
            <p:nvPr/>
          </p:nvSpPr>
          <p:spPr>
            <a:xfrm>
              <a:off x="7114222" y="1524000"/>
              <a:ext cx="4544378" cy="63817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7620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28963" y="17592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80954" y="1652588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与机器的关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6712" y="2289810"/>
              <a:ext cx="757809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事前分析 a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priori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analysis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79739" y="2289810"/>
              <a:ext cx="171145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确定每条语句的执行次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数，求出关于规模 n 的时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间限界函数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79036" y="250317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与机器无关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14222" y="30079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14222" y="3012758"/>
              <a:ext cx="4544378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6712" y="3141345"/>
              <a:ext cx="8122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事后测试 a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posteriori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testing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9739" y="32480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运行程序，作时空性能分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79036" y="3248025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与所用计算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机密切相关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23402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72488" y="1524000"/>
              <a:ext cx="9525" cy="2340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471785" y="1524000"/>
              <a:ext cx="9525" cy="23402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7114222" y="4044315"/>
            <a:ext cx="4544378" cy="1250632"/>
            <a:chOff x="7114222" y="4044315"/>
            <a:chExt cx="4544378" cy="1250632"/>
          </a:xfrm>
        </p:grpSpPr>
        <p:sp>
          <p:nvSpPr>
            <p:cNvPr id="50" name="Rectangle 50"/>
            <p:cNvSpPr/>
            <p:nvPr/>
          </p:nvSpPr>
          <p:spPr>
            <a:xfrm>
              <a:off x="7114222" y="4044315"/>
              <a:ext cx="454437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23748" y="417766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50442" y="424243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5883" y="42767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3204" y="4602956"/>
              <a:ext cx="39368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a posterior testing，拉丁语短语的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规范写法是 a posteriori，与 a priori 相对。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6" name="Rectangle 5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11704"/>
              <a:ext cx="9381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事前分析给出数量级，事后测试用实测数据检验这个数量级；两者对不上时，要么分析有误，要么实现有问题。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34266" cy="909257"/>
            <a:chOff x="520446" y="342900"/>
            <a:chExt cx="100342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342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准备工作：定好“一步”算多少时间，再造出最好、最坏和典型数据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1815465"/>
            <a:chOff x="533400" y="1524000"/>
            <a:chExt cx="5193982" cy="1815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15465"/>
            </a:xfrm>
            <a:prstGeom prst="roundRect">
              <a:avLst>
                <a:gd name="adj" fmla="val 73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87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基本运算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时间囿界于常数的运算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10073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加、减、乘、除整数算术运算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41887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浮点算术、字符比较、对变量赋值、过程调用等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3524" y="2732722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每种运算所用时间虽然不同，但都只花费一个固定量的时间，分析时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都算作 1 步。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3519488"/>
            <a:ext cx="5193982" cy="2132648"/>
            <a:chOff x="533400" y="3519488"/>
            <a:chExt cx="5193982" cy="2132648"/>
          </a:xfrm>
        </p:grpSpPr>
        <p:sp>
          <p:nvSpPr>
            <p:cNvPr id="18" name="Rectangle 18"/>
            <p:cNvSpPr/>
            <p:nvPr/>
          </p:nvSpPr>
          <p:spPr>
            <a:xfrm>
              <a:off x="533400" y="3519488"/>
              <a:ext cx="5193982" cy="2132648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652838"/>
              <a:ext cx="47625" cy="18659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371760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3059" y="37518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复杂运算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9631" y="375237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由任意长的基本运算序列组成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09622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例：两个字符串的比较，由一系列字符比较指令组成。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77240" y="447389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3831" y="441340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一个字符的比较时间囿界于常数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7240" y="47920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831" y="473154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字符串比较的时间总量取决于字符串的长度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3524" y="5045392"/>
              <a:ext cx="4302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 algorithm 与 algebra：前 3 个字符相同，第 4 个字符 o ≠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e，共比较 4 次。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032182" y="1524000"/>
            <a:ext cx="5626418" cy="1594485"/>
            <a:chOff x="6032182" y="1524000"/>
            <a:chExt cx="5626418" cy="1594485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1594485"/>
            </a:xfrm>
            <a:prstGeom prst="roundRect">
              <a:avLst>
                <a:gd name="adj" fmla="val 83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30302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9741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第二项准备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13664" y="175688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确定能反映各种情况的数据集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30302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864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1196" y="210073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编造出能产生最好、最坏和有代表性情况的数据配置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30302" y="240601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8647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1196" y="241887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用这些数据运行算法，更好地了解算法的性能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4206" y="273272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这是算法分析中最重要、最富于创造性的工作。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032182" y="3298508"/>
            <a:ext cx="5626418" cy="2124075"/>
            <a:chOff x="6032182" y="3298508"/>
            <a:chExt cx="5626418" cy="2124075"/>
          </a:xfrm>
        </p:grpSpPr>
        <p:sp>
          <p:nvSpPr>
            <p:cNvPr id="42" name="Rectangle 42"/>
            <p:cNvSpPr/>
            <p:nvPr/>
          </p:nvSpPr>
          <p:spPr>
            <a:xfrm>
              <a:off x="6032182" y="3298508"/>
              <a:ext cx="562641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9865" y="342709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04607" y="342709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最好情况数据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42969" y="342709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34672" y="3850957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 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85316" y="38509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在第 1 个位置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10332" y="3850957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不在表中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41424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4147185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4672" y="4382452"/>
              <a:ext cx="1043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求最大值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85316" y="4275772"/>
              <a:ext cx="17190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最大值在 A(1)，xmax 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不更新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10332" y="43824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严格递增，每轮都更新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47805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4672" y="5019675"/>
              <a:ext cx="5588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EUCLID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85316" y="5019675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整除 m，1 轮结束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10332" y="4912995"/>
              <a:ext cx="1764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相邻斐波那契数，如 (89,</a:t>
              </a:r>
            </a:p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55) 要 9 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3298508"/>
              <a:ext cx="5626418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78065" y="3298508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03080" y="3298508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2" name="Rectangle 6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511" y="6011704"/>
              <a:ext cx="8113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把字符串比较当成 1 步会低估时间：对 n 个长度为 L 的字符串排序，每次比较的代价是 O(L)。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频率计数：一条语句的执行次数，与机器和语言无关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268730"/>
            <a:chOff x="533400" y="1524000"/>
            <a:chExt cx="5410200" cy="12687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7671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频率计数（frequency count）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同一条语句在一个算法中的执行次数称为频率计数。它由算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法直接确定，与所用的机器无关，且独立于程序设计语言。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6"/>
              <p:cNvSpPr txBox="1">
                <a:spLocks noGrp="1"/>
              </p:cNvSpPr>
              <p:nvPr/>
            </p:nvSpPr>
            <p:spPr>
              <a:xfrm>
                <a:off x="533400" y="2972752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语句的时间总量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频率计数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m:rPr>
                          <m:nor m:val="on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执行一次的时间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1" name="c1-bullets-3"/>
          <p:cNvGrpSpPr/>
          <p:nvPr/>
        </p:nvGrpSpPr>
        <p:grpSpPr>
          <a:xfrm>
            <a:off x="541020" y="3577114"/>
            <a:ext cx="5040249" cy="1203579"/>
            <a:chOff x="541020" y="3577114"/>
            <a:chExt cx="5040249" cy="1203579"/>
          </a:xfrm>
        </p:grpSpPr>
        <p:sp>
          <p:nvSpPr>
            <p:cNvPr id="15" name="Ellipse 15"/>
            <p:cNvSpPr/>
            <p:nvPr/>
          </p:nvSpPr>
          <p:spPr>
            <a:xfrm>
              <a:off x="541020" y="36366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611" y="3577114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语句本质上由运算组成，执行一次的时间依赖于机器、程序设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计语言和编译程序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1020" y="42348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611" y="417528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算法的执行时间就是所有语句的执行时间总量之和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1020" y="45615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611" y="4501991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事前分析只数频率计数，把“执行一次的时间”看作常数</a:t>
              </a:r>
            </a:p>
          </p:txBody>
        </p:sp>
      </p:grpSp>
      <p:grpSp>
        <p:nvGrpSpPr>
          <p:cNvPr id="28" name="c1-callout-4"/>
          <p:cNvGrpSpPr/>
          <p:nvPr/>
        </p:nvGrpSpPr>
        <p:grpSpPr>
          <a:xfrm>
            <a:off x="533400" y="4904422"/>
            <a:ext cx="5410200" cy="756285"/>
            <a:chOff x="533400" y="4904422"/>
            <a:chExt cx="5410200" cy="756285"/>
          </a:xfrm>
        </p:grpSpPr>
        <p:sp>
          <p:nvSpPr>
            <p:cNvPr id="22" name="Rectangle 22"/>
            <p:cNvSpPr/>
            <p:nvPr/>
          </p:nvSpPr>
          <p:spPr>
            <a:xfrm>
              <a:off x="533400" y="490442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182553"/>
              <a:ext cx="200026" cy="200025"/>
              <a:chOff x="738188" y="5182553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1825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2270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3381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051584"/>
              <a:ext cx="436968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数频率计数时，循环头的判断次数比循环体多 1 次，递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归调用要按调用次数累计。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524000"/>
            <a:ext cx="5410200" cy="4664392"/>
            <a:chOff x="6248400" y="1524000"/>
            <a:chExt cx="5410200" cy="4664392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4664392"/>
            </a:xfrm>
            <a:prstGeom prst="roundRect">
              <a:avLst>
                <a:gd name="adj" fmla="val 2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43976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84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80061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4581" y="1756886"/>
              <a:ext cx="2254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逐行数出 SUM 的频率计数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84620" y="2077402"/>
              <a:ext cx="497586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59090" y="22059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85476" y="22059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频率计数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87109" y="2629852"/>
              <a:ext cx="1761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procedure SUM(A, n)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6413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84620" y="2921318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84620" y="2926080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7109" y="3054668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←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413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84620" y="334613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7109" y="3478530"/>
              <a:ext cx="1301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i ← 1 to n do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26827" y="347853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84620" y="3769995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84620" y="3774758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87109" y="3903345"/>
              <a:ext cx="932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← s + A(i)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6413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84620" y="4194810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87109" y="4328160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repeat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64139" y="4328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84620" y="461867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84620" y="4623435"/>
              <a:ext cx="497586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87109" y="4752022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 (s)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64139" y="4752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84620" y="5043488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87109" y="517683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778365" y="5057775"/>
              <a:ext cx="167259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382402" y="5176838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+ 3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84620" y="2077402"/>
              <a:ext cx="4975860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64078" y="2077402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78524" y="5581650"/>
              <a:ext cx="46222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行多出的 1 次，是最后一次判断 i &gt; n 后退出循环。n = 5 时合计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 次。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7675" cy="909257"/>
            <a:chOff x="520446" y="342900"/>
            <a:chExt cx="81676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76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例：语句 x ← z + y 在不同程序段中执行 1、n、n²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2552700" cy="1110615"/>
            <a:chOff x="533400" y="1524000"/>
            <a:chExt cx="2552700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5527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程序段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02844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← z +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2825115"/>
            <a:ext cx="2552700" cy="533400"/>
            <a:chOff x="533400" y="2825115"/>
            <a:chExt cx="2552700" cy="533400"/>
          </a:xfrm>
        </p:grpSpPr>
        <p:sp>
          <p:nvSpPr>
            <p:cNvPr id="11" name="Rectangle 11"/>
            <p:cNvSpPr/>
            <p:nvPr/>
          </p:nvSpPr>
          <p:spPr>
            <a:xfrm>
              <a:off x="533400" y="2825115"/>
              <a:ext cx="25527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2991803"/>
              <a:ext cx="200026" cy="200026"/>
              <a:chOff x="738188" y="299180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29918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04863" y="30695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298704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频率计数 1</a:t>
              </a:r>
            </a:p>
          </p:txBody>
        </p:sp>
      </p:grpSp>
      <p:grpSp>
        <p:nvGrpSpPr>
          <p:cNvPr id="18" name="c1-text-3"/>
          <p:cNvGrpSpPr/>
          <p:nvPr/>
        </p:nvGrpSpPr>
        <p:grpSpPr>
          <a:xfrm>
            <a:off x="526923" y="3570446"/>
            <a:ext cx="2313178" cy="500824"/>
            <a:chOff x="526923" y="3570446"/>
            <a:chExt cx="2313178" cy="500824"/>
          </a:xfrm>
        </p:grpSpPr>
        <p:sp>
          <p:nvSpPr>
            <p:cNvPr id="17" name="TextBox 17"/>
            <p:cNvSpPr txBox="1"/>
            <p:nvPr/>
          </p:nvSpPr>
          <p:spPr>
            <a:xfrm>
              <a:off x="526923" y="3570446"/>
              <a:ext cx="23131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顺序语句，执行次数与 n 无关，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数量级 O(1)。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3390900" y="1524000"/>
            <a:ext cx="2552700" cy="1516380"/>
            <a:chOff x="3390900" y="1524000"/>
            <a:chExt cx="2552700" cy="1516380"/>
          </a:xfrm>
        </p:grpSpPr>
        <p:sp>
          <p:nvSpPr>
            <p:cNvPr id="19" name="Rectangle 19"/>
            <p:cNvSpPr/>
            <p:nvPr/>
          </p:nvSpPr>
          <p:spPr>
            <a:xfrm>
              <a:off x="3390900" y="1524000"/>
              <a:ext cx="255270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19297" y="167592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程序段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535" y="1937861"/>
              <a:ext cx="134137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← z +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3390900" y="3230880"/>
            <a:ext cx="2552700" cy="533400"/>
            <a:chOff x="3390900" y="3230880"/>
            <a:chExt cx="2552700" cy="533400"/>
          </a:xfrm>
        </p:grpSpPr>
        <p:sp>
          <p:nvSpPr>
            <p:cNvPr id="23" name="Rectangle 23"/>
            <p:cNvSpPr/>
            <p:nvPr/>
          </p:nvSpPr>
          <p:spPr>
            <a:xfrm>
              <a:off x="3390900" y="3230880"/>
              <a:ext cx="25527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595688" y="3397568"/>
              <a:ext cx="200026" cy="200026"/>
              <a:chOff x="3595688" y="339756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595688" y="3397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62363" y="34753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897630" y="339280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频率计数 n</a:t>
              </a:r>
            </a:p>
          </p:txBody>
        </p:sp>
      </p:grpSp>
      <p:grpSp>
        <p:nvGrpSpPr>
          <p:cNvPr id="30" name="c2-text-3"/>
          <p:cNvGrpSpPr/>
          <p:nvPr/>
        </p:nvGrpSpPr>
        <p:grpSpPr>
          <a:xfrm>
            <a:off x="3384423" y="3976211"/>
            <a:ext cx="2150618" cy="500824"/>
            <a:chOff x="3384423" y="3976211"/>
            <a:chExt cx="2150618" cy="500824"/>
          </a:xfrm>
        </p:grpSpPr>
        <p:sp>
          <p:nvSpPr>
            <p:cNvPr id="29" name="TextBox 29"/>
            <p:cNvSpPr txBox="1"/>
            <p:nvPr/>
          </p:nvSpPr>
          <p:spPr>
            <a:xfrm>
              <a:off x="3384423" y="3976211"/>
              <a:ext cx="215061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单重循环，循环次数与 n 成正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比，数量级 O(n)。</a:t>
              </a:r>
            </a:p>
          </p:txBody>
        </p:sp>
      </p:grpSp>
      <p:grpSp>
        <p:nvGrpSpPr>
          <p:cNvPr id="34" name="c3-code-1"/>
          <p:cNvGrpSpPr/>
          <p:nvPr/>
        </p:nvGrpSpPr>
        <p:grpSpPr>
          <a:xfrm>
            <a:off x="6248400" y="1524000"/>
            <a:ext cx="2552700" cy="1922145"/>
            <a:chOff x="6248400" y="1524000"/>
            <a:chExt cx="2552700" cy="192214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25527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167592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程序段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035" y="1937861"/>
              <a:ext cx="149783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← z +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40" name="c3-callout-2"/>
          <p:cNvGrpSpPr/>
          <p:nvPr/>
        </p:nvGrpSpPr>
        <p:grpSpPr>
          <a:xfrm>
            <a:off x="6248400" y="3636645"/>
            <a:ext cx="2552700" cy="533400"/>
            <a:chOff x="6248400" y="3636645"/>
            <a:chExt cx="2552700" cy="533400"/>
          </a:xfrm>
        </p:grpSpPr>
        <p:sp>
          <p:nvSpPr>
            <p:cNvPr id="35" name="Rectangle 35"/>
            <p:cNvSpPr/>
            <p:nvPr/>
          </p:nvSpPr>
          <p:spPr>
            <a:xfrm>
              <a:off x="6248400" y="3636645"/>
              <a:ext cx="25527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3803333"/>
              <a:ext cx="200026" cy="200026"/>
              <a:chOff x="6453188" y="3803333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3803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19863" y="38811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130" y="3798570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频率计数 n²</a:t>
              </a:r>
            </a:p>
          </p:txBody>
        </p:sp>
      </p:grpSp>
      <p:grpSp>
        <p:nvGrpSpPr>
          <p:cNvPr id="42" name="c3-text-3"/>
          <p:cNvGrpSpPr/>
          <p:nvPr/>
        </p:nvGrpSpPr>
        <p:grpSpPr>
          <a:xfrm>
            <a:off x="6241923" y="4381976"/>
            <a:ext cx="2426970" cy="500824"/>
            <a:chOff x="6241923" y="4381976"/>
            <a:chExt cx="2426970" cy="500824"/>
          </a:xfrm>
        </p:grpSpPr>
        <p:sp>
          <p:nvSpPr>
            <p:cNvPr id="41" name="TextBox 41"/>
            <p:cNvSpPr txBox="1"/>
            <p:nvPr/>
          </p:nvSpPr>
          <p:spPr>
            <a:xfrm>
              <a:off x="6241923" y="4381976"/>
              <a:ext cx="242697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两重循环各自独立跑到 n，次数相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乘，数量级 O(n²)。</a:t>
              </a:r>
            </a:p>
          </p:txBody>
        </p:sp>
      </p:grpSp>
      <p:grpSp>
        <p:nvGrpSpPr>
          <p:cNvPr id="46" name="c4-code-1"/>
          <p:cNvGrpSpPr/>
          <p:nvPr/>
        </p:nvGrpSpPr>
        <p:grpSpPr>
          <a:xfrm>
            <a:off x="9105900" y="1524000"/>
            <a:ext cx="2552700" cy="1922145"/>
            <a:chOff x="9105900" y="1524000"/>
            <a:chExt cx="2552700" cy="1922145"/>
          </a:xfrm>
        </p:grpSpPr>
        <p:sp>
          <p:nvSpPr>
            <p:cNvPr id="43" name="Rectangle 43"/>
            <p:cNvSpPr/>
            <p:nvPr/>
          </p:nvSpPr>
          <p:spPr>
            <a:xfrm>
              <a:off x="9105900" y="1524000"/>
              <a:ext cx="2552700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34297" y="1675924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补充：程序段 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33535" y="1937861"/>
              <a:ext cx="149783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1 to i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← z + y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53" name="c4-callout-2"/>
          <p:cNvGrpSpPr/>
          <p:nvPr/>
        </p:nvGrpSpPr>
        <p:grpSpPr>
          <a:xfrm>
            <a:off x="9105900" y="3636645"/>
            <a:ext cx="2552700" cy="782955"/>
            <a:chOff x="9105900" y="3636645"/>
            <a:chExt cx="2552700" cy="782955"/>
          </a:xfrm>
        </p:grpSpPr>
        <p:sp>
          <p:nvSpPr>
            <p:cNvPr id="47" name="Rectangle 47"/>
            <p:cNvSpPr/>
            <p:nvPr/>
          </p:nvSpPr>
          <p:spPr>
            <a:xfrm>
              <a:off x="9105900" y="3636645"/>
              <a:ext cx="25527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310688" y="3928110"/>
              <a:ext cx="200026" cy="200025"/>
              <a:chOff x="9310688" y="3928110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310688" y="39281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350426" y="39725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385142" y="40836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9612630" y="3785235"/>
              <a:ext cx="1253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+ 2 + … + n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n(n+1)/2 次</a:t>
              </a:r>
            </a:p>
          </p:txBody>
        </p:sp>
      </p:grpSp>
      <p:grpSp>
        <p:nvGrpSpPr>
          <p:cNvPr id="55" name="c4-text-3"/>
          <p:cNvGrpSpPr/>
          <p:nvPr/>
        </p:nvGrpSpPr>
        <p:grpSpPr>
          <a:xfrm>
            <a:off x="9099423" y="4631531"/>
            <a:ext cx="2435098" cy="752284"/>
            <a:chOff x="9099423" y="4631531"/>
            <a:chExt cx="2435098" cy="752284"/>
          </a:xfrm>
        </p:grpSpPr>
        <p:sp>
          <p:nvSpPr>
            <p:cNvPr id="54" name="TextBox 54"/>
            <p:cNvSpPr txBox="1"/>
            <p:nvPr/>
          </p:nvSpPr>
          <p:spPr>
            <a:xfrm>
              <a:off x="9099423" y="4631531"/>
              <a:ext cx="243509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内层次数随 i 变化，要先写成求和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式再套公式，数量级仍是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6" name="Rectangle 5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728335"/>
              <a:ext cx="9806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语句的数量级指它的执行频率；算法的数量级指所有语句执行频率之和，它在本质上反映了算法所需的计算时间。n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时四段分别执行 1、10、100、55 次。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分析算法：准备工作与频率计数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数量级只保留最高次项的次数，系数和低次项都略去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4760595" cy="2000250"/>
            <a:chOff x="533400" y="1524000"/>
            <a:chExt cx="476059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38135" y="16454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描述算法数量级时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093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是否保留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描述数量级的完整多项式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47095" y="20454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最高次项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47095" y="24455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最高次项的系数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47095" y="28455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最高次项的次数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7095" y="32456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5668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flow-2"/>
          <p:cNvGrpSpPr/>
          <p:nvPr/>
        </p:nvGrpSpPr>
        <p:grpSpPr>
          <a:xfrm>
            <a:off x="866775" y="3920490"/>
            <a:ext cx="4094798" cy="2062162"/>
            <a:chOff x="866775" y="3920490"/>
            <a:chExt cx="4094798" cy="2062162"/>
          </a:xfrm>
        </p:grpSpPr>
        <p:sp>
          <p:nvSpPr>
            <p:cNvPr id="26" name="Freeform 26"/>
            <p:cNvSpPr/>
            <p:nvPr/>
          </p:nvSpPr>
          <p:spPr>
            <a:xfrm>
              <a:off x="2913698" y="4306252"/>
              <a:ext cx="9525" cy="347662"/>
            </a:xfrm>
            <a:custGeom>
              <a:avLst/>
              <a:gdLst/>
              <a:ahLst/>
              <a:cxnLst/>
              <a:rect l="l" t="t" r="r" b="b"/>
              <a:pathLst>
                <a:path w="9525" h="347662">
                  <a:moveTo>
                    <a:pt x="0" y="0"/>
                  </a:moveTo>
                  <a:lnTo>
                    <a:pt x="0" y="3476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861310" y="46539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913698" y="5144452"/>
              <a:ext cx="9525" cy="347662"/>
            </a:xfrm>
            <a:custGeom>
              <a:avLst/>
              <a:gdLst/>
              <a:ahLst/>
              <a:cxnLst/>
              <a:rect l="l" t="t" r="r" b="b"/>
              <a:pathLst>
                <a:path w="9525" h="347662">
                  <a:moveTo>
                    <a:pt x="0" y="0"/>
                  </a:moveTo>
                  <a:lnTo>
                    <a:pt x="0" y="3476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861310" y="5492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66775" y="3920490"/>
              <a:ext cx="409479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6775" y="4758690"/>
              <a:ext cx="4094798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6775" y="5596890"/>
              <a:ext cx="4094798" cy="385762"/>
            </a:xfrm>
            <a:prstGeom prst="roundRect">
              <a:avLst>
                <a:gd name="adj" fmla="val 24691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80272" y="40343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算法的计算时间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55659" y="48725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算法的数量级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80272" y="571071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算法的渐近表示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942272" y="4453890"/>
              <a:ext cx="15811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66085" y="447675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略去每条语句执行一次的时间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42272" y="5292090"/>
              <a:ext cx="6667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966085" y="53149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略去低次项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5598795" y="1524000"/>
            <a:ext cx="6059805" cy="3190875"/>
            <a:chOff x="5598795" y="1524000"/>
            <a:chExt cx="6059805" cy="3190875"/>
          </a:xfrm>
        </p:grpSpPr>
        <p:sp>
          <p:nvSpPr>
            <p:cNvPr id="41" name="Rectangle 41"/>
            <p:cNvSpPr/>
            <p:nvPr/>
          </p:nvSpPr>
          <p:spPr>
            <a:xfrm>
              <a:off x="5598795" y="1524000"/>
              <a:ext cx="6059805" cy="3190875"/>
            </a:xfrm>
            <a:prstGeom prst="roundRect">
              <a:avLst>
                <a:gd name="adj" fmla="val 41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08320" y="1657350"/>
              <a:ext cx="47625" cy="29241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3585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20308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65354" y="1745932"/>
              <a:ext cx="1745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3n² + 5n + 2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23585" y="2049780"/>
              <a:ext cx="564832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8214" y="21712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20551" y="2171224"/>
              <a:ext cx="897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3n² + 5n + 2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8169" y="217122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3n²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33926" y="217122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低次项占比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94678" y="257127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0377" y="25712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03882" y="257127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18541" y="257127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14.8%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23585" y="2845118"/>
              <a:ext cx="56483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23585" y="2849880"/>
              <a:ext cx="564832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51142" y="297132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64525" y="297132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30502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38030" y="297132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01466" y="297132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1.6%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23585" y="3245168"/>
              <a:ext cx="564832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07606" y="337137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98674" y="337137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3005002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72179" y="337137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3000000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18541" y="337137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23585" y="2049780"/>
              <a:ext cx="564832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46582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582978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956482" y="204978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5832158" y="3811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88177" y="3755708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越大，低次项 5n + 2 的影响越小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832158" y="41119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88177" y="4055745"/>
              <a:ext cx="4402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 3 与机器快慢、语句写法有关，换一台机器就会变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817870" y="4352449"/>
              <a:ext cx="2083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所以只保留 n²，记作 O(n²)。</a:t>
              </a:r>
            </a:p>
          </p:txBody>
        </p:sp>
      </p:grpSp>
      <p:grpSp>
        <p:nvGrpSpPr>
          <p:cNvPr id="82" name="c2-callout-2"/>
          <p:cNvGrpSpPr/>
          <p:nvPr/>
        </p:nvGrpSpPr>
        <p:grpSpPr>
          <a:xfrm>
            <a:off x="5598795" y="4884420"/>
            <a:ext cx="6059805" cy="729615"/>
            <a:chOff x="5598795" y="4884420"/>
            <a:chExt cx="6059805" cy="729615"/>
          </a:xfrm>
        </p:grpSpPr>
        <p:sp>
          <p:nvSpPr>
            <p:cNvPr id="76" name="Rectangle 76"/>
            <p:cNvSpPr/>
            <p:nvPr/>
          </p:nvSpPr>
          <p:spPr>
            <a:xfrm>
              <a:off x="5598795" y="488442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5803583" y="5149215"/>
              <a:ext cx="200026" cy="200026"/>
              <a:chOff x="5803583" y="5149215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5803583" y="5149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903595" y="5215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892483" y="5249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106287" y="5031105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准确分析出算法数量级的多项式表达式是很困难的，因此对事前分析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的计算时间进行渐近表示。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188069" cy="3351847"/>
            <a:chOff x="667512" y="1835468"/>
            <a:chExt cx="618806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计算时间的渐近表示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78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O、Ω、Θ 描述 n 充分大时计算时间的上界、下界和同阶关系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11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定义2.1 O 记号、运算性质与定理2.1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多项式时间算法与指数时间算法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27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定义2.2 Ω 记号与定义2.3 Θ 记号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渐近表示的传递性与反身性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0472" cy="909257"/>
            <a:chOff x="520446" y="342900"/>
            <a:chExt cx="83504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04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渐近表示的记号：f(n) 与机器有关，g(n) 与机器无关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4551236" cy="1556576"/>
            <a:chOff x="526542" y="1545907"/>
            <a:chExt cx="4551236" cy="155657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86624" y="1545907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问题规模：输入量或输出量，两者之和，或其中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之一的某种测度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597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2655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6624" y="219265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算法的计算时间，与机器和语言有关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784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85085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g(n)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6624" y="2585085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事前分析中确定的某个形式简单的函数，独立于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机器和语言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219450"/>
            <a:ext cx="4544378" cy="1997392"/>
            <a:chOff x="533400" y="3219450"/>
            <a:chExt cx="4544378" cy="1997392"/>
          </a:xfrm>
        </p:grpSpPr>
        <p:sp>
          <p:nvSpPr>
            <p:cNvPr id="16" name="Rectangle 16"/>
            <p:cNvSpPr/>
            <p:nvPr/>
          </p:nvSpPr>
          <p:spPr>
            <a:xfrm>
              <a:off x="533400" y="3219450"/>
              <a:ext cx="4544378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35280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8190" y="340614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9660" y="343900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规模怎么取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38061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3749992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排序、查找：取元素个数 n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1071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05098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两个大整数相乘：取整数的位数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44072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435102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图的算法：常同时用顶点数和边数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475" y="4647724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规模的取法不同，同一算法的复杂度表达式也不同，写结论时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要说清 n 指什么。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387340"/>
            <a:ext cx="4544378" cy="729615"/>
            <a:chOff x="533400" y="5387340"/>
            <a:chExt cx="4544378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5387340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651183"/>
              <a:ext cx="200026" cy="200025"/>
              <a:chOff x="738188" y="5651183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6511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6956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8067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533073"/>
              <a:ext cx="36398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三个记号都只管 n 充分大以后的情形，与前面有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限个 n 上的取值无关。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377624" y="1524000"/>
            <a:ext cx="6280976" cy="2463831"/>
            <a:chOff x="5377624" y="1524000"/>
            <a:chExt cx="6280976" cy="2463831"/>
          </a:xfrm>
        </p:grpSpPr>
        <p:sp>
          <p:nvSpPr>
            <p:cNvPr id="35" name="Rectangle 35"/>
            <p:cNvSpPr/>
            <p:nvPr/>
          </p:nvSpPr>
          <p:spPr>
            <a:xfrm>
              <a:off x="5382578" y="1524000"/>
              <a:ext cx="6276022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6811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92343" y="1645444"/>
              <a:ext cx="954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≥ n₀ 时成立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333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258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79732" y="2045494"/>
              <a:ext cx="1042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定义2.1 f(n) =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O(g(n))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2825" y="2145506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|f(n)| ≤ c|g(n)|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70695" y="2145506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上界：阶不高于 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35185" y="2145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25193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25241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79732" y="2645569"/>
              <a:ext cx="1042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定义2.2 f(n) =</a:t>
              </a:r>
              <a:br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Ω(g(n))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62825" y="2745581"/>
              <a:ext cx="1112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|f(n)| ≥ c|g(n)|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70695" y="274558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下界：阶不低于 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5185" y="2745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79732" y="3245644"/>
              <a:ext cx="1042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定义2.3 f(n) =</a:t>
              </a:r>
              <a:br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Θ(g(n))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62825" y="3245644"/>
              <a:ext cx="12489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c₁|g(n)| ≤ |f(n)| ≤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c₂|g(n)|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70695" y="3345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35185" y="3345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1524000"/>
              <a:ext cx="627602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6090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68778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900410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77624" y="3797141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c、c₁、c₂、n₀ 都是正常数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5382578" y="4119562"/>
            <a:ext cx="6276022" cy="729615"/>
            <a:chOff x="5382578" y="4119562"/>
            <a:chExt cx="6276022" cy="729615"/>
          </a:xfrm>
        </p:grpSpPr>
        <p:sp>
          <p:nvSpPr>
            <p:cNvPr id="61" name="Rectangle 61"/>
            <p:cNvSpPr/>
            <p:nvPr/>
          </p:nvSpPr>
          <p:spPr>
            <a:xfrm>
              <a:off x="5382578" y="4119562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575307" y="4380666"/>
              <a:ext cx="224134" cy="192560"/>
              <a:chOff x="5575307" y="4380666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687378" y="44510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575307" y="43806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687378" y="45288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5890070" y="4266248"/>
              <a:ext cx="52772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这里的“=”表示“属于”，只能从左往右读：n = O(n²) 成立，但不能反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过来写 O(n²) = n。</a:t>
              </a:r>
            </a:p>
          </p:txBody>
        </p:sp>
      </p:grpSp>
      <p:grpSp>
        <p:nvGrpSpPr>
          <p:cNvPr id="74" name="c2-callout-3"/>
          <p:cNvGrpSpPr/>
          <p:nvPr/>
        </p:nvGrpSpPr>
        <p:grpSpPr>
          <a:xfrm>
            <a:off x="5382578" y="5018722"/>
            <a:ext cx="6276022" cy="729615"/>
            <a:chOff x="5382578" y="5018722"/>
            <a:chExt cx="6276022" cy="729615"/>
          </a:xfrm>
        </p:grpSpPr>
        <p:sp>
          <p:nvSpPr>
            <p:cNvPr id="68" name="Rectangle 68"/>
            <p:cNvSpPr/>
            <p:nvPr/>
          </p:nvSpPr>
          <p:spPr>
            <a:xfrm>
              <a:off x="5382578" y="5018722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5587365" y="5283518"/>
              <a:ext cx="200026" cy="200026"/>
              <a:chOff x="5587365" y="528351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5587365" y="52835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5687378" y="53501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676265" y="53835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5890070" y="5165408"/>
              <a:ext cx="52172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说“冒泡排序是 O(n³)”并不算错，但没有信息量。确定数量级时要给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出最紧的 g(n)。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5025" cy="909257"/>
            <a:chOff x="520446" y="342900"/>
            <a:chExt cx="86850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50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定义2.1（O）：n ≥ n₀ 之后，f(n) 始终不超过 c·g(n)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16355"/>
            <a:chOff x="533400" y="1524000"/>
            <a:chExt cx="541020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400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4475" y="1769269"/>
              <a:ext cx="574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如果存在两个正常数 c 和 n₀，对于所有的 n ≥ n₀，有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|f(n)| ≤ c|g(n)|，则记作 f(n) = O(g(n))。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39115" y="3055620"/>
            <a:ext cx="4983480" cy="1613535"/>
            <a:chOff x="539115" y="3055620"/>
            <a:chExt cx="4983480" cy="1613535"/>
          </a:xfrm>
        </p:grpSpPr>
        <p:sp>
          <p:nvSpPr>
            <p:cNvPr id="13" name="Ellipse 13"/>
            <p:cNvSpPr/>
            <p:nvPr/>
          </p:nvSpPr>
          <p:spPr>
            <a:xfrm>
              <a:off x="539115" y="31184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230" y="305562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n 充分大时 f(n) 有上界，一个常数倍的 g(n) 是 f(n)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的一个上界，f(n) 的数量级就是 g(n)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9115" y="37490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230" y="3686175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的阶不高于 g(n) 的阶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9115" y="40938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230" y="4030980"/>
              <a:ext cx="4720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在确定 f(n) 的数量级时，总是试图求出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最小的</a:t>
              </a: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g(n)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9115" y="44386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230" y="437578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有关证明中，找出 c 和 n₀ 是关键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800600"/>
            <a:ext cx="5410200" cy="1411605"/>
            <a:chOff x="533400" y="4800600"/>
            <a:chExt cx="5410200" cy="1411605"/>
          </a:xfrm>
        </p:grpSpPr>
        <p:sp>
          <p:nvSpPr>
            <p:cNvPr id="22" name="Rectangle 22"/>
            <p:cNvSpPr/>
            <p:nvPr/>
          </p:nvSpPr>
          <p:spPr>
            <a:xfrm>
              <a:off x="533400" y="4800600"/>
              <a:ext cx="5410200" cy="1411605"/>
            </a:xfrm>
            <a:prstGeom prst="roundRect">
              <a:avLst>
                <a:gd name="adj" fmla="val 9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933950"/>
              <a:ext cx="47625" cy="11449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50101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6160" y="50458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9202" y="5045392"/>
              <a:ext cx="2464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10n + 5，g(n) = 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540639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5 ≤ 5n，所以 10n + 5 ≤ 15n。取 c = 15、n₀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1，得 10n + 5 = O(n)。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633210" y="1572101"/>
            <a:ext cx="4916207" cy="3678460"/>
            <a:chOff x="6633210" y="1572101"/>
            <a:chExt cx="4916207" cy="3678460"/>
          </a:xfrm>
        </p:grpSpPr>
        <p:sp>
          <p:nvSpPr>
            <p:cNvPr id="29" name="Freeform 29"/>
            <p:cNvSpPr/>
            <p:nvPr/>
          </p:nvSpPr>
          <p:spPr>
            <a:xfrm>
              <a:off x="6718935" y="4867275"/>
              <a:ext cx="4602480" cy="9525"/>
            </a:xfrm>
            <a:custGeom>
              <a:avLst/>
              <a:gdLst/>
              <a:ahLst/>
              <a:cxnLst/>
              <a:rect l="l" t="t" r="r" b="b"/>
              <a:pathLst>
                <a:path w="4602480" h="9525">
                  <a:moveTo>
                    <a:pt x="0" y="0"/>
                  </a:moveTo>
                  <a:lnTo>
                    <a:pt x="46024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321415" y="4819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680835" y="1824038"/>
              <a:ext cx="9525" cy="3005138"/>
            </a:xfrm>
            <a:custGeom>
              <a:avLst/>
              <a:gdLst/>
              <a:ahLst/>
              <a:cxnLst/>
              <a:rect l="l" t="t" r="r" b="b"/>
              <a:pathLst>
                <a:path w="9525" h="3005138">
                  <a:moveTo>
                    <a:pt x="0" y="30051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33210" y="1728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13220" y="1990725"/>
              <a:ext cx="4264342" cy="2855595"/>
            </a:xfrm>
            <a:custGeom>
              <a:avLst/>
              <a:gdLst/>
              <a:ahLst/>
              <a:cxnLst/>
              <a:rect l="l" t="t" r="r" b="b"/>
              <a:pathLst>
                <a:path w="4264342" h="2855595">
                  <a:moveTo>
                    <a:pt x="0" y="2855595"/>
                  </a:moveTo>
                  <a:lnTo>
                    <a:pt x="4264342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694170" y="2643188"/>
              <a:ext cx="4385310" cy="2187892"/>
            </a:xfrm>
            <a:custGeom>
              <a:avLst/>
              <a:gdLst/>
              <a:ahLst/>
              <a:cxnLst/>
              <a:rect l="l" t="t" r="r" b="b"/>
              <a:pathLst>
                <a:path w="4385310" h="2187892">
                  <a:moveTo>
                    <a:pt x="0" y="2187892"/>
                  </a:moveTo>
                  <a:lnTo>
                    <a:pt x="203835" y="1629728"/>
                  </a:lnTo>
                  <a:lnTo>
                    <a:pt x="420053" y="1183958"/>
                  </a:lnTo>
                  <a:lnTo>
                    <a:pt x="636270" y="886778"/>
                  </a:lnTo>
                  <a:lnTo>
                    <a:pt x="852488" y="738188"/>
                  </a:lnTo>
                  <a:lnTo>
                    <a:pt x="1068705" y="775335"/>
                  </a:lnTo>
                  <a:lnTo>
                    <a:pt x="1231583" y="961072"/>
                  </a:lnTo>
                  <a:lnTo>
                    <a:pt x="1393508" y="1283970"/>
                  </a:lnTo>
                  <a:lnTo>
                    <a:pt x="1609725" y="1332547"/>
                  </a:lnTo>
                  <a:lnTo>
                    <a:pt x="1826895" y="1369695"/>
                  </a:lnTo>
                  <a:lnTo>
                    <a:pt x="2043112" y="1258253"/>
                  </a:lnTo>
                  <a:lnTo>
                    <a:pt x="2259330" y="1072515"/>
                  </a:lnTo>
                  <a:lnTo>
                    <a:pt x="2529840" y="849630"/>
                  </a:lnTo>
                  <a:lnTo>
                    <a:pt x="2800350" y="701040"/>
                  </a:lnTo>
                  <a:lnTo>
                    <a:pt x="3070860" y="626745"/>
                  </a:lnTo>
                  <a:lnTo>
                    <a:pt x="3341370" y="515303"/>
                  </a:lnTo>
                  <a:lnTo>
                    <a:pt x="3611880" y="329565"/>
                  </a:lnTo>
                  <a:lnTo>
                    <a:pt x="3882390" y="143828"/>
                  </a:lnTo>
                  <a:lnTo>
                    <a:pt x="4152900" y="32385"/>
                  </a:lnTo>
                  <a:lnTo>
                    <a:pt x="4385310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87678" y="3984308"/>
              <a:ext cx="9525" cy="983933"/>
            </a:xfrm>
            <a:custGeom>
              <a:avLst/>
              <a:gdLst/>
              <a:ahLst/>
              <a:cxnLst/>
              <a:rect l="l" t="t" r="r" b="b"/>
              <a:pathLst>
                <a:path w="9525" h="983933">
                  <a:moveTo>
                    <a:pt x="0" y="0"/>
                  </a:moveTo>
                  <a:lnTo>
                    <a:pt x="0" y="98393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Ellipse 36"/>
            <p:cNvSpPr/>
            <p:nvPr/>
          </p:nvSpPr>
          <p:spPr>
            <a:xfrm>
              <a:off x="6652260" y="483870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671310" y="17002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980420" y="1941195"/>
              <a:ext cx="57150" cy="571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089005" y="260985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040052" y="38795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443933" y="4792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8290" y="50158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87767" y="1572101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c·g(n)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74006" y="220360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83737" y="2525078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&lt; n₀：f(n) 可以超过 c·g(n)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91647" y="4233862"/>
              <a:ext cx="1487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≥ n₀：f(n) ≤ c·g(n)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248400" y="5429250"/>
            <a:ext cx="5410200" cy="782955"/>
            <a:chOff x="6248400" y="5429250"/>
            <a:chExt cx="5410200" cy="782955"/>
          </a:xfrm>
        </p:grpSpPr>
        <p:sp>
          <p:nvSpPr>
            <p:cNvPr id="48" name="Rectangle 48"/>
            <p:cNvSpPr/>
            <p:nvPr/>
          </p:nvSpPr>
          <p:spPr>
            <a:xfrm>
              <a:off x="6248400" y="54292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453188" y="5720715"/>
              <a:ext cx="200026" cy="200025"/>
              <a:chOff x="6453188" y="5720715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53188" y="57207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92926" y="57651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27642" y="58762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755130" y="5577840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定义只要求 n ≥ n₀ 以后不等式成立，前面有限个 n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 f(n) 超过 c·g(n) 不影响结论。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484" cy="909257"/>
            <a:chOff x="520446" y="342900"/>
            <a:chExt cx="70614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4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例题：按定义判断 f(n) = O(g(n)) 是否成立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table-1"/>
          <p:cNvGrpSpPr/>
          <p:nvPr/>
        </p:nvGrpSpPr>
        <p:grpSpPr>
          <a:xfrm>
            <a:off x="533400" y="1524000"/>
            <a:ext cx="11125200" cy="3032760"/>
            <a:chOff x="533400" y="1524000"/>
            <a:chExt cx="11125200" cy="30327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29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8711" y="16559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7463" y="1655921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09556" y="1655921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g(n)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1839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75060" y="1655921"/>
              <a:ext cx="9086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c 和 n₀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9040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093" y="211978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1006" y="211978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82671" y="211978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95191" y="2119789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41086" y="2119789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3，n₀ =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1308" y="2119789"/>
              <a:ext cx="1495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3n ≤ 3·n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4460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450782"/>
              <a:ext cx="11125200" cy="7162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093" y="270938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1006" y="2709386"/>
              <a:ext cx="760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+ 1024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82671" y="2709386"/>
              <a:ext cx="5401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1025n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5191" y="2709386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41086" y="2709386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1，n₀ =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1308" y="2582704"/>
              <a:ext cx="32605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1024 ≤ 1024n，所以 n + 1024 ≤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1025n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162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093" y="329898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1006" y="3298984"/>
              <a:ext cx="12952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+ 11n − 10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2671" y="329898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95191" y="3298984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49265" y="3176588"/>
              <a:ext cx="1761172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41086" y="3298984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1，n₀ = 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21308" y="3298984"/>
              <a:ext cx="3971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3n² − (2n² + 11n − 10) = (n − 1)(n − 10) ≥ 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6261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630930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093" y="37628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1006" y="376285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82671" y="376285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95191" y="3762851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41086" y="3762851"/>
              <a:ext cx="11709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1，n₀ = 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21308" y="3762851"/>
              <a:ext cx="13908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n² ≤ n³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0890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9093" y="422576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91006" y="4225766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82671" y="4225766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103370" y="4103370"/>
              <a:ext cx="1426845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195191" y="4225766"/>
              <a:ext cx="8364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不成立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41086" y="422576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1308" y="42257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用反证法，见下一页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11125200" cy="30327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84898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976562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089082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34978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15200" y="1524000"/>
              <a:ext cx="9525" cy="30327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1-callout-2"/>
          <p:cNvGrpSpPr/>
          <p:nvPr/>
        </p:nvGrpSpPr>
        <p:grpSpPr>
          <a:xfrm>
            <a:off x="533400" y="4737735"/>
            <a:ext cx="11125200" cy="503872"/>
            <a:chOff x="533400" y="4737735"/>
            <a:chExt cx="11125200" cy="503872"/>
          </a:xfrm>
        </p:grpSpPr>
        <p:sp>
          <p:nvSpPr>
            <p:cNvPr id="59" name="Rectangle 59"/>
            <p:cNvSpPr/>
            <p:nvPr/>
          </p:nvSpPr>
          <p:spPr>
            <a:xfrm>
              <a:off x="533400" y="4737735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4889183"/>
              <a:ext cx="200026" cy="200026"/>
              <a:chOff x="738188" y="4889183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48891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49558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49891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4889659"/>
              <a:ext cx="9840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和 n₀ 不唯一。第 3 题也可以取 c = 13/3、n₀ = 1：n ≥ 1 时 2n² + 11n − 10 ≤ 2n² + 11n² = 13n² = (13/3)·3n²。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6" name="Rectangle 6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511" y="6011704"/>
              <a:ext cx="93855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4 题说明 O 只给出上界：n² = O(n³) 正确，但这个上界不紧，确定数量级时应写最小的 g(n)，即 O(n²)。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5332" cy="909257"/>
            <a:chOff x="520446" y="342900"/>
            <a:chExt cx="7195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5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例题详解：第 3 题怎样找 n₀，第 5 题怎样反证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card-1"/>
          <p:cNvGrpSpPr/>
          <p:nvPr/>
        </p:nvGrpSpPr>
        <p:grpSpPr>
          <a:xfrm>
            <a:off x="533400" y="1524000"/>
            <a:ext cx="5193982" cy="4664392"/>
            <a:chOff x="533400" y="1524000"/>
            <a:chExt cx="5193982" cy="4664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664392"/>
            </a:xfrm>
            <a:prstGeom prst="roundRect">
              <a:avLst>
                <a:gd name="adj" fmla="val 2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976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682" y="175641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3 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3904" y="1756886"/>
              <a:ext cx="32190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+ 11n − 10 = O(3n²)，取 c = 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9620" y="2077402"/>
              <a:ext cx="475964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62661" y="22059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02871" y="220599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72527" y="220599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3n²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1070" y="22059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2661" y="26298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5432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05580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8189" y="26298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9620" y="2921318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9620" y="2926080"/>
              <a:ext cx="47596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62661" y="30546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36583" y="30546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16731" y="30546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68189" y="305466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9620" y="3346132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62661" y="34785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36583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16731" y="347853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8189" y="347853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9620" y="3769995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9620" y="3774758"/>
              <a:ext cx="47596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62661" y="39033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47734" y="390334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27881" y="390334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18635" y="3784282"/>
              <a:ext cx="1201102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68189" y="390334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9620" y="4194810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16015" y="43281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47734" y="43281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27881" y="43281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18635" y="4209098"/>
              <a:ext cx="1201102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868189" y="43281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9620" y="4618672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9620" y="4623435"/>
              <a:ext cx="47596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16015" y="47520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47734" y="4752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27881" y="4752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68189" y="4752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69620" y="5043488"/>
              <a:ext cx="47596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16015" y="517683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47734" y="517683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27881" y="517683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868189" y="517683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9620" y="2077402"/>
              <a:ext cx="4759642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856422" y="2077402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24200" y="2077402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304348" y="2077402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3524" y="5581650"/>
              <a:ext cx="41422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2~9 时不等式不成立，所以 n₀ 至少取 10；n ≥ 10 时 (n −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1)(n − 10) ≥ 0 恒成立。</a:t>
              </a:r>
            </a:p>
          </p:txBody>
        </p:sp>
      </p:grpSp>
      <p:grpSp>
        <p:nvGrpSpPr>
          <p:cNvPr id="80" name="c2-card-1"/>
          <p:cNvGrpSpPr/>
          <p:nvPr/>
        </p:nvGrpSpPr>
        <p:grpSpPr>
          <a:xfrm>
            <a:off x="6032182" y="1524000"/>
            <a:ext cx="5626418" cy="2450782"/>
            <a:chOff x="6032182" y="1524000"/>
            <a:chExt cx="5626418" cy="2450782"/>
          </a:xfrm>
        </p:grpSpPr>
        <p:sp>
          <p:nvSpPr>
            <p:cNvPr id="62" name="Rectangle 62"/>
            <p:cNvSpPr/>
            <p:nvPr/>
          </p:nvSpPr>
          <p:spPr>
            <a:xfrm>
              <a:off x="6032182" y="1524000"/>
              <a:ext cx="5626418" cy="2450782"/>
            </a:xfrm>
            <a:prstGeom prst="roundRect">
              <a:avLst>
                <a:gd name="adj" fmla="val 54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41708" y="1657350"/>
              <a:ext cx="47625" cy="21840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68402" y="1722120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54512" y="175641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5 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12686" y="1756886"/>
              <a:ext cx="1077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≠ O(n²)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68402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74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59296" y="2100739"/>
              <a:ext cx="4497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假设存在正常数 c 和 n₀，使 n ≥ n₀ 时 n³ ≤ cn² 成立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268402" y="240601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26747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59296" y="2418874"/>
              <a:ext cx="4382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 n₁ = max{n₀, ⌈c⌉} + 1，则 n₁ &gt; n₀ 且 n₁ &gt; c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268402" y="272415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26747" y="27635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559296" y="2736056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n₁³ = n₁·n₁² &gt; c·n₁²，与假设矛盾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68402" y="30413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26747" y="30816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59296" y="3054191"/>
              <a:ext cx="20415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n³ ≠ O(n²)。证毕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62306" y="3368040"/>
              <a:ext cx="47670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原课件取 n₁ = max{n₀, c} + 1。c 不一定是整数，取上整 ⌈c⌉ 保证 n₁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是整数，论证更严谨。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6032182" y="4154805"/>
            <a:ext cx="5626418" cy="2033588"/>
            <a:chOff x="6032182" y="4154805"/>
            <a:chExt cx="5626418" cy="2033588"/>
          </a:xfrm>
        </p:grpSpPr>
        <p:sp>
          <p:nvSpPr>
            <p:cNvPr id="81" name="Rectangle 81"/>
            <p:cNvSpPr/>
            <p:nvPr/>
          </p:nvSpPr>
          <p:spPr>
            <a:xfrm>
              <a:off x="6032182" y="4154805"/>
              <a:ext cx="5626418" cy="2033588"/>
            </a:xfrm>
            <a:prstGeom prst="roundRect">
              <a:avLst>
                <a:gd name="adj" fmla="val 65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30302" y="435292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01740" y="43872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两类证明的套路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237922" y="477393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94514" y="4713446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证明成立：给出具体的 c 和 n₀，再验证不等式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237922" y="50911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94514" y="5031581"/>
              <a:ext cx="46401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证明不成立：假设 c、n₀ 存在，构造一个 n ≥ n₀ 使不等式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9262" cy="909257"/>
            <a:chOff x="520446" y="342900"/>
            <a:chExt cx="6239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9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的六条运算性质（f(n)、g(n) 非负）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table-1"/>
          <p:cNvGrpSpPr/>
          <p:nvPr/>
        </p:nvGrpSpPr>
        <p:grpSpPr>
          <a:xfrm>
            <a:off x="527685" y="1524000"/>
            <a:ext cx="6065520" cy="3890487"/>
            <a:chOff x="527685" y="1524000"/>
            <a:chExt cx="6065520" cy="38904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750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776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4476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0062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7013" y="2108359"/>
              <a:ext cx="27520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 + O(g(n)) = O(max(f(n),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g(n)))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61738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顺序执行的两段取较大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0062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7013" y="2783681"/>
              <a:ext cx="3127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 + O(g(n)) = O(f(n) + g(n))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1738" y="2783681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与性质 1 等价的写法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0062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47013" y="3232309"/>
              <a:ext cx="29175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O(f(n))·O(g(n)) = O(f(n)·g(n))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61738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嵌套循环的时间相乘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062" y="37942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7013" y="3680936"/>
              <a:ext cx="25976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g(n) = O(f(n))，则 O(f(n))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O(g(n)) = O(f(n))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61738" y="37942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低阶部分被吸收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0062" y="43572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7013" y="4357211"/>
              <a:ext cx="3005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O(c·f(n)) = O(f(n))，c 是正的常数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61738" y="43572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常数因子可以去掉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65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67010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0062" y="48058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47013" y="4805839"/>
              <a:ext cx="1302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O(f(n))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61738" y="48058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任何函数是自己的上界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059805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3442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49152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685" y="5194459"/>
              <a:ext cx="3939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性质 1 与 2 等价，因为 max(f, g) ≤ f + g ≤ 2·max(f, g)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898005" y="1524000"/>
            <a:ext cx="4760595" cy="4226242"/>
            <a:chOff x="6898005" y="1524000"/>
            <a:chExt cx="4760595" cy="4226242"/>
          </a:xfrm>
        </p:grpSpPr>
        <p:sp>
          <p:nvSpPr>
            <p:cNvPr id="42" name="Rectangle 42"/>
            <p:cNvSpPr/>
            <p:nvPr/>
          </p:nvSpPr>
          <p:spPr>
            <a:xfrm>
              <a:off x="6898005" y="1524000"/>
              <a:ext cx="4760595" cy="4226242"/>
            </a:xfrm>
            <a:prstGeom prst="roundRect">
              <a:avLst>
                <a:gd name="adj" fmla="val 3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07530" y="1657350"/>
              <a:ext cx="47625" cy="39595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14565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39813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0380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用性质估算程序段的时间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45655" y="2105025"/>
              <a:ext cx="4303395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74052" y="2256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73290" y="2518886"/>
              <a:ext cx="2564638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for i ← 1 to n do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1 段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 ← x + 1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for k ← 1 to n do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2 段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← y + k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51370" y="441293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9485" y="4350068"/>
              <a:ext cx="3794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段：O(n)·O(n) = O(n²)（性质 3）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51370" y="474821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9485" y="4685348"/>
              <a:ext cx="1351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段：O(n)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51370" y="508349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09485" y="5020628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合计：O(n²) + O(n) = O(max(n², n))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O(n²)（性质 1）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证明性质 1：两个上界相加，用较大函数的常数倍作上界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979830" cy="3233071"/>
            <a:chOff x="533400" y="1533525"/>
            <a:chExt cx="5979830" cy="323307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设定记号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5567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p(n) = max{f(n), g(n)}，设 f'(n) = O(f(n))，g'(n) = O(g(n))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由定义取常数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3367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 c₁、n₁，n ≥ n₁ 时 f'(n) ≤ c₁f(n)；存在 c₂、n₂，n ≥ n₂ 时 g'(n)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c₂g(n)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放大不等式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027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时，f'(n) + g'(n) ≤ c₁f(n) + c₂g(n) ≤ c₁p(n) +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c₂p(n) = (c₁ + c₂)p(n)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得出结论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5483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c₃ = c₁ + c₂，n₃ = max{n₁, n₂}，n ≥ n₃ 时 f'(n) + g'(n) ≤ c₃p(n)，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O(f(n)) + O(g(n)) = O(max{f(n), g(n)})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45380"/>
            <a:ext cx="6276022" cy="782955"/>
            <a:chOff x="533400" y="4945380"/>
            <a:chExt cx="6276022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94538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236845"/>
              <a:ext cx="200026" cy="200026"/>
              <a:chOff x="738188" y="523684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2368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303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3368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093970"/>
              <a:ext cx="4615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同一串不等式也证明了性质 2：f'(n) + g'(n) ≤ (c₁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c₂)(f(n) + g(n))，取 c = c₁ + c₂ 即可。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7114222" y="1524000"/>
            <a:ext cx="4544378" cy="1937385"/>
            <a:chOff x="7114222" y="1524000"/>
            <a:chExt cx="4544378" cy="1937385"/>
          </a:xfrm>
        </p:grpSpPr>
        <p:sp>
          <p:nvSpPr>
            <p:cNvPr id="32" name="Rectangle 32"/>
            <p:cNvSpPr/>
            <p:nvPr/>
          </p:nvSpPr>
          <p:spPr>
            <a:xfrm>
              <a:off x="7114222" y="1524000"/>
              <a:ext cx="4544378" cy="1937385"/>
            </a:xfrm>
            <a:prstGeom prst="roundRect">
              <a:avLst>
                <a:gd name="adj" fmla="val 688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237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051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证明要点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29488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87602" y="211074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两个定义各给一组常数，n₀ 要取两者中较大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的那个，两个不等式才能同时成立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29488" y="2794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87602" y="2731770"/>
              <a:ext cx="3520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放大时用到 f(n) ≤ p(n)、g(n) ≤ p(n)，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 c₁、c₂ 为正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7114222" y="3651885"/>
            <a:ext cx="4544378" cy="2152650"/>
            <a:chOff x="7114222" y="3651885"/>
            <a:chExt cx="4544378" cy="2152650"/>
          </a:xfrm>
        </p:grpSpPr>
        <p:sp>
          <p:nvSpPr>
            <p:cNvPr id="40" name="Rectangle 40"/>
            <p:cNvSpPr/>
            <p:nvPr/>
          </p:nvSpPr>
          <p:spPr>
            <a:xfrm>
              <a:off x="7114222" y="3651885"/>
              <a:ext cx="4544378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3748" y="3785235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361872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52081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61948" y="3896678"/>
              <a:ext cx="167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3 的证明同理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4252" y="4257675"/>
              <a:ext cx="3872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max{n₁, n₂} 时，f'(n)·g'(n)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c₁f(n)·c₂g(n) = (c₁c₂)·f(n)g(n)，取 c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c₁c₂ 即可。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5396" y="5161121"/>
              <a:ext cx="3857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两个不等式相乘要求各项非负，这正是性质前提“f、g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非负”的作用。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48342" cy="909257"/>
            <a:chOff x="520446" y="342900"/>
            <a:chExt cx="58483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483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定理2.1：m 次多项式 A(n) = O(nᵐ)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250632"/>
            <a:chOff x="533400" y="1524000"/>
            <a:chExt cx="6059805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0770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867" y="1756410"/>
              <a:ext cx="538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定理2.1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A(n) = aₘnᵐ + … + a₁n + a₀ 是一个 m 次多项式，则 A(n)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O(nᵐ)。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7"/>
              <p:cNvSpPr txBox="1">
                <a:spLocks noGrp="1"/>
              </p:cNvSpPr>
              <p:nvPr/>
            </p:nvSpPr>
            <p:spPr>
              <a:xfrm>
                <a:off x="533400" y="2955608"/>
                <a:ext cx="6059805" cy="2784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e>
                              </m:d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d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d>
                            <m:dPr>
                              <m:begChr m:val="|"/>
                              <m:sepChr m:val=""/>
                              <m:endChr m:val="|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m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 m:val="on"/>
                                      <m:ctrl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zh-CN" sz="17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p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e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+⋯+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sSup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15" name="c1-text-3"/>
          <p:cNvGrpSpPr/>
          <p:nvPr/>
        </p:nvGrpSpPr>
        <p:grpSpPr>
          <a:xfrm>
            <a:off x="527304" y="5938838"/>
            <a:ext cx="5590032" cy="470916"/>
            <a:chOff x="527304" y="5938838"/>
            <a:chExt cx="5590032" cy="47091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5938838"/>
              <a:ext cx="55900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证明：取 n₀ = 1。第一步用 |A + B| ≤ |A| + |B|；第三步用 n ≥ 1 时 1/nᵏ ≤ 1。取 c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|aₘ| + |aₘ₋₁| + … + |a₀|，得 |A(n)| ≤ cnᵐ，即 A(n) = O(nᵐ)。证毕。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898005" y="1524000"/>
            <a:ext cx="4760595" cy="1865948"/>
            <a:chOff x="6898005" y="1524000"/>
            <a:chExt cx="4760595" cy="1865948"/>
          </a:xfrm>
        </p:grpSpPr>
        <p:sp>
          <p:nvSpPr>
            <p:cNvPr id="16" name="Rectangle 16"/>
            <p:cNvSpPr/>
            <p:nvPr/>
          </p:nvSpPr>
          <p:spPr>
            <a:xfrm>
              <a:off x="6898005" y="1524000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07530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34225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29666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4186" y="1756886"/>
              <a:ext cx="19482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A(n) = 3n³ − 5n² + 2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41845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8436" y="2100739"/>
              <a:ext cx="3398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按定理取 c = 3 + 5 + 0 + 2 = 10，n₀ = 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41845" y="24784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98436" y="2418874"/>
              <a:ext cx="37565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n = 2：|A(2)| = |24 − 20 + 2| = 6 ≤ 10·2³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80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28129" y="3004185"/>
              <a:ext cx="43416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定理给出的 c 很宽松，但证明 O(nᵐ) 只需要存在一组常数。</a:t>
              </a:r>
            </a:p>
          </p:txBody>
        </p:sp>
      </p:grpSp>
      <p:grpSp>
        <p:nvGrpSpPr>
          <p:cNvPr id="32" name="c2-callout-2"/>
          <p:cNvGrpSpPr/>
          <p:nvPr/>
        </p:nvGrpSpPr>
        <p:grpSpPr>
          <a:xfrm>
            <a:off x="6898005" y="3569970"/>
            <a:ext cx="4760595" cy="1018222"/>
            <a:chOff x="6898005" y="3569970"/>
            <a:chExt cx="4760595" cy="1018222"/>
          </a:xfrm>
        </p:grpSpPr>
        <p:sp>
          <p:nvSpPr>
            <p:cNvPr id="27" name="Rectangle 27"/>
            <p:cNvSpPr/>
            <p:nvPr/>
          </p:nvSpPr>
          <p:spPr>
            <a:xfrm>
              <a:off x="6898005" y="356997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102793" y="3979547"/>
              <a:ext cx="200023" cy="200023"/>
              <a:chOff x="7102793" y="397954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102793" y="3979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36143" y="4046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405116" y="3717131"/>
              <a:ext cx="3855720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定理2.1 表明，最高阶数为 m 的任一多项式都与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nᵐ 同阶。计算时间为 m 阶多项式的算法，其时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间都可以用 O(nᵐ) 表示。</a:t>
              </a:r>
            </a:p>
          </p:txBody>
        </p:sp>
      </p:grpSp>
      <p:grpSp>
        <p:nvGrpSpPr>
          <p:cNvPr id="38" name="c2-card-3"/>
          <p:cNvGrpSpPr/>
          <p:nvPr/>
        </p:nvGrpSpPr>
        <p:grpSpPr>
          <a:xfrm>
            <a:off x="6898005" y="4768215"/>
            <a:ext cx="4760595" cy="1522095"/>
            <a:chOff x="6898005" y="4768215"/>
            <a:chExt cx="4760595" cy="1522095"/>
          </a:xfrm>
        </p:grpSpPr>
        <p:sp>
          <p:nvSpPr>
            <p:cNvPr id="33" name="Rectangle 33"/>
            <p:cNvSpPr/>
            <p:nvPr/>
          </p:nvSpPr>
          <p:spPr>
            <a:xfrm>
              <a:off x="6898005" y="4768215"/>
              <a:ext cx="476059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490156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34225" y="49663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25665" y="50006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6986" y="5327809"/>
              <a:ext cx="412623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A(n) = O(nᵐ⁺¹) 同样成立，但不是最紧的上界；m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次多项式最紧的上界是 nᵐ，而且还有 A(n) = Θ(nᵐ)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（要求 aₘ &gt; 0）。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各语句的数量级相加，结果由最高次数决定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421255"/>
            <a:chOff x="533400" y="1524000"/>
            <a:chExt cx="5626418" cy="24212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21255"/>
            </a:xfrm>
            <a:prstGeom prst="roundRect">
              <a:avLst>
                <a:gd name="adj" fmla="val 55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45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34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若一个算法的 k 个语句的数量级分别为 c₁n 的 m₁ 次方、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c₂n 的 m₂ 次方、…，则算法的计算时间为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1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516921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2"/>
                <p:cNvSpPr txBox="1">
                  <a:spLocks noGrp="1"/>
                </p:cNvSpPr>
                <p:nvPr/>
              </p:nvSpPr>
              <p:spPr>
                <a:xfrm>
                  <a:off x="781050" y="3259455"/>
                  <a:ext cx="516921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4135755"/>
            <a:ext cx="5626418" cy="1583055"/>
            <a:chOff x="533400" y="4135755"/>
            <a:chExt cx="5626418" cy="1583055"/>
          </a:xfrm>
        </p:grpSpPr>
        <p:sp>
          <p:nvSpPr>
            <p:cNvPr id="15" name="Rectangle 15"/>
            <p:cNvSpPr/>
            <p:nvPr/>
          </p:nvSpPr>
          <p:spPr>
            <a:xfrm>
              <a:off x="533400" y="4135755"/>
              <a:ext cx="5626418" cy="1583055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69105"/>
              <a:ext cx="47625" cy="1316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34530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6160" y="43810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722495"/>
              <a:ext cx="43062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三条语句的频率计数分别为 5n³、100n²、7，则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3"/>
                <p:cNvSpPr txBox="1">
                  <a:spLocks noGrp="1"/>
                </p:cNvSpPr>
                <p:nvPr/>
              </p:nvSpPr>
              <p:spPr>
                <a:xfrm>
                  <a:off x="781050" y="5033010"/>
                  <a:ext cx="516921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5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100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9" name="c2-table-1"/>
          <p:cNvGrpSpPr/>
          <p:nvPr/>
        </p:nvGrpSpPr>
        <p:grpSpPr>
          <a:xfrm>
            <a:off x="6458902" y="1524000"/>
            <a:ext cx="5199698" cy="2988469"/>
            <a:chOff x="6458902" y="1524000"/>
            <a:chExt cx="5199698" cy="2988469"/>
          </a:xfrm>
        </p:grpSpPr>
        <p:sp>
          <p:nvSpPr>
            <p:cNvPr id="22" name="Rectangle 22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1797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4326" y="1659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5n³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19275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100n²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140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较大的项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68217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7433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77121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721772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100n²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68217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2661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34295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7121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36100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21772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100n²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68217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2661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77121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1285" y="2880360"/>
              <a:ext cx="136779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86389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68217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82661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46305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77121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816544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5n³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18461" y="39038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93116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5000000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87576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16544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5n³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7903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87253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6699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902" y="4292441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5n³ &gt; 100n² 当且仅当 n &gt; 20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464618" y="4658678"/>
            <a:ext cx="5193982" cy="1059180"/>
            <a:chOff x="6464618" y="4658678"/>
            <a:chExt cx="5193982" cy="1059180"/>
          </a:xfrm>
        </p:grpSpPr>
        <p:sp>
          <p:nvSpPr>
            <p:cNvPr id="60" name="Rectangle 60"/>
            <p:cNvSpPr/>
            <p:nvPr/>
          </p:nvSpPr>
          <p:spPr>
            <a:xfrm>
              <a:off x="6464618" y="4658678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57347" y="5084563"/>
              <a:ext cx="224134" cy="192560"/>
              <a:chOff x="6657347" y="5084563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769418" y="51549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657347" y="50845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9418" y="5232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1348" y="4807268"/>
              <a:ext cx="42348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渐近表示描述 n 充分大时的情况。规模很小时，系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数大的低次项反而占优，实际选算法时要结合数据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规模。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多项式时间算法与指数时间算法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631632"/>
            <a:chOff x="533400" y="1524000"/>
            <a:chExt cx="5951220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58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多项式时间算法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2172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用多项式对计算时间限界的算法（polynomial time algorithm）。常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见数量级从低到高为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30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553974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325178"/>
            <a:ext cx="5951220" cy="1374458"/>
            <a:chOff x="533400" y="3325178"/>
            <a:chExt cx="5951220" cy="1374458"/>
          </a:xfrm>
        </p:grpSpPr>
        <p:sp>
          <p:nvSpPr>
            <p:cNvPr id="14" name="Rectangle 14"/>
            <p:cNvSpPr/>
            <p:nvPr/>
          </p:nvSpPr>
          <p:spPr>
            <a:xfrm>
              <a:off x="533400" y="3325178"/>
              <a:ext cx="5951220" cy="1374458"/>
            </a:xfrm>
            <a:prstGeom prst="roundRect">
              <a:avLst>
                <a:gd name="adj" fmla="val 9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58528"/>
              <a:ext cx="47625" cy="11077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51186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5609" y="354472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指数时间算法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3856672"/>
              <a:ext cx="5456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计算时间用指数函数限界的算法（exponential time algorithm）：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31"/>
                <p:cNvSpPr txBox="1">
                  <a:spLocks noGrp="1"/>
                </p:cNvSpPr>
                <p:nvPr/>
              </p:nvSpPr>
              <p:spPr>
                <a:xfrm>
                  <a:off x="758190" y="4133850"/>
                  <a:ext cx="553974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callout-3"/>
          <p:cNvGrpSpPr/>
          <p:nvPr/>
        </p:nvGrpSpPr>
        <p:grpSpPr>
          <a:xfrm>
            <a:off x="533400" y="4869180"/>
            <a:ext cx="5951220" cy="729615"/>
            <a:chOff x="533400" y="4869180"/>
            <a:chExt cx="5951220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4869180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133975"/>
              <a:ext cx="200026" cy="200026"/>
              <a:chOff x="738188" y="513397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1339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200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52339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5015865"/>
              <a:ext cx="46342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这里的“&lt;”指数量级更低：n log n = O(n²)，但 n² ≠ O(n log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n)。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789420" y="1524000"/>
            <a:ext cx="4869180" cy="4205954"/>
            <a:chOff x="6789420" y="1524000"/>
            <a:chExt cx="4869180" cy="4205954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3448" t="0" r="3449" b="0"/>
            <a:stretch>
              <a:fillRect/>
            </a:stretch>
          </p:blipFill>
          <p:spPr>
            <a:xfrm>
              <a:off x="6789420" y="1524000"/>
              <a:ext cx="4869180" cy="3922395"/>
            </a:xfrm>
            <a:prstGeom prst="roundRect">
              <a:avLst>
                <a:gd name="adj" fmla="val 3399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969043" y="5539264"/>
              <a:ext cx="2509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棋盘放米，每格翻倍：第 64 格要放 2⁶³ 粒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6028373"/>
              <a:ext cx="71378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每加 1，2ⁿ 算法的时间就翻一倍；n³ 算法在 n 从 10 变到 11 时，时间只增加约 33%。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2346" cy="909257"/>
            <a:chOff x="520446" y="342900"/>
            <a:chExt cx="73223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23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规模从 10 到 60，指数时间算法从毫秒变成世纪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7685" y="1524000"/>
            <a:ext cx="11130915" cy="2091214"/>
            <a:chOff x="527685" y="1524000"/>
            <a:chExt cx="1113091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3283" y="16597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14028" y="165973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 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9076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94470" y="1659731"/>
              <a:ext cx="573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log 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6598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1086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6814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2541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606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74151" y="1659731"/>
              <a:ext cx="166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n!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637" y="2108359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541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4574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8013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3339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4831" y="210835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毫秒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13490" y="2108359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79381" y="210835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毫秒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22645" y="2108359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 毫秒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96883" y="2108359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 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4637" y="2556986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40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5414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4574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275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75953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17445" y="2556986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毫秒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82640" y="2430780"/>
              <a:ext cx="9820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13490" y="2556986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 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23379" y="255698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12.7 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7872" y="2556986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3855 世纪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665970" y="2430780"/>
              <a:ext cx="198310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73795" y="255698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2.6×10³² 世纪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4637" y="3005614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75414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4574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3275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7595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70059" y="300561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216 毫秒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82640" y="2880360"/>
              <a:ext cx="9820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60877" y="300561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84609" y="300561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366 世纪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38327" y="3005614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1.3×10¹³ 世纪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73795" y="3005614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2.6×10⁶⁶ 世纪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5240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52971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30886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97656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97764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75583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6835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703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8290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65168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685" y="3395186"/>
              <a:ext cx="68942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假设 1 次基本运算用 1 微秒；log n 到 n² 四列的单位为微秒；1 年按 365 天计；标色三格已按计算更正</a:t>
              </a:r>
            </a:p>
          </p:txBody>
        </p:sp>
      </p:grpSp>
      <p:grpSp>
        <p:nvGrpSpPr>
          <p:cNvPr id="71" name="c1-card-2"/>
          <p:cNvGrpSpPr/>
          <p:nvPr/>
        </p:nvGrpSpPr>
        <p:grpSpPr>
          <a:xfrm>
            <a:off x="533400" y="3761422"/>
            <a:ext cx="11125200" cy="1316355"/>
            <a:chOff x="533400" y="3761422"/>
            <a:chExt cx="11125200" cy="1316355"/>
          </a:xfrm>
        </p:grpSpPr>
        <p:sp>
          <p:nvSpPr>
            <p:cNvPr id="66" name="Rectangle 66"/>
            <p:cNvSpPr/>
            <p:nvPr/>
          </p:nvSpPr>
          <p:spPr>
            <a:xfrm>
              <a:off x="533400" y="3761422"/>
              <a:ext cx="11125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42925" y="389477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81050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5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3430" y="4348162"/>
              <a:ext cx="9597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n⁵ 一列写作 n = 40 时 1.3 分、n = 60 时 7.6 分。实际 40⁵ = 1.024×10⁸ 微秒 ≈ 102 秒 ≈ 1.7 分，60⁵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7.776×10⁸ 微秒 ≈ 13 分。原课件 n = 40 时 n! 一格写作 10³ 世纪，实际 40! ≈ 8.2×10⁴⁷ 微秒 ≈ 2.6×10³² 世纪。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2" name="Rectangle 7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130" y="5991225"/>
              <a:ext cx="9455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多项式时间算法在 n = 60 时最慢也只要十几分钟；2ⁿ、3ⁿ、n! 算法的时间已经远远超过人类文明的历史。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4311" cy="909257"/>
            <a:chOff x="520446" y="342900"/>
            <a:chExt cx="89143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4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函数曲线：n 很小时就能看出增长快慢，对数函数增长最慢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649851" y="1647825"/>
            <a:ext cx="5746615" cy="4213384"/>
            <a:chOff x="649851" y="1647825"/>
            <a:chExt cx="5746615" cy="4213384"/>
          </a:xfrm>
        </p:grpSpPr>
        <p:sp>
          <p:nvSpPr>
            <p:cNvPr id="7" name="Freeform 7"/>
            <p:cNvSpPr/>
            <p:nvPr/>
          </p:nvSpPr>
          <p:spPr>
            <a:xfrm>
              <a:off x="1056322" y="543306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180772" y="5385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18222" y="1771650"/>
              <a:ext cx="9525" cy="3623310"/>
            </a:xfrm>
            <a:custGeom>
              <a:avLst/>
              <a:gdLst/>
              <a:ahLst/>
              <a:cxnLst/>
              <a:rect l="l" t="t" r="r" b="b"/>
              <a:pathLst>
                <a:path w="9525" h="3623310">
                  <a:moveTo>
                    <a:pt x="0" y="36233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70598" y="1676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56322" y="2005965"/>
              <a:ext cx="2717482" cy="3370898"/>
            </a:xfrm>
            <a:custGeom>
              <a:avLst/>
              <a:gdLst/>
              <a:ahLst/>
              <a:cxnLst/>
              <a:rect l="l" t="t" r="r" b="b"/>
              <a:pathLst>
                <a:path w="2717482" h="3370898">
                  <a:moveTo>
                    <a:pt x="0" y="3370898"/>
                  </a:moveTo>
                  <a:lnTo>
                    <a:pt x="77152" y="3365182"/>
                  </a:lnTo>
                  <a:lnTo>
                    <a:pt x="192405" y="3351848"/>
                  </a:lnTo>
                  <a:lnTo>
                    <a:pt x="307657" y="3338512"/>
                  </a:lnTo>
                  <a:lnTo>
                    <a:pt x="421957" y="3320415"/>
                  </a:lnTo>
                  <a:lnTo>
                    <a:pt x="537210" y="3298507"/>
                  </a:lnTo>
                  <a:lnTo>
                    <a:pt x="652462" y="3276600"/>
                  </a:lnTo>
                  <a:lnTo>
                    <a:pt x="767715" y="3245167"/>
                  </a:lnTo>
                  <a:lnTo>
                    <a:pt x="882967" y="3209925"/>
                  </a:lnTo>
                  <a:lnTo>
                    <a:pt x="998220" y="3169920"/>
                  </a:lnTo>
                  <a:lnTo>
                    <a:pt x="1113472" y="3121342"/>
                  </a:lnTo>
                  <a:lnTo>
                    <a:pt x="1228725" y="3063240"/>
                  </a:lnTo>
                  <a:lnTo>
                    <a:pt x="1343025" y="2991802"/>
                  </a:lnTo>
                  <a:lnTo>
                    <a:pt x="1458278" y="2911792"/>
                  </a:lnTo>
                  <a:lnTo>
                    <a:pt x="1573530" y="2814638"/>
                  </a:lnTo>
                  <a:lnTo>
                    <a:pt x="1688782" y="2698432"/>
                  </a:lnTo>
                  <a:lnTo>
                    <a:pt x="1804035" y="2561272"/>
                  </a:lnTo>
                  <a:lnTo>
                    <a:pt x="1919287" y="2396490"/>
                  </a:lnTo>
                  <a:lnTo>
                    <a:pt x="2034540" y="2201228"/>
                  </a:lnTo>
                  <a:lnTo>
                    <a:pt x="2148840" y="1970722"/>
                  </a:lnTo>
                  <a:lnTo>
                    <a:pt x="2264092" y="1694498"/>
                  </a:lnTo>
                  <a:lnTo>
                    <a:pt x="2379345" y="1365885"/>
                  </a:lnTo>
                  <a:lnTo>
                    <a:pt x="2494598" y="975360"/>
                  </a:lnTo>
                  <a:lnTo>
                    <a:pt x="2609850" y="513398"/>
                  </a:lnTo>
                  <a:lnTo>
                    <a:pt x="2717482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56322" y="2001202"/>
              <a:ext cx="3627120" cy="3429952"/>
            </a:xfrm>
            <a:custGeom>
              <a:avLst/>
              <a:gdLst/>
              <a:ahLst/>
              <a:cxnLst/>
              <a:rect l="l" t="t" r="r" b="b"/>
              <a:pathLst>
                <a:path w="3627120" h="3429952">
                  <a:moveTo>
                    <a:pt x="0" y="3429952"/>
                  </a:moveTo>
                  <a:lnTo>
                    <a:pt x="192405" y="3418522"/>
                  </a:lnTo>
                  <a:lnTo>
                    <a:pt x="421957" y="3378517"/>
                  </a:lnTo>
                  <a:lnTo>
                    <a:pt x="652462" y="3311842"/>
                  </a:lnTo>
                  <a:lnTo>
                    <a:pt x="882967" y="3214688"/>
                  </a:lnTo>
                  <a:lnTo>
                    <a:pt x="1113472" y="3094672"/>
                  </a:lnTo>
                  <a:lnTo>
                    <a:pt x="1343025" y="2943225"/>
                  </a:lnTo>
                  <a:lnTo>
                    <a:pt x="1573530" y="2769870"/>
                  </a:lnTo>
                  <a:lnTo>
                    <a:pt x="1804035" y="2566035"/>
                  </a:lnTo>
                  <a:lnTo>
                    <a:pt x="2034540" y="2334578"/>
                  </a:lnTo>
                  <a:lnTo>
                    <a:pt x="2264092" y="2077402"/>
                  </a:lnTo>
                  <a:lnTo>
                    <a:pt x="2494598" y="1792605"/>
                  </a:lnTo>
                  <a:lnTo>
                    <a:pt x="2725102" y="1482090"/>
                  </a:lnTo>
                  <a:lnTo>
                    <a:pt x="2955607" y="1143952"/>
                  </a:lnTo>
                  <a:lnTo>
                    <a:pt x="3185160" y="780098"/>
                  </a:lnTo>
                  <a:lnTo>
                    <a:pt x="3415665" y="384810"/>
                  </a:lnTo>
                  <a:lnTo>
                    <a:pt x="3627120" y="0"/>
                  </a:lnTo>
                </a:path>
              </a:pathLst>
            </a:custGeom>
            <a:noFill/>
            <a:ln w="22860">
              <a:solidFill>
                <a:srgbClr val="D9770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16380" y="3652838"/>
              <a:ext cx="4073842" cy="1772603"/>
            </a:xfrm>
            <a:custGeom>
              <a:avLst/>
              <a:gdLst/>
              <a:ahLst/>
              <a:cxnLst/>
              <a:rect l="l" t="t" r="r" b="b"/>
              <a:pathLst>
                <a:path w="4073842" h="1772603">
                  <a:moveTo>
                    <a:pt x="0" y="1772603"/>
                  </a:moveTo>
                  <a:lnTo>
                    <a:pt x="192405" y="1731645"/>
                  </a:lnTo>
                  <a:lnTo>
                    <a:pt x="422910" y="1673543"/>
                  </a:lnTo>
                  <a:lnTo>
                    <a:pt x="653415" y="1603057"/>
                  </a:lnTo>
                  <a:lnTo>
                    <a:pt x="882968" y="1523047"/>
                  </a:lnTo>
                  <a:lnTo>
                    <a:pt x="1113473" y="1438275"/>
                  </a:lnTo>
                  <a:lnTo>
                    <a:pt x="1343978" y="1344930"/>
                  </a:lnTo>
                  <a:lnTo>
                    <a:pt x="1574482" y="1251585"/>
                  </a:lnTo>
                  <a:lnTo>
                    <a:pt x="1804035" y="1154430"/>
                  </a:lnTo>
                  <a:lnTo>
                    <a:pt x="2034540" y="1047750"/>
                  </a:lnTo>
                  <a:lnTo>
                    <a:pt x="2265045" y="941070"/>
                  </a:lnTo>
                  <a:lnTo>
                    <a:pt x="2495550" y="829628"/>
                  </a:lnTo>
                  <a:lnTo>
                    <a:pt x="2725102" y="714375"/>
                  </a:lnTo>
                  <a:lnTo>
                    <a:pt x="2955608" y="599122"/>
                  </a:lnTo>
                  <a:lnTo>
                    <a:pt x="3186112" y="482917"/>
                  </a:lnTo>
                  <a:lnTo>
                    <a:pt x="3416618" y="359092"/>
                  </a:lnTo>
                  <a:lnTo>
                    <a:pt x="3646170" y="234315"/>
                  </a:lnTo>
                  <a:lnTo>
                    <a:pt x="3876675" y="110490"/>
                  </a:lnTo>
                  <a:lnTo>
                    <a:pt x="407384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56322" y="4895850"/>
              <a:ext cx="4529138" cy="533400"/>
            </a:xfrm>
            <a:custGeom>
              <a:avLst/>
              <a:gdLst/>
              <a:ahLst/>
              <a:cxnLst/>
              <a:rect l="l" t="t" r="r" b="b"/>
              <a:pathLst>
                <a:path w="4529138" h="533400">
                  <a:moveTo>
                    <a:pt x="0" y="533400"/>
                  </a:moveTo>
                  <a:lnTo>
                    <a:pt x="4529138" y="0"/>
                  </a:lnTo>
                </a:path>
              </a:pathLst>
            </a:custGeom>
            <a:noFill/>
            <a:ln w="22860">
              <a:solidFill>
                <a:srgbClr val="14A38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16380" y="5255895"/>
              <a:ext cx="4069080" cy="172403"/>
            </a:xfrm>
            <a:custGeom>
              <a:avLst/>
              <a:gdLst/>
              <a:ahLst/>
              <a:cxnLst/>
              <a:rect l="l" t="t" r="r" b="b"/>
              <a:pathLst>
                <a:path w="4069080" h="172403">
                  <a:moveTo>
                    <a:pt x="0" y="172403"/>
                  </a:moveTo>
                  <a:lnTo>
                    <a:pt x="192405" y="146685"/>
                  </a:lnTo>
                  <a:lnTo>
                    <a:pt x="422910" y="123825"/>
                  </a:lnTo>
                  <a:lnTo>
                    <a:pt x="653415" y="106680"/>
                  </a:lnTo>
                  <a:lnTo>
                    <a:pt x="882968" y="93345"/>
                  </a:lnTo>
                  <a:lnTo>
                    <a:pt x="1113473" y="80010"/>
                  </a:lnTo>
                  <a:lnTo>
                    <a:pt x="1343978" y="70485"/>
                  </a:lnTo>
                  <a:lnTo>
                    <a:pt x="1574482" y="61912"/>
                  </a:lnTo>
                  <a:lnTo>
                    <a:pt x="1804035" y="53340"/>
                  </a:lnTo>
                  <a:lnTo>
                    <a:pt x="2034540" y="43815"/>
                  </a:lnTo>
                  <a:lnTo>
                    <a:pt x="2265045" y="35243"/>
                  </a:lnTo>
                  <a:lnTo>
                    <a:pt x="2495550" y="30480"/>
                  </a:lnTo>
                  <a:lnTo>
                    <a:pt x="2725102" y="26670"/>
                  </a:lnTo>
                  <a:lnTo>
                    <a:pt x="2955608" y="21908"/>
                  </a:lnTo>
                  <a:lnTo>
                    <a:pt x="3186112" y="13335"/>
                  </a:lnTo>
                  <a:lnTo>
                    <a:pt x="3416618" y="8573"/>
                  </a:lnTo>
                  <a:lnTo>
                    <a:pt x="3646170" y="3810"/>
                  </a:lnTo>
                  <a:lnTo>
                    <a:pt x="3876675" y="0"/>
                  </a:lnTo>
                  <a:lnTo>
                    <a:pt x="4069080" y="0"/>
                  </a:lnTo>
                </a:path>
              </a:pathLst>
            </a:custGeom>
            <a:noFill/>
            <a:ln w="2286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89648" y="54044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08698" y="1647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89648" y="5351145"/>
              <a:ext cx="57150" cy="571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752850" y="1939290"/>
              <a:ext cx="57150" cy="5715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673918" y="1939290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449705" y="54044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94985" y="360521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594985" y="4862512"/>
              <a:ext cx="57150" cy="57150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449705" y="540448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94985" y="522732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4168" y="53682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88588" y="1935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84990" y="19359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88717" y="3461861"/>
              <a:ext cx="4393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 log 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83408" y="47058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86630" y="5105876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log 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103" y="5699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85296" y="5699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8084" y="56992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851" y="430006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851" y="321230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9851" y="212359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893052" y="1524000"/>
            <a:ext cx="4765548" cy="3063906"/>
            <a:chOff x="6893052" y="1524000"/>
            <a:chExt cx="4765548" cy="3063906"/>
          </a:xfrm>
        </p:grpSpPr>
        <p:sp>
          <p:nvSpPr>
            <p:cNvPr id="39" name="Rectangle 39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0699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32936" y="1645444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log₂n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63458" y="20454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06439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19922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06439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19922" y="28455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64976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19922" y="32456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64976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19922" y="36456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64976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98005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919922" y="40457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64976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98005" y="1524000"/>
              <a:ext cx="476059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0972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93052" y="439721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每乘 10，log₂n 只增加约 3.3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898005" y="4719638"/>
            <a:ext cx="4760595" cy="978218"/>
            <a:chOff x="6898005" y="4719638"/>
            <a:chExt cx="4760595" cy="978218"/>
          </a:xfrm>
        </p:grpSpPr>
        <p:sp>
          <p:nvSpPr>
            <p:cNvPr id="66" name="Rectangle 66"/>
            <p:cNvSpPr/>
            <p:nvPr/>
          </p:nvSpPr>
          <p:spPr>
            <a:xfrm>
              <a:off x="6898005" y="4719638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102793" y="5109210"/>
              <a:ext cx="200026" cy="200026"/>
              <a:chOff x="7102793" y="5109210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5109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169468" y="5186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405497" y="4866322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对数函数增长极慢：如果一个算法的基本操作次数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是对数级的，对任何实际规模的输入几乎都能瞬间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完成。</a:t>
              </a:r>
            </a:p>
          </p:txBody>
        </p:sp>
      </p:grpSp>
      <p:grpSp>
        <p:nvGrpSpPr>
          <p:cNvPr id="73" name="c2-text-3"/>
          <p:cNvGrpSpPr/>
          <p:nvPr/>
        </p:nvGrpSpPr>
        <p:grpSpPr>
          <a:xfrm>
            <a:off x="6892290" y="5885974"/>
            <a:ext cx="4335526" cy="441008"/>
            <a:chOff x="6892290" y="5885974"/>
            <a:chExt cx="4335526" cy="441008"/>
          </a:xfrm>
        </p:grpSpPr>
        <p:sp>
          <p:nvSpPr>
            <p:cNvPr id="72" name="TextBox 72"/>
            <p:cNvSpPr txBox="1"/>
            <p:nvPr/>
          </p:nvSpPr>
          <p:spPr>
            <a:xfrm>
              <a:off x="6892290" y="5885974"/>
              <a:ext cx="433552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例：在 10⁹ 个有序元素中二分检索，最坏也只比较 30 次（log₂10⁹ 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29.9）。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8856" cy="909257"/>
            <a:chOff x="520446" y="342900"/>
            <a:chExt cx="86088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88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定义2.2（Ω）：n ≥ n₀ 之后，f(n) 始终不低于 c·g(n)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7437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212" y="1743551"/>
              <a:ext cx="502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定义2.2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如果存在两个正常数 c 和 n₀，对于所有的 n ≥ n₀，有 |f(n)|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c|g(n)|，则记作 f(n) = Ω(g(n))。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41972" y="2902268"/>
            <a:ext cx="5064634" cy="1447037"/>
            <a:chOff x="541972" y="2902268"/>
            <a:chExt cx="5064634" cy="1447037"/>
          </a:xfrm>
        </p:grpSpPr>
        <p:sp>
          <p:nvSpPr>
            <p:cNvPr id="13" name="Ellipse 13"/>
            <p:cNvSpPr/>
            <p:nvPr/>
          </p:nvSpPr>
          <p:spPr>
            <a:xfrm>
              <a:off x="541972" y="2958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7992" y="2902268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n 充分大时 f(n) 有下界，一个常数倍的 g(n) 是 f(n) 的一个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1972" y="35242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7992" y="3468052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的阶不低于 g(n) 的阶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1972" y="38328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7992" y="3776662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在确定 f(n) 的下界时，总是试图求出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最大的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g(n)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1972" y="41414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7992" y="4085272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有关证明中，找出 c 和 n₀ 是关键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465320"/>
            <a:ext cx="5410200" cy="1670685"/>
            <a:chOff x="533400" y="4465320"/>
            <a:chExt cx="5410200" cy="1670685"/>
          </a:xfrm>
        </p:grpSpPr>
        <p:sp>
          <p:nvSpPr>
            <p:cNvPr id="22" name="Rectangle 22"/>
            <p:cNvSpPr/>
            <p:nvPr/>
          </p:nvSpPr>
          <p:spPr>
            <a:xfrm>
              <a:off x="533400" y="4465320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59867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8190" y="465201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1286" y="468487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10450" y="4687252"/>
              <a:ext cx="22674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n²/2 − 3n = Ω(n²)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332" y="5013008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12 时 n²/4 ≥ 3n，于是 n²/2 − 3n ≥ n²/4。取 c = 1/4、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12。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475" y="5566886"/>
              <a:ext cx="48049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下界允许先减去一部分再放大，关键是找到从哪个 n₀ 起剩下的部分仍不小于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c·g(n)。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1202055"/>
            <a:chOff x="6248400" y="1524000"/>
            <a:chExt cx="5410200" cy="120205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3190" y="1710690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286" y="1743551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25449" y="1745932"/>
              <a:ext cx="2065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+ 11n − 10 = Ω(n²)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6332" y="2071688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c = 2、n₀ = 1：n ≥ 1 时 11n − 10 &gt; 0，所以 2n² + 11n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≥ 2n²。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2896552"/>
            <a:ext cx="5410200" cy="1503045"/>
            <a:chOff x="6248400" y="2896552"/>
            <a:chExt cx="5410200" cy="1503045"/>
          </a:xfrm>
        </p:grpSpPr>
        <p:sp>
          <p:nvSpPr>
            <p:cNvPr id="37" name="Rectangle 37"/>
            <p:cNvSpPr/>
            <p:nvPr/>
          </p:nvSpPr>
          <p:spPr>
            <a:xfrm>
              <a:off x="6248400" y="2896552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029902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3190" y="3083242"/>
              <a:ext cx="44481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6286" y="3116104"/>
              <a:ext cx="259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5449" y="3118485"/>
              <a:ext cx="985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 ≠ Ω(n³)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6332" y="3444240"/>
              <a:ext cx="428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 n ≥ n₀ 时 n² ≥ cn³，两边除以 cn² 得 n ≤ 1/c。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6332" y="3744277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n₁ = max{n₀, ⌈1/c⌉} + 1，则 n₁ ≥ n₀ 且 n₁ &gt; 1/c，矛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盾。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248400" y="4569142"/>
            <a:ext cx="5410200" cy="1567815"/>
            <a:chOff x="6248400" y="4569142"/>
            <a:chExt cx="5410200" cy="1567815"/>
          </a:xfrm>
        </p:grpSpPr>
        <p:sp>
          <p:nvSpPr>
            <p:cNvPr id="45" name="Rectangle 45"/>
            <p:cNvSpPr/>
            <p:nvPr/>
          </p:nvSpPr>
          <p:spPr>
            <a:xfrm>
              <a:off x="6248400" y="4569142"/>
              <a:ext cx="5410200" cy="1567815"/>
            </a:xfrm>
            <a:prstGeom prst="roundRect">
              <a:avLst>
                <a:gd name="adj" fmla="val 85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702492"/>
              <a:ext cx="47625" cy="13011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3190" y="4755832"/>
              <a:ext cx="99536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40585" y="4788694"/>
              <a:ext cx="8596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O 与 Ω 的对应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6332" y="5099685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O(g(n)) 当且仅当 g(n) = Ω(f(n))。例：n²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O(n³)，所以 n³ = Ω(n²)。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0781" cy="909257"/>
            <a:chOff x="520446" y="342900"/>
            <a:chExt cx="67707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07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的六条性质：与 O 对应，第 1 条取较小者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5848350" cy="3437097"/>
            <a:chOff x="527685" y="1524000"/>
            <a:chExt cx="5848350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51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264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768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2263" y="2108359"/>
              <a:ext cx="3431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Ω(f(n)) + Ω(g(n)) = Ω(min(f(n), g(n)))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768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2263" y="2556986"/>
              <a:ext cx="3022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Ω(f(n)) + Ω(g(n)) = Ω(f(n) + g(n))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68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2263" y="3005614"/>
              <a:ext cx="28125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Ω(f(n))·Ω(g(n)) = Ω(f(n)·g(n))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68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2263" y="3454241"/>
              <a:ext cx="4321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g(n) = Ω(f(n))，则 Ω(f(n)) + Ω(g(n)) = Ω(f(n))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33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68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2263" y="3903821"/>
              <a:ext cx="2935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Ω(c·f(n)) = Ω(f(n))，c 是正的常数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21671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68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42263" y="4352449"/>
              <a:ext cx="1267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Ω(f(n))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84263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22967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4741069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对于非负的 f(n) 和 g(n)，由定义2.2 得到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680835" y="1524000"/>
            <a:ext cx="4977765" cy="3392805"/>
            <a:chOff x="6680835" y="1524000"/>
            <a:chExt cx="4977765" cy="3392805"/>
          </a:xfrm>
        </p:grpSpPr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3392805"/>
            </a:xfrm>
            <a:prstGeom prst="roundRect">
              <a:avLst>
                <a:gd name="adj" fmla="val 3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1657350"/>
              <a:ext cx="47625" cy="3126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2848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2359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87590" y="1768792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条成立，但不是最紧的下界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0865" y="2129790"/>
              <a:ext cx="3498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充分大时 h₁ ≥ c₁f、h₂ ≥ c₂g，则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34"/>
                <p:cNvSpPr txBox="1">
                  <a:spLocks noGrp="1"/>
                </p:cNvSpPr>
                <p:nvPr/>
              </p:nvSpPr>
              <p:spPr>
                <a:xfrm>
                  <a:off x="6928485" y="2440305"/>
                  <a:ext cx="452056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920865" y="2884170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Ω(f) + Ω(g) = Ω(max(f, g)) 也成立，而且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更紧。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22008" y="3501866"/>
              <a:ext cx="375996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例：Ω(n) + Ω(n²) 按第 1 条写成 Ω(n)，更准确的是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Ω(n²)。第 4 条同理可以写成更紧的 Ω(g(n))。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9615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“=”只从左往右读：属于 Ω(n²) 的函数都属于 Ω(n)，反过来不成立，所以写成 Ω(n) 没错，只是信息少了。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19525" cy="909257"/>
            <a:chOff x="520446" y="342900"/>
            <a:chExt cx="89195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195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定义2.3（Θ）：两个常数倍的 g(n) 从上下两边夹住 f(n)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133600"/>
            <a:chOff x="533400" y="1524000"/>
            <a:chExt cx="5410200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400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4475" y="1769269"/>
              <a:ext cx="574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定义2.3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44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如果存在正常数 c₁、c₂ 和 n₀，对于所有的 n ≥ n₀，有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c₁|g(n)| ≤ |f(n)| ≤ c₂|g(n)|，则记作 f(n)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Θ(g(n))。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等价说法：f(n) = Θ(g(n)) 当且仅当 f(n) = O(g(n)) 且 f(n)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Ω(g(n))。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48100"/>
            <a:ext cx="5410200" cy="1760220"/>
            <a:chOff x="533400" y="3848100"/>
            <a:chExt cx="5410200" cy="1760220"/>
          </a:xfrm>
        </p:grpSpPr>
        <p:sp>
          <p:nvSpPr>
            <p:cNvPr id="14" name="Rectangle 14"/>
            <p:cNvSpPr/>
            <p:nvPr/>
          </p:nvSpPr>
          <p:spPr>
            <a:xfrm>
              <a:off x="533400" y="3848100"/>
              <a:ext cx="5410200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814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0576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6160" y="40933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9202" y="4092892"/>
              <a:ext cx="2294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2n² + 11n − 10 = Θ(n²)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5167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453890"/>
              <a:ext cx="2933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下界：n ≥ 1 时 ≥ 2n²，取 c₁ = 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6765" y="48520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478917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上界：n ≥ 10 时 ≤ 3n²，取 c₂ = 3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6765" y="51873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880" y="5124450"/>
              <a:ext cx="37004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两者同时成立要取 n₀ = max{1, 10} = 10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602105"/>
            <a:chOff x="6248400" y="1524000"/>
            <a:chExt cx="5410200" cy="160210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原课件的解释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2110740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一个算法的 f(n) = Θ(g(n)) 意味着该算法在最好和最坏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情况下的计算时间，就一个常数因子范围内而言是相同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3316605"/>
            <a:ext cx="5410200" cy="2291715"/>
            <a:chOff x="6248400" y="3316605"/>
            <a:chExt cx="5410200" cy="2291715"/>
          </a:xfrm>
        </p:grpSpPr>
        <p:sp>
          <p:nvSpPr>
            <p:cNvPr id="32" name="Rectangle 32"/>
            <p:cNvSpPr/>
            <p:nvPr/>
          </p:nvSpPr>
          <p:spPr>
            <a:xfrm>
              <a:off x="6248400" y="3316605"/>
              <a:ext cx="5410200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44995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96050" y="35261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6258" y="35618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97078" y="3561398"/>
              <a:ext cx="4134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最坏情况是 Θ(g)，不等于所有输入都是 Θ(g)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39852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3922395"/>
              <a:ext cx="4879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插入排序：最坏（逆序）Θ(n²)，最好（已有序）Θ(n)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43205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425767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对全部输入只能说时间是 O(n²) 且 Ω(n)，不能笼统说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Θ(n²)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49415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487870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顺序查找同理：最好 1 次、最坏 n 次，成立的是“最坏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情况时间 = Θ(n)”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计算时间的渐近表示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渐近表示的传递性与反身性，可以类比实数比较大小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626418" cy="3185160"/>
            <a:chOff x="533400" y="1524000"/>
            <a:chExt cx="5626418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72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109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8929" y="2076450"/>
              <a:ext cx="3890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Θ(g(n))，g(n) = Θ(h(n)) ⇒ f(n) = Θ(h(n))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679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7267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50126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98929" y="2501265"/>
              <a:ext cx="3988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O(g(n))，g(n) = O(h(n)) ⇒ f(n) = O(h(n))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927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传递性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98929" y="2926080"/>
              <a:ext cx="3890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Ω(g(n))，g(n) = Ω(h(n)) ⇒ f(n) = Ω(h(n))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6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22135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34994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反身性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98929" y="3349942"/>
              <a:ext cx="38968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Θ(f(n))，f(n) = O(f(n))，f(n) = Ω(f(n))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14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37747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对称性（补充）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8929" y="3774757"/>
              <a:ext cx="2552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Θ(g(n)) ⇔ g(n) = Θ(f(n))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662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070985"/>
              <a:ext cx="562641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19862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转置对称（补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98929" y="4305300"/>
              <a:ext cx="2585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O(g(n)) ⇔ g(n) = Ω(f(n))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626418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991678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888230"/>
            <a:ext cx="5626418" cy="1250632"/>
            <a:chOff x="533400" y="4888230"/>
            <a:chExt cx="5626418" cy="1250632"/>
          </a:xfrm>
        </p:grpSpPr>
        <p:sp>
          <p:nvSpPr>
            <p:cNvPr id="33" name="Rectangle 33"/>
            <p:cNvSpPr/>
            <p:nvPr/>
          </p:nvSpPr>
          <p:spPr>
            <a:xfrm>
              <a:off x="533400" y="488823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502158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9620" y="5086350"/>
              <a:ext cx="119824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3502" y="5120640"/>
              <a:ext cx="1070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证明 O 的传递性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381" y="544782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n₁ 时 f ≤ c₁g，n ≥ n₂ 时 g ≤ c₂h。于是 n ≥ max{n₁,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n₂} 时 f ≤ c₁g ≤ c₁c₂h，取 c = c₁c₂，得 f = O(h)。</a:t>
              </a:r>
            </a:p>
          </p:txBody>
        </p:sp>
      </p:grpSp>
      <p:grpSp>
        <p:nvGrpSpPr>
          <p:cNvPr id="53" name="c2-table-1"/>
          <p:cNvGrpSpPr/>
          <p:nvPr/>
        </p:nvGrpSpPr>
        <p:grpSpPr>
          <a:xfrm>
            <a:off x="6464618" y="1524000"/>
            <a:ext cx="5193982" cy="1697355"/>
            <a:chOff x="6464618" y="1524000"/>
            <a:chExt cx="5193982" cy="1697355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8322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渐近表示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1182" y="1652588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类比实数 a、b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71606" y="2076450"/>
              <a:ext cx="1281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O(g(n))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22040" y="207645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≤ 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23679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64618" y="237267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88760" y="2501265"/>
              <a:ext cx="1247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Ω(g(n))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22040" y="2501265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≥ 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27927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88760" y="2926080"/>
              <a:ext cx="12472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Θ(g(n))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22040" y="2926080"/>
              <a:ext cx="375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15638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llout-2"/>
          <p:cNvGrpSpPr/>
          <p:nvPr/>
        </p:nvGrpSpPr>
        <p:grpSpPr>
          <a:xfrm>
            <a:off x="6464618" y="3402330"/>
            <a:ext cx="5193982" cy="1018222"/>
            <a:chOff x="6464618" y="3402330"/>
            <a:chExt cx="5193982" cy="1018222"/>
          </a:xfrm>
        </p:grpSpPr>
        <p:sp>
          <p:nvSpPr>
            <p:cNvPr id="54" name="Rectangle 54"/>
            <p:cNvSpPr/>
            <p:nvPr/>
          </p:nvSpPr>
          <p:spPr>
            <a:xfrm>
              <a:off x="6464618" y="3402330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57347" y="3807261"/>
              <a:ext cx="224134" cy="192560"/>
              <a:chOff x="6657347" y="3807261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769418" y="387762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57347" y="380726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395541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1729" y="3549491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类比有限度：任意两个实数都能比较大小，但有的函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数对之间既没有 O 关系也没有 Ω 关系。例如 n 与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n^(1+sin n)，后者在 1 和 n² 之间来回摆动。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464618" y="4600575"/>
            <a:ext cx="5193982" cy="756285"/>
            <a:chOff x="6464618" y="4600575"/>
            <a:chExt cx="5193982" cy="756285"/>
          </a:xfrm>
        </p:grpSpPr>
        <p:sp>
          <p:nvSpPr>
            <p:cNvPr id="61" name="Rectangle 61"/>
            <p:cNvSpPr/>
            <p:nvPr/>
          </p:nvSpPr>
          <p:spPr>
            <a:xfrm>
              <a:off x="6464618" y="460057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669405" y="4878705"/>
              <a:ext cx="200026" cy="200025"/>
              <a:chOff x="6669405" y="487870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69405" y="48787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09144" y="49231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43859" y="50342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971729" y="4747736"/>
              <a:ext cx="401802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传递性的用法：已知 f = O(n log n)，又 n log n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O(n²)，直接得到 f = O(n²)。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68237" cy="3351847"/>
            <a:chOff x="667512" y="1835468"/>
            <a:chExt cx="646823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求和、证明与性能分布图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分析循环要用求和公式，证明结论要用归纳法，检验分析要靠实测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常用的整数求和公式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直接证明、间接证明与数学归纳法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递推式的展开与验证（补充）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作时空性能分布图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6403" cy="909257"/>
            <a:chOff x="520446" y="342900"/>
            <a:chExt cx="66764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求和、证明与性能分布图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64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常用整数求和公式：k 次幂之和是 Θ(nᵏ⁺¹)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0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41"/>
              <p:cNvSpPr txBox="1">
                <a:spLocks noGrp="1"/>
              </p:cNvSpPr>
              <p:nvPr/>
            </p:nvSpPr>
            <p:spPr>
              <a:xfrm>
                <a:off x="533400" y="2468880"/>
                <a:ext cx="5842635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2"/>
              <p:cNvSpPr txBox="1">
                <a:spLocks noGrp="1"/>
              </p:cNvSpPr>
              <p:nvPr/>
            </p:nvSpPr>
            <p:spPr>
              <a:xfrm>
                <a:off x="533400" y="3413760"/>
                <a:ext cx="5842635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43"/>
              <p:cNvSpPr txBox="1">
                <a:spLocks noGrp="1"/>
              </p:cNvSpPr>
              <p:nvPr/>
            </p:nvSpPr>
            <p:spPr>
              <a:xfrm>
                <a:off x="533400" y="4358640"/>
                <a:ext cx="5842635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m:rPr>
                          <m:nor m:val="on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低次项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44"/>
              <p:cNvSpPr txBox="1">
                <a:spLocks noGrp="1"/>
              </p:cNvSpPr>
              <p:nvPr/>
            </p:nvSpPr>
            <p:spPr>
              <a:xfrm>
                <a:off x="533400" y="5303520"/>
                <a:ext cx="5842635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/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=Θ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7" name="c2-table-1"/>
          <p:cNvGrpSpPr/>
          <p:nvPr/>
        </p:nvGrpSpPr>
        <p:grpSpPr>
          <a:xfrm>
            <a:off x="6675120" y="1524000"/>
            <a:ext cx="4983480" cy="2539842"/>
            <a:chOff x="6675120" y="1524000"/>
            <a:chExt cx="4983480" cy="2539842"/>
          </a:xfrm>
        </p:grpSpPr>
        <p:sp>
          <p:nvSpPr>
            <p:cNvPr id="12" name="Rectangle 12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85966" y="1659731"/>
              <a:ext cx="746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10 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815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公式计算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921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逐项相加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8658" y="2108359"/>
              <a:ext cx="280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4506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4204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8658" y="2556986"/>
              <a:ext cx="226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45068" y="2556986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10·11/2 = 55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4204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88658" y="3005614"/>
              <a:ext cx="329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i²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45068" y="3005614"/>
              <a:ext cx="1443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10·11·21/6 = 385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466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0835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8658" y="3454241"/>
              <a:ext cx="1479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i³（通式 k = 3）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45068" y="3454241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 + 500 + 25 = 3025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4727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3025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3248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62323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5120" y="3843814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3 时低次项恰好是 n²/4 = 25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680835" y="4210050"/>
            <a:ext cx="4977765" cy="2133600"/>
            <a:chOff x="6680835" y="4210050"/>
            <a:chExt cx="4977765" cy="2133600"/>
          </a:xfrm>
        </p:grpSpPr>
        <p:sp>
          <p:nvSpPr>
            <p:cNvPr id="38" name="Rectangle 38"/>
            <p:cNvSpPr/>
            <p:nvPr/>
          </p:nvSpPr>
          <p:spPr>
            <a:xfrm>
              <a:off x="6680835" y="4210050"/>
              <a:ext cx="4977765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43434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28485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19646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20865" y="4796790"/>
              <a:ext cx="4177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程序段 for i ← 1 to n do for j ← 1 to i do 中，内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层语句执行 1 + 2 + … + n = n(n+1)/2 次，是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Θ(n²)。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2008" y="5700236"/>
              <a:ext cx="4060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双重循环中内层次数随 i 变化时，先写成求和式，再套公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求和、证明与性能分布图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证明方法：直接证明、间接证明与数学归纳法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951220" cy="2194560"/>
            <a:chOff x="533400" y="1524000"/>
            <a:chExt cx="5951220" cy="21945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9180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63227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42726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本章用例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58162" y="2087880"/>
              <a:ext cx="1708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由条件 P 推出结论 Q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8460" y="2087880"/>
              <a:ext cx="1376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 1、定理2.1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58162" y="252698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假设结论不成立，推出矛盾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8460" y="2526982"/>
              <a:ext cx="9765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n³ ≠ O(n²)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举反例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58162" y="296608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给出不成立的实例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8460" y="2966085"/>
              <a:ext cx="1106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BADMAX 出错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746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79458"/>
              <a:ext cx="595122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288982"/>
              <a:ext cx="1409700" cy="42005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412" y="34051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数学归纳法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58162" y="34051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初始、假设、证明三步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38460" y="340518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求和公式、递推式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951220" cy="21945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57388" y="1524000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37685" y="1524000"/>
              <a:ext cx="9525" cy="21945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rd-2"/>
          <p:cNvGrpSpPr/>
          <p:nvPr/>
        </p:nvGrpSpPr>
        <p:grpSpPr>
          <a:xfrm>
            <a:off x="533400" y="3888105"/>
            <a:ext cx="5951220" cy="1528762"/>
            <a:chOff x="533400" y="3888105"/>
            <a:chExt cx="5951220" cy="1528762"/>
          </a:xfrm>
        </p:grpSpPr>
        <p:sp>
          <p:nvSpPr>
            <p:cNvPr id="33" name="Rectangle 33"/>
            <p:cNvSpPr/>
            <p:nvPr/>
          </p:nvSpPr>
          <p:spPr>
            <a:xfrm>
              <a:off x="533400" y="3888105"/>
              <a:ext cx="595122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02145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8190" y="407479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459" y="410765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数学归纳法的三步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40721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4456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419600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初始归纳：i = 1 时结论成立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8190" y="470725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3868" y="47456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8987" y="471963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归纳假设：若 i = n − 1 时成立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58190" y="500729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3868" y="50466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8987" y="5019675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归纳证明：证明 i = n 时成立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789420" y="1524000"/>
            <a:ext cx="4869180" cy="3893820"/>
            <a:chOff x="6789420" y="1524000"/>
            <a:chExt cx="4869180" cy="3893820"/>
          </a:xfrm>
        </p:grpSpPr>
        <p:sp>
          <p:nvSpPr>
            <p:cNvPr id="47" name="Rectangle 47"/>
            <p:cNvSpPr/>
            <p:nvPr/>
          </p:nvSpPr>
          <p:spPr>
            <a:xfrm>
              <a:off x="6789420" y="1524000"/>
              <a:ext cx="4869180" cy="3893820"/>
            </a:xfrm>
            <a:prstGeom prst="roundRect">
              <a:avLst>
                <a:gd name="adj" fmla="val 34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98945" y="1657350"/>
              <a:ext cx="47625" cy="3627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14210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9981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55980" y="1745932"/>
              <a:ext cx="31401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用归纳法证明 Σi² = n(n+1)(2n+1)/6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014210" y="205930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69888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95007" y="2071688"/>
              <a:ext cx="40028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初始归纳：n = 1 时左边 = 1，右边 = 1·2·3/6 = 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014210" y="235934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9888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95007" y="2371725"/>
              <a:ext cx="40210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归纳假设：前 n − 1 项之和为 (n − 1)n(2n − 1)/6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14210" y="266033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9888" y="26987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95007" y="2671762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归纳证明：加上第 n 项 n²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48"/>
                <p:cNvSpPr txBox="1">
                  <a:spLocks noGrp="1"/>
                </p:cNvSpPr>
                <p:nvPr/>
              </p:nvSpPr>
              <p:spPr>
                <a:xfrm>
                  <a:off x="7014210" y="2949892"/>
                  <a:ext cx="44577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6028373"/>
              <a:ext cx="9091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三步齐全才算证明。常见错误有两种：只验算 n = 1、2、3 几个值就下结论；归纳证明里没有真正用上归纳假设。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求和、证明与性能分布图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补充：递推式先展开猜出答案，再用归纳法验证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card-1"/>
          <p:cNvGrpSpPr/>
          <p:nvPr/>
        </p:nvGrpSpPr>
        <p:grpSpPr>
          <a:xfrm>
            <a:off x="533400" y="1524000"/>
            <a:ext cx="5410200" cy="3547110"/>
            <a:chOff x="533400" y="1524000"/>
            <a:chExt cx="5410200" cy="3547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547110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80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6838" y="1768792"/>
              <a:ext cx="3031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T(1) = 1，T(n) = T(n − 1) + 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51"/>
                <p:cNvSpPr txBox="1">
                  <a:spLocks noGrp="1"/>
                </p:cNvSpPr>
                <p:nvPr/>
              </p:nvSpPr>
              <p:spPr>
                <a:xfrm>
                  <a:off x="781050" y="2105025"/>
                  <a:ext cx="4953000" cy="8067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Rectangle 13"/>
            <p:cNvSpPr/>
            <p:nvPr/>
          </p:nvSpPr>
          <p:spPr>
            <a:xfrm>
              <a:off x="781050" y="3007042"/>
              <a:ext cx="49530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4392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1620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48830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86040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69922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00477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1985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62540" y="31427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493" y="359140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3989" y="35914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51199" y="35914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88409" y="35914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24906" y="35914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55461" y="35914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86968" y="35914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7523" y="35914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" y="3007042"/>
              <a:ext cx="4953000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594485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131695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668905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06115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36670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67225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098732" y="3007042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4573" y="4020979"/>
              <a:ext cx="44996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归纳验证：T(n − 1) + n = (n − 1)n/2 + n = n(n + 1)/2。所以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T(n) = Θ(n²)。</a:t>
              </a:r>
            </a:p>
          </p:txBody>
        </p:sp>
      </p:grpSp>
      <p:grpSp>
        <p:nvGrpSpPr>
          <p:cNvPr id="78" name="c2-card-1"/>
          <p:cNvGrpSpPr/>
          <p:nvPr/>
        </p:nvGrpSpPr>
        <p:grpSpPr>
          <a:xfrm>
            <a:off x="6248400" y="1524000"/>
            <a:ext cx="5410200" cy="3547110"/>
            <a:chOff x="6248400" y="1524000"/>
            <a:chExt cx="5410200" cy="354711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3547110"/>
            </a:xfrm>
            <a:prstGeom prst="roundRect">
              <a:avLst>
                <a:gd name="adj" fmla="val 37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1657350"/>
              <a:ext cx="47625" cy="3280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6742" y="176926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81838" y="1768792"/>
              <a:ext cx="42524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T(1) = 0，T(n) = 2T(n/2) + n，n 为 2 的幂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52"/>
                <p:cNvSpPr txBox="1">
                  <a:spLocks noGrp="1"/>
                </p:cNvSpPr>
                <p:nvPr/>
              </p:nvSpPr>
              <p:spPr>
                <a:xfrm>
                  <a:off x="6496050" y="2105025"/>
                  <a:ext cx="4953000" cy="7648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d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kn</m:t>
                            </m:r>
                          </m: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nT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func>
                              <m:funcPr/>
                              <m:fName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</m:func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6" name="Rectangle 46"/>
            <p:cNvSpPr/>
            <p:nvPr/>
          </p:nvSpPr>
          <p:spPr>
            <a:xfrm>
              <a:off x="6496050" y="2965132"/>
              <a:ext cx="49530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71312" y="3100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96177" y="3100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81965" y="3100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67752" y="3100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00212" y="310086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29589" y="310086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56347" y="310086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6413" y="354949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98547" y="35494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84334" y="35494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70122" y="35494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555196" y="354949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4328" y="354949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13699" y="354949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385762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96050" y="3862388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18011" y="3998119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log₂n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98547" y="39981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84334" y="39981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70122" y="39981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55196" y="39981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4328" y="399811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13699" y="399811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96050" y="2965132"/>
              <a:ext cx="49530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555230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140065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725852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311640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991725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670858" y="2965132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489573" y="4427696"/>
              <a:ext cx="460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第三行取 k = log₂n，使 n/2ᵏ = 1。这正是第4章归并排序的递推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式，结果为 Θ(n log n)。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9" name="Rectangle 7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130" y="5991225"/>
              <a:ext cx="10111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展开时先写出第 k 层的通式，再令自变量等于出口值求出 k；展开得到的只是猜想，要用归纳法验证后才算证明。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求和、证明与性能分布图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作时空性能分布图：用实测数据检验事前分析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429828"/>
            <a:chOff x="533400" y="1524000"/>
            <a:chExt cx="5410200" cy="24298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事后测试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在对算法进行设计、确认、事前分析和调试之后进行，与所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用计算机密切相关。以时间分布图为例：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为了减少时钟不准确造成的噪声，可以增大规模，或者重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复执行多次取平均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26088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分布图的做法与时间复杂度有关：按最好、最坏、平均情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况分别构造数据集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4133850"/>
            <a:ext cx="5410200" cy="2207895"/>
            <a:chOff x="533400" y="4133850"/>
            <a:chExt cx="5410200" cy="2207895"/>
          </a:xfrm>
        </p:grpSpPr>
        <p:sp>
          <p:nvSpPr>
            <p:cNvPr id="17" name="Rectangle 17"/>
            <p:cNvSpPr/>
            <p:nvPr/>
          </p:nvSpPr>
          <p:spPr>
            <a:xfrm>
              <a:off x="533400" y="413385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428577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补充：测量时间分布的一种写法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" y="4547235"/>
              <a:ext cx="363112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time</a:t>
              </a:r>
              <a:br/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def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profile(alg, make_input, sizes, repeat=20):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</a:t>
              </a:r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sizes: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data = make_input(n)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最坏或平均情况数据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t0 = time.perf_counter()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_ </a:t>
              </a:r>
              <a:r>
                <a:rPr lang="en-US" sz="1050" b="1" dirty="0">
                  <a:solidFill>
                    <a:srgbClr val="2F4B9A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range(repeat):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alg(list(data))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复制一份再运行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 = (time.perf_counter() - t0) /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print(n, t)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248400" y="1524000"/>
            <a:ext cx="5410200" cy="2546985"/>
            <a:chOff x="6248400" y="1524000"/>
            <a:chExt cx="5410200" cy="254698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31127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事前分析结果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02594" y="1652588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翻倍时时间约变为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50889" y="2076450"/>
              <a:ext cx="430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8752" y="207645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倍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48400" y="23679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48400" y="237267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0889" y="2501265"/>
              <a:ext cx="859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752" y="2501265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略多于 2 倍（n 从 1000 到 2000 约 2.2 倍）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7927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0889" y="2926080"/>
              <a:ext cx="526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8752" y="292608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216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22135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50889" y="3349942"/>
              <a:ext cx="526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O(n³)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8752" y="334994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36414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50889" y="3774757"/>
              <a:ext cx="540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O(2ⁿ)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8752" y="3774757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每加 1 就翻倍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191500" y="152400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2"/>
          <p:cNvGrpSpPr/>
          <p:nvPr/>
        </p:nvGrpSpPr>
        <p:grpSpPr>
          <a:xfrm>
            <a:off x="6248400" y="4251008"/>
            <a:ext cx="5410200" cy="1018222"/>
            <a:chOff x="6248400" y="4251008"/>
            <a:chExt cx="5410200" cy="1018222"/>
          </a:xfrm>
        </p:grpSpPr>
        <p:sp>
          <p:nvSpPr>
            <p:cNvPr id="43" name="Rectangle 43"/>
            <p:cNvSpPr/>
            <p:nvPr/>
          </p:nvSpPr>
          <p:spPr>
            <a:xfrm>
              <a:off x="6248400" y="4251008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4660583"/>
              <a:ext cx="200026" cy="200025"/>
              <a:chOff x="6453188" y="466058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46605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47050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48161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511" y="4398169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把实测时间画成关于 n 的曲线，或看 n 翻倍时的时间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比。比值与上表明显不符，说明分析有误，或实现中有额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外开销。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248400" y="5449252"/>
            <a:ext cx="5410200" cy="756285"/>
            <a:chOff x="6248400" y="5449252"/>
            <a:chExt cx="5410200" cy="756285"/>
          </a:xfrm>
        </p:grpSpPr>
        <p:sp>
          <p:nvSpPr>
            <p:cNvPr id="50" name="Rectangle 50"/>
            <p:cNvSpPr/>
            <p:nvPr/>
          </p:nvSpPr>
          <p:spPr>
            <a:xfrm>
              <a:off x="6248400" y="544925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41129" y="5723691"/>
              <a:ext cx="224134" cy="192560"/>
              <a:chOff x="6441129" y="5723691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53200" y="57940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41129" y="57236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8718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511" y="559736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排序类算法重复运行前要复制原数据，否则第二次测的是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有序输入。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04127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SPARKS 语言写算法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本课程书写算法用的结构化伪代码，后面各章的算法都用它表示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数据类型、变量与运算符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条件、循环与跳转语句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过程定义与输入输出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93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算法的同质异相：MAX 过程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基本数据类型、变量命名、数组与运算符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600325"/>
            <a:chOff x="533400" y="1524000"/>
            <a:chExt cx="6059805" cy="2600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17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63582" y="1645444"/>
              <a:ext cx="1065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SPARKS 的规定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60530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基本数据类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0200" y="2045494"/>
              <a:ext cx="2166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整型 integer、实型 real、布尔型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boolean、字符型 char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87215" y="214550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x, y; char ch;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布尔值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0200" y="2645569"/>
              <a:ext cx="870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true、false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7215" y="2645569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found ← false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1456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变量命名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0200" y="3045619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以字母开头，不允许使用特殊字符，不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允许与保留字重复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87215" y="3145631"/>
              <a:ext cx="8076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xmax、i、A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745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0200" y="3645694"/>
              <a:ext cx="2429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下界和上界可以是任意整数的多维数组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A(l₁:u₁, …, lₙ:uₙ)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87215" y="3645694"/>
              <a:ext cx="15120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integer A(1:10); real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B(3:6, 1:4);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98282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5298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table-2"/>
          <p:cNvGrpSpPr/>
          <p:nvPr/>
        </p:nvGrpSpPr>
        <p:grpSpPr>
          <a:xfrm>
            <a:off x="533400" y="4293870"/>
            <a:ext cx="6059805" cy="1600200"/>
            <a:chOff x="533400" y="4293870"/>
            <a:chExt cx="6059805" cy="1600200"/>
          </a:xfrm>
        </p:grpSpPr>
        <p:sp>
          <p:nvSpPr>
            <p:cNvPr id="32" name="Rectangle 32"/>
            <p:cNvSpPr/>
            <p:nvPr/>
          </p:nvSpPr>
          <p:spPr>
            <a:xfrm>
              <a:off x="533400" y="4293870"/>
              <a:ext cx="605980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85596" y="4415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5498" y="4415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0555" y="48153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赋值语句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47925" y="481536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 ← 表达式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0892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09397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55" y="52154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逻辑运算符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47925" y="5215414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and、or、not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4892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0555" y="56154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关系运算符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447925" y="5615464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&lt;、≤、=、≠、&gt;、≥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93870"/>
              <a:ext cx="605980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346008" y="42938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898005" y="1524000"/>
            <a:ext cx="4760595" cy="1713548"/>
            <a:chOff x="6898005" y="1524000"/>
            <a:chExt cx="4760595" cy="1713548"/>
          </a:xfrm>
        </p:grpSpPr>
        <p:sp>
          <p:nvSpPr>
            <p:cNvPr id="47" name="Rectangle 47"/>
            <p:cNvSpPr/>
            <p:nvPr/>
          </p:nvSpPr>
          <p:spPr>
            <a:xfrm>
              <a:off x="6898005" y="1524000"/>
              <a:ext cx="4760595" cy="1713548"/>
            </a:xfrm>
            <a:prstGeom prst="roundRect">
              <a:avLst>
                <a:gd name="adj" fmla="val 77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1657350"/>
              <a:ext cx="47625" cy="14468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2795" y="171069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18566" y="174355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63612" y="1745932"/>
              <a:ext cx="275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B(3:6, 1:4) 有多少个元素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31367" y="212788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87387" y="2071688"/>
              <a:ext cx="3248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第一维 3~6 共 4 个，第二维 1~4 共 4 个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31367" y="242792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87387" y="2371725"/>
              <a:ext cx="3768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4 × 4 = 16 个元素，从 B(3, 1) 到 B(6, 4)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7080" y="2668429"/>
              <a:ext cx="39799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一般地，A(l₁:u₁, …, lₙ:uₙ) 共有 (u₁ − l₁ + 1) × … × (uₙ − lₙ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+ 1) 个元素。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898005" y="3408045"/>
            <a:ext cx="4760595" cy="729615"/>
            <a:chOff x="6898005" y="3408045"/>
            <a:chExt cx="4760595" cy="729615"/>
          </a:xfrm>
        </p:grpSpPr>
        <p:sp>
          <p:nvSpPr>
            <p:cNvPr id="58" name="Rectangle 58"/>
            <p:cNvSpPr/>
            <p:nvPr/>
          </p:nvSpPr>
          <p:spPr>
            <a:xfrm>
              <a:off x="6898005" y="340804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090734" y="3669148"/>
              <a:ext cx="224134" cy="192560"/>
              <a:chOff x="7090734" y="3669148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202805" y="37395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090734" y="36691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202805" y="3817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405497" y="3553777"/>
              <a:ext cx="37170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易错：SPARKS 用 ← 赋值，= 是比较相等；数组下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标用圆括号，写作 A(i)。</a:t>
              </a:r>
            </a:p>
          </p:txBody>
        </p:sp>
      </p:grpSp>
      <p:grpSp>
        <p:nvGrpSpPr>
          <p:cNvPr id="89" name="c2-table-3"/>
          <p:cNvGrpSpPr/>
          <p:nvPr/>
        </p:nvGrpSpPr>
        <p:grpSpPr>
          <a:xfrm>
            <a:off x="6898005" y="4307205"/>
            <a:ext cx="4760595" cy="2000250"/>
            <a:chOff x="6898005" y="4307205"/>
            <a:chExt cx="4760595" cy="2000250"/>
          </a:xfrm>
        </p:grpSpPr>
        <p:sp>
          <p:nvSpPr>
            <p:cNvPr id="65" name="Rectangle 65"/>
            <p:cNvSpPr/>
            <p:nvPr/>
          </p:nvSpPr>
          <p:spPr>
            <a:xfrm>
              <a:off x="6898005" y="4307205"/>
              <a:ext cx="4760595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84301" y="44286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变量名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07438" y="44286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68611" y="44286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95160" y="4828699"/>
              <a:ext cx="716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xmax、a1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82825" y="48286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89708" y="482869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字母开头，无特殊字符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98005" y="51025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898005" y="510730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95160" y="522874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2x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2825" y="52287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89708" y="52287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以数字开头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898005" y="55025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95160" y="562879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x-1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82825" y="562879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89708" y="562879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含特殊字符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898005" y="59026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898005" y="5907405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95160" y="6028849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82825" y="60288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089708" y="602884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与保留字重复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4307205"/>
              <a:ext cx="476059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130540" y="430720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987790" y="430720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01218" cy="909257"/>
            <a:chOff x="520446" y="342900"/>
            <a:chExt cx="34012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012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条件语句：if 与 case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1719262"/>
            <a:chOff x="533400" y="1524000"/>
            <a:chExt cx="4544378" cy="1719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92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if 语句的两种形式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1156462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条件 then S1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endif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条件 then S1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 S2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endif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433762"/>
            <a:ext cx="4544378" cy="1719262"/>
            <a:chOff x="533400" y="3433762"/>
            <a:chExt cx="4544378" cy="1719262"/>
          </a:xfrm>
        </p:grpSpPr>
        <p:sp>
          <p:nvSpPr>
            <p:cNvPr id="11" name="Rectangle 11"/>
            <p:cNvSpPr/>
            <p:nvPr/>
          </p:nvSpPr>
          <p:spPr>
            <a:xfrm>
              <a:off x="533400" y="3433762"/>
              <a:ext cx="4544378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585686"/>
              <a:ext cx="6200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case 语句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848576"/>
              <a:ext cx="134137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case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: 条件 1 : S1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…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: 条件 n : Sn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: else   : Sn+1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endcase</a:t>
              </a:r>
            </a:p>
          </p:txBody>
        </p:sp>
      </p:grpSp>
      <p:grpSp>
        <p:nvGrpSpPr>
          <p:cNvPr id="23" name="c2-card-1"/>
          <p:cNvGrpSpPr/>
          <p:nvPr/>
        </p:nvGrpSpPr>
        <p:grpSpPr>
          <a:xfrm>
            <a:off x="5382578" y="1524000"/>
            <a:ext cx="6276022" cy="1651635"/>
            <a:chOff x="5382578" y="1524000"/>
            <a:chExt cx="6276022" cy="1651635"/>
          </a:xfrm>
        </p:grpSpPr>
        <p:sp>
          <p:nvSpPr>
            <p:cNvPr id="15" name="Rectangle 15"/>
            <p:cNvSpPr/>
            <p:nvPr/>
          </p:nvSpPr>
          <p:spPr>
            <a:xfrm>
              <a:off x="5382578" y="1524000"/>
              <a:ext cx="6276022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92102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63022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1253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执行规则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635942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4058" y="2110740"/>
              <a:ext cx="5539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if：条件为真执行 S1，否则执行 S2；没有 else 时什么也不做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635942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94058" y="2446020"/>
              <a:ext cx="5444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case：从上到下检查条件，执行第一个为真的条件后面的语句，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然后转到 endcase 之后；所有条件都为假时执行 else 后的 Sn+1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5382578" y="3366135"/>
            <a:ext cx="6276022" cy="2857500"/>
            <a:chOff x="5382578" y="3366135"/>
            <a:chExt cx="6276022" cy="2857500"/>
          </a:xfrm>
        </p:grpSpPr>
        <p:sp>
          <p:nvSpPr>
            <p:cNvPr id="24" name="Rectangle 24"/>
            <p:cNvSpPr/>
            <p:nvPr/>
          </p:nvSpPr>
          <p:spPr>
            <a:xfrm>
              <a:off x="5382578" y="3366135"/>
              <a:ext cx="6276022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92102" y="3499485"/>
              <a:ext cx="47625" cy="2590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30228" y="357568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25338" y="36114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89333" y="3610928"/>
              <a:ext cx="2022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case 给成绩分等级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630228" y="3947160"/>
              <a:ext cx="5818822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58624" y="40990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57862" y="4361021"/>
              <a:ext cx="2201926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case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: score ≥ 90 : grade ←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'A'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: score ≥ 60 : grade ←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'P'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: else       : grade ←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'F'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endcase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23751" y="5580221"/>
              <a:ext cx="5239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score = 75：第一个条件为假，第二个为真，执行 grade ← 'P' 后直接结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束，不再看 else。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35081" cy="909257"/>
            <a:chOff x="520446" y="342900"/>
            <a:chExt cx="58350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350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循环语句：while、loop-until 与 for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1110615"/>
            <a:chOff x="533400" y="1524000"/>
            <a:chExt cx="4977765" cy="1110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739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while 语句：条件为假时循环结束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999998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条件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2825115"/>
            <a:ext cx="4977765" cy="1110615"/>
            <a:chOff x="533400" y="2825115"/>
            <a:chExt cx="4977765" cy="1110615"/>
          </a:xfrm>
        </p:grpSpPr>
        <p:sp>
          <p:nvSpPr>
            <p:cNvPr id="11" name="Rectangle 11"/>
            <p:cNvSpPr/>
            <p:nvPr/>
          </p:nvSpPr>
          <p:spPr>
            <a:xfrm>
              <a:off x="533400" y="2825115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977039"/>
              <a:ext cx="19047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loop 语句：条件为真时循环结束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035" y="3239929"/>
              <a:ext cx="131292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loop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until 条件 repeat</a:t>
              </a:r>
            </a:p>
          </p:txBody>
        </p:sp>
      </p:grpSp>
      <p:grpSp>
        <p:nvGrpSpPr>
          <p:cNvPr id="18" name="c1-code-3"/>
          <p:cNvGrpSpPr/>
          <p:nvPr/>
        </p:nvGrpSpPr>
        <p:grpSpPr>
          <a:xfrm>
            <a:off x="533400" y="4126230"/>
            <a:ext cx="4977765" cy="1110615"/>
            <a:chOff x="533400" y="4126230"/>
            <a:chExt cx="4977765" cy="1110615"/>
          </a:xfrm>
        </p:grpSpPr>
        <p:sp>
          <p:nvSpPr>
            <p:cNvPr id="15" name="Rectangle 15"/>
            <p:cNvSpPr/>
            <p:nvPr/>
          </p:nvSpPr>
          <p:spPr>
            <a:xfrm>
              <a:off x="533400" y="4126230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278154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语句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4541044"/>
              <a:ext cx="255752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for 变量 ← 初值 to 终值 by 增值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5815965" y="1524000"/>
            <a:ext cx="5842635" cy="1701165"/>
            <a:chOff x="5815965" y="1524000"/>
            <a:chExt cx="5842635" cy="1701165"/>
          </a:xfrm>
        </p:grpSpPr>
        <p:sp>
          <p:nvSpPr>
            <p:cNvPr id="19" name="Rectangle 19"/>
            <p:cNvSpPr/>
            <p:nvPr/>
          </p:nvSpPr>
          <p:spPr>
            <a:xfrm>
              <a:off x="5815965" y="1524000"/>
              <a:ext cx="584263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25490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6361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5382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069330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27445" y="2110740"/>
              <a:ext cx="3780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先判断后执行，S 可能一次也不执行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69330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27445" y="2446020"/>
              <a:ext cx="3841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loop-until 先执行后判断，S 至少执行一次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069330" y="28441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27445" y="2781300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的增值可以为负数；省略 by 增值 时增值为 1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5815965" y="3415665"/>
            <a:ext cx="5842635" cy="2857500"/>
            <a:chOff x="5815965" y="3415665"/>
            <a:chExt cx="5842635" cy="2857500"/>
          </a:xfrm>
        </p:grpSpPr>
        <p:sp>
          <p:nvSpPr>
            <p:cNvPr id="30" name="Rectangle 30"/>
            <p:cNvSpPr/>
            <p:nvPr/>
          </p:nvSpPr>
          <p:spPr>
            <a:xfrm>
              <a:off x="5815965" y="3415665"/>
              <a:ext cx="5842635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3549015"/>
              <a:ext cx="47625" cy="2590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63615" y="3625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53823" y="3660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3690" y="3660458"/>
              <a:ext cx="24888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for 语句等价的 while 写法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63615" y="3996690"/>
              <a:ext cx="538543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92012" y="41486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91250" y="4411504"/>
              <a:ext cx="271399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变量 ← 初值; fin ← 终值; incr ← 增值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(变量 − fin) * incr ≤ 0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变量 ← 变量 + incr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57138" y="5629751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for i ← 10 to 1 by −3 依次取 10、7、4、1；for i ← 5 to 1 增值为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1，一次也不执行。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58584" cy="909257"/>
            <a:chOff x="520446" y="342900"/>
            <a:chExt cx="63585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58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跳转语句：goto、exit、cycle、return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4760595" cy="2697480"/>
            <a:chOff x="533400" y="1524000"/>
            <a:chExt cx="4760595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18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21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1223" y="2108359"/>
              <a:ext cx="809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 标号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54770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转到带该标号的语句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1223" y="2670334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exit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54770" y="2556986"/>
              <a:ext cx="27033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转到含有 exit 的最内层循环语句后面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的第一条语句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32309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cycle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54770" y="323230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结束本次循环，进入下一次循环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13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6158"/>
              <a:ext cx="476059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680936"/>
              <a:ext cx="130286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return (&lt;表达式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54770" y="37942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结束过程，返回表达式的值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476059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42185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4411980"/>
            <a:ext cx="4760595" cy="782955"/>
            <a:chOff x="533400" y="4411980"/>
            <a:chExt cx="4760595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441198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703445"/>
              <a:ext cx="200026" cy="200025"/>
              <a:chOff x="738188" y="4703445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47034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47478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48590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560570"/>
              <a:ext cx="3682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exit 相当于 C 语言的 break，cycle 相当于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continue。</a:t>
              </a:r>
            </a:p>
          </p:txBody>
        </p:sp>
      </p:grpSp>
      <p:grpSp>
        <p:nvGrpSpPr>
          <p:cNvPr id="39" name="c1-callout-3"/>
          <p:cNvGrpSpPr/>
          <p:nvPr/>
        </p:nvGrpSpPr>
        <p:grpSpPr>
          <a:xfrm>
            <a:off x="533400" y="5385435"/>
            <a:ext cx="4760595" cy="782955"/>
            <a:chOff x="533400" y="5385435"/>
            <a:chExt cx="4760595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38543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673208"/>
              <a:ext cx="224134" cy="192560"/>
              <a:chOff x="726129" y="5673208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57435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6732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821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534025"/>
              <a:ext cx="3739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goto 会破坏程序结构，能用 exit、cycle 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达的跳转就不用 goto。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5598795" y="1524000"/>
            <a:ext cx="6059805" cy="4644390"/>
            <a:chOff x="5598795" y="1524000"/>
            <a:chExt cx="6059805" cy="4644390"/>
          </a:xfrm>
        </p:grpSpPr>
        <p:sp>
          <p:nvSpPr>
            <p:cNvPr id="40" name="Rectangle 40"/>
            <p:cNvSpPr/>
            <p:nvPr/>
          </p:nvSpPr>
          <p:spPr>
            <a:xfrm>
              <a:off x="5598795" y="1524000"/>
              <a:ext cx="6059805" cy="4644390"/>
            </a:xfrm>
            <a:prstGeom prst="roundRect">
              <a:avLst>
                <a:gd name="adj" fmla="val 28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08320" y="1657350"/>
              <a:ext cx="47625" cy="43776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4644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4155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05550" y="1768792"/>
              <a:ext cx="2945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(4, −1, 6, −3, 2)，n = 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46445" y="2105025"/>
              <a:ext cx="560260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74842" y="22569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74080" y="2518886"/>
              <a:ext cx="3012694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k ← 0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找第一个负数的下标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&lt; 0 then k ← i; exit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 ← 0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只累加非负数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1 to n 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&lt; 0 then cycle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← s + A(i)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52160" y="46158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10275" y="4552950"/>
              <a:ext cx="49857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第一段：i = 2 时 A(2) = −1 &lt; 0，k ← 2，exit 跳出循环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52160" y="49510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10275" y="488823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第二段：跳过 −1 和 −3，s = 4 + 6 + 2 = 12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89483" cy="909257"/>
            <a:chOff x="520446" y="342900"/>
            <a:chExt cx="65894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894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过程定义：procedure NAME … end NAME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450658"/>
            <a:chOff x="533400" y="1524000"/>
            <a:chExt cx="5193982" cy="1450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过程（函数）的一般形式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1864233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procedure NAME(&lt;参数列表&gt;)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&lt;说明部分&gt;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return (&lt;表达式&gt;)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NAME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161" y="3178969"/>
            <a:ext cx="5201221" cy="1943672"/>
            <a:chOff x="526161" y="3178969"/>
            <a:chExt cx="5201221" cy="1943672"/>
          </a:xfrm>
        </p:grpSpPr>
        <p:sp>
          <p:nvSpPr>
            <p:cNvPr id="11" name="TextBox 11"/>
            <p:cNvSpPr txBox="1"/>
            <p:nvPr/>
          </p:nvSpPr>
          <p:spPr>
            <a:xfrm>
              <a:off x="526161" y="3178969"/>
              <a:ext cx="115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parameters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47304" y="317896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说明形式参数的数据类型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481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6161" y="3595211"/>
              <a:ext cx="5764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global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7304" y="359521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说明全局变量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976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4011454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local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7304" y="401145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说明局部变量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3138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427696"/>
              <a:ext cx="1250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read(参数表)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7304" y="442769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73011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161" y="4843939"/>
              <a:ext cx="13105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print(参数表)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47304" y="48439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246370"/>
            <a:ext cx="5193982" cy="756285"/>
            <a:chOff x="533400" y="5246370"/>
            <a:chExt cx="5193982" cy="756285"/>
          </a:xfrm>
        </p:grpSpPr>
        <p:sp>
          <p:nvSpPr>
            <p:cNvPr id="26" name="Rectangle 26"/>
            <p:cNvSpPr/>
            <p:nvPr/>
          </p:nvSpPr>
          <p:spPr>
            <a:xfrm>
              <a:off x="533400" y="524637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524500"/>
              <a:ext cx="200026" cy="200026"/>
              <a:chOff x="738188" y="5524500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5245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591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6245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393531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函数名通常用大写字母，如 MAX、SEARCH、EUCLID。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说明部分说明参数的数据类型和函数中使用的变量。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032182" y="1524000"/>
            <a:ext cx="5626418" cy="4478655"/>
            <a:chOff x="6032182" y="1524000"/>
            <a:chExt cx="5626418" cy="4478655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4478655"/>
            </a:xfrm>
            <a:prstGeom prst="roundRect">
              <a:avLst>
                <a:gd name="adj" fmla="val 2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42119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68402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3843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364" y="1756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一个完整的过程：数组求和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68402" y="2077402"/>
              <a:ext cx="519207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96800" y="22293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6419" y="2490788"/>
              <a:ext cx="272434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SUM(A, n)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parameters real A(1:n); integer 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local real s; integer 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←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← 1 to n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 ← s + A(i)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(s)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SUM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76022" y="445865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32614" y="4398169"/>
              <a:ext cx="2218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思路：从 A(1) 加到 A(n)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76022" y="47767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32614" y="4716304"/>
              <a:ext cx="3504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正确性：每轮结束时 s = A(1) + … + A(i)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76022" y="50939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32614" y="5034439"/>
              <a:ext cx="481152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复杂度：频率计数合计 2n + 3（第二部分），时间 Θ(n)，额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外空间 O(1)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11167" cy="909257"/>
            <a:chOff x="520446" y="342900"/>
            <a:chExt cx="8511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11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算法的同质异相：同一个 MAX 算法，说明部分写法不同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5410200" cy="2791778"/>
            <a:chOff x="533400" y="1524000"/>
            <a:chExt cx="5410200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写法一：完整说明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784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1101" y="1935956"/>
              <a:ext cx="146812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2307" y="1935956"/>
              <a:ext cx="1789684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MAX(A, n, j)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parameters real A(1:n);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parameters integer n, j;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global real xmax;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local integer i;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xmax ← A(1); j ←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2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&gt; xmax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xmax ← A(i); j ← i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(xmax)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MAX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486275"/>
            <a:ext cx="5410200" cy="729615"/>
            <a:chOff x="533400" y="4486275"/>
            <a:chExt cx="5410200" cy="729615"/>
          </a:xfrm>
        </p:grpSpPr>
        <p:sp>
          <p:nvSpPr>
            <p:cNvPr id="13" name="Rectangle 13"/>
            <p:cNvSpPr/>
            <p:nvPr/>
          </p:nvSpPr>
          <p:spPr>
            <a:xfrm>
              <a:off x="533400" y="448627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750118"/>
              <a:ext cx="200026" cy="200026"/>
              <a:chOff x="738188" y="475011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7501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8167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8501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632008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差别：写法一用 parameters、local 逐项说明类型，写法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二把它们压缩成一行注释和 int 声明。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写法二：简化说明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67450" y="242697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6101" y="1935956"/>
              <a:ext cx="14681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47307" y="1935956"/>
              <a:ext cx="1789684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MAX(A, n, j)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global xmax;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A(1:n)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 i, n, j;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xmax ← A(1); j ←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i ← 2 to n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A(i) &gt; xmax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xmax ← A(i); j ← i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(xmax)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MAX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248400" y="4133850"/>
            <a:ext cx="5410200" cy="1443038"/>
            <a:chOff x="6248400" y="4133850"/>
            <a:chExt cx="5410200" cy="1443038"/>
          </a:xfrm>
        </p:grpSpPr>
        <p:sp>
          <p:nvSpPr>
            <p:cNvPr id="26" name="Rectangle 26"/>
            <p:cNvSpPr/>
            <p:nvPr/>
          </p:nvSpPr>
          <p:spPr>
            <a:xfrm>
              <a:off x="6248400" y="4133850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4267200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3190" y="4320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5862" y="4353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6332" y="4665345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原课件两种写法都只有 xmax ← A(1)，没有给 j 赋初值。若最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大值恰好是 A(1)，例如 A = (9, 3, 5)，循环里 j 从未被赋值，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返回的下标没有定义。高亮行已补上 j ← 1。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2" name="Rectangle 3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6028373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两种写法的执行语句完全相同，差别只在说明部分的详略，这就是“同质异相”。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3945" cy="909257"/>
            <a:chOff x="520446" y="342900"/>
            <a:chExt cx="59939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39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过程：执行过程、正确性与复杂度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185862"/>
            <a:chOff x="533400" y="1524000"/>
            <a:chExt cx="5193982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xmax 记住已见过的最大值，j 记住它的下标；从 A(2) 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A(n)，遇到更大的就更新。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28447" y="2879408"/>
            <a:ext cx="5198935" cy="2664808"/>
            <a:chOff x="528447" y="2879408"/>
            <a:chExt cx="5198935" cy="2664808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5193982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7806" y="300085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3421" y="3000851"/>
              <a:ext cx="328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A(i)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76972" y="3000851"/>
              <a:ext cx="1041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A(i) &gt; xmax？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05824" y="3000851"/>
              <a:ext cx="3913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xmax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35018" y="3000851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0778" y="34009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80682" y="34009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50365" y="34009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4337" y="34009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7302" y="34009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674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67950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8016" y="3800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80682" y="38009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16440" y="38009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54337" y="38009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17302" y="38009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0747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8016" y="42010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80682" y="42010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16440" y="42010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54337" y="42010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7302" y="42010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4748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479608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8016" y="4601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80682" y="4601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16440" y="46010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010978" y="4489132"/>
              <a:ext cx="98202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54337" y="4601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012055" y="4489132"/>
              <a:ext cx="70580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17302" y="4601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8748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8016" y="5001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80682" y="50011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16440" y="50011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54337" y="50011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17302" y="50011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2879408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455420" y="287940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2389822" y="287940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996690" y="287940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997768" y="287940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8447" y="5353526"/>
              <a:ext cx="39883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(3, 7, 2, 9, 5)：比较 4 次，更新 2 次，返回 xmax = 9，j = 4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6032182" y="1524000"/>
            <a:ext cx="5626418" cy="1828800"/>
            <a:chOff x="6032182" y="1524000"/>
            <a:chExt cx="5626418" cy="1828800"/>
          </a:xfrm>
        </p:grpSpPr>
        <p:sp>
          <p:nvSpPr>
            <p:cNvPr id="59" name="Rectangle 59"/>
            <p:cNvSpPr/>
            <p:nvPr/>
          </p:nvSpPr>
          <p:spPr>
            <a:xfrm>
              <a:off x="6032182" y="1524000"/>
              <a:ext cx="5626418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41708" y="165735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6972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19139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正确性（循环不变式）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50114" y="2054542"/>
              <a:ext cx="4957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每轮结束时 xmax = max{A(1), …, A(i)}，且 A(j) = xmax。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65545" y="24117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21564" y="2355532"/>
              <a:ext cx="281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开始：i = 1 时 xmax = A(1)，j = 1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65545" y="271176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21564" y="2655570"/>
              <a:ext cx="4232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保持：A(i) 更大就更新，否则前 i 个数的最大值不变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265545" y="30118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21564" y="2955608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结束：i = n 时 xmax 是整个数组的最大值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6027230" y="3523298"/>
            <a:ext cx="5631370" cy="1863756"/>
            <a:chOff x="6027230" y="3523298"/>
            <a:chExt cx="5631370" cy="1863756"/>
          </a:xfrm>
        </p:grpSpPr>
        <p:sp>
          <p:nvSpPr>
            <p:cNvPr id="71" name="Rectangle 71"/>
            <p:cNvSpPr/>
            <p:nvPr/>
          </p:nvSpPr>
          <p:spPr>
            <a:xfrm>
              <a:off x="6032182" y="3523298"/>
              <a:ext cx="562641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56793" y="36447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650999" y="36447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19834" y="3644741"/>
              <a:ext cx="1740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 xmax ← A(i) 的次数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29338" y="4044791"/>
              <a:ext cx="1485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最好：最大值是 A(1)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92490" y="404479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17392" y="4044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032182" y="43186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32182" y="4323398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29338" y="444484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最坏：严格递增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92490" y="444484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17392" y="444484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032182" y="47186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29338" y="4844891"/>
              <a:ext cx="1955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平均：n 个不同的数随机排列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492490" y="4844891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17392" y="4844891"/>
              <a:ext cx="1360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 + 1/3 + … + 1/n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032182" y="3523298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390572" y="352329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515475" y="3523298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027230" y="5196364"/>
              <a:ext cx="4729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4 时平均更新 13/12 次，n = 1000 时约 6.5 次；时间 Θ(n)，额外空间 O(1)</a:t>
              </a:r>
            </a:p>
          </p:txBody>
        </p:sp>
      </p:grpSp>
      <p:grpSp>
        <p:nvGrpSpPr>
          <p:cNvPr id="9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92" name="Rectangle 9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1040892" y="6028373"/>
              <a:ext cx="76325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平均情况的推导：随机排列中 A(i) 恰好是前 i 个数最大值的概率为 1/i，对 i = 2…n 求和即得。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自测（一）：算法与算法分析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先自己写出完整过程，再对照答案；算不出数值的题，回到第一、二部分重看定义。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85900"/>
            <a:chOff x="533400" y="1928812"/>
            <a:chExt cx="5410200" cy="14859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4804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“从 1 开始依次输出所有正整数”满足哪些特性？是算法吗？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满足确定性、能行性、输入（0 个）和输出，但不满足有穷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性，它是计算过程，不是算法。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84258"/>
            <a:ext cx="5410200" cy="1743075"/>
            <a:chOff x="533400" y="3584258"/>
            <a:chExt cx="5410200" cy="1743075"/>
          </a:xfrm>
        </p:grpSpPr>
        <p:sp>
          <p:nvSpPr>
            <p:cNvPr id="15" name="Rectangle 15"/>
            <p:cNvSpPr/>
            <p:nvPr/>
          </p:nvSpPr>
          <p:spPr>
            <a:xfrm>
              <a:off x="533400" y="358425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115752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顺序查找中，若 x 在表中的概率为 q，且在表中各位置等可能，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平均比较多少次？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672965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q·(n+1)/2 + (1 − q)·n。q = 1 时为 (n+1)/2，q = 1/2 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(3n+1)/4。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743075"/>
            <a:chOff x="6248400" y="1928812"/>
            <a:chExt cx="5410200" cy="174307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5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4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8232" y="2459355"/>
              <a:ext cx="4588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程序段 for i ← 1 to n do for j ← i to n do x ← x + 1 中，x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 x + 1 的频率计数是多少？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232" y="3016568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内层执行 n − i + 1 次，总计 n + (n − 1) + … + 1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n(n+1)/2，是 Θ(n²)。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41432"/>
            <a:ext cx="5410200" cy="1485900"/>
            <a:chOff x="6248400" y="3841432"/>
            <a:chExt cx="5410200" cy="1485900"/>
          </a:xfrm>
        </p:grpSpPr>
        <p:sp>
          <p:nvSpPr>
            <p:cNvPr id="27" name="Rectangle 27"/>
            <p:cNvSpPr/>
            <p:nvPr/>
          </p:nvSpPr>
          <p:spPr>
            <a:xfrm>
              <a:off x="6248400" y="384143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35090" y="402812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4547" y="406098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8232" y="437292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为什么两个字符串的比较不能算作基本运算？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8232" y="467296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一个字符的比较囿界于常数，是基本运算；字符串比较由一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系列字符比较组成，时间取决于字符串长度，属于复杂运算。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8001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题的套路：先把内层循环次数写成关于 i 的式子，再对 i 求和，这是分析双重循环的固定做法。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3050" cy="909257"/>
            <a:chOff x="520446" y="342900"/>
            <a:chExt cx="51730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5464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338" y="407194"/>
              <a:ext cx="278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 · 用 SPARKS 语言写算法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30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自测（二）：渐近表示与 SPARKS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711617" cy="264033"/>
            <a:chOff x="526542" y="1545907"/>
            <a:chExt cx="47116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证明题要写出 c 和 n₀ 并验证不等式，只给结论不算完成。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85900"/>
            <a:chOff x="533400" y="1928812"/>
            <a:chExt cx="5410200" cy="14859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3707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 5n² − 3n + 7 = O(n²)，给出 c 和 n₀。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≥ 1 时 5n² − 3n + 7 ≤ 5n² + 7n² = 12n²，取 c = 12、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n₀ = 1；也可取 c = 6、n₀ = 2。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84258"/>
            <a:ext cx="5410200" cy="2000250"/>
            <a:chOff x="533400" y="3584258"/>
            <a:chExt cx="5410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4258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115752"/>
              <a:ext cx="50305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n²、2ⁿ、n log n、n!、log n、n³ 按数量级从低到高排列。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415790"/>
              <a:ext cx="314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 &lt; n log n &lt; n² &lt; n³ &lt; 2ⁿ &lt; n!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85900"/>
            <a:chOff x="6248400" y="1928812"/>
            <a:chExt cx="5410200" cy="148590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5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4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8232" y="2459355"/>
              <a:ext cx="3291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2ⁿ⁺¹ = O(2ⁿ) 吗？2²ⁿ = O(2ⁿ) 吗？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232" y="2759392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前者成立：2ⁿ⁺¹ = 2·2ⁿ，取 c = 2。后者不成立：2²ⁿ /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 = 2ⁿ 无界，找不到常数 c。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84258"/>
            <a:ext cx="5410200" cy="2000250"/>
            <a:chOff x="6248400" y="3584258"/>
            <a:chExt cx="5410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248400" y="3584258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35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4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8232" y="4115752"/>
              <a:ext cx="46617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SPARKS 中 loop-until 与 while 有什么区别？for i ← 8 to 1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by −2 do S repeat 中 S 执行几次？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8232" y="4672965"/>
              <a:ext cx="48228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loop-until 先执行后判断，条件为真时结束，循环体至少执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行一次；while 先判断，条件为假时结束，可能一次也不执行。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第二问执行 4 次，i 依次取 8、6、4、2。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6974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 题是常考点：底数相同、指数相差常数的指数函数同阶；指数相差 n 倍时不同阶。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第2章 算法导引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5430"/>
            <a:ext cx="6031230" cy="3745230"/>
            <a:chOff x="533400" y="1535430"/>
            <a:chExt cx="6031230" cy="374523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算法是解决一类问题的有穷规则，满足确定性、能行性、输入、输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出、有穷性；可以不终止的叫计算过程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5596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算法分析定量估算时间 T(n) 和空间 S(n)，分最坏、最好、平均三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种情况；平均情况依赖实例的概率分布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573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事前分析数频率计数，只保留最高次项的次数；事后测试作时空性能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分布图检验分析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5606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是上界，Ω 是下界，Θ 是同阶；证明时找出 c 和 n₀。m 次多项式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O(nᵐ)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0576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4099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4070985"/>
              <a:ext cx="5320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多项式时间 O(1) &lt; O(log n) &lt; … &lt; O(n³)；指数时间 O(2ⁿ) &lt;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O(n!) &lt; O(nⁿ)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6882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47304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4701540"/>
              <a:ext cx="5139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SPARKS 用 ← 赋值，循环以 repeat 结束，过程以 procedure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 开始、end NAME 结束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3710940"/>
            <a:chOff x="7114222" y="1524000"/>
            <a:chExt cx="4544378" cy="3710940"/>
          </a:xfrm>
        </p:grpSpPr>
        <p:sp>
          <p:nvSpPr>
            <p:cNvPr id="26" name="Rectangle 26"/>
            <p:cNvSpPr/>
            <p:nvPr/>
          </p:nvSpPr>
          <p:spPr>
            <a:xfrm>
              <a:off x="7114222" y="1524000"/>
              <a:ext cx="4544378" cy="3710940"/>
            </a:xfrm>
            <a:prstGeom prst="roundRect">
              <a:avLst>
                <a:gd name="adj" fmla="val 35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3748" y="1657350"/>
              <a:ext cx="47625" cy="34442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61872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23722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62862" y="2110740"/>
              <a:ext cx="34251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复杂度对比表：n⁵ 在 n = 40、60 时应为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 分、13 分；n = 40 时 n! 应为约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2.6×10³² 世纪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1872" y="30041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23722" y="30464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62862" y="3017520"/>
              <a:ext cx="275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过程两种写法都缺少 j ← 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361872" y="33394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23722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2862" y="335280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反证 n³ ≠ O(n²) 时，n₁ 取 max{n₀, ⌈c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⌉} + 1 保证是整数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1872" y="39604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23722" y="4002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62862" y="3973830"/>
              <a:ext cx="2901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事后测试的英文应为 a posteriori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testing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5396" y="4591526"/>
              <a:ext cx="3808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原课件目录中的 2.4 基本数据结构标注为“略”，本讲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义同样没有展开。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4" name="Rectangle 4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728335"/>
              <a:ext cx="9740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复习时抓三条主线：判断是不是算法看五个特性；估时间看频率计数和最高次项；写算法用 SPARKS 的 ←、repeat、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procedure/end 结构。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第2章 算法导引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2">
  <a:themeElements>
    <a:clrScheme name="algo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2026-09-19T02:48:53Z</dcterms:created>
  <dcterms:modified xsi:type="dcterms:W3CDTF">2026-09-19T02:48:53Z</dcterms:modified>
  <cp:category/>
  <cp:contentStatus/>
</cp:coreProperties>
</file>