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lgo_ch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lgo_ch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f266a5dfa97f9e9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074b135da8fd503b.png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8869ecc2434cf0ec.png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4632198" cy="3437763"/>
            <a:chOff x="666750" y="1619250"/>
            <a:chExt cx="463219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1986915" cy="3429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802035" y="1718310"/>
              <a:ext cx="175444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算法设计与分析 · 第2章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2299716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算法导引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62229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什么是算法，怎样分析快慢，怎样写出算法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算法的五个特性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频率计数与三种情况时间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5169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O、Ω、Θ 渐近表示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61368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SPARKS 伪代码语言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491495" cy="205359"/>
            <a:chOff x="680466" y="6192202"/>
            <a:chExt cx="4491495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49149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自学复习版｜据吉林大学《算法设计与分析》第2章课件整理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46101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55269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定义、五个特性、计算过程与算法、问题求解过程、学习算法的五项内容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分析算法的准备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最坏、最好、平均情况时间，基本运算，频率计数与数量级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计算时间的渐近表示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85008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定义2.1~2.3 的 O、Ω、Θ，运算性质，定理2.1，函数增长对比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246011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求和、证明与性能分布图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整数求和公式、数学归纳法、递推式、事后测试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231058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SPARKS 语言写算法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38506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数据类型、控制语句、过程定义、MAX 过程的分析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3800475"/>
            <a:chOff x="7114222" y="1524000"/>
            <a:chExt cx="4544378" cy="380047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3800475"/>
            </a:xfrm>
            <a:prstGeom prst="roundRect">
              <a:avLst>
                <a:gd name="adj" fmla="val 35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5337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说出算法的五个特性，并判断一个计算过程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是不是算法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27946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2731770"/>
              <a:ext cx="3444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数出程序段中各语句的频率计数，写出最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坏、最好和平均情况时间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4156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352800"/>
              <a:ext cx="34251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按定义找出 c 和 n₀，证明或否定 f(n)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O(g(n))、Ω(g(n))、Θ(g(n))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0366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397383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把常见时间函数按数量级排序，估算规模增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大时运行时间的变化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65772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594860"/>
              <a:ext cx="3701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读写 SPARKS 伪代码，分析 MAX 过程的比较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次数和赋值次数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468237" cy="3351847"/>
            <a:chOff x="667512" y="1835468"/>
            <a:chExt cx="646823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00584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4583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先弄清什么样的规则才算算法，再看解决一个问题要经过哪些环节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42830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2.1 什么是算法与五个特性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计算过程与算法的区别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问题的求解过程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算法学习的五项基本内容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算法：解决一类问题的一组有穷规则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card-1"/>
          <p:cNvGrpSpPr/>
          <p:nvPr/>
        </p:nvGrpSpPr>
        <p:grpSpPr>
          <a:xfrm>
            <a:off x="533400" y="1524000"/>
            <a:ext cx="6059805" cy="1894522"/>
            <a:chOff x="533400" y="1524000"/>
            <a:chExt cx="6059805" cy="189452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894522"/>
            </a:xfrm>
            <a:prstGeom prst="roundRect">
              <a:avLst>
                <a:gd name="adj" fmla="val 70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2782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17183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算法（Algorithm）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算法是解决一确定类问题的任意一种特殊的方法。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439829"/>
              <a:ext cx="525335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Knuth 给出的非形式描述：算法就是一组有穷的规则，它规定了解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决某一特定类型问题的一系列运算。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9239" y="3027045"/>
              <a:ext cx="550468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三个关键词：一类问题（不是某一组具体数据）、有穷的规则、一系列运算。</a:t>
              </a:r>
            </a:p>
          </p:txBody>
        </p:sp>
      </p:grpSp>
      <p:grpSp>
        <p:nvGrpSpPr>
          <p:cNvPr id="31" name="c1-table-2"/>
          <p:cNvGrpSpPr/>
          <p:nvPr/>
        </p:nvGrpSpPr>
        <p:grpSpPr>
          <a:xfrm>
            <a:off x="533400" y="3604260"/>
            <a:ext cx="6059805" cy="1717358"/>
            <a:chOff x="533400" y="3604260"/>
            <a:chExt cx="6059805" cy="1717358"/>
          </a:xfrm>
        </p:grpSpPr>
        <p:sp>
          <p:nvSpPr>
            <p:cNvPr id="16" name="Rectangle 16"/>
            <p:cNvSpPr/>
            <p:nvPr/>
          </p:nvSpPr>
          <p:spPr>
            <a:xfrm>
              <a:off x="533400" y="3604260"/>
              <a:ext cx="6059805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1092518" y="373475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类别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668524" y="3734752"/>
              <a:ext cx="81991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求解的问题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213032" y="3734752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38746" y="427196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数值计算方法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93214" y="4271962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求解数值问题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74439" y="4165282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插值计算、数值积分、解线性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方程组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67296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677728"/>
              <a:ext cx="6059805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8746" y="4915852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非数值计算方法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093214" y="4809172"/>
              <a:ext cx="18409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求解非数值问题，主要进行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判断和比较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74439" y="4809172"/>
              <a:ext cx="19933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排序、查找、求最大值、最短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路径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604260"/>
              <a:ext cx="6059805" cy="171735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983105" y="3604260"/>
              <a:ext cx="9525" cy="17173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164330" y="3604260"/>
              <a:ext cx="9525" cy="171735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4" name="c2-image-1"/>
          <p:cNvGrpSpPr/>
          <p:nvPr/>
        </p:nvGrpSpPr>
        <p:grpSpPr>
          <a:xfrm>
            <a:off x="6898005" y="1524000"/>
            <a:ext cx="4760595" cy="4174332"/>
            <a:chOff x="6898005" y="1524000"/>
            <a:chExt cx="4760595" cy="4174332"/>
          </a:xfrm>
        </p:grpSpPr>
        <p:pic>
          <p:nvPicPr>
            <p:cNvPr id="32" name="Image 32"/>
            <p:cNvPicPr>
              <a:picLocks noChangeAspect="1"/>
            </p:cNvPicPr>
            <p:nvPr/>
          </p:nvPicPr>
          <p:blipFill>
            <a:blip r:embed="rId2"/>
            <a:srcRect l="3745" t="0" r="3745" b="0"/>
            <a:stretch>
              <a:fillRect/>
            </a:stretch>
          </p:blipFill>
          <p:spPr>
            <a:xfrm>
              <a:off x="6898005" y="1524000"/>
              <a:ext cx="4760595" cy="3859530"/>
            </a:xfrm>
            <a:prstGeom prst="roundRect">
              <a:avLst>
                <a:gd name="adj" fmla="val 3455"/>
              </a:avLst>
            </a:prstGeom>
          </p:spPr>
        </p:pic>
        <p:sp>
          <p:nvSpPr>
            <p:cNvPr id="33" name="TextBox 33"/>
            <p:cNvSpPr txBox="1"/>
            <p:nvPr/>
          </p:nvSpPr>
          <p:spPr>
            <a:xfrm>
              <a:off x="7086359" y="5478304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菜谱也是一组有穷规则：给定食材，按确定的步骤操作，得到成品</a:t>
              </a:r>
            </a:p>
          </p:txBody>
        </p:sp>
      </p:grpSp>
      <p:grpSp>
        <p:nvGrpSpPr>
          <p:cNvPr id="41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35" name="Rectangle 35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38188" y="6003608"/>
              <a:ext cx="200026" cy="200025"/>
              <a:chOff x="738188" y="6003608"/>
              <a:chExt cx="200026" cy="200025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738188" y="600360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77926" y="604805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12642" y="615918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6004084"/>
              <a:ext cx="1003128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算法面向一类问题：求最大公约数的算法要对任意一对正整数都给出正确结果，只会算 gcd(48, 18) 的一串步骤不够。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5123" cy="909257"/>
            <a:chOff x="520446" y="342900"/>
            <a:chExt cx="517512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512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五个特性：同时满足才能称为算法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6" name="c1-table-1"/>
          <p:cNvGrpSpPr/>
          <p:nvPr/>
        </p:nvGrpSpPr>
        <p:grpSpPr>
          <a:xfrm>
            <a:off x="533400" y="1524000"/>
            <a:ext cx="11125200" cy="3992880"/>
            <a:chOff x="533400" y="1524000"/>
            <a:chExt cx="11125200" cy="39928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8768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81125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特性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662488" y="166306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865870" y="1663065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反例或说明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40080" y="2150745"/>
              <a:ext cx="1235393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确定性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Definiteness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753677" y="228409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每一种运算都有确切的定义，无二义性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203758" y="2150745"/>
              <a:ext cx="399669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反例：“计算 5/0”没有定义结果；“把 6 或 7 与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相加”不知道加哪一个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761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766060"/>
              <a:ext cx="11125200" cy="7543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40080" y="2905125"/>
              <a:ext cx="1395412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能行性</a:t>
              </a:r>
              <a:br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Effectiveness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753677" y="2905125"/>
              <a:ext cx="4015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运算都是基本运算，原理上能用纸和笔在有限时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间内完成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203758" y="3038475"/>
              <a:ext cx="34076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反例：“写出 √2 的全部小数位”做不完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1567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40080" y="3792855"/>
              <a:ext cx="101949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 Input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753677" y="3659505"/>
              <a:ext cx="40443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 0 个或多个输入，开始前从特定的对象集合中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取值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203758" y="3659505"/>
              <a:ext cx="4044315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gcd 的输入取自正整数；“打印 1 到 100”没有输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42700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4274820"/>
              <a:ext cx="11125200" cy="48768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40080" y="4413885"/>
              <a:ext cx="12324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 Output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753677" y="4413885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有一个或多个输出，输出和输入有特定的关系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03758" y="4413885"/>
              <a:ext cx="363988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gcd 的输出必须是两个输入的最大公约数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75773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42925" y="4772025"/>
              <a:ext cx="2094548" cy="73533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0080" y="5034915"/>
              <a:ext cx="175113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有穷性 Finiteness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753677" y="503491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在执行了有穷步运算后终止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03758" y="4901565"/>
              <a:ext cx="4015740" cy="560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原课件批注：理论上有限还不够，要在现代计算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机上能有效完成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33400" y="1524000"/>
              <a:ext cx="11125200" cy="39928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2642235" y="1524000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092315" y="1524000"/>
              <a:ext cx="9525" cy="39928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3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37" name="Rectangle 37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1040130" y="5991225"/>
              <a:ext cx="91626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易错：输入可以是 0 个，输出至少要有 1 个；要算几百年才停的过程理论上有穷，实践中同样没有用。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补充例：用欧几里得算法对照五个特性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760595" cy="2088832"/>
            <a:chOff x="533400" y="1524000"/>
            <a:chExt cx="4760595" cy="20888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2088832"/>
            </a:xfrm>
            <a:prstGeom prst="roundRect">
              <a:avLst>
                <a:gd name="adj" fmla="val 456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263471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EUCLID(m, n)：求两个正整数的最大公约数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797" y="1935956"/>
              <a:ext cx="1515872" cy="16003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EUCLID(m, n)</a:t>
              </a:r>
              <a:br/>
              <a:r>
                <a:rPr lang="zh-CN" sz="98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m、n 为正整数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while n ≠ 0 do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 ← m mod 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m ← 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n ← r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return (m)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EUCLID</a:t>
              </a:r>
            </a:p>
          </p:txBody>
        </p:sp>
      </p:grpSp>
      <p:grpSp>
        <p:nvGrpSpPr>
          <p:cNvPr id="37" name="c1-table-2"/>
          <p:cNvGrpSpPr/>
          <p:nvPr/>
        </p:nvGrpSpPr>
        <p:grpSpPr>
          <a:xfrm>
            <a:off x="528447" y="3782378"/>
            <a:ext cx="4765548" cy="1864708"/>
            <a:chOff x="528447" y="3782378"/>
            <a:chExt cx="4765548" cy="1864708"/>
          </a:xfrm>
        </p:grpSpPr>
        <p:sp>
          <p:nvSpPr>
            <p:cNvPr id="11" name="Rectangle 11"/>
            <p:cNvSpPr/>
            <p:nvPr/>
          </p:nvSpPr>
          <p:spPr>
            <a:xfrm>
              <a:off x="533400" y="3782378"/>
              <a:ext cx="476059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29361" y="390382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轮次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066613" y="3903821"/>
              <a:ext cx="1301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m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067329" y="39038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014867" y="3903821"/>
              <a:ext cx="874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r ← m mod 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36599" y="43038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43054" y="430387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027939" y="430387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63344" y="430387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457771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4582478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036599" y="470392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2043054" y="470392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27939" y="470392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04807" y="470392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97776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1036599" y="510397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043054" y="5103971"/>
              <a:ext cx="177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69402" y="51039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3618548" y="4992052"/>
              <a:ext cx="1665922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4404807" y="510397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3782378"/>
              <a:ext cx="476059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1634490" y="378237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2619375" y="378237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604260" y="3782378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28447" y="5456396"/>
              <a:ext cx="25495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gcd(48, 18)：第 3 轮后 n = 0，返回 m = 6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5598795" y="1524000"/>
            <a:ext cx="6059805" cy="2400300"/>
            <a:chOff x="5598795" y="1524000"/>
            <a:chExt cx="6059805" cy="2400300"/>
          </a:xfrm>
        </p:grpSpPr>
        <p:sp>
          <p:nvSpPr>
            <p:cNvPr id="38" name="Rectangle 38"/>
            <p:cNvSpPr/>
            <p:nvPr/>
          </p:nvSpPr>
          <p:spPr>
            <a:xfrm>
              <a:off x="5598795" y="1524000"/>
              <a:ext cx="605980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5988088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特性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486554" y="1645444"/>
              <a:ext cx="13758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在 EUCLID 中的体现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5695950" y="20454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确定性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786562" y="204549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取余、赋值、比较都只有唯一结果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598795" y="23193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598795" y="23241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695950" y="24455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能行性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786562" y="2445544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整数除法取余可以用纸和笔完成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598795" y="27193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695950" y="28455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786562" y="2845594"/>
              <a:ext cx="1157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两个正整数 m、n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311943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598795" y="312420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695950" y="32456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786562" y="3245644"/>
              <a:ext cx="20016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一个值：m 与 n 的最大公约数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598795" y="35194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5695950" y="36456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有穷性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786562" y="3645694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新的 n 是余数 r &lt; n，严格变小，必然变成 0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5598795" y="1524000"/>
              <a:ext cx="6059805" cy="24003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684645" y="1524000"/>
              <a:ext cx="9525" cy="24003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c2-card-2"/>
          <p:cNvGrpSpPr/>
          <p:nvPr/>
        </p:nvGrpSpPr>
        <p:grpSpPr>
          <a:xfrm>
            <a:off x="5598795" y="4093845"/>
            <a:ext cx="6059805" cy="1514475"/>
            <a:chOff x="5598795" y="4093845"/>
            <a:chExt cx="6059805" cy="1514475"/>
          </a:xfrm>
        </p:grpSpPr>
        <p:sp>
          <p:nvSpPr>
            <p:cNvPr id="60" name="Rectangle 60"/>
            <p:cNvSpPr/>
            <p:nvPr/>
          </p:nvSpPr>
          <p:spPr>
            <a:xfrm>
              <a:off x="5598795" y="4093845"/>
              <a:ext cx="6059805" cy="1514475"/>
            </a:xfrm>
            <a:prstGeom prst="roundRect">
              <a:avLst>
                <a:gd name="adj" fmla="val 880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5608320" y="4227195"/>
              <a:ext cx="47625" cy="124777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5823585" y="4280535"/>
              <a:ext cx="1081088" cy="23812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5897905" y="4313396"/>
              <a:ext cx="9333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正确性与复杂度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5832158" y="468153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5988177" y="4625340"/>
              <a:ext cx="5456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正确性：gcd(m, n) = gcd(n, m mod n)，两对数的公因数完全相同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5832158" y="498157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5988177" y="4925378"/>
              <a:ext cx="54015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复杂度：每两轮 n 至少减半，循环不超过 2log₂n + 1 轮，O(log n)</a:t>
              </a:r>
            </a:p>
          </p:txBody>
        </p:sp>
      </p:grpSp>
      <p:grpSp>
        <p:nvGrpSpPr>
          <p:cNvPr id="75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9" name="Rectangle 6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3" name="Group 73"/>
            <p:cNvGrpSpPr/>
            <p:nvPr/>
          </p:nvGrpSpPr>
          <p:grpSpPr>
            <a:xfrm>
              <a:off x="738188" y="6022658"/>
              <a:ext cx="200026" cy="200025"/>
              <a:chOff x="738188" y="6022658"/>
              <a:chExt cx="200026" cy="200025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2265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777926" y="606710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2" name="Freeform 72"/>
              <p:cNvSpPr/>
              <p:nvPr/>
            </p:nvSpPr>
            <p:spPr>
              <a:xfrm>
                <a:off x="812642" y="617823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4" name="TextBox 74"/>
            <p:cNvSpPr txBox="1"/>
            <p:nvPr/>
          </p:nvSpPr>
          <p:spPr>
            <a:xfrm>
              <a:off x="1040892" y="6028373"/>
              <a:ext cx="58020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m &lt; n 时第一轮只是交换两个数：gcd(18, 48) 要 4 轮，结果同样是 6。</a:t>
              </a:r>
            </a:p>
          </p:txBody>
        </p:sp>
      </p:grpSp>
      <p:grpSp>
        <p:nvGrpSpPr>
          <p:cNvPr id="7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6" name="TextBox 7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518404" cy="909257"/>
            <a:chOff x="520446" y="342900"/>
            <a:chExt cx="551840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51840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计算过程可以不终止，算法必须终止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3" name="c1-compare-1"/>
          <p:cNvGrpSpPr/>
          <p:nvPr/>
        </p:nvGrpSpPr>
        <p:grpSpPr>
          <a:xfrm>
            <a:off x="533400" y="1524000"/>
            <a:ext cx="5410200" cy="2225040"/>
            <a:chOff x="533400" y="1524000"/>
            <a:chExt cx="5410200" cy="222504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495550" cy="2225040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95834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773430" y="17583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计算过程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8676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44880" y="2112645"/>
              <a:ext cx="1758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可以不满足第 5 条有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穷性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86765" y="27965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44880" y="2733675"/>
              <a:ext cx="1729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例：操作系统没有任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务时并不终止，而是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等待新任务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48050" y="1524000"/>
              <a:ext cx="2495550" cy="2225040"/>
            </a:xfrm>
            <a:prstGeom prst="roundRect">
              <a:avLst>
                <a:gd name="adj" fmla="val 5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3457575" y="1657350"/>
              <a:ext cx="47625" cy="1958340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3688080" y="1758315"/>
              <a:ext cx="419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3701415" y="217551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859530" y="21126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五个特性全部满足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3701415" y="251079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859530" y="2447925"/>
              <a:ext cx="172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对每个合法输入都在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有穷步后停下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3076575" y="2474595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146915" y="257079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3939540"/>
            <a:ext cx="5410200" cy="1930718"/>
            <a:chOff x="533400" y="3939540"/>
            <a:chExt cx="5410200" cy="1930718"/>
          </a:xfrm>
        </p:grpSpPr>
        <p:sp>
          <p:nvSpPr>
            <p:cNvPr id="24" name="Rectangle 24"/>
            <p:cNvSpPr/>
            <p:nvPr/>
          </p:nvSpPr>
          <p:spPr>
            <a:xfrm>
              <a:off x="533400" y="3939540"/>
              <a:ext cx="5410200" cy="1930718"/>
            </a:xfrm>
            <a:prstGeom prst="roundRect">
              <a:avLst>
                <a:gd name="adj" fmla="val 6907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42950" y="4149090"/>
              <a:ext cx="1158240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08969" y="4184809"/>
              <a:ext cx="10262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Niklaus Wirth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07870" y="4184332"/>
              <a:ext cx="21183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程序 = 算法 + 数据结构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35330" y="454533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数据结构决定数据怎样组织和存取，算法决定对这些数据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做哪些运算，两者合起来才构成程序。</a:t>
              </a:r>
            </a:p>
          </p:txBody>
        </p:sp>
      </p:grpSp>
      <p:grpSp>
        <p:nvGrpSpPr>
          <p:cNvPr id="58" name="c2-table-1"/>
          <p:cNvGrpSpPr/>
          <p:nvPr/>
        </p:nvGrpSpPr>
        <p:grpSpPr>
          <a:xfrm>
            <a:off x="6248400" y="1524000"/>
            <a:ext cx="5410200" cy="3372802"/>
            <a:chOff x="6248400" y="1524000"/>
            <a:chExt cx="5410200" cy="3372802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04306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过程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33188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是算法吗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23584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56223" y="2221706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操作系统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590356" y="22217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77540" y="2108359"/>
              <a:ext cx="212623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没有任务时进入等待状态，不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26431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48400" y="2647950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56223" y="2783681"/>
              <a:ext cx="144317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Web 服务器主循环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590356" y="278368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277540" y="278368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一直等待并处理新请求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48400" y="30927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356223" y="3232309"/>
              <a:ext cx="140731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洗发说明“涂抹、冲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洗、重复”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590356" y="334565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277540" y="3345656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没有终止条件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248400" y="376809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248400" y="3772852"/>
              <a:ext cx="5410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56223" y="3907631"/>
              <a:ext cx="16872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EUCLID 求最大公约数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590356" y="390763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77540" y="390763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余数严格变小，必然停止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248400" y="421671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356223" y="4357211"/>
              <a:ext cx="1509725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 n 个元素中顺序查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 x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8590356" y="447055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9277540" y="4470559"/>
              <a:ext cx="107268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最多比较 n 次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248400" y="1524000"/>
              <a:ext cx="5410200" cy="337280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8191500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164955" y="1524000"/>
              <a:ext cx="9525" cy="337280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2-callout-2"/>
          <p:cNvGrpSpPr/>
          <p:nvPr/>
        </p:nvGrpSpPr>
        <p:grpSpPr>
          <a:xfrm>
            <a:off x="6248400" y="5087302"/>
            <a:ext cx="5410200" cy="782955"/>
            <a:chOff x="6248400" y="5087302"/>
            <a:chExt cx="5410200" cy="782955"/>
          </a:xfrm>
        </p:grpSpPr>
        <p:sp>
          <p:nvSpPr>
            <p:cNvPr id="59" name="Rectangle 59"/>
            <p:cNvSpPr/>
            <p:nvPr/>
          </p:nvSpPr>
          <p:spPr>
            <a:xfrm>
              <a:off x="6248400" y="5087302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6453188" y="5378768"/>
              <a:ext cx="200026" cy="200025"/>
              <a:chOff x="6453188" y="5378768"/>
              <a:chExt cx="200026" cy="200025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6453188" y="537876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6492926" y="542321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527642" y="553434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6755130" y="5235892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判断一个过程是不是算法，先问：对任意合法输入，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它一定会停下来吗？</a:t>
              </a:r>
            </a:p>
          </p:txBody>
        </p:sp>
      </p:grpSp>
      <p:grpSp>
        <p:nvGrpSpPr>
          <p:cNvPr id="6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6" name="TextBox 6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51214" cy="909257"/>
            <a:chOff x="520446" y="342900"/>
            <a:chExt cx="895121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5121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问题的求解过程：设计、证明、分析，不满意就回到选策略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flow-1"/>
          <p:cNvGrpSpPr/>
          <p:nvPr/>
        </p:nvGrpSpPr>
        <p:grpSpPr>
          <a:xfrm>
            <a:off x="1052512" y="1664018"/>
            <a:ext cx="4702493" cy="3793808"/>
            <a:chOff x="1052512" y="1664018"/>
            <a:chExt cx="4702493" cy="3793808"/>
          </a:xfrm>
        </p:grpSpPr>
        <p:sp>
          <p:nvSpPr>
            <p:cNvPr id="7" name="Freeform 7"/>
            <p:cNvSpPr/>
            <p:nvPr/>
          </p:nvSpPr>
          <p:spPr>
            <a:xfrm>
              <a:off x="4429125" y="2063115"/>
              <a:ext cx="9525" cy="85725"/>
            </a:xfrm>
            <a:custGeom>
              <a:avLst/>
              <a:gdLst/>
              <a:ahLst/>
              <a:cxnLst/>
              <a:rect l="l" t="t" r="r" b="b"/>
              <a:pathLst>
                <a:path w="9525" h="85725">
                  <a:moveTo>
                    <a:pt x="0" y="0"/>
                  </a:moveTo>
                  <a:lnTo>
                    <a:pt x="0" y="8572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4376738" y="21488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4429125" y="2830830"/>
              <a:ext cx="9525" cy="86678"/>
            </a:xfrm>
            <a:custGeom>
              <a:avLst/>
              <a:gdLst/>
              <a:ahLst/>
              <a:cxnLst/>
              <a:rect l="l" t="t" r="r" b="b"/>
              <a:pathLst>
                <a:path w="9525" h="86678">
                  <a:moveTo>
                    <a:pt x="0" y="0"/>
                  </a:moveTo>
                  <a:lnTo>
                    <a:pt x="0" y="86678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4376738" y="291750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4429125" y="3420428"/>
              <a:ext cx="9525" cy="176212"/>
            </a:xfrm>
            <a:custGeom>
              <a:avLst/>
              <a:gdLst/>
              <a:ahLst/>
              <a:cxnLst/>
              <a:rect l="l" t="t" r="r" b="b"/>
              <a:pathLst>
                <a:path w="9525" h="176212">
                  <a:moveTo>
                    <a:pt x="0" y="0"/>
                  </a:moveTo>
                  <a:lnTo>
                    <a:pt x="0" y="176212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376738" y="359664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429125" y="4099560"/>
              <a:ext cx="9525" cy="175260"/>
            </a:xfrm>
            <a:custGeom>
              <a:avLst/>
              <a:gdLst/>
              <a:ahLst/>
              <a:cxnLst/>
              <a:rect l="l" t="t" r="r" b="b"/>
              <a:pathLst>
                <a:path w="9525" h="175260">
                  <a:moveTo>
                    <a:pt x="0" y="0"/>
                  </a:moveTo>
                  <a:lnTo>
                    <a:pt x="0" y="1752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376738" y="427482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4429125" y="4778692"/>
              <a:ext cx="9525" cy="175260"/>
            </a:xfrm>
            <a:custGeom>
              <a:avLst/>
              <a:gdLst/>
              <a:ahLst/>
              <a:cxnLst/>
              <a:rect l="l" t="t" r="r" b="b"/>
              <a:pathLst>
                <a:path w="9525" h="175260">
                  <a:moveTo>
                    <a:pt x="0" y="0"/>
                  </a:moveTo>
                  <a:lnTo>
                    <a:pt x="0" y="17526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376738" y="495395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052512" y="2542222"/>
              <a:ext cx="2259330" cy="1358265"/>
            </a:xfrm>
            <a:custGeom>
              <a:avLst/>
              <a:gdLst/>
              <a:ahLst/>
              <a:cxnLst/>
              <a:rect l="l" t="t" r="r" b="b"/>
              <a:pathLst>
                <a:path w="2259330" h="1358265">
                  <a:moveTo>
                    <a:pt x="2259330" y="1358265"/>
                  </a:moveTo>
                  <a:lnTo>
                    <a:pt x="2049780" y="1358265"/>
                  </a:lnTo>
                  <a:lnTo>
                    <a:pt x="0" y="1358265"/>
                  </a:lnTo>
                  <a:lnTo>
                    <a:pt x="0" y="1344930"/>
                  </a:lnTo>
                  <a:lnTo>
                    <a:pt x="0" y="0"/>
                  </a:lnTo>
                  <a:lnTo>
                    <a:pt x="2049780" y="0"/>
                  </a:lnTo>
                  <a:lnTo>
                    <a:pt x="215455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3207068" y="24898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5545455" y="2542222"/>
              <a:ext cx="209550" cy="2037398"/>
            </a:xfrm>
            <a:custGeom>
              <a:avLst/>
              <a:gdLst/>
              <a:ahLst/>
              <a:cxnLst/>
              <a:rect l="l" t="t" r="r" b="b"/>
              <a:pathLst>
                <a:path w="209550" h="2037398">
                  <a:moveTo>
                    <a:pt x="0" y="2037398"/>
                  </a:moveTo>
                  <a:lnTo>
                    <a:pt x="209550" y="2037398"/>
                  </a:lnTo>
                  <a:lnTo>
                    <a:pt x="20955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5545455" y="24898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3311842" y="1664018"/>
              <a:ext cx="2233612" cy="399098"/>
            </a:xfrm>
            <a:prstGeom prst="roundRect">
              <a:avLst>
                <a:gd name="adj" fmla="val 49881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311842" y="2253615"/>
              <a:ext cx="2233612" cy="578168"/>
            </a:xfrm>
            <a:prstGeom prst="roundRect">
              <a:avLst>
                <a:gd name="adj" fmla="val 16474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3311842" y="3022282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311842" y="3701415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3311842" y="4379595"/>
              <a:ext cx="2233612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311842" y="5058728"/>
              <a:ext cx="2233612" cy="399098"/>
            </a:xfrm>
            <a:prstGeom prst="roundRect">
              <a:avLst>
                <a:gd name="adj" fmla="val 49881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121861" y="178450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理解问题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69970" y="2367439"/>
              <a:ext cx="171831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选择数据结构和算法设计策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121861" y="314277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设计算法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46474" y="382190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证明正确性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121861" y="450103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分析算法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121861" y="518017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设计程序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1843088" y="3693795"/>
              <a:ext cx="468630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874558" y="3719036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证不出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82578" y="3475672"/>
              <a:ext cx="34385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5429047" y="349996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太慢</a:t>
              </a:r>
            </a:p>
          </p:txBody>
        </p:sp>
      </p:grpSp>
      <p:grpSp>
        <p:nvGrpSpPr>
          <p:cNvPr id="63" name="c2-steps-1"/>
          <p:cNvGrpSpPr/>
          <p:nvPr/>
        </p:nvGrpSpPr>
        <p:grpSpPr>
          <a:xfrm>
            <a:off x="6032182" y="1533525"/>
            <a:ext cx="4141404" cy="3454242"/>
            <a:chOff x="6032182" y="1533525"/>
            <a:chExt cx="4141404" cy="3454242"/>
          </a:xfrm>
        </p:grpSpPr>
        <p:sp>
          <p:nvSpPr>
            <p:cNvPr id="38" name="Rectangle 38"/>
            <p:cNvSpPr/>
            <p:nvPr/>
          </p:nvSpPr>
          <p:spPr>
            <a:xfrm>
              <a:off x="6165532" y="1676400"/>
              <a:ext cx="19050" cy="293465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6032182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125806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032182" y="212026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25806" y="219408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032182" y="270700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125806" y="278082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032182" y="329469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125806" y="336851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7" name="Ellipse 47"/>
            <p:cNvSpPr/>
            <p:nvPr/>
          </p:nvSpPr>
          <p:spPr>
            <a:xfrm>
              <a:off x="6032182" y="388143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125806" y="395525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032182" y="446817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25806" y="45419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444424" y="1564957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理解问题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45567" y="183308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弄清输入、输出和约束，举几个小实例手算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444424" y="21526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选择数据结构和策略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445567" y="2419826"/>
              <a:ext cx="3728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分治、贪心、动态规划、回溯、分支限界等（第4~8章）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44424" y="273939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设计算法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445567" y="3006566"/>
              <a:ext cx="19897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SPARKS 等伪代码写出步骤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44424" y="332613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证明正确性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45567" y="3593306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说明算法对所有合法输入都给出正确答案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444424" y="39128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分析算法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445567" y="4180999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定量估计所需的计算时间和存储空间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444424" y="449961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设计程序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445567" y="4767739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用具体程序设计语言实现，再测试</a:t>
              </a:r>
            </a:p>
          </p:txBody>
        </p:sp>
      </p:grpSp>
      <p:grpSp>
        <p:nvGrpSpPr>
          <p:cNvPr id="6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4" name="Rectangle 64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892" y="6023610"/>
              <a:ext cx="105726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原课件流程图中，设计、证明、分析三个环节都有箭头回到“选择数据结构和算法设计策略”：证明不了或效率太低时要换思路重做。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学习算法的五项基本内容，本课程重点是设计和分析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7" name="c1-table-1"/>
          <p:cNvGrpSpPr/>
          <p:nvPr/>
        </p:nvGrpSpPr>
        <p:grpSpPr>
          <a:xfrm>
            <a:off x="533400" y="1524000"/>
            <a:ext cx="11125200" cy="4108132"/>
            <a:chOff x="533400" y="1524000"/>
            <a:chExt cx="11125200" cy="410813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481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34440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52266" y="165163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要解决的问题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506968" y="16516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主要方法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42925" y="1978342"/>
              <a:ext cx="1761172" cy="90582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32270" y="2336482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如何设计算法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412492" y="233648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面对具体问题，规划出算法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194870" y="2096452"/>
              <a:ext cx="5157216" cy="7440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运用被实践证明有用的基本设计策略。这些策略来自计算机科学、运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筹学、电气工程等领域，已设计出很多精致有效的好算法，掌握它们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才能设计出更多好算法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28889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3400" y="2893695"/>
              <a:ext cx="11125200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2270" y="314134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如何表示算法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12492" y="3141345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把设计好的算法用恰当的方式写出来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194870" y="3021330"/>
              <a:ext cx="5140071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采用结构化程序设计的方式；本课程用简单明了的 SPARKS 语言（第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五部分）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35728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2270" y="394620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如何确认算法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412492" y="3706177"/>
              <a:ext cx="3391281" cy="7440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算法确认（algorithm validation）：证明算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法对所有可能的合法输入都能给出正确答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案，确保它正确无误地工作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194870" y="3946208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穷举法；推理（数学归纳法、反证法）；构造性证明；测试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44977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4502468"/>
              <a:ext cx="11125200" cy="68484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4511992"/>
              <a:ext cx="1761172" cy="66579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32270" y="475107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如何分析算法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412492" y="4631055"/>
              <a:ext cx="3314128" cy="5040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执行算法要占用多少 CPU 时间、多少存储空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间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194870" y="475107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对计算时间和存储空间作定量分析（第二至四部分）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518255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2270" y="531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如何测试程序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412492" y="53149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程序在实际数据上是否正确、实际快慢如何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94870" y="53149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调试；作时空分布图（下一页）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533400" y="1524000"/>
              <a:ext cx="11125200" cy="410813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2308860" y="1524000"/>
              <a:ext cx="9525" cy="41081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091238" y="1524000"/>
              <a:ext cx="9525" cy="410813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4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8" name="Rectangle 38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2" name="Group 42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3" name="TextBox 43"/>
            <p:cNvSpPr txBox="1"/>
            <p:nvPr/>
          </p:nvSpPr>
          <p:spPr>
            <a:xfrm>
              <a:off x="1040892" y="6023610"/>
              <a:ext cx="74376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原课件把“如何设计算法”和“如何分析算法”标为重点，后续第4~9章基本都围绕这两项展开。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0307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809" y="407194"/>
              <a:ext cx="1534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调试只能指出有错误，不能证明没有错误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0" name="c1-card-1"/>
          <p:cNvGrpSpPr/>
          <p:nvPr/>
        </p:nvGrpSpPr>
        <p:grpSpPr>
          <a:xfrm>
            <a:off x="533400" y="1524000"/>
            <a:ext cx="5626418" cy="3933825"/>
            <a:chOff x="533400" y="1524000"/>
            <a:chExt cx="5626418" cy="39338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3933825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66712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6160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39202" y="1768792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测试全部通过，算法仍然是错的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81050" y="2105025"/>
              <a:ext cx="5169218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9447" y="22569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8685" y="2518886"/>
              <a:ext cx="3218942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BADMAX(A, 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xmax ← 0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错误的初值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A(i) &gt; xmax then xmax ← A(i)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return (xmax)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BADMAX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86765" y="421005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44880" y="4147185"/>
              <a:ext cx="317849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 A = (3, 8, 5)：返回 8，正确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86765" y="454533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44880" y="4482465"/>
              <a:ext cx="482288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 A = (−5, −2, −9)：返回 0，真正的最大值是 −2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4573" y="4814411"/>
              <a:ext cx="449148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测试数据只用了正数，错误没有暴露出来。正确写法是 xmax ←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A(1)。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464618" y="1524000"/>
            <a:ext cx="5193982" cy="1602105"/>
            <a:chOff x="6464618" y="1524000"/>
            <a:chExt cx="5193982" cy="1602105"/>
          </a:xfrm>
        </p:grpSpPr>
        <p:sp>
          <p:nvSpPr>
            <p:cNvPr id="21" name="Rectangle 21"/>
            <p:cNvSpPr/>
            <p:nvPr/>
          </p:nvSpPr>
          <p:spPr>
            <a:xfrm>
              <a:off x="6464618" y="1524000"/>
              <a:ext cx="5193982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74142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712268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80342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704648" y="2110740"/>
              <a:ext cx="43967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程序正确性的证明至今还没有取得突破性进展，大程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序很难靠证明保证正确，所以调试和测试仍然必不可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少。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464618" y="3316605"/>
            <a:ext cx="5193982" cy="2141220"/>
            <a:chOff x="6464618" y="3316605"/>
            <a:chExt cx="5193982" cy="2141220"/>
          </a:xfrm>
        </p:grpSpPr>
        <p:sp>
          <p:nvSpPr>
            <p:cNvPr id="27" name="Rectangle 27"/>
            <p:cNvSpPr/>
            <p:nvPr/>
          </p:nvSpPr>
          <p:spPr>
            <a:xfrm>
              <a:off x="6464618" y="3316605"/>
              <a:ext cx="5193982" cy="2141220"/>
            </a:xfrm>
            <a:prstGeom prst="roundRect">
              <a:avLst>
                <a:gd name="adj" fmla="val 62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4142" y="3449955"/>
              <a:ext cx="47625" cy="187452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712268" y="3526155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90626" y="356187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时空分布图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740015" y="3561398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调试之后要做的测试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6712267" y="390906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774117" y="39513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13258" y="392239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用各种给定数据执行调试后的程序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6712267" y="424434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774117" y="42866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013258" y="425767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测定计算时间和所用空间</a:t>
              </a:r>
            </a:p>
          </p:txBody>
        </p:sp>
        <p:sp>
          <p:nvSpPr>
            <p:cNvPr id="38" name="Ellipse 38"/>
            <p:cNvSpPr/>
            <p:nvPr/>
          </p:nvSpPr>
          <p:spPr>
            <a:xfrm>
              <a:off x="6712267" y="457962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774117" y="462191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13258" y="4592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印证之前的分析是否正确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712267" y="491490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774117" y="495719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13258" y="492823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指出最值得优化的逻辑位置</a:t>
              </a:r>
            </a:p>
          </p:txBody>
        </p:sp>
      </p:grpSp>
      <p:grpSp>
        <p:nvGrpSpPr>
          <p:cNvPr id="51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5" name="Rectangle 45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9" name="Group 49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0" name="TextBox 50"/>
            <p:cNvSpPr txBox="1"/>
            <p:nvPr/>
          </p:nvSpPr>
          <p:spPr>
            <a:xfrm>
              <a:off x="1040130" y="5991225"/>
              <a:ext cx="99401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设计测试数据时专门构造边界情况：全是负数、元素全相等、只有 1 个元素、最大值在第一个或最后一个位置。</a:t>
              </a:r>
            </a:p>
          </p:txBody>
        </p:sp>
      </p:grpSp>
      <p:grpSp>
        <p:nvGrpSpPr>
          <p:cNvPr id="5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2" name="TextBox 5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821424" cy="3351847"/>
            <a:chOff x="667512" y="1835468"/>
            <a:chExt cx="682142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682142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分析算法：准备工作与频率计数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01408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先定下计算模型、运算和数据集，再数每条语句执行了多少次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0340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2.2 算法分析的目的与计算机模型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最坏、最好、平均情况的时间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基本运算与复杂运算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频率计数与算法的数量级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算法分析：定量估算时间和空间，用来比较不同算法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9" name="c1-card-1"/>
          <p:cNvGrpSpPr/>
          <p:nvPr/>
        </p:nvGrpSpPr>
        <p:grpSpPr>
          <a:xfrm>
            <a:off x="533400" y="1524000"/>
            <a:ext cx="5626418" cy="1877378"/>
            <a:chOff x="533400" y="1524000"/>
            <a:chExt cx="5626418" cy="18773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1877378"/>
            </a:xfrm>
            <a:prstGeom prst="roundRect">
              <a:avLst>
                <a:gd name="adj" fmla="val 71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1067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7597" y="1756410"/>
              <a:ext cx="31650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算法分析（analysis of algorithms）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57047" y="209073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对一个算法需要多少计算时间和存储空间作定量的分析。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72478" y="244887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28497" y="239268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目的一：确定算法在什么样的环境下能够有效地运行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72478" y="275177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28497" y="2695575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目的二：对解决同一问题的不同算法的有效性作出比较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772478" y="305371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928497" y="2997518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要分别分析最好、最坏和平均情况下的执行情况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6542" y="3598545"/>
            <a:ext cx="5633276" cy="1059370"/>
            <a:chOff x="526542" y="3598545"/>
            <a:chExt cx="5633276" cy="1059370"/>
          </a:xfrm>
        </p:grpSpPr>
        <p:sp>
          <p:nvSpPr>
            <p:cNvPr id="20" name="TextBox 20"/>
            <p:cNvSpPr txBox="1"/>
            <p:nvPr/>
          </p:nvSpPr>
          <p:spPr>
            <a:xfrm>
              <a:off x="526542" y="3598545"/>
              <a:ext cx="4454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T(n)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86624" y="359854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算法的时间复杂性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388715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3996690"/>
              <a:ext cx="4454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S(n)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186624" y="399669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算法的空间复杂性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42852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542" y="4393882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186624" y="4393882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问题的规模</a:t>
              </a:r>
            </a:p>
          </p:txBody>
        </p:sp>
      </p:grpSp>
      <p:grpSp>
        <p:nvGrpSpPr>
          <p:cNvPr id="39" name="c1-card-3"/>
          <p:cNvGrpSpPr/>
          <p:nvPr/>
        </p:nvGrpSpPr>
        <p:grpSpPr>
          <a:xfrm>
            <a:off x="533400" y="4780598"/>
            <a:ext cx="5626418" cy="1535430"/>
            <a:chOff x="533400" y="4780598"/>
            <a:chExt cx="5626418" cy="1535430"/>
          </a:xfrm>
        </p:grpSpPr>
        <p:sp>
          <p:nvSpPr>
            <p:cNvPr id="29" name="Rectangle 29"/>
            <p:cNvSpPr/>
            <p:nvPr/>
          </p:nvSpPr>
          <p:spPr>
            <a:xfrm>
              <a:off x="533400" y="4780598"/>
              <a:ext cx="5626418" cy="1535430"/>
            </a:xfrm>
            <a:prstGeom prst="roundRect">
              <a:avLst>
                <a:gd name="adj" fmla="val 868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542925" y="4913948"/>
              <a:ext cx="47625" cy="126873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763905" y="497300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55345" y="500729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47597" y="501205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空间复杂性算哪些部分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772478" y="540258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928497" y="5346383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程序本身和输入数据占的空间，与算法设计关系不大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72478" y="570547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28497" y="5649278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算法运行时额外申请的辅助空间，才是比较算法时关心的部分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58190" y="5947886"/>
              <a:ext cx="38900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例：MAX 只用 xmax、i、j 三个变量，辅助空间是 O(1)。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464618" y="1524000"/>
            <a:ext cx="5193982" cy="2555558"/>
            <a:chOff x="6464618" y="1524000"/>
            <a:chExt cx="5193982" cy="2555558"/>
          </a:xfrm>
        </p:grpSpPr>
        <p:sp>
          <p:nvSpPr>
            <p:cNvPr id="40" name="Rectangle 40"/>
            <p:cNvSpPr/>
            <p:nvPr/>
          </p:nvSpPr>
          <p:spPr>
            <a:xfrm>
              <a:off x="6464618" y="1524000"/>
              <a:ext cx="5193982" cy="2555558"/>
            </a:xfrm>
            <a:prstGeom prst="roundRect">
              <a:avLst>
                <a:gd name="adj" fmla="val 521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74142" y="1657350"/>
              <a:ext cx="47625" cy="228885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695122" y="1716405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778562" y="1750695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计算模型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45514" y="175641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假定使用一台通用计算机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88264" y="209073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分析要独立于具体的软硬件环境，因此假定这台计算机：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6695122" y="238029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750801" y="24196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975920" y="239268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顺序处理每条指令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6695122" y="268319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750801" y="272157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975920" y="26955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存储容量足够大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6695122" y="298608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750801" y="302447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975920" y="2997518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存取时间恒定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689408" y="3297079"/>
              <a:ext cx="4541774" cy="635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这台假想机器也叫随机存取机器（RAM）模型。正因为存取时间恒定，分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析时才能把 A(i) 的读写算作 1 步；同一算法换到不同机器上只差常数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倍，数量级不变。</a:t>
              </a:r>
            </a:p>
          </p:txBody>
        </p:sp>
      </p:grpSp>
      <p:grpSp>
        <p:nvGrpSpPr>
          <p:cNvPr id="62" name="c2-card-2"/>
          <p:cNvGrpSpPr/>
          <p:nvPr/>
        </p:nvGrpSpPr>
        <p:grpSpPr>
          <a:xfrm>
            <a:off x="6464618" y="4253865"/>
            <a:ext cx="5193982" cy="2062162"/>
            <a:chOff x="6464618" y="4253865"/>
            <a:chExt cx="5193982" cy="2062162"/>
          </a:xfrm>
        </p:grpSpPr>
        <p:sp>
          <p:nvSpPr>
            <p:cNvPr id="57" name="Rectangle 57"/>
            <p:cNvSpPr/>
            <p:nvPr/>
          </p:nvSpPr>
          <p:spPr>
            <a:xfrm>
              <a:off x="6464618" y="4253865"/>
              <a:ext cx="5193982" cy="2062162"/>
            </a:xfrm>
            <a:prstGeom prst="roundRect">
              <a:avLst>
                <a:gd name="adj" fmla="val 64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474142" y="4387215"/>
              <a:ext cx="47625" cy="179546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695122" y="4446270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766560" y="448056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怎么说才算分析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688264" y="4803458"/>
              <a:ext cx="4531424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比较两个排序算法时，不说“在我的电脑上用了 0.3 秒”，而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说“比较次数是 n(n−1)/2”，这样的结论换台机器仍然成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1082131" cy="909257"/>
            <a:chOff x="520446" y="342900"/>
            <a:chExt cx="1108213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108213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最坏、最好、平均情况：对规模为 n 的全部实例取最大、最小、加权平均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14"/>
              <p:cNvSpPr txBox="1">
                <a:spLocks noGrp="1"/>
              </p:cNvSpPr>
              <p:nvPr/>
            </p:nvSpPr>
            <p:spPr>
              <a:xfrm>
                <a:off x="533400" y="1524000"/>
                <a:ext cx="5193982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{"/>
                              <m:sepChr m:val=""/>
                              <m:endChr m:val="}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size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15"/>
              <p:cNvSpPr txBox="1">
                <a:spLocks noGrp="1"/>
              </p:cNvSpPr>
              <p:nvPr/>
            </p:nvSpPr>
            <p:spPr>
              <a:xfrm>
                <a:off x="533400" y="2142172"/>
                <a:ext cx="5193982" cy="4381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min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unc>
                        <m:funcPr/>
                        <m:fName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begChr m:val="{"/>
                              <m:sepChr m:val=""/>
                              <m:endChr m:val="}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∣</m:t>
                              </m:r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size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=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 xml:space="preserve"> </m:t>
                              </m:r>
                            </m:e>
                          </m:d>
                        </m:e>
                      </m:func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16"/>
              <p:cNvSpPr txBox="1">
                <a:spLocks noGrp="1"/>
              </p:cNvSpPr>
              <p:nvPr/>
            </p:nvSpPr>
            <p:spPr>
              <a:xfrm>
                <a:off x="533400" y="2760345"/>
                <a:ext cx="5193982" cy="7229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avg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a:rPr lang="zh-CN" sz="172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size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 xml:space="preserve"> </m:t>
                          </m:r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</mc:AlternateContent>
      <p:grpSp>
        <p:nvGrpSpPr>
          <p:cNvPr id="18" name="c1-kv-4"/>
          <p:cNvGrpSpPr/>
          <p:nvPr/>
        </p:nvGrpSpPr>
        <p:grpSpPr>
          <a:xfrm>
            <a:off x="526161" y="3687604"/>
            <a:ext cx="5201221" cy="1111187"/>
            <a:chOff x="526161" y="3687604"/>
            <a:chExt cx="5201221" cy="1111187"/>
          </a:xfrm>
        </p:grpSpPr>
        <p:sp>
          <p:nvSpPr>
            <p:cNvPr id="10" name="TextBox 10"/>
            <p:cNvSpPr txBox="1"/>
            <p:nvPr/>
          </p:nvSpPr>
          <p:spPr>
            <a:xfrm>
              <a:off x="526161" y="3687604"/>
              <a:ext cx="7810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58621" y="3687604"/>
              <a:ext cx="21459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规模为 n 的一个问题实例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39909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161" y="4103846"/>
              <a:ext cx="42803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T(I)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58621" y="4103846"/>
              <a:ext cx="229902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算法在实例 I 上的计算时间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" y="44072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526161" y="4520089"/>
              <a:ext cx="41695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p(I)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58621" y="4520089"/>
              <a:ext cx="153438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 I 出现的概率</a:t>
              </a:r>
            </a:p>
          </p:txBody>
        </p:sp>
      </p:grpSp>
      <p:grpSp>
        <p:nvGrpSpPr>
          <p:cNvPr id="34" name="c2-card-1"/>
          <p:cNvGrpSpPr/>
          <p:nvPr/>
        </p:nvGrpSpPr>
        <p:grpSpPr>
          <a:xfrm>
            <a:off x="6032182" y="1524000"/>
            <a:ext cx="5626418" cy="4111942"/>
            <a:chOff x="6032182" y="1524000"/>
            <a:chExt cx="5626418" cy="4111942"/>
          </a:xfrm>
        </p:grpSpPr>
        <p:sp>
          <p:nvSpPr>
            <p:cNvPr id="19" name="Rectangle 19"/>
            <p:cNvSpPr/>
            <p:nvPr/>
          </p:nvSpPr>
          <p:spPr>
            <a:xfrm>
              <a:off x="6032182" y="1524000"/>
              <a:ext cx="5626418" cy="4111942"/>
            </a:xfrm>
            <a:prstGeom prst="roundRect">
              <a:avLst>
                <a:gd name="adj" fmla="val 32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041708" y="1657350"/>
              <a:ext cx="47625" cy="38452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68402" y="1722120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63843" y="1756410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718364" y="1756886"/>
              <a:ext cx="196574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 x 的比较次数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68402" y="2077402"/>
              <a:ext cx="5192078" cy="1640205"/>
            </a:xfrm>
            <a:prstGeom prst="roundRect">
              <a:avLst>
                <a:gd name="adj" fmla="val 5807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96800" y="222932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6419" y="2490788"/>
              <a:ext cx="2724341" cy="11530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SEARCH(A, n, x)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A(i) = x then return (i) endif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return (0)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SEARCH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276022" y="389096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32614" y="3830479"/>
              <a:ext cx="233906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最好：x = A(1)，比较 1 次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6276022" y="420814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32614" y="4148614"/>
              <a:ext cx="33462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最坏：x = A(n) 或不在表中，比较 n 次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6276022" y="452628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32614" y="4465796"/>
              <a:ext cx="46214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平均：设 x 一定在表中，且在每个位置的概率都是 1/n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3" name="formula17"/>
                <p:cNvSpPr txBox="1">
                  <a:spLocks noGrp="1"/>
                </p:cNvSpPr>
                <p:nvPr/>
              </p:nvSpPr>
              <p:spPr>
                <a:xfrm>
                  <a:off x="6268402" y="4760595"/>
                  <a:ext cx="5192078" cy="66008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avg</m:t>
                            </m:r>
                          </m:sub>
                        </m:sSub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nary>
                          <m:naryPr>
                            <m:chr m:val="∑"/>
                            <m:limLoc m:val="undOvr"/>
                            <m:grow m:val="off"/>
                            <m:subHide m:val="off"/>
                            <m:supHide m:val="off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naryPr>
                          <m:sub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i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  <m:sup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sup>
                          <m:e>
                            <m:f>
                              <m:fPr>
                                <m:type m:val="bar"/>
                                <m:ctrlP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CN" sz="15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den>
                            </m:f>
                          </m:e>
                        </m:nary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⋅</m:t>
                        </m:r>
                        <m: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i</m:t>
                        </m:r>
                        <m:r>
                          <m:rPr>
                            <m:sty m:val="p"/>
                          </m:rPr>
                          <a:rPr lang="zh-CN" sz="15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num>
                          <m:den>
                            <m:r>
                              <a:rPr lang="zh-CN" sz="15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41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35" name="Rectangle 35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40511" y="6011704"/>
              <a:ext cx="905104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平均情况依赖对 p(I) 的假设：若 x 有一半概率不在表中，平均比较次数变为 n/2 + (n+1)/4 = (3n+1)/4。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全面分析分两个阶段：事前分析和事后测试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flow-1"/>
          <p:cNvGrpSpPr/>
          <p:nvPr/>
        </p:nvGrpSpPr>
        <p:grpSpPr>
          <a:xfrm>
            <a:off x="680085" y="1694498"/>
            <a:ext cx="5982652" cy="1934528"/>
            <a:chOff x="680085" y="1694498"/>
            <a:chExt cx="5982652" cy="1934528"/>
          </a:xfrm>
        </p:grpSpPr>
        <p:sp>
          <p:nvSpPr>
            <p:cNvPr id="7" name="Freeform 7"/>
            <p:cNvSpPr/>
            <p:nvPr/>
          </p:nvSpPr>
          <p:spPr>
            <a:xfrm>
              <a:off x="2479358" y="2613660"/>
              <a:ext cx="187642" cy="9525"/>
            </a:xfrm>
            <a:custGeom>
              <a:avLst/>
              <a:gdLst/>
              <a:ahLst/>
              <a:cxnLst/>
              <a:rect l="l" t="t" r="r" b="b"/>
              <a:pathLst>
                <a:path w="187642" h="9525">
                  <a:moveTo>
                    <a:pt x="0" y="0"/>
                  </a:moveTo>
                  <a:lnTo>
                    <a:pt x="187642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2667000" y="25612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579245" y="2976562"/>
              <a:ext cx="2091690" cy="74295"/>
            </a:xfrm>
            <a:custGeom>
              <a:avLst/>
              <a:gdLst/>
              <a:ahLst/>
              <a:cxnLst/>
              <a:rect l="l" t="t" r="r" b="b"/>
              <a:pathLst>
                <a:path w="2091690" h="74295">
                  <a:moveTo>
                    <a:pt x="0" y="74295"/>
                  </a:moveTo>
                  <a:lnTo>
                    <a:pt x="0" y="0"/>
                  </a:lnTo>
                  <a:lnTo>
                    <a:pt x="2091690" y="0"/>
                  </a:lnTo>
                  <a:lnTo>
                    <a:pt x="2091690" y="3048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618548" y="29022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0"/>
                  </a:moveTo>
                  <a:lnTo>
                    <a:pt x="104775" y="104775"/>
                  </a:lnTo>
                  <a:lnTo>
                    <a:pt x="0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670935" y="2902268"/>
              <a:ext cx="9525" cy="43815"/>
            </a:xfrm>
            <a:custGeom>
              <a:avLst/>
              <a:gdLst/>
              <a:ahLst/>
              <a:cxnLst/>
              <a:rect l="l" t="t" r="r" b="b"/>
              <a:pathLst>
                <a:path w="9525" h="43815">
                  <a:moveTo>
                    <a:pt x="0" y="0"/>
                  </a:moveTo>
                  <a:lnTo>
                    <a:pt x="0" y="4381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3618548" y="294608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4675822" y="3340418"/>
              <a:ext cx="187643" cy="9525"/>
            </a:xfrm>
            <a:custGeom>
              <a:avLst/>
              <a:gdLst/>
              <a:ahLst/>
              <a:cxnLst/>
              <a:rect l="l" t="t" r="r" b="b"/>
              <a:pathLst>
                <a:path w="187643" h="9525">
                  <a:moveTo>
                    <a:pt x="187643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4571048" y="32880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680085" y="1694498"/>
              <a:ext cx="1799272" cy="385762"/>
            </a:xfrm>
            <a:prstGeom prst="roundRect">
              <a:avLst>
                <a:gd name="adj" fmla="val 1975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771775" y="1694498"/>
              <a:ext cx="1799272" cy="385762"/>
            </a:xfrm>
            <a:prstGeom prst="roundRect">
              <a:avLst>
                <a:gd name="adj" fmla="val 1975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863465" y="1694498"/>
              <a:ext cx="1799272" cy="385762"/>
            </a:xfrm>
            <a:prstGeom prst="roundRect">
              <a:avLst>
                <a:gd name="adj" fmla="val 19753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680085" y="2325052"/>
              <a:ext cx="179927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680085" y="3050858"/>
              <a:ext cx="179927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2771775" y="2325052"/>
              <a:ext cx="1799272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2771775" y="3050858"/>
              <a:ext cx="1799272" cy="578168"/>
            </a:xfrm>
            <a:prstGeom prst="roundRect">
              <a:avLst>
                <a:gd name="adj" fmla="val 16474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22" name="Rectangle 22"/>
            <p:cNvSpPr/>
            <p:nvPr/>
          </p:nvSpPr>
          <p:spPr>
            <a:xfrm>
              <a:off x="4863465" y="3147060"/>
              <a:ext cx="1799272" cy="385762"/>
            </a:xfrm>
            <a:prstGeom prst="roundRect">
              <a:avLst>
                <a:gd name="adj" fmla="val 24691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71981" y="18083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准备工作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363671" y="18083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事前分析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56314" y="180832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事后测试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3450" y="2438876"/>
              <a:ext cx="12915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确定算法所涉及的运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3450" y="3164681"/>
              <a:ext cx="12915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确定能反映各种情况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的数据集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025140" y="2438876"/>
              <a:ext cx="12915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分析算法语句的执行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次数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25140" y="3164681"/>
              <a:ext cx="12915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分析执行时间的渐近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154765" y="326183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作时空性能分布图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555808" y="3144202"/>
              <a:ext cx="323850" cy="165735"/>
            </a:xfrm>
            <a:prstGeom prst="roundRect">
              <a:avLst>
                <a:gd name="adj" fmla="val 22989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591812" y="3167062"/>
              <a:ext cx="25184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印证</a:t>
              </a:r>
            </a:p>
          </p:txBody>
        </p:sp>
      </p:grpSp>
      <p:grpSp>
        <p:nvGrpSpPr>
          <p:cNvPr id="45" name="c1-card-2"/>
          <p:cNvGrpSpPr/>
          <p:nvPr/>
        </p:nvGrpSpPr>
        <p:grpSpPr>
          <a:xfrm>
            <a:off x="533400" y="3872865"/>
            <a:ext cx="6276022" cy="1803082"/>
            <a:chOff x="533400" y="3872865"/>
            <a:chExt cx="6276022" cy="1803082"/>
          </a:xfrm>
        </p:grpSpPr>
        <p:sp>
          <p:nvSpPr>
            <p:cNvPr id="34" name="Rectangle 34"/>
            <p:cNvSpPr/>
            <p:nvPr/>
          </p:nvSpPr>
          <p:spPr>
            <a:xfrm>
              <a:off x="533400" y="3872865"/>
              <a:ext cx="6276022" cy="1803082"/>
            </a:xfrm>
            <a:prstGeom prst="roundRect">
              <a:avLst>
                <a:gd name="adj" fmla="val 73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542925" y="4006215"/>
              <a:ext cx="47625" cy="15363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758190" y="4059555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53961" y="409241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99960" y="4094798"/>
              <a:ext cx="2799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 SEARCH 走一遍两个阶段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66762" y="447675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2782" y="4420552"/>
              <a:ext cx="547028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准备：运算是比较 A(i) = x；数据造首位、不在表中、随机位置三种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766762" y="477774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922782" y="4721542"/>
              <a:ext cx="55614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事前分析：比较最好 1 次、最坏 n 次、平均 (n+1)/2 次，都是 O(n)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66762" y="507777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2782" y="5021580"/>
              <a:ext cx="53200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事后测试：n 取 10⁴、10⁵、10⁶ 并重复多次取平均，n 乘 10 时间约乘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才与 O(n) 相符</a:t>
              </a:r>
            </a:p>
          </p:txBody>
        </p:sp>
      </p:grpSp>
      <p:grpSp>
        <p:nvGrpSpPr>
          <p:cNvPr id="61" name="c2-table-1"/>
          <p:cNvGrpSpPr/>
          <p:nvPr/>
        </p:nvGrpSpPr>
        <p:grpSpPr>
          <a:xfrm>
            <a:off x="7114222" y="1524000"/>
            <a:ext cx="4544378" cy="2000250"/>
            <a:chOff x="7114222" y="1524000"/>
            <a:chExt cx="4544378" cy="2000250"/>
          </a:xfrm>
        </p:grpSpPr>
        <p:sp>
          <p:nvSpPr>
            <p:cNvPr id="46" name="Rectangle 46"/>
            <p:cNvSpPr/>
            <p:nvPr/>
          </p:nvSpPr>
          <p:spPr>
            <a:xfrm>
              <a:off x="7114222" y="1524000"/>
              <a:ext cx="4544378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638771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245498" y="16454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610012" y="1645444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与机器的关系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11378" y="2145506"/>
              <a:ext cx="105689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事前分析 a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priori analysis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574405" y="2045494"/>
              <a:ext cx="1718310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确定每条语句的执行次数，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求出关于规模 n 的时间限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界函数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73703" y="224551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与机器无关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7114222" y="271938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114222" y="2724150"/>
              <a:ext cx="4544378" cy="80010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11378" y="2845594"/>
              <a:ext cx="758190" cy="6200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事后测试 a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posteriori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testing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574405" y="2945606"/>
              <a:ext cx="17183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运行程序，作时空性能分布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573703" y="2945606"/>
              <a:ext cx="8648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与所用计算机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密切相关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114222" y="1524000"/>
              <a:ext cx="4544378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8472488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10471785" y="15240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c2-card-2"/>
          <p:cNvGrpSpPr/>
          <p:nvPr/>
        </p:nvGrpSpPr>
        <p:grpSpPr>
          <a:xfrm>
            <a:off x="7114222" y="3693795"/>
            <a:ext cx="4544378" cy="1982152"/>
            <a:chOff x="7114222" y="3693795"/>
            <a:chExt cx="4544378" cy="1982152"/>
          </a:xfrm>
        </p:grpSpPr>
        <p:sp>
          <p:nvSpPr>
            <p:cNvPr id="62" name="Rectangle 62"/>
            <p:cNvSpPr/>
            <p:nvPr/>
          </p:nvSpPr>
          <p:spPr>
            <a:xfrm>
              <a:off x="7114222" y="3693795"/>
              <a:ext cx="4544378" cy="1982152"/>
            </a:xfrm>
            <a:prstGeom prst="roundRect">
              <a:avLst>
                <a:gd name="adj" fmla="val 672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7123748" y="3827145"/>
              <a:ext cx="47625" cy="171545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7339012" y="3880485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434783" y="3913346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332154" y="4225290"/>
              <a:ext cx="39142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原课件写作 a posterior testing，拉丁语短语的规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范写法是 a posteriori，与 a priori 相对。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333298" y="4779169"/>
              <a:ext cx="3795014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priori 意为“先于经验”，不运行程序、靠推理得出结论；a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posteriori 意为“后于经验”，要运行之后看实测数据。</a:t>
              </a:r>
            </a:p>
          </p:txBody>
        </p:sp>
      </p:grpSp>
      <p:grpSp>
        <p:nvGrpSpPr>
          <p:cNvPr id="74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9" name="Rectangle 69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1040892" y="6028373"/>
              <a:ext cx="89188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事前分析给出数量级，事后测试用实测数据检验这个数量级；两者对不上时，要么分析有误，要么实现有问题。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0034266" cy="909257"/>
            <a:chOff x="520446" y="342900"/>
            <a:chExt cx="100342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00342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准备工作：定好“一步”算多少时间，再造出最好、最坏和典型数据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7" name="c1-card-1"/>
          <p:cNvGrpSpPr/>
          <p:nvPr/>
        </p:nvGrpSpPr>
        <p:grpSpPr>
          <a:xfrm>
            <a:off x="533400" y="1524000"/>
            <a:ext cx="5193982" cy="1815465"/>
            <a:chOff x="533400" y="1524000"/>
            <a:chExt cx="5193982" cy="18154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815465"/>
            </a:xfrm>
            <a:prstGeom prst="roundRect">
              <a:avLst>
                <a:gd name="adj" fmla="val 734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54876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基本运算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619631" y="1756886"/>
              <a:ext cx="192608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时间囿界于常数的运算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16122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100739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加、减、乘、除整数算术运算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2478405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2418874"/>
              <a:ext cx="40288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浮点算术、字符比较、对变量赋值、过程调用等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3524" y="2732722"/>
              <a:ext cx="45841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每种运算所用时间虽然不同，但都只花费一个固定量的时间，分析时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都算作 1 步。</a:t>
              </a:r>
            </a:p>
          </p:txBody>
        </p:sp>
      </p:grpSp>
      <p:grpSp>
        <p:nvGrpSpPr>
          <p:cNvPr id="29" name="c1-card-2"/>
          <p:cNvGrpSpPr/>
          <p:nvPr/>
        </p:nvGrpSpPr>
        <p:grpSpPr>
          <a:xfrm>
            <a:off x="533400" y="3519488"/>
            <a:ext cx="5193982" cy="2132648"/>
            <a:chOff x="533400" y="3519488"/>
            <a:chExt cx="5193982" cy="2132648"/>
          </a:xfrm>
        </p:grpSpPr>
        <p:sp>
          <p:nvSpPr>
            <p:cNvPr id="18" name="Rectangle 18"/>
            <p:cNvSpPr/>
            <p:nvPr/>
          </p:nvSpPr>
          <p:spPr>
            <a:xfrm>
              <a:off x="533400" y="3519488"/>
              <a:ext cx="5193982" cy="2132648"/>
            </a:xfrm>
            <a:prstGeom prst="roundRect">
              <a:avLst>
                <a:gd name="adj" fmla="val 62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542925" y="3652838"/>
              <a:ext cx="47625" cy="186594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69620" y="3717608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53059" y="3751898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复杂运算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619631" y="3752374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由任意长的基本运算序列组成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62381" y="4096226"/>
              <a:ext cx="460232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例：两个字符串的比较，由一系列字符比较指令组成。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7240" y="447389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3831" y="4413409"/>
              <a:ext cx="26907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一个字符的比较时间囿界于常数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777240" y="479202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33831" y="4731544"/>
              <a:ext cx="36465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字符串比较的时间总量取决于字符串的长度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63524" y="5045392"/>
              <a:ext cx="430225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比较 algorithm 与 algebra：前 3 个字符相同，第 4 个字符 o ≠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e，共比较 4 次。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6032182" y="1524000"/>
            <a:ext cx="5626418" cy="1594485"/>
            <a:chOff x="6032182" y="1524000"/>
            <a:chExt cx="5626418" cy="1594485"/>
          </a:xfrm>
        </p:grpSpPr>
        <p:sp>
          <p:nvSpPr>
            <p:cNvPr id="30" name="Rectangle 30"/>
            <p:cNvSpPr/>
            <p:nvPr/>
          </p:nvSpPr>
          <p:spPr>
            <a:xfrm>
              <a:off x="6032182" y="1524000"/>
              <a:ext cx="5626418" cy="1594485"/>
            </a:xfrm>
            <a:prstGeom prst="roundRect">
              <a:avLst>
                <a:gd name="adj" fmla="val 836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30302" y="1722120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09741" y="1756410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第二项准备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213664" y="1756886"/>
              <a:ext cx="24995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确定能反映各种情况的数据集</a:t>
              </a:r>
            </a:p>
          </p:txBody>
        </p:sp>
        <p:sp>
          <p:nvSpPr>
            <p:cNvPr id="34" name="Ellipse 34"/>
            <p:cNvSpPr/>
            <p:nvPr/>
          </p:nvSpPr>
          <p:spPr>
            <a:xfrm>
              <a:off x="6230302" y="2088832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88647" y="212821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21196" y="2100739"/>
              <a:ext cx="441116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编造出能产生最好、最坏和有代表性情况的数据配置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230302" y="2406015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88647" y="2446353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1196" y="2418874"/>
              <a:ext cx="38376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用这些数据运行算法，更好地了解算法的性能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224206" y="2732722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这是算法分析中最重要、最富于创造性的工作。</a:t>
              </a:r>
            </a:p>
          </p:txBody>
        </p:sp>
      </p:grpSp>
      <p:grpSp>
        <p:nvGrpSpPr>
          <p:cNvPr id="61" name="c2-table-2"/>
          <p:cNvGrpSpPr/>
          <p:nvPr/>
        </p:nvGrpSpPr>
        <p:grpSpPr>
          <a:xfrm>
            <a:off x="6032182" y="3298508"/>
            <a:ext cx="5626418" cy="2124075"/>
            <a:chOff x="6032182" y="3298508"/>
            <a:chExt cx="5626418" cy="2124075"/>
          </a:xfrm>
        </p:grpSpPr>
        <p:sp>
          <p:nvSpPr>
            <p:cNvPr id="42" name="Rectangle 42"/>
            <p:cNvSpPr/>
            <p:nvPr/>
          </p:nvSpPr>
          <p:spPr>
            <a:xfrm>
              <a:off x="6032182" y="3298508"/>
              <a:ext cx="5626418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39865" y="342709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算法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04607" y="342709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最好情况数据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042969" y="3427095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最坏情况数据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134672" y="3850957"/>
              <a:ext cx="80254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 x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85316" y="3850957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在第 1 个位置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510332" y="3850957"/>
              <a:ext cx="7956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 不在表中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032182" y="41424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6032182" y="4147185"/>
              <a:ext cx="5626418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134672" y="4382452"/>
              <a:ext cx="10436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 求最大值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85316" y="4275772"/>
              <a:ext cx="17190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最大值在 A(1)，xmax 从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不更新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10332" y="4382452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严格递增，每轮都更新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032182" y="478059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134672" y="5019675"/>
              <a:ext cx="55882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EUCLID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485316" y="5019675"/>
              <a:ext cx="142570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整除 m，1 轮结束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9510332" y="4912995"/>
              <a:ext cx="17647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相邻斐波那契数，如 (89,</a:t>
              </a:r>
            </a:p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55) 要 9 轮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032182" y="3298508"/>
              <a:ext cx="5626418" cy="21240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7378065" y="3298508"/>
              <a:ext cx="9525" cy="21240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9403080" y="3298508"/>
              <a:ext cx="9525" cy="21240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takeaway"/>
          <p:cNvGrpSpPr/>
          <p:nvPr/>
        </p:nvGrpSpPr>
        <p:grpSpPr>
          <a:xfrm>
            <a:off x="533400" y="5858828"/>
            <a:ext cx="11125200" cy="503872"/>
            <a:chOff x="533400" y="5858828"/>
            <a:chExt cx="11125200" cy="503872"/>
          </a:xfrm>
        </p:grpSpPr>
        <p:sp>
          <p:nvSpPr>
            <p:cNvPr id="62" name="Rectangle 62"/>
            <p:cNvSpPr/>
            <p:nvPr/>
          </p:nvSpPr>
          <p:spPr>
            <a:xfrm>
              <a:off x="533400" y="5858828"/>
              <a:ext cx="11125200" cy="503872"/>
            </a:xfrm>
            <a:prstGeom prst="roundRect">
              <a:avLst>
                <a:gd name="adj" fmla="val 22684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26129" y="6007536"/>
              <a:ext cx="224134" cy="192560"/>
              <a:chOff x="726129" y="6007536"/>
              <a:chExt cx="224134" cy="19256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838200" y="60779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726129" y="60075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38200" y="61556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0511" y="6011704"/>
              <a:ext cx="8113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把字符串比较当成 1 步会低估时间：对 n 个长度为 L 的字符串排序，每次比较的代价是 O(L)。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频率计数：一条语句的执行次数，与机器和语言无关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1293495"/>
            <a:chOff x="533400" y="1524000"/>
            <a:chExt cx="5410200" cy="129349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93495"/>
            </a:xfrm>
            <a:prstGeom prst="roundRect">
              <a:avLst>
                <a:gd name="adj" fmla="val 103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2679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5543" y="17635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76744" y="1767364"/>
              <a:ext cx="276718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频率计数（frequency count）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68096" y="2119789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同一条语句在一个算法中的执行次数称为频率计数。它由算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法直接确定，与所用的机器无关，且独立于程序设计语言。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formula20"/>
              <p:cNvSpPr txBox="1">
                <a:spLocks noGrp="1"/>
              </p:cNvSpPr>
              <p:nvPr/>
            </p:nvSpPr>
            <p:spPr>
              <a:xfrm>
                <a:off x="533400" y="3002280"/>
                <a:ext cx="5410200" cy="4000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语句的时间总量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频率计数</m:t>
                      </m:r>
                      <m:r>
                        <m:rPr>
                          <m:sty m:val="p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r>
                        <m:rPr>
                          <m:nor m:val="on"/>
                        </m:rPr>
                        <a:rPr lang="zh-CN" sz="158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执行一次的时间</m:t>
                      </m:r>
                    </m:oMath>
                  </m:oMathPara>
                </a14:m>
              </a:p>
            </p:txBody>
          </p:sp>
        </mc:Choice>
      </mc:AlternateContent>
      <p:grpSp>
        <p:nvGrpSpPr>
          <p:cNvPr id="21" name="c1-bullets-3"/>
          <p:cNvGrpSpPr/>
          <p:nvPr/>
        </p:nvGrpSpPr>
        <p:grpSpPr>
          <a:xfrm>
            <a:off x="541020" y="3611404"/>
            <a:ext cx="5040249" cy="1209294"/>
            <a:chOff x="541020" y="3611404"/>
            <a:chExt cx="5040249" cy="1209294"/>
          </a:xfrm>
        </p:grpSpPr>
        <p:sp>
          <p:nvSpPr>
            <p:cNvPr id="15" name="Ellipse 15"/>
            <p:cNvSpPr/>
            <p:nvPr/>
          </p:nvSpPr>
          <p:spPr>
            <a:xfrm>
              <a:off x="541020" y="367188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7611" y="3611404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语句本质上由运算组成，执行一次的时间依赖于机器、程序设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计语言和编译程序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41020" y="427196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7611" y="4212431"/>
              <a:ext cx="42200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算法的执行时间就是所有语句的执行时间总量之和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41020" y="460152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7611" y="4541996"/>
              <a:ext cx="46214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事前分析只数频率计数，把“执行一次的时间”看作常数</a:t>
              </a:r>
            </a:p>
          </p:txBody>
        </p:sp>
      </p:grpSp>
      <p:grpSp>
        <p:nvGrpSpPr>
          <p:cNvPr id="28" name="c1-callout-4"/>
          <p:cNvGrpSpPr/>
          <p:nvPr/>
        </p:nvGrpSpPr>
        <p:grpSpPr>
          <a:xfrm>
            <a:off x="533400" y="4949190"/>
            <a:ext cx="5410200" cy="1311592"/>
            <a:chOff x="533400" y="4949190"/>
            <a:chExt cx="5410200" cy="1311592"/>
          </a:xfrm>
        </p:grpSpPr>
        <p:sp>
          <p:nvSpPr>
            <p:cNvPr id="22" name="Rectangle 22"/>
            <p:cNvSpPr/>
            <p:nvPr/>
          </p:nvSpPr>
          <p:spPr>
            <a:xfrm>
              <a:off x="533400" y="4949190"/>
              <a:ext cx="5410200" cy="1311592"/>
            </a:xfrm>
            <a:prstGeom prst="roundRect">
              <a:avLst>
                <a:gd name="adj" fmla="val 871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38188" y="5505450"/>
              <a:ext cx="200026" cy="200025"/>
              <a:chOff x="738188" y="5505450"/>
              <a:chExt cx="200026" cy="200025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738188" y="550545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777926" y="554990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812642" y="566102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1040511" y="5374481"/>
              <a:ext cx="4369689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数频率计数时，循环头的判断次数比循环体多 1 次，递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归调用要按调用次数累计。</a:t>
              </a:r>
            </a:p>
          </p:txBody>
        </p:sp>
      </p:grpSp>
      <p:grpSp>
        <p:nvGrpSpPr>
          <p:cNvPr id="64" name="c2-card-1"/>
          <p:cNvGrpSpPr/>
          <p:nvPr/>
        </p:nvGrpSpPr>
        <p:grpSpPr>
          <a:xfrm>
            <a:off x="6248400" y="1524000"/>
            <a:ext cx="5410200" cy="4737735"/>
            <a:chOff x="6248400" y="1524000"/>
            <a:chExt cx="5410200" cy="4737735"/>
          </a:xfrm>
        </p:grpSpPr>
        <p:sp>
          <p:nvSpPr>
            <p:cNvPr id="29" name="Rectangle 29"/>
            <p:cNvSpPr/>
            <p:nvPr/>
          </p:nvSpPr>
          <p:spPr>
            <a:xfrm>
              <a:off x="6248400" y="1524000"/>
              <a:ext cx="5410200" cy="4737735"/>
            </a:xfrm>
            <a:prstGeom prst="roundRect">
              <a:avLst>
                <a:gd name="adj" fmla="val 28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257925" y="1657350"/>
              <a:ext cx="47625" cy="44710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490335" y="172783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585445" y="176355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948868" y="1767364"/>
              <a:ext cx="22545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逐行数出 SUM 的频率计数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90335" y="2095500"/>
              <a:ext cx="4964430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960995" y="22269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281666" y="22269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频率计数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95682" y="2657475"/>
              <a:ext cx="17616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procedure SUM(A, n)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0560329" y="26574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490335" y="2951798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490335" y="2956560"/>
              <a:ext cx="496443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95682" y="3087052"/>
              <a:ext cx="393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← 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560329" y="3087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90335" y="3381375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595682" y="3517582"/>
              <a:ext cx="130131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 i ← 1 to n do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23017" y="3517582"/>
              <a:ext cx="375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+ 1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90335" y="3811905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90335" y="3816668"/>
              <a:ext cx="496443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95682" y="3948112"/>
              <a:ext cx="9325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 ← s + A(i)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0560329" y="39481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490335" y="4241482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595682" y="4377690"/>
              <a:ext cx="57194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repeat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560329" y="43776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490335" y="4672012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6490335" y="4676775"/>
              <a:ext cx="496443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6595682" y="4808220"/>
              <a:ext cx="90270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return (s)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0560329" y="48082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6490335" y="5102542"/>
              <a:ext cx="496443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595682" y="523779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9776460" y="5116830"/>
              <a:ext cx="1668780" cy="4114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378592" y="5237798"/>
              <a:ext cx="46451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 + 3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90335" y="2095500"/>
              <a:ext cx="4964430" cy="344138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9762172" y="2095500"/>
              <a:ext cx="9525" cy="3441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484239" y="5649278"/>
              <a:ext cx="462229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for 行多出的 1 次，是最后一次判断 i &gt; n 后退出循环。n = 5 时合计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 次。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167675" cy="909257"/>
            <a:chOff x="520446" y="342900"/>
            <a:chExt cx="81676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1676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例：语句 x ← z + y 在不同程序段中执行 1、n、n² 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2552700" cy="1110615"/>
            <a:chOff x="533400" y="1524000"/>
            <a:chExt cx="2552700" cy="11106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2552700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523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程序段 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1028446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← z + y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16" name="c1-callout-2"/>
          <p:cNvGrpSpPr/>
          <p:nvPr/>
        </p:nvGrpSpPr>
        <p:grpSpPr>
          <a:xfrm>
            <a:off x="533400" y="2825115"/>
            <a:ext cx="2552700" cy="533400"/>
            <a:chOff x="533400" y="2825115"/>
            <a:chExt cx="2552700" cy="533400"/>
          </a:xfrm>
        </p:grpSpPr>
        <p:sp>
          <p:nvSpPr>
            <p:cNvPr id="11" name="Rectangle 11"/>
            <p:cNvSpPr/>
            <p:nvPr/>
          </p:nvSpPr>
          <p:spPr>
            <a:xfrm>
              <a:off x="533400" y="2825115"/>
              <a:ext cx="2552700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14" name="Group 14"/>
            <p:cNvGrpSpPr/>
            <p:nvPr/>
          </p:nvGrpSpPr>
          <p:grpSpPr>
            <a:xfrm>
              <a:off x="738188" y="2991803"/>
              <a:ext cx="200026" cy="200026"/>
              <a:chOff x="738188" y="2991803"/>
              <a:chExt cx="200026" cy="200026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738188" y="299180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804863" y="306959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15" name="TextBox 15"/>
            <p:cNvSpPr txBox="1"/>
            <p:nvPr/>
          </p:nvSpPr>
          <p:spPr>
            <a:xfrm>
              <a:off x="1040130" y="2987040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频率计数 1</a:t>
              </a:r>
            </a:p>
          </p:txBody>
        </p:sp>
      </p:grpSp>
      <p:grpSp>
        <p:nvGrpSpPr>
          <p:cNvPr id="18" name="c1-text-3"/>
          <p:cNvGrpSpPr/>
          <p:nvPr/>
        </p:nvGrpSpPr>
        <p:grpSpPr>
          <a:xfrm>
            <a:off x="526923" y="3570446"/>
            <a:ext cx="2313178" cy="500824"/>
            <a:chOff x="526923" y="3570446"/>
            <a:chExt cx="2313178" cy="500824"/>
          </a:xfrm>
        </p:grpSpPr>
        <p:sp>
          <p:nvSpPr>
            <p:cNvPr id="17" name="TextBox 17"/>
            <p:cNvSpPr txBox="1"/>
            <p:nvPr/>
          </p:nvSpPr>
          <p:spPr>
            <a:xfrm>
              <a:off x="526923" y="3570446"/>
              <a:ext cx="231317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顺序语句，执行次数与 n 无关，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数量级 O(1)。</a:t>
              </a:r>
            </a:p>
          </p:txBody>
        </p:sp>
      </p:grpSp>
      <p:grpSp>
        <p:nvGrpSpPr>
          <p:cNvPr id="22" name="c2-code-1"/>
          <p:cNvGrpSpPr/>
          <p:nvPr/>
        </p:nvGrpSpPr>
        <p:grpSpPr>
          <a:xfrm>
            <a:off x="3390900" y="1524000"/>
            <a:ext cx="2552700" cy="1516380"/>
            <a:chOff x="3390900" y="1524000"/>
            <a:chExt cx="2552700" cy="1516380"/>
          </a:xfrm>
        </p:grpSpPr>
        <p:sp>
          <p:nvSpPr>
            <p:cNvPr id="19" name="Rectangle 19"/>
            <p:cNvSpPr/>
            <p:nvPr/>
          </p:nvSpPr>
          <p:spPr>
            <a:xfrm>
              <a:off x="3390900" y="1524000"/>
              <a:ext cx="2552700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3519297" y="1675924"/>
              <a:ext cx="523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程序段 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18535" y="1937861"/>
              <a:ext cx="1341374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← z + y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28" name="c2-callout-2"/>
          <p:cNvGrpSpPr/>
          <p:nvPr/>
        </p:nvGrpSpPr>
        <p:grpSpPr>
          <a:xfrm>
            <a:off x="3390900" y="3230880"/>
            <a:ext cx="2552700" cy="533400"/>
            <a:chOff x="3390900" y="3230880"/>
            <a:chExt cx="2552700" cy="533400"/>
          </a:xfrm>
        </p:grpSpPr>
        <p:sp>
          <p:nvSpPr>
            <p:cNvPr id="23" name="Rectangle 23"/>
            <p:cNvSpPr/>
            <p:nvPr/>
          </p:nvSpPr>
          <p:spPr>
            <a:xfrm>
              <a:off x="3390900" y="3230880"/>
              <a:ext cx="2552700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3595688" y="3397568"/>
              <a:ext cx="200026" cy="200026"/>
              <a:chOff x="3595688" y="3397568"/>
              <a:chExt cx="200026" cy="200026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3595688" y="339756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3662363" y="347535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7" name="TextBox 27"/>
            <p:cNvSpPr txBox="1"/>
            <p:nvPr/>
          </p:nvSpPr>
          <p:spPr>
            <a:xfrm>
              <a:off x="3897630" y="3392805"/>
              <a:ext cx="994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频率计数 n</a:t>
              </a:r>
            </a:p>
          </p:txBody>
        </p:sp>
      </p:grpSp>
      <p:grpSp>
        <p:nvGrpSpPr>
          <p:cNvPr id="30" name="c2-text-3"/>
          <p:cNvGrpSpPr/>
          <p:nvPr/>
        </p:nvGrpSpPr>
        <p:grpSpPr>
          <a:xfrm>
            <a:off x="3384423" y="3976211"/>
            <a:ext cx="2150618" cy="500824"/>
            <a:chOff x="3384423" y="3976211"/>
            <a:chExt cx="2150618" cy="500824"/>
          </a:xfrm>
        </p:grpSpPr>
        <p:sp>
          <p:nvSpPr>
            <p:cNvPr id="29" name="TextBox 29"/>
            <p:cNvSpPr txBox="1"/>
            <p:nvPr/>
          </p:nvSpPr>
          <p:spPr>
            <a:xfrm>
              <a:off x="3384423" y="3976211"/>
              <a:ext cx="215061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单重循环，循环次数与 n 成正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比，数量级 O(n)。</a:t>
              </a:r>
            </a:p>
          </p:txBody>
        </p:sp>
      </p:grpSp>
      <p:grpSp>
        <p:nvGrpSpPr>
          <p:cNvPr id="34" name="c3-code-1"/>
          <p:cNvGrpSpPr/>
          <p:nvPr/>
        </p:nvGrpSpPr>
        <p:grpSpPr>
          <a:xfrm>
            <a:off x="6248400" y="1524000"/>
            <a:ext cx="2552700" cy="1922145"/>
            <a:chOff x="6248400" y="1524000"/>
            <a:chExt cx="2552700" cy="1922145"/>
          </a:xfrm>
        </p:grpSpPr>
        <p:sp>
          <p:nvSpPr>
            <p:cNvPr id="31" name="Rectangle 31"/>
            <p:cNvSpPr/>
            <p:nvPr/>
          </p:nvSpPr>
          <p:spPr>
            <a:xfrm>
              <a:off x="6248400" y="1524000"/>
              <a:ext cx="2552700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376797" y="1675924"/>
              <a:ext cx="5234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程序段 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376035" y="1937861"/>
              <a:ext cx="1497838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j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← z + y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40" name="c3-callout-2"/>
          <p:cNvGrpSpPr/>
          <p:nvPr/>
        </p:nvGrpSpPr>
        <p:grpSpPr>
          <a:xfrm>
            <a:off x="6248400" y="3636645"/>
            <a:ext cx="2552700" cy="533400"/>
            <a:chOff x="6248400" y="3636645"/>
            <a:chExt cx="2552700" cy="533400"/>
          </a:xfrm>
        </p:grpSpPr>
        <p:sp>
          <p:nvSpPr>
            <p:cNvPr id="35" name="Rectangle 35"/>
            <p:cNvSpPr/>
            <p:nvPr/>
          </p:nvSpPr>
          <p:spPr>
            <a:xfrm>
              <a:off x="6248400" y="3636645"/>
              <a:ext cx="2552700" cy="533400"/>
            </a:xfrm>
            <a:prstGeom prst="roundRect">
              <a:avLst>
                <a:gd name="adj" fmla="val 214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38" name="Group 38"/>
            <p:cNvGrpSpPr/>
            <p:nvPr/>
          </p:nvGrpSpPr>
          <p:grpSpPr>
            <a:xfrm>
              <a:off x="6453188" y="3803333"/>
              <a:ext cx="200026" cy="200026"/>
              <a:chOff x="6453188" y="3803333"/>
              <a:chExt cx="200026" cy="200026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6453188" y="380333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6519863" y="388112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39" name="TextBox 39"/>
            <p:cNvSpPr txBox="1"/>
            <p:nvPr/>
          </p:nvSpPr>
          <p:spPr>
            <a:xfrm>
              <a:off x="6755130" y="3798570"/>
              <a:ext cx="11056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频率计数 n²</a:t>
              </a:r>
            </a:p>
          </p:txBody>
        </p:sp>
      </p:grpSp>
      <p:grpSp>
        <p:nvGrpSpPr>
          <p:cNvPr id="42" name="c3-text-3"/>
          <p:cNvGrpSpPr/>
          <p:nvPr/>
        </p:nvGrpSpPr>
        <p:grpSpPr>
          <a:xfrm>
            <a:off x="6241923" y="4381976"/>
            <a:ext cx="2426970" cy="500824"/>
            <a:chOff x="6241923" y="4381976"/>
            <a:chExt cx="2426970" cy="500824"/>
          </a:xfrm>
        </p:grpSpPr>
        <p:sp>
          <p:nvSpPr>
            <p:cNvPr id="41" name="TextBox 41"/>
            <p:cNvSpPr txBox="1"/>
            <p:nvPr/>
          </p:nvSpPr>
          <p:spPr>
            <a:xfrm>
              <a:off x="6241923" y="4381976"/>
              <a:ext cx="2426970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两重循环各自独立跑到 n，次数相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乘，数量级 O(n²)。</a:t>
              </a:r>
            </a:p>
          </p:txBody>
        </p:sp>
      </p:grpSp>
      <p:grpSp>
        <p:nvGrpSpPr>
          <p:cNvPr id="46" name="c4-code-1"/>
          <p:cNvGrpSpPr/>
          <p:nvPr/>
        </p:nvGrpSpPr>
        <p:grpSpPr>
          <a:xfrm>
            <a:off x="9105900" y="1524000"/>
            <a:ext cx="2552700" cy="1922145"/>
            <a:chOff x="9105900" y="1524000"/>
            <a:chExt cx="2552700" cy="1922145"/>
          </a:xfrm>
        </p:grpSpPr>
        <p:sp>
          <p:nvSpPr>
            <p:cNvPr id="43" name="Rectangle 43"/>
            <p:cNvSpPr/>
            <p:nvPr/>
          </p:nvSpPr>
          <p:spPr>
            <a:xfrm>
              <a:off x="9105900" y="1524000"/>
              <a:ext cx="2552700" cy="1922145"/>
            </a:xfrm>
            <a:prstGeom prst="roundRect">
              <a:avLst>
                <a:gd name="adj" fmla="val 4955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234297" y="1675924"/>
              <a:ext cx="9192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补充：程序段 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233535" y="1937861"/>
              <a:ext cx="1497838" cy="14373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begin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for j ← 1 to i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x ← z + y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</a:t>
              </a:r>
            </a:p>
          </p:txBody>
        </p:sp>
      </p:grpSp>
      <p:grpSp>
        <p:nvGrpSpPr>
          <p:cNvPr id="53" name="c4-callout-2"/>
          <p:cNvGrpSpPr/>
          <p:nvPr/>
        </p:nvGrpSpPr>
        <p:grpSpPr>
          <a:xfrm>
            <a:off x="9105900" y="3636645"/>
            <a:ext cx="2552700" cy="782955"/>
            <a:chOff x="9105900" y="3636645"/>
            <a:chExt cx="2552700" cy="782955"/>
          </a:xfrm>
        </p:grpSpPr>
        <p:sp>
          <p:nvSpPr>
            <p:cNvPr id="47" name="Rectangle 47"/>
            <p:cNvSpPr/>
            <p:nvPr/>
          </p:nvSpPr>
          <p:spPr>
            <a:xfrm>
              <a:off x="9105900" y="3636645"/>
              <a:ext cx="25527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1" name="Group 51"/>
            <p:cNvGrpSpPr/>
            <p:nvPr/>
          </p:nvGrpSpPr>
          <p:grpSpPr>
            <a:xfrm>
              <a:off x="9310688" y="3928110"/>
              <a:ext cx="200026" cy="200025"/>
              <a:chOff x="9310688" y="3928110"/>
              <a:chExt cx="200026" cy="200025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9310688" y="392811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9350426" y="397256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9385142" y="408368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2" name="TextBox 52"/>
            <p:cNvSpPr txBox="1"/>
            <p:nvPr/>
          </p:nvSpPr>
          <p:spPr>
            <a:xfrm>
              <a:off x="9612630" y="3785235"/>
              <a:ext cx="125349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en-US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1 + 2 + … + n =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n(n+1)/2 次</a:t>
              </a:r>
            </a:p>
          </p:txBody>
        </p:sp>
      </p:grpSp>
      <p:grpSp>
        <p:nvGrpSpPr>
          <p:cNvPr id="55" name="c4-text-3"/>
          <p:cNvGrpSpPr/>
          <p:nvPr/>
        </p:nvGrpSpPr>
        <p:grpSpPr>
          <a:xfrm>
            <a:off x="9099423" y="4631531"/>
            <a:ext cx="2435098" cy="752284"/>
            <a:chOff x="9099423" y="4631531"/>
            <a:chExt cx="2435098" cy="752284"/>
          </a:xfrm>
        </p:grpSpPr>
        <p:sp>
          <p:nvSpPr>
            <p:cNvPr id="54" name="TextBox 54"/>
            <p:cNvSpPr txBox="1"/>
            <p:nvPr/>
          </p:nvSpPr>
          <p:spPr>
            <a:xfrm>
              <a:off x="9099423" y="4631531"/>
              <a:ext cx="2435098" cy="7522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内层次数随 i 变化，要先写成求和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式再套公式，数量级仍是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O(n²)。</a:t>
              </a:r>
            </a:p>
          </p:txBody>
        </p:sp>
      </p:grpSp>
      <p:grpSp>
        <p:nvGrpSpPr>
          <p:cNvPr id="61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56" name="Rectangle 56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59" name="Group 59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0" name="TextBox 60"/>
            <p:cNvSpPr txBox="1"/>
            <p:nvPr/>
          </p:nvSpPr>
          <p:spPr>
            <a:xfrm>
              <a:off x="1040130" y="5728335"/>
              <a:ext cx="98069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语句的数量级指它的执行频率；算法的数量级指所有语句执行频率之和，它在本质上反映了算法所需的计算时间。n =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 时四段分别执行 1、10、100、55 次。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340995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603" y="407194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分析算法：准备工作与频率计数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数量级只保留最高次项的次数，系数和低次项都略去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4760595" cy="2028825"/>
            <a:chOff x="533400" y="1524000"/>
            <a:chExt cx="4760595" cy="20288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638135" y="1648301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描述算法数量级时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320934" y="164830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是否保留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3412" y="2054066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描述数量级的完整多项式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547095" y="205406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3076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35530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3412" y="24598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最高次项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47095" y="24598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73653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3412" y="2865596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最高次项的系数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47095" y="28655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14229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147060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3412" y="327136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最高次项的次数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47095" y="32713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476059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3956685" y="1524000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0" name="c1-flow-2"/>
          <p:cNvGrpSpPr/>
          <p:nvPr/>
        </p:nvGrpSpPr>
        <p:grpSpPr>
          <a:xfrm>
            <a:off x="866775" y="3962400"/>
            <a:ext cx="4094798" cy="2132648"/>
            <a:chOff x="866775" y="3962400"/>
            <a:chExt cx="4094798" cy="2132648"/>
          </a:xfrm>
        </p:grpSpPr>
        <p:sp>
          <p:nvSpPr>
            <p:cNvPr id="26" name="Freeform 26"/>
            <p:cNvSpPr/>
            <p:nvPr/>
          </p:nvSpPr>
          <p:spPr>
            <a:xfrm>
              <a:off x="2913698" y="4360545"/>
              <a:ext cx="9525" cy="363855"/>
            </a:xfrm>
            <a:custGeom>
              <a:avLst/>
              <a:gdLst/>
              <a:ahLst/>
              <a:cxnLst/>
              <a:rect l="l" t="t" r="r" b="b"/>
              <a:pathLst>
                <a:path w="9525" h="363855">
                  <a:moveTo>
                    <a:pt x="0" y="0"/>
                  </a:moveTo>
                  <a:lnTo>
                    <a:pt x="0" y="3638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2861310" y="472440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2913698" y="5227320"/>
              <a:ext cx="9525" cy="363855"/>
            </a:xfrm>
            <a:custGeom>
              <a:avLst/>
              <a:gdLst/>
              <a:ahLst/>
              <a:cxnLst/>
              <a:rect l="l" t="t" r="r" b="b"/>
              <a:pathLst>
                <a:path w="9525" h="363855">
                  <a:moveTo>
                    <a:pt x="0" y="0"/>
                  </a:moveTo>
                  <a:lnTo>
                    <a:pt x="0" y="36385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861310" y="559117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866775" y="3962400"/>
              <a:ext cx="409479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866775" y="4829175"/>
              <a:ext cx="4094798" cy="399098"/>
            </a:xfrm>
            <a:prstGeom prst="roundRect">
              <a:avLst>
                <a:gd name="adj" fmla="val 23866"/>
              </a:avLst>
            </a:prstGeom>
            <a:solidFill>
              <a:srgbClr val="FFFFFF"/>
            </a:solidFill>
            <a:ln w="15240">
              <a:solidFill>
                <a:srgbClr val="2F4B9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66775" y="5695950"/>
              <a:ext cx="4094798" cy="399098"/>
            </a:xfrm>
            <a:prstGeom prst="roundRect">
              <a:avLst>
                <a:gd name="adj" fmla="val 23866"/>
              </a:avLst>
            </a:prstGeom>
            <a:solidFill>
              <a:srgbClr val="E8EDF8"/>
            </a:solidFill>
            <a:ln w="19050">
              <a:solidFill>
                <a:srgbClr val="2F4B9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2380272" y="408289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算法的计算时间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2455659" y="4949666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算法的数量级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380272" y="581644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算法的渐近表示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2942272" y="4509135"/>
              <a:ext cx="1713548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2965894" y="4534376"/>
              <a:ext cx="17249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略去每条语句执行一次的时间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2942272" y="5375910"/>
              <a:ext cx="717232" cy="179070"/>
            </a:xfrm>
            <a:prstGeom prst="roundRect">
              <a:avLst>
                <a:gd name="adj" fmla="val 21277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2965894" y="5401151"/>
              <a:ext cx="66954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略去低次项</a:t>
              </a:r>
            </a:p>
          </p:txBody>
        </p:sp>
      </p:grpSp>
      <p:grpSp>
        <p:nvGrpSpPr>
          <p:cNvPr id="75" name="c2-card-1"/>
          <p:cNvGrpSpPr/>
          <p:nvPr/>
        </p:nvGrpSpPr>
        <p:grpSpPr>
          <a:xfrm>
            <a:off x="5598795" y="1524000"/>
            <a:ext cx="6059805" cy="3245168"/>
            <a:chOff x="5598795" y="1524000"/>
            <a:chExt cx="6059805" cy="3245168"/>
          </a:xfrm>
        </p:grpSpPr>
        <p:sp>
          <p:nvSpPr>
            <p:cNvPr id="41" name="Rectangle 41"/>
            <p:cNvSpPr/>
            <p:nvPr/>
          </p:nvSpPr>
          <p:spPr>
            <a:xfrm>
              <a:off x="5598795" y="1524000"/>
              <a:ext cx="6059805" cy="3245168"/>
            </a:xfrm>
            <a:prstGeom prst="roundRect">
              <a:avLst>
                <a:gd name="adj" fmla="val 410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5608320" y="1657350"/>
              <a:ext cx="47625" cy="297846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5829300" y="171640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24741" y="17506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279642" y="1756410"/>
              <a:ext cx="17457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 = 3n² + 5n + 2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29300" y="2067878"/>
              <a:ext cx="563689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342976" y="2192179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321503" y="2192179"/>
              <a:ext cx="8979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3n² + 5n + 2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136264" y="219217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3n²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330117" y="219217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低次项占比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299440" y="2597944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27520" y="25979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598167" y="2597944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909968" y="2597944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14.8%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829300" y="2874645"/>
              <a:ext cx="56368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829300" y="2879408"/>
              <a:ext cx="56368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255904" y="300370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8061668" y="300370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30502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432315" y="3003709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30000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992894" y="3003709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1.6%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5829300" y="3280410"/>
              <a:ext cx="56368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212368" y="3409474"/>
              <a:ext cx="35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7895816" y="340947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3005002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9266464" y="3409474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3000000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909968" y="3409474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0.17%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5829300" y="2067878"/>
              <a:ext cx="5636895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6949440" y="2067878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8582978" y="2067878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9" name="Rectangle 69"/>
            <p:cNvSpPr/>
            <p:nvPr/>
          </p:nvSpPr>
          <p:spPr>
            <a:xfrm>
              <a:off x="9953625" y="2067878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0" name="Ellipse 70"/>
            <p:cNvSpPr/>
            <p:nvPr/>
          </p:nvSpPr>
          <p:spPr>
            <a:xfrm>
              <a:off x="5837872" y="385667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993892" y="3800475"/>
              <a:ext cx="27852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越大，低次项 5n + 2 的影响越小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5837872" y="415861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5993892" y="4102418"/>
              <a:ext cx="44026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系数 3 与机器快慢、语句写法有关，换一台机器就会变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5823585" y="4401026"/>
              <a:ext cx="2083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所以只保留 n²，记作 O(n²)。</a:t>
              </a:r>
            </a:p>
          </p:txBody>
        </p:sp>
      </p:grpSp>
      <p:grpSp>
        <p:nvGrpSpPr>
          <p:cNvPr id="82" name="c2-callout-2"/>
          <p:cNvGrpSpPr/>
          <p:nvPr/>
        </p:nvGrpSpPr>
        <p:grpSpPr>
          <a:xfrm>
            <a:off x="5598795" y="4944428"/>
            <a:ext cx="6059805" cy="1383982"/>
            <a:chOff x="5598795" y="4944428"/>
            <a:chExt cx="6059805" cy="1383982"/>
          </a:xfrm>
        </p:grpSpPr>
        <p:sp>
          <p:nvSpPr>
            <p:cNvPr id="76" name="Rectangle 76"/>
            <p:cNvSpPr/>
            <p:nvPr/>
          </p:nvSpPr>
          <p:spPr>
            <a:xfrm>
              <a:off x="5598795" y="4944428"/>
              <a:ext cx="6059805" cy="1383982"/>
            </a:xfrm>
            <a:prstGeom prst="roundRect">
              <a:avLst>
                <a:gd name="adj" fmla="val 825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80" name="Group 80"/>
            <p:cNvGrpSpPr/>
            <p:nvPr/>
          </p:nvGrpSpPr>
          <p:grpSpPr>
            <a:xfrm>
              <a:off x="5803583" y="5536883"/>
              <a:ext cx="200026" cy="200026"/>
              <a:chOff x="5803583" y="5536883"/>
              <a:chExt cx="200026" cy="200026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5803583" y="55368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8" name="Freeform 78"/>
              <p:cNvSpPr/>
              <p:nvPr/>
            </p:nvSpPr>
            <p:spPr>
              <a:xfrm>
                <a:off x="5903595" y="56035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9" name="Freeform 79"/>
              <p:cNvSpPr/>
              <p:nvPr/>
            </p:nvSpPr>
            <p:spPr>
              <a:xfrm>
                <a:off x="5892483" y="563689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81" name="TextBox 81"/>
            <p:cNvSpPr txBox="1"/>
            <p:nvPr/>
          </p:nvSpPr>
          <p:spPr>
            <a:xfrm>
              <a:off x="6106287" y="5417820"/>
              <a:ext cx="515721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准确分析出算法数量级的多项式表达式是很困难的，因此对事前分析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的计算时间进行渐近表示。</a:t>
              </a:r>
            </a:p>
          </p:txBody>
        </p:sp>
      </p:grpSp>
      <p:grpSp>
        <p:nvGrpSpPr>
          <p:cNvPr id="8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3" name="TextBox 8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188069" cy="3351847"/>
            <a:chOff x="667512" y="1835468"/>
            <a:chExt cx="6188069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43982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计算时间的渐近表示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17816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 O、Ω、Θ 描述 n 充分大时计算时间的上界、下界和同阶关系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341166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定义2.1 O 记号、运算性质与定理2.1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多项式时间算法与指数时间算法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30274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定义2.2 Ω 记号与定义2.3 Θ 记号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438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渐近表示的传递性与反身性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350472" cy="909257"/>
            <a:chOff x="520446" y="342900"/>
            <a:chExt cx="835047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35047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渐近表示的记号：f(n) 与机器有关，g(n) 与机器无关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6542" y="1545907"/>
            <a:ext cx="4551236" cy="1567053"/>
            <a:chOff x="526542" y="1545907"/>
            <a:chExt cx="4551236" cy="156705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1186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86624" y="1545907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问题规模：输入量或输出量，两者之和，或其中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之一的某种测度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088832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6542" y="2198370"/>
              <a:ext cx="4335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86624" y="219837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算法的计算时间，与机器和语言有关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86978"/>
              <a:ext cx="454437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6542" y="2595562"/>
              <a:ext cx="4335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g(n)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186624" y="2595562"/>
              <a:ext cx="36141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事前分析中确定的某个形式简单的函数，独立于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机器和语言</a:t>
              </a:r>
            </a:p>
          </p:txBody>
        </p:sp>
      </p:grpSp>
      <p:grpSp>
        <p:nvGrpSpPr>
          <p:cNvPr id="27" name="c1-card-2"/>
          <p:cNvGrpSpPr/>
          <p:nvPr/>
        </p:nvGrpSpPr>
        <p:grpSpPr>
          <a:xfrm>
            <a:off x="533400" y="3235642"/>
            <a:ext cx="4544378" cy="2027872"/>
            <a:chOff x="533400" y="3235642"/>
            <a:chExt cx="4544378" cy="2027872"/>
          </a:xfrm>
        </p:grpSpPr>
        <p:sp>
          <p:nvSpPr>
            <p:cNvPr id="16" name="Rectangle 16"/>
            <p:cNvSpPr/>
            <p:nvPr/>
          </p:nvSpPr>
          <p:spPr>
            <a:xfrm>
              <a:off x="533400" y="3235642"/>
              <a:ext cx="4544378" cy="2027872"/>
            </a:xfrm>
            <a:prstGeom prst="roundRect">
              <a:avLst>
                <a:gd name="adj" fmla="val 6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368992"/>
              <a:ext cx="47625" cy="176117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3905" y="3428048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43343" y="3462338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规模怎么取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772478" y="384048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928497" y="3784282"/>
              <a:ext cx="21672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排序、查找：取元素个数 n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72478" y="414337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28497" y="4087177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两个大整数相乘：取整数的位数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72478" y="444531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28497" y="438912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图的算法：常同时用顶点数和边数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8190" y="4688681"/>
              <a:ext cx="385191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规模的取法不同，同一算法的复杂度表达式也不同，写结论时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要说清 n 指什么。</a:t>
              </a:r>
            </a:p>
          </p:txBody>
        </p:sp>
      </p:grpSp>
      <p:grpSp>
        <p:nvGrpSpPr>
          <p:cNvPr id="34" name="c1-callout-3"/>
          <p:cNvGrpSpPr/>
          <p:nvPr/>
        </p:nvGrpSpPr>
        <p:grpSpPr>
          <a:xfrm>
            <a:off x="533400" y="5438775"/>
            <a:ext cx="4544378" cy="729615"/>
            <a:chOff x="533400" y="5438775"/>
            <a:chExt cx="4544378" cy="729615"/>
          </a:xfrm>
        </p:grpSpPr>
        <p:sp>
          <p:nvSpPr>
            <p:cNvPr id="28" name="Rectangle 28"/>
            <p:cNvSpPr/>
            <p:nvPr/>
          </p:nvSpPr>
          <p:spPr>
            <a:xfrm>
              <a:off x="533400" y="5438775"/>
              <a:ext cx="4544378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2" name="Group 32"/>
            <p:cNvGrpSpPr/>
            <p:nvPr/>
          </p:nvGrpSpPr>
          <p:grpSpPr>
            <a:xfrm>
              <a:off x="738188" y="5703570"/>
              <a:ext cx="200026" cy="200025"/>
              <a:chOff x="738188" y="5703570"/>
              <a:chExt cx="200026" cy="200025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738188" y="570357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777926" y="574802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812642" y="585914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1040892" y="5584508"/>
              <a:ext cx="363988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三个记号都只管 n 充分大以后的情形，与前面有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限个 n 上的取值无关。</a:t>
              </a:r>
            </a:p>
          </p:txBody>
        </p:sp>
      </p:grpSp>
      <p:grpSp>
        <p:nvGrpSpPr>
          <p:cNvPr id="60" name="c2-table-1"/>
          <p:cNvGrpSpPr/>
          <p:nvPr/>
        </p:nvGrpSpPr>
        <p:grpSpPr>
          <a:xfrm>
            <a:off x="5377244" y="1524000"/>
            <a:ext cx="6281356" cy="2502789"/>
            <a:chOff x="5377244" y="1524000"/>
            <a:chExt cx="6281356" cy="2502789"/>
          </a:xfrm>
        </p:grpSpPr>
        <p:sp>
          <p:nvSpPr>
            <p:cNvPr id="35" name="Rectangle 35"/>
            <p:cNvSpPr/>
            <p:nvPr/>
          </p:nvSpPr>
          <p:spPr>
            <a:xfrm>
              <a:off x="5382578" y="1524000"/>
              <a:ext cx="6276022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6811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792343" y="1648301"/>
              <a:ext cx="954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≥ n₀ 时成立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93334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含义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125873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类比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5482590" y="2054066"/>
              <a:ext cx="10426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定义2.1 f(n) =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O(g(n))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365682" y="2154079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|f(n)| ≤ c|g(n)|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373552" y="2154079"/>
              <a:ext cx="1195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上界：阶不高于 g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35185" y="215407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82578" y="253079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382578" y="2535555"/>
              <a:ext cx="6276022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482590" y="2659856"/>
              <a:ext cx="10426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定义2.2 f(n) =</a:t>
              </a:r>
              <a:br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Ω(g(n))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365682" y="2759869"/>
              <a:ext cx="1112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|f(n)| ≥ c|g(n)|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373552" y="2759869"/>
              <a:ext cx="1195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下界：阶不低于 g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235185" y="275986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≥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382578" y="3136582"/>
              <a:ext cx="627602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482590" y="3265646"/>
              <a:ext cx="10426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定义2.3 f(n) =</a:t>
              </a:r>
              <a:br/>
              <a:r>
                <a:rPr lang="el-GR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Θ(g(n))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365682" y="3265646"/>
              <a:ext cx="1248918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c₁|g(n)| ≤ |f(n)| ≤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c₂|g(n)|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373552" y="336565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同阶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35185" y="3365659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82578" y="1524000"/>
              <a:ext cx="6276022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260908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9268778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900410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377244" y="3821430"/>
              <a:ext cx="17280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c、c₁、c₂、n₀ 都是正常数</a:t>
              </a:r>
            </a:p>
          </p:txBody>
        </p:sp>
      </p:grpSp>
      <p:grpSp>
        <p:nvGrpSpPr>
          <p:cNvPr id="67" name="c2-callout-2"/>
          <p:cNvGrpSpPr/>
          <p:nvPr/>
        </p:nvGrpSpPr>
        <p:grpSpPr>
          <a:xfrm>
            <a:off x="5382578" y="4160520"/>
            <a:ext cx="6276022" cy="729615"/>
            <a:chOff x="5382578" y="4160520"/>
            <a:chExt cx="6276022" cy="729615"/>
          </a:xfrm>
        </p:grpSpPr>
        <p:sp>
          <p:nvSpPr>
            <p:cNvPr id="61" name="Rectangle 61"/>
            <p:cNvSpPr/>
            <p:nvPr/>
          </p:nvSpPr>
          <p:spPr>
            <a:xfrm>
              <a:off x="5382578" y="4160520"/>
              <a:ext cx="6276022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5575307" y="4421623"/>
              <a:ext cx="224134" cy="192560"/>
              <a:chOff x="5575307" y="4421623"/>
              <a:chExt cx="224134" cy="192560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5687378" y="449199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5575307" y="442162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5687378" y="456977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5890070" y="4307205"/>
              <a:ext cx="5277231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这里的“=”表示“属于”，只能从左往右读：n = O(n²) 成立，但不能反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过来写 O(n²) = n。</a:t>
              </a:r>
            </a:p>
          </p:txBody>
        </p:sp>
      </p:grpSp>
      <p:grpSp>
        <p:nvGrpSpPr>
          <p:cNvPr id="74" name="c2-callout-3"/>
          <p:cNvGrpSpPr/>
          <p:nvPr/>
        </p:nvGrpSpPr>
        <p:grpSpPr>
          <a:xfrm>
            <a:off x="5382578" y="5065395"/>
            <a:ext cx="6276022" cy="1102995"/>
            <a:chOff x="5382578" y="5065395"/>
            <a:chExt cx="6276022" cy="1102995"/>
          </a:xfrm>
        </p:grpSpPr>
        <p:sp>
          <p:nvSpPr>
            <p:cNvPr id="68" name="Rectangle 68"/>
            <p:cNvSpPr/>
            <p:nvPr/>
          </p:nvSpPr>
          <p:spPr>
            <a:xfrm>
              <a:off x="5382578" y="5065395"/>
              <a:ext cx="6276022" cy="1102995"/>
            </a:xfrm>
            <a:prstGeom prst="roundRect">
              <a:avLst>
                <a:gd name="adj" fmla="val 1036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5587365" y="5516880"/>
              <a:ext cx="200026" cy="200026"/>
              <a:chOff x="5587365" y="5516880"/>
              <a:chExt cx="200026" cy="200026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5587365" y="551688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5687378" y="55835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5676265" y="561689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5890070" y="5397818"/>
              <a:ext cx="521722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说“冒泡排序是 O(n³)”并不算错，但没有信息量。确定数量级时要给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出最紧的 g(n)。</a:t>
              </a:r>
            </a:p>
          </p:txBody>
        </p:sp>
      </p:grpSp>
      <p:grpSp>
        <p:nvGrpSpPr>
          <p:cNvPr id="7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5" name="TextBox 7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85025" cy="909257"/>
            <a:chOff x="520446" y="342900"/>
            <a:chExt cx="86850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850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定义2.1（O）：n ≥ n₀ 之后，f(n) 始终不超过 c·g(n)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316355"/>
            <a:chOff x="533400" y="1524000"/>
            <a:chExt cx="5410200" cy="13163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316355"/>
            </a:xfrm>
            <a:prstGeom prst="roundRect">
              <a:avLst>
                <a:gd name="adj" fmla="val 101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4965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400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4475" y="1769269"/>
              <a:ext cx="574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定义2.1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5205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如果存在两个正常数 c 和 n₀，对于所有的 n ≥ n₀，有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|f(n)| ≤ c|g(n)|，则记作 f(n) = O(g(n))。</a:t>
              </a:r>
            </a:p>
          </p:txBody>
        </p:sp>
      </p:grpSp>
      <p:grpSp>
        <p:nvGrpSpPr>
          <p:cNvPr id="21" name="c1-bullets-2"/>
          <p:cNvGrpSpPr/>
          <p:nvPr/>
        </p:nvGrpSpPr>
        <p:grpSpPr>
          <a:xfrm>
            <a:off x="539115" y="3055620"/>
            <a:ext cx="4983480" cy="1613535"/>
            <a:chOff x="539115" y="3055620"/>
            <a:chExt cx="4983480" cy="1613535"/>
          </a:xfrm>
        </p:grpSpPr>
        <p:sp>
          <p:nvSpPr>
            <p:cNvPr id="13" name="Ellipse 13"/>
            <p:cNvSpPr/>
            <p:nvPr/>
          </p:nvSpPr>
          <p:spPr>
            <a:xfrm>
              <a:off x="539115" y="311848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7230" y="3055620"/>
              <a:ext cx="48253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n 充分大时 f(n) 有上界，一个常数倍的 g(n) 是 f(n)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的一个上界，f(n) 的数量级就是 g(n)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39115" y="37490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7230" y="3686175"/>
              <a:ext cx="249897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的阶不高于 g(n) 的阶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39115" y="409384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7230" y="4030980"/>
              <a:ext cx="472020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在确定 f(n) 的数量级时，总是试图求出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最小的</a:t>
              </a: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g(n)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9115" y="443865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7230" y="4375785"/>
              <a:ext cx="30139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有关证明中，找出 c 和 n₀ 是关键</a:t>
              </a:r>
            </a:p>
          </p:txBody>
        </p:sp>
      </p:grpSp>
      <p:grpSp>
        <p:nvGrpSpPr>
          <p:cNvPr id="28" name="c1-card-3"/>
          <p:cNvGrpSpPr/>
          <p:nvPr/>
        </p:nvGrpSpPr>
        <p:grpSpPr>
          <a:xfrm>
            <a:off x="533400" y="4800600"/>
            <a:ext cx="5410200" cy="1411605"/>
            <a:chOff x="533400" y="4800600"/>
            <a:chExt cx="5410200" cy="1411605"/>
          </a:xfrm>
        </p:grpSpPr>
        <p:sp>
          <p:nvSpPr>
            <p:cNvPr id="22" name="Rectangle 22"/>
            <p:cNvSpPr/>
            <p:nvPr/>
          </p:nvSpPr>
          <p:spPr>
            <a:xfrm>
              <a:off x="533400" y="4800600"/>
              <a:ext cx="5410200" cy="1411605"/>
            </a:xfrm>
            <a:prstGeom prst="roundRect">
              <a:avLst>
                <a:gd name="adj" fmla="val 94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933950"/>
              <a:ext cx="47625" cy="114490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81050" y="50101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76160" y="50458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39202" y="5045392"/>
              <a:ext cx="246465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10n + 5，g(n) = 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73430" y="5406390"/>
              <a:ext cx="4453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 时 5 ≤ 5n，所以 10n + 5 ≤ 15n。取 c = 15、n₀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1，得 10n + 5 = O(n)。</a:t>
              </a:r>
            </a:p>
          </p:txBody>
        </p:sp>
      </p:grpSp>
      <p:grpSp>
        <p:nvGrpSpPr>
          <p:cNvPr id="47" name="c2-graph-1"/>
          <p:cNvGrpSpPr/>
          <p:nvPr/>
        </p:nvGrpSpPr>
        <p:grpSpPr>
          <a:xfrm>
            <a:off x="6633210" y="1572101"/>
            <a:ext cx="4916207" cy="3678460"/>
            <a:chOff x="6633210" y="1572101"/>
            <a:chExt cx="4916207" cy="3678460"/>
          </a:xfrm>
        </p:grpSpPr>
        <p:sp>
          <p:nvSpPr>
            <p:cNvPr id="29" name="Freeform 29"/>
            <p:cNvSpPr/>
            <p:nvPr/>
          </p:nvSpPr>
          <p:spPr>
            <a:xfrm>
              <a:off x="6718935" y="4867275"/>
              <a:ext cx="4602480" cy="9525"/>
            </a:xfrm>
            <a:custGeom>
              <a:avLst/>
              <a:gdLst/>
              <a:ahLst/>
              <a:cxnLst/>
              <a:rect l="l" t="t" r="r" b="b"/>
              <a:pathLst>
                <a:path w="4602480" h="9525">
                  <a:moveTo>
                    <a:pt x="0" y="0"/>
                  </a:moveTo>
                  <a:lnTo>
                    <a:pt x="460248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11321415" y="4819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1" name="Freeform 31"/>
            <p:cNvSpPr/>
            <p:nvPr/>
          </p:nvSpPr>
          <p:spPr>
            <a:xfrm>
              <a:off x="6680835" y="1824038"/>
              <a:ext cx="9525" cy="3005138"/>
            </a:xfrm>
            <a:custGeom>
              <a:avLst/>
              <a:gdLst/>
              <a:ahLst/>
              <a:cxnLst/>
              <a:rect l="l" t="t" r="r" b="b"/>
              <a:pathLst>
                <a:path w="9525" h="3005138">
                  <a:moveTo>
                    <a:pt x="0" y="3005138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633210" y="1728788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33" name="Freeform 33"/>
            <p:cNvSpPr/>
            <p:nvPr/>
          </p:nvSpPr>
          <p:spPr>
            <a:xfrm>
              <a:off x="6713220" y="1990725"/>
              <a:ext cx="4264342" cy="2855595"/>
            </a:xfrm>
            <a:custGeom>
              <a:avLst/>
              <a:gdLst/>
              <a:ahLst/>
              <a:cxnLst/>
              <a:rect l="l" t="t" r="r" b="b"/>
              <a:pathLst>
                <a:path w="4264342" h="2855595">
                  <a:moveTo>
                    <a:pt x="0" y="2855595"/>
                  </a:moveTo>
                  <a:lnTo>
                    <a:pt x="4264342" y="0"/>
                  </a:lnTo>
                </a:path>
              </a:pathLst>
            </a:custGeom>
            <a:noFill/>
            <a:ln w="22860">
              <a:solidFill>
                <a:srgbClr val="B42318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694170" y="2643188"/>
              <a:ext cx="4385310" cy="2187892"/>
            </a:xfrm>
            <a:custGeom>
              <a:avLst/>
              <a:gdLst/>
              <a:ahLst/>
              <a:cxnLst/>
              <a:rect l="l" t="t" r="r" b="b"/>
              <a:pathLst>
                <a:path w="4385310" h="2187892">
                  <a:moveTo>
                    <a:pt x="0" y="2187892"/>
                  </a:moveTo>
                  <a:lnTo>
                    <a:pt x="203835" y="1629728"/>
                  </a:lnTo>
                  <a:lnTo>
                    <a:pt x="420053" y="1183958"/>
                  </a:lnTo>
                  <a:lnTo>
                    <a:pt x="636270" y="886778"/>
                  </a:lnTo>
                  <a:lnTo>
                    <a:pt x="852488" y="738188"/>
                  </a:lnTo>
                  <a:lnTo>
                    <a:pt x="1068705" y="775335"/>
                  </a:lnTo>
                  <a:lnTo>
                    <a:pt x="1231583" y="961072"/>
                  </a:lnTo>
                  <a:lnTo>
                    <a:pt x="1393508" y="1283970"/>
                  </a:lnTo>
                  <a:lnTo>
                    <a:pt x="1609725" y="1332547"/>
                  </a:lnTo>
                  <a:lnTo>
                    <a:pt x="1826895" y="1369695"/>
                  </a:lnTo>
                  <a:lnTo>
                    <a:pt x="2043112" y="1258253"/>
                  </a:lnTo>
                  <a:lnTo>
                    <a:pt x="2259330" y="1072515"/>
                  </a:lnTo>
                  <a:lnTo>
                    <a:pt x="2529840" y="849630"/>
                  </a:lnTo>
                  <a:lnTo>
                    <a:pt x="2800350" y="701040"/>
                  </a:lnTo>
                  <a:lnTo>
                    <a:pt x="3070860" y="626745"/>
                  </a:lnTo>
                  <a:lnTo>
                    <a:pt x="3341370" y="515303"/>
                  </a:lnTo>
                  <a:lnTo>
                    <a:pt x="3611880" y="329565"/>
                  </a:lnTo>
                  <a:lnTo>
                    <a:pt x="3882390" y="143828"/>
                  </a:lnTo>
                  <a:lnTo>
                    <a:pt x="4152900" y="32385"/>
                  </a:lnTo>
                  <a:lnTo>
                    <a:pt x="4385310" y="0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087678" y="3984308"/>
              <a:ext cx="9525" cy="983933"/>
            </a:xfrm>
            <a:custGeom>
              <a:avLst/>
              <a:gdLst/>
              <a:ahLst/>
              <a:cxnLst/>
              <a:rect l="l" t="t" r="r" b="b"/>
              <a:pathLst>
                <a:path w="9525" h="983933">
                  <a:moveTo>
                    <a:pt x="0" y="0"/>
                  </a:moveTo>
                  <a:lnTo>
                    <a:pt x="0" y="983933"/>
                  </a:lnTo>
                </a:path>
              </a:pathLst>
            </a:custGeom>
            <a:noFill/>
            <a:ln w="17145">
              <a:solidFill>
                <a:srgbClr val="5B6475"/>
              </a:solidFill>
              <a:custDash>
                <a:ds d="333333" sp="222222"/>
              </a:custDash>
            </a:ln>
          </p:spPr>
        </p:sp>
        <p:sp>
          <p:nvSpPr>
            <p:cNvPr id="36" name="Ellipse 36"/>
            <p:cNvSpPr/>
            <p:nvPr/>
          </p:nvSpPr>
          <p:spPr>
            <a:xfrm>
              <a:off x="6652260" y="4838700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Ellipse 37"/>
            <p:cNvSpPr/>
            <p:nvPr/>
          </p:nvSpPr>
          <p:spPr>
            <a:xfrm>
              <a:off x="6671310" y="1700212"/>
              <a:ext cx="19050" cy="190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Ellipse 38"/>
            <p:cNvSpPr/>
            <p:nvPr/>
          </p:nvSpPr>
          <p:spPr>
            <a:xfrm>
              <a:off x="10980420" y="1941195"/>
              <a:ext cx="57150" cy="57150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9" name="Ellipse 39"/>
            <p:cNvSpPr/>
            <p:nvPr/>
          </p:nvSpPr>
          <p:spPr>
            <a:xfrm>
              <a:off x="11089005" y="2609850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Ellipse 40"/>
            <p:cNvSpPr/>
            <p:nvPr/>
          </p:nvSpPr>
          <p:spPr>
            <a:xfrm>
              <a:off x="8040052" y="3879532"/>
              <a:ext cx="95250" cy="952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1443933" y="4792980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88290" y="5015865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n₀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487767" y="1572101"/>
              <a:ext cx="61002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c·g(n)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1074006" y="2203609"/>
              <a:ext cx="4109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883737" y="2525078"/>
              <a:ext cx="197544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&lt; n₀：f(n) 可以超过 c·g(n)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91647" y="4233862"/>
              <a:ext cx="14877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≥ n₀：f(n) ≤ c·g(n)</a:t>
              </a:r>
            </a:p>
          </p:txBody>
        </p:sp>
      </p:grpSp>
      <p:grpSp>
        <p:nvGrpSpPr>
          <p:cNvPr id="54" name="c2-callout-2"/>
          <p:cNvGrpSpPr/>
          <p:nvPr/>
        </p:nvGrpSpPr>
        <p:grpSpPr>
          <a:xfrm>
            <a:off x="6248400" y="5429250"/>
            <a:ext cx="5410200" cy="782955"/>
            <a:chOff x="6248400" y="5429250"/>
            <a:chExt cx="5410200" cy="782955"/>
          </a:xfrm>
        </p:grpSpPr>
        <p:sp>
          <p:nvSpPr>
            <p:cNvPr id="48" name="Rectangle 48"/>
            <p:cNvSpPr/>
            <p:nvPr/>
          </p:nvSpPr>
          <p:spPr>
            <a:xfrm>
              <a:off x="6248400" y="542925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6453188" y="5720715"/>
              <a:ext cx="200026" cy="200025"/>
              <a:chOff x="6453188" y="5720715"/>
              <a:chExt cx="200026" cy="200025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6453188" y="572071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6492926" y="576516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6527642" y="587629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6755130" y="5577840"/>
              <a:ext cx="42538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定义只要求 n ≥ n₀ 以后不等式成立，前面有限个 n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上 f(n) 超过 c·g(n) 不影响结论。</a:t>
              </a:r>
            </a:p>
          </p:txBody>
        </p:sp>
      </p:grpSp>
      <p:grpSp>
        <p:nvGrpSpPr>
          <p:cNvPr id="5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5" name="TextBox 5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061484" cy="909257"/>
            <a:chOff x="520446" y="342900"/>
            <a:chExt cx="70614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0614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例题：按定义判断 f(n) = O(g(n)) 是否成立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58" name="c1-table-1"/>
          <p:cNvGrpSpPr/>
          <p:nvPr/>
        </p:nvGrpSpPr>
        <p:grpSpPr>
          <a:xfrm>
            <a:off x="533400" y="1524000"/>
            <a:ext cx="11125200" cy="3067050"/>
            <a:chOff x="533400" y="1524000"/>
            <a:chExt cx="11125200" cy="30670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686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08711" y="1658779"/>
              <a:ext cx="2056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题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807463" y="1658779"/>
              <a:ext cx="4560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309556" y="1658779"/>
              <a:ext cx="4560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g(n)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618393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结论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75060" y="1658779"/>
              <a:ext cx="9086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取 c 和 n₀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290406" y="1658779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验证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9093" y="2128361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93864" y="2128361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085528" y="2128361"/>
              <a:ext cx="11961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198048" y="2128361"/>
              <a:ext cx="6453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成立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643944" y="2128361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= 3，n₀ = 1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166" y="2128361"/>
              <a:ext cx="149597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 时 3n ≤ 3·n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33400" y="2457450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33400" y="2462212"/>
              <a:ext cx="11125200" cy="72199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49093" y="2723674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93864" y="2723674"/>
              <a:ext cx="7600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+ 1024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85528" y="2723674"/>
              <a:ext cx="54016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1025n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198048" y="2723674"/>
              <a:ext cx="6453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成立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643944" y="2723674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= 1，n₀ = 1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24166" y="2596991"/>
              <a:ext cx="3260598" cy="532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 时 1024 ≤ 1024n，所以 n + 1024 ≤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1025n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317944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9093" y="3318986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93864" y="3318986"/>
              <a:ext cx="129525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2n² + 11n − 10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085528" y="3318986"/>
              <a:ext cx="3298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3n²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198048" y="3318986"/>
              <a:ext cx="6453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成立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549265" y="3193732"/>
              <a:ext cx="1761172" cy="449580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643944" y="3318986"/>
              <a:ext cx="127613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= 1，n₀ = 10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24166" y="3318986"/>
              <a:ext cx="39714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3n² − (2n² + 11n − 10) = (n − 1)(n − 10) ≥ 0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33400" y="36490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33400" y="3653790"/>
              <a:ext cx="11125200" cy="4686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9093" y="3788569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93864" y="3788569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n²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085528" y="3788569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n³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198048" y="3788569"/>
              <a:ext cx="6453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成立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643944" y="3788569"/>
              <a:ext cx="11709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= 1，n₀ = 1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24166" y="3788569"/>
              <a:ext cx="139083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 时 n² ≤ n³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1176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49093" y="4257199"/>
              <a:ext cx="1248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93864" y="4257199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n³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085528" y="4257199"/>
              <a:ext cx="22475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n²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4103370" y="4131945"/>
              <a:ext cx="1426845" cy="4495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4198048" y="4257199"/>
              <a:ext cx="83646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✗ 不成立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5643944" y="4257199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找不到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24166" y="4257199"/>
              <a:ext cx="173492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用反证法，见下一页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1524000"/>
              <a:ext cx="11125200" cy="30670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084898" y="1524000"/>
              <a:ext cx="9525" cy="30670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2976562" y="1524000"/>
              <a:ext cx="9525" cy="30670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4089082" y="1524000"/>
              <a:ext cx="9525" cy="30670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534978" y="1524000"/>
              <a:ext cx="9525" cy="30670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7315200" y="1524000"/>
              <a:ext cx="9525" cy="30670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5" name="c1-callout-2"/>
          <p:cNvGrpSpPr/>
          <p:nvPr/>
        </p:nvGrpSpPr>
        <p:grpSpPr>
          <a:xfrm>
            <a:off x="533400" y="4776788"/>
            <a:ext cx="11125200" cy="896302"/>
            <a:chOff x="533400" y="4776788"/>
            <a:chExt cx="11125200" cy="896302"/>
          </a:xfrm>
        </p:grpSpPr>
        <p:sp>
          <p:nvSpPr>
            <p:cNvPr id="59" name="Rectangle 59"/>
            <p:cNvSpPr/>
            <p:nvPr/>
          </p:nvSpPr>
          <p:spPr>
            <a:xfrm>
              <a:off x="533400" y="4776788"/>
              <a:ext cx="11125200" cy="896302"/>
            </a:xfrm>
            <a:prstGeom prst="roundRect">
              <a:avLst>
                <a:gd name="adj" fmla="val 1275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3" name="Group 63"/>
            <p:cNvGrpSpPr/>
            <p:nvPr/>
          </p:nvGrpSpPr>
          <p:grpSpPr>
            <a:xfrm>
              <a:off x="738188" y="5124450"/>
              <a:ext cx="200026" cy="200026"/>
              <a:chOff x="738188" y="5124450"/>
              <a:chExt cx="200026" cy="200026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38188" y="512445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838200" y="51911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827088" y="5224463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1040511" y="5124926"/>
              <a:ext cx="98401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 和 n₀ 不唯一。第 3 题也可以取 c = 13/3、n₀ = 1：n ≥ 1 时 2n² + 11n − 10 ≤ 2n² + 11n² = 13n² = (13/3)·3n²。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44540"/>
            <a:ext cx="11125200" cy="518160"/>
            <a:chOff x="533400" y="5844540"/>
            <a:chExt cx="11125200" cy="518160"/>
          </a:xfrm>
        </p:grpSpPr>
        <p:sp>
          <p:nvSpPr>
            <p:cNvPr id="66" name="Rectangle 66"/>
            <p:cNvSpPr/>
            <p:nvPr/>
          </p:nvSpPr>
          <p:spPr>
            <a:xfrm>
              <a:off x="533400" y="5844540"/>
              <a:ext cx="11125200" cy="518160"/>
            </a:xfrm>
            <a:prstGeom prst="roundRect">
              <a:avLst>
                <a:gd name="adj" fmla="val 2205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26129" y="5999916"/>
              <a:ext cx="224134" cy="192560"/>
              <a:chOff x="726129" y="5999916"/>
              <a:chExt cx="224134" cy="19256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838200" y="60702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26129" y="59999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38200" y="61480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511" y="6004084"/>
              <a:ext cx="93855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4 题说明 O 只给出上界：n² = O(n³) 正确，但这个上界不紧，确定数量级时应写最小的 g(n)，即 O(n²)。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195332" cy="909257"/>
            <a:chOff x="520446" y="342900"/>
            <a:chExt cx="71953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1953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例题详解：第 3 题怎样找 n₀，第 5 题怎样反证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1" name="c1-card-1"/>
          <p:cNvGrpSpPr/>
          <p:nvPr/>
        </p:nvGrpSpPr>
        <p:grpSpPr>
          <a:xfrm>
            <a:off x="533400" y="1524000"/>
            <a:ext cx="5193982" cy="4737735"/>
            <a:chOff x="533400" y="1524000"/>
            <a:chExt cx="5193982" cy="473773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4737735"/>
            </a:xfrm>
            <a:prstGeom prst="roundRect">
              <a:avLst>
                <a:gd name="adj" fmla="val 281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447103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66579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0238" y="1763554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3 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48194" y="1767364"/>
              <a:ext cx="321902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2n² + 11n − 10 = O(3n²)，取 c = 1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75335" y="2095500"/>
              <a:ext cx="4748212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267423" y="222694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303823" y="2226945"/>
              <a:ext cx="3853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f(n)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571574" y="2226945"/>
              <a:ext cx="2920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3n²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747260" y="22269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67423" y="2657475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922575" y="26574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099865" y="26574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864379" y="2657475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75335" y="2951798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775335" y="2956560"/>
              <a:ext cx="474821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267423" y="308705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33726" y="308705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011016" y="308705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864379" y="308705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75335" y="3381375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267423" y="351758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833726" y="351758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011016" y="3517582"/>
              <a:ext cx="1898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864379" y="351758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75335" y="3811905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75335" y="3816668"/>
              <a:ext cx="474821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267423" y="3948112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2744876" y="394811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251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922166" y="3948112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243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15778" y="3826192"/>
              <a:ext cx="1198245" cy="41148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4864379" y="3948112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75335" y="4241482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1220777" y="437769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744876" y="437769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922166" y="437769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300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4315778" y="4255770"/>
              <a:ext cx="1198245" cy="41148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4864379" y="437769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775335" y="4672012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775335" y="4676775"/>
              <a:ext cx="474821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220777" y="4808220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744876" y="480822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922166" y="4808220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363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864379" y="4808220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75335" y="5102542"/>
              <a:ext cx="474821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1220777" y="5237798"/>
              <a:ext cx="19877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2744876" y="5237798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410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922166" y="5237798"/>
              <a:ext cx="2787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432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4864379" y="5237798"/>
              <a:ext cx="10104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775335" y="2095500"/>
              <a:ext cx="4748212" cy="344138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1859280" y="2095500"/>
              <a:ext cx="9525" cy="3441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3124200" y="2095500"/>
              <a:ext cx="9525" cy="3441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4301490" y="2095500"/>
              <a:ext cx="9525" cy="344138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69239" y="5649278"/>
              <a:ext cx="41422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= 2~9 时不等式不成立，所以 n₀ 至少取 10；n ≥ 10 时 (n −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1)(n − 10) ≥ 0 恒成立。</a:t>
              </a:r>
            </a:p>
          </p:txBody>
        </p:sp>
      </p:grpSp>
      <p:grpSp>
        <p:nvGrpSpPr>
          <p:cNvPr id="80" name="c2-card-1"/>
          <p:cNvGrpSpPr/>
          <p:nvPr/>
        </p:nvGrpSpPr>
        <p:grpSpPr>
          <a:xfrm>
            <a:off x="6032182" y="1524000"/>
            <a:ext cx="5626418" cy="2484120"/>
            <a:chOff x="6032182" y="1524000"/>
            <a:chExt cx="5626418" cy="2484120"/>
          </a:xfrm>
        </p:grpSpPr>
        <p:sp>
          <p:nvSpPr>
            <p:cNvPr id="62" name="Rectangle 62"/>
            <p:cNvSpPr/>
            <p:nvPr/>
          </p:nvSpPr>
          <p:spPr>
            <a:xfrm>
              <a:off x="6032182" y="1524000"/>
              <a:ext cx="5626418" cy="2484120"/>
            </a:xfrm>
            <a:prstGeom prst="roundRect">
              <a:avLst>
                <a:gd name="adj" fmla="val 53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6041708" y="1657350"/>
              <a:ext cx="47625" cy="22174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6274118" y="1727835"/>
              <a:ext cx="66579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359021" y="1763554"/>
              <a:ext cx="4950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第 5 题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7046976" y="1767364"/>
              <a:ext cx="10779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n³ ≠ O(n²)</a:t>
              </a:r>
            </a:p>
          </p:txBody>
        </p:sp>
        <p:sp>
          <p:nvSpPr>
            <p:cNvPr id="67" name="Ellipse 67"/>
            <p:cNvSpPr/>
            <p:nvPr/>
          </p:nvSpPr>
          <p:spPr>
            <a:xfrm>
              <a:off x="6274117" y="2106930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8" name="TextBox 68"/>
            <p:cNvSpPr txBox="1"/>
            <p:nvPr/>
          </p:nvSpPr>
          <p:spPr>
            <a:xfrm>
              <a:off x="6332462" y="214726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565011" y="2119789"/>
              <a:ext cx="44971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假设存在正常数 c 和 n₀，使 n ≥ n₀ 时 n³ ≤ cn² 成立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6274117" y="2426970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6332462" y="246730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6565011" y="2439829"/>
              <a:ext cx="43824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 n₁ = max{n₀, ⌈c⌉} + 1，则 n₁ &gt; n₀ 且 n₁ &gt; c</a:t>
              </a:r>
            </a:p>
          </p:txBody>
        </p:sp>
        <p:sp>
          <p:nvSpPr>
            <p:cNvPr id="73" name="Ellipse 73"/>
            <p:cNvSpPr/>
            <p:nvPr/>
          </p:nvSpPr>
          <p:spPr>
            <a:xfrm>
              <a:off x="6274117" y="2747010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332462" y="278734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565011" y="2759869"/>
              <a:ext cx="307304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n₁³ = n₁·n₁² &gt; c·n₁²，与假设矛盾</a:t>
              </a:r>
            </a:p>
          </p:txBody>
        </p:sp>
        <p:sp>
          <p:nvSpPr>
            <p:cNvPr id="76" name="Ellipse 76"/>
            <p:cNvSpPr/>
            <p:nvPr/>
          </p:nvSpPr>
          <p:spPr>
            <a:xfrm>
              <a:off x="6274117" y="3067050"/>
              <a:ext cx="201930" cy="20193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332462" y="3107388"/>
              <a:ext cx="85241" cy="1892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6565011" y="3079909"/>
              <a:ext cx="204150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 n³ ≠ O(n²)。证毕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6268022" y="3395662"/>
              <a:ext cx="476707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原课件取 n₁ = max{n₀, c} + 1。c 不一定是整数，取上整 ⌈c⌉ 保证 n₁</a:t>
              </a:r>
              <a:br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是整数，论证更严谨。</a:t>
              </a:r>
            </a:p>
          </p:txBody>
        </p:sp>
      </p:grpSp>
      <p:grpSp>
        <p:nvGrpSpPr>
          <p:cNvPr id="88" name="c2-card-2"/>
          <p:cNvGrpSpPr/>
          <p:nvPr/>
        </p:nvGrpSpPr>
        <p:grpSpPr>
          <a:xfrm>
            <a:off x="6032182" y="4193858"/>
            <a:ext cx="5626418" cy="2067878"/>
            <a:chOff x="6032182" y="4193858"/>
            <a:chExt cx="5626418" cy="2067878"/>
          </a:xfrm>
        </p:grpSpPr>
        <p:sp>
          <p:nvSpPr>
            <p:cNvPr id="81" name="Rectangle 81"/>
            <p:cNvSpPr/>
            <p:nvPr/>
          </p:nvSpPr>
          <p:spPr>
            <a:xfrm>
              <a:off x="6032182" y="4193858"/>
              <a:ext cx="5626418" cy="2067878"/>
            </a:xfrm>
            <a:prstGeom prst="roundRect">
              <a:avLst>
                <a:gd name="adj" fmla="val 6449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236018" y="4397692"/>
              <a:ext cx="120491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304572" y="443341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两类证明的套路</a:t>
              </a:r>
            </a:p>
          </p:txBody>
        </p:sp>
        <p:sp>
          <p:nvSpPr>
            <p:cNvPr id="84" name="Ellipse 84"/>
            <p:cNvSpPr/>
            <p:nvPr/>
          </p:nvSpPr>
          <p:spPr>
            <a:xfrm>
              <a:off x="6243638" y="4830128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6400229" y="4770596"/>
              <a:ext cx="394282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证明成立：给出具体的 c 和 n₀，再验证不等式</a:t>
              </a:r>
            </a:p>
          </p:txBody>
        </p:sp>
        <p:sp>
          <p:nvSpPr>
            <p:cNvPr id="86" name="Ellipse 86"/>
            <p:cNvSpPr/>
            <p:nvPr/>
          </p:nvSpPr>
          <p:spPr>
            <a:xfrm>
              <a:off x="6243638" y="5150167"/>
              <a:ext cx="60960" cy="6096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87" name="TextBox 87"/>
            <p:cNvSpPr txBox="1"/>
            <p:nvPr/>
          </p:nvSpPr>
          <p:spPr>
            <a:xfrm>
              <a:off x="6400229" y="5090636"/>
              <a:ext cx="464019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证明不成立：假设 c、n₀ 存在，构造一个 n ≥ n₀ 使不等式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失败</a:t>
              </a:r>
            </a:p>
          </p:txBody>
        </p:sp>
      </p:grpSp>
      <p:grpSp>
        <p:nvGrpSpPr>
          <p:cNvPr id="9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9" name="TextBox 8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90" name="TextBox 9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39262" cy="909257"/>
            <a:chOff x="520446" y="342900"/>
            <a:chExt cx="623926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3926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 的六条运算性质（f(n)、g(n) 非负）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41" name="c1-table-1"/>
          <p:cNvGrpSpPr/>
          <p:nvPr/>
        </p:nvGrpSpPr>
        <p:grpSpPr>
          <a:xfrm>
            <a:off x="527685" y="1524000"/>
            <a:ext cx="6065520" cy="3890487"/>
            <a:chOff x="527685" y="1524000"/>
            <a:chExt cx="6065520" cy="389048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57504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序号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71776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44476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80062" y="222170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247013" y="2108359"/>
              <a:ext cx="2752090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O(f(n)) + O(g(n)) = O(max(f(n),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g(n)))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761738" y="21083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顺序执行的两段取较大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者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6431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647950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80062" y="278368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47013" y="2783681"/>
              <a:ext cx="312748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O(f(n)) + O(g(n)) = O(f(n) + g(n))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761738" y="2783681"/>
              <a:ext cx="158962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与性质 1 等价的写法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09276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80062" y="323230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247013" y="3232309"/>
              <a:ext cx="29175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O(f(n))·O(g(n)) = O(f(n)·g(n))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761738" y="323230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嵌套循环的时间相乘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4139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46158"/>
              <a:ext cx="605980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80062" y="379428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47013" y="3680936"/>
              <a:ext cx="259765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g(n) = O(f(n))，则 O(f(n)) +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O(g(n)) = O(f(n))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761738" y="379428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低阶部分被吸收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421671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80062" y="435721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247013" y="4357211"/>
              <a:ext cx="300559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O(c·f(n)) = O(f(n))，c 是正的常数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761738" y="435721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常数因子可以去掉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33400" y="4665345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33400" y="4670108"/>
              <a:ext cx="605980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80062" y="480583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247013" y="4805839"/>
              <a:ext cx="1302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O(f(n))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761738" y="4805839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任何函数是自己的上界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1524000"/>
              <a:ext cx="6059805" cy="35947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1134428" y="1524000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4649152" y="1524000"/>
              <a:ext cx="9525" cy="35947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27685" y="5194459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性质 1 与 2 等价，因为 max(f, g) ≤ f + g ≤ 2·max(f, g)</a:t>
              </a:r>
            </a:p>
          </p:txBody>
        </p:sp>
      </p:grpSp>
      <p:grpSp>
        <p:nvGrpSpPr>
          <p:cNvPr id="56" name="c2-card-1"/>
          <p:cNvGrpSpPr/>
          <p:nvPr/>
        </p:nvGrpSpPr>
        <p:grpSpPr>
          <a:xfrm>
            <a:off x="6898005" y="1524000"/>
            <a:ext cx="4760595" cy="4226242"/>
            <a:chOff x="6898005" y="1524000"/>
            <a:chExt cx="4760595" cy="4226242"/>
          </a:xfrm>
        </p:grpSpPr>
        <p:sp>
          <p:nvSpPr>
            <p:cNvPr id="42" name="Rectangle 42"/>
            <p:cNvSpPr/>
            <p:nvPr/>
          </p:nvSpPr>
          <p:spPr>
            <a:xfrm>
              <a:off x="6898005" y="1524000"/>
              <a:ext cx="4760595" cy="4226242"/>
            </a:xfrm>
            <a:prstGeom prst="roundRect">
              <a:avLst>
                <a:gd name="adj" fmla="val 315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6907530" y="1657350"/>
              <a:ext cx="47625" cy="395954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7145655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7239813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603808" y="1768792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用性质估算程序段的时间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7145655" y="2105025"/>
              <a:ext cx="4303395" cy="2125028"/>
            </a:xfrm>
            <a:prstGeom prst="roundRect">
              <a:avLst>
                <a:gd name="adj" fmla="val 448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274052" y="22569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273290" y="2518886"/>
              <a:ext cx="2564638" cy="16402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for i ← 1 to n do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第 1 段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for j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 ← x + 1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for k ← 1 to n do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第 2 段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y ← y + k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7151370" y="441293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309485" y="4350068"/>
              <a:ext cx="379485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段：O(n)·O(n) = O(n²)（性质 3）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151370" y="474821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309485" y="4685348"/>
              <a:ext cx="135159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2 段：O(n)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51370" y="5083492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309485" y="5020628"/>
              <a:ext cx="35966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合计：O(n²) + O(n) = O(max(n², n))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O(n²)（性质 1）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71030" cy="909257"/>
            <a:chOff x="520446" y="342900"/>
            <a:chExt cx="857103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7103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证明性质 1：两个上界相加，用较大函数的常数倍作上界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4" name="c1-steps-1"/>
          <p:cNvGrpSpPr/>
          <p:nvPr/>
        </p:nvGrpSpPr>
        <p:grpSpPr>
          <a:xfrm>
            <a:off x="533400" y="1533525"/>
            <a:ext cx="5979830" cy="3233071"/>
            <a:chOff x="533400" y="1533525"/>
            <a:chExt cx="5979830" cy="3233071"/>
          </a:xfrm>
        </p:grpSpPr>
        <p:sp>
          <p:nvSpPr>
            <p:cNvPr id="7" name="Rectangle 7"/>
            <p:cNvSpPr/>
            <p:nvPr/>
          </p:nvSpPr>
          <p:spPr>
            <a:xfrm>
              <a:off x="666750" y="1676400"/>
              <a:ext cx="19050" cy="242220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" name="Ellipse 8"/>
            <p:cNvSpPr/>
            <p:nvPr/>
          </p:nvSpPr>
          <p:spPr>
            <a:xfrm>
              <a:off x="533400" y="1533525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27024" y="1607344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8408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27024" y="22579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533400" y="3069908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27024" y="314372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33400" y="3955732"/>
              <a:ext cx="285750" cy="2857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27024" y="402955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44880" y="1567815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设定记号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46023" y="1861661"/>
              <a:ext cx="55672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令 p(n) = max{f(n), g(n)}，设 f'(n) = O(f(n))，g'(n) = O(g(n))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44880" y="2218372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由定义取常数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46023" y="2512219"/>
              <a:ext cx="533679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存在 c₁、n₁，n ≥ n₁ 时 f'(n) ≤ c₁f(n)；存在 c₂、n₂，n ≥ n₂ 时 g'(n)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≤ c₂g(n)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44880" y="3104198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放大不等式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46023" y="3397091"/>
              <a:ext cx="50279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max{n₁, n₂} 时，f'(n) + g'(n) ≤ c₁f(n) + c₂g(n) ≤ c₁p(n) +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c₂p(n) = (c₁ + c₂)p(n)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44880" y="3990022"/>
              <a:ext cx="8229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得出结论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46023" y="4282916"/>
              <a:ext cx="54830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c₃ = c₁ + c₂，n₃ = max{n₁, n₂}，n ≥ n₃ 时 f'(n) + g'(n) ≤ c₃p(n)，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即 O(f(n)) + O(g(n)) = O(max{f(n), g(n)})</a:t>
              </a:r>
            </a:p>
          </p:txBody>
        </p:sp>
      </p:grpSp>
      <p:grpSp>
        <p:nvGrpSpPr>
          <p:cNvPr id="31" name="c1-callout-2"/>
          <p:cNvGrpSpPr/>
          <p:nvPr/>
        </p:nvGrpSpPr>
        <p:grpSpPr>
          <a:xfrm>
            <a:off x="533400" y="4945380"/>
            <a:ext cx="6276022" cy="858202"/>
            <a:chOff x="533400" y="4945380"/>
            <a:chExt cx="6276022" cy="858202"/>
          </a:xfrm>
        </p:grpSpPr>
        <p:sp>
          <p:nvSpPr>
            <p:cNvPr id="25" name="Rectangle 25"/>
            <p:cNvSpPr/>
            <p:nvPr/>
          </p:nvSpPr>
          <p:spPr>
            <a:xfrm>
              <a:off x="533400" y="4945380"/>
              <a:ext cx="6276022" cy="858202"/>
            </a:xfrm>
            <a:prstGeom prst="roundRect">
              <a:avLst>
                <a:gd name="adj" fmla="val 1331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274945"/>
              <a:ext cx="200026" cy="200026"/>
              <a:chOff x="738188" y="5274945"/>
              <a:chExt cx="200026" cy="200026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27494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838200" y="534162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27088" y="537495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130" y="5132070"/>
              <a:ext cx="46158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同一串不等式也证明了性质 2：f'(n) + g'(n) ≤ (c₁ +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c₂)(f(n) + g(n))，取 c = c₁ + c₂ 即可。</a:t>
              </a:r>
            </a:p>
          </p:txBody>
        </p:sp>
      </p:grpSp>
      <p:grpSp>
        <p:nvGrpSpPr>
          <p:cNvPr id="39" name="c2-card-1"/>
          <p:cNvGrpSpPr/>
          <p:nvPr/>
        </p:nvGrpSpPr>
        <p:grpSpPr>
          <a:xfrm>
            <a:off x="7114222" y="1524000"/>
            <a:ext cx="4544378" cy="1937385"/>
            <a:chOff x="7114222" y="1524000"/>
            <a:chExt cx="4544378" cy="1937385"/>
          </a:xfrm>
        </p:grpSpPr>
        <p:sp>
          <p:nvSpPr>
            <p:cNvPr id="32" name="Rectangle 32"/>
            <p:cNvSpPr/>
            <p:nvPr/>
          </p:nvSpPr>
          <p:spPr>
            <a:xfrm>
              <a:off x="7114222" y="1524000"/>
              <a:ext cx="4544378" cy="1937385"/>
            </a:xfrm>
            <a:prstGeom prst="roundRect">
              <a:avLst>
                <a:gd name="adj" fmla="val 6883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73237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7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051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证明要点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29488" y="217360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487602" y="211074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两个定义各给一组常数，n₀ 要取两者中较大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的那个，两个不等式才能同时成立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29488" y="2794635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487602" y="2731770"/>
              <a:ext cx="35204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放大时用到 f(n) ≤ p(n)、g(n) ≤ p(n)，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系数 c₁、c₂ 为正</a:t>
              </a:r>
            </a:p>
          </p:txBody>
        </p:sp>
      </p:grpSp>
      <p:grpSp>
        <p:nvGrpSpPr>
          <p:cNvPr id="47" name="c2-card-2"/>
          <p:cNvGrpSpPr/>
          <p:nvPr/>
        </p:nvGrpSpPr>
        <p:grpSpPr>
          <a:xfrm>
            <a:off x="7114222" y="3651885"/>
            <a:ext cx="4544378" cy="2152650"/>
            <a:chOff x="7114222" y="3651885"/>
            <a:chExt cx="4544378" cy="2152650"/>
          </a:xfrm>
        </p:grpSpPr>
        <p:sp>
          <p:nvSpPr>
            <p:cNvPr id="40" name="Rectangle 40"/>
            <p:cNvSpPr/>
            <p:nvPr/>
          </p:nvSpPr>
          <p:spPr>
            <a:xfrm>
              <a:off x="7114222" y="3651885"/>
              <a:ext cx="4544378" cy="2152650"/>
            </a:xfrm>
            <a:prstGeom prst="roundRect">
              <a:avLst>
                <a:gd name="adj" fmla="val 619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123748" y="3785235"/>
              <a:ext cx="47625" cy="1885950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7361872" y="386143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452081" y="389715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61948" y="3896678"/>
              <a:ext cx="16725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性质 3 的证明同理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54252" y="4257675"/>
              <a:ext cx="38728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max{n₁, n₂} 时，f'(n)·g'(n) 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c₁f(n)·c₂g(n) = (c₁c₂)·f(n)g(n)，取 c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c₁c₂ 即可。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55396" y="5161121"/>
              <a:ext cx="38574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两个不等式相乘要求各项非负，这正是性质前提“f、g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非负”的作用。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48342" cy="909257"/>
            <a:chOff x="520446" y="342900"/>
            <a:chExt cx="58483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483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定理2.1：m 次多项式 A(n) = O(nᵐ)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6059805" cy="1274445"/>
            <a:chOff x="533400" y="1524000"/>
            <a:chExt cx="6059805" cy="127444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75335" y="1727835"/>
              <a:ext cx="740092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8760" y="1763554"/>
              <a:ext cx="574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定理2.1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8096" y="2100739"/>
              <a:ext cx="499186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A(n) = aₘnᵐ + … + a₁n + a₀ 是一个 m 次多项式，则 A(n) =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O(nᵐ)。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formula21"/>
              <p:cNvSpPr txBox="1">
                <a:spLocks noGrp="1"/>
              </p:cNvSpPr>
              <p:nvPr/>
            </p:nvSpPr>
            <p:spPr>
              <a:xfrm>
                <a:off x="533400" y="2984182"/>
                <a:ext cx="6059805" cy="274986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eqArr>
                        <m:eqArrPr>
                          <m:baseJc m:val="center"/>
                        </m:eqArrPr>
                        <m:e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e>
                              </m:d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m</m:t>
                                  </m:r>
                                </m:sub>
                              </m:sSub>
                            </m:e>
                          </m:d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+⋯+</m:t>
                          </m:r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d>
                            <m:dPr>
                              <m:begChr m:val="|"/>
                              <m:sepChr m:val=""/>
                              <m:endChr m:val="|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sSub>
                                <m:e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a</m:t>
                                  </m:r>
                                </m:e>
                                <m:sub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=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sepChr m:val=""/>
                                      <m:endChr m:val="|"/>
                                      <m:grow m:val="on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a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m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−</m:t>
                                          </m:r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n</m:t>
                                  </m:r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+⋯+</m:t>
                              </m:r>
                              <m:f>
                                <m:fPr>
                                  <m:type m:val="bar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sepChr m:val=""/>
                                      <m:endChr m:val="|"/>
                                      <m:grow m:val="on"/>
                                      <m:ctrl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e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a</m:t>
                                          </m:r>
                                        </m:e>
                                        <m:sub>
                                          <m:r>
                                            <a:rPr lang="zh-CN" sz="1720" dirty="0">
                                              <a:solidFill>
                                                <a:srgbClr val="1F2937"/>
                                              </a:solidFill>
                                              <a:latin typeface="Cambria Math"/>
                                              <a:ea typeface="Cambria Math"/>
                                              <a:cs typeface="Cambria Math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p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n</m:t>
                                      </m:r>
                                    </m:e>
                                    <m:sup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p>
                          </m:sSup>
                        </m:e>
                        <m:e>
                          <m: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&amp;</m:t>
                          </m:r>
                          <m:r>
                            <m:rPr>
                              <m:sty m:val="p"/>
                            </m:rPr>
                            <a:rPr lang="zh-CN" sz="172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m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−</m:t>
                                      </m:r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+⋯+</m:t>
                              </m:r>
                              <m:d>
                                <m:dPr>
                                  <m:begChr m:val="|"/>
                                  <m:sepChr m:val=""/>
                                  <m:endChr m:val="|"/>
                                  <m:grow m:val="on"/>
                                  <m:ctrlPr>
                                    <a:rPr lang="zh-CN" sz="1720" dirty="0">
                                      <a:solidFill>
                                        <a:srgbClr val="1F2937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sSub>
                                    <m:e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a</m:t>
                                      </m:r>
                                    </m:e>
                                    <m:sub>
                                      <m:r>
                                        <a:rPr lang="zh-CN" sz="1720" dirty="0">
                                          <a:solidFill>
                                            <a:srgbClr val="1F2937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p>
                            <m:e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72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m</m:t>
                              </m:r>
                            </m:sup>
                          </m:sSup>
                        </m:e>
                      </m:eqArr>
                    </m:oMath>
                  </m:oMathPara>
                </a14:m>
              </a:p>
            </p:txBody>
          </p:sp>
        </mc:Choice>
      </mc:AlternateContent>
      <p:grpSp>
        <p:nvGrpSpPr>
          <p:cNvPr id="15" name="c1-text-3"/>
          <p:cNvGrpSpPr/>
          <p:nvPr/>
        </p:nvGrpSpPr>
        <p:grpSpPr>
          <a:xfrm>
            <a:off x="527304" y="5938838"/>
            <a:ext cx="5590032" cy="470916"/>
            <a:chOff x="527304" y="5938838"/>
            <a:chExt cx="5590032" cy="470916"/>
          </a:xfrm>
        </p:grpSpPr>
        <p:sp>
          <p:nvSpPr>
            <p:cNvPr id="14" name="TextBox 14"/>
            <p:cNvSpPr txBox="1"/>
            <p:nvPr/>
          </p:nvSpPr>
          <p:spPr>
            <a:xfrm>
              <a:off x="527304" y="5938838"/>
              <a:ext cx="5590032" cy="4709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6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证明：取 n₀ = 1。第一步用 |A + B| ≤ |A| + |B|；第三步用 n ≥ 1 时 1/nᵏ ≤ 1。取 c =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|aₘ| + |aₘ₋₁| + … + |a₀|，得 |A(n)| ≤ cnᵐ，即 A(n) = O(nᵐ)。证毕。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898005" y="1524000"/>
            <a:ext cx="4760595" cy="1894522"/>
            <a:chOff x="6898005" y="1524000"/>
            <a:chExt cx="4760595" cy="1894522"/>
          </a:xfrm>
        </p:grpSpPr>
        <p:sp>
          <p:nvSpPr>
            <p:cNvPr id="16" name="Rectangle 16"/>
            <p:cNvSpPr/>
            <p:nvPr/>
          </p:nvSpPr>
          <p:spPr>
            <a:xfrm>
              <a:off x="6898005" y="1524000"/>
              <a:ext cx="4760595" cy="1894522"/>
            </a:xfrm>
            <a:prstGeom prst="roundRect">
              <a:avLst>
                <a:gd name="adj" fmla="val 70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907530" y="1657350"/>
              <a:ext cx="47625" cy="162782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139940" y="172783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234098" y="176355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98474" y="1767364"/>
              <a:ext cx="194828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A(n) = 3n³ − 5n² + 2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147560" y="217932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304151" y="2119789"/>
              <a:ext cx="339801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按定理取 c = 3 + 5 + 0 + 2 = 10，n₀ = 1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147560" y="249936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04151" y="2439829"/>
              <a:ext cx="375653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检查 n = 2：|A(2)| = |24 − 20 + 2| = 6 ≤ 10·2³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= 80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33844" y="3027045"/>
              <a:ext cx="434164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定理给出的 c 很宽松，但证明 O(nᵐ) 只需要存在一组常数。</a:t>
              </a:r>
            </a:p>
          </p:txBody>
        </p:sp>
      </p:grpSp>
      <p:grpSp>
        <p:nvGrpSpPr>
          <p:cNvPr id="32" name="c2-callout-2"/>
          <p:cNvGrpSpPr/>
          <p:nvPr/>
        </p:nvGrpSpPr>
        <p:grpSpPr>
          <a:xfrm>
            <a:off x="6898005" y="3604260"/>
            <a:ext cx="4760595" cy="1018222"/>
            <a:chOff x="6898005" y="3604260"/>
            <a:chExt cx="4760595" cy="1018222"/>
          </a:xfrm>
        </p:grpSpPr>
        <p:sp>
          <p:nvSpPr>
            <p:cNvPr id="27" name="Rectangle 27"/>
            <p:cNvSpPr/>
            <p:nvPr/>
          </p:nvSpPr>
          <p:spPr>
            <a:xfrm>
              <a:off x="6898005" y="3604260"/>
              <a:ext cx="4760595" cy="1018222"/>
            </a:xfrm>
            <a:prstGeom prst="roundRect">
              <a:avLst>
                <a:gd name="adj" fmla="val 11225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102793" y="4012885"/>
              <a:ext cx="200023" cy="200023"/>
              <a:chOff x="7102793" y="4012885"/>
              <a:chExt cx="200023" cy="200023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7102793" y="401288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7236143" y="40795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7405116" y="3751421"/>
              <a:ext cx="3855720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定理2.1 表明，最高阶数为 m 的任一多项式都与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nᵐ 同阶。计算时间为 m 阶多项式的算法，其时</a:t>
              </a:r>
              <a:br/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间都可以用 O(nᵐ) 表示。</a:t>
              </a:r>
            </a:p>
          </p:txBody>
        </p:sp>
      </p:grpSp>
      <p:grpSp>
        <p:nvGrpSpPr>
          <p:cNvPr id="38" name="c2-card-3"/>
          <p:cNvGrpSpPr/>
          <p:nvPr/>
        </p:nvGrpSpPr>
        <p:grpSpPr>
          <a:xfrm>
            <a:off x="6898005" y="4808220"/>
            <a:ext cx="4760595" cy="1545908"/>
            <a:chOff x="6898005" y="4808220"/>
            <a:chExt cx="4760595" cy="1545908"/>
          </a:xfrm>
        </p:grpSpPr>
        <p:sp>
          <p:nvSpPr>
            <p:cNvPr id="33" name="Rectangle 33"/>
            <p:cNvSpPr/>
            <p:nvPr/>
          </p:nvSpPr>
          <p:spPr>
            <a:xfrm>
              <a:off x="6898005" y="4808220"/>
              <a:ext cx="4760595" cy="1545908"/>
            </a:xfrm>
            <a:prstGeom prst="roundRect">
              <a:avLst>
                <a:gd name="adj" fmla="val 862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907530" y="4941570"/>
              <a:ext cx="47625" cy="127920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139940" y="50120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230148" y="50477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132701" y="5384959"/>
              <a:ext cx="4126230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A(n) = O(nᵐ⁺¹) 同样成立，但不是最紧的上界；m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次多项式最紧的上界是 nᵐ，而且还有 A(n) = Θ(nᵐ)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（要求 aₘ &gt; 0）。</a:t>
              </a:r>
            </a:p>
          </p:txBody>
        </p:sp>
      </p:grpSp>
      <p:grpSp>
        <p:nvGrpSpPr>
          <p:cNvPr id="4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9" name="TextBox 3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48247" cy="909257"/>
            <a:chOff x="520446" y="342900"/>
            <a:chExt cx="654824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4824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各语句的数量级相加，结果由最高次数决定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626418" cy="2421255"/>
            <a:chOff x="533400" y="1524000"/>
            <a:chExt cx="5626418" cy="242125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2421255"/>
            </a:xfrm>
            <a:prstGeom prst="roundRect">
              <a:avLst>
                <a:gd name="adj" fmla="val 550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5455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推论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834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若一个算法的 k 个语句的数量级分别为 c₁n 的 m₁ 次方、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c₂n 的 m₂ 次方、…，则算法的计算时间为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25"/>
                <p:cNvSpPr txBox="1">
                  <a:spLocks noGrp="1"/>
                </p:cNvSpPr>
                <p:nvPr/>
              </p:nvSpPr>
              <p:spPr>
                <a:xfrm>
                  <a:off x="781050" y="2707005"/>
                  <a:ext cx="516921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sub>
                            </m:sSub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b>
                            </m:sSub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+⋯+</m:t>
                        </m:r>
                        <m:sSub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c</m:t>
                            </m:r>
                          </m:e>
                          <m:sub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sSub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e>
                              <m:sub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b>
                            </m:sSub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m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formula26"/>
                <p:cNvSpPr txBox="1">
                  <a:spLocks noGrp="1"/>
                </p:cNvSpPr>
                <p:nvPr/>
              </p:nvSpPr>
              <p:spPr>
                <a:xfrm>
                  <a:off x="781050" y="3259455"/>
                  <a:ext cx="516921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m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begChr m:val="{"/>
                                <m:sepChr m:val=""/>
                                <m:endChr m:val="}"/>
                                <m:grow m:val="on"/>
                                <m:ctrl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m</m:t>
                                    </m:r>
                                  </m:e>
                                  <m:sub>
                                    <m:r>
                                      <a:rPr lang="zh-CN" sz="180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∣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≤</m:t>
                                </m:r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1" name="c1-card-2"/>
          <p:cNvGrpSpPr/>
          <p:nvPr/>
        </p:nvGrpSpPr>
        <p:grpSpPr>
          <a:xfrm>
            <a:off x="533400" y="4135755"/>
            <a:ext cx="5626418" cy="1583055"/>
            <a:chOff x="533400" y="4135755"/>
            <a:chExt cx="5626418" cy="1583055"/>
          </a:xfrm>
        </p:grpSpPr>
        <p:sp>
          <p:nvSpPr>
            <p:cNvPr id="15" name="Rectangle 15"/>
            <p:cNvSpPr/>
            <p:nvPr/>
          </p:nvSpPr>
          <p:spPr>
            <a:xfrm>
              <a:off x="533400" y="4135755"/>
              <a:ext cx="5626418" cy="1583055"/>
            </a:xfrm>
            <a:prstGeom prst="roundRect">
              <a:avLst>
                <a:gd name="adj" fmla="val 84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42925" y="4269105"/>
              <a:ext cx="47625" cy="13163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81050" y="434530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76160" y="438102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73430" y="4722495"/>
              <a:ext cx="43062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三条语句的频率计数分别为 5n³、100n²、7，则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formula27"/>
                <p:cNvSpPr txBox="1">
                  <a:spLocks noGrp="1"/>
                </p:cNvSpPr>
                <p:nvPr/>
              </p:nvSpPr>
              <p:spPr>
                <a:xfrm>
                  <a:off x="781050" y="5033010"/>
                  <a:ext cx="5169218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5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100</m:t>
                        </m:r>
                        <m:sSup>
                          <m:e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7</m:t>
                        </m:r>
                        <m:r>
                          <m:rPr>
                            <m:sty m:val="p"/>
                          </m:rP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r>
                          <a:rPr lang="zh-CN" sz="18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8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8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59" name="c2-table-1"/>
          <p:cNvGrpSpPr/>
          <p:nvPr/>
        </p:nvGrpSpPr>
        <p:grpSpPr>
          <a:xfrm>
            <a:off x="6458902" y="1524000"/>
            <a:ext cx="5199698" cy="2988469"/>
            <a:chOff x="6458902" y="1524000"/>
            <a:chExt cx="5199698" cy="2988469"/>
          </a:xfrm>
        </p:grpSpPr>
        <p:sp>
          <p:nvSpPr>
            <p:cNvPr id="22" name="Rectangle 22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917972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024326" y="165973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5n³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319275" y="1659731"/>
              <a:ext cx="5105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100n²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61407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较大的项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68217" y="2108359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77433" y="2108359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5000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677121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721772" y="2108359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100n²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68217" y="2556986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82661" y="255698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34295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677121" y="255698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36100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721772" y="2556986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100n²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868217" y="300561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82661" y="30056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40000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677121" y="3005614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40000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281285" y="2880360"/>
              <a:ext cx="1367790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786389" y="300561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相等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464618" y="33147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464618" y="3319462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868217" y="345424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282661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46305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9677121" y="3454241"/>
              <a:ext cx="48681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44100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816544" y="345424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5n³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464618" y="37633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818461" y="3903821"/>
              <a:ext cx="3114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093116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5000000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9487576" y="3903821"/>
              <a:ext cx="67636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1000000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816544" y="390382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5n³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1524000"/>
              <a:ext cx="5193982" cy="2692718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7479030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887253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10266998" y="1524000"/>
              <a:ext cx="9525" cy="2692718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458902" y="4292441"/>
              <a:ext cx="19639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5n³ &gt; 100n² 当且仅当 n &gt; 20</a:t>
              </a:r>
            </a:p>
          </p:txBody>
        </p:sp>
      </p:grpSp>
      <p:grpSp>
        <p:nvGrpSpPr>
          <p:cNvPr id="66" name="c2-callout-2"/>
          <p:cNvGrpSpPr/>
          <p:nvPr/>
        </p:nvGrpSpPr>
        <p:grpSpPr>
          <a:xfrm>
            <a:off x="6464618" y="4658678"/>
            <a:ext cx="5193982" cy="1060132"/>
            <a:chOff x="6464618" y="4658678"/>
            <a:chExt cx="5193982" cy="1060132"/>
          </a:xfrm>
        </p:grpSpPr>
        <p:sp>
          <p:nvSpPr>
            <p:cNvPr id="60" name="Rectangle 60"/>
            <p:cNvSpPr/>
            <p:nvPr/>
          </p:nvSpPr>
          <p:spPr>
            <a:xfrm>
              <a:off x="6464618" y="4658678"/>
              <a:ext cx="5193982" cy="1060132"/>
            </a:xfrm>
            <a:prstGeom prst="roundRect">
              <a:avLst>
                <a:gd name="adj" fmla="val 1078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6657347" y="5085516"/>
              <a:ext cx="224134" cy="192560"/>
              <a:chOff x="6657347" y="508551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6769418" y="515588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6657347" y="508551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769418" y="523367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971348" y="4808220"/>
              <a:ext cx="4234815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渐近表示描述 n 充分大时的情况。规模很小时，系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数大的低次项反而占优，实际选算法时要结合数据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规模。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831842" cy="909257"/>
            <a:chOff x="520446" y="342900"/>
            <a:chExt cx="483184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83184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多项式时间算法与指数时间算法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951220" cy="1677352"/>
            <a:chOff x="533400" y="1524000"/>
            <a:chExt cx="5951220" cy="167735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1677352"/>
            </a:xfrm>
            <a:prstGeom prst="roundRect">
              <a:avLst>
                <a:gd name="adj" fmla="val 79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410652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114300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35342" y="1750695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多项式时间算法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52172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用多项式对计算时间限界的算法（polynomial time algorithm）。常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见数量级从低到高为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36"/>
                <p:cNvSpPr txBox="1">
                  <a:spLocks noGrp="1"/>
                </p:cNvSpPr>
                <p:nvPr/>
              </p:nvSpPr>
              <p:spPr>
                <a:xfrm>
                  <a:off x="763905" y="2610802"/>
                  <a:ext cx="552831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func>
                              <m:funcPr/>
                              <m:fName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log</m:t>
                                </m:r>
                              </m:fName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3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0" name="c1-card-2"/>
          <p:cNvGrpSpPr/>
          <p:nvPr/>
        </p:nvGrpSpPr>
        <p:grpSpPr>
          <a:xfrm>
            <a:off x="533400" y="3376612"/>
            <a:ext cx="5951220" cy="1420178"/>
            <a:chOff x="533400" y="3376612"/>
            <a:chExt cx="5951220" cy="1420178"/>
          </a:xfrm>
        </p:grpSpPr>
        <p:sp>
          <p:nvSpPr>
            <p:cNvPr id="14" name="Rectangle 14"/>
            <p:cNvSpPr/>
            <p:nvPr/>
          </p:nvSpPr>
          <p:spPr>
            <a:xfrm>
              <a:off x="533400" y="3376612"/>
              <a:ext cx="5951220" cy="1420178"/>
            </a:xfrm>
            <a:prstGeom prst="roundRect">
              <a:avLst>
                <a:gd name="adj" fmla="val 939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509962"/>
              <a:ext cx="47625" cy="115347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63905" y="3569018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39343" y="3603308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指数时间算法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57047" y="3925252"/>
              <a:ext cx="5456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计算时间用指数函数限界的算法（exponential time algorithm）：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formula37"/>
                <p:cNvSpPr txBox="1">
                  <a:spLocks noGrp="1"/>
                </p:cNvSpPr>
                <p:nvPr/>
              </p:nvSpPr>
              <p:spPr>
                <a:xfrm>
                  <a:off x="763905" y="4205288"/>
                  <a:ext cx="5528310" cy="3810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</m:sSup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!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&lt;</m:t>
                        </m:r>
                        <m: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O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 m:val="on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dPr>
                          <m:e>
                            <m:sSup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  <m:sup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27" name="c1-callout-3"/>
          <p:cNvGrpSpPr/>
          <p:nvPr/>
        </p:nvGrpSpPr>
        <p:grpSpPr>
          <a:xfrm>
            <a:off x="533400" y="4971098"/>
            <a:ext cx="5951220" cy="729615"/>
            <a:chOff x="533400" y="4971098"/>
            <a:chExt cx="5951220" cy="729615"/>
          </a:xfrm>
        </p:grpSpPr>
        <p:sp>
          <p:nvSpPr>
            <p:cNvPr id="21" name="Rectangle 21"/>
            <p:cNvSpPr/>
            <p:nvPr/>
          </p:nvSpPr>
          <p:spPr>
            <a:xfrm>
              <a:off x="533400" y="4971098"/>
              <a:ext cx="5951220" cy="729615"/>
            </a:xfrm>
            <a:prstGeom prst="roundRect">
              <a:avLst>
                <a:gd name="adj" fmla="val 15666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738188" y="5235893"/>
              <a:ext cx="200026" cy="200026"/>
              <a:chOff x="738188" y="5235893"/>
              <a:chExt cx="200026" cy="200026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738188" y="52358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838200" y="53025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27088" y="53359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040892" y="5117783"/>
              <a:ext cx="463429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这里的“&lt;”指数量级更低：n log n = O(n²)，但 n² ≠ O(n log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n)。</a:t>
              </a:r>
            </a:p>
          </p:txBody>
        </p:sp>
      </p:grpSp>
      <p:grpSp>
        <p:nvGrpSpPr>
          <p:cNvPr id="30" name="c2-image-1"/>
          <p:cNvGrpSpPr/>
          <p:nvPr/>
        </p:nvGrpSpPr>
        <p:grpSpPr>
          <a:xfrm>
            <a:off x="6789420" y="1524000"/>
            <a:ext cx="4869180" cy="4201097"/>
            <a:chOff x="6789420" y="1524000"/>
            <a:chExt cx="4869180" cy="4201097"/>
          </a:xfrm>
        </p:grpSpPr>
        <p:pic>
          <p:nvPicPr>
            <p:cNvPr id="28" name="Image 28"/>
            <p:cNvPicPr>
              <a:picLocks noChangeAspect="1"/>
            </p:cNvPicPr>
            <p:nvPr/>
          </p:nvPicPr>
          <p:blipFill>
            <a:blip r:embed="rId2"/>
            <a:srcRect l="3198" t="0" r="3198" b="0"/>
            <a:stretch>
              <a:fillRect/>
            </a:stretch>
          </p:blipFill>
          <p:spPr>
            <a:xfrm>
              <a:off x="6789420" y="1524000"/>
              <a:ext cx="4869180" cy="3901440"/>
            </a:xfrm>
            <a:prstGeom prst="roundRect">
              <a:avLst>
                <a:gd name="adj" fmla="val 3417"/>
              </a:avLst>
            </a:prstGeom>
          </p:spPr>
        </p:pic>
        <p:sp>
          <p:nvSpPr>
            <p:cNvPr id="29" name="TextBox 29"/>
            <p:cNvSpPr txBox="1"/>
            <p:nvPr/>
          </p:nvSpPr>
          <p:spPr>
            <a:xfrm>
              <a:off x="7879375" y="5519738"/>
              <a:ext cx="268926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棋盘放米，每格翻倍：第 64 格要放 2⁶³ 粒</a:t>
              </a:r>
            </a:p>
          </p:txBody>
        </p:sp>
      </p:grpSp>
      <p:grpSp>
        <p:nvGrpSpPr>
          <p:cNvPr id="36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1" name="Rectangle 31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4" name="Group 34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5" name="TextBox 35"/>
            <p:cNvSpPr txBox="1"/>
            <p:nvPr/>
          </p:nvSpPr>
          <p:spPr>
            <a:xfrm>
              <a:off x="1040892" y="6023610"/>
              <a:ext cx="713780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每加 1，2ⁿ 算法的时间就翻一倍；n³ 算法在 n 从 10 变到 11 时，时间只增加约 33%。</a:t>
              </a:r>
            </a:p>
          </p:txBody>
        </p:sp>
      </p:grpSp>
      <p:grpSp>
        <p:nvGrpSpPr>
          <p:cNvPr id="3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7" name="TextBox 3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322346" cy="909257"/>
            <a:chOff x="520446" y="342900"/>
            <a:chExt cx="732234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32234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规模从 10 到 60，指数时间算法从毫秒变成世纪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65" name="c1-table-1"/>
          <p:cNvGrpSpPr/>
          <p:nvPr/>
        </p:nvGrpSpPr>
        <p:grpSpPr>
          <a:xfrm>
            <a:off x="527685" y="1524000"/>
            <a:ext cx="11130915" cy="2091214"/>
            <a:chOff x="527685" y="1524000"/>
            <a:chExt cx="11130915" cy="2091214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23283" y="1659731"/>
              <a:ext cx="422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T(n)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714028" y="1659731"/>
              <a:ext cx="42004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log 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590765" y="165973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94470" y="1659731"/>
              <a:ext cx="5738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log 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265987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n²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210867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68142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n⁵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325417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16067" y="1659731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3ⁿ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74151" y="1659731"/>
              <a:ext cx="1667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n!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74637" y="2108359"/>
              <a:ext cx="5195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10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775414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45748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380138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223339" y="210835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100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064831" y="2108359"/>
              <a:ext cx="504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毫秒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113490" y="2108359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0.1 秒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179381" y="2108359"/>
              <a:ext cx="5040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 毫秒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22645" y="2108359"/>
              <a:ext cx="5988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59 毫秒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396883" y="2108359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3.6 秒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24164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533400" y="2421255"/>
              <a:ext cx="111252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74637" y="2556986"/>
              <a:ext cx="5195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40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775414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254574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332752" y="2556986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175953" y="2556986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1600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017445" y="2556986"/>
              <a:ext cx="5988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 毫秒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82640" y="2430780"/>
              <a:ext cx="982028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6113490" y="2556986"/>
              <a:ext cx="52127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 分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123379" y="2556986"/>
              <a:ext cx="61605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12.7 天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427872" y="2556986"/>
              <a:ext cx="7883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3855 世纪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9665970" y="2430780"/>
              <a:ext cx="1983105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10073795" y="2556986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2.6×10³² 世纪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533400" y="286607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74637" y="3005614"/>
              <a:ext cx="51955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= 60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775414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5.9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545748" y="3005614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3332752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354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4175953" y="3005614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3600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4970059" y="3005614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216 毫秒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882640" y="2880360"/>
              <a:ext cx="982028" cy="42957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60877" y="3005614"/>
              <a:ext cx="42650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 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84609" y="3005614"/>
              <a:ext cx="693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366 世纪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238327" y="3005614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1.3×10¹³ 世纪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073795" y="3005614"/>
              <a:ext cx="116745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2.6×10⁶⁶ 世纪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3400" y="1524000"/>
              <a:ext cx="11125200" cy="179546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1529715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2308860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297656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3977640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475583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0" name="Rectangle 60"/>
            <p:cNvSpPr/>
            <p:nvPr/>
          </p:nvSpPr>
          <p:spPr>
            <a:xfrm>
              <a:off x="586835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87038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98290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9651682" y="1524000"/>
              <a:ext cx="9525" cy="179546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527685" y="3395186"/>
              <a:ext cx="68942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假设 1 次基本运算用 1 微秒；log n 到 n² 四列的单位为微秒；1 年按 365 天计；标色三格已按计算更正</a:t>
              </a:r>
            </a:p>
          </p:txBody>
        </p:sp>
      </p:grpSp>
      <p:grpSp>
        <p:nvGrpSpPr>
          <p:cNvPr id="71" name="c1-card-2"/>
          <p:cNvGrpSpPr/>
          <p:nvPr/>
        </p:nvGrpSpPr>
        <p:grpSpPr>
          <a:xfrm>
            <a:off x="533400" y="3761422"/>
            <a:ext cx="11125200" cy="1896428"/>
            <a:chOff x="533400" y="3761422"/>
            <a:chExt cx="11125200" cy="1896428"/>
          </a:xfrm>
        </p:grpSpPr>
        <p:sp>
          <p:nvSpPr>
            <p:cNvPr id="66" name="Rectangle 66"/>
            <p:cNvSpPr/>
            <p:nvPr/>
          </p:nvSpPr>
          <p:spPr>
            <a:xfrm>
              <a:off x="533400" y="3761422"/>
              <a:ext cx="11125200" cy="1896428"/>
            </a:xfrm>
            <a:prstGeom prst="roundRect">
              <a:avLst>
                <a:gd name="adj" fmla="val 703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7" name="Rectangle 67"/>
            <p:cNvSpPr/>
            <p:nvPr/>
          </p:nvSpPr>
          <p:spPr>
            <a:xfrm>
              <a:off x="542925" y="3894772"/>
              <a:ext cx="47625" cy="162972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68" name="Rectangle 68"/>
            <p:cNvSpPr/>
            <p:nvPr/>
          </p:nvSpPr>
          <p:spPr>
            <a:xfrm>
              <a:off x="781050" y="3970972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71258" y="400669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73430" y="4348162"/>
              <a:ext cx="95973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 n⁵ 一列写作 n = 40 时 1.3 分、n = 60 时 7.6 分。实际 40⁵ = 1.024×10⁸ 微秒 ≈ 102 秒 ≈ 1.7 分，60⁵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7.776×10⁸ 微秒 ≈ 13 分。原课件 n = 40 时 n! 一格写作 10³ 世纪，实际 40! ≈ 8.2×10⁴⁷ 微秒 ≈ 2.6×10³² 世纪。</a:t>
              </a:r>
            </a:p>
          </p:txBody>
        </p:sp>
      </p:grpSp>
      <p:grpSp>
        <p:nvGrpSpPr>
          <p:cNvPr id="78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2" name="Rectangle 72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76" name="Group 76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75" name="Freeform 75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7" name="TextBox 77"/>
            <p:cNvSpPr txBox="1"/>
            <p:nvPr/>
          </p:nvSpPr>
          <p:spPr>
            <a:xfrm>
              <a:off x="1040130" y="5991225"/>
              <a:ext cx="945546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多项式时间算法在 n = 60 时最慢也只要十几分钟；2ⁿ、3ⁿ、n! 算法的时间已经远远超过人类文明的历史。</a:t>
              </a:r>
            </a:p>
          </p:txBody>
        </p:sp>
      </p:grpSp>
      <p:grpSp>
        <p:nvGrpSpPr>
          <p:cNvPr id="8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9" name="TextBox 7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14311" cy="909257"/>
            <a:chOff x="520446" y="342900"/>
            <a:chExt cx="891431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1431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函数曲线：n 很小时就能看出增长快慢，对数函数增长最慢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8" name="c1-graph-1"/>
          <p:cNvGrpSpPr/>
          <p:nvPr/>
        </p:nvGrpSpPr>
        <p:grpSpPr>
          <a:xfrm>
            <a:off x="643928" y="1659255"/>
            <a:ext cx="5755640" cy="4573905"/>
            <a:chOff x="643928" y="1659255"/>
            <a:chExt cx="5755640" cy="4573905"/>
          </a:xfrm>
        </p:grpSpPr>
        <p:sp>
          <p:nvSpPr>
            <p:cNvPr id="7" name="Freeform 7"/>
            <p:cNvSpPr/>
            <p:nvPr/>
          </p:nvSpPr>
          <p:spPr>
            <a:xfrm>
              <a:off x="1056322" y="5768340"/>
              <a:ext cx="5121592" cy="9525"/>
            </a:xfrm>
            <a:custGeom>
              <a:avLst/>
              <a:gdLst/>
              <a:ahLst/>
              <a:cxnLst/>
              <a:rect l="l" t="t" r="r" b="b"/>
              <a:pathLst>
                <a:path w="5121592" h="9525">
                  <a:moveTo>
                    <a:pt x="0" y="0"/>
                  </a:moveTo>
                  <a:lnTo>
                    <a:pt x="512159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6177915" y="572071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1018222" y="1783080"/>
              <a:ext cx="9525" cy="3947160"/>
            </a:xfrm>
            <a:custGeom>
              <a:avLst/>
              <a:gdLst/>
              <a:ahLst/>
              <a:cxnLst/>
              <a:rect l="l" t="t" r="r" b="b"/>
              <a:pathLst>
                <a:path w="9525" h="3947160">
                  <a:moveTo>
                    <a:pt x="0" y="394716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970598" y="168783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0"/>
                  </a:moveTo>
                  <a:lnTo>
                    <a:pt x="95250" y="9525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1056322" y="2044065"/>
              <a:ext cx="2717482" cy="3663315"/>
            </a:xfrm>
            <a:custGeom>
              <a:avLst/>
              <a:gdLst/>
              <a:ahLst/>
              <a:cxnLst/>
              <a:rect l="l" t="t" r="r" b="b"/>
              <a:pathLst>
                <a:path w="2717482" h="3663315">
                  <a:moveTo>
                    <a:pt x="0" y="3663315"/>
                  </a:moveTo>
                  <a:lnTo>
                    <a:pt x="77152" y="3656648"/>
                  </a:lnTo>
                  <a:lnTo>
                    <a:pt x="192405" y="3642360"/>
                  </a:lnTo>
                  <a:lnTo>
                    <a:pt x="307657" y="3627120"/>
                  </a:lnTo>
                  <a:lnTo>
                    <a:pt x="421957" y="3608070"/>
                  </a:lnTo>
                  <a:lnTo>
                    <a:pt x="537210" y="3584257"/>
                  </a:lnTo>
                  <a:lnTo>
                    <a:pt x="652462" y="3560445"/>
                  </a:lnTo>
                  <a:lnTo>
                    <a:pt x="767715" y="3526155"/>
                  </a:lnTo>
                  <a:lnTo>
                    <a:pt x="882967" y="3488055"/>
                  </a:lnTo>
                  <a:lnTo>
                    <a:pt x="998220" y="3444240"/>
                  </a:lnTo>
                  <a:lnTo>
                    <a:pt x="1113472" y="3390900"/>
                  </a:lnTo>
                  <a:lnTo>
                    <a:pt x="1228725" y="3328988"/>
                  </a:lnTo>
                  <a:lnTo>
                    <a:pt x="1343025" y="3251835"/>
                  </a:lnTo>
                  <a:lnTo>
                    <a:pt x="1458278" y="3164205"/>
                  </a:lnTo>
                  <a:lnTo>
                    <a:pt x="1573530" y="3058478"/>
                  </a:lnTo>
                  <a:lnTo>
                    <a:pt x="1688782" y="2932748"/>
                  </a:lnTo>
                  <a:lnTo>
                    <a:pt x="1804035" y="2783205"/>
                  </a:lnTo>
                  <a:lnTo>
                    <a:pt x="1919287" y="2605088"/>
                  </a:lnTo>
                  <a:lnTo>
                    <a:pt x="2034540" y="2392680"/>
                  </a:lnTo>
                  <a:lnTo>
                    <a:pt x="2148840" y="2142172"/>
                  </a:lnTo>
                  <a:lnTo>
                    <a:pt x="2264092" y="1843088"/>
                  </a:lnTo>
                  <a:lnTo>
                    <a:pt x="2379345" y="1485900"/>
                  </a:lnTo>
                  <a:lnTo>
                    <a:pt x="2494598" y="1062038"/>
                  </a:lnTo>
                  <a:lnTo>
                    <a:pt x="2609850" y="560070"/>
                  </a:lnTo>
                  <a:lnTo>
                    <a:pt x="2717482" y="0"/>
                  </a:lnTo>
                </a:path>
              </a:pathLst>
            </a:custGeom>
            <a:noFill/>
            <a:ln w="22860">
              <a:solidFill>
                <a:srgbClr val="B42318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056322" y="2040255"/>
              <a:ext cx="3629025" cy="3725227"/>
            </a:xfrm>
            <a:custGeom>
              <a:avLst/>
              <a:gdLst/>
              <a:ahLst/>
              <a:cxnLst/>
              <a:rect l="l" t="t" r="r" b="b"/>
              <a:pathLst>
                <a:path w="3629025" h="3725227">
                  <a:moveTo>
                    <a:pt x="0" y="3725227"/>
                  </a:moveTo>
                  <a:lnTo>
                    <a:pt x="192405" y="3713798"/>
                  </a:lnTo>
                  <a:lnTo>
                    <a:pt x="421957" y="3669982"/>
                  </a:lnTo>
                  <a:lnTo>
                    <a:pt x="652462" y="3597592"/>
                  </a:lnTo>
                  <a:lnTo>
                    <a:pt x="882967" y="3491865"/>
                  </a:lnTo>
                  <a:lnTo>
                    <a:pt x="1113472" y="3361373"/>
                  </a:lnTo>
                  <a:lnTo>
                    <a:pt x="1343025" y="3197542"/>
                  </a:lnTo>
                  <a:lnTo>
                    <a:pt x="1573530" y="3008948"/>
                  </a:lnTo>
                  <a:lnTo>
                    <a:pt x="1804035" y="2787015"/>
                  </a:lnTo>
                  <a:lnTo>
                    <a:pt x="2034540" y="2536508"/>
                  </a:lnTo>
                  <a:lnTo>
                    <a:pt x="2264092" y="2256473"/>
                  </a:lnTo>
                  <a:lnTo>
                    <a:pt x="2494598" y="1947862"/>
                  </a:lnTo>
                  <a:lnTo>
                    <a:pt x="2725102" y="1610678"/>
                  </a:lnTo>
                  <a:lnTo>
                    <a:pt x="2955607" y="1243965"/>
                  </a:lnTo>
                  <a:lnTo>
                    <a:pt x="3185160" y="848678"/>
                  </a:lnTo>
                  <a:lnTo>
                    <a:pt x="3415665" y="419100"/>
                  </a:lnTo>
                  <a:lnTo>
                    <a:pt x="3629025" y="0"/>
                  </a:lnTo>
                </a:path>
              </a:pathLst>
            </a:custGeom>
            <a:noFill/>
            <a:ln w="22860">
              <a:solidFill>
                <a:srgbClr val="D97706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515428" y="3834765"/>
              <a:ext cx="4075748" cy="1925003"/>
            </a:xfrm>
            <a:custGeom>
              <a:avLst/>
              <a:gdLst/>
              <a:ahLst/>
              <a:cxnLst/>
              <a:rect l="l" t="t" r="r" b="b"/>
              <a:pathLst>
                <a:path w="4075748" h="1925003">
                  <a:moveTo>
                    <a:pt x="0" y="1925003"/>
                  </a:moveTo>
                  <a:lnTo>
                    <a:pt x="193358" y="1880235"/>
                  </a:lnTo>
                  <a:lnTo>
                    <a:pt x="423862" y="1817370"/>
                  </a:lnTo>
                  <a:lnTo>
                    <a:pt x="654368" y="1740217"/>
                  </a:lnTo>
                  <a:lnTo>
                    <a:pt x="883920" y="1653540"/>
                  </a:lnTo>
                  <a:lnTo>
                    <a:pt x="1114425" y="1562100"/>
                  </a:lnTo>
                  <a:lnTo>
                    <a:pt x="1344930" y="1461135"/>
                  </a:lnTo>
                  <a:lnTo>
                    <a:pt x="1575435" y="1359217"/>
                  </a:lnTo>
                  <a:lnTo>
                    <a:pt x="1804988" y="1253490"/>
                  </a:lnTo>
                  <a:lnTo>
                    <a:pt x="2035493" y="1137285"/>
                  </a:lnTo>
                  <a:lnTo>
                    <a:pt x="2265998" y="1022032"/>
                  </a:lnTo>
                  <a:lnTo>
                    <a:pt x="2496502" y="901065"/>
                  </a:lnTo>
                  <a:lnTo>
                    <a:pt x="2726055" y="776288"/>
                  </a:lnTo>
                  <a:lnTo>
                    <a:pt x="2956560" y="650557"/>
                  </a:lnTo>
                  <a:lnTo>
                    <a:pt x="3187065" y="524827"/>
                  </a:lnTo>
                  <a:lnTo>
                    <a:pt x="3417570" y="389572"/>
                  </a:lnTo>
                  <a:lnTo>
                    <a:pt x="3647122" y="255270"/>
                  </a:lnTo>
                  <a:lnTo>
                    <a:pt x="3877628" y="120015"/>
                  </a:lnTo>
                  <a:lnTo>
                    <a:pt x="4075748" y="0"/>
                  </a:lnTo>
                </a:path>
              </a:pathLst>
            </a:custGeom>
            <a:noFill/>
            <a:ln w="22860">
              <a:solidFill>
                <a:srgbClr val="2F4B9A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056322" y="5184458"/>
              <a:ext cx="4529138" cy="579120"/>
            </a:xfrm>
            <a:custGeom>
              <a:avLst/>
              <a:gdLst/>
              <a:ahLst/>
              <a:cxnLst/>
              <a:rect l="l" t="t" r="r" b="b"/>
              <a:pathLst>
                <a:path w="4529138" h="579120">
                  <a:moveTo>
                    <a:pt x="0" y="579120"/>
                  </a:moveTo>
                  <a:lnTo>
                    <a:pt x="4529138" y="0"/>
                  </a:lnTo>
                </a:path>
              </a:pathLst>
            </a:custGeom>
            <a:noFill/>
            <a:ln w="22860">
              <a:solidFill>
                <a:srgbClr val="14A38B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1516380" y="5574982"/>
              <a:ext cx="4069080" cy="187643"/>
            </a:xfrm>
            <a:custGeom>
              <a:avLst/>
              <a:gdLst/>
              <a:ahLst/>
              <a:cxnLst/>
              <a:rect l="l" t="t" r="r" b="b"/>
              <a:pathLst>
                <a:path w="4069080" h="187643">
                  <a:moveTo>
                    <a:pt x="0" y="187643"/>
                  </a:moveTo>
                  <a:lnTo>
                    <a:pt x="192405" y="159068"/>
                  </a:lnTo>
                  <a:lnTo>
                    <a:pt x="422910" y="135255"/>
                  </a:lnTo>
                  <a:lnTo>
                    <a:pt x="653415" y="116205"/>
                  </a:lnTo>
                  <a:lnTo>
                    <a:pt x="882968" y="101918"/>
                  </a:lnTo>
                  <a:lnTo>
                    <a:pt x="1113473" y="86678"/>
                  </a:lnTo>
                  <a:lnTo>
                    <a:pt x="1343978" y="77153"/>
                  </a:lnTo>
                  <a:lnTo>
                    <a:pt x="1574482" y="67628"/>
                  </a:lnTo>
                  <a:lnTo>
                    <a:pt x="1804035" y="58103"/>
                  </a:lnTo>
                  <a:lnTo>
                    <a:pt x="2034540" y="48578"/>
                  </a:lnTo>
                  <a:lnTo>
                    <a:pt x="2265045" y="39053"/>
                  </a:lnTo>
                  <a:lnTo>
                    <a:pt x="2495550" y="34290"/>
                  </a:lnTo>
                  <a:lnTo>
                    <a:pt x="2725102" y="29528"/>
                  </a:lnTo>
                  <a:lnTo>
                    <a:pt x="2955608" y="23812"/>
                  </a:lnTo>
                  <a:lnTo>
                    <a:pt x="3186112" y="14288"/>
                  </a:lnTo>
                  <a:lnTo>
                    <a:pt x="3416618" y="9525"/>
                  </a:lnTo>
                  <a:lnTo>
                    <a:pt x="3646170" y="4762"/>
                  </a:lnTo>
                  <a:lnTo>
                    <a:pt x="3876675" y="0"/>
                  </a:lnTo>
                  <a:lnTo>
                    <a:pt x="4069080" y="0"/>
                  </a:lnTo>
                </a:path>
              </a:pathLst>
            </a:custGeom>
            <a:noFill/>
            <a:ln w="22860">
              <a:solidFill>
                <a:srgbClr val="5B6475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989648" y="5739765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Ellipse 17"/>
            <p:cNvSpPr/>
            <p:nvPr/>
          </p:nvSpPr>
          <p:spPr>
            <a:xfrm>
              <a:off x="1008698" y="1659255"/>
              <a:ext cx="19050" cy="190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Ellipse 18"/>
            <p:cNvSpPr/>
            <p:nvPr/>
          </p:nvSpPr>
          <p:spPr>
            <a:xfrm>
              <a:off x="989648" y="5681662"/>
              <a:ext cx="57150" cy="57150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19" name="Ellipse 19"/>
            <p:cNvSpPr/>
            <p:nvPr/>
          </p:nvSpPr>
          <p:spPr>
            <a:xfrm>
              <a:off x="3752850" y="1977390"/>
              <a:ext cx="57150" cy="57150"/>
            </a:xfrm>
            <a:prstGeom prst="ellipse">
              <a:avLst/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20" name="Ellipse 20"/>
            <p:cNvSpPr/>
            <p:nvPr/>
          </p:nvSpPr>
          <p:spPr>
            <a:xfrm>
              <a:off x="4673918" y="1977390"/>
              <a:ext cx="57150" cy="571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21" name="Ellipse 21"/>
            <p:cNvSpPr/>
            <p:nvPr/>
          </p:nvSpPr>
          <p:spPr>
            <a:xfrm>
              <a:off x="1449705" y="5739765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5594985" y="3786188"/>
              <a:ext cx="57150" cy="5715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Ellipse 23"/>
            <p:cNvSpPr/>
            <p:nvPr/>
          </p:nvSpPr>
          <p:spPr>
            <a:xfrm>
              <a:off x="5594985" y="5151120"/>
              <a:ext cx="57150" cy="57150"/>
            </a:xfrm>
            <a:prstGeom prst="ellipse">
              <a:avLst/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Ellipse 24"/>
            <p:cNvSpPr/>
            <p:nvPr/>
          </p:nvSpPr>
          <p:spPr>
            <a:xfrm>
              <a:off x="1449705" y="5739765"/>
              <a:ext cx="57150" cy="571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Ellipse 25"/>
            <p:cNvSpPr/>
            <p:nvPr/>
          </p:nvSpPr>
          <p:spPr>
            <a:xfrm>
              <a:off x="5594985" y="5546408"/>
              <a:ext cx="57150" cy="57150"/>
            </a:xfrm>
            <a:prstGeom prst="ellipse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01066" y="56983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288588" y="19816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2ⁿ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984990" y="198167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n²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73000" y="3629025"/>
              <a:ext cx="47076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n log n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880306" y="4979670"/>
              <a:ext cx="922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875118" y="5414010"/>
              <a:ext cx="3446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log 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80142" y="605694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282334" y="6056948"/>
              <a:ext cx="7616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5552161" y="6056948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928" y="4537710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3928" y="3355658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3928" y="2174558"/>
              <a:ext cx="1427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60</a:t>
              </a:r>
            </a:p>
          </p:txBody>
        </p:sp>
      </p:grpSp>
      <p:grpSp>
        <p:nvGrpSpPr>
          <p:cNvPr id="65" name="c2-table-1"/>
          <p:cNvGrpSpPr/>
          <p:nvPr/>
        </p:nvGrpSpPr>
        <p:grpSpPr>
          <a:xfrm>
            <a:off x="6892671" y="1524000"/>
            <a:ext cx="4765929" cy="3120009"/>
            <a:chOff x="6892671" y="1524000"/>
            <a:chExt cx="4765929" cy="3120009"/>
          </a:xfrm>
        </p:grpSpPr>
        <p:sp>
          <p:nvSpPr>
            <p:cNvPr id="39" name="Rectangle 39"/>
            <p:cNvSpPr/>
            <p:nvPr/>
          </p:nvSpPr>
          <p:spPr>
            <a:xfrm>
              <a:off x="6898005" y="1524000"/>
              <a:ext cx="4760595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006994" y="164830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2936" y="1648301"/>
              <a:ext cx="4072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log₂n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963458" y="2054066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306439" y="2054066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3.3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898005" y="233076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898005" y="2335530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919922" y="245983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10²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306439" y="2459831"/>
              <a:ext cx="260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6.6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898005" y="273653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919922" y="286559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10³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64976" y="286559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10.0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898005" y="314229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6898005" y="3147060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919922" y="327136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10⁴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0264976" y="327136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13.3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898005" y="354806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919922" y="3677126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10⁵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64976" y="3677126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16.6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6898005" y="395382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898005" y="3958590"/>
              <a:ext cx="476059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7919922" y="4082891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10⁶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264976" y="4082891"/>
              <a:ext cx="3431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19.9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6898005" y="1524000"/>
              <a:ext cx="4760595" cy="28403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9209722" y="1524000"/>
              <a:ext cx="9525" cy="28403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6892671" y="4438650"/>
              <a:ext cx="198958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每乘 10，log₂n 只增加约 3.3</a:t>
              </a:r>
            </a:p>
          </p:txBody>
        </p:sp>
      </p:grpSp>
      <p:grpSp>
        <p:nvGrpSpPr>
          <p:cNvPr id="71" name="c2-callout-2"/>
          <p:cNvGrpSpPr/>
          <p:nvPr/>
        </p:nvGrpSpPr>
        <p:grpSpPr>
          <a:xfrm>
            <a:off x="6898005" y="4777740"/>
            <a:ext cx="4760595" cy="978218"/>
            <a:chOff x="6898005" y="4777740"/>
            <a:chExt cx="4760595" cy="978218"/>
          </a:xfrm>
        </p:grpSpPr>
        <p:sp>
          <p:nvSpPr>
            <p:cNvPr id="66" name="Rectangle 66"/>
            <p:cNvSpPr/>
            <p:nvPr/>
          </p:nvSpPr>
          <p:spPr>
            <a:xfrm>
              <a:off x="6898005" y="4777740"/>
              <a:ext cx="4760595" cy="978218"/>
            </a:xfrm>
            <a:prstGeom prst="roundRect">
              <a:avLst>
                <a:gd name="adj" fmla="val 11685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7102793" y="5167313"/>
              <a:ext cx="200026" cy="200026"/>
              <a:chOff x="7102793" y="5167313"/>
              <a:chExt cx="200026" cy="200026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7102793" y="51673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7169468" y="524510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7405497" y="4924425"/>
              <a:ext cx="3785616" cy="7612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对数函数增长极慢：如果一个算法的基本操作次数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是对数级的，对任何实际规模的输入几乎都能瞬间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完成。</a:t>
              </a:r>
            </a:p>
          </p:txBody>
        </p:sp>
      </p:grpSp>
      <p:grpSp>
        <p:nvGrpSpPr>
          <p:cNvPr id="73" name="c2-text-3"/>
          <p:cNvGrpSpPr/>
          <p:nvPr/>
        </p:nvGrpSpPr>
        <p:grpSpPr>
          <a:xfrm>
            <a:off x="6892290" y="5949791"/>
            <a:ext cx="4335526" cy="441008"/>
            <a:chOff x="6892290" y="5949791"/>
            <a:chExt cx="4335526" cy="441008"/>
          </a:xfrm>
        </p:grpSpPr>
        <p:sp>
          <p:nvSpPr>
            <p:cNvPr id="72" name="TextBox 72"/>
            <p:cNvSpPr txBox="1"/>
            <p:nvPr/>
          </p:nvSpPr>
          <p:spPr>
            <a:xfrm>
              <a:off x="6892290" y="5949791"/>
              <a:ext cx="4335526" cy="4410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例：在 10⁹ 个有序元素中二分检索，最坏也只比较 30 次（log₂10⁹ ≈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29.9）。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608856" cy="909257"/>
            <a:chOff x="520446" y="342900"/>
            <a:chExt cx="860885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60885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定义2.2（Ω）：n ≥ n₀ 之后，f(n) 始终不低于 c·g(n)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09675"/>
            <a:chOff x="533400" y="1524000"/>
            <a:chExt cx="5410200" cy="1209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70770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48152" y="1750695"/>
              <a:ext cx="5382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定义2.2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60000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如果存在两个正常数 c 和 n₀，对于所有的 n ≥ n₀，有 |f(n)|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≥ c|g(n)|，则记作 f(n) = Ω(g(n))。</a:t>
              </a:r>
            </a:p>
          </p:txBody>
        </p:sp>
      </p:grpSp>
      <p:grpSp>
        <p:nvGrpSpPr>
          <p:cNvPr id="21" name="c1-bullets-2"/>
          <p:cNvGrpSpPr/>
          <p:nvPr/>
        </p:nvGrpSpPr>
        <p:grpSpPr>
          <a:xfrm>
            <a:off x="541972" y="2930842"/>
            <a:ext cx="5064634" cy="1454659"/>
            <a:chOff x="541972" y="2930842"/>
            <a:chExt cx="5064634" cy="1454659"/>
          </a:xfrm>
        </p:grpSpPr>
        <p:sp>
          <p:nvSpPr>
            <p:cNvPr id="13" name="Ellipse 13"/>
            <p:cNvSpPr/>
            <p:nvPr/>
          </p:nvSpPr>
          <p:spPr>
            <a:xfrm>
              <a:off x="541972" y="298704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7992" y="2930842"/>
              <a:ext cx="490861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n 充分大时 f(n) 有下界，一个常数倍的 g(n) 是 f(n) 的一个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541972" y="355568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97992" y="3499485"/>
              <a:ext cx="22490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的阶不低于 g(n) 的阶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41972" y="3866198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97992" y="3810000"/>
              <a:ext cx="40664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在确定 f(n) 的下界时，总是试图求出</a:t>
              </a:r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最大的</a:t>
              </a: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g(n)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41972" y="417766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97992" y="4121468"/>
              <a:ext cx="27125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有关证明中，找出 c 和 n₀ 是关键</a:t>
              </a:r>
            </a:p>
          </p:txBody>
        </p:sp>
      </p:grpSp>
      <p:grpSp>
        <p:nvGrpSpPr>
          <p:cNvPr id="29" name="c1-card-3"/>
          <p:cNvGrpSpPr/>
          <p:nvPr/>
        </p:nvGrpSpPr>
        <p:grpSpPr>
          <a:xfrm>
            <a:off x="533400" y="4507230"/>
            <a:ext cx="5410200" cy="1697355"/>
            <a:chOff x="533400" y="4507230"/>
            <a:chExt cx="5410200" cy="1697355"/>
          </a:xfrm>
        </p:grpSpPr>
        <p:sp>
          <p:nvSpPr>
            <p:cNvPr id="22" name="Rectangle 22"/>
            <p:cNvSpPr/>
            <p:nvPr/>
          </p:nvSpPr>
          <p:spPr>
            <a:xfrm>
              <a:off x="533400" y="4507230"/>
              <a:ext cx="5410200" cy="1697355"/>
            </a:xfrm>
            <a:prstGeom prst="roundRect">
              <a:avLst>
                <a:gd name="adj" fmla="val 785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542925" y="4640580"/>
              <a:ext cx="47625" cy="14306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763905" y="4699635"/>
              <a:ext cx="46196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55323" y="4733925"/>
              <a:ext cx="2781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3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33310" y="4739640"/>
              <a:ext cx="22674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n²/2 − 3n = Ω(n²)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57047" y="5073968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12 时 n²/4 ≥ 3n，于是 n²/2 − 3n ≥ n²/4。取 c = 1/4、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n₀ = 12。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58190" y="5629751"/>
              <a:ext cx="4804918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下界允许先减去一部分再放大，关键是找到从哪个 n₀ 起剩下的部分仍不小于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c·g(n)。</a:t>
              </a:r>
            </a:p>
          </p:txBody>
        </p:sp>
      </p:grpSp>
      <p:grpSp>
        <p:nvGrpSpPr>
          <p:cNvPr id="36" name="c2-card-1"/>
          <p:cNvGrpSpPr/>
          <p:nvPr/>
        </p:nvGrpSpPr>
        <p:grpSpPr>
          <a:xfrm>
            <a:off x="6248400" y="1524000"/>
            <a:ext cx="5410200" cy="1226820"/>
            <a:chOff x="6248400" y="1524000"/>
            <a:chExt cx="5410200" cy="1226820"/>
          </a:xfrm>
        </p:grpSpPr>
        <p:sp>
          <p:nvSpPr>
            <p:cNvPr id="30" name="Rectangle 30"/>
            <p:cNvSpPr/>
            <p:nvPr/>
          </p:nvSpPr>
          <p:spPr>
            <a:xfrm>
              <a:off x="6248400" y="1524000"/>
              <a:ext cx="5410200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257925" y="1657350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78905" y="1716405"/>
              <a:ext cx="46196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70323" y="1750695"/>
              <a:ext cx="2781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48310" y="1756410"/>
              <a:ext cx="20650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2n² + 11n − 10 = Ω(n²)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72047" y="2090738"/>
              <a:ext cx="45399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c = 2、n₀ = 1：n ≥ 1 时 11n − 10 &gt; 0，所以 2n² + 11n −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 ≥ 2n²。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248400" y="2926080"/>
            <a:ext cx="5410200" cy="1529715"/>
            <a:chOff x="6248400" y="2926080"/>
            <a:chExt cx="5410200" cy="1529715"/>
          </a:xfrm>
        </p:grpSpPr>
        <p:sp>
          <p:nvSpPr>
            <p:cNvPr id="37" name="Rectangle 37"/>
            <p:cNvSpPr/>
            <p:nvPr/>
          </p:nvSpPr>
          <p:spPr>
            <a:xfrm>
              <a:off x="6248400" y="2926080"/>
              <a:ext cx="5410200" cy="1529715"/>
            </a:xfrm>
            <a:prstGeom prst="roundRect">
              <a:avLst>
                <a:gd name="adj" fmla="val 871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6257925" y="3059430"/>
              <a:ext cx="47625" cy="126301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6478905" y="3118485"/>
              <a:ext cx="461962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570323" y="3152775"/>
              <a:ext cx="2781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2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48310" y="3158490"/>
              <a:ext cx="9858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n² ≠ Ω(n³)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72047" y="3491865"/>
              <a:ext cx="42845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 n ≥ n₀ 时 n² ≥ cn³，两边除以 cn² 得 n ≤ 1/c。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472047" y="3794760"/>
              <a:ext cx="447998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取 n₁ = max{n₀, ⌈1/c⌉} + 1，则 n₁ ≥ n₀ 且 n₁ &gt; 1/c，矛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盾。</a:t>
              </a:r>
            </a:p>
          </p:txBody>
        </p:sp>
      </p:grpSp>
      <p:grpSp>
        <p:nvGrpSpPr>
          <p:cNvPr id="50" name="c2-card-3"/>
          <p:cNvGrpSpPr/>
          <p:nvPr/>
        </p:nvGrpSpPr>
        <p:grpSpPr>
          <a:xfrm>
            <a:off x="6248400" y="4630102"/>
            <a:ext cx="5410200" cy="1574482"/>
            <a:chOff x="6248400" y="4630102"/>
            <a:chExt cx="5410200" cy="1574482"/>
          </a:xfrm>
        </p:grpSpPr>
        <p:sp>
          <p:nvSpPr>
            <p:cNvPr id="45" name="Rectangle 45"/>
            <p:cNvSpPr/>
            <p:nvPr/>
          </p:nvSpPr>
          <p:spPr>
            <a:xfrm>
              <a:off x="6248400" y="4630102"/>
              <a:ext cx="5410200" cy="1574482"/>
            </a:xfrm>
            <a:prstGeom prst="roundRect">
              <a:avLst>
                <a:gd name="adj" fmla="val 846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257925" y="4763452"/>
              <a:ext cx="47625" cy="1307782"/>
            </a:xfrm>
            <a:prstGeom prst="roundRect">
              <a:avLst>
                <a:gd name="adj" fmla="val 50000"/>
              </a:avLst>
            </a:prstGeom>
            <a:solidFill>
              <a:srgbClr val="D97706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78905" y="4822508"/>
              <a:ext cx="1050608" cy="247650"/>
            </a:xfrm>
            <a:prstGeom prst="roundRect">
              <a:avLst>
                <a:gd name="adj" fmla="val 5000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44147" y="4856798"/>
              <a:ext cx="9210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92400E"/>
                  </a:solidFill>
                  <a:latin typeface="+mn-lt"/>
                  <a:ea typeface="+mn-ea"/>
                  <a:cs typeface="+mn-cs"/>
                </a:rPr>
                <a:t>O 与 Ω 的对应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472047" y="5179695"/>
              <a:ext cx="415423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O(g(n)) 当且仅当 g(n) = Ω(f(n))。例：n²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O(n³)，所以 n³ = Ω(n²)。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770781" cy="909257"/>
            <a:chOff x="520446" y="342900"/>
            <a:chExt cx="67707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7707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Ω 的六条性质：与 O 对应，第 1 条取较小者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3" name="c1-table-1"/>
          <p:cNvGrpSpPr/>
          <p:nvPr/>
        </p:nvGrpSpPr>
        <p:grpSpPr>
          <a:xfrm>
            <a:off x="527685" y="1524000"/>
            <a:ext cx="5848350" cy="3437097"/>
            <a:chOff x="527685" y="1524000"/>
            <a:chExt cx="5848350" cy="3437097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84263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0512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序号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2644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7687" y="210835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42263" y="2108359"/>
              <a:ext cx="34312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Ω(f(n)) + Ω(g(n)) = Ω(min(f(n), g(n)))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16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21255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27687" y="2556986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342263" y="2556986"/>
              <a:ext cx="302250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Ω(f(n)) + Ω(g(n)) = Ω(f(n) + g(n))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6607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27687" y="300561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42263" y="3005614"/>
              <a:ext cx="281253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Ω(f(n))·Ω(g(n)) = Ω(f(n)·g(n))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31470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319462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27687" y="345424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42263" y="3454241"/>
              <a:ext cx="432111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若 g(n) = Ω(f(n))，则 Ω(f(n)) + Ω(g(n)) = Ω(f(n))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7633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27687" y="3903821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342263" y="3903821"/>
              <a:ext cx="29355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Ω(c·f(n)) = Ω(f(n))，c 是正的常数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21195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216718"/>
              <a:ext cx="584263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27687" y="4352449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42263" y="4352449"/>
              <a:ext cx="12676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Ω(f(n))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5842635" cy="31413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229678" y="1524000"/>
              <a:ext cx="9525" cy="31413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27685" y="4741069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对于非负的 f(n) 和 g(n)，由定义2.2 得到</a:t>
              </a:r>
            </a:p>
          </p:txBody>
        </p:sp>
      </p:grpSp>
      <p:grpSp>
        <p:nvGrpSpPr>
          <p:cNvPr id="43" name="c2-card-1"/>
          <p:cNvGrpSpPr/>
          <p:nvPr/>
        </p:nvGrpSpPr>
        <p:grpSpPr>
          <a:xfrm>
            <a:off x="6680835" y="1524000"/>
            <a:ext cx="4977765" cy="3392805"/>
            <a:chOff x="6680835" y="1524000"/>
            <a:chExt cx="4977765" cy="3392805"/>
          </a:xfrm>
        </p:grpSpPr>
        <p:sp>
          <p:nvSpPr>
            <p:cNvPr id="34" name="Rectangle 34"/>
            <p:cNvSpPr/>
            <p:nvPr/>
          </p:nvSpPr>
          <p:spPr>
            <a:xfrm>
              <a:off x="6680835" y="1524000"/>
              <a:ext cx="4977765" cy="3392805"/>
            </a:xfrm>
            <a:prstGeom prst="roundRect">
              <a:avLst>
                <a:gd name="adj" fmla="val 393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690360" y="1657350"/>
              <a:ext cx="47625" cy="31261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6928485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023595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注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387590" y="1768792"/>
              <a:ext cx="28841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 1 条成立，但不是最紧的下界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920865" y="2129790"/>
              <a:ext cx="349853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 n 充分大时 h₁ ≥ c₁f、h₂ ≥ c₂g，则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0" name="formula40"/>
                <p:cNvSpPr txBox="1">
                  <a:spLocks noGrp="1"/>
                </p:cNvSpPr>
                <p:nvPr/>
              </p:nvSpPr>
              <p:spPr>
                <a:xfrm>
                  <a:off x="6928485" y="2440305"/>
                  <a:ext cx="4520565" cy="3238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b>
                          <m:e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h</m:t>
                            </m:r>
                          </m:e>
                          <m:sub>
                            <m: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g</m:t>
                                </m:r>
                              </m:e>
                            </m:d>
                          </m:e>
                        </m:func>
                        <m:r>
                          <m:rPr>
                            <m:sty m:val="p"/>
                          </m:rPr>
                          <a:rPr lang="zh-CN" sz="128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≥</m:t>
                        </m:r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sSub>
                                  <m:e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c</m:t>
                                    </m:r>
                                  </m:e>
                                  <m:sub>
                                    <m:r>
                                      <a:rPr lang="zh-CN" sz="128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func>
                          <m:funcPr/>
                          <m:fName>
                            <m:r>
                              <m:rPr>
                                <m:sty m:val="p"/>
                              </m:rPr>
                              <a:rPr lang="zh-CN" sz="128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max</m:t>
                            </m:r>
                          </m:fName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f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,</m:t>
                                </m:r>
                                <m:r>
                                  <a:rPr lang="zh-CN" sz="128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g</m:t>
                                </m:r>
                              </m:e>
                            </m:d>
                          </m:e>
                        </m:func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1" name="TextBox 41"/>
            <p:cNvSpPr txBox="1"/>
            <p:nvPr/>
          </p:nvSpPr>
          <p:spPr>
            <a:xfrm>
              <a:off x="6920865" y="2884170"/>
              <a:ext cx="4177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所以 Ω(f) + Ω(g) = Ω(max(f, g)) 也成立，而且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更紧。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22008" y="3501866"/>
              <a:ext cx="3759962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例：Ω(n) + Ω(n²) 按第 1 条写成 Ω(n)，更准确的是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Ω(n²)。第 4 条同理可以写成更紧的 Ω(g(n))。</a:t>
              </a:r>
            </a:p>
          </p:txBody>
        </p:sp>
      </p:grpSp>
      <p:grpSp>
        <p:nvGrpSpPr>
          <p:cNvPr id="50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44" name="Rectangle 44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8" name="Group 48"/>
            <p:cNvGrpSpPr/>
            <p:nvPr/>
          </p:nvGrpSpPr>
          <p:grpSpPr>
            <a:xfrm>
              <a:off x="726129" y="5992296"/>
              <a:ext cx="224134" cy="192560"/>
              <a:chOff x="726129" y="5992296"/>
              <a:chExt cx="224134" cy="19256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838200" y="606266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726129" y="599229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838200" y="614045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9" name="TextBox 49"/>
            <p:cNvSpPr txBox="1"/>
            <p:nvPr/>
          </p:nvSpPr>
          <p:spPr>
            <a:xfrm>
              <a:off x="1040130" y="5991225"/>
              <a:ext cx="96159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“=”只从左往右读：属于 Ω(n²) 的函数都属于 Ω(n)，反过来不成立，所以写成 Ω(n) 没错，只是信息少了。</a:t>
              </a:r>
            </a:p>
          </p:txBody>
        </p:sp>
      </p:grpSp>
      <p:grpSp>
        <p:nvGrpSpPr>
          <p:cNvPr id="5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1" name="TextBox 51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919525" cy="909257"/>
            <a:chOff x="520446" y="342900"/>
            <a:chExt cx="891952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91952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定义2.3（Θ）：两个常数倍的 g(n) 从上下两边夹住 f(n)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410200" cy="2133600"/>
            <a:chOff x="533400" y="1524000"/>
            <a:chExt cx="5410200" cy="21336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740092" cy="257175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4475" y="1769269"/>
              <a:ext cx="5741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定义2.3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73430" y="2110740"/>
              <a:ext cx="46443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如果存在正常数 c₁、c₂ 和 n₀，对于所有的 n ≥ n₀，有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c₁|g(n)| ≤ |f(n)| ≤ c₂|g(n)|，则记作 f(n) =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Θ(g(n))。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4573" y="3014186"/>
              <a:ext cx="47028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等价说法：f(n) = Θ(g(n)) 当且仅当 f(n) = O(g(n)) 且 f(n) =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Ω(g(n))。</a:t>
              </a:r>
            </a:p>
          </p:txBody>
        </p:sp>
      </p:grpSp>
      <p:grpSp>
        <p:nvGrpSpPr>
          <p:cNvPr id="25" name="c1-card-2"/>
          <p:cNvGrpSpPr/>
          <p:nvPr/>
        </p:nvGrpSpPr>
        <p:grpSpPr>
          <a:xfrm>
            <a:off x="533400" y="3848100"/>
            <a:ext cx="5410200" cy="1760220"/>
            <a:chOff x="533400" y="3848100"/>
            <a:chExt cx="5410200" cy="1760220"/>
          </a:xfrm>
        </p:grpSpPr>
        <p:sp>
          <p:nvSpPr>
            <p:cNvPr id="14" name="Rectangle 14"/>
            <p:cNvSpPr/>
            <p:nvPr/>
          </p:nvSpPr>
          <p:spPr>
            <a:xfrm>
              <a:off x="533400" y="3848100"/>
              <a:ext cx="5410200" cy="1760220"/>
            </a:xfrm>
            <a:prstGeom prst="roundRect">
              <a:avLst>
                <a:gd name="adj" fmla="val 757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542925" y="3981450"/>
              <a:ext cx="47625" cy="14935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81050" y="40576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76160" y="40933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239202" y="4092892"/>
              <a:ext cx="229452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2n² + 11n − 10 = Θ(n²)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786765" y="451675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44880" y="4453890"/>
              <a:ext cx="293312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下界：n ≥ 1 时 ≥ 2n²，取 c₁ = 2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786765" y="485203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44880" y="478917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上界：n ≥ 10 时 ≤ 3n²，取 c₂ = 3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786765" y="518731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44880" y="5124450"/>
              <a:ext cx="370046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两者同时成立要取 n₀ = max{1, 10} = 10</a:t>
              </a:r>
            </a:p>
          </p:txBody>
        </p:sp>
      </p:grpSp>
      <p:grpSp>
        <p:nvGrpSpPr>
          <p:cNvPr id="31" name="c2-card-1"/>
          <p:cNvGrpSpPr/>
          <p:nvPr/>
        </p:nvGrpSpPr>
        <p:grpSpPr>
          <a:xfrm>
            <a:off x="6248400" y="1524000"/>
            <a:ext cx="5410200" cy="1602105"/>
            <a:chOff x="6248400" y="1524000"/>
            <a:chExt cx="5410200" cy="1602105"/>
          </a:xfrm>
        </p:grpSpPr>
        <p:sp>
          <p:nvSpPr>
            <p:cNvPr id="26" name="Rectangle 26"/>
            <p:cNvSpPr/>
            <p:nvPr/>
          </p:nvSpPr>
          <p:spPr>
            <a:xfrm>
              <a:off x="6248400" y="1524000"/>
              <a:ext cx="5410200" cy="1602105"/>
            </a:xfrm>
            <a:prstGeom prst="roundRect">
              <a:avLst>
                <a:gd name="adj" fmla="val 83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1657350"/>
              <a:ext cx="47625" cy="13354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96050" y="1733550"/>
              <a:ext cx="106299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9507" y="176926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原课件的解释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88430" y="2110740"/>
              <a:ext cx="47396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一个算法的 f(n) = Θ(g(n)) 意味着该算法在最好和最坏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情况下的计算时间，就一个常数因子范围内而言是相同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的。</a:t>
              </a:r>
            </a:p>
          </p:txBody>
        </p:sp>
      </p:grpSp>
      <p:grpSp>
        <p:nvGrpSpPr>
          <p:cNvPr id="43" name="c2-card-2"/>
          <p:cNvGrpSpPr/>
          <p:nvPr/>
        </p:nvGrpSpPr>
        <p:grpSpPr>
          <a:xfrm>
            <a:off x="6248400" y="3316605"/>
            <a:ext cx="5410200" cy="2291715"/>
            <a:chOff x="6248400" y="3316605"/>
            <a:chExt cx="5410200" cy="2291715"/>
          </a:xfrm>
        </p:grpSpPr>
        <p:sp>
          <p:nvSpPr>
            <p:cNvPr id="32" name="Rectangle 32"/>
            <p:cNvSpPr/>
            <p:nvPr/>
          </p:nvSpPr>
          <p:spPr>
            <a:xfrm>
              <a:off x="6248400" y="3316605"/>
              <a:ext cx="5410200" cy="2291715"/>
            </a:xfrm>
            <a:prstGeom prst="roundRect">
              <a:avLst>
                <a:gd name="adj" fmla="val 58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257925" y="3449955"/>
              <a:ext cx="47625" cy="202501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96050" y="352615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86258" y="356187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097078" y="3561398"/>
              <a:ext cx="413432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最坏情况是 Θ(g)，不等于所有输入都是 Θ(g)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6501765" y="398526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659880" y="3922395"/>
              <a:ext cx="48797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插入排序：最坏（逆序）Θ(n²)，最好（已有序）Θ(n)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6501765" y="432054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659880" y="4257675"/>
              <a:ext cx="45967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对全部输入只能说时间是 O(n²) 且 Ω(n)，不能笼统说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Θ(n²)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501765" y="4941570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659880" y="4878705"/>
              <a:ext cx="4558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顺序查找同理：最好 1 次、最坏 n 次，成立的是“最坏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情况时间 = Θ(n)”</a:t>
              </a:r>
            </a:p>
          </p:txBody>
        </p:sp>
      </p:grpSp>
      <p:grpSp>
        <p:nvGrpSpPr>
          <p:cNvPr id="4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4" name="TextBox 4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921371" cy="909257"/>
            <a:chOff x="520446" y="342900"/>
            <a:chExt cx="792137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699385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88256" y="407194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计算时间的渐近表示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92137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渐近表示的传递性与反身性，可以类比实数比较大小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5626418" cy="3225165"/>
            <a:chOff x="533400" y="1524000"/>
            <a:chExt cx="5626418" cy="322516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626418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97280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性质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910965" y="165544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内容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38746" y="208502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传递性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101787" y="2085022"/>
              <a:ext cx="38904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Θ(g(n))，g(n) = Θ(h(n)) ⇒ f(n) = Θ(h(n))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3793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384108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38746" y="251555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传递性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101787" y="2515552"/>
              <a:ext cx="398849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O(g(n))，g(n) = O(h(n)) ⇒ f(n) = O(h(n))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280987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38746" y="2946082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传递性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101787" y="2946082"/>
              <a:ext cx="389046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Ω(g(n))，g(n) = Ω(h(n)) ⇒ f(n) = Ω(h(n))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23945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244215"/>
              <a:ext cx="5626418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8746" y="3375660"/>
              <a:ext cx="49682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反身性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101787" y="3375660"/>
              <a:ext cx="389680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Θ(f(n))，f(n) = O(f(n))，f(n) = Ω(f(n))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66998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38746" y="3806190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对称性（补充）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101787" y="3806190"/>
              <a:ext cx="25526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Θ(g(n)) ⇔ g(n) = Θ(f(n))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10051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533400" y="4105275"/>
              <a:ext cx="5626418" cy="6438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8746" y="4235768"/>
              <a:ext cx="926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转置对称（补</a:t>
              </a:r>
              <a:br/>
              <a:r>
                <a:rPr lang="zh-CN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充）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101787" y="4342448"/>
              <a:ext cx="258531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O(g(n)) ⇔ g(n) = Ω(f(n))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1524000"/>
              <a:ext cx="5626418" cy="32242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991678" y="1524000"/>
              <a:ext cx="9525" cy="32242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8" name="c1-card-2"/>
          <p:cNvGrpSpPr/>
          <p:nvPr/>
        </p:nvGrpSpPr>
        <p:grpSpPr>
          <a:xfrm>
            <a:off x="533400" y="4933950"/>
            <a:ext cx="5626418" cy="1274445"/>
            <a:chOff x="533400" y="4933950"/>
            <a:chExt cx="5626418" cy="1274445"/>
          </a:xfrm>
        </p:grpSpPr>
        <p:sp>
          <p:nvSpPr>
            <p:cNvPr id="33" name="Rectangle 33"/>
            <p:cNvSpPr/>
            <p:nvPr/>
          </p:nvSpPr>
          <p:spPr>
            <a:xfrm>
              <a:off x="533400" y="4933950"/>
              <a:ext cx="5626418" cy="1274445"/>
            </a:xfrm>
            <a:prstGeom prst="roundRect">
              <a:avLst>
                <a:gd name="adj" fmla="val 104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5067300"/>
              <a:ext cx="47625" cy="10077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75335" y="5137785"/>
              <a:ext cx="1264920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6847" y="5173504"/>
              <a:ext cx="11418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证明 O 的传递性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68096" y="5510689"/>
              <a:ext cx="462216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n₁ 时 f ≤ c₁g，n ≥ n₂ 时 g ≤ c₂h。于是 n ≥ max{n₁,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n₂} 时 f ≤ c₁g ≤ c₁c₂h，取 c = c₁c₂，得 f = O(h)。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6464618" y="1524000"/>
            <a:ext cx="5193982" cy="1720215"/>
            <a:chOff x="6464618" y="1524000"/>
            <a:chExt cx="5193982" cy="1720215"/>
          </a:xfrm>
        </p:grpSpPr>
        <p:sp>
          <p:nvSpPr>
            <p:cNvPr id="39" name="Rectangle 39"/>
            <p:cNvSpPr/>
            <p:nvPr/>
          </p:nvSpPr>
          <p:spPr>
            <a:xfrm>
              <a:off x="6464618" y="1524000"/>
              <a:ext cx="5193982" cy="43053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83221" y="1655445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渐近表示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881182" y="1655445"/>
              <a:ext cx="105738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类比实数 a、b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171606" y="2085022"/>
              <a:ext cx="128159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O(g(n))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222040" y="2085022"/>
              <a:ext cx="375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≤ b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23793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6464618" y="2384108"/>
              <a:ext cx="5193982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7188760" y="2515552"/>
              <a:ext cx="12472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Ω(g(n))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0222040" y="2515552"/>
              <a:ext cx="375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≥ b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464618" y="28098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188760" y="2946082"/>
              <a:ext cx="124729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l-GR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f(n) = Θ(g(n))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10222040" y="2946082"/>
              <a:ext cx="3756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b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1524000"/>
              <a:ext cx="5193982" cy="172021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9156382" y="1524000"/>
              <a:ext cx="9525" cy="172021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llout-2"/>
          <p:cNvGrpSpPr/>
          <p:nvPr/>
        </p:nvGrpSpPr>
        <p:grpSpPr>
          <a:xfrm>
            <a:off x="6464618" y="3429952"/>
            <a:ext cx="5193982" cy="1018222"/>
            <a:chOff x="6464618" y="3429952"/>
            <a:chExt cx="5193982" cy="1018222"/>
          </a:xfrm>
        </p:grpSpPr>
        <p:sp>
          <p:nvSpPr>
            <p:cNvPr id="54" name="Rectangle 54"/>
            <p:cNvSpPr/>
            <p:nvPr/>
          </p:nvSpPr>
          <p:spPr>
            <a:xfrm>
              <a:off x="6464618" y="3429952"/>
              <a:ext cx="5193982" cy="1018222"/>
            </a:xfrm>
            <a:prstGeom prst="roundRect">
              <a:avLst>
                <a:gd name="adj" fmla="val 11225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657347" y="3835836"/>
              <a:ext cx="224134" cy="192560"/>
              <a:chOff x="6657347" y="3835836"/>
              <a:chExt cx="224134" cy="19256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769418" y="390620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657347" y="383583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769418" y="398399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971729" y="3577114"/>
              <a:ext cx="416229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类比有限度：任意两个实数都能比较大小，但有的函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数对之间既没有 O 关系也没有 Ω 关系。例如 n 与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n^(1+sin n)，后者在 1 和 n² 之间来回摆动。</a:t>
              </a:r>
            </a:p>
          </p:txBody>
        </p:sp>
      </p:grpSp>
      <p:grpSp>
        <p:nvGrpSpPr>
          <p:cNvPr id="67" name="c2-callout-3"/>
          <p:cNvGrpSpPr/>
          <p:nvPr/>
        </p:nvGrpSpPr>
        <p:grpSpPr>
          <a:xfrm>
            <a:off x="6464618" y="4633912"/>
            <a:ext cx="5193982" cy="1574482"/>
            <a:chOff x="6464618" y="4633912"/>
            <a:chExt cx="5193982" cy="1574482"/>
          </a:xfrm>
        </p:grpSpPr>
        <p:sp>
          <p:nvSpPr>
            <p:cNvPr id="61" name="Rectangle 61"/>
            <p:cNvSpPr/>
            <p:nvPr/>
          </p:nvSpPr>
          <p:spPr>
            <a:xfrm>
              <a:off x="6464618" y="4633912"/>
              <a:ext cx="5193982" cy="1574482"/>
            </a:xfrm>
            <a:prstGeom prst="roundRect">
              <a:avLst>
                <a:gd name="adj" fmla="val 7260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6669405" y="5321618"/>
              <a:ext cx="200026" cy="200025"/>
              <a:chOff x="6669405" y="5321618"/>
              <a:chExt cx="200026" cy="200025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6669405" y="532161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6709144" y="536606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6743859" y="547719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6971729" y="5190649"/>
              <a:ext cx="4018026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传递性的用法：已知 f = O(n log n)，又 n log n =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O(n²)，直接得到 f = O(n²)。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468237" cy="3351847"/>
            <a:chOff x="667512" y="1835468"/>
            <a:chExt cx="6468237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36752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求和、证明与性能分布图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45833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分析循环要用求和公式，证明结论要用归纳法，检验分析要靠实测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常用的整数求和公式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直接证明、间接证明与数学归纳法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递推式的展开与验证（补充）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作时空性能分布图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676403" cy="909257"/>
            <a:chOff x="520446" y="342900"/>
            <a:chExt cx="667640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求和、证明与性能分布图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67640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常用整数求和公式：k 次幂之和是 Θ(nᵏ⁺¹)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formula46"/>
              <p:cNvSpPr txBox="1">
                <a:spLocks noGrp="1"/>
              </p:cNvSpPr>
              <p:nvPr/>
            </p:nvSpPr>
            <p:spPr>
              <a:xfrm>
                <a:off x="533400" y="1524000"/>
                <a:ext cx="5842635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n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formula47"/>
              <p:cNvSpPr txBox="1">
                <a:spLocks noGrp="1"/>
              </p:cNvSpPr>
              <p:nvPr/>
            </p:nvSpPr>
            <p:spPr>
              <a:xfrm>
                <a:off x="533400" y="2468880"/>
                <a:ext cx="5842635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formula48"/>
              <p:cNvSpPr txBox="1">
                <a:spLocks noGrp="1"/>
              </p:cNvSpPr>
              <p:nvPr/>
            </p:nvSpPr>
            <p:spPr>
              <a:xfrm>
                <a:off x="533400" y="3413760"/>
                <a:ext cx="5842635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 m:val="on"/>
                              <m:ctrl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2n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e>
                          </m:d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6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formula49"/>
              <p:cNvSpPr txBox="1">
                <a:spLocks noGrp="1"/>
              </p:cNvSpPr>
              <p:nvPr/>
            </p:nvSpPr>
            <p:spPr>
              <a:xfrm>
                <a:off x="533400" y="4358640"/>
                <a:ext cx="5842635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</m:sSup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k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f>
                        <m:fPr>
                          <m:type m:val="bar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</m:sup>
                          </m:sSup>
                        </m:num>
                        <m:den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r>
                        <m:rPr>
                          <m:nor m:val="on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低次项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+</m:t>
                              </m:r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formula50"/>
              <p:cNvSpPr txBox="1">
                <a:spLocks noGrp="1"/>
              </p:cNvSpPr>
              <p:nvPr/>
            </p:nvSpPr>
            <p:spPr>
              <a:xfrm>
                <a:off x="533400" y="5303520"/>
                <a:ext cx="5842635" cy="7543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lIns="0" tIns="0" rIns="0" bIns="0" wrap="none" anchor="ctr">
                <a:normAutofit/>
              </a:bodyPr>
              <a:lstStyle/>
              <a:p>
                <a:pPr algn="ctr"/>
                <a14:m>
                  <m:oMathPara xmlns:a="http://schemas.openxmlformats.org/drawingml/2006/main"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grow m:val="off"/>
                          <m:subHide m:val="off"/>
                          <m:supHide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naryPr>
                        <m:sub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0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≤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</m:sub>
                        <m:sup/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p>
                          </m:sSup>
                        </m:e>
                      </m:nary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p>
                        <m:e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e>
                        <m:sup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</m:t>
                          </m:r>
                          <m:r>
                            <m:rPr>
                              <m:sty m:val="p"/>
                            </m:r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+</m:t>
                          </m:r>
                          <m: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m:rPr>
                          <m:sty m:val="p"/>
                        </m:rPr>
                        <a:rPr lang="zh-CN" sz="1800" dirty="0">
                          <a:solidFill>
                            <a:srgbClr val="1F2937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=Θ</m:t>
                      </m:r>
                      <m:d>
                        <m:dPr>
                          <m:begChr m:val="("/>
                          <m:sepChr m:val=""/>
                          <m:endChr m:val=")"/>
                          <m:grow m:val="on"/>
                          <m:ctrlPr>
                            <a:rPr lang="zh-CN" sz="1800" dirty="0">
                              <a:solidFill>
                                <a:srgbClr val="1F2937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p>
                            <m:e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e>
                            <m:sup>
                              <m:r>
                                <a:rPr lang="zh-CN" sz="1800" dirty="0">
                                  <a:solidFill>
                                    <a:srgbClr val="1F2937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n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</a:p>
            </p:txBody>
          </p:sp>
        </mc:Choice>
      </mc:AlternateContent>
      <p:grpSp>
        <p:nvGrpSpPr>
          <p:cNvPr id="37" name="c2-table-1"/>
          <p:cNvGrpSpPr/>
          <p:nvPr/>
        </p:nvGrpSpPr>
        <p:grpSpPr>
          <a:xfrm>
            <a:off x="6675120" y="1524000"/>
            <a:ext cx="4983480" cy="2539842"/>
            <a:chOff x="6675120" y="1524000"/>
            <a:chExt cx="4983480" cy="2539842"/>
          </a:xfrm>
        </p:grpSpPr>
        <p:sp>
          <p:nvSpPr>
            <p:cNvPr id="12" name="Rectangle 12"/>
            <p:cNvSpPr/>
            <p:nvPr/>
          </p:nvSpPr>
          <p:spPr>
            <a:xfrm>
              <a:off x="6680835" y="1524000"/>
              <a:ext cx="497776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185966" y="1659731"/>
              <a:ext cx="74614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= 10 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181516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公式计算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792193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逐项相加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788658" y="2108359"/>
              <a:ext cx="28059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545068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1042048" y="210835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680835" y="241649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6680835" y="2421255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788658" y="2556986"/>
              <a:ext cx="22691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i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545068" y="2556986"/>
              <a:ext cx="1064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10·11/2 = 55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1042048" y="2556986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55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680835" y="2866072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788658" y="3005614"/>
              <a:ext cx="3292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l-GR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i²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545068" y="3005614"/>
              <a:ext cx="14431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10·11·21/6 = 385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0994662" y="3005614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385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680835" y="33147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6680835" y="3319462"/>
              <a:ext cx="4977765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788658" y="3454241"/>
              <a:ext cx="14798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Σ i³（通式 k = 3）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545068" y="3454241"/>
              <a:ext cx="18394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2500 + 500 + 25 = 3025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947276" y="3454241"/>
              <a:ext cx="3920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3025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680835" y="1524000"/>
              <a:ext cx="4977765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843248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10623232" y="1524000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675120" y="3843814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k = 3 时低次项恰好是 n²/4 = 25</a:t>
              </a:r>
            </a:p>
          </p:txBody>
        </p:sp>
      </p:grpSp>
      <p:grpSp>
        <p:nvGrpSpPr>
          <p:cNvPr id="44" name="c2-card-2"/>
          <p:cNvGrpSpPr/>
          <p:nvPr/>
        </p:nvGrpSpPr>
        <p:grpSpPr>
          <a:xfrm>
            <a:off x="6680835" y="4210050"/>
            <a:ext cx="4977765" cy="2133600"/>
            <a:chOff x="6680835" y="4210050"/>
            <a:chExt cx="4977765" cy="2133600"/>
          </a:xfrm>
        </p:grpSpPr>
        <p:sp>
          <p:nvSpPr>
            <p:cNvPr id="38" name="Rectangle 38"/>
            <p:cNvSpPr/>
            <p:nvPr/>
          </p:nvSpPr>
          <p:spPr>
            <a:xfrm>
              <a:off x="6680835" y="4210050"/>
              <a:ext cx="4977765" cy="2133600"/>
            </a:xfrm>
            <a:prstGeom prst="roundRect">
              <a:avLst>
                <a:gd name="adj" fmla="val 625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690360" y="4343400"/>
              <a:ext cx="47625" cy="18669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928485" y="441960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019646" y="445531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用途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920865" y="4796790"/>
              <a:ext cx="417766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程序段 for i ← 1 to n do for j ← 1 to i do 中，内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层语句执行 1 + 2 + … + n = n(n+1)/2 次，是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Θ(n²)。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922008" y="5700236"/>
              <a:ext cx="406069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双重循环中内层次数随 i 变化时，先写成求和式，再套公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式。</a:t>
              </a:r>
            </a:p>
          </p:txBody>
        </p:sp>
      </p:grpSp>
      <p:grpSp>
        <p:nvGrpSpPr>
          <p:cNvPr id="4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5" name="TextBox 45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求和、证明与性能分布图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证明方法：直接证明、间接证明与数学归纳法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2" name="c1-table-1"/>
          <p:cNvGrpSpPr/>
          <p:nvPr/>
        </p:nvGrpSpPr>
        <p:grpSpPr>
          <a:xfrm>
            <a:off x="533400" y="1524000"/>
            <a:ext cx="5951220" cy="2223136"/>
            <a:chOff x="533400" y="1524000"/>
            <a:chExt cx="5951220" cy="2223136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951220" cy="44481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059180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方法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963227" y="165163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042726" y="165163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本章用例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2270" y="2096452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直接证明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61020" y="2096452"/>
              <a:ext cx="17083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由条件 P 推出结论 Q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41317" y="2096452"/>
              <a:ext cx="137674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性质 1、定理2.1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40887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413635"/>
              <a:ext cx="595122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2270" y="254127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反证法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061020" y="25412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假设结论不成立，推出矛盾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441317" y="2541270"/>
              <a:ext cx="9765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n³ ≠ O(n²)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85273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2270" y="2986088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举反例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61020" y="298608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给出不成立的实例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41317" y="2986088"/>
              <a:ext cx="11068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BADMAX 出错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29755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302318"/>
              <a:ext cx="5951220" cy="44481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42925" y="3311842"/>
              <a:ext cx="1409700" cy="425768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2270" y="343090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数学归纳法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61020" y="3430905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初始、假设、证明三步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441317" y="343090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求和公式、递推式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1524000"/>
              <a:ext cx="5951220" cy="22231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1957388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4337685" y="1524000"/>
              <a:ext cx="9525" cy="22231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card-2"/>
          <p:cNvGrpSpPr/>
          <p:nvPr/>
        </p:nvGrpSpPr>
        <p:grpSpPr>
          <a:xfrm>
            <a:off x="533400" y="3922395"/>
            <a:ext cx="5951220" cy="1557338"/>
            <a:chOff x="533400" y="3922395"/>
            <a:chExt cx="5951220" cy="1557338"/>
          </a:xfrm>
        </p:grpSpPr>
        <p:sp>
          <p:nvSpPr>
            <p:cNvPr id="33" name="Rectangle 33"/>
            <p:cNvSpPr/>
            <p:nvPr/>
          </p:nvSpPr>
          <p:spPr>
            <a:xfrm>
              <a:off x="533400" y="3922395"/>
              <a:ext cx="5951220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542925" y="4055745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763905" y="4114800"/>
              <a:ext cx="12763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31342" y="4149090"/>
              <a:ext cx="114147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数学归纳法的三步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63905" y="445865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19583" y="449799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044702" y="4471035"/>
              <a:ext cx="224908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初始归纳：i = 1 时结论成立</a:t>
              </a:r>
            </a:p>
          </p:txBody>
        </p:sp>
        <p:sp>
          <p:nvSpPr>
            <p:cNvPr id="40" name="Ellipse 40"/>
            <p:cNvSpPr/>
            <p:nvPr/>
          </p:nvSpPr>
          <p:spPr>
            <a:xfrm>
              <a:off x="763905" y="476154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19583" y="479993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1044702" y="4773930"/>
              <a:ext cx="24308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归纳假设：若 i = n − 1 时成立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63905" y="506444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19583" y="510282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044702" y="5075873"/>
              <a:ext cx="230360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归纳证明：证明 i = n 时成立</a:t>
              </a:r>
            </a:p>
          </p:txBody>
        </p:sp>
      </p:grpSp>
      <p:grpSp>
        <p:nvGrpSpPr>
          <p:cNvPr id="62" name="c2-card-1"/>
          <p:cNvGrpSpPr/>
          <p:nvPr/>
        </p:nvGrpSpPr>
        <p:grpSpPr>
          <a:xfrm>
            <a:off x="6789420" y="1524000"/>
            <a:ext cx="4869180" cy="3955732"/>
            <a:chOff x="6789420" y="1524000"/>
            <a:chExt cx="4869180" cy="3955732"/>
          </a:xfrm>
        </p:grpSpPr>
        <p:sp>
          <p:nvSpPr>
            <p:cNvPr id="47" name="Rectangle 47"/>
            <p:cNvSpPr/>
            <p:nvPr/>
          </p:nvSpPr>
          <p:spPr>
            <a:xfrm>
              <a:off x="6789420" y="1524000"/>
              <a:ext cx="4869180" cy="3955732"/>
            </a:xfrm>
            <a:prstGeom prst="roundRect">
              <a:avLst>
                <a:gd name="adj" fmla="val 33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798945" y="1657350"/>
              <a:ext cx="47625" cy="36890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019925" y="1716405"/>
              <a:ext cx="34290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115366" y="1750695"/>
              <a:ext cx="15201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470267" y="1756410"/>
              <a:ext cx="31401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用归纳法证明 Σi² = n(n+1)(2n+1)/6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019925" y="2078355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075603" y="211674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300722" y="2090738"/>
              <a:ext cx="40028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初始归纳：n = 1 时左边 = 1，右边 = 1·2·3/6 = 1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7019925" y="2380298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7075603" y="2419636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7300722" y="2392680"/>
              <a:ext cx="40210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归纳假设：前 n − 1 项之和为 (n − 1)n(2n − 1)/6</a:t>
              </a:r>
            </a:p>
          </p:txBody>
        </p:sp>
        <p:sp>
          <p:nvSpPr>
            <p:cNvPr id="58" name="Ellipse 58"/>
            <p:cNvSpPr/>
            <p:nvPr/>
          </p:nvSpPr>
          <p:spPr>
            <a:xfrm>
              <a:off x="7019925" y="2683192"/>
              <a:ext cx="192405" cy="19240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075603" y="272157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7300722" y="2695575"/>
              <a:ext cx="21127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归纳证明：加上第 n 项 n²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formula55"/>
                <p:cNvSpPr txBox="1">
                  <a:spLocks noGrp="1"/>
                </p:cNvSpPr>
                <p:nvPr/>
              </p:nvSpPr>
              <p:spPr>
                <a:xfrm>
                  <a:off x="7019925" y="2975610"/>
                  <a:ext cx="4446270" cy="51435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+</m:t>
                        </m:r>
                        <m:sSup>
                          <m:e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sup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zh-CN" sz="1500" dirty="0">
                            <a:solidFill>
                              <a:srgbClr val="1F2937"/>
                            </a:solidFill>
                            <a:latin typeface="Cambria Math"/>
                            <a:ea typeface="Cambria Math"/>
                            <a:cs typeface="Cambria Math"/>
                          </a:rPr>
                          <m:t>=</m:t>
                        </m:r>
                        <m:f>
                          <m:fPr>
                            <m:type m:val="bar"/>
                            <m:ctrlP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</m:ctrlPr>
                          </m:fPr>
                          <m:num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+</m:t>
                                </m:r>
                                <m:r>
                                  <a:rPr lang="zh-CN" sz="150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</m:num>
                          <m:den>
                            <m:r>
                              <a:rPr lang="zh-CN" sz="150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6</m:t>
                            </m:r>
                          </m:den>
                        </m:f>
                      </m:oMath>
                    </m:oMathPara>
                  </a14:m>
                </a:p>
              </p:txBody>
            </p:sp>
          </mc:Choice>
        </mc:AlternateContent>
      </p:grpSp>
      <p:grpSp>
        <p:nvGrpSpPr>
          <p:cNvPr id="6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3" name="Rectangle 6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1040892" y="6023610"/>
              <a:ext cx="90914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三步齐全才算证明。常见错误有两种：只验算 n = 1、2、3 几个值就下结论；归纳证明里没有真正用上归纳假设。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求和、证明与性能分布图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补充：递推式先展开猜出答案，再用归纳法验证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9" name="c1-card-1"/>
          <p:cNvGrpSpPr/>
          <p:nvPr/>
        </p:nvGrpSpPr>
        <p:grpSpPr>
          <a:xfrm>
            <a:off x="533400" y="1524000"/>
            <a:ext cx="5410200" cy="3547110"/>
            <a:chOff x="533400" y="1524000"/>
            <a:chExt cx="5410200" cy="354711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3547110"/>
            </a:xfrm>
            <a:prstGeom prst="roundRect">
              <a:avLst>
                <a:gd name="adj" fmla="val 37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32804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7910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742" y="176926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1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66838" y="1768792"/>
              <a:ext cx="30314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T(1) = 1，T(n) = T(n − 1) + n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formula58"/>
                <p:cNvSpPr txBox="1">
                  <a:spLocks noGrp="1"/>
                </p:cNvSpPr>
                <p:nvPr/>
              </p:nvSpPr>
              <p:spPr>
                <a:xfrm>
                  <a:off x="781050" y="2105025"/>
                  <a:ext cx="4953000" cy="80676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d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−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</m:e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3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+⋯+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f>
                              <m:fPr>
                                <m:type m:val="bar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fPr>
                              <m:num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 m:val="on"/>
                                    <m:ctrl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dPr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n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+</m:t>
                                    </m:r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e>
                                </m:d>
                              </m:num>
                              <m:den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den>
                            </m:f>
                          </m:e>
                        </m:eqAr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13" name="Rectangle 13"/>
            <p:cNvSpPr/>
            <p:nvPr/>
          </p:nvSpPr>
          <p:spPr>
            <a:xfrm>
              <a:off x="781050" y="3007042"/>
              <a:ext cx="49530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1134392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811620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348830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886040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69922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100477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731985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62540" y="314277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79493" y="3591401"/>
              <a:ext cx="422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813989" y="359140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351199" y="359140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88409" y="359140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424906" y="359140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055461" y="359140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686968" y="359140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317523" y="359140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81050" y="3007042"/>
              <a:ext cx="4953000" cy="89725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1594485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2131695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2668905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3206115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3836670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6" name="Rectangle 36"/>
            <p:cNvSpPr/>
            <p:nvPr/>
          </p:nvSpPr>
          <p:spPr>
            <a:xfrm>
              <a:off x="4467225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098732" y="3007042"/>
              <a:ext cx="9525" cy="89725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74573" y="4020979"/>
              <a:ext cx="449961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归纳验证：T(n − 1) + n = (n − 1)n/2 + n = n(n + 1)/2。所以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T(n) = Θ(n²)。</a:t>
              </a:r>
            </a:p>
          </p:txBody>
        </p:sp>
      </p:grpSp>
      <p:grpSp>
        <p:nvGrpSpPr>
          <p:cNvPr id="78" name="c2-card-1"/>
          <p:cNvGrpSpPr/>
          <p:nvPr/>
        </p:nvGrpSpPr>
        <p:grpSpPr>
          <a:xfrm>
            <a:off x="6248400" y="1524000"/>
            <a:ext cx="5410200" cy="3547110"/>
            <a:chOff x="6248400" y="1524000"/>
            <a:chExt cx="5410200" cy="3547110"/>
          </a:xfrm>
        </p:grpSpPr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3547110"/>
            </a:xfrm>
            <a:prstGeom prst="roundRect">
              <a:avLst>
                <a:gd name="adj" fmla="val 375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6257925" y="1657350"/>
              <a:ext cx="47625" cy="32804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96050" y="1733550"/>
              <a:ext cx="47910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86742" y="1769269"/>
              <a:ext cx="2967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 2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81838" y="1768792"/>
              <a:ext cx="42524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T(1) = 0，T(n) = 2T(n/2) + n，n 为 2 的幂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formula59"/>
                <p:cNvSpPr txBox="1">
                  <a:spLocks noGrp="1"/>
                </p:cNvSpPr>
                <p:nvPr/>
              </p:nvSpPr>
              <p:spPr>
                <a:xfrm>
                  <a:off x="6496050" y="2105025"/>
                  <a:ext cx="4953000" cy="764858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lIns="0" tIns="0" rIns="0" bIns="0" wrap="none" anchor="ctr">
                  <a:normAutofit/>
                </a:bodyPr>
                <a:lstStyle/>
                <a:p>
                  <a:pPr algn="ctr"/>
                  <a14:m>
                    <m:oMathPara xmlns:a="http://schemas.openxmlformats.org/drawingml/2006/main" xmlns:m="http://schemas.openxmlformats.org/officeDocument/2006/math">
                      <m:oMathParaPr>
                        <m:jc m:val="center"/>
                      </m:oMathParaPr>
                      <m:oMath>
                        <m:eqArr>
                          <m:eqArrPr>
                            <m:baseJc m:val="center"/>
                          </m:eqArrPr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d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4T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4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2n</m:t>
                            </m:r>
                          </m:e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sSup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2</m:t>
                                </m:r>
                              </m:e>
                              <m:sup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k</m:t>
                                </m:r>
                              </m:sup>
                            </m:sSup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  <m:r>
                                  <m:rPr>
                                    <m:sty m:val="p"/>
                                  </m:r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/</m:t>
                                </m:r>
                                <m:sSup>
                                  <m:e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e>
                                  <m:sup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k</m:t>
                                    </m:r>
                                  </m:sup>
                                </m:sSup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kn</m:t>
                            </m:r>
                          </m:e>
                          <m:e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&amp;</m:t>
                            </m:r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nT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 m:val="on"/>
                                <m:ctrlP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</m:ctrlPr>
                              </m:dPr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1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+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func>
                              <m:funcPr/>
                              <m:fName>
                                <m:sSub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  <m:r>
                              <m:rPr>
                                <m:sty m:val="p"/>
                              </m:rP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=</m:t>
                            </m:r>
                            <m:r>
                              <a:rPr lang="zh-CN" sz="1650" dirty="0">
                                <a:solidFill>
                                  <a:srgbClr val="1F2937"/>
                                </a:solidFill>
                                <a:latin typeface="Cambria Math"/>
                                <a:ea typeface="Cambria Math"/>
                                <a:cs typeface="Cambria Math"/>
                              </a:rPr>
                              <m:t>n</m:t>
                            </m:r>
                            <m:func>
                              <m:funcPr/>
                              <m:fName>
                                <m:sSub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zh-CN" sz="1650" dirty="0">
                                        <a:solidFill>
                                          <a:srgbClr val="1F2937"/>
                                        </a:solidFill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zh-CN" sz="1650" dirty="0">
                                    <a:solidFill>
                                      <a:srgbClr val="1F2937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n</m:t>
                                </m:r>
                              </m:e>
                            </m:func>
                          </m:e>
                        </m:eqArr>
                      </m:oMath>
                    </m:oMathPara>
                  </a14:m>
                </a:p>
              </p:txBody>
            </p:sp>
          </mc:Choice>
        </mc:AlternateContent>
        <p:sp>
          <p:nvSpPr>
            <p:cNvPr id="46" name="Rectangle 46"/>
            <p:cNvSpPr/>
            <p:nvPr/>
          </p:nvSpPr>
          <p:spPr>
            <a:xfrm>
              <a:off x="6496050" y="2965132"/>
              <a:ext cx="4953000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971312" y="310086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796177" y="310086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381965" y="310086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967752" y="310086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600212" y="3100864"/>
              <a:ext cx="11246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10229589" y="310086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956347" y="3100864"/>
              <a:ext cx="2119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816413" y="3549491"/>
              <a:ext cx="42226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T(n)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798547" y="35494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84334" y="35494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970122" y="3549491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9555196" y="354949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0234328" y="3549491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913699" y="3549491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160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496050" y="3857625"/>
              <a:ext cx="49530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6496050" y="3862388"/>
              <a:ext cx="495300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6718011" y="3998119"/>
              <a:ext cx="61906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log₂n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7798547" y="39981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384334" y="39981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970122" y="3998119"/>
              <a:ext cx="1077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555196" y="399811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234328" y="3998119"/>
              <a:ext cx="20249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0913699" y="3998119"/>
              <a:ext cx="2972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160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6496050" y="2965132"/>
              <a:ext cx="4953000" cy="134683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71" name="Rectangle 71"/>
            <p:cNvSpPr/>
            <p:nvPr/>
          </p:nvSpPr>
          <p:spPr>
            <a:xfrm>
              <a:off x="7555230" y="296513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8140065" y="296513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8725852" y="296513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4" name="Rectangle 74"/>
            <p:cNvSpPr/>
            <p:nvPr/>
          </p:nvSpPr>
          <p:spPr>
            <a:xfrm>
              <a:off x="9311640" y="296513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5" name="Rectangle 75"/>
            <p:cNvSpPr/>
            <p:nvPr/>
          </p:nvSpPr>
          <p:spPr>
            <a:xfrm>
              <a:off x="9991725" y="296513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10670858" y="2965132"/>
              <a:ext cx="9525" cy="134683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6489573" y="4427696"/>
              <a:ext cx="460527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第三行取 k = log₂n，使 n/2ᵏ = 1。这正是第4章归并排序的递推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式，结果为 Θ(n log n)。</a:t>
              </a:r>
            </a:p>
          </p:txBody>
        </p:sp>
      </p:grpSp>
      <p:grpSp>
        <p:nvGrpSpPr>
          <p:cNvPr id="85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79" name="Rectangle 79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83" name="Group 83"/>
            <p:cNvGrpSpPr/>
            <p:nvPr/>
          </p:nvGrpSpPr>
          <p:grpSpPr>
            <a:xfrm>
              <a:off x="738188" y="5995988"/>
              <a:ext cx="200026" cy="200025"/>
              <a:chOff x="738188" y="5995988"/>
              <a:chExt cx="200026" cy="200025"/>
            </a:xfrm>
          </p:grpSpPr>
          <p:sp>
            <p:nvSpPr>
              <p:cNvPr id="80" name="Freeform 80"/>
              <p:cNvSpPr/>
              <p:nvPr/>
            </p:nvSpPr>
            <p:spPr>
              <a:xfrm>
                <a:off x="738188" y="5995988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1" name="Freeform 81"/>
              <p:cNvSpPr/>
              <p:nvPr/>
            </p:nvSpPr>
            <p:spPr>
              <a:xfrm>
                <a:off x="777926" y="6040438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82" name="Freeform 82"/>
              <p:cNvSpPr/>
              <p:nvPr/>
            </p:nvSpPr>
            <p:spPr>
              <a:xfrm>
                <a:off x="812642" y="6151563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84" name="TextBox 84"/>
            <p:cNvSpPr txBox="1"/>
            <p:nvPr/>
          </p:nvSpPr>
          <p:spPr>
            <a:xfrm>
              <a:off x="1040130" y="5991225"/>
              <a:ext cx="101117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展开时先写出第 k 层的通式，再令自变量等于出口值求出 k；展开得到的只是猜想，要用归纳法验证后才算证明。</a:t>
              </a:r>
            </a:p>
          </p:txBody>
        </p:sp>
      </p:grpSp>
      <p:grpSp>
        <p:nvGrpSpPr>
          <p:cNvPr id="8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6" name="TextBox 86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891528" cy="909257"/>
            <a:chOff x="520446" y="342900"/>
            <a:chExt cx="689152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983230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79404" y="407194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求和、证明与性能分布图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89152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作时空性能分布图：用实测数据检验事前分析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6" name="c1-card-1"/>
          <p:cNvGrpSpPr/>
          <p:nvPr/>
        </p:nvGrpSpPr>
        <p:grpSpPr>
          <a:xfrm>
            <a:off x="533400" y="1524000"/>
            <a:ext cx="5410200" cy="2429828"/>
            <a:chOff x="533400" y="1524000"/>
            <a:chExt cx="5410200" cy="242982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429828"/>
            </a:xfrm>
            <a:prstGeom prst="roundRect">
              <a:avLst>
                <a:gd name="adj" fmla="val 548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2163128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9620" y="172212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3059" y="175641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事后测试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381" y="2082641"/>
              <a:ext cx="470331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在对算法进行设计、确认、事前分析和调试之后进行，与所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用计算机密切相关。以时间分布图为例：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77240" y="2731770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33831" y="2672239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为了减少时钟不准确造成的噪声，可以增大规模，或者重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复执行多次取平均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77240" y="3321368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33831" y="3260884"/>
              <a:ext cx="452297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分布图的做法与时间复杂度有关：按最好、最坏、平均情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况分别构造数据集</a:t>
              </a:r>
            </a:p>
          </p:txBody>
        </p:sp>
      </p:grpSp>
      <p:grpSp>
        <p:nvGrpSpPr>
          <p:cNvPr id="20" name="c1-code-2"/>
          <p:cNvGrpSpPr/>
          <p:nvPr/>
        </p:nvGrpSpPr>
        <p:grpSpPr>
          <a:xfrm>
            <a:off x="533400" y="4133850"/>
            <a:ext cx="5410200" cy="2207895"/>
            <a:chOff x="533400" y="4133850"/>
            <a:chExt cx="5410200" cy="2207895"/>
          </a:xfrm>
        </p:grpSpPr>
        <p:sp>
          <p:nvSpPr>
            <p:cNvPr id="17" name="Rectangle 17"/>
            <p:cNvSpPr/>
            <p:nvPr/>
          </p:nvSpPr>
          <p:spPr>
            <a:xfrm>
              <a:off x="533400" y="4133850"/>
              <a:ext cx="5410200" cy="2207895"/>
            </a:xfrm>
            <a:prstGeom prst="roundRect">
              <a:avLst>
                <a:gd name="adj" fmla="val 4314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61797" y="4285774"/>
              <a:ext cx="185689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补充：测量时间分布的一种写法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1416" y="4547235"/>
              <a:ext cx="3631121" cy="17217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b="1" dirty="0">
                  <a:solidFill>
                    <a:srgbClr val="2F4B9A"/>
                  </a:solidFill>
                  <a:latin typeface="Consolas"/>
                  <a:ea typeface="Consolas"/>
                  <a:cs typeface="Consolas"/>
                </a:rPr>
                <a:t>import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time</a:t>
              </a:r>
              <a:br/>
              <a:r>
                <a:rPr lang="en-US" sz="1050" b="1" dirty="0">
                  <a:solidFill>
                    <a:srgbClr val="2F4B9A"/>
                  </a:solidFill>
                  <a:latin typeface="Consolas"/>
                  <a:ea typeface="Consolas"/>
                  <a:cs typeface="Consolas"/>
                </a:rPr>
                <a:t>def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profile(alg, make_input, sizes, repeat=20):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</a:t>
              </a:r>
              <a:r>
                <a:rPr lang="en-US" sz="1050" b="1" dirty="0">
                  <a:solidFill>
                    <a:srgbClr val="2F4B9A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n </a:t>
              </a:r>
              <a:r>
                <a:rPr lang="en-US" sz="1050" b="1" dirty="0">
                  <a:solidFill>
                    <a:srgbClr val="2F4B9A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sizes: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data = make_input(n)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最坏或平均情况数据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t0 = time.perf_counter()</a:t>
              </a:r>
              <a:br/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</a:t>
              </a:r>
              <a:r>
                <a:rPr lang="en-US" sz="1050" b="1" dirty="0">
                  <a:solidFill>
                    <a:srgbClr val="2F4B9A"/>
                  </a:solidFill>
                  <a:latin typeface="Consolas"/>
                  <a:ea typeface="Consolas"/>
                  <a:cs typeface="Consolas"/>
                </a:rPr>
                <a:t>for</a:t>
              </a:r>
              <a:r>
                <a:rPr lang="zh-CN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_ </a:t>
              </a:r>
              <a:r>
                <a:rPr lang="en-US" sz="1050" b="1" dirty="0">
                  <a:solidFill>
                    <a:srgbClr val="2F4B9A"/>
                  </a:solidFill>
                  <a:latin typeface="Consolas"/>
                  <a:ea typeface="Consolas"/>
                  <a:cs typeface="Consolas"/>
                </a:rPr>
                <a:t>in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range(repeat):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    alg(list(data))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# 复制一份再运行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t = (time.perf_counter() - t0) / repeat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print(n, t)</a:t>
              </a:r>
            </a:p>
          </p:txBody>
        </p:sp>
      </p:grpSp>
      <p:grpSp>
        <p:nvGrpSpPr>
          <p:cNvPr id="42" name="c2-table-1"/>
          <p:cNvGrpSpPr/>
          <p:nvPr/>
        </p:nvGrpSpPr>
        <p:grpSpPr>
          <a:xfrm>
            <a:off x="6248400" y="1524000"/>
            <a:ext cx="5410200" cy="2546985"/>
            <a:chOff x="6248400" y="1524000"/>
            <a:chExt cx="5410200" cy="2546985"/>
          </a:xfrm>
        </p:grpSpPr>
        <p:sp>
          <p:nvSpPr>
            <p:cNvPr id="21" name="Rectangle 21"/>
            <p:cNvSpPr/>
            <p:nvPr/>
          </p:nvSpPr>
          <p:spPr>
            <a:xfrm>
              <a:off x="6248400" y="1524000"/>
              <a:ext cx="5410200" cy="42481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731127" y="1652588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事前分析结果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02594" y="1652588"/>
              <a:ext cx="144872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n 翻倍时时间约变为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50889" y="2076450"/>
              <a:ext cx="4308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98752" y="2076450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 倍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48400" y="236791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48400" y="2372678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350889" y="2501265"/>
              <a:ext cx="8597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 log n)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98752" y="2501265"/>
              <a:ext cx="32188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略多于 2 倍（n 从 1000 到 2000 约 2.2 倍）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48400" y="279273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50889" y="2926080"/>
              <a:ext cx="526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O(n²)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298752" y="2926080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 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48400" y="3216592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248400" y="3221355"/>
              <a:ext cx="5410200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350889" y="3349942"/>
              <a:ext cx="526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O(n³)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98752" y="3349942"/>
              <a:ext cx="31104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8 倍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364140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350889" y="3774757"/>
              <a:ext cx="54089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O(2ⁿ)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98752" y="3774757"/>
              <a:ext cx="114300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每加 1 就翻倍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48400" y="1524000"/>
              <a:ext cx="5410200" cy="254698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8191500" y="1524000"/>
              <a:ext cx="9525" cy="254698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9" name="c2-callout-2"/>
          <p:cNvGrpSpPr/>
          <p:nvPr/>
        </p:nvGrpSpPr>
        <p:grpSpPr>
          <a:xfrm>
            <a:off x="6248400" y="4251008"/>
            <a:ext cx="5410200" cy="1018222"/>
            <a:chOff x="6248400" y="4251008"/>
            <a:chExt cx="5410200" cy="1018222"/>
          </a:xfrm>
        </p:grpSpPr>
        <p:sp>
          <p:nvSpPr>
            <p:cNvPr id="43" name="Rectangle 43"/>
            <p:cNvSpPr/>
            <p:nvPr/>
          </p:nvSpPr>
          <p:spPr>
            <a:xfrm>
              <a:off x="6248400" y="4251008"/>
              <a:ext cx="5410200" cy="1018222"/>
            </a:xfrm>
            <a:prstGeom prst="roundRect">
              <a:avLst>
                <a:gd name="adj" fmla="val 11225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453188" y="4660583"/>
              <a:ext cx="200026" cy="200025"/>
              <a:chOff x="6453188" y="4660583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53188" y="4660583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492926" y="4705033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527642" y="4816158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755511" y="4398169"/>
              <a:ext cx="4522978" cy="8044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把实测时间画成关于 n 的曲线，或看 n 翻倍时的时间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比。比值与上表明显不符，说明分析有误，或实现中有额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外开销。</a:t>
              </a:r>
            </a:p>
          </p:txBody>
        </p:sp>
      </p:grpSp>
      <p:grpSp>
        <p:nvGrpSpPr>
          <p:cNvPr id="56" name="c2-callout-3"/>
          <p:cNvGrpSpPr/>
          <p:nvPr/>
        </p:nvGrpSpPr>
        <p:grpSpPr>
          <a:xfrm>
            <a:off x="6248400" y="5449252"/>
            <a:ext cx="5410200" cy="892492"/>
            <a:chOff x="6248400" y="5449252"/>
            <a:chExt cx="5410200" cy="892492"/>
          </a:xfrm>
        </p:grpSpPr>
        <p:sp>
          <p:nvSpPr>
            <p:cNvPr id="50" name="Rectangle 50"/>
            <p:cNvSpPr/>
            <p:nvPr/>
          </p:nvSpPr>
          <p:spPr>
            <a:xfrm>
              <a:off x="6248400" y="5449252"/>
              <a:ext cx="5410200" cy="892492"/>
            </a:xfrm>
            <a:prstGeom prst="roundRect">
              <a:avLst>
                <a:gd name="adj" fmla="val 12807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54" name="Group 54"/>
            <p:cNvGrpSpPr/>
            <p:nvPr/>
          </p:nvGrpSpPr>
          <p:grpSpPr>
            <a:xfrm>
              <a:off x="6441129" y="5792271"/>
              <a:ext cx="224134" cy="192560"/>
              <a:chOff x="6441129" y="5792271"/>
              <a:chExt cx="224134" cy="19256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6553200" y="586263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6441129" y="579227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553200" y="594042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6755511" y="5664994"/>
              <a:ext cx="452297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排序类算法重复运行前要复制原数据，否则第二次测的是</a:t>
              </a:r>
              <a:br/>
              <a:r>
                <a:rPr lang="zh-CN" sz="14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有序输入。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2F4B9A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8EDF8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6246114" cy="3351847"/>
            <a:chOff x="667512" y="1835468"/>
            <a:chExt cx="624611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第五部分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504127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SPARKS 语言写算法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623620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本课程书写算法用的结构化伪代码，后面各章的算法都用它表示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6302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2.3 数据类型、变量与运算符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条件、循环与跳转语句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过程定义与输入输出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4932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算法的同质异相：MAX 过程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04966" cy="909257"/>
            <a:chOff x="520446" y="342900"/>
            <a:chExt cx="620496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0496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基本数据类型、变量命名、数组与运算符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1" name="c1-table-1"/>
          <p:cNvGrpSpPr/>
          <p:nvPr/>
        </p:nvGrpSpPr>
        <p:grpSpPr>
          <a:xfrm>
            <a:off x="533400" y="1524000"/>
            <a:ext cx="6059805" cy="2600325"/>
            <a:chOff x="533400" y="1524000"/>
            <a:chExt cx="6059805" cy="260032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605980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61733" y="16454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2363582" y="1645444"/>
              <a:ext cx="10659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SPARKS 的规定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60530" y="16454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630555" y="2045494"/>
              <a:ext cx="7226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基本数据类</a:t>
              </a:r>
              <a:br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00200" y="2045494"/>
              <a:ext cx="216636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整型 integer、实型 real、布尔型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boolean、字符型 char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87215" y="2145506"/>
              <a:ext cx="1647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integer x, y; char ch;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" y="25193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33400" y="2524125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30555" y="264556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布尔值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00200" y="2645569"/>
              <a:ext cx="870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true、false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387215" y="2645569"/>
              <a:ext cx="9763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found ← false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291941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0555" y="314563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变量命名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600200" y="3045619"/>
              <a:ext cx="24295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以字母开头，不允许使用特殊字符，不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允许与保留字重复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387215" y="3145631"/>
              <a:ext cx="8076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xmax、i、A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351948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533400" y="3524250"/>
              <a:ext cx="6059805" cy="6000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0555" y="374570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00200" y="3645694"/>
              <a:ext cx="24295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下界和上界可以是任意整数的多维数组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integer A(l₁:u₁, …, lₙ:uₙ)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387215" y="3645694"/>
              <a:ext cx="151206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integer A(1:10); real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B(3:6, 1:4);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3400" y="1524000"/>
              <a:ext cx="6059805" cy="26003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1498282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4285298" y="1524000"/>
              <a:ext cx="9525" cy="26003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6" name="c1-table-2"/>
          <p:cNvGrpSpPr/>
          <p:nvPr/>
        </p:nvGrpSpPr>
        <p:grpSpPr>
          <a:xfrm>
            <a:off x="533400" y="4293870"/>
            <a:ext cx="6059805" cy="1600200"/>
            <a:chOff x="533400" y="4293870"/>
            <a:chExt cx="6059805" cy="1600200"/>
          </a:xfrm>
        </p:grpSpPr>
        <p:sp>
          <p:nvSpPr>
            <p:cNvPr id="32" name="Rectangle 32"/>
            <p:cNvSpPr/>
            <p:nvPr/>
          </p:nvSpPr>
          <p:spPr>
            <a:xfrm>
              <a:off x="533400" y="4293870"/>
              <a:ext cx="605980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285596" y="44153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运算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315498" y="44153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写法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30555" y="481536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赋值语句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447925" y="4815364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变量 ← 表达式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508920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5093970"/>
              <a:ext cx="605980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0555" y="521541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逻辑运算符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447925" y="5215414"/>
              <a:ext cx="9763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and、or、not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33400" y="5489258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555" y="561546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关系运算符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2447925" y="5615464"/>
              <a:ext cx="1262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&lt;、≤、=、≠、&gt;、≥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33400" y="4293870"/>
              <a:ext cx="6059805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2346008" y="429387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7" name="c2-card-1"/>
          <p:cNvGrpSpPr/>
          <p:nvPr/>
        </p:nvGrpSpPr>
        <p:grpSpPr>
          <a:xfrm>
            <a:off x="6898005" y="1524000"/>
            <a:ext cx="4760595" cy="1713548"/>
            <a:chOff x="6898005" y="1524000"/>
            <a:chExt cx="4760595" cy="1713548"/>
          </a:xfrm>
        </p:grpSpPr>
        <p:sp>
          <p:nvSpPr>
            <p:cNvPr id="47" name="Rectangle 47"/>
            <p:cNvSpPr/>
            <p:nvPr/>
          </p:nvSpPr>
          <p:spPr>
            <a:xfrm>
              <a:off x="6898005" y="1524000"/>
              <a:ext cx="4760595" cy="1713548"/>
            </a:xfrm>
            <a:prstGeom prst="roundRect">
              <a:avLst>
                <a:gd name="adj" fmla="val 77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6907530" y="1657350"/>
              <a:ext cx="47625" cy="144684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7122795" y="1710690"/>
              <a:ext cx="334328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218566" y="174355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563612" y="1745932"/>
              <a:ext cx="27580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数组 B(3:6, 1:4) 有多少个元素</a:t>
              </a:r>
            </a:p>
          </p:txBody>
        </p:sp>
        <p:sp>
          <p:nvSpPr>
            <p:cNvPr id="52" name="Ellipse 52"/>
            <p:cNvSpPr/>
            <p:nvPr/>
          </p:nvSpPr>
          <p:spPr>
            <a:xfrm>
              <a:off x="7131367" y="2127885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287387" y="2071688"/>
              <a:ext cx="32486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第一维 3~6 共 4 个，第二维 1~4 共 4 个</a:t>
              </a:r>
            </a:p>
          </p:txBody>
        </p:sp>
        <p:sp>
          <p:nvSpPr>
            <p:cNvPr id="54" name="Ellipse 54"/>
            <p:cNvSpPr/>
            <p:nvPr/>
          </p:nvSpPr>
          <p:spPr>
            <a:xfrm>
              <a:off x="7131367" y="242792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7287387" y="2371725"/>
              <a:ext cx="376812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共 4 × 4 = 16 个元素，从 B(3, 1) 到 B(6, 4)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117080" y="2668429"/>
              <a:ext cx="3979926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一般地，A(l₁:u₁, …, lₙ:uₙ) 共有 (u₁ − l₁ + 1) × … × (uₙ − lₙ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+ 1) 个元素。</a:t>
              </a:r>
            </a:p>
          </p:txBody>
        </p:sp>
      </p:grpSp>
      <p:grpSp>
        <p:nvGrpSpPr>
          <p:cNvPr id="64" name="c2-callout-2"/>
          <p:cNvGrpSpPr/>
          <p:nvPr/>
        </p:nvGrpSpPr>
        <p:grpSpPr>
          <a:xfrm>
            <a:off x="6898005" y="3408045"/>
            <a:ext cx="4760595" cy="729615"/>
            <a:chOff x="6898005" y="3408045"/>
            <a:chExt cx="4760595" cy="729615"/>
          </a:xfrm>
        </p:grpSpPr>
        <p:sp>
          <p:nvSpPr>
            <p:cNvPr id="58" name="Rectangle 58"/>
            <p:cNvSpPr/>
            <p:nvPr/>
          </p:nvSpPr>
          <p:spPr>
            <a:xfrm>
              <a:off x="6898005" y="3408045"/>
              <a:ext cx="4760595" cy="729615"/>
            </a:xfrm>
            <a:prstGeom prst="roundRect">
              <a:avLst>
                <a:gd name="adj" fmla="val 1566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2" name="Group 62"/>
            <p:cNvGrpSpPr/>
            <p:nvPr/>
          </p:nvGrpSpPr>
          <p:grpSpPr>
            <a:xfrm>
              <a:off x="7090734" y="3669148"/>
              <a:ext cx="224134" cy="192560"/>
              <a:chOff x="7090734" y="3669148"/>
              <a:chExt cx="224134" cy="19256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202805" y="373951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7090734" y="366914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202805" y="381730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3" name="TextBox 63"/>
            <p:cNvSpPr txBox="1"/>
            <p:nvPr/>
          </p:nvSpPr>
          <p:spPr>
            <a:xfrm>
              <a:off x="7405497" y="3553777"/>
              <a:ext cx="371703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易错：SPARKS 用 ← 赋值，= 是比较相等；数组下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标用圆括号，写作 A(i)。</a:t>
              </a:r>
            </a:p>
          </p:txBody>
        </p:sp>
      </p:grpSp>
      <p:grpSp>
        <p:nvGrpSpPr>
          <p:cNvPr id="89" name="c2-table-3"/>
          <p:cNvGrpSpPr/>
          <p:nvPr/>
        </p:nvGrpSpPr>
        <p:grpSpPr>
          <a:xfrm>
            <a:off x="6898005" y="4307205"/>
            <a:ext cx="4760595" cy="2000250"/>
            <a:chOff x="6898005" y="4307205"/>
            <a:chExt cx="4760595" cy="2000250"/>
          </a:xfrm>
        </p:grpSpPr>
        <p:sp>
          <p:nvSpPr>
            <p:cNvPr id="65" name="Rectangle 65"/>
            <p:cNvSpPr/>
            <p:nvPr/>
          </p:nvSpPr>
          <p:spPr>
            <a:xfrm>
              <a:off x="6898005" y="4307205"/>
              <a:ext cx="4760595" cy="400050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284301" y="4428649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变量名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407438" y="44286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合法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0168611" y="442864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原因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995160" y="4828699"/>
              <a:ext cx="716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xmax、a1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482825" y="482869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089708" y="4828699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字母开头，无特殊字符</a:t>
              </a:r>
            </a:p>
          </p:txBody>
        </p:sp>
        <p:sp>
          <p:nvSpPr>
            <p:cNvPr id="72" name="Rectangle 72"/>
            <p:cNvSpPr/>
            <p:nvPr/>
          </p:nvSpPr>
          <p:spPr>
            <a:xfrm>
              <a:off x="6898005" y="510254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3" name="Rectangle 73"/>
            <p:cNvSpPr/>
            <p:nvPr/>
          </p:nvSpPr>
          <p:spPr>
            <a:xfrm>
              <a:off x="6898005" y="5107305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4" name="TextBox 74"/>
            <p:cNvSpPr txBox="1"/>
            <p:nvPr/>
          </p:nvSpPr>
          <p:spPr>
            <a:xfrm>
              <a:off x="6995160" y="5228749"/>
              <a:ext cx="1855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2x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8482825" y="522874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089708" y="522874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以数字开头</a:t>
              </a:r>
            </a:p>
          </p:txBody>
        </p:sp>
        <p:sp>
          <p:nvSpPr>
            <p:cNvPr id="77" name="Rectangle 77"/>
            <p:cNvSpPr/>
            <p:nvPr/>
          </p:nvSpPr>
          <p:spPr>
            <a:xfrm>
              <a:off x="6898005" y="550259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6995160" y="5628799"/>
              <a:ext cx="2726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x-1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482825" y="562879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80" name="TextBox 80"/>
            <p:cNvSpPr txBox="1"/>
            <p:nvPr/>
          </p:nvSpPr>
          <p:spPr>
            <a:xfrm>
              <a:off x="9089708" y="562879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含特殊字符</a:t>
              </a:r>
            </a:p>
          </p:txBody>
        </p:sp>
        <p:sp>
          <p:nvSpPr>
            <p:cNvPr id="81" name="Rectangle 81"/>
            <p:cNvSpPr/>
            <p:nvPr/>
          </p:nvSpPr>
          <p:spPr>
            <a:xfrm>
              <a:off x="6898005" y="590264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2" name="Rectangle 82"/>
            <p:cNvSpPr/>
            <p:nvPr/>
          </p:nvSpPr>
          <p:spPr>
            <a:xfrm>
              <a:off x="6898005" y="5907405"/>
              <a:ext cx="4760595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6995160" y="6028849"/>
              <a:ext cx="3201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loop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8482825" y="602884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089708" y="6028849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与保留字重复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6898005" y="4307205"/>
              <a:ext cx="4760595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8130540" y="430720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8987790" y="4307205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0" name="TextBox 9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401218" cy="909257"/>
            <a:chOff x="520446" y="342900"/>
            <a:chExt cx="340121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40121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条件语句：if 与 case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544378" cy="1719262"/>
            <a:chOff x="533400" y="1524000"/>
            <a:chExt cx="4544378" cy="171926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54437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927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if 语句的两种形式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1156462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if 条件 then S1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endif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if 条件 then S1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else S2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endif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3433762"/>
            <a:ext cx="4544378" cy="1719262"/>
            <a:chOff x="533400" y="3433762"/>
            <a:chExt cx="4544378" cy="1719262"/>
          </a:xfrm>
        </p:grpSpPr>
        <p:sp>
          <p:nvSpPr>
            <p:cNvPr id="11" name="Rectangle 11"/>
            <p:cNvSpPr/>
            <p:nvPr/>
          </p:nvSpPr>
          <p:spPr>
            <a:xfrm>
              <a:off x="533400" y="3433762"/>
              <a:ext cx="4544378" cy="1719262"/>
            </a:xfrm>
            <a:prstGeom prst="roundRect">
              <a:avLst>
                <a:gd name="adj" fmla="val 5540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3585686"/>
              <a:ext cx="62007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case 语句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035" y="3848576"/>
              <a:ext cx="1341374" cy="1234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case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: 条件 1 : S1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…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: 条件 n : Sn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: else   : Sn+1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endcase</a:t>
              </a:r>
            </a:p>
          </p:txBody>
        </p:sp>
      </p:grpSp>
      <p:grpSp>
        <p:nvGrpSpPr>
          <p:cNvPr id="23" name="c2-card-1"/>
          <p:cNvGrpSpPr/>
          <p:nvPr/>
        </p:nvGrpSpPr>
        <p:grpSpPr>
          <a:xfrm>
            <a:off x="5382578" y="1524000"/>
            <a:ext cx="6276022" cy="1651635"/>
            <a:chOff x="5382578" y="1524000"/>
            <a:chExt cx="6276022" cy="1651635"/>
          </a:xfrm>
        </p:grpSpPr>
        <p:sp>
          <p:nvSpPr>
            <p:cNvPr id="15" name="Rectangle 15"/>
            <p:cNvSpPr/>
            <p:nvPr/>
          </p:nvSpPr>
          <p:spPr>
            <a:xfrm>
              <a:off x="5382578" y="1524000"/>
              <a:ext cx="6276022" cy="1651635"/>
            </a:xfrm>
            <a:prstGeom prst="roundRect">
              <a:avLst>
                <a:gd name="adj" fmla="val 80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5392102" y="1657350"/>
              <a:ext cx="47625" cy="138493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630228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712536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执行规则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635942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794058" y="2110740"/>
              <a:ext cx="55397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if：条件为真执行 S1，否则执行 S2；没有 else 时什么也不做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5635942" y="250888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5794058" y="2446020"/>
              <a:ext cx="54444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case：从上到下检查条件，执行第一个为真的条件后面的语句，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然后转到 endcase 之后；所有条件都为假时执行 else 后的 Sn+1</a:t>
              </a:r>
            </a:p>
          </p:txBody>
        </p:sp>
      </p:grpSp>
      <p:grpSp>
        <p:nvGrpSpPr>
          <p:cNvPr id="33" name="c2-card-2"/>
          <p:cNvGrpSpPr/>
          <p:nvPr/>
        </p:nvGrpSpPr>
        <p:grpSpPr>
          <a:xfrm>
            <a:off x="5382578" y="3366135"/>
            <a:ext cx="6276022" cy="2857500"/>
            <a:chOff x="5382578" y="3366135"/>
            <a:chExt cx="6276022" cy="2857500"/>
          </a:xfrm>
        </p:grpSpPr>
        <p:sp>
          <p:nvSpPr>
            <p:cNvPr id="24" name="Rectangle 24"/>
            <p:cNvSpPr/>
            <p:nvPr/>
          </p:nvSpPr>
          <p:spPr>
            <a:xfrm>
              <a:off x="5382578" y="3366135"/>
              <a:ext cx="6276022" cy="2857500"/>
            </a:xfrm>
            <a:prstGeom prst="roundRect">
              <a:avLst>
                <a:gd name="adj" fmla="val 4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92102" y="3499485"/>
              <a:ext cx="47625" cy="25908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630228" y="357568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725338" y="361140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089333" y="3610928"/>
              <a:ext cx="20224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case 给成绩分等级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630228" y="3947160"/>
              <a:ext cx="5818822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758624" y="409908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757862" y="4361021"/>
              <a:ext cx="2201926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case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: score ≥ 90 : grade ←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'A'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: score ≥ 60 : grade ←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'P'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: else       : grade ← </a:t>
              </a:r>
              <a:r>
                <a:rPr lang="en-US" sz="1120" dirty="0">
                  <a:solidFill>
                    <a:srgbClr val="C2410C"/>
                  </a:solidFill>
                  <a:latin typeface="Consolas"/>
                  <a:ea typeface="Consolas"/>
                  <a:cs typeface="Consolas"/>
                </a:rPr>
                <a:t>'F'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endcase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5623751" y="5580221"/>
              <a:ext cx="523925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score = 75：第一个条件为假，第二个为真，执行 grade ← 'P' 后直接结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束，不再看 else。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4" name="TextBox 34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35081" cy="909257"/>
            <a:chOff x="520446" y="342900"/>
            <a:chExt cx="583508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3508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循环语句：while、loop-until 与 for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4977765" cy="1110615"/>
            <a:chOff x="533400" y="1524000"/>
            <a:chExt cx="4977765" cy="111061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977765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9739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while 语句：条件为假时循环结束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999998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while 条件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</p:grpSp>
      <p:grpSp>
        <p:nvGrpSpPr>
          <p:cNvPr id="14" name="c1-code-2"/>
          <p:cNvGrpSpPr/>
          <p:nvPr/>
        </p:nvGrpSpPr>
        <p:grpSpPr>
          <a:xfrm>
            <a:off x="533400" y="2825115"/>
            <a:ext cx="4977765" cy="1110615"/>
            <a:chOff x="533400" y="2825115"/>
            <a:chExt cx="4977765" cy="1110615"/>
          </a:xfrm>
        </p:grpSpPr>
        <p:sp>
          <p:nvSpPr>
            <p:cNvPr id="11" name="Rectangle 11"/>
            <p:cNvSpPr/>
            <p:nvPr/>
          </p:nvSpPr>
          <p:spPr>
            <a:xfrm>
              <a:off x="533400" y="2825115"/>
              <a:ext cx="4977765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661797" y="2977039"/>
              <a:ext cx="19047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loop 语句：条件为真时循环结束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035" y="3239929"/>
              <a:ext cx="1312926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loop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until 条件 repeat</a:t>
              </a:r>
            </a:p>
          </p:txBody>
        </p:sp>
      </p:grpSp>
      <p:grpSp>
        <p:nvGrpSpPr>
          <p:cNvPr id="18" name="c1-code-3"/>
          <p:cNvGrpSpPr/>
          <p:nvPr/>
        </p:nvGrpSpPr>
        <p:grpSpPr>
          <a:xfrm>
            <a:off x="533400" y="4126230"/>
            <a:ext cx="4977765" cy="1110615"/>
            <a:chOff x="533400" y="4126230"/>
            <a:chExt cx="4977765" cy="1110615"/>
          </a:xfrm>
        </p:grpSpPr>
        <p:sp>
          <p:nvSpPr>
            <p:cNvPr id="15" name="Rectangle 15"/>
            <p:cNvSpPr/>
            <p:nvPr/>
          </p:nvSpPr>
          <p:spPr>
            <a:xfrm>
              <a:off x="533400" y="4126230"/>
              <a:ext cx="4977765" cy="1110615"/>
            </a:xfrm>
            <a:prstGeom prst="roundRect">
              <a:avLst>
                <a:gd name="adj" fmla="val 8576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61797" y="4278154"/>
              <a:ext cx="54388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for 语句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1035" y="4541044"/>
              <a:ext cx="2557526" cy="6257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for 变量 ← 初值 to 终值 by 增值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</p:grpSp>
      <p:grpSp>
        <p:nvGrpSpPr>
          <p:cNvPr id="29" name="c2-card-1"/>
          <p:cNvGrpSpPr/>
          <p:nvPr/>
        </p:nvGrpSpPr>
        <p:grpSpPr>
          <a:xfrm>
            <a:off x="5815965" y="1524000"/>
            <a:ext cx="5842635" cy="1701165"/>
            <a:chOff x="5815965" y="1524000"/>
            <a:chExt cx="5842635" cy="1701165"/>
          </a:xfrm>
        </p:grpSpPr>
        <p:sp>
          <p:nvSpPr>
            <p:cNvPr id="19" name="Rectangle 19"/>
            <p:cNvSpPr/>
            <p:nvPr/>
          </p:nvSpPr>
          <p:spPr>
            <a:xfrm>
              <a:off x="5815965" y="1524000"/>
              <a:ext cx="5842635" cy="1701165"/>
            </a:xfrm>
            <a:prstGeom prst="roundRect">
              <a:avLst>
                <a:gd name="adj" fmla="val 783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5825490" y="1657350"/>
              <a:ext cx="47625" cy="143446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063615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153823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区别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6069330" y="217360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227445" y="2110740"/>
              <a:ext cx="37808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while 先判断后执行，S 可能一次也不执行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6069330" y="250888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227445" y="2446020"/>
              <a:ext cx="384143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loop-until 先执行后判断，S 至少执行一次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6069330" y="284416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227445" y="2781300"/>
              <a:ext cx="44173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 的增值可以为负数；省略 by 增值 时增值为 1</a:t>
              </a:r>
            </a:p>
          </p:txBody>
        </p:sp>
      </p:grpSp>
      <p:grpSp>
        <p:nvGrpSpPr>
          <p:cNvPr id="39" name="c2-card-2"/>
          <p:cNvGrpSpPr/>
          <p:nvPr/>
        </p:nvGrpSpPr>
        <p:grpSpPr>
          <a:xfrm>
            <a:off x="5815965" y="3415665"/>
            <a:ext cx="5842635" cy="2857500"/>
            <a:chOff x="5815965" y="3415665"/>
            <a:chExt cx="5842635" cy="2857500"/>
          </a:xfrm>
        </p:grpSpPr>
        <p:sp>
          <p:nvSpPr>
            <p:cNvPr id="30" name="Rectangle 30"/>
            <p:cNvSpPr/>
            <p:nvPr/>
          </p:nvSpPr>
          <p:spPr>
            <a:xfrm>
              <a:off x="5815965" y="3415665"/>
              <a:ext cx="5842635" cy="2857500"/>
            </a:xfrm>
            <a:prstGeom prst="roundRect">
              <a:avLst>
                <a:gd name="adj" fmla="val 466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5825490" y="3549015"/>
              <a:ext cx="47625" cy="259080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63615" y="36252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53823" y="36609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63690" y="3660458"/>
              <a:ext cx="248888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for 语句等价的 while 写法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063615" y="3996690"/>
              <a:ext cx="5385435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192012" y="41486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191250" y="4411504"/>
              <a:ext cx="2713990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变量 ← 初值; fin ← 终值; incr ← 增值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while (变量 − fin) * incr ≤ 0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变量 ← 变量 + incr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057138" y="5629751"/>
              <a:ext cx="4792218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for i ← 10 to 1 by −3 依次取 10、7、4、1；for i ← 5 to 1 增值为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1，一次也不执行。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358584" cy="909257"/>
            <a:chOff x="520446" y="342900"/>
            <a:chExt cx="635858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35858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跳转语句：goto、exit、cycle、return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table-1"/>
          <p:cNvGrpSpPr/>
          <p:nvPr/>
        </p:nvGrpSpPr>
        <p:grpSpPr>
          <a:xfrm>
            <a:off x="533400" y="1524000"/>
            <a:ext cx="4760595" cy="2697480"/>
            <a:chOff x="533400" y="1524000"/>
            <a:chExt cx="4760595" cy="26974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4760595" cy="448628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211859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语句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59215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作用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641223" y="2108359"/>
              <a:ext cx="8099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goto 标号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354770" y="2108359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转到带该标号的语句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416492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33400" y="2421255"/>
              <a:ext cx="476059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41223" y="2670334"/>
              <a:ext cx="3657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exit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354770" y="2556986"/>
              <a:ext cx="2703322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转到含有 exit 的最内层循环语句后面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的第一条语句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092768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1223" y="3232309"/>
              <a:ext cx="46527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cycle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354770" y="3232309"/>
              <a:ext cx="242534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结束本次循环，进入下一次循环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3541395"/>
              <a:ext cx="476059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533400" y="3546158"/>
              <a:ext cx="4760595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41223" y="3680936"/>
              <a:ext cx="1302868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return (&lt;表达式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&gt;)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354770" y="3794284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结束过程，返回表达式的值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533400" y="1524000"/>
              <a:ext cx="4760595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2242185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32" name="c1-callout-2"/>
          <p:cNvGrpSpPr/>
          <p:nvPr/>
        </p:nvGrpSpPr>
        <p:grpSpPr>
          <a:xfrm>
            <a:off x="533400" y="4411980"/>
            <a:ext cx="4760595" cy="782955"/>
            <a:chOff x="533400" y="4411980"/>
            <a:chExt cx="4760595" cy="782955"/>
          </a:xfrm>
        </p:grpSpPr>
        <p:sp>
          <p:nvSpPr>
            <p:cNvPr id="26" name="Rectangle 26"/>
            <p:cNvSpPr/>
            <p:nvPr/>
          </p:nvSpPr>
          <p:spPr>
            <a:xfrm>
              <a:off x="533400" y="4411980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4703445"/>
              <a:ext cx="200026" cy="200025"/>
              <a:chOff x="738188" y="4703445"/>
              <a:chExt cx="200026" cy="200025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47034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777926" y="47478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12642" y="48590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130" y="4560570"/>
              <a:ext cx="36823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exit 相当于 C 语言的 break，cycle 相当于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continue。</a:t>
              </a:r>
            </a:p>
          </p:txBody>
        </p:sp>
      </p:grpSp>
      <p:grpSp>
        <p:nvGrpSpPr>
          <p:cNvPr id="39" name="c1-callout-3"/>
          <p:cNvGrpSpPr/>
          <p:nvPr/>
        </p:nvGrpSpPr>
        <p:grpSpPr>
          <a:xfrm>
            <a:off x="533400" y="5385435"/>
            <a:ext cx="4760595" cy="782955"/>
            <a:chOff x="533400" y="5385435"/>
            <a:chExt cx="4760595" cy="782955"/>
          </a:xfrm>
        </p:grpSpPr>
        <p:sp>
          <p:nvSpPr>
            <p:cNvPr id="33" name="Rectangle 33"/>
            <p:cNvSpPr/>
            <p:nvPr/>
          </p:nvSpPr>
          <p:spPr>
            <a:xfrm>
              <a:off x="533400" y="5385435"/>
              <a:ext cx="4760595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6129" y="5673208"/>
              <a:ext cx="224134" cy="192560"/>
              <a:chOff x="726129" y="5673208"/>
              <a:chExt cx="224134" cy="1925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8200" y="574357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6129" y="567320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58213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130" y="5534025"/>
              <a:ext cx="37395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goto 会破坏程序结构，能用 exit、cycle 表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达的跳转就不用 goto。</a:t>
              </a:r>
            </a:p>
          </p:txBody>
        </p:sp>
      </p:grpSp>
      <p:grpSp>
        <p:nvGrpSpPr>
          <p:cNvPr id="52" name="c2-card-1"/>
          <p:cNvGrpSpPr/>
          <p:nvPr/>
        </p:nvGrpSpPr>
        <p:grpSpPr>
          <a:xfrm>
            <a:off x="5598795" y="1524000"/>
            <a:ext cx="6059805" cy="4644390"/>
            <a:chOff x="5598795" y="1524000"/>
            <a:chExt cx="6059805" cy="4644390"/>
          </a:xfrm>
        </p:grpSpPr>
        <p:sp>
          <p:nvSpPr>
            <p:cNvPr id="40" name="Rectangle 40"/>
            <p:cNvSpPr/>
            <p:nvPr/>
          </p:nvSpPr>
          <p:spPr>
            <a:xfrm>
              <a:off x="5598795" y="1524000"/>
              <a:ext cx="6059805" cy="4644390"/>
            </a:xfrm>
            <a:prstGeom prst="roundRect">
              <a:avLst>
                <a:gd name="adj" fmla="val 287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5608320" y="1657350"/>
              <a:ext cx="47625" cy="437769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46445" y="1733550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41555" y="176926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05550" y="1768792"/>
              <a:ext cx="29457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= (4, −1, 6, −3, 2)，n = 5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46445" y="2105025"/>
              <a:ext cx="5602605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974842" y="22569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5974080" y="2518886"/>
              <a:ext cx="3012694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k ← 0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找第一个负数的下标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A(i) &lt; 0 then k ← i; exit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 ← 0              </a:t>
              </a:r>
              <a:r>
                <a:rPr lang="zh-CN" sz="112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只累加非负数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A(i) &lt; 0 then cycle endif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 ← s + A(i)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</a:p>
          </p:txBody>
        </p:sp>
        <p:sp>
          <p:nvSpPr>
            <p:cNvPr id="48" name="Ellipse 48"/>
            <p:cNvSpPr/>
            <p:nvPr/>
          </p:nvSpPr>
          <p:spPr>
            <a:xfrm>
              <a:off x="5852160" y="461581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010275" y="4552950"/>
              <a:ext cx="498576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第一段：i = 2 时 A(2) = −1 &lt; 0，k ← 2，exit 跳出循环</a:t>
              </a:r>
            </a:p>
          </p:txBody>
        </p:sp>
        <p:sp>
          <p:nvSpPr>
            <p:cNvPr id="50" name="Ellipse 50"/>
            <p:cNvSpPr/>
            <p:nvPr/>
          </p:nvSpPr>
          <p:spPr>
            <a:xfrm>
              <a:off x="5852160" y="4951095"/>
              <a:ext cx="64770" cy="6477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010275" y="4888230"/>
              <a:ext cx="38519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第二段：跳过 −1 和 −3，s = 4 + 6 + 2 = 12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589483" cy="909257"/>
            <a:chOff x="520446" y="342900"/>
            <a:chExt cx="6589483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589483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过程定义：procedure NAME … end NAME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0" name="c1-code-1"/>
          <p:cNvGrpSpPr/>
          <p:nvPr/>
        </p:nvGrpSpPr>
        <p:grpSpPr>
          <a:xfrm>
            <a:off x="533400" y="1524000"/>
            <a:ext cx="5193982" cy="1516380"/>
            <a:chOff x="533400" y="1524000"/>
            <a:chExt cx="5193982" cy="151638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516380"/>
            </a:xfrm>
            <a:prstGeom prst="roundRect">
              <a:avLst>
                <a:gd name="adj" fmla="val 6281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46111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过程（函数）的一般形式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661035" y="1937861"/>
              <a:ext cx="1988566" cy="10315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>procedure NAME(&lt;参数列表&gt;)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&lt;说明部分&gt;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</a:t>
              </a:r>
              <a:br/>
              <a:r>
                <a:rPr lang="zh-CN" sz="1120" dirty="0">
                  <a:solidFill>
                    <a:srgbClr val="1F2937"/>
                  </a:solidFill>
                  <a:latin typeface="Consolas"/>
                  <a:ea typeface="Microsoft YaHei"/>
                  <a:cs typeface="Consolas"/>
                </a:rPr>
                <a:t xml:space="preserve">    return (&lt;表达式&gt;)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NAME</a:t>
              </a:r>
            </a:p>
          </p:txBody>
        </p:sp>
      </p:grpSp>
      <p:grpSp>
        <p:nvGrpSpPr>
          <p:cNvPr id="25" name="c1-kv-2"/>
          <p:cNvGrpSpPr/>
          <p:nvPr/>
        </p:nvGrpSpPr>
        <p:grpSpPr>
          <a:xfrm>
            <a:off x="526161" y="3249454"/>
            <a:ext cx="5201221" cy="1965579"/>
            <a:chOff x="526161" y="3249454"/>
            <a:chExt cx="5201221" cy="1965579"/>
          </a:xfrm>
        </p:grpSpPr>
        <p:sp>
          <p:nvSpPr>
            <p:cNvPr id="11" name="TextBox 11"/>
            <p:cNvSpPr txBox="1"/>
            <p:nvPr/>
          </p:nvSpPr>
          <p:spPr>
            <a:xfrm>
              <a:off x="526161" y="3249454"/>
              <a:ext cx="11585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parameters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047304" y="3249454"/>
              <a:ext cx="211724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说明形式参数的数据类型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" y="355473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26161" y="3670459"/>
              <a:ext cx="5764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global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047304" y="3670459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说明全局变量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" y="39766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26161" y="4092416"/>
              <a:ext cx="4660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local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47304" y="4092416"/>
              <a:ext cx="116144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说明局部变量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39864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161" y="4514374"/>
              <a:ext cx="12503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read(参数表)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47304" y="4514374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输入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81965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161" y="4936331"/>
              <a:ext cx="131054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print(参数表)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047304" y="4936331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输出</a:t>
              </a:r>
            </a:p>
          </p:txBody>
        </p:sp>
      </p:grpSp>
      <p:grpSp>
        <p:nvGrpSpPr>
          <p:cNvPr id="32" name="c1-callout-3"/>
          <p:cNvGrpSpPr/>
          <p:nvPr/>
        </p:nvGrpSpPr>
        <p:grpSpPr>
          <a:xfrm>
            <a:off x="533400" y="5343525"/>
            <a:ext cx="5193982" cy="756285"/>
            <a:chOff x="533400" y="5343525"/>
            <a:chExt cx="5193982" cy="756285"/>
          </a:xfrm>
        </p:grpSpPr>
        <p:sp>
          <p:nvSpPr>
            <p:cNvPr id="26" name="Rectangle 26"/>
            <p:cNvSpPr/>
            <p:nvPr/>
          </p:nvSpPr>
          <p:spPr>
            <a:xfrm>
              <a:off x="533400" y="5343525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30" name="Group 30"/>
            <p:cNvGrpSpPr/>
            <p:nvPr/>
          </p:nvGrpSpPr>
          <p:grpSpPr>
            <a:xfrm>
              <a:off x="738188" y="5621655"/>
              <a:ext cx="200026" cy="200026"/>
              <a:chOff x="738188" y="5621655"/>
              <a:chExt cx="200026" cy="20002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738188" y="56216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38200" y="568833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827088" y="572166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040511" y="5491639"/>
              <a:ext cx="425246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函数名通常用大写字母，如 MAX、SEARCH、EUCLID。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说明部分说明参数的数据类型和函数中使用的变量。</a:t>
              </a:r>
            </a:p>
          </p:txBody>
        </p:sp>
      </p:grpSp>
      <p:grpSp>
        <p:nvGrpSpPr>
          <p:cNvPr id="47" name="c2-card-1"/>
          <p:cNvGrpSpPr/>
          <p:nvPr/>
        </p:nvGrpSpPr>
        <p:grpSpPr>
          <a:xfrm>
            <a:off x="6032182" y="1524000"/>
            <a:ext cx="5626418" cy="4575810"/>
            <a:chOff x="6032182" y="1524000"/>
            <a:chExt cx="5626418" cy="4575810"/>
          </a:xfrm>
        </p:grpSpPr>
        <p:sp>
          <p:nvSpPr>
            <p:cNvPr id="33" name="Rectangle 33"/>
            <p:cNvSpPr/>
            <p:nvPr/>
          </p:nvSpPr>
          <p:spPr>
            <a:xfrm>
              <a:off x="6032182" y="1524000"/>
              <a:ext cx="5626418" cy="4575810"/>
            </a:xfrm>
            <a:prstGeom prst="roundRect">
              <a:avLst>
                <a:gd name="adj" fmla="val 291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41708" y="1657350"/>
              <a:ext cx="47625" cy="430911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35" name="Rectangle 35"/>
            <p:cNvSpPr/>
            <p:nvPr/>
          </p:nvSpPr>
          <p:spPr>
            <a:xfrm>
              <a:off x="6274118" y="1727835"/>
              <a:ext cx="351472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6368275" y="176355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732651" y="1767364"/>
              <a:ext cx="230840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一个完整的过程：数组求和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74118" y="2095500"/>
              <a:ext cx="5180648" cy="2327910"/>
            </a:xfrm>
            <a:prstGeom prst="roundRect">
              <a:avLst>
                <a:gd name="adj" fmla="val 409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402515" y="224742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文本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01752" y="2510314"/>
              <a:ext cx="2906014" cy="1843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98"/>
                </a:lnSpc>
              </a:pPr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SUM(A, n)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parameters real A(1:n); integer n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local real s; integer i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s ← 0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for i ← 1 to n do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s ← s + A(i)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repeat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return (s)</a:t>
              </a:r>
              <a:br/>
              <a:r>
                <a:rPr lang="en-US" sz="112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SUM</a:t>
              </a:r>
            </a:p>
          </p:txBody>
        </p:sp>
        <p:sp>
          <p:nvSpPr>
            <p:cNvPr id="41" name="Ellipse 41"/>
            <p:cNvSpPr/>
            <p:nvPr/>
          </p:nvSpPr>
          <p:spPr>
            <a:xfrm>
              <a:off x="6281738" y="459962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438329" y="4540091"/>
              <a:ext cx="2218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思路：从 A(1) 加到 A(n)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6281738" y="491966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438329" y="4860131"/>
              <a:ext cx="350405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正确性：每轮结束时 s = A(1) + … + A(i)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6281738" y="5239702"/>
              <a:ext cx="60960" cy="609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438329" y="5180171"/>
              <a:ext cx="481152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复杂度：频率计数合计 2n + 3（第二部分），时间 Θ(n)，额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外空间 O(1)</a:t>
              </a:r>
            </a:p>
          </p:txBody>
        </p:sp>
      </p:grpSp>
      <p:grpSp>
        <p:nvGrpSpPr>
          <p:cNvPr id="5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8" name="TextBox 4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8511167" cy="909257"/>
            <a:chOff x="520446" y="342900"/>
            <a:chExt cx="851116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851116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算法的同质异相：同一个 MAX 算法，说明部分写法不同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ode-1"/>
          <p:cNvGrpSpPr/>
          <p:nvPr/>
        </p:nvGrpSpPr>
        <p:grpSpPr>
          <a:xfrm>
            <a:off x="533400" y="1524000"/>
            <a:ext cx="5410200" cy="2791778"/>
            <a:chOff x="533400" y="1524000"/>
            <a:chExt cx="5410200" cy="2791778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2791778"/>
            </a:xfrm>
            <a:prstGeom prst="roundRect">
              <a:avLst>
                <a:gd name="adj" fmla="val 3412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61797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写法一：完整说明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52450" y="2778442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81101" y="1935956"/>
              <a:ext cx="146812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388"/>
                </a:lnSpc>
              </a:pPr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13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32307" y="1935956"/>
              <a:ext cx="1789684" cy="23052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MAX(A, n, j)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parameters real A(1:n);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parameters integer n, j;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global real xmax;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local integer i;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xmax ← A(1); j ← 1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2 to n do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A(i) &gt; xmax then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xmax ← A(i); j ← i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return (xmax)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MAX</a:t>
              </a:r>
            </a:p>
          </p:txBody>
        </p:sp>
      </p:grpSp>
      <p:grpSp>
        <p:nvGrpSpPr>
          <p:cNvPr id="19" name="c1-callout-2"/>
          <p:cNvGrpSpPr/>
          <p:nvPr/>
        </p:nvGrpSpPr>
        <p:grpSpPr>
          <a:xfrm>
            <a:off x="533400" y="4486275"/>
            <a:ext cx="5410200" cy="1091565"/>
            <a:chOff x="533400" y="4486275"/>
            <a:chExt cx="5410200" cy="1091565"/>
          </a:xfrm>
        </p:grpSpPr>
        <p:sp>
          <p:nvSpPr>
            <p:cNvPr id="13" name="Rectangle 13"/>
            <p:cNvSpPr/>
            <p:nvPr/>
          </p:nvSpPr>
          <p:spPr>
            <a:xfrm>
              <a:off x="533400" y="4486275"/>
              <a:ext cx="5410200" cy="1091565"/>
            </a:xfrm>
            <a:prstGeom prst="roundRect">
              <a:avLst>
                <a:gd name="adj" fmla="val 10471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17" name="Group 17"/>
            <p:cNvGrpSpPr/>
            <p:nvPr/>
          </p:nvGrpSpPr>
          <p:grpSpPr>
            <a:xfrm>
              <a:off x="738188" y="4931093"/>
              <a:ext cx="200026" cy="200026"/>
              <a:chOff x="738188" y="4931093"/>
              <a:chExt cx="200026" cy="200026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738188" y="493109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838200" y="499776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827088" y="5031105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18" name="TextBox 18"/>
            <p:cNvSpPr txBox="1"/>
            <p:nvPr/>
          </p:nvSpPr>
          <p:spPr>
            <a:xfrm>
              <a:off x="1040892" y="4812982"/>
              <a:ext cx="4394264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差别：写法一用 parameters、local 逐项说明类型，写法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二把它们压缩成一行注释和 int 声明。</a:t>
              </a:r>
            </a:p>
          </p:txBody>
        </p:sp>
      </p:grpSp>
      <p:grpSp>
        <p:nvGrpSpPr>
          <p:cNvPr id="25" name="c2-code-1"/>
          <p:cNvGrpSpPr/>
          <p:nvPr/>
        </p:nvGrpSpPr>
        <p:grpSpPr>
          <a:xfrm>
            <a:off x="6248400" y="1524000"/>
            <a:ext cx="5410200" cy="2440305"/>
            <a:chOff x="6248400" y="1524000"/>
            <a:chExt cx="5410200" cy="2440305"/>
          </a:xfrm>
        </p:grpSpPr>
        <p:sp>
          <p:nvSpPr>
            <p:cNvPr id="20" name="Rectangle 20"/>
            <p:cNvSpPr/>
            <p:nvPr/>
          </p:nvSpPr>
          <p:spPr>
            <a:xfrm>
              <a:off x="6248400" y="1524000"/>
              <a:ext cx="5410200" cy="2440305"/>
            </a:xfrm>
            <a:prstGeom prst="roundRect">
              <a:avLst>
                <a:gd name="adj" fmla="val 390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6376797" y="1675924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写法二：简化说明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67450" y="2426970"/>
              <a:ext cx="5372100" cy="176212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96101" y="1935956"/>
              <a:ext cx="146812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>
                <a:lnSpc>
                  <a:spcPts val="1388"/>
                </a:lnSpc>
              </a:pPr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2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3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4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5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6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7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8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9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10</a:t>
              </a:r>
              <a:br/>
              <a:r>
                <a:rPr lang="zh-CN" sz="980" dirty="0">
                  <a:solidFill>
                    <a:srgbClr val="9AA3B2"/>
                  </a:solidFill>
                  <a:latin typeface="Consolas"/>
                  <a:ea typeface="Consolas"/>
                  <a:cs typeface="Consolas"/>
                </a:rPr>
                <a:t>11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647307" y="1935956"/>
              <a:ext cx="1789684" cy="19528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88"/>
                </a:lnSpc>
              </a:pPr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procedure MAX(A, n, j)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global xmax; </a:t>
              </a:r>
              <a:r>
                <a:rPr lang="en-US" sz="980" dirty="0">
                  <a:solidFill>
                    <a:srgbClr val="0F7A68"/>
                  </a:solidFill>
                  <a:latin typeface="Consolas"/>
                  <a:ea typeface="Consolas"/>
                  <a:cs typeface="Consolas"/>
                </a:rPr>
                <a:t>// A(1:n)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int i, n, j;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xmax ← A(1); j ← 1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for i ← 2 to n do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if A(i) &gt; xmax then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    xmax ← A(i); j ← i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   endif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repeat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return (xmax)</a:t>
              </a:r>
              <a:br/>
              <a:r>
                <a:rPr lang="en-US" sz="98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>end MAX</a:t>
              </a:r>
            </a:p>
          </p:txBody>
        </p:sp>
      </p:grpSp>
      <p:grpSp>
        <p:nvGrpSpPr>
          <p:cNvPr id="31" name="c2-card-2"/>
          <p:cNvGrpSpPr/>
          <p:nvPr/>
        </p:nvGrpSpPr>
        <p:grpSpPr>
          <a:xfrm>
            <a:off x="6248400" y="4133850"/>
            <a:ext cx="5410200" cy="1443038"/>
            <a:chOff x="6248400" y="4133850"/>
            <a:chExt cx="5410200" cy="1443038"/>
          </a:xfrm>
        </p:grpSpPr>
        <p:sp>
          <p:nvSpPr>
            <p:cNvPr id="26" name="Rectangle 26"/>
            <p:cNvSpPr/>
            <p:nvPr/>
          </p:nvSpPr>
          <p:spPr>
            <a:xfrm>
              <a:off x="6248400" y="4133850"/>
              <a:ext cx="5410200" cy="1443038"/>
            </a:xfrm>
            <a:prstGeom prst="roundRect">
              <a:avLst>
                <a:gd name="adj" fmla="val 92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257925" y="4267200"/>
              <a:ext cx="47625" cy="11763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3190" y="4320540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65862" y="4353401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66332" y="4665345"/>
              <a:ext cx="478859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原课件两种写法都只有 xmax ← A(1)，没有给 j 赋初值。若最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大值恰好是 A(1)，例如 A = (9, 3, 5)，循环里 j 从未被赋值，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返回的下标没有定义。高亮行已补上 j ← 1。</a:t>
              </a:r>
            </a:p>
          </p:txBody>
        </p:sp>
      </p:grpSp>
      <p:grpSp>
        <p:nvGrpSpPr>
          <p:cNvPr id="37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32" name="Rectangle 32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040892" y="6028373"/>
              <a:ext cx="63926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两种写法的执行语句完全相同，差别只在说明部分的详略，这就是“同质异相”。</a:t>
              </a:r>
            </a:p>
          </p:txBody>
        </p:sp>
      </p:grpSp>
      <p:grpSp>
        <p:nvGrpSpPr>
          <p:cNvPr id="4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38" name="TextBox 38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93945" cy="909257"/>
            <a:chOff x="520446" y="342900"/>
            <a:chExt cx="59939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939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 过程：执行过程、正确性与复杂度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193982" cy="1209675"/>
            <a:chOff x="533400" y="1524000"/>
            <a:chExt cx="5193982" cy="120967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209675"/>
            </a:xfrm>
            <a:prstGeom prst="roundRect">
              <a:avLst>
                <a:gd name="adj" fmla="val 110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942975"/>
            </a:xfrm>
            <a:prstGeom prst="roundRect">
              <a:avLst>
                <a:gd name="adj" fmla="val 50000"/>
              </a:avLst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63905" y="171640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55345" y="175069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思路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57047" y="2072640"/>
              <a:ext cx="453999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xmax 记住已见过的最大值，j 记住它的下标；从 A(2) 扫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到 A(n)，遇到更大的就更新。</a:t>
              </a:r>
            </a:p>
          </p:txBody>
        </p:sp>
      </p:grpSp>
      <p:grpSp>
        <p:nvGrpSpPr>
          <p:cNvPr id="58" name="c1-table-2"/>
          <p:cNvGrpSpPr/>
          <p:nvPr/>
        </p:nvGrpSpPr>
        <p:grpSpPr>
          <a:xfrm>
            <a:off x="528066" y="2908935"/>
            <a:ext cx="5199316" cy="2714244"/>
            <a:chOff x="528066" y="2908935"/>
            <a:chExt cx="5199316" cy="2714244"/>
          </a:xfrm>
        </p:grpSpPr>
        <p:sp>
          <p:nvSpPr>
            <p:cNvPr id="13" name="Rectangle 13"/>
            <p:cNvSpPr/>
            <p:nvPr/>
          </p:nvSpPr>
          <p:spPr>
            <a:xfrm>
              <a:off x="533400" y="2908935"/>
              <a:ext cx="5193982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967806" y="3033236"/>
              <a:ext cx="58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763421" y="3033236"/>
              <a:ext cx="3288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A(i)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676972" y="3033236"/>
              <a:ext cx="10411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A(i) &gt; xmax？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05824" y="3033236"/>
              <a:ext cx="3913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xmax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335018" y="3033236"/>
              <a:ext cx="58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j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40778" y="34390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880682" y="343900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150365" y="343900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54337" y="343900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317302" y="343900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71570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33400" y="3720465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948016" y="384476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1880682" y="38447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116440" y="384476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54337" y="38447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5317302" y="384476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33400" y="412146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948016" y="425053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880682" y="42505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116440" y="42505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454337" y="42505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317302" y="425053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33400" y="452723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533400" y="4531995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8016" y="4656296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880682" y="46562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116440" y="46562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是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4010978" y="4541520"/>
              <a:ext cx="982028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4454337" y="46562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5012055" y="4541520"/>
              <a:ext cx="705802" cy="386715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317302" y="465629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33400" y="493299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48016" y="5062061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880682" y="50620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116440" y="50620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否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4454337" y="50620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5317302" y="5062061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33400" y="2908935"/>
              <a:ext cx="5193982" cy="24345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1455420" y="290893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2389822" y="290893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3996690" y="290893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4997768" y="2908935"/>
              <a:ext cx="9525" cy="24345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28066" y="5417820"/>
              <a:ext cx="42733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A = (3, 7, 2, 9, 5)：比较 4 次，更新 2 次，返回 xmax = 9，j = 4</a:t>
              </a:r>
            </a:p>
          </p:txBody>
        </p:sp>
      </p:grpSp>
      <p:grpSp>
        <p:nvGrpSpPr>
          <p:cNvPr id="70" name="c2-card-1"/>
          <p:cNvGrpSpPr/>
          <p:nvPr/>
        </p:nvGrpSpPr>
        <p:grpSpPr>
          <a:xfrm>
            <a:off x="6032182" y="1524000"/>
            <a:ext cx="5626418" cy="1860232"/>
            <a:chOff x="6032182" y="1524000"/>
            <a:chExt cx="5626418" cy="1860232"/>
          </a:xfrm>
        </p:grpSpPr>
        <p:sp>
          <p:nvSpPr>
            <p:cNvPr id="59" name="Rectangle 59"/>
            <p:cNvSpPr/>
            <p:nvPr/>
          </p:nvSpPr>
          <p:spPr>
            <a:xfrm>
              <a:off x="6032182" y="1524000"/>
              <a:ext cx="5626418" cy="1860232"/>
            </a:xfrm>
            <a:prstGeom prst="roundRect">
              <a:avLst>
                <a:gd name="adj" fmla="val 71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6041708" y="1657350"/>
              <a:ext cx="47625" cy="1593532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6262688" y="1716405"/>
              <a:ext cx="1543050" cy="247650"/>
            </a:xfrm>
            <a:prstGeom prst="roundRect">
              <a:avLst>
                <a:gd name="adj" fmla="val 50000"/>
              </a:avLst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6322124" y="1750695"/>
              <a:ext cx="142417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正确性（循环不变式）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55830" y="2072640"/>
              <a:ext cx="49577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每轮结束时 xmax = max{A(1), …, A(i)}，且 A(j) = xmax。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6271260" y="2431732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427280" y="2375535"/>
              <a:ext cx="28158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开始：i = 1 时 xmax = A(1)，j = 1</a:t>
              </a:r>
            </a:p>
          </p:txBody>
        </p:sp>
        <p:sp>
          <p:nvSpPr>
            <p:cNvPr id="66" name="Ellipse 66"/>
            <p:cNvSpPr/>
            <p:nvPr/>
          </p:nvSpPr>
          <p:spPr>
            <a:xfrm>
              <a:off x="6271260" y="2734627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6427280" y="2678430"/>
              <a:ext cx="423250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保持：A(i) 更大就更新，否则前 i 个数的最大值不变</a:t>
              </a:r>
            </a:p>
          </p:txBody>
        </p:sp>
        <p:sp>
          <p:nvSpPr>
            <p:cNvPr id="68" name="Ellipse 68"/>
            <p:cNvSpPr/>
            <p:nvPr/>
          </p:nvSpPr>
          <p:spPr>
            <a:xfrm>
              <a:off x="6271260" y="3036570"/>
              <a:ext cx="59055" cy="59055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6427280" y="2980372"/>
              <a:ext cx="333950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结束：i = n 时 xmax 是整个数组的最大值</a:t>
              </a:r>
            </a:p>
          </p:txBody>
        </p:sp>
      </p:grpSp>
      <p:grpSp>
        <p:nvGrpSpPr>
          <p:cNvPr id="91" name="c2-table-2"/>
          <p:cNvGrpSpPr/>
          <p:nvPr/>
        </p:nvGrpSpPr>
        <p:grpSpPr>
          <a:xfrm>
            <a:off x="6026848" y="3558540"/>
            <a:ext cx="5631752" cy="1903667"/>
            <a:chOff x="6026848" y="3558540"/>
            <a:chExt cx="5631752" cy="1903667"/>
          </a:xfrm>
        </p:grpSpPr>
        <p:sp>
          <p:nvSpPr>
            <p:cNvPr id="71" name="Rectangle 71"/>
            <p:cNvSpPr/>
            <p:nvPr/>
          </p:nvSpPr>
          <p:spPr>
            <a:xfrm>
              <a:off x="6032182" y="3558540"/>
              <a:ext cx="5626418" cy="405765"/>
            </a:xfrm>
            <a:prstGeom prst="rect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72" name="TextBox 72"/>
            <p:cNvSpPr txBox="1"/>
            <p:nvPr/>
          </p:nvSpPr>
          <p:spPr>
            <a:xfrm>
              <a:off x="7056793" y="368284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情况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650999" y="368284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比较次数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719834" y="3682841"/>
              <a:ext cx="1740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更新 xmax ← A(i) 的次数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6132195" y="4088606"/>
              <a:ext cx="14850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最好：最大值是 A(1)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495348" y="408860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− 1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620250" y="4088606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78" name="Rectangle 78"/>
            <p:cNvSpPr/>
            <p:nvPr/>
          </p:nvSpPr>
          <p:spPr>
            <a:xfrm>
              <a:off x="6032182" y="436530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9" name="Rectangle 79"/>
            <p:cNvSpPr/>
            <p:nvPr/>
          </p:nvSpPr>
          <p:spPr>
            <a:xfrm>
              <a:off x="6032182" y="4370070"/>
              <a:ext cx="5626418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132195" y="4494371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最坏：严格递增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8495348" y="449437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− 1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9620250" y="4494371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− 1</a:t>
              </a:r>
            </a:p>
          </p:txBody>
        </p:sp>
        <p:sp>
          <p:nvSpPr>
            <p:cNvPr id="83" name="Rectangle 83"/>
            <p:cNvSpPr/>
            <p:nvPr/>
          </p:nvSpPr>
          <p:spPr>
            <a:xfrm>
              <a:off x="6032182" y="477107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4" name="TextBox 84"/>
            <p:cNvSpPr txBox="1"/>
            <p:nvPr/>
          </p:nvSpPr>
          <p:spPr>
            <a:xfrm>
              <a:off x="6132195" y="4900136"/>
              <a:ext cx="1955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平均：n 个不同的数随机排列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8495348" y="4900136"/>
              <a:ext cx="350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− 1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620250" y="4900136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1/2 + 1/3 + … + 1/n</a:t>
              </a:r>
            </a:p>
          </p:txBody>
        </p:sp>
        <p:sp>
          <p:nvSpPr>
            <p:cNvPr id="87" name="Rectangle 87"/>
            <p:cNvSpPr/>
            <p:nvPr/>
          </p:nvSpPr>
          <p:spPr>
            <a:xfrm>
              <a:off x="6032182" y="3558540"/>
              <a:ext cx="5626418" cy="162306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8" name="Rectangle 88"/>
            <p:cNvSpPr/>
            <p:nvPr/>
          </p:nvSpPr>
          <p:spPr>
            <a:xfrm>
              <a:off x="8390572" y="35585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9515475" y="3558540"/>
              <a:ext cx="9525" cy="162306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TextBox 90"/>
            <p:cNvSpPr txBox="1"/>
            <p:nvPr/>
          </p:nvSpPr>
          <p:spPr>
            <a:xfrm>
              <a:off x="6026848" y="5256848"/>
              <a:ext cx="506730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n = 4 时平均更新 13/12 次，n = 1000 时约 6.5 次；时间 Θ(n)，额外空间 O(1)</a:t>
              </a:r>
            </a:p>
          </p:txBody>
        </p:sp>
      </p:grpSp>
      <p:grpSp>
        <p:nvGrpSpPr>
          <p:cNvPr id="98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92" name="Rectangle 9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96" name="Group 96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4" name="Freeform 94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97" name="TextBox 97"/>
            <p:cNvSpPr txBox="1"/>
            <p:nvPr/>
          </p:nvSpPr>
          <p:spPr>
            <a:xfrm>
              <a:off x="1040892" y="6023610"/>
              <a:ext cx="76325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平均情况的推导：随机排列中 A(i) 恰好是前 i 个数最大值的概率为 1/i，对 i = 2…n 求和即得。</a:t>
              </a:r>
            </a:p>
          </p:txBody>
        </p:sp>
      </p:grpSp>
      <p:grpSp>
        <p:nvGrpSpPr>
          <p:cNvPr id="10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99" name="TextBox 99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100" name="TextBox 10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自测（一）：算法与算法分析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087413" cy="278702"/>
            <a:chOff x="526161" y="1547336"/>
            <a:chExt cx="708741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0874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先自己写出完整过程，再对照答案；算不出数值的题，回到第一、二部分重看定义。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511618"/>
            <a:chOff x="533400" y="1941195"/>
            <a:chExt cx="5410200" cy="151161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48047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“从 1 开始依次输出所有正整数”满足哪些特性？是算法吗？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4788598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满足确定性、能行性、输入（0 个）和输出，但不满足有穷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性，它是计算过程，不是算法。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629025"/>
            <a:ext cx="5410200" cy="1768792"/>
            <a:chOff x="533400" y="3629025"/>
            <a:chExt cx="5410200" cy="1768792"/>
          </a:xfrm>
        </p:grpSpPr>
        <p:sp>
          <p:nvSpPr>
            <p:cNvPr id="15" name="Rectangle 15"/>
            <p:cNvSpPr/>
            <p:nvPr/>
          </p:nvSpPr>
          <p:spPr>
            <a:xfrm>
              <a:off x="533400" y="362902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4177665"/>
              <a:ext cx="483146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顺序查找中，若 x 在表中的概率为 q，且在表中各位置等可能，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平均比较多少次？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737735"/>
              <a:ext cx="47971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q·(n+1)/2 + (1 − q)·n。q = 1 时为 (n+1)/2，q = 1/2 时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 (3n+1)/4。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41195"/>
            <a:ext cx="5410200" cy="1768792"/>
            <a:chOff x="6248400" y="1941195"/>
            <a:chExt cx="5410200" cy="1768792"/>
          </a:xfrm>
        </p:grpSpPr>
        <p:sp>
          <p:nvSpPr>
            <p:cNvPr id="21" name="Rectangle 21"/>
            <p:cNvSpPr/>
            <p:nvPr/>
          </p:nvSpPr>
          <p:spPr>
            <a:xfrm>
              <a:off x="6248400" y="1941195"/>
              <a:ext cx="5410200" cy="1768792"/>
            </a:xfrm>
            <a:prstGeom prst="roundRect">
              <a:avLst>
                <a:gd name="adj" fmla="val 753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490788"/>
              <a:ext cx="458843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程序段 for i ← 1 to n do for j ← i to n do x ← x + 1 中，x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← x + 1 的频率计数是多少？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947" y="3049905"/>
              <a:ext cx="411137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内层执行 n − i + 1 次，总计 n + (n − 1) + … + 1 =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n(n+1)/2，是 Θ(n²)。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886200"/>
            <a:ext cx="5410200" cy="1511618"/>
            <a:chOff x="6248400" y="3886200"/>
            <a:chExt cx="5410200" cy="1511618"/>
          </a:xfrm>
        </p:grpSpPr>
        <p:sp>
          <p:nvSpPr>
            <p:cNvPr id="27" name="Rectangle 27"/>
            <p:cNvSpPr/>
            <p:nvPr/>
          </p:nvSpPr>
          <p:spPr>
            <a:xfrm>
              <a:off x="6248400" y="3886200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40786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41128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443484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为什么两个字符串的比较不能算作基本运算？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4737735"/>
              <a:ext cx="48143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一个字符的比较囿界于常数，是基本运算；字符串比较由一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系列字符比较组成，时间取决于字符串长度，属于复杂运算。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80010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 2 题的套路：先把内层循环次数写成关于 i 的式子，再对 i 求和，这是分析双重循环的固定做法。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73050" cy="909257"/>
            <a:chOff x="520446" y="342900"/>
            <a:chExt cx="517305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85464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566338" y="407194"/>
              <a:ext cx="27897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 · 用 SPARKS 语言写算法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7305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自测（二）：渐近表示与 SPARKS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4955974" cy="278702"/>
            <a:chOff x="526161" y="1547336"/>
            <a:chExt cx="4955974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495597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证明题要写出 c 和 n₀ 并验证不等式，只给结论不算完成。</a:t>
              </a:r>
            </a:p>
          </p:txBody>
        </p:sp>
      </p:grpSp>
      <p:grpSp>
        <p:nvGrpSpPr>
          <p:cNvPr id="14" name="c1-card-1"/>
          <p:cNvGrpSpPr/>
          <p:nvPr/>
        </p:nvGrpSpPr>
        <p:grpSpPr>
          <a:xfrm>
            <a:off x="533400" y="1941195"/>
            <a:ext cx="5410200" cy="1511618"/>
            <a:chOff x="533400" y="1941195"/>
            <a:chExt cx="5410200" cy="151161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25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14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18947" y="2490788"/>
              <a:ext cx="370771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证明 5n² − 3n + 7 = O(n²)，给出 c 和 n₀。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18947" y="2792730"/>
              <a:ext cx="455714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 ≥ 1 时 5n² − 3n + 7 ≤ 5n² + 7n² = 12n²，取 c = 12、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n₀ = 1；也可取 c = 6、n₀ = 2。</a:t>
              </a:r>
            </a:p>
          </p:txBody>
        </p:sp>
      </p:grpSp>
      <p:grpSp>
        <p:nvGrpSpPr>
          <p:cNvPr id="20" name="c1-card-2"/>
          <p:cNvGrpSpPr/>
          <p:nvPr/>
        </p:nvGrpSpPr>
        <p:grpSpPr>
          <a:xfrm>
            <a:off x="533400" y="3629025"/>
            <a:ext cx="5410200" cy="2025968"/>
            <a:chOff x="533400" y="3629025"/>
            <a:chExt cx="5410200" cy="2025968"/>
          </a:xfrm>
        </p:grpSpPr>
        <p:sp>
          <p:nvSpPr>
            <p:cNvPr id="15" name="Rectangle 15"/>
            <p:cNvSpPr/>
            <p:nvPr/>
          </p:nvSpPr>
          <p:spPr>
            <a:xfrm>
              <a:off x="533400" y="3629025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725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814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18947" y="4177665"/>
              <a:ext cx="50305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 n²、2ⁿ、n log n、n!、log n、n³ 按数量级从低到高排列。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18947" y="4480560"/>
              <a:ext cx="31486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 n &lt; n log n &lt; n² &lt; n³ &lt; 2ⁿ &lt; n!</a:t>
              </a:r>
            </a:p>
          </p:txBody>
        </p:sp>
      </p:grpSp>
      <p:grpSp>
        <p:nvGrpSpPr>
          <p:cNvPr id="26" name="c2-card-1"/>
          <p:cNvGrpSpPr/>
          <p:nvPr/>
        </p:nvGrpSpPr>
        <p:grpSpPr>
          <a:xfrm>
            <a:off x="6248400" y="1941195"/>
            <a:ext cx="5410200" cy="1511618"/>
            <a:chOff x="6248400" y="1941195"/>
            <a:chExt cx="5410200" cy="1511618"/>
          </a:xfrm>
        </p:grpSpPr>
        <p:sp>
          <p:nvSpPr>
            <p:cNvPr id="21" name="Rectangle 21"/>
            <p:cNvSpPr/>
            <p:nvPr/>
          </p:nvSpPr>
          <p:spPr>
            <a:xfrm>
              <a:off x="6248400" y="1941195"/>
              <a:ext cx="5410200" cy="1511618"/>
            </a:xfrm>
            <a:prstGeom prst="roundRect">
              <a:avLst>
                <a:gd name="adj" fmla="val 882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440805" y="213360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29753" y="216789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433947" y="2490788"/>
              <a:ext cx="32912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2ⁿ⁺¹ = O(2ⁿ) 吗？2²ⁿ = O(2ⁿ) 吗？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33947" y="2792730"/>
              <a:ext cx="457428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前者成立：2ⁿ⁺¹ = 2·2ⁿ，取 c = 2。后者不成立：2²ⁿ /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2ⁿ = 2ⁿ 无界，找不到常数 c。</a:t>
              </a:r>
            </a:p>
          </p:txBody>
        </p:sp>
      </p:grpSp>
      <p:grpSp>
        <p:nvGrpSpPr>
          <p:cNvPr id="32" name="c2-card-2"/>
          <p:cNvGrpSpPr/>
          <p:nvPr/>
        </p:nvGrpSpPr>
        <p:grpSpPr>
          <a:xfrm>
            <a:off x="6248400" y="3629025"/>
            <a:ext cx="5410200" cy="2025968"/>
            <a:chOff x="6248400" y="3629025"/>
            <a:chExt cx="5410200" cy="2025968"/>
          </a:xfrm>
        </p:grpSpPr>
        <p:sp>
          <p:nvSpPr>
            <p:cNvPr id="27" name="Rectangle 27"/>
            <p:cNvSpPr/>
            <p:nvPr/>
          </p:nvSpPr>
          <p:spPr>
            <a:xfrm>
              <a:off x="6248400" y="3629025"/>
              <a:ext cx="5410200" cy="2025968"/>
            </a:xfrm>
            <a:prstGeom prst="roundRect">
              <a:avLst>
                <a:gd name="adj" fmla="val 6582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40805" y="382143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6529753" y="385572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33947" y="4177665"/>
              <a:ext cx="46617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SPARKS 中 loop-until 与 while 有什么区别？for i ← 8 to 1</a:t>
              </a:r>
              <a:br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by −2 do S repeat 中 S 执行几次？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33947" y="4737735"/>
              <a:ext cx="4822888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loop-until 先执行后判断，条件为真时结束，循环体至少执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行一次；while 先判断，条件为假时结束，可能一次也不执行。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第二问执行 4 次，i 依次取 8、6、4、2。</a:t>
              </a:r>
            </a:p>
          </p:txBody>
        </p:sp>
      </p:grpSp>
      <p:grpSp>
        <p:nvGrpSpPr>
          <p:cNvPr id="3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33" name="Rectangle 3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37" name="Group 3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38" name="TextBox 38"/>
            <p:cNvSpPr txBox="1"/>
            <p:nvPr/>
          </p:nvSpPr>
          <p:spPr>
            <a:xfrm>
              <a:off x="1040892" y="6023610"/>
              <a:ext cx="69742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第 2 题是常考点：底数相同、指数相差常数的指数函数同阶；指数相差 n 倍时不同阶。</a:t>
              </a:r>
            </a:p>
          </p:txBody>
        </p:sp>
      </p:grpSp>
      <p:grpSp>
        <p:nvGrpSpPr>
          <p:cNvPr id="4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0" name="TextBox 4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46822" cy="266700"/>
            </a:xfrm>
            <a:prstGeom prst="roundRect">
              <a:avLst>
                <a:gd name="adj" fmla="val 50000"/>
              </a:avLst>
            </a:prstGeom>
            <a:solidFill>
              <a:srgbClr val="E8EDF8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1966" y="407194"/>
              <a:ext cx="10506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2F4B9A"/>
                  </a:solidFill>
                  <a:latin typeface="+mn-lt"/>
                  <a:ea typeface="+mn-ea"/>
                  <a:cs typeface="+mn-cs"/>
                </a:rPr>
                <a:t>第2章 算法导引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本章小结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2F4B9A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5" name="c1-bullets-1"/>
          <p:cNvGrpSpPr/>
          <p:nvPr/>
        </p:nvGrpSpPr>
        <p:grpSpPr>
          <a:xfrm>
            <a:off x="533400" y="1535430"/>
            <a:ext cx="6031230" cy="3745230"/>
            <a:chOff x="533400" y="1535430"/>
            <a:chExt cx="6031230" cy="3745230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5539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算法是解决一类问题的有穷规则，满足确定性、能行性、输入、输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出、有穷性；可以不终止的叫计算过程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6598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179320"/>
              <a:ext cx="55968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算法分析定量估算时间 T(n) 和空间 S(n)，分最坏、最好、平均三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种情况；平均情况依赖实例的概率分布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9654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809875"/>
              <a:ext cx="5730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事前分析数频率计数，只保留最高次项的次数；事后测试作时空性能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分布图检验分析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42709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440430"/>
              <a:ext cx="56064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 是上界，Ω 是下界，Θ 是同阶；证明时找出 c 和 n₀。m 次多项式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 O(nᵐ)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057650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40999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4070985"/>
              <a:ext cx="53206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多项式时间 O(1) &lt; O(log n) &lt; … &lt; O(n³)；指数时间 O(2ⁿ) &lt;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O(n!) &lt; O(nⁿ)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68820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47304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4701540"/>
              <a:ext cx="51396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SPARKS 用 ← 赋值，循环以 repeat 结束，过程以 procedure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NAME 开始、end NAME 结束</a:t>
              </a:r>
            </a:p>
          </p:txBody>
        </p:sp>
      </p:grpSp>
      <p:grpSp>
        <p:nvGrpSpPr>
          <p:cNvPr id="43" name="c2-card-1"/>
          <p:cNvGrpSpPr/>
          <p:nvPr/>
        </p:nvGrpSpPr>
        <p:grpSpPr>
          <a:xfrm>
            <a:off x="7114222" y="1524000"/>
            <a:ext cx="4544378" cy="3710940"/>
            <a:chOff x="7114222" y="1524000"/>
            <a:chExt cx="4544378" cy="3710940"/>
          </a:xfrm>
        </p:grpSpPr>
        <p:sp>
          <p:nvSpPr>
            <p:cNvPr id="26" name="Rectangle 26"/>
            <p:cNvSpPr/>
            <p:nvPr/>
          </p:nvSpPr>
          <p:spPr>
            <a:xfrm>
              <a:off x="7114222" y="1524000"/>
              <a:ext cx="4544378" cy="3710940"/>
            </a:xfrm>
            <a:prstGeom prst="roundRect">
              <a:avLst>
                <a:gd name="adj" fmla="val 35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7123748" y="1657350"/>
              <a:ext cx="47625" cy="34442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更正汇总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7361872" y="209740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423722" y="213969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662862" y="2110740"/>
              <a:ext cx="342519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复杂度对比表：n⁵ 在 n = 40、60 时应为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1.7 分、13 分；n = 40 时 n! 应为约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2.6×10³² 世纪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1872" y="300418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23722" y="30464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62862" y="3017520"/>
              <a:ext cx="27557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MAX 过程两种写法都缺少 j ← 1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7361872" y="333946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423722" y="33817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662862" y="3352800"/>
              <a:ext cx="3434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反证 n³ ≠ O(n²) 时，n₁ 取 max{n₀, ⌈c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⌉} + 1 保证是整数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1872" y="3960495"/>
              <a:ext cx="213360" cy="213360"/>
            </a:xfrm>
            <a:prstGeom prst="ellipse">
              <a:avLst/>
            </a:prstGeom>
            <a:solidFill>
              <a:srgbClr val="2F4B9A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423722" y="40027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662862" y="3973830"/>
              <a:ext cx="29013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事后测试的英文应为 a posteriori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testing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55396" y="4591526"/>
              <a:ext cx="3808730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原课件目录中的 2.4 基本数据结构标注为“略”，本讲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义同样没有展开。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579745"/>
            <a:ext cx="11125200" cy="782955"/>
            <a:chOff x="533400" y="5579745"/>
            <a:chExt cx="11125200" cy="782955"/>
          </a:xfrm>
        </p:grpSpPr>
        <p:sp>
          <p:nvSpPr>
            <p:cNvPr id="44" name="Rectangle 44"/>
            <p:cNvSpPr/>
            <p:nvPr/>
          </p:nvSpPr>
          <p:spPr>
            <a:xfrm>
              <a:off x="533400" y="5579745"/>
              <a:ext cx="11125200" cy="782955"/>
            </a:xfrm>
            <a:prstGeom prst="roundRect">
              <a:avLst>
                <a:gd name="adj" fmla="val 14599"/>
              </a:avLst>
            </a:prstGeom>
            <a:solidFill>
              <a:srgbClr val="2F4B9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5871212"/>
              <a:ext cx="200023" cy="200023"/>
              <a:chOff x="738188" y="5871212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738188" y="58712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71538" y="59378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130" y="5728335"/>
              <a:ext cx="974026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复习时抓三条主线：判断是不是算法看五个特性；估时间看频率计数和最高次项；写算法用 SPARKS 的 ←、repeat、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procedure/end 结构。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19888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算法设计与分析 · 第2章 算法导引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lgo_ch2">
  <a:themeElements>
    <a:clrScheme name="algo_ch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lgo_ch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lgo_ch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2026-09-23T06:07:44Z</dcterms:created>
  <dcterms:modified xsi:type="dcterms:W3CDTF">2026-09-23T06:07:44Z</dcterms:modified>
  <cp:category/>
  <cp:contentStatus/>
</cp:coreProperties>
</file>